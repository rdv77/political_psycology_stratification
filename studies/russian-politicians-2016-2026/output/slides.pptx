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c090ad7fe804998" /><Relationship Type="http://schemas.openxmlformats.org/officeDocument/2006/relationships/extended-properties" Target="/docProps/app.xml" Id="R182539ae62f64017" /><Relationship Type="http://schemas.openxmlformats.org/officeDocument/2006/relationships/officeDocument" Target="/ppt/presentation.xml" Id="R9c33323a5f694ff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2c0eb497b6b4375"/>
  </p:sldMasterIdLst>
  <p:notesMasterIdLst>
    <p:notesMasterId xmlns:r="http://schemas.openxmlformats.org/officeDocument/2006/relationships" r:id="R8e77f289f594473f"/>
  </p:notesMasterIdLst>
  <p:sldIdLst>
    <p:sldId xmlns:r="http://schemas.openxmlformats.org/officeDocument/2006/relationships" id="256" r:id="R5d460f08c42a415b"/>
    <p:sldId xmlns:r="http://schemas.openxmlformats.org/officeDocument/2006/relationships" id="257" r:id="R468e686611a042cc"/>
    <p:sldId xmlns:r="http://schemas.openxmlformats.org/officeDocument/2006/relationships" id="258" r:id="R6d5a4e3e390649bd"/>
    <p:sldId xmlns:r="http://schemas.openxmlformats.org/officeDocument/2006/relationships" id="259" r:id="R7e494c4c8b5b4327"/>
    <p:sldId xmlns:r="http://schemas.openxmlformats.org/officeDocument/2006/relationships" id="260" r:id="Rc3f71c5b88354ca9"/>
    <p:sldId xmlns:r="http://schemas.openxmlformats.org/officeDocument/2006/relationships" id="261" r:id="R3c79dff151a24284"/>
    <p:sldId xmlns:r="http://schemas.openxmlformats.org/officeDocument/2006/relationships" id="262" r:id="R845ccf89ca544b65"/>
    <p:sldId xmlns:r="http://schemas.openxmlformats.org/officeDocument/2006/relationships" id="263" r:id="R5f6fa228bf1442d5"/>
    <p:sldId xmlns:r="http://schemas.openxmlformats.org/officeDocument/2006/relationships" id="264" r:id="R99a597665cbc49ac"/>
    <p:sldId xmlns:r="http://schemas.openxmlformats.org/officeDocument/2006/relationships" id="265" r:id="R01a836f0fa93452c"/>
    <p:sldId xmlns:r="http://schemas.openxmlformats.org/officeDocument/2006/relationships" id="266" r:id="R516bf6ce71dc4812"/>
    <p:sldId xmlns:r="http://schemas.openxmlformats.org/officeDocument/2006/relationships" id="267" r:id="R154a6dd8f46347eb"/>
    <p:sldId xmlns:r="http://schemas.openxmlformats.org/officeDocument/2006/relationships" id="268" r:id="Rf0858d972d6c446a"/>
    <p:sldId xmlns:r="http://schemas.openxmlformats.org/officeDocument/2006/relationships" id="269" r:id="Rbb427bbedd924ce4"/>
    <p:sldId xmlns:r="http://schemas.openxmlformats.org/officeDocument/2006/relationships" id="270" r:id="R14a8404adece4335"/>
    <p:sldId xmlns:r="http://schemas.openxmlformats.org/officeDocument/2006/relationships" id="271" r:id="R434fa1b9df084e6d"/>
    <p:sldId xmlns:r="http://schemas.openxmlformats.org/officeDocument/2006/relationships" id="272" r:id="R25d59ab0999a4d0d"/>
    <p:sldId xmlns:r="http://schemas.openxmlformats.org/officeDocument/2006/relationships" id="273" r:id="Reb5d80a4cbf14ea1"/>
    <p:sldId xmlns:r="http://schemas.openxmlformats.org/officeDocument/2006/relationships" id="274" r:id="Rad05fad1cf7440e7"/>
    <p:sldId xmlns:r="http://schemas.openxmlformats.org/officeDocument/2006/relationships" id="275" r:id="R1bacf1a4f7ad4d0a"/>
    <p:sldId xmlns:r="http://schemas.openxmlformats.org/officeDocument/2006/relationships" id="276" r:id="Rd461e79b11c34ed3"/>
    <p:sldId xmlns:r="http://schemas.openxmlformats.org/officeDocument/2006/relationships" id="277" r:id="Rcee2fccd66cf42b0"/>
    <p:sldId xmlns:r="http://schemas.openxmlformats.org/officeDocument/2006/relationships" id="278" r:id="Rbedb29dbed5d4b9d"/>
    <p:sldId xmlns:r="http://schemas.openxmlformats.org/officeDocument/2006/relationships" id="279" r:id="R73835842ab1e44a6"/>
    <p:sldId xmlns:r="http://schemas.openxmlformats.org/officeDocument/2006/relationships" id="280" r:id="Rda5fb0e385704f81"/>
    <p:sldId xmlns:r="http://schemas.openxmlformats.org/officeDocument/2006/relationships" id="281" r:id="R4ec645f49b24421f"/>
    <p:sldId xmlns:r="http://schemas.openxmlformats.org/officeDocument/2006/relationships" id="282" r:id="Ra2f1cbe6574d4600"/>
    <p:sldId xmlns:r="http://schemas.openxmlformats.org/officeDocument/2006/relationships" id="283" r:id="R928fb7dcad8f48a7"/>
    <p:sldId xmlns:r="http://schemas.openxmlformats.org/officeDocument/2006/relationships" id="284" r:id="R05af5e928349408c"/>
    <p:sldId xmlns:r="http://schemas.openxmlformats.org/officeDocument/2006/relationships" id="285" r:id="Rcaa908502771450b"/>
    <p:sldId xmlns:r="http://schemas.openxmlformats.org/officeDocument/2006/relationships" id="286" r:id="Rc134c7c068524cef"/>
    <p:sldId xmlns:r="http://schemas.openxmlformats.org/officeDocument/2006/relationships" id="287" r:id="Rc3978dddbd904071"/>
    <p:sldId xmlns:r="http://schemas.openxmlformats.org/officeDocument/2006/relationships" id="288" r:id="R9cdadcfe12354b08"/>
    <p:sldId xmlns:r="http://schemas.openxmlformats.org/officeDocument/2006/relationships" id="289" r:id="Rf36cd54c51e647f3"/>
    <p:sldId xmlns:r="http://schemas.openxmlformats.org/officeDocument/2006/relationships" id="290" r:id="Rf35115f0656f49d8"/>
    <p:sldId xmlns:r="http://schemas.openxmlformats.org/officeDocument/2006/relationships" id="291" r:id="R4c61178d224f4a1b"/>
    <p:sldId xmlns:r="http://schemas.openxmlformats.org/officeDocument/2006/relationships" id="292" r:id="R1c7da301dc054a37"/>
    <p:sldId xmlns:r="http://schemas.openxmlformats.org/officeDocument/2006/relationships" id="293" r:id="Rc0fd9d6554984494"/>
    <p:sldId xmlns:r="http://schemas.openxmlformats.org/officeDocument/2006/relationships" id="294" r:id="R6443079dab344785"/>
    <p:sldId xmlns:r="http://schemas.openxmlformats.org/officeDocument/2006/relationships" id="295" r:id="R406cd1f56d5947dd"/>
    <p:sldId xmlns:r="http://schemas.openxmlformats.org/officeDocument/2006/relationships" id="296" r:id="Re6cc603a7f3649dc"/>
    <p:sldId xmlns:r="http://schemas.openxmlformats.org/officeDocument/2006/relationships" id="297" r:id="Re3a9f30635064d11"/>
    <p:sldId xmlns:r="http://schemas.openxmlformats.org/officeDocument/2006/relationships" id="298" r:id="Rc2ef87f0383e4cf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a8880121ffe40e2" /><Relationship Type="http://schemas.openxmlformats.org/officeDocument/2006/relationships/slideMaster" Target="/ppt/slideMasters/slideMaster1.xml" Id="Rf2c0eb497b6b4375" /><Relationship Type="http://schemas.openxmlformats.org/officeDocument/2006/relationships/notesMaster" Target="/ppt/notesMasters/notesMaster1.xml" Id="R8e77f289f594473f" /><Relationship Type="http://schemas.openxmlformats.org/officeDocument/2006/relationships/presProps" Target="/ppt/presProps.xml" Id="R1e59f5828a5d4716" /><Relationship Type="http://schemas.openxmlformats.org/officeDocument/2006/relationships/tableStyles" Target="/ppt/tableStyles.xml" Id="R063c69fa8469463f" /><Relationship Type="http://schemas.openxmlformats.org/officeDocument/2006/relationships/slide" Target="/ppt/slides/slide1.xml" Id="R5d460f08c42a415b" /><Relationship Type="http://schemas.openxmlformats.org/officeDocument/2006/relationships/slide" Target="/ppt/slides/slide2.xml" Id="R468e686611a042cc" /><Relationship Type="http://schemas.openxmlformats.org/officeDocument/2006/relationships/slide" Target="/ppt/slides/slide3.xml" Id="R6d5a4e3e390649bd" /><Relationship Type="http://schemas.openxmlformats.org/officeDocument/2006/relationships/slide" Target="/ppt/slides/slide4.xml" Id="R7e494c4c8b5b4327" /><Relationship Type="http://schemas.openxmlformats.org/officeDocument/2006/relationships/slide" Target="/ppt/slides/slide5.xml" Id="Rc3f71c5b88354ca9" /><Relationship Type="http://schemas.openxmlformats.org/officeDocument/2006/relationships/slide" Target="/ppt/slides/slide6.xml" Id="R3c79dff151a24284" /><Relationship Type="http://schemas.openxmlformats.org/officeDocument/2006/relationships/slide" Target="/ppt/slides/slide7.xml" Id="R845ccf89ca544b65" /><Relationship Type="http://schemas.openxmlformats.org/officeDocument/2006/relationships/slide" Target="/ppt/slides/slide8.xml" Id="R5f6fa228bf1442d5" /><Relationship Type="http://schemas.openxmlformats.org/officeDocument/2006/relationships/slide" Target="/ppt/slides/slide9.xml" Id="R99a597665cbc49ac" /><Relationship Type="http://schemas.openxmlformats.org/officeDocument/2006/relationships/slide" Target="/ppt/slides/slide10.xml" Id="R01a836f0fa93452c" /><Relationship Type="http://schemas.openxmlformats.org/officeDocument/2006/relationships/slide" Target="/ppt/slides/slide11.xml" Id="R516bf6ce71dc4812" /><Relationship Type="http://schemas.openxmlformats.org/officeDocument/2006/relationships/slide" Target="/ppt/slides/slide12.xml" Id="R154a6dd8f46347eb" /><Relationship Type="http://schemas.openxmlformats.org/officeDocument/2006/relationships/slide" Target="/ppt/slides/slide13.xml" Id="Rf0858d972d6c446a" /><Relationship Type="http://schemas.openxmlformats.org/officeDocument/2006/relationships/slide" Target="/ppt/slides/slide14.xml" Id="Rbb427bbedd924ce4" /><Relationship Type="http://schemas.openxmlformats.org/officeDocument/2006/relationships/slide" Target="/ppt/slides/slide15.xml" Id="R14a8404adece4335" /><Relationship Type="http://schemas.openxmlformats.org/officeDocument/2006/relationships/slide" Target="/ppt/slides/slide16.xml" Id="R434fa1b9df084e6d" /><Relationship Type="http://schemas.openxmlformats.org/officeDocument/2006/relationships/slide" Target="/ppt/slides/slide17.xml" Id="R25d59ab0999a4d0d" /><Relationship Type="http://schemas.openxmlformats.org/officeDocument/2006/relationships/slide" Target="/ppt/slides/slide18.xml" Id="Reb5d80a4cbf14ea1" /><Relationship Type="http://schemas.openxmlformats.org/officeDocument/2006/relationships/slide" Target="/ppt/slides/slide19.xml" Id="Rad05fad1cf7440e7" /><Relationship Type="http://schemas.openxmlformats.org/officeDocument/2006/relationships/slide" Target="/ppt/slides/slide20.xml" Id="R1bacf1a4f7ad4d0a" /><Relationship Type="http://schemas.openxmlformats.org/officeDocument/2006/relationships/slide" Target="/ppt/slides/slide21.xml" Id="Rd461e79b11c34ed3" /><Relationship Type="http://schemas.openxmlformats.org/officeDocument/2006/relationships/slide" Target="/ppt/slides/slide22.xml" Id="Rcee2fccd66cf42b0" /><Relationship Type="http://schemas.openxmlformats.org/officeDocument/2006/relationships/slide" Target="/ppt/slides/slide23.xml" Id="Rbedb29dbed5d4b9d" /><Relationship Type="http://schemas.openxmlformats.org/officeDocument/2006/relationships/slide" Target="/ppt/slides/slide24.xml" Id="R73835842ab1e44a6" /><Relationship Type="http://schemas.openxmlformats.org/officeDocument/2006/relationships/slide" Target="/ppt/slides/slide25.xml" Id="Rda5fb0e385704f81" /><Relationship Type="http://schemas.openxmlformats.org/officeDocument/2006/relationships/slide" Target="/ppt/slides/slide26.xml" Id="R4ec645f49b24421f" /><Relationship Type="http://schemas.openxmlformats.org/officeDocument/2006/relationships/slide" Target="/ppt/slides/slide27.xml" Id="Ra2f1cbe6574d4600" /><Relationship Type="http://schemas.openxmlformats.org/officeDocument/2006/relationships/slide" Target="/ppt/slides/slide28.xml" Id="R928fb7dcad8f48a7" /><Relationship Type="http://schemas.openxmlformats.org/officeDocument/2006/relationships/slide" Target="/ppt/slides/slide29.xml" Id="R05af5e928349408c" /><Relationship Type="http://schemas.openxmlformats.org/officeDocument/2006/relationships/slide" Target="/ppt/slides/slide30.xml" Id="Rcaa908502771450b" /><Relationship Type="http://schemas.openxmlformats.org/officeDocument/2006/relationships/slide" Target="/ppt/slides/slide31.xml" Id="Rc134c7c068524cef" /><Relationship Type="http://schemas.openxmlformats.org/officeDocument/2006/relationships/slide" Target="/ppt/slides/slide32.xml" Id="Rc3978dddbd904071" /><Relationship Type="http://schemas.openxmlformats.org/officeDocument/2006/relationships/slide" Target="/ppt/slides/slide33.xml" Id="R9cdadcfe12354b08" /><Relationship Type="http://schemas.openxmlformats.org/officeDocument/2006/relationships/slide" Target="/ppt/slides/slide34.xml" Id="Rf36cd54c51e647f3" /><Relationship Type="http://schemas.openxmlformats.org/officeDocument/2006/relationships/slide" Target="/ppt/slides/slide35.xml" Id="Rf35115f0656f49d8" /><Relationship Type="http://schemas.openxmlformats.org/officeDocument/2006/relationships/slide" Target="/ppt/slides/slide36.xml" Id="R4c61178d224f4a1b" /><Relationship Type="http://schemas.openxmlformats.org/officeDocument/2006/relationships/slide" Target="/ppt/slides/slide37.xml" Id="R1c7da301dc054a37" /><Relationship Type="http://schemas.openxmlformats.org/officeDocument/2006/relationships/slide" Target="/ppt/slides/slide38.xml" Id="Rc0fd9d6554984494" /><Relationship Type="http://schemas.openxmlformats.org/officeDocument/2006/relationships/slide" Target="/ppt/slides/slide39.xml" Id="R6443079dab344785" /><Relationship Type="http://schemas.openxmlformats.org/officeDocument/2006/relationships/slide" Target="/ppt/slides/slide40.xml" Id="R406cd1f56d5947dd" /><Relationship Type="http://schemas.openxmlformats.org/officeDocument/2006/relationships/slide" Target="/ppt/slides/slide41.xml" Id="Re6cc603a7f3649dc" /><Relationship Type="http://schemas.openxmlformats.org/officeDocument/2006/relationships/slide" Target="/ppt/slides/slide42.xml" Id="Re3a9f30635064d11" /><Relationship Type="http://schemas.openxmlformats.org/officeDocument/2006/relationships/slide" Target="/ppt/slides/slide43.xml" Id="Rc2ef87f0383e4cf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ea4f4af2d0a48a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3e2194542154935" /><Relationship Type="http://schemas.openxmlformats.org/officeDocument/2006/relationships/notesMaster" Target="/ppt/notesMasters/notesMaster1.xml" Id="Rc88c9244fb5f4c6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c6f9b4594834ce8" /><Relationship Type="http://schemas.openxmlformats.org/officeDocument/2006/relationships/notesMaster" Target="/ppt/notesMasters/notesMaster1.xml" Id="Rebf48f24c23a463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1b6196246f94844" /><Relationship Type="http://schemas.openxmlformats.org/officeDocument/2006/relationships/notesMaster" Target="/ppt/notesMasters/notesMaster1.xml" Id="R6602064a273d40d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d41d14e291d4a9f" /><Relationship Type="http://schemas.openxmlformats.org/officeDocument/2006/relationships/notesMaster" Target="/ppt/notesMasters/notesMaster1.xml" Id="Rf1599ff99f40463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4ab44f2f8554216" /><Relationship Type="http://schemas.openxmlformats.org/officeDocument/2006/relationships/notesMaster" Target="/ppt/notesMasters/notesMaster1.xml" Id="R457313d5a4bc413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77243b0388d4392" /><Relationship Type="http://schemas.openxmlformats.org/officeDocument/2006/relationships/notesMaster" Target="/ppt/notesMasters/notesMaster1.xml" Id="R0a52149799ee4f4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4ecb5c9138145e3" /><Relationship Type="http://schemas.openxmlformats.org/officeDocument/2006/relationships/notesMaster" Target="/ppt/notesMasters/notesMaster1.xml" Id="Ree61692ef17443d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de02390a22b41e9" /><Relationship Type="http://schemas.openxmlformats.org/officeDocument/2006/relationships/notesMaster" Target="/ppt/notesMasters/notesMaster1.xml" Id="R6396b222d9c744c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77180fb8ebe4ac6" /><Relationship Type="http://schemas.openxmlformats.org/officeDocument/2006/relationships/notesMaster" Target="/ppt/notesMasters/notesMaster1.xml" Id="R0c787bee80cf46c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cba84529aec46a3" /><Relationship Type="http://schemas.openxmlformats.org/officeDocument/2006/relationships/notesMaster" Target="/ppt/notesMasters/notesMaster1.xml" Id="Rd94cbd482af146f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40b121873f14d05" /><Relationship Type="http://schemas.openxmlformats.org/officeDocument/2006/relationships/notesMaster" Target="/ppt/notesMasters/notesMaster1.xml" Id="R450834a7354242e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9c33a9c3c6c4c00" /><Relationship Type="http://schemas.openxmlformats.org/officeDocument/2006/relationships/notesMaster" Target="/ppt/notesMasters/notesMaster1.xml" Id="R0ecceb32ac3840d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0747b8a678a45f1" /><Relationship Type="http://schemas.openxmlformats.org/officeDocument/2006/relationships/notesMaster" Target="/ppt/notesMasters/notesMaster1.xml" Id="Rb4c5e3d3fbc1481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1e72a8124f74217" /><Relationship Type="http://schemas.openxmlformats.org/officeDocument/2006/relationships/notesMaster" Target="/ppt/notesMasters/notesMaster1.xml" Id="Rc0a66b48b59149b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92f24191c2f4fa0" /><Relationship Type="http://schemas.openxmlformats.org/officeDocument/2006/relationships/notesMaster" Target="/ppt/notesMasters/notesMaster1.xml" Id="R12576fd9780b481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fac35c5e4ed4dfe" /><Relationship Type="http://schemas.openxmlformats.org/officeDocument/2006/relationships/notesMaster" Target="/ppt/notesMasters/notesMaster1.xml" Id="R0ef998dd527c4f7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02c035c69db4971" /><Relationship Type="http://schemas.openxmlformats.org/officeDocument/2006/relationships/notesMaster" Target="/ppt/notesMasters/notesMaster1.xml" Id="Re7a9794dd0ad479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14c8e70b53f430e" /><Relationship Type="http://schemas.openxmlformats.org/officeDocument/2006/relationships/notesMaster" Target="/ppt/notesMasters/notesMaster1.xml" Id="R1e8bdc5d029a4c2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ece38d0c9724ce4" /><Relationship Type="http://schemas.openxmlformats.org/officeDocument/2006/relationships/notesMaster" Target="/ppt/notesMasters/notesMaster1.xml" Id="R7470c3abc54147a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2b0c4f6e92c427e" /><Relationship Type="http://schemas.openxmlformats.org/officeDocument/2006/relationships/notesMaster" Target="/ppt/notesMasters/notesMaster1.xml" Id="Rce391df2ca764b4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ef28e8c2db44518" /><Relationship Type="http://schemas.openxmlformats.org/officeDocument/2006/relationships/notesMaster" Target="/ppt/notesMasters/notesMaster1.xml" Id="R4cb54e48c9ad4ee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b50b6f8d7af424c" /><Relationship Type="http://schemas.openxmlformats.org/officeDocument/2006/relationships/notesMaster" Target="/ppt/notesMasters/notesMaster1.xml" Id="R1385ba8e03014190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7c3090bdac464799" /><Relationship Type="http://schemas.openxmlformats.org/officeDocument/2006/relationships/notesMaster" Target="/ppt/notesMasters/notesMaster1.xml" Id="Ra56a84c557c14094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e89ff6ddf754072" /><Relationship Type="http://schemas.openxmlformats.org/officeDocument/2006/relationships/notesMaster" Target="/ppt/notesMasters/notesMaster1.xml" Id="Rd3e251875dd04aba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79abeca500c46d5" /><Relationship Type="http://schemas.openxmlformats.org/officeDocument/2006/relationships/notesMaster" Target="/ppt/notesMasters/notesMaster1.xml" Id="R71a2a177084d43e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7d5dfd21a2c428c" /><Relationship Type="http://schemas.openxmlformats.org/officeDocument/2006/relationships/notesMaster" Target="/ppt/notesMasters/notesMaster1.xml" Id="R9e954b59eb6143fc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dd775d2824ef4a8d" /><Relationship Type="http://schemas.openxmlformats.org/officeDocument/2006/relationships/notesMaster" Target="/ppt/notesMasters/notesMaster1.xml" Id="Rb0bb5372d62c4db7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e5c899b435574706" /><Relationship Type="http://schemas.openxmlformats.org/officeDocument/2006/relationships/notesMaster" Target="/ppt/notesMasters/notesMaster1.xml" Id="Rdc78de0a2e114305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c9ba8fe9fc2e4ce4" /><Relationship Type="http://schemas.openxmlformats.org/officeDocument/2006/relationships/notesMaster" Target="/ppt/notesMasters/notesMaster1.xml" Id="R31d332c59f35479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7b2a66a6b4c14f35" /><Relationship Type="http://schemas.openxmlformats.org/officeDocument/2006/relationships/notesMaster" Target="/ppt/notesMasters/notesMaster1.xml" Id="R41a2ab6a35bd4215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6346b21d9c4f4d4f" /><Relationship Type="http://schemas.openxmlformats.org/officeDocument/2006/relationships/notesMaster" Target="/ppt/notesMasters/notesMaster1.xml" Id="R7d6c69692eb2409b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e8b215715240443b" /><Relationship Type="http://schemas.openxmlformats.org/officeDocument/2006/relationships/notesMaster" Target="/ppt/notesMasters/notesMaster1.xml" Id="R511c29a318374102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bc8f6fa45b83486b" /><Relationship Type="http://schemas.openxmlformats.org/officeDocument/2006/relationships/notesMaster" Target="/ppt/notesMasters/notesMaster1.xml" Id="R810534ec16e240c9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49389e8cbc044513" /><Relationship Type="http://schemas.openxmlformats.org/officeDocument/2006/relationships/notesMaster" Target="/ppt/notesMasters/notesMaster1.xml" Id="R3044132a56a3421f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c07c4d629a1548fd" /><Relationship Type="http://schemas.openxmlformats.org/officeDocument/2006/relationships/notesMaster" Target="/ppt/notesMasters/notesMaster1.xml" Id="Rb552bbcae2dd419b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28e30585549a4379" /><Relationship Type="http://schemas.openxmlformats.org/officeDocument/2006/relationships/notesMaster" Target="/ppt/notesMasters/notesMaster1.xml" Id="R9ab1f28929ab4d03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e4ca46f47a8a45fb" /><Relationship Type="http://schemas.openxmlformats.org/officeDocument/2006/relationships/notesMaster" Target="/ppt/notesMasters/notesMaster1.xml" Id="Rdb99836435a44305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d87f3a19f99b4842" /><Relationship Type="http://schemas.openxmlformats.org/officeDocument/2006/relationships/notesMaster" Target="/ppt/notesMasters/notesMaster1.xml" Id="Rc5dcea6bdd9f49ea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a48df089f8894435" /><Relationship Type="http://schemas.openxmlformats.org/officeDocument/2006/relationships/notesMaster" Target="/ppt/notesMasters/notesMaster1.xml" Id="Re284574e9ae24c04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f255719dd5a745e2" /><Relationship Type="http://schemas.openxmlformats.org/officeDocument/2006/relationships/notesMaster" Target="/ppt/notesMasters/notesMaster1.xml" Id="Rffee33f183e247c8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8e73417cb21146e9" /><Relationship Type="http://schemas.openxmlformats.org/officeDocument/2006/relationships/notesMaster" Target="/ppt/notesMasters/notesMaster1.xml" Id="R9e1abb0d40634e68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a8a8e6b6106541ee" /><Relationship Type="http://schemas.openxmlformats.org/officeDocument/2006/relationships/notesMaster" Target="/ppt/notesMasters/notesMaster1.xml" Id="R7b42cf62d5c54967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4ab194a49bcd4ece" /><Relationship Type="http://schemas.openxmlformats.org/officeDocument/2006/relationships/notesMaster" Target="/ppt/notesMasters/notesMaster1.xml" Id="R576ee6a040e0470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"recommended_q": 2,</a:t>
            </a:r>
          </a:p>
          <a:p xmlns:a="http://schemas.openxmlformats.org/drawingml/2006/main">
            <a:r>
              <a:t>  "best_mean_heldout_q": 3,</a:t>
            </a:r>
          </a:p>
          <a:p xmlns:a="http://schemas.openxmlformats.org/drawingml/2006/main">
            <a:r>
              <a:t>  "parsimony_tolerance_log_likelihood": 1,</a:t>
            </a:r>
          </a:p>
          <a:p xmlns:a="http://schemas.openxmlformats.org/drawingml/2006/main">
            <a:r>
              <a:t>  "rule": "Among converged candidates with at least two |loading|&gt;=0.35 descriptors per factor, select the smallest q within max(1, SD_best/sqrt(3)) of the best three-split mean held-out likelihood; fall back to all candidates if none meet the loading criterion. This is an exploratory heuristic, not an inferential one-SE test.",</a:t>
            </a:r>
          </a:p>
          <a:p xmlns:a="http://schemas.openxmlformats.org/drawingml/2006/main">
            <a:r>
              <a:t>  "parallel_pca": {</a:t>
            </a:r>
          </a:p>
          <a:p xmlns:a="http://schemas.openxmlformats.org/drawingml/2006/main">
            <a:r>
              <a:t>    "retained_components": 2,</a:t>
            </a:r>
          </a:p>
          <a:p xmlns:a="http://schemas.openxmlformats.org/drawingml/2006/main">
            <a:r>
              <a:t>    "permutations": 500,</a:t>
            </a:r>
          </a:p>
          <a:p xmlns:a="http://schemas.openxmlformats.org/drawingml/2006/main">
            <a:r>
              <a:t>    "quantile": 0.95,</a:t>
            </a:r>
          </a:p>
          <a:p xmlns:a="http://schemas.openxmlformats.org/drawingml/2006/main">
            <a:r>
              <a:t>    "observed_eigenvalues": [</a:t>
            </a:r>
          </a:p>
          <a:p xmlns:a="http://schemas.openxmlformats.org/drawingml/2006/main">
            <a:r>
              <a:t>      5.7670476377222,</a:t>
            </a:r>
          </a:p>
          <a:p xmlns:a="http://schemas.openxmlformats.org/drawingml/2006/main">
            <a:r>
              <a:t>      3.157202488362151,</a:t>
            </a:r>
          </a:p>
          <a:p xmlns:a="http://schemas.openxmlformats.org/drawingml/2006/main">
            <a:r>
              <a:t>      1.599311939261355,</a:t>
            </a:r>
          </a:p>
          <a:p xmlns:a="http://schemas.openxmlformats.org/drawingml/2006/main">
            <a:r>
              <a:t>      1.4426459379408845,</a:t>
            </a:r>
          </a:p>
          <a:p xmlns:a="http://schemas.openxmlformats.org/drawingml/2006/main">
            <a:r>
              <a:t>      1.0081875847935187,</a:t>
            </a:r>
          </a:p>
          <a:p xmlns:a="http://schemas.openxmlformats.org/drawingml/2006/main">
            <a:r>
              <a:t>      0.7945435758460176,</a:t>
            </a:r>
          </a:p>
          <a:p xmlns:a="http://schemas.openxmlformats.org/drawingml/2006/main">
            <a:r>
              <a:t>      0.7153352061815987,</a:t>
            </a:r>
          </a:p>
          <a:p xmlns:a="http://schemas.openxmlformats.org/drawingml/2006/main">
            <a:r>
              <a:t>      0.5148773559982952,</a:t>
            </a:r>
          </a:p>
          <a:p xmlns:a="http://schemas.openxmlformats.org/drawingml/2006/main">
            <a:r>
              <a:t>      0.4313912234969934,</a:t>
            </a:r>
          </a:p>
          <a:p xmlns:a="http://schemas.openxmlformats.org/drawingml/2006/main">
            <a:r>
              <a:t>      0.3920933500360671,</a:t>
            </a:r>
          </a:p>
          <a:p xmlns:a="http://schemas.openxmlformats.org/drawingml/2006/main">
            <a:r>
              <a:t>      0.35092528572502457,</a:t>
            </a:r>
          </a:p>
          <a:p xmlns:a="http://schemas.openxmlformats.org/drawingml/2006/main">
            <a:r>
              <a:t>      0.3047727124555794,</a:t>
            </a:r>
          </a:p>
          <a:p xmlns:a="http://schemas.openxmlformats.org/drawingml/2006/main">
            <a:r>
              <a:t>      0.2319906567592523,</a:t>
            </a:r>
          </a:p>
          <a:p xmlns:a="http://schemas.openxmlformats.org/drawingml/2006/main">
            <a:r>
              <a:t>      0.20600747819041113,</a:t>
            </a:r>
          </a:p>
          <a:p xmlns:a="http://schemas.openxmlformats.org/drawingml/2006/main">
            <a:r>
              <a:t>      0.15777358084652246,</a:t>
            </a:r>
          </a:p>
          <a:p xmlns:a="http://schemas.openxmlformats.org/drawingml/2006/main">
            <a:r>
              <a:t>      0.13110599577314522,</a:t>
            </a:r>
          </a:p>
          <a:p xmlns:a="http://schemas.openxmlformats.org/drawingml/2006/main">
            <a:r>
              <a:t>      0.06898153899808578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"reference_eigenvalues": [</a:t>
            </a:r>
          </a:p>
          <a:p xmlns:a="http://schemas.openxmlformats.org/drawingml/2006/main">
            <a:r>
              <a:t>      2.312529737510498,</a:t>
            </a:r>
          </a:p>
          <a:p xmlns:a="http://schemas.openxmlformats.org/drawingml/2006/main">
            <a:r>
              <a:t>      1.9766281823841598,</a:t>
            </a:r>
          </a:p>
          <a:p xmlns:a="http://schemas.openxmlformats.org/drawingml/2006/main">
            <a:r>
              <a:t>      1.7658699343623483,</a:t>
            </a:r>
          </a:p>
          <a:p xmlns:a="http://schemas.openxmlformats.org/drawingml/2006/main">
            <a:r>
              <a:t>      1.6002363397737815,</a:t>
            </a:r>
          </a:p>
          <a:p xmlns:a="http://schemas.openxmlformats.org/drawingml/2006/main">
            <a:r>
              <a:t>      1.4621308609577788,</a:t>
            </a:r>
          </a:p>
          <a:p xmlns:a="http://schemas.openxmlformats.org/drawingml/2006/main">
            <a:r>
              <a:t>      1.3378310483822224,</a:t>
            </a:r>
          </a:p>
          <a:p xmlns:a="http://schemas.openxmlformats.org/drawingml/2006/main">
            <a:r>
              <a:t>      1.2188257307553638,</a:t>
            </a:r>
          </a:p>
          <a:p xmlns:a="http://schemas.openxmlformats.org/drawingml/2006/main">
            <a:r>
              <a:t>      1.1127883406061252,</a:t>
            </a:r>
          </a:p>
          <a:p xmlns:a="http://schemas.openxmlformats.org/drawingml/2006/main">
            <a:r>
              <a:t>      1.0177401241754143,</a:t>
            </a:r>
          </a:p>
          <a:p xmlns:a="http://schemas.openxmlformats.org/drawingml/2006/main">
            <a:r>
              <a:t>      0.9175947943581116,</a:t>
            </a:r>
          </a:p>
          <a:p xmlns:a="http://schemas.openxmlformats.org/drawingml/2006/main">
            <a:r>
              <a:t>      0.8257397441698842,</a:t>
            </a:r>
          </a:p>
          <a:p xmlns:a="http://schemas.openxmlformats.org/drawingml/2006/main">
            <a:r>
              <a:t>      0.7484474815741502,</a:t>
            </a:r>
          </a:p>
          <a:p xmlns:a="http://schemas.openxmlformats.org/drawingml/2006/main">
            <a:r>
              <a:t>      0.6744202795639208,</a:t>
            </a:r>
          </a:p>
          <a:p xmlns:a="http://schemas.openxmlformats.org/drawingml/2006/main">
            <a:r>
              <a:t>      0.5923590506829365,</a:t>
            </a:r>
          </a:p>
          <a:p xmlns:a="http://schemas.openxmlformats.org/drawingml/2006/main">
            <a:r>
              <a:t>      0.5190407368533313,</a:t>
            </a:r>
          </a:p>
          <a:p xmlns:a="http://schemas.openxmlformats.org/drawingml/2006/main">
            <a:r>
              <a:t>      0.44537448830854953,</a:t>
            </a:r>
          </a:p>
          <a:p xmlns:a="http://schemas.openxmlformats.org/drawingml/2006/main">
            <a:r>
              <a:t>      0.35932660502585373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"scope": "PCA component permutation diagnostic, not common-factor retention; not a hard lower/upper bound on FA q"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"rank": 17,</a:t>
            </a:r>
          </a:p>
          <a:p xmlns:a="http://schemas.openxmlformats.org/drawingml/2006/main">
            <a:r>
              <a:t>  "selection_is_exploratory": true,</a:t>
            </a:r>
          </a:p>
          <a:p xmlns:a="http://schemas.openxmlformats.org/drawingml/2006/main">
            <a:r>
              <a:t>  "used_q": 2,</a:t>
            </a:r>
          </a:p>
          <a:p xmlns:a="http://schemas.openxmlformats.org/drawingml/2006/main">
            <a:r>
              <a:t>  "overridden": false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"security-sovereignty",</a:t>
            </a:r>
          </a:p>
          <a:p xmlns:a="http://schemas.openxmlformats.org/drawingml/2006/main">
            <a:r>
              <a:t>    "name": "Суверенная самостоятельность — международная интеграция",</a:t>
            </a:r>
          </a:p>
          <a:p xmlns:a="http://schemas.openxmlformats.org/drawingml/2006/main">
            <a:r>
              <a:t>    "positive": "Суверенная самостоятельность и защита от внешнего влияния",</a:t>
            </a:r>
          </a:p>
          <a:p xmlns:a="http://schemas.openxmlformats.org/drawingml/2006/main">
            <a:r>
              <a:t>    "negative": "Международная интеграция и взаимозависимость",</a:t>
            </a:r>
          </a:p>
          <a:p xmlns:a="http://schemas.openxmlformats.org/drawingml/2006/main">
            <a:r>
              <a:t>    "definition": "Публичные аргументы о самостоятельности государства либо о выгодах участия в международных институтах и совместных правилах.",</a:t>
            </a:r>
          </a:p>
          <a:p xmlns:a="http://schemas.openxmlformats.org/drawingml/2006/main">
            <a:r>
              <a:t>    "domain": "Программные акценты",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"Безопасность и суверенитет",</a:t>
            </a:r>
          </a:p>
          <a:p xmlns:a="http://schemas.openxmlformats.org/drawingml/2006/main">
            <a:r>
              <a:t>      "суверенитет",</a:t>
            </a:r>
          </a:p>
          <a:p xmlns:a="http://schemas.openxmlformats.org/drawingml/2006/main">
            <a:r>
              <a:t>      "безопасность",</a:t>
            </a:r>
          </a:p>
          <a:p xmlns:a="http://schemas.openxmlformats.org/drawingml/2006/main">
            <a:r>
              <a:t>      "антизападная риторика"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"security-sovereignty"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"alexander-bortnikov",</a:t>
            </a:r>
          </a:p>
          <a:p xmlns:a="http://schemas.openxmlformats.org/drawingml/2006/main">
            <a:r>
              <a:t>      "dmitry-peskov",</a:t>
            </a:r>
          </a:p>
          <a:p xmlns:a="http://schemas.openxmlformats.org/drawingml/2006/main">
            <a:r>
              <a:t>      "nikolay-patrushev",</a:t>
            </a:r>
          </a:p>
          <a:p xmlns:a="http://schemas.openxmlformats.org/drawingml/2006/main">
            <a:r>
              <a:t>      "sergey-lavrov",</a:t>
            </a:r>
          </a:p>
          <a:p xmlns:a="http://schemas.openxmlformats.org/drawingml/2006/main">
            <a:r>
              <a:t>      "sergey-shoigu",</a:t>
            </a:r>
          </a:p>
          <a:p xmlns:a="http://schemas.openxmlformats.org/drawingml/2006/main">
            <a:r>
              <a:t>      "valentina-matviyenko",</a:t>
            </a:r>
          </a:p>
          <a:p xmlns:a="http://schemas.openxmlformats.org/drawingml/2006/main">
            <a:r>
              <a:t>      "vladimir-putin"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7,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"historical-memory",</a:t>
            </a:r>
          </a:p>
          <a:p xmlns:a="http://schemas.openxmlformats.org/drawingml/2006/main">
            <a:r>
              <a:t>    "name": "Историческая преемственность — преобразование будущего",</a:t>
            </a:r>
          </a:p>
          <a:p xmlns:a="http://schemas.openxmlformats.org/drawingml/2006/main">
            <a:r>
              <a:t>    "positive": "Историческая преемственность и восстановление традиций",</a:t>
            </a:r>
          </a:p>
          <a:p xmlns:a="http://schemas.openxmlformats.org/drawingml/2006/main">
            <a:r>
              <a:t>    "negative": "Обновление и разрыв с устаревшим порядком",</a:t>
            </a:r>
          </a:p>
          <a:p xmlns:a="http://schemas.openxmlformats.org/drawingml/2006/main">
            <a:r>
              <a:t>    "definition": "Обоснование политики наследием и образцами прошлого либо необходимостью преобразовать существующий порядок ради нового будущего. Упоминание истории само по себе не равно традиционализму.",</a:t>
            </a:r>
          </a:p>
          <a:p xmlns:a="http://schemas.openxmlformats.org/drawingml/2006/main">
            <a:r>
              <a:t>    "domain": "Программные акценты",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"Апелляция к исторической памяти",</a:t>
            </a:r>
          </a:p>
          <a:p xmlns:a="http://schemas.openxmlformats.org/drawingml/2006/main">
            <a:r>
              <a:t>      "историческая память",</a:t>
            </a:r>
          </a:p>
          <a:p xmlns:a="http://schemas.openxmlformats.org/drawingml/2006/main">
            <a:r>
              <a:t>      "героизация прошлого"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"historical-memory"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"valentina-matviyenko",</a:t>
            </a:r>
          </a:p>
          <a:p xmlns:a="http://schemas.openxmlformats.org/drawingml/2006/main">
            <a:r>
              <a:t>      "vladimir-putin"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2,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"technocratic-management",</a:t>
            </a:r>
          </a:p>
          <a:p xmlns:a="http://schemas.openxmlformats.org/drawingml/2006/main">
            <a:r>
              <a:t>    "name": "Практические результаты — идеологические принципы",</a:t>
            </a:r>
          </a:p>
          <a:p xmlns:a="http://schemas.openxmlformats.org/drawingml/2006/main">
            <a:r>
              <a:t>    "positive": "Измеримые результаты и управленческая эффективность",</a:t>
            </a:r>
          </a:p>
          <a:p xmlns:a="http://schemas.openxmlformats.org/drawingml/2006/main">
            <a:r>
              <a:t>    "negative": "Идеологические принципы и символические цели",</a:t>
            </a:r>
          </a:p>
          <a:p xmlns:a="http://schemas.openxmlformats.org/drawingml/2006/main">
            <a:r>
              <a:t>    "definition": "Чем публично обосновываются решения: показателями и решением конкретных задач либо верностью доктрине и символическим целям. Не оценка реальной компетентности.",</a:t>
            </a:r>
          </a:p>
          <a:p xmlns:a="http://schemas.openxmlformats.org/drawingml/2006/main">
            <a:r>
              <a:t>    "domain": "Публичная аргументация",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"Технократичность и управленческая эффективность",</a:t>
            </a:r>
          </a:p>
          <a:p xmlns:a="http://schemas.openxmlformats.org/drawingml/2006/main">
            <a:r>
              <a:t>      "технократизм",</a:t>
            </a:r>
          </a:p>
          <a:p xmlns:a="http://schemas.openxmlformats.org/drawingml/2006/main">
            <a:r>
              <a:t>      "управленческая эффективность",</a:t>
            </a:r>
          </a:p>
          <a:p xmlns:a="http://schemas.openxmlformats.org/drawingml/2006/main">
            <a:r>
              <a:t>      "Административный прагматизм",</a:t>
            </a:r>
          </a:p>
          <a:p xmlns:a="http://schemas.openxmlformats.org/drawingml/2006/main">
            <a:r>
              <a:t>      "прагматизм",</a:t>
            </a:r>
          </a:p>
          <a:p xmlns:a="http://schemas.openxmlformats.org/drawingml/2006/main">
            <a:r>
              <a:t>      "управленческий стиль"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"technocratic-management",</a:t>
            </a:r>
          </a:p>
          <a:p xmlns:a="http://schemas.openxmlformats.org/drawingml/2006/main">
            <a:r>
              <a:t>      "administrative-pragmatism"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"andrey-belousov",</a:t>
            </a:r>
          </a:p>
          <a:p xmlns:a="http://schemas.openxmlformats.org/drawingml/2006/main">
            <a:r>
              <a:t>      "anton-siluanov",</a:t>
            </a:r>
          </a:p>
          <a:p xmlns:a="http://schemas.openxmlformats.org/drawingml/2006/main">
            <a:r>
              <a:t>      "elvira-nabiullina",</a:t>
            </a:r>
          </a:p>
          <a:p xmlns:a="http://schemas.openxmlformats.org/drawingml/2006/main">
            <a:r>
              <a:t>      "mikhail-mishustin",</a:t>
            </a:r>
          </a:p>
          <a:p xmlns:a="http://schemas.openxmlformats.org/drawingml/2006/main">
            <a:r>
              <a:t>      "sardana-avksentyeva",</a:t>
            </a:r>
          </a:p>
          <a:p xmlns:a="http://schemas.openxmlformats.org/drawingml/2006/main">
            <a:r>
              <a:t>      "sergey-levchenko",</a:t>
            </a:r>
          </a:p>
          <a:p xmlns:a="http://schemas.openxmlformats.org/drawingml/2006/main">
            <a:r>
              <a:t>      "vadim-shumkov"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7,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"parliamentary-institutional",</a:t>
            </a:r>
          </a:p>
          <a:p xmlns:a="http://schemas.openxmlformats.org/drawingml/2006/main">
            <a:r>
              <a:t>    "name": "Институциональная работа — протестное действие",</a:t>
            </a:r>
          </a:p>
          <a:p xmlns:a="http://schemas.openxmlformats.org/drawingml/2006/main">
            <a:r>
              <a:t>    "positive": "Изменения через действующие правовые и парламентские процедуры",</a:t>
            </a:r>
          </a:p>
          <a:p xmlns:a="http://schemas.openxmlformats.org/drawingml/2006/main">
            <a:r>
              <a:t>    "negative": "Изменения через внеинституциональное протестное давление",</a:t>
            </a:r>
          </a:p>
          <a:p xmlns:a="http://schemas.openxmlformats.org/drawingml/2006/main">
            <a:r>
              <a:t>    "definition": "Публично предлагаемая стратегия политического действия. Участие в парламенте как биографический факт не определяет оценку автоматически.",</a:t>
            </a:r>
          </a:p>
          <a:p xmlns:a="http://schemas.openxmlformats.org/drawingml/2006/main">
            <a:r>
              <a:t>    "domain": "Политическая стратегия",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"Институциональная парламентская роль",</a:t>
            </a:r>
          </a:p>
          <a:p xmlns:a="http://schemas.openxmlformats.org/drawingml/2006/main">
            <a:r>
              <a:t>      "парламентская институциональность",</a:t>
            </a:r>
          </a:p>
          <a:p xmlns:a="http://schemas.openxmlformats.org/drawingml/2006/main">
            <a:r>
              <a:t>      "законодательная работа"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"parliamentary-institutional"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"gennady-zyuganov",</a:t>
            </a:r>
          </a:p>
          <a:p xmlns:a="http://schemas.openxmlformats.org/drawingml/2006/main">
            <a:r>
              <a:t>      "leonid-slutsky",</a:t>
            </a:r>
          </a:p>
          <a:p xmlns:a="http://schemas.openxmlformats.org/drawingml/2006/main">
            <a:r>
              <a:t>      "sergey-mironov",</a:t>
            </a:r>
          </a:p>
          <a:p xmlns:a="http://schemas.openxmlformats.org/drawingml/2006/main">
            <a:r>
              <a:t>      "valentina-matviyenko",</a:t>
            </a:r>
          </a:p>
          <a:p xmlns:a="http://schemas.openxmlformats.org/drawingml/2006/main">
            <a:r>
              <a:t>      "vyacheslav-volodin"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5,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"oppositionality",</a:t>
            </a:r>
          </a:p>
          <a:p xmlns:a="http://schemas.openxmlformats.org/drawingml/2006/main">
            <a:r>
              <a:t>    "name": "Критика действующей власти — поддержка её курса",</a:t>
            </a:r>
          </a:p>
          <a:p xmlns:a="http://schemas.openxmlformats.org/drawingml/2006/main">
            <a:r>
              <a:t>    "positive": "Публичная критика действующей федеральной власти",</a:t>
            </a:r>
          </a:p>
          <a:p xmlns:a="http://schemas.openxmlformats.org/drawingml/2006/main">
            <a:r>
              <a:t>    "negative": "Публичная поддержка курса действующей федеральной власти",</a:t>
            </a:r>
          </a:p>
          <a:p xmlns:a="http://schemas.openxmlformats.org/drawingml/2006/main">
            <a:r>
              <a:t>    "definition": "Явные заявления о политическом курсе и персональной ответственности федерального руководства в рассматриваемый период. Критика отдельных исполнителей не тождественна оппозиции курсу.",</a:t>
            </a:r>
          </a:p>
          <a:p xmlns:a="http://schemas.openxmlformats.org/drawingml/2006/main">
            <a:r>
              <a:t>    "domain": "Политическая стратегия",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"Оппозиционность и критика власти",</a:t>
            </a:r>
          </a:p>
          <a:p xmlns:a="http://schemas.openxmlformats.org/drawingml/2006/main">
            <a:r>
              <a:t>      "оппозиционность",</a:t>
            </a:r>
          </a:p>
          <a:p xmlns:a="http://schemas.openxmlformats.org/drawingml/2006/main">
            <a:r>
              <a:t>      "критика власти"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"oppositionality"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"alexey-navalny",</a:t>
            </a:r>
          </a:p>
          <a:p xmlns:a="http://schemas.openxmlformats.org/drawingml/2006/main">
            <a:r>
              <a:t>      "boris-vishnevsky",</a:t>
            </a:r>
          </a:p>
          <a:p xmlns:a="http://schemas.openxmlformats.org/drawingml/2006/main">
            <a:r>
              <a:t>      "dmitry-gudkov",</a:t>
            </a:r>
          </a:p>
          <a:p xmlns:a="http://schemas.openxmlformats.org/drawingml/2006/main">
            <a:r>
              <a:t>      "garry-kasparov",</a:t>
            </a:r>
          </a:p>
          <a:p xmlns:a="http://schemas.openxmlformats.org/drawingml/2006/main">
            <a:r>
              <a:t>      "gennady-gudkov",</a:t>
            </a:r>
          </a:p>
          <a:p xmlns:a="http://schemas.openxmlformats.org/drawingml/2006/main">
            <a:r>
              <a:t>      "grigory-yavlinsky",</a:t>
            </a:r>
          </a:p>
          <a:p xmlns:a="http://schemas.openxmlformats.org/drawingml/2006/main">
            <a:r>
              <a:t>      "ilya-yashin",</a:t>
            </a:r>
          </a:p>
          <a:p xmlns:a="http://schemas.openxmlformats.org/drawingml/2006/main">
            <a:r>
              <a:t>      "lev-shlosberg",</a:t>
            </a:r>
          </a:p>
          <a:p xmlns:a="http://schemas.openxmlformats.org/drawingml/2006/main">
            <a:r>
              <a:t>      "lyubov-sobol",</a:t>
            </a:r>
          </a:p>
          <a:p xmlns:a="http://schemas.openxmlformats.org/drawingml/2006/main">
            <a:r>
              <a:t>      "mikhail-khodorkovsky",</a:t>
            </a:r>
          </a:p>
          <a:p xmlns:a="http://schemas.openxmlformats.org/drawingml/2006/main">
            <a:r>
              <a:t>      "vladimir-kara-murza",</a:t>
            </a:r>
          </a:p>
          <a:p xmlns:a="http://schemas.openxmlformats.org/drawingml/2006/main">
            <a:r>
              <a:t>      "vladimir-milov"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12,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"social-policy",</a:t>
            </a:r>
          </a:p>
          <a:p xmlns:a="http://schemas.openxmlformats.org/drawingml/2006/main">
            <a:r>
              <a:t>    "name": "Социальное перераспределение — личная экономическая ответственность",</a:t>
            </a:r>
          </a:p>
          <a:p xmlns:a="http://schemas.openxmlformats.org/drawingml/2006/main">
            <a:r>
              <a:t>    "positive": "Государственные социальные гарантии и перераспределение",</a:t>
            </a:r>
          </a:p>
          <a:p xmlns:a="http://schemas.openxmlformats.org/drawingml/2006/main">
            <a:r>
              <a:t>    "negative": "Личная ответственность и частные механизмы социальной поддержки",</a:t>
            </a:r>
          </a:p>
          <a:p xmlns:a="http://schemas.openxmlformats.org/drawingml/2006/main">
            <a:r>
              <a:t>    "definition": "Предлагаемый способ решения социальных проблем: расширение государственных гарантий либо преимущественно личная, семейная и частная инициатива. Оба полюса требуют явных позиций.",</a:t>
            </a:r>
          </a:p>
          <a:p xmlns:a="http://schemas.openxmlformats.org/drawingml/2006/main">
            <a:r>
              <a:t>    "domain": "Программные акценты",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"Социальная политика и защита",</a:t>
            </a:r>
          </a:p>
          <a:p xmlns:a="http://schemas.openxmlformats.org/drawingml/2006/main">
            <a:r>
              <a:t>      "социальная политика",</a:t>
            </a:r>
          </a:p>
          <a:p xmlns:a="http://schemas.openxmlformats.org/drawingml/2006/main">
            <a:r>
              <a:t>      "социальная защита"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"social-policy"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"elena-mizulina",</a:t>
            </a:r>
          </a:p>
          <a:p xmlns:a="http://schemas.openxmlformats.org/drawingml/2006/main">
            <a:r>
              <a:t>      "nina-ostanina",</a:t>
            </a:r>
          </a:p>
          <a:p xmlns:a="http://schemas.openxmlformats.org/drawingml/2006/main">
            <a:r>
              <a:t>      "tatyana-golikova",</a:t>
            </a:r>
          </a:p>
          <a:p xmlns:a="http://schemas.openxmlformats.org/drawingml/2006/main">
            <a:r>
              <a:t>      "vitaly-milonov"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4,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"federal-loyalty",</a:t>
            </a:r>
          </a:p>
          <a:p xmlns:a="http://schemas.openxmlformats.org/drawingml/2006/main">
            <a:r>
              <a:t>    "name": "Централизация — децентрализация",</a:t>
            </a:r>
          </a:p>
          <a:p xmlns:a="http://schemas.openxmlformats.org/drawingml/2006/main">
            <a:r>
              <a:t>    "positive": "Единая вертикаль и концентрация полномочий в центре",</a:t>
            </a:r>
          </a:p>
          <a:p xmlns:a="http://schemas.openxmlformats.org/drawingml/2006/main">
            <a:r>
              <a:t>    "negative": "Региональная и муниципальная автономия, распределение полномочий",</a:t>
            </a:r>
          </a:p>
          <a:p xmlns:a="http://schemas.openxmlformats.org/drawingml/2006/main">
            <a:r>
              <a:t>    "definition": "Публичные предложения о распределении власти, бюджетов и самостоятельности территорий. Региональная должность и лояльность конкретному лицу не заменяют программную позицию.",</a:t>
            </a:r>
          </a:p>
          <a:p xmlns:a="http://schemas.openxmlformats.org/drawingml/2006/main">
            <a:r>
              <a:t>    "domain": "Программные акценты",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"Лояльность федеральному центру",</a:t>
            </a:r>
          </a:p>
          <a:p xmlns:a="http://schemas.openxmlformats.org/drawingml/2006/main">
            <a:r>
              <a:t>      "лояльность центру",</a:t>
            </a:r>
          </a:p>
          <a:p xmlns:a="http://schemas.openxmlformats.org/drawingml/2006/main">
            <a:r>
              <a:t>      "федеральная вертикаль",</a:t>
            </a:r>
          </a:p>
          <a:p xmlns:a="http://schemas.openxmlformats.org/drawingml/2006/main">
            <a:r>
              <a:t>      "Региональная идентичность и локальная повестка",</a:t>
            </a:r>
          </a:p>
          <a:p xmlns:a="http://schemas.openxmlformats.org/drawingml/2006/main">
            <a:r>
              <a:t>      "региональная идентичность",</a:t>
            </a:r>
          </a:p>
          <a:p xmlns:a="http://schemas.openxmlformats.org/drawingml/2006/main">
            <a:r>
              <a:t>      "локальная повестка"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"federal-loyalty",</a:t>
            </a:r>
          </a:p>
          <a:p xmlns:a="http://schemas.openxmlformats.org/drawingml/2006/main">
            <a:r>
              <a:t>      "regional-identity"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"alexander-beglov",</a:t>
            </a:r>
          </a:p>
          <a:p xmlns:a="http://schemas.openxmlformats.org/drawingml/2006/main">
            <a:r>
              <a:t>      "andrey-chibis",</a:t>
            </a:r>
          </a:p>
          <a:p xmlns:a="http://schemas.openxmlformats.org/drawingml/2006/main">
            <a:r>
              <a:t>      "mikhail-razvozhayev",</a:t>
            </a:r>
          </a:p>
          <a:p xmlns:a="http://schemas.openxmlformats.org/drawingml/2006/main">
            <a:r>
              <a:t>      "ramzan-kadyrov",</a:t>
            </a:r>
          </a:p>
          <a:p xmlns:a="http://schemas.openxmlformats.org/drawingml/2006/main">
            <a:r>
              <a:t>      "rustam-minnikhanov",</a:t>
            </a:r>
          </a:p>
          <a:p xmlns:a="http://schemas.openxmlformats.org/drawingml/2006/main">
            <a:r>
              <a:t>      "sardana-avksentyeva",</a:t>
            </a:r>
          </a:p>
          <a:p xmlns:a="http://schemas.openxmlformats.org/drawingml/2006/main">
            <a:r>
              <a:t>      "sergey-aksyonov",</a:t>
            </a:r>
          </a:p>
          <a:p xmlns:a="http://schemas.openxmlformats.org/drawingml/2006/main">
            <a:r>
              <a:t>      "sergey-sobyanin",</a:t>
            </a:r>
          </a:p>
          <a:p xmlns:a="http://schemas.openxmlformats.org/drawingml/2006/main">
            <a:r>
              <a:t>      "vyacheslav-gladkov"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9,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"mobilization-rhetoric",</a:t>
            </a:r>
          </a:p>
          <a:p xmlns:a="http://schemas.openxmlformats.org/drawingml/2006/main">
            <a:r>
              <a:t>    "name": "Мобилизационный призыв — обсуждение и убеждение",</a:t>
            </a:r>
          </a:p>
          <a:p xmlns:a="http://schemas.openxmlformats.org/drawingml/2006/main">
            <a:r>
              <a:t>    "positive": "Призывы к единению, дисциплине и чрезвычайной мобилизации",</a:t>
            </a:r>
          </a:p>
          <a:p xmlns:a="http://schemas.openxmlformats.org/drawingml/2006/main">
            <a:r>
              <a:t>    "negative": "Призывы к открытому обсуждению, сомнению и убеждению",</a:t>
            </a:r>
          </a:p>
          <a:p xmlns:a="http://schemas.openxmlformats.org/drawingml/2006/main">
            <a:r>
              <a:t>    "definition": "Способ вовлечения аудитории: сплочение вокруг общего вызова либо обсуждение альтернатив. Не оценка поддержки войны и не оценка эмоциональности личности.",</a:t>
            </a:r>
          </a:p>
          <a:p xmlns:a="http://schemas.openxmlformats.org/drawingml/2006/main">
            <a:r>
              <a:t>    "domain": "Публичная аргументация",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"Мобилизационная риторика",</a:t>
            </a:r>
          </a:p>
          <a:p xmlns:a="http://schemas.openxmlformats.org/drawingml/2006/main">
            <a:r>
              <a:t>      "мобилизация",</a:t>
            </a:r>
          </a:p>
          <a:p xmlns:a="http://schemas.openxmlformats.org/drawingml/2006/main">
            <a:r>
              <a:t>      "патриотическая риторика"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"mobilization-rhetoric"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"ramzan-kadyrov",</a:t>
            </a:r>
          </a:p>
          <a:p xmlns:a="http://schemas.openxmlformats.org/drawingml/2006/main">
            <a:r>
              <a:t>      "sergey-shoigu",</a:t>
            </a:r>
          </a:p>
          <a:p xmlns:a="http://schemas.openxmlformats.org/drawingml/2006/main">
            <a:r>
              <a:t>      "vladimir-putin",</a:t>
            </a:r>
          </a:p>
          <a:p xmlns:a="http://schemas.openxmlformats.org/drawingml/2006/main">
            <a:r>
              <a:t>      "zakhar-prilepin"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4,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"conflictuality",</a:t>
            </a:r>
          </a:p>
          <a:p xmlns:a="http://schemas.openxmlformats.org/drawingml/2006/main">
            <a:r>
              <a:t>    "name": "Конфронтация — компромисс",</a:t>
            </a:r>
          </a:p>
          <a:p xmlns:a="http://schemas.openxmlformats.org/drawingml/2006/main">
            <a:r>
              <a:t>    "positive": "Конфронтационная полемика и жёсткое противопоставление оппонентам",</a:t>
            </a:r>
          </a:p>
          <a:p xmlns:a="http://schemas.openxmlformats.org/drawingml/2006/main">
            <a:r>
              <a:t>    "negative": "Компромиссная и согласительная риторика",</a:t>
            </a:r>
          </a:p>
          <a:p xmlns:a="http://schemas.openxmlformats.org/drawingml/2006/main">
            <a:r>
              <a:t>    "definition": "Наблюдаемые способы публичного обращения с политическими разногласиями. Оценивать высказывания и стратегии, без выводов о характере человека.",</a:t>
            </a:r>
          </a:p>
          <a:p xmlns:a="http://schemas.openxmlformats.org/drawingml/2006/main">
            <a:r>
              <a:t>    "domain": "Публичная аргументация",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"Конфликтность и полемичность",</a:t>
            </a:r>
          </a:p>
          <a:p xmlns:a="http://schemas.openxmlformats.org/drawingml/2006/main">
            <a:r>
              <a:t>      "конфликтность",</a:t>
            </a:r>
          </a:p>
          <a:p xmlns:a="http://schemas.openxmlformats.org/drawingml/2006/main">
            <a:r>
              <a:t>      "полемичность"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"conflictuality"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"igor-strelkov",</a:t>
            </a:r>
          </a:p>
          <a:p xmlns:a="http://schemas.openxmlformats.org/drawingml/2006/main">
            <a:r>
              <a:t>      "leonid-slutsky",</a:t>
            </a:r>
          </a:p>
          <a:p xmlns:a="http://schemas.openxmlformats.org/drawingml/2006/main">
            <a:r>
              <a:t>      "vladimir-zhirinovsky",</a:t>
            </a:r>
          </a:p>
          <a:p xmlns:a="http://schemas.openxmlformats.org/drawingml/2006/main">
            <a:r>
              <a:t>      "yevgeny-prigozhin"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4,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"media-personalization",</a:t>
            </a:r>
          </a:p>
          <a:p xmlns:a="http://schemas.openxmlformats.org/drawingml/2006/main">
            <a:r>
              <a:t>    "name": "Персональный бренд — коллективный институт",</a:t>
            </a:r>
          </a:p>
          <a:p xmlns:a="http://schemas.openxmlformats.org/drawingml/2006/main">
            <a:r>
              <a:t>    "positive": "Личный бренд и обращение от собственного имени",</a:t>
            </a:r>
          </a:p>
          <a:p xmlns:a="http://schemas.openxmlformats.org/drawingml/2006/main">
            <a:r>
              <a:t>    "negative": "Коллективное представительство и институциональное авторство",</a:t>
            </a:r>
          </a:p>
          <a:p xmlns:a="http://schemas.openxmlformats.org/drawingml/2006/main">
            <a:r>
              <a:t>    "definition": "Кто представлен субъектом публичного действия: конкретный лидер либо команда, организация и процедура. Наличие соцсетей или должности само по себе не задаёт полюс.",</a:t>
            </a:r>
          </a:p>
          <a:p xmlns:a="http://schemas.openxmlformats.org/drawingml/2006/main">
            <a:r>
              <a:t>    "domain": "Политическая стратегия",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"Медийная и персонализированная публичность",</a:t>
            </a:r>
          </a:p>
          <a:p xmlns:a="http://schemas.openxmlformats.org/drawingml/2006/main">
            <a:r>
              <a:t>      "медийность",</a:t>
            </a:r>
          </a:p>
          <a:p xmlns:a="http://schemas.openxmlformats.org/drawingml/2006/main">
            <a:r>
              <a:t>      "персонализация"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"media-personalization"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"alexey-navalny",</a:t>
            </a:r>
          </a:p>
          <a:p xmlns:a="http://schemas.openxmlformats.org/drawingml/2006/main">
            <a:r>
              <a:t>      "ksenia-sobchak",</a:t>
            </a:r>
          </a:p>
          <a:p xmlns:a="http://schemas.openxmlformats.org/drawingml/2006/main">
            <a:r>
              <a:t>      "ramzan-kadyrov",</a:t>
            </a:r>
          </a:p>
          <a:p xmlns:a="http://schemas.openxmlformats.org/drawingml/2006/main">
            <a:r>
              <a:t>      "yevgeny-prigozhin"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4,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"antiwesternism",</a:t>
            </a:r>
          </a:p>
          <a:p xmlns:a="http://schemas.openxmlformats.org/drawingml/2006/main">
            <a:r>
              <a:t>    "name": "Противостояние Западу — сближение с Западом",</a:t>
            </a:r>
          </a:p>
          <a:p xmlns:a="http://schemas.openxmlformats.org/drawingml/2006/main">
            <a:r>
              <a:t>    "positive": "Противостояние западным государствам и институтам",</a:t>
            </a:r>
          </a:p>
          <a:p xmlns:a="http://schemas.openxmlformats.org/drawingml/2006/main">
            <a:r>
              <a:t>    "negative": "Сотрудничество и политическое сближение с западными государствами",</a:t>
            </a:r>
          </a:p>
          <a:p xmlns:a="http://schemas.openxmlformats.org/drawingml/2006/main">
            <a:r>
              <a:t>    "definition": "Явные позиции по отношениям с западными странами в указанный период. Молчание по теме не означает сотрудничества; критика отдельного решения не равна общему антагонизму.",</a:t>
            </a:r>
          </a:p>
          <a:p xmlns:a="http://schemas.openxmlformats.org/drawingml/2006/main">
            <a:r>
              <a:t>    "domain": "Программные акценты",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"Антизападная риторика",</a:t>
            </a:r>
          </a:p>
          <a:p xmlns:a="http://schemas.openxmlformats.org/drawingml/2006/main">
            <a:r>
              <a:t>      "антизападность",</a:t>
            </a:r>
          </a:p>
          <a:p xmlns:a="http://schemas.openxmlformats.org/drawingml/2006/main">
            <a:r>
              <a:t>      "критика Запада"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"antiwesternism"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"nikolay-patrushev",</a:t>
            </a:r>
          </a:p>
          <a:p xmlns:a="http://schemas.openxmlformats.org/drawingml/2006/main">
            <a:r>
              <a:t>      "sergey-lavrov",</a:t>
            </a:r>
          </a:p>
          <a:p xmlns:a="http://schemas.openxmlformats.org/drawingml/2006/main">
            <a:r>
              <a:t>      "vladimir-putin",</a:t>
            </a:r>
          </a:p>
          <a:p xmlns:a="http://schemas.openxmlformats.org/drawingml/2006/main">
            <a:r>
              <a:t>      "vyacheslav-volodin"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4,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"party-leadership",</a:t>
            </a:r>
          </a:p>
          <a:p xmlns:a="http://schemas.openxmlformats.org/drawingml/2006/main">
            <a:r>
              <a:t>    "name": "Партийная организация — независимая инициатива",</a:t>
            </a:r>
          </a:p>
          <a:p xmlns:a="http://schemas.openxmlformats.org/drawingml/2006/main">
            <a:r>
              <a:t>    "positive": "Партия как основной инструмент политического действия",</a:t>
            </a:r>
          </a:p>
          <a:p xmlns:a="http://schemas.openxmlformats.org/drawingml/2006/main">
            <a:r>
              <a:t>    "negative": "Независимые от партий гражданские и персональные инициативы",</a:t>
            </a:r>
          </a:p>
          <a:p xmlns:a="http://schemas.openxmlformats.org/drawingml/2006/main">
            <a:r>
              <a:t>    "definition": "Публично продвигаемая организационная стратегия и способ мобилизации сторонников. Членство в партии само по себе не определяет публичную стратегию.",</a:t>
            </a:r>
          </a:p>
          <a:p xmlns:a="http://schemas.openxmlformats.org/drawingml/2006/main">
            <a:r>
              <a:t>    "domain": "Политическая стратегия",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"Партийное лидерство и мобилизация",</a:t>
            </a:r>
          </a:p>
          <a:p xmlns:a="http://schemas.openxmlformats.org/drawingml/2006/main">
            <a:r>
              <a:t>      "партийное лидерство",</a:t>
            </a:r>
          </a:p>
          <a:p xmlns:a="http://schemas.openxmlformats.org/drawingml/2006/main">
            <a:r>
              <a:t>      "партийная мобилизация"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"party-leadership"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"gennady-zyuganov",</a:t>
            </a:r>
          </a:p>
          <a:p xmlns:a="http://schemas.openxmlformats.org/drawingml/2006/main">
            <a:r>
              <a:t>      "leonid-slutsky",</a:t>
            </a:r>
          </a:p>
          <a:p xmlns:a="http://schemas.openxmlformats.org/drawingml/2006/main">
            <a:r>
              <a:t>      "sergey-mironov",</a:t>
            </a:r>
          </a:p>
          <a:p xmlns:a="http://schemas.openxmlformats.org/drawingml/2006/main">
            <a:r>
              <a:t>      "vladimir-zhirinovsky"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4,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"public-transparency",</a:t>
            </a:r>
          </a:p>
          <a:p xmlns:a="http://schemas.openxmlformats.org/drawingml/2006/main">
            <a:r>
              <a:t>    "name": "Открытость решений — закрытость решений",</a:t>
            </a:r>
          </a:p>
          <a:p xmlns:a="http://schemas.openxmlformats.org/drawingml/2006/main">
            <a:r>
              <a:t>    "positive": "Прозрачность решений, раскрытие информации и общественный контроль",</a:t>
            </a:r>
          </a:p>
          <a:p xmlns:a="http://schemas.openxmlformats.org/drawingml/2006/main">
            <a:r>
              <a:t>    "negative": "Конфиденциальность решений и ограничение внешнего контроля",</a:t>
            </a:r>
          </a:p>
          <a:p xmlns:a="http://schemas.openxmlformats.org/drawingml/2006/main">
            <a:r>
              <a:t>    "definition": "Явные заявления и публичные действия относительно доступности сведений о принятии решений и их независимой проверке. Отсутствие антикоррупционных лозунгов не доказывает закрытость, а оценка не означает обвинения в коррупции.",</a:t>
            </a:r>
          </a:p>
          <a:p xmlns:a="http://schemas.openxmlformats.org/drawingml/2006/main">
            <a:r>
              <a:t>    "domain": "Программные акценты",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"Антикоррупционная риторика",</a:t>
            </a:r>
          </a:p>
          <a:p xmlns:a="http://schemas.openxmlformats.org/drawingml/2006/main">
            <a:r>
              <a:t>      "антикоррупция",</a:t>
            </a:r>
          </a:p>
          <a:p xmlns:a="http://schemas.openxmlformats.org/drawingml/2006/main">
            <a:r>
              <a:t>      "прозрачность"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"anti-corruption"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"alexey-navalny",</a:t>
            </a:r>
          </a:p>
          <a:p xmlns:a="http://schemas.openxmlformats.org/drawingml/2006/main">
            <a:r>
              <a:t>      "natalya-poklonskaya",</a:t>
            </a:r>
          </a:p>
          <a:p xmlns:a="http://schemas.openxmlformats.org/drawingml/2006/main">
            <a:r>
              <a:t>      "sardana-avksentyeva"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3,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"family-values",</a:t>
            </a:r>
          </a:p>
          <a:p xmlns:a="http://schemas.openxmlformats.org/drawingml/2006/main">
            <a:r>
              <a:t>    "name": "Традиционные нормы — индивидуальное самоопределение",</a:t>
            </a:r>
          </a:p>
          <a:p xmlns:a="http://schemas.openxmlformats.org/drawingml/2006/main">
            <a:r>
              <a:t>    "positive": "Сохранение традиционных семейных и моральных норм",</a:t>
            </a:r>
          </a:p>
          <a:p xmlns:a="http://schemas.openxmlformats.org/drawingml/2006/main">
            <a:r>
              <a:t>    "negative": "Свобода личного выбора и плюрализм семейных и моральных норм",</a:t>
            </a:r>
          </a:p>
          <a:p xmlns:a="http://schemas.openxmlformats.org/drawingml/2006/main">
            <a:r>
              <a:t>    "definition": "Программные позиции о допустимых формах частной жизни и роли государства в закреплении норм. Поддержка детей сама по себе не является признаком консерватизма.",</a:t>
            </a:r>
          </a:p>
          <a:p xmlns:a="http://schemas.openxmlformats.org/drawingml/2006/main">
            <a:r>
              <a:t>    "domain": "Программные акценты",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"Семейные и традиционные ценности",</a:t>
            </a:r>
          </a:p>
          <a:p xmlns:a="http://schemas.openxmlformats.org/drawingml/2006/main">
            <a:r>
              <a:t>      "семейные ценности",</a:t>
            </a:r>
          </a:p>
          <a:p xmlns:a="http://schemas.openxmlformats.org/drawingml/2006/main">
            <a:r>
              <a:t>      "традиционные ценности"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"family-values"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"elena-mizulina",</a:t>
            </a:r>
          </a:p>
          <a:p xmlns:a="http://schemas.openxmlformats.org/drawingml/2006/main">
            <a:r>
              <a:t>      "nina-ostanina",</a:t>
            </a:r>
          </a:p>
          <a:p xmlns:a="http://schemas.openxmlformats.org/drawingml/2006/main">
            <a:r>
              <a:t>      "vitaly-milonov"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3,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"international-activity",</a:t>
            </a:r>
          </a:p>
          <a:p xmlns:a="http://schemas.openxmlformats.org/drawingml/2006/main">
            <a:r>
              <a:t>    "name": "Внешняя повестка — внутренняя повестка",</a:t>
            </a:r>
          </a:p>
          <a:p xmlns:a="http://schemas.openxmlformats.org/drawingml/2006/main">
            <a:r>
              <a:t>    "positive": "Приоритет международной и внешнеполитической повестки",</a:t>
            </a:r>
          </a:p>
          <a:p xmlns:a="http://schemas.openxmlformats.org/drawingml/2006/main">
            <a:r>
              <a:t>    "negative": "Приоритет внутренних общественных и хозяйственных задач",</a:t>
            </a:r>
          </a:p>
          <a:p xmlns:a="http://schemas.openxmlformats.org/drawingml/2006/main">
            <a:r>
              <a:t>    "definition": "Относительные акценты публичной повестки в доступных материалах. Должность дипломата или губернатора не является самостоятельным основанием оценки.",</a:t>
            </a:r>
          </a:p>
          <a:p xmlns:a="http://schemas.openxmlformats.org/drawingml/2006/main">
            <a:r>
              <a:t>    "domain": "Программные акценты",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"Международная активность и дипломатия",</a:t>
            </a:r>
          </a:p>
          <a:p xmlns:a="http://schemas.openxmlformats.org/drawingml/2006/main">
            <a:r>
              <a:t>      "международная активность",</a:t>
            </a:r>
          </a:p>
          <a:p xmlns:a="http://schemas.openxmlformats.org/drawingml/2006/main">
            <a:r>
              <a:t>      "дипломатия",</a:t>
            </a:r>
          </a:p>
          <a:p xmlns:a="http://schemas.openxmlformats.org/drawingml/2006/main">
            <a:r>
              <a:t>      "Городское развитие и инфраструктура",</a:t>
            </a:r>
          </a:p>
          <a:p xmlns:a="http://schemas.openxmlformats.org/drawingml/2006/main">
            <a:r>
              <a:t>      "городское развитие",</a:t>
            </a:r>
          </a:p>
          <a:p xmlns:a="http://schemas.openxmlformats.org/drawingml/2006/main">
            <a:r>
              <a:t>      "инфраструктура"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"international-activity",</a:t>
            </a:r>
          </a:p>
          <a:p xmlns:a="http://schemas.openxmlformats.org/drawingml/2006/main">
            <a:r>
              <a:t>      "urban-development"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"alexander-beglov",</a:t>
            </a:r>
          </a:p>
          <a:p xmlns:a="http://schemas.openxmlformats.org/drawingml/2006/main">
            <a:r>
              <a:t>      "alexey-pushkov",</a:t>
            </a:r>
          </a:p>
          <a:p xmlns:a="http://schemas.openxmlformats.org/drawingml/2006/main">
            <a:r>
              <a:t>      "konstantin-kosachev",</a:t>
            </a:r>
          </a:p>
          <a:p xmlns:a="http://schemas.openxmlformats.org/drawingml/2006/main">
            <a:r>
              <a:t>      "sergey-lavrov",</a:t>
            </a:r>
          </a:p>
          <a:p xmlns:a="http://schemas.openxmlformats.org/drawingml/2006/main">
            <a:r>
              <a:t>      "sergey-mironov",</a:t>
            </a:r>
          </a:p>
          <a:p xmlns:a="http://schemas.openxmlformats.org/drawingml/2006/main">
            <a:r>
              <a:t>      "sergey-sobyanin"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6,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"antiwar-rhetoric",</a:t>
            </a:r>
          </a:p>
          <a:p xmlns:a="http://schemas.openxmlformats.org/drawingml/2006/main">
            <a:r>
              <a:t>    "name": "Прекращение военных действий — их продолжение",</a:t>
            </a:r>
          </a:p>
          <a:p xmlns:a="http://schemas.openxmlformats.org/drawingml/2006/main">
            <a:r>
              <a:t>    "positive": "Публичные призывы прекратить военные действия и перейти к миру",</a:t>
            </a:r>
          </a:p>
          <a:p xmlns:a="http://schemas.openxmlformats.org/drawingml/2006/main">
            <a:r>
              <a:t>    "negative": "Публичная поддержка продолжения военных действий ради заявленных целей",</a:t>
            </a:r>
          </a:p>
          <a:p xmlns:a="http://schemas.openxmlformats.org/drawingml/2006/main">
            <a:r>
              <a:t>    "definition": "Явные позиции относительно применения военной силы в конкретных конфликтах рассматриваемого периода; учитывать даты и условия заявлений. Молчание не означает поддержки, мирная риторика не означает принятия любых условий.",</a:t>
            </a:r>
          </a:p>
          <a:p xmlns:a="http://schemas.openxmlformats.org/drawingml/2006/main">
            <a:r>
              <a:t>    "domain": "Программные акценты",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"Антивоенная риторика",</a:t>
            </a:r>
          </a:p>
          <a:p xmlns:a="http://schemas.openxmlformats.org/drawingml/2006/main">
            <a:r>
              <a:t>      "антивоенная позиция",</a:t>
            </a:r>
          </a:p>
          <a:p xmlns:a="http://schemas.openxmlformats.org/drawingml/2006/main">
            <a:r>
              <a:t>      "пацифизм"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"antiwar-rhetoric"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"boris-nadezhdin",</a:t>
            </a:r>
          </a:p>
          <a:p xmlns:a="http://schemas.openxmlformats.org/drawingml/2006/main">
            <a:r>
              <a:t>      "grigory-yavlinsky",</a:t>
            </a:r>
          </a:p>
          <a:p xmlns:a="http://schemas.openxmlformats.org/drawingml/2006/main">
            <a:r>
              <a:t>      "ilya-yashin",</a:t>
            </a:r>
          </a:p>
          <a:p xmlns:a="http://schemas.openxmlformats.org/drawingml/2006/main">
            <a:r>
              <a:t>      "lev-shlosberg",</a:t>
            </a:r>
          </a:p>
          <a:p xmlns:a="http://schemas.openxmlformats.org/drawingml/2006/main">
            <a:r>
              <a:t>      "vladimir-kara-murza"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5,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"electoral-legitimacy",</a:t>
            </a:r>
          </a:p>
          <a:p xmlns:a="http://schemas.openxmlformats.org/drawingml/2006/main">
            <a:r>
              <a:t>    "name": "Электоральный мандат — административный мандат",</a:t>
            </a:r>
          </a:p>
          <a:p xmlns:a="http://schemas.openxmlformats.org/drawingml/2006/main">
            <a:r>
              <a:t>    "positive": "Конкурентные выборы и воля избирателей как источник полномочий",</a:t>
            </a:r>
          </a:p>
          <a:p xmlns:a="http://schemas.openxmlformats.org/drawingml/2006/main">
            <a:r>
              <a:t>    "negative": "Назначение, государственная иерархия и управленческая преемственность как источник полномочий",</a:t>
            </a:r>
          </a:p>
          <a:p xmlns:a="http://schemas.openxmlformats.org/drawingml/2006/main">
            <a:r>
              <a:t>    "definition": "Публичное обоснование права принимать политические решения. Сам факт избрания или назначения не заменяет анализа аргументации.",</a:t>
            </a:r>
          </a:p>
          <a:p xmlns:a="http://schemas.openxmlformats.org/drawingml/2006/main">
            <a:r>
              <a:t>    "domain": "Политическая стратегия",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"Электоральная легитимация",</a:t>
            </a:r>
          </a:p>
          <a:p xmlns:a="http://schemas.openxmlformats.org/drawingml/2006/main">
            <a:r>
              <a:t>      "электоральная легитимность",</a:t>
            </a:r>
          </a:p>
          <a:p xmlns:a="http://schemas.openxmlformats.org/drawingml/2006/main">
            <a:r>
              <a:t>      "выборная поддержка"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"electoral-legitimacy"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"boris-nadezhdin",</a:t>
            </a:r>
          </a:p>
          <a:p xmlns:a="http://schemas.openxmlformats.org/drawingml/2006/main">
            <a:r>
              <a:t>      "valentin-konovalov",</a:t>
            </a:r>
          </a:p>
          <a:p xmlns:a="http://schemas.openxmlformats.org/drawingml/2006/main">
            <a:r>
              <a:t>      "yekaterina-duntsova"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3,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"economic-ownership",</a:t>
            </a:r>
          </a:p>
          <a:p xmlns:a="http://schemas.openxmlformats.org/drawingml/2006/main">
            <a:r>
              <a:t>    "name": "Государственная экономика — частная экономика",</a:t>
            </a:r>
          </a:p>
          <a:p xmlns:a="http://schemas.openxmlformats.org/drawingml/2006/main">
            <a:r>
              <a:t>    "positive": "Государственная собственность, планирование и ограничение крупного частного капитала",</a:t>
            </a:r>
          </a:p>
          <a:p xmlns:a="http://schemas.openxmlformats.org/drawingml/2006/main">
            <a:r>
              <a:t>    "negative": "Частная собственность, рыночная конкуренция и свобода предпринимательства",</a:t>
            </a:r>
          </a:p>
          <a:p xmlns:a="http://schemas.openxmlformats.org/drawingml/2006/main">
            <a:r>
              <a:t>    "definition": "Предлагаемая роль государства и частного капитала в экономике. Критика отдельных предпринимателей не равна антикапитализму; социальные выплаты сами по себе не определяют этот полюс.",</a:t>
            </a:r>
          </a:p>
          <a:p xmlns:a="http://schemas.openxmlformats.org/drawingml/2006/main">
            <a:r>
              <a:t>    "domain": "Программные акценты",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"Антиолигархическая и антикапиталистическая риторика",</a:t>
            </a:r>
          </a:p>
          <a:p xmlns:a="http://schemas.openxmlformats.org/drawingml/2006/main">
            <a:r>
              <a:t>      "антиолигархия",</a:t>
            </a:r>
          </a:p>
          <a:p xmlns:a="http://schemas.openxmlformats.org/drawingml/2006/main">
            <a:r>
              <a:t>      "антикапитализм"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"anti-oligarchic"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"gennady-zyuganov",</a:t>
            </a:r>
          </a:p>
          <a:p xmlns:a="http://schemas.openxmlformats.org/drawingml/2006/main">
            <a:r>
              <a:t>      "nikolay-platoshkin",</a:t>
            </a:r>
          </a:p>
          <a:p xmlns:a="http://schemas.openxmlformats.org/drawingml/2006/main">
            <a:r>
              <a:t>      "sergey-udaltsov"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3,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"economic-modernization",</a:t>
            </a:r>
          </a:p>
          <a:p xmlns:a="http://schemas.openxmlformats.org/drawingml/2006/main">
            <a:r>
              <a:t>    "name": "Технологическое обновление — сохранение освоенных моделей",</a:t>
            </a:r>
          </a:p>
          <a:p xmlns:a="http://schemas.openxmlformats.org/drawingml/2006/main">
            <a:r>
              <a:t>    "positive": "Ускоренное технологическое обновление и цифровая трансформация",</a:t>
            </a:r>
          </a:p>
          <a:p xmlns:a="http://schemas.openxmlformats.org/drawingml/2006/main">
            <a:r>
              <a:t>    "negative": "Сохранение проверенных технологий и сложившихся хозяйственных практик",</a:t>
            </a:r>
          </a:p>
          <a:p xmlns:a="http://schemas.openxmlformats.org/drawingml/2006/main">
            <a:r>
              <a:t>    "definition": "Явные предложения о темпе и характере технологических изменений. Отсутствие цифровой темы не означает неприятия инноваций; реальная успешность проектов не оценивается.",</a:t>
            </a:r>
          </a:p>
          <a:p xmlns:a="http://schemas.openxmlformats.org/drawingml/2006/main">
            <a:r>
              <a:t>    "domain": "Программные акценты",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"Экономическая модернизация и инновации",</a:t>
            </a:r>
          </a:p>
          <a:p xmlns:a="http://schemas.openxmlformats.org/drawingml/2006/main">
            <a:r>
              <a:t>      "экономическая модернизация",</a:t>
            </a:r>
          </a:p>
          <a:p xmlns:a="http://schemas.openxmlformats.org/drawingml/2006/main">
            <a:r>
              <a:t>      "инновации",</a:t>
            </a:r>
          </a:p>
          <a:p xmlns:a="http://schemas.openxmlformats.org/drawingml/2006/main">
            <a:r>
              <a:t>      "Цифровизация и инновационные технологии",</a:t>
            </a:r>
          </a:p>
          <a:p xmlns:a="http://schemas.openxmlformats.org/drawingml/2006/main">
            <a:r>
              <a:t>      "цифровизация",</a:t>
            </a:r>
          </a:p>
          <a:p xmlns:a="http://schemas.openxmlformats.org/drawingml/2006/main">
            <a:r>
              <a:t>      "технологии"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"economic-modernization",</a:t>
            </a:r>
          </a:p>
          <a:p xmlns:a="http://schemas.openxmlformats.org/drawingml/2006/main">
            <a:r>
              <a:t>      "digitalization"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"alexey-nechayev",</a:t>
            </a:r>
          </a:p>
          <a:p xmlns:a="http://schemas.openxmlformats.org/drawingml/2006/main">
            <a:r>
              <a:t>      "andrey-belousov",</a:t>
            </a:r>
          </a:p>
          <a:p xmlns:a="http://schemas.openxmlformats.org/drawingml/2006/main">
            <a:r>
              <a:t>      "mikhail-mishustin"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3,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"media-control",</a:t>
            </a:r>
          </a:p>
          <a:p xmlns:a="http://schemas.openxmlformats.org/drawingml/2006/main">
            <a:r>
              <a:t>    "name": "Регулирование информации — свобода выражения",</a:t>
            </a:r>
          </a:p>
          <a:p xmlns:a="http://schemas.openxmlformats.org/drawingml/2006/main">
            <a:r>
              <a:t>    "positive": "Расширение государственного контроля за распространением информации",</a:t>
            </a:r>
          </a:p>
          <a:p xmlns:a="http://schemas.openxmlformats.org/drawingml/2006/main">
            <a:r>
              <a:t>    "negative": "Защита свободы выражения и самостоятельности СМИ",</a:t>
            </a:r>
          </a:p>
          <a:p xmlns:a="http://schemas.openxmlformats.org/drawingml/2006/main">
            <a:r>
              <a:t>    "definition": "Публичные позиции о цензуре, информационных ограничениях, редакционной независимости и цифровом регулировании. Отсутствие высказываний не задаёт полюс.",</a:t>
            </a:r>
          </a:p>
          <a:p xmlns:a="http://schemas.openxmlformats.org/drawingml/2006/main">
            <a:r>
              <a:t>    "domain": "Программные акценты",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"Контроль над информационным пространством",</a:t>
            </a:r>
          </a:p>
          <a:p xmlns:a="http://schemas.openxmlformats.org/drawingml/2006/main">
            <a:r>
              <a:t>      "информационный контроль",</a:t>
            </a:r>
          </a:p>
          <a:p xmlns:a="http://schemas.openxmlformats.org/drawingml/2006/main">
            <a:r>
              <a:t>      "регулирование СМИ"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"media-control"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"alexander-khinshtein",</a:t>
            </a:r>
          </a:p>
          <a:p xmlns:a="http://schemas.openxmlformats.org/drawingml/2006/main">
            <a:r>
              <a:t>      "alexey-pushkov"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2,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"territorial-policy",</a:t>
            </a:r>
          </a:p>
          <a:p xmlns:a="http://schemas.openxmlformats.org/drawingml/2006/main">
            <a:r>
              <a:t>    "name": "Сохранение границ — территориальный пересмотр",</a:t>
            </a:r>
          </a:p>
          <a:p xmlns:a="http://schemas.openxmlformats.org/drawingml/2006/main">
            <a:r>
              <a:t>    "positive": "Сохранение международно признанных границ и отказ от территориальной экспансии",</a:t>
            </a:r>
          </a:p>
          <a:p xmlns:a="http://schemas.openxmlformats.org/drawingml/2006/main">
            <a:r>
              <a:t>    "negative": "Пересмотр границ и территориальное расширение государства",</a:t>
            </a:r>
          </a:p>
          <a:p xmlns:a="http://schemas.openxmlformats.org/drawingml/2006/main">
            <a:r>
              <a:t>    "definition": "Прямые заявления о территориальном устройстве и применении силы для его изменения. Не выводить позицию из национальной символики или общего патриотического языка.",</a:t>
            </a:r>
          </a:p>
          <a:p xmlns:a="http://schemas.openxmlformats.org/drawingml/2006/main">
            <a:r>
              <a:t>    "domain": "Программные акценты",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"Антиимперская и антиэкспансионистская риторика",</a:t>
            </a:r>
          </a:p>
          <a:p xmlns:a="http://schemas.openxmlformats.org/drawingml/2006/main">
            <a:r>
              <a:t>      "антиимпериализм",</a:t>
            </a:r>
          </a:p>
          <a:p xmlns:a="http://schemas.openxmlformats.org/drawingml/2006/main">
            <a:r>
              <a:t>      "антиэкспансионизм"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"anti-imperialism"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"garry-kasparov",</a:t>
            </a:r>
          </a:p>
          <a:p xmlns:a="http://schemas.openxmlformats.org/drawingml/2006/main">
            <a:r>
              <a:t>      "grigory-yavlinsky",</a:t>
            </a:r>
          </a:p>
          <a:p xmlns:a="http://schemas.openxmlformats.org/drawingml/2006/main">
            <a:r>
              <a:t>      "lev-shlosberg"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3,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"rhetorical-simplicity",</a:t>
            </a:r>
          </a:p>
          <a:p xmlns:a="http://schemas.openxmlformats.org/drawingml/2006/main">
            <a:r>
              <a:t>    "name": "Лозунговая простота — развёрнутая аргументация",</a:t>
            </a:r>
          </a:p>
          <a:p xmlns:a="http://schemas.openxmlformats.org/drawingml/2006/main">
            <a:r>
              <a:t>    "positive": "Краткие лозунги и обещания простых быстрых решений",</a:t>
            </a:r>
          </a:p>
          <a:p xmlns:a="http://schemas.openxmlformats.org/drawingml/2006/main">
            <a:r>
              <a:t>    "negative": "Развёрнутое объяснение механизмов, ограничений и альтернатив",</a:t>
            </a:r>
          </a:p>
          <a:p xmlns:a="http://schemas.openxmlformats.org/drawingml/2006/main">
            <a:r>
              <a:t>    "definition": "Наблюдаемая форма публичной аргументации. Простота языка не считается ложью, экспертная лексика не считается доказательством компетентности.",</a:t>
            </a:r>
          </a:p>
          <a:p xmlns:a="http://schemas.openxmlformats.org/drawingml/2006/main">
            <a:r>
              <a:t>    "domain": "Публичная аргументация",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"Популистская риторика",</a:t>
            </a:r>
          </a:p>
          <a:p xmlns:a="http://schemas.openxmlformats.org/drawingml/2006/main">
            <a:r>
              <a:t>      "популизм"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"populism"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"sardana-avksentyeva",</a:t>
            </a:r>
          </a:p>
          <a:p xmlns:a="http://schemas.openxmlformats.org/drawingml/2006/main">
            <a:r>
              <a:t>      "sergey-mironov",</a:t>
            </a:r>
          </a:p>
          <a:p xmlns:a="http://schemas.openxmlformats.org/drawingml/2006/main">
            <a:r>
              <a:t>      "vladimir-zhirinovsky"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3,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"anti-bureaucracy",</a:t>
            </a:r>
          </a:p>
          <a:p xmlns:a="http://schemas.openxmlformats.org/drawingml/2006/main">
            <a:r>
              <a:t>    "name": "Дерегулирование — административное регулирование",</a:t>
            </a:r>
          </a:p>
          <a:p xmlns:a="http://schemas.openxmlformats.org/drawingml/2006/main">
            <a:r>
              <a:t>    "positive": "Сокращение разрешительных процедур и административного аппарата",</a:t>
            </a:r>
          </a:p>
          <a:p xmlns:a="http://schemas.openxmlformats.org/drawingml/2006/main">
            <a:r>
              <a:t>    "negative": "Расширение административного регулирования и государственного надзора",</a:t>
            </a:r>
          </a:p>
          <a:p xmlns:a="http://schemas.openxmlformats.org/drawingml/2006/main">
            <a:r>
              <a:t>    "definition": "Предложения о правилах, разрешениях, контроле и объёме бюрократических полномочий. Отсутствие критики чиновников не означает поддержки расширения аппарата.",</a:t>
            </a:r>
          </a:p>
          <a:p xmlns:a="http://schemas.openxmlformats.org/drawingml/2006/main">
            <a:r>
              <a:t>    "domain": "Программные акценты",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"Антибюрократическая риторика",</a:t>
            </a:r>
          </a:p>
          <a:p xmlns:a="http://schemas.openxmlformats.org/drawingml/2006/main">
            <a:r>
              <a:t>      "антибюрократия"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"anti-bureaucracy"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"sardana-avksentyeva",</a:t>
            </a:r>
          </a:p>
          <a:p xmlns:a="http://schemas.openxmlformats.org/drawingml/2006/main">
            <a:r>
              <a:t>      "yevgeny-prigozhin"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2,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"national-patriotism",</a:t>
            </a:r>
          </a:p>
          <a:p xmlns:a="http://schemas.openxmlformats.org/drawingml/2006/main">
            <a:r>
              <a:t>    "name": "Национальная общность — универсальные права",</a:t>
            </a:r>
          </a:p>
          <a:p xmlns:a="http://schemas.openxmlformats.org/drawingml/2006/main">
            <a:r>
              <a:t>    "positive": "Особые интересы национальной общности и защита культурной идентичности",</a:t>
            </a:r>
          </a:p>
          <a:p xmlns:a="http://schemas.openxmlformats.org/drawingml/2006/main">
            <a:r>
              <a:t>    "negative": "Универсальные права и равное отношение независимо от национальной принадлежности",</a:t>
            </a:r>
          </a:p>
          <a:p xmlns:a="http://schemas.openxmlformats.org/drawingml/2006/main">
            <a:r>
              <a:t>    "definition": "Явные основания политической солидарности и распределения приоритетов. Любовь к стране и универсальные права могут сочетаться; этническая принадлежность человека не оценивается.",</a:t>
            </a:r>
          </a:p>
          <a:p xmlns:a="http://schemas.openxmlformats.org/drawingml/2006/main">
            <a:r>
              <a:t>    "domain": "Программные акценты",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"Национально-патриотическая риторика",</a:t>
            </a:r>
          </a:p>
          <a:p xmlns:a="http://schemas.openxmlformats.org/drawingml/2006/main">
            <a:r>
              <a:t>      "патриотизм",</a:t>
            </a:r>
          </a:p>
          <a:p xmlns:a="http://schemas.openxmlformats.org/drawingml/2006/main">
            <a:r>
              <a:t>      "национальная идентичность"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"national-patriotism"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"eduard-limonov",</a:t>
            </a:r>
          </a:p>
          <a:p xmlns:a="http://schemas.openxmlformats.org/drawingml/2006/main">
            <a:r>
              <a:t>      "igor-strelkov",</a:t>
            </a:r>
          </a:p>
          <a:p xmlns:a="http://schemas.openxmlformats.org/drawingml/2006/main">
            <a:r>
              <a:t>      "vladimir-zhirinovsky"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3,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"coalitionality",</a:t>
            </a:r>
          </a:p>
          <a:p xmlns:a="http://schemas.openxmlformats.org/drawingml/2006/main">
            <a:r>
              <a:t>    "name": "Коалиционное сотрудничество — самостоятельная конкуренция",</a:t>
            </a:r>
          </a:p>
          <a:p xmlns:a="http://schemas.openxmlformats.org/drawingml/2006/main">
            <a:r>
              <a:t>    "positive": "Коалиции, совместные инициативы и объединение разных политических сил",</a:t>
            </a:r>
          </a:p>
          <a:p xmlns:a="http://schemas.openxmlformats.org/drawingml/2006/main">
            <a:r>
              <a:t>    "negative": "Самостоятельная конкуренция и сохранение организационной обособленности",</a:t>
            </a:r>
          </a:p>
          <a:p xmlns:a="http://schemas.openxmlformats.org/drawingml/2006/main">
            <a:r>
              <a:t>    "definition": "Наблюдаемая публичная стратегия отношений с другими политическими организациями. Отсутствие сведений о коалициях не считается намеренной изоляцией.",</a:t>
            </a:r>
          </a:p>
          <a:p xmlns:a="http://schemas.openxmlformats.org/drawingml/2006/main">
            <a:r>
              <a:t>    "domain": "Политическая стратегия",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"Коалиционность и объединительная стратегия",</a:t>
            </a:r>
          </a:p>
          <a:p xmlns:a="http://schemas.openxmlformats.org/drawingml/2006/main">
            <a:r>
              <a:t>      "коалиционность",</a:t>
            </a:r>
          </a:p>
          <a:p xmlns:a="http://schemas.openxmlformats.org/drawingml/2006/main">
            <a:r>
              <a:t>      "объединительная стратегия"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"coalitionality"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"dmitry-gudkov",</a:t>
            </a:r>
          </a:p>
          <a:p xmlns:a="http://schemas.openxmlformats.org/drawingml/2006/main">
            <a:r>
              <a:t>      "garry-kasparov",</a:t>
            </a:r>
          </a:p>
          <a:p xmlns:a="http://schemas.openxmlformats.org/drawingml/2006/main">
            <a:r>
              <a:t>      "gennady-gudkov",</a:t>
            </a:r>
          </a:p>
          <a:p xmlns:a="http://schemas.openxmlformats.org/drawingml/2006/main">
            <a:r>
              <a:t>      "sergey-udaltsov"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4,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"civil-liberties",</a:t>
            </a:r>
          </a:p>
          <a:p xmlns:a="http://schemas.openxmlformats.org/drawingml/2006/main">
            <a:r>
              <a:t>    "name": "Гражданские свободы — ограничения ради порядка",</a:t>
            </a:r>
          </a:p>
          <a:p xmlns:a="http://schemas.openxmlformats.org/drawingml/2006/main">
            <a:r>
              <a:t>    "positive": "Защита гражданских свобод, правовых гарантий и прав обвиняемых",</a:t>
            </a:r>
          </a:p>
          <a:p xmlns:a="http://schemas.openxmlformats.org/drawingml/2006/main">
            <a:r>
              <a:t>    "negative": "Расширение принудительных ограничений ради порядка и безопасности",</a:t>
            </a:r>
          </a:p>
          <a:p xmlns:a="http://schemas.openxmlformats.org/drawingml/2006/main">
            <a:r>
              <a:t>    "definition": "Явные позиции по политическому принуждению, протестам, уголовно-правовым гарантиям и правам человека. Молчание не означает одобрения преследований; не давать правовую оценку отдельным делам без оснований.",</a:t>
            </a:r>
          </a:p>
          <a:p xmlns:a="http://schemas.openxmlformats.org/drawingml/2006/main">
            <a:r>
              <a:t>    "domain": "Программные акценты",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"Антирепрессивная риторика",</a:t>
            </a:r>
          </a:p>
          <a:p xmlns:a="http://schemas.openxmlformats.org/drawingml/2006/main">
            <a:r>
              <a:t>      "антипреследование",</a:t>
            </a:r>
          </a:p>
          <a:p xmlns:a="http://schemas.openxmlformats.org/drawingml/2006/main">
            <a:r>
              <a:t>      "защита прав человека"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"anti-repression"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"leonid-gozman",</a:t>
            </a:r>
          </a:p>
          <a:p xmlns:a="http://schemas.openxmlformats.org/drawingml/2006/main">
            <a:r>
              <a:t>      "vladimir-kara-murza"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2,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"F1",</a:t>
            </a:r>
          </a:p>
          <a:p xmlns:a="http://schemas.openxmlformats.org/drawingml/2006/main">
            <a:r>
              <a:t>  "name": "Антивоенная критика и электоральная легитимность ↔ Антизападная мобилизация и суверенитет",</a:t>
            </a:r>
          </a:p>
          <a:p xmlns:a="http://schemas.openxmlformats.org/drawingml/2006/main">
            <a:r>
              <a:t>  "label": "Антивоенная критика и электоральная легитимность ↔ Антизападная мобилизация и суверенитет",</a:t>
            </a:r>
          </a:p>
          <a:p xmlns:a="http://schemas.openxmlformats.org/drawingml/2006/main">
            <a:r>
              <a:t>  "positive_traits":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"antiwar-rhetoric",</a:t>
            </a:r>
          </a:p>
          <a:p xmlns:a="http://schemas.openxmlformats.org/drawingml/2006/main">
            <a:r>
              <a:t>      "name": "Прекращение военных действий — их продолжение",</a:t>
            </a:r>
          </a:p>
          <a:p xmlns:a="http://schemas.openxmlformats.org/drawingml/2006/main">
            <a:r>
              <a:t>      "positive": "Публичные призывы прекратить военные действия и перейти к миру",</a:t>
            </a:r>
          </a:p>
          <a:p xmlns:a="http://schemas.openxmlformats.org/drawingml/2006/main">
            <a:r>
              <a:t>      "negative": "Публичная поддержка продолжения военных действий ради заявленных целей",</a:t>
            </a:r>
          </a:p>
          <a:p xmlns:a="http://schemas.openxmlformats.org/drawingml/2006/main">
            <a:r>
              <a:t>      "loading": 0.8881921748661171,</a:t>
            </a:r>
          </a:p>
          <a:p xmlns:a="http://schemas.openxmlformats.org/drawingml/2006/main">
            <a:r>
              <a:t>      "high_factor_property": "Публичные призывы прекратить военные действия и перейти к миру",</a:t>
            </a:r>
          </a:p>
          <a:p xmlns:a="http://schemas.openxmlformats.org/drawingml/2006/main">
            <a:r>
              <a:t>      "low_factor_property": "Публичная поддержка продолжения военных действий ради заявленных целей"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"oppositionality",</a:t>
            </a:r>
          </a:p>
          <a:p xmlns:a="http://schemas.openxmlformats.org/drawingml/2006/main">
            <a:r>
              <a:t>      "name": "Критика действующей власти — поддержка её курса",</a:t>
            </a:r>
          </a:p>
          <a:p xmlns:a="http://schemas.openxmlformats.org/drawingml/2006/main">
            <a:r>
              <a:t>      "positive": "Публичная критика действующей федеральной власти",</a:t>
            </a:r>
          </a:p>
          <a:p xmlns:a="http://schemas.openxmlformats.org/drawingml/2006/main">
            <a:r>
              <a:t>      "negative": "Публичная поддержка курса действующей федеральной власти",</a:t>
            </a:r>
          </a:p>
          <a:p xmlns:a="http://schemas.openxmlformats.org/drawingml/2006/main">
            <a:r>
              <a:t>      "loading": 0.7128951877645945,</a:t>
            </a:r>
          </a:p>
          <a:p xmlns:a="http://schemas.openxmlformats.org/drawingml/2006/main">
            <a:r>
              <a:t>      "high_factor_property": "Публичная критика действующей федеральной власти",</a:t>
            </a:r>
          </a:p>
          <a:p xmlns:a="http://schemas.openxmlformats.org/drawingml/2006/main">
            <a:r>
              <a:t>      "low_factor_property": "Публичная поддержка курса действующей федеральной власти"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"electoral-legitimacy",</a:t>
            </a:r>
          </a:p>
          <a:p xmlns:a="http://schemas.openxmlformats.org/drawingml/2006/main">
            <a:r>
              <a:t>      "name": "Электоральный мандат — административный мандат",</a:t>
            </a:r>
          </a:p>
          <a:p xmlns:a="http://schemas.openxmlformats.org/drawingml/2006/main">
            <a:r>
              <a:t>      "positive": "Конкурентные выборы и воля избирателей как источник полномочий",</a:t>
            </a:r>
          </a:p>
          <a:p xmlns:a="http://schemas.openxmlformats.org/drawingml/2006/main">
            <a:r>
              <a:t>      "negative": "Назначение, государственная иерархия и управленческая преемственность как источник полномочий",</a:t>
            </a:r>
          </a:p>
          <a:p xmlns:a="http://schemas.openxmlformats.org/drawingml/2006/main">
            <a:r>
              <a:t>      "loading": 0.6118420106858591,</a:t>
            </a:r>
          </a:p>
          <a:p xmlns:a="http://schemas.openxmlformats.org/drawingml/2006/main">
            <a:r>
              <a:t>      "high_factor_property": "Конкурентные выборы и воля избирателей как источник полномочий",</a:t>
            </a:r>
          </a:p>
          <a:p xmlns:a="http://schemas.openxmlformats.org/drawingml/2006/main">
            <a:r>
              <a:t>      "low_factor_property": "Назначение, государственная иерархия и управленческая преемственность как источник полномочий"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"negative_traits":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"antiwesternism",</a:t>
            </a:r>
          </a:p>
          <a:p xmlns:a="http://schemas.openxmlformats.org/drawingml/2006/main">
            <a:r>
              <a:t>      "name": "Противостояние Западу — сближение с Западом",</a:t>
            </a:r>
          </a:p>
          <a:p xmlns:a="http://schemas.openxmlformats.org/drawingml/2006/main">
            <a:r>
              <a:t>      "positive": "Противостояние западным государствам и институтам",</a:t>
            </a:r>
          </a:p>
          <a:p xmlns:a="http://schemas.openxmlformats.org/drawingml/2006/main">
            <a:r>
              <a:t>      "negative": "Сотрудничество и политическое сближение с западными государствами",</a:t>
            </a:r>
          </a:p>
          <a:p xmlns:a="http://schemas.openxmlformats.org/drawingml/2006/main">
            <a:r>
              <a:t>      "loading": -0.8372877568297115,</a:t>
            </a:r>
          </a:p>
          <a:p xmlns:a="http://schemas.openxmlformats.org/drawingml/2006/main">
            <a:r>
              <a:t>      "high_factor_property": "Сотрудничество и политическое сближение с западными государствами",</a:t>
            </a:r>
          </a:p>
          <a:p xmlns:a="http://schemas.openxmlformats.org/drawingml/2006/main">
            <a:r>
              <a:t>      "low_factor_property": "Противостояние западным государствам и институтам"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"mobilization-rhetoric",</a:t>
            </a:r>
          </a:p>
          <a:p xmlns:a="http://schemas.openxmlformats.org/drawingml/2006/main">
            <a:r>
              <a:t>      "name": "Мобилизационный призыв — обсуждение и убеждение",</a:t>
            </a:r>
          </a:p>
          <a:p xmlns:a="http://schemas.openxmlformats.org/drawingml/2006/main">
            <a:r>
              <a:t>      "positive": "Призывы к единению, дисциплине и чрезвычайной мобилизации",</a:t>
            </a:r>
          </a:p>
          <a:p xmlns:a="http://schemas.openxmlformats.org/drawingml/2006/main">
            <a:r>
              <a:t>      "negative": "Призывы к открытому обсуждению, сомнению и убеждению",</a:t>
            </a:r>
          </a:p>
          <a:p xmlns:a="http://schemas.openxmlformats.org/drawingml/2006/main">
            <a:r>
              <a:t>      "loading": -0.740622041229571,</a:t>
            </a:r>
          </a:p>
          <a:p xmlns:a="http://schemas.openxmlformats.org/drawingml/2006/main">
            <a:r>
              <a:t>      "high_factor_property": "Призывы к открытому обсуждению, сомнению и убеждению",</a:t>
            </a:r>
          </a:p>
          <a:p xmlns:a="http://schemas.openxmlformats.org/drawingml/2006/main">
            <a:r>
              <a:t>      "low_factor_property": "Призывы к единению, дисциплине и чрезвычайной мобилизации"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"security-sovereignty",</a:t>
            </a:r>
          </a:p>
          <a:p xmlns:a="http://schemas.openxmlformats.org/drawingml/2006/main">
            <a:r>
              <a:t>      "name": "Суверенная самостоятельность — международная интеграция",</a:t>
            </a:r>
          </a:p>
          <a:p xmlns:a="http://schemas.openxmlformats.org/drawingml/2006/main">
            <a:r>
              <a:t>      "positive": "Суверенная самостоятельность и защита от внешнего влияния",</a:t>
            </a:r>
          </a:p>
          <a:p xmlns:a="http://schemas.openxmlformats.org/drawingml/2006/main">
            <a:r>
              <a:t>      "negative": "Международная интеграция и взаимозависимость",</a:t>
            </a:r>
          </a:p>
          <a:p xmlns:a="http://schemas.openxmlformats.org/drawingml/2006/main">
            <a:r>
              <a:t>      "loading": -0.696389899134722,</a:t>
            </a:r>
          </a:p>
          <a:p xmlns:a="http://schemas.openxmlformats.org/drawingml/2006/main">
            <a:r>
              <a:t>      "high_factor_property": "Международная интеграция и взаимозависимость",</a:t>
            </a:r>
          </a:p>
          <a:p xmlns:a="http://schemas.openxmlformats.org/drawingml/2006/main">
            <a:r>
              <a:t>      "low_factor_property": "Суверенная самостоятельность и защита от внешнего влияния"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"national-patriotism",</a:t>
            </a:r>
          </a:p>
          <a:p xmlns:a="http://schemas.openxmlformats.org/drawingml/2006/main">
            <a:r>
              <a:t>      "name": "Национальная общность — универсальные права",</a:t>
            </a:r>
          </a:p>
          <a:p xmlns:a="http://schemas.openxmlformats.org/drawingml/2006/main">
            <a:r>
              <a:t>      "positive": "Особые интересы национальной общности и защита культурной идентичности",</a:t>
            </a:r>
          </a:p>
          <a:p xmlns:a="http://schemas.openxmlformats.org/drawingml/2006/main">
            <a:r>
              <a:t>      "negative": "Универсальные права и равное отношение независимо от национальной принадлежности",</a:t>
            </a:r>
          </a:p>
          <a:p xmlns:a="http://schemas.openxmlformats.org/drawingml/2006/main">
            <a:r>
              <a:t>      "loading": -0.6902505511562457,</a:t>
            </a:r>
          </a:p>
          <a:p xmlns:a="http://schemas.openxmlformats.org/drawingml/2006/main">
            <a:r>
              <a:t>      "high_factor_property": "Универсальные права и равное отношение независимо от национальной принадлежности",</a:t>
            </a:r>
          </a:p>
          <a:p xmlns:a="http://schemas.openxmlformats.org/drawingml/2006/main">
            <a:r>
              <a:t>      "low_factor_property": "Особые интересы национальной общности и защита культурной идентичности"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"federal-loyalty",</a:t>
            </a:r>
          </a:p>
          <a:p xmlns:a="http://schemas.openxmlformats.org/drawingml/2006/main">
            <a:r>
              <a:t>      "name": "Централизация — децентрализация",</a:t>
            </a:r>
          </a:p>
          <a:p xmlns:a="http://schemas.openxmlformats.org/drawingml/2006/main">
            <a:r>
              <a:t>      "positive": "Единая вертикаль и концентрация полномочий в центре",</a:t>
            </a:r>
          </a:p>
          <a:p xmlns:a="http://schemas.openxmlformats.org/drawingml/2006/main">
            <a:r>
              <a:t>      "negative": "Региональная и муниципальная автономия, распределение полномочий",</a:t>
            </a:r>
          </a:p>
          <a:p xmlns:a="http://schemas.openxmlformats.org/drawingml/2006/main">
            <a:r>
              <a:t>      "loading": -0.6087013138748517,</a:t>
            </a:r>
          </a:p>
          <a:p xmlns:a="http://schemas.openxmlformats.org/drawingml/2006/main">
            <a:r>
              <a:t>      "high_factor_property": "Региональная и муниципальная автономия, распределение полномочий",</a:t>
            </a:r>
          </a:p>
          <a:p xmlns:a="http://schemas.openxmlformats.org/drawingml/2006/main">
            <a:r>
              <a:t>      "low_factor_property": "Единая вертикаль и концентрация полномочий в центре"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"rhetorical-simplicity",</a:t>
            </a:r>
          </a:p>
          <a:p xmlns:a="http://schemas.openxmlformats.org/drawingml/2006/main">
            <a:r>
              <a:t>      "name": "Лозунговая простота — развёрнутая аргументация",</a:t>
            </a:r>
          </a:p>
          <a:p xmlns:a="http://schemas.openxmlformats.org/drawingml/2006/main">
            <a:r>
              <a:t>      "positive": "Краткие лозунги и обещания простых быстрых решений",</a:t>
            </a:r>
          </a:p>
          <a:p xmlns:a="http://schemas.openxmlformats.org/drawingml/2006/main">
            <a:r>
              <a:t>      "negative": "Развёрнутое объяснение механизмов, ограничений и альтернатив",</a:t>
            </a:r>
          </a:p>
          <a:p xmlns:a="http://schemas.openxmlformats.org/drawingml/2006/main">
            <a:r>
              <a:t>      "loading": -0.47473019794519505,</a:t>
            </a:r>
          </a:p>
          <a:p xmlns:a="http://schemas.openxmlformats.org/drawingml/2006/main">
            <a:r>
              <a:t>      "high_factor_property": "Развёрнутое объяснение механизмов, ограничений и альтернатив",</a:t>
            </a:r>
          </a:p>
          <a:p xmlns:a="http://schemas.openxmlformats.org/drawingml/2006/main">
            <a:r>
              <a:t>      "low_factor_property": "Краткие лозунги и обещания простых быстрых решений"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"party-leadership",</a:t>
            </a:r>
          </a:p>
          <a:p xmlns:a="http://schemas.openxmlformats.org/drawingml/2006/main">
            <a:r>
              <a:t>      "name": "Партийная организация — независимая инициатива",</a:t>
            </a:r>
          </a:p>
          <a:p xmlns:a="http://schemas.openxmlformats.org/drawingml/2006/main">
            <a:r>
              <a:t>      "positive": "Партия как основной инструмент политического действия",</a:t>
            </a:r>
          </a:p>
          <a:p xmlns:a="http://schemas.openxmlformats.org/drawingml/2006/main">
            <a:r>
              <a:t>      "negative": "Независимые от партий гражданские и персональные инициативы",</a:t>
            </a:r>
          </a:p>
          <a:p xmlns:a="http://schemas.openxmlformats.org/drawingml/2006/main">
            <a:r>
              <a:t>      "loading": -0.3944857276232032,</a:t>
            </a:r>
          </a:p>
          <a:p xmlns:a="http://schemas.openxmlformats.org/drawingml/2006/main">
            <a:r>
              <a:t>      "high_factor_property": "Независимые от партий гражданские и персональные инициативы",</a:t>
            </a:r>
          </a:p>
          <a:p xmlns:a="http://schemas.openxmlformats.org/drawingml/2006/main">
            <a:r>
              <a:t>      "low_factor_property": "Партия как основной инструмент политического действия"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"strong_loading_threshold": 0.35,</a:t>
            </a:r>
          </a:p>
          <a:p xmlns:a="http://schemas.openxmlformats.org/drawingml/2006/main">
            <a:r>
              <a:t>  "variance_share": 0.2882609657389838,</a:t>
            </a:r>
          </a:p>
          <a:p xmlns:a="http://schemas.openxmlformats.org/drawingml/2006/main">
            <a:r>
              <a:t>  "interpretation": "Первая ось пространства отражает противопоставление между публичной антивоенной риторикой, критикой федеральной власти и акцентом на конкурентных выборах — с одной стороны, и акцентом на противостоянии Западу, мобилизационной риторике, суверенитете, национально-патриотических установках и централизации — с другой. Высокие значения по этой оси характерны для образов, где доминируют призывы к миру, критика действующей власти, поддержка электоральной легитимности, открытость к международной интеграции и универсальным правам. Низкие значения связаны с акцентом на противостоянии западным странам, мобилизационными призывами, риторикой суверенитета, защиты интересов национальной общности и поддержкой административной вертикали.\n\nЭта ось определяет ключевое различие между публичными образами, ориентированными на критику власти, электоральный мандат и международную интеграцию, и образами, строящимися на мобилизации, антагонизме к Западу, национальной идентичности и поддержке существующего порядка. Ось не фиксирует причинность между этими свойствами, а лишь отражает их совместное проявление в публичных позициях. Отличие от других осей — в сочетании внешнеполитических, институциональных и риторических признаков, а не только в способах действия или организационной структуре.",</a:t>
            </a:r>
          </a:p>
          <a:p xmlns:a="http://schemas.openxmlformats.org/drawingml/2006/main">
            <a:r>
              <a:t>  "numeric_label": "Публичные призывы прекратить военные действия и перейти к миру ↔ Противостояние западным государствам и институтам"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"F2",</a:t>
            </a:r>
          </a:p>
          <a:p xmlns:a="http://schemas.openxmlformats.org/drawingml/2006/main">
            <a:r>
              <a:t>  "name": "Институциональная партийность и централизация ↔ Конфронтационная персонализация и протест",</a:t>
            </a:r>
          </a:p>
          <a:p xmlns:a="http://schemas.openxmlformats.org/drawingml/2006/main">
            <a:r>
              <a:t>  "label": "Институциональная партийность и централизация ↔ Конфронтационная персонализация и протест",</a:t>
            </a:r>
          </a:p>
          <a:p xmlns:a="http://schemas.openxmlformats.org/drawingml/2006/main">
            <a:r>
              <a:t>  "positive_traits":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"parliamentary-institutional",</a:t>
            </a:r>
          </a:p>
          <a:p xmlns:a="http://schemas.openxmlformats.org/drawingml/2006/main">
            <a:r>
              <a:t>      "name": "Институциональная работа — протестное действие",</a:t>
            </a:r>
          </a:p>
          <a:p xmlns:a="http://schemas.openxmlformats.org/drawingml/2006/main">
            <a:r>
              <a:t>      "positive": "Изменения через действующие правовые и парламентские процедуры",</a:t>
            </a:r>
          </a:p>
          <a:p xmlns:a="http://schemas.openxmlformats.org/drawingml/2006/main">
            <a:r>
              <a:t>      "negative": "Изменения через внеинституциональное протестное давление",</a:t>
            </a:r>
          </a:p>
          <a:p xmlns:a="http://schemas.openxmlformats.org/drawingml/2006/main">
            <a:r>
              <a:t>      "loading": 0.7855774412593813,</a:t>
            </a:r>
          </a:p>
          <a:p xmlns:a="http://schemas.openxmlformats.org/drawingml/2006/main">
            <a:r>
              <a:t>      "high_factor_property": "Изменения через действующие правовые и парламентские процедуры",</a:t>
            </a:r>
          </a:p>
          <a:p xmlns:a="http://schemas.openxmlformats.org/drawingml/2006/main">
            <a:r>
              <a:t>      "low_factor_property": "Изменения через внеинституциональное протестное давление"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"party-leadership",</a:t>
            </a:r>
          </a:p>
          <a:p xmlns:a="http://schemas.openxmlformats.org/drawingml/2006/main">
            <a:r>
              <a:t>      "name": "Партийная организация — независимая инициатива",</a:t>
            </a:r>
          </a:p>
          <a:p xmlns:a="http://schemas.openxmlformats.org/drawingml/2006/main">
            <a:r>
              <a:t>      "positive": "Партия как основной инструмент политического действия",</a:t>
            </a:r>
          </a:p>
          <a:p xmlns:a="http://schemas.openxmlformats.org/drawingml/2006/main">
            <a:r>
              <a:t>      "negative": "Независимые от партий гражданские и персональные инициативы",</a:t>
            </a:r>
          </a:p>
          <a:p xmlns:a="http://schemas.openxmlformats.org/drawingml/2006/main">
            <a:r>
              <a:t>      "loading": 0.5008645194926944,</a:t>
            </a:r>
          </a:p>
          <a:p xmlns:a="http://schemas.openxmlformats.org/drawingml/2006/main">
            <a:r>
              <a:t>      "high_factor_property": "Партия как основной инструмент политического действия",</a:t>
            </a:r>
          </a:p>
          <a:p xmlns:a="http://schemas.openxmlformats.org/drawingml/2006/main">
            <a:r>
              <a:t>      "low_factor_property": "Независимые от партий гражданские и персональные инициативы"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"federal-loyalty",</a:t>
            </a:r>
          </a:p>
          <a:p xmlns:a="http://schemas.openxmlformats.org/drawingml/2006/main">
            <a:r>
              <a:t>      "name": "Централизация — децентрализация",</a:t>
            </a:r>
          </a:p>
          <a:p xmlns:a="http://schemas.openxmlformats.org/drawingml/2006/main">
            <a:r>
              <a:t>      "positive": "Единая вертикаль и концентрация полномочий в центре",</a:t>
            </a:r>
          </a:p>
          <a:p xmlns:a="http://schemas.openxmlformats.org/drawingml/2006/main">
            <a:r>
              <a:t>      "negative": "Региональная и муниципальная автономия, распределение полномочий",</a:t>
            </a:r>
          </a:p>
          <a:p xmlns:a="http://schemas.openxmlformats.org/drawingml/2006/main">
            <a:r>
              <a:t>      "loading": 0.38176537806462346,</a:t>
            </a:r>
          </a:p>
          <a:p xmlns:a="http://schemas.openxmlformats.org/drawingml/2006/main">
            <a:r>
              <a:t>      "high_factor_property": "Единая вертикаль и концентрация полномочий в центре",</a:t>
            </a:r>
          </a:p>
          <a:p xmlns:a="http://schemas.openxmlformats.org/drawingml/2006/main">
            <a:r>
              <a:t>      "low_factor_property": "Региональная и муниципальная автономия, распределение полномочий"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"negative_traits":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"conflictuality",</a:t>
            </a:r>
          </a:p>
          <a:p xmlns:a="http://schemas.openxmlformats.org/drawingml/2006/main">
            <a:r>
              <a:t>      "name": "Конфронтация — компромисс",</a:t>
            </a:r>
          </a:p>
          <a:p xmlns:a="http://schemas.openxmlformats.org/drawingml/2006/main">
            <a:r>
              <a:t>      "positive": "Конфронтационная полемика и жёсткое противопоставление оппонентам",</a:t>
            </a:r>
          </a:p>
          <a:p xmlns:a="http://schemas.openxmlformats.org/drawingml/2006/main">
            <a:r>
              <a:t>      "negative": "Компромиссная и согласительная риторика",</a:t>
            </a:r>
          </a:p>
          <a:p xmlns:a="http://schemas.openxmlformats.org/drawingml/2006/main">
            <a:r>
              <a:t>      "loading": -0.8078380687802899,</a:t>
            </a:r>
          </a:p>
          <a:p xmlns:a="http://schemas.openxmlformats.org/drawingml/2006/main">
            <a:r>
              <a:t>      "high_factor_property": "Компромиссная и согласительная риторика",</a:t>
            </a:r>
          </a:p>
          <a:p xmlns:a="http://schemas.openxmlformats.org/drawingml/2006/main">
            <a:r>
              <a:t>      "low_factor_property": "Конфронтационная полемика и жёсткое противопоставление оппонентам"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"media-personalization",</a:t>
            </a:r>
          </a:p>
          <a:p xmlns:a="http://schemas.openxmlformats.org/drawingml/2006/main">
            <a:r>
              <a:t>      "name": "Персональный бренд — коллективный институт",</a:t>
            </a:r>
          </a:p>
          <a:p xmlns:a="http://schemas.openxmlformats.org/drawingml/2006/main">
            <a:r>
              <a:t>      "positive": "Личный бренд и обращение от собственного имени",</a:t>
            </a:r>
          </a:p>
          <a:p xmlns:a="http://schemas.openxmlformats.org/drawingml/2006/main">
            <a:r>
              <a:t>      "negative": "Коллективное представительство и институциональное авторство",</a:t>
            </a:r>
          </a:p>
          <a:p xmlns:a="http://schemas.openxmlformats.org/drawingml/2006/main">
            <a:r>
              <a:t>      "loading": -0.7431320289830482,</a:t>
            </a:r>
          </a:p>
          <a:p xmlns:a="http://schemas.openxmlformats.org/drawingml/2006/main">
            <a:r>
              <a:t>      "high_factor_property": "Коллективное представительство и институциональное авторство",</a:t>
            </a:r>
          </a:p>
          <a:p xmlns:a="http://schemas.openxmlformats.org/drawingml/2006/main">
            <a:r>
              <a:t>      "low_factor_property": "Личный бренд и обращение от собственного имени"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"oppositionality",</a:t>
            </a:r>
          </a:p>
          <a:p xmlns:a="http://schemas.openxmlformats.org/drawingml/2006/main">
            <a:r>
              <a:t>      "name": "Критика действующей власти — поддержка её курса",</a:t>
            </a:r>
          </a:p>
          <a:p xmlns:a="http://schemas.openxmlformats.org/drawingml/2006/main">
            <a:r>
              <a:t>      "positive": "Публичная критика действующей федеральной власти",</a:t>
            </a:r>
          </a:p>
          <a:p xmlns:a="http://schemas.openxmlformats.org/drawingml/2006/main">
            <a:r>
              <a:t>      "negative": "Публичная поддержка курса действующей федеральной власти",</a:t>
            </a:r>
          </a:p>
          <a:p xmlns:a="http://schemas.openxmlformats.org/drawingml/2006/main">
            <a:r>
              <a:t>      "loading": -0.5575141343137987,</a:t>
            </a:r>
          </a:p>
          <a:p xmlns:a="http://schemas.openxmlformats.org/drawingml/2006/main">
            <a:r>
              <a:t>      "high_factor_property": "Публичная поддержка курса действующей федеральной власти",</a:t>
            </a:r>
          </a:p>
          <a:p xmlns:a="http://schemas.openxmlformats.org/drawingml/2006/main">
            <a:r>
              <a:t>      "low_factor_property": "Публичная критика действующей федеральной власти"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"mobilization-rhetoric",</a:t>
            </a:r>
          </a:p>
          <a:p xmlns:a="http://schemas.openxmlformats.org/drawingml/2006/main">
            <a:r>
              <a:t>      "name": "Мобилизационный призыв — обсуждение и убеждение",</a:t>
            </a:r>
          </a:p>
          <a:p xmlns:a="http://schemas.openxmlformats.org/drawingml/2006/main">
            <a:r>
              <a:t>      "positive": "Призывы к единению, дисциплине и чрезвычайной мобилизации",</a:t>
            </a:r>
          </a:p>
          <a:p xmlns:a="http://schemas.openxmlformats.org/drawingml/2006/main">
            <a:r>
              <a:t>      "negative": "Призывы к открытому обсуждению, сомнению и убеждению",</a:t>
            </a:r>
          </a:p>
          <a:p xmlns:a="http://schemas.openxmlformats.org/drawingml/2006/main">
            <a:r>
              <a:t>      "loading": -0.4399997726690791,</a:t>
            </a:r>
          </a:p>
          <a:p xmlns:a="http://schemas.openxmlformats.org/drawingml/2006/main">
            <a:r>
              <a:t>      "high_factor_property": "Призывы к открытому обсуждению, сомнению и убеждению",</a:t>
            </a:r>
          </a:p>
          <a:p xmlns:a="http://schemas.openxmlformats.org/drawingml/2006/main">
            <a:r>
              <a:t>      "low_factor_property": "Призывы к единению, дисциплине и чрезвычайной мобилизации"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"international-activity",</a:t>
            </a:r>
          </a:p>
          <a:p xmlns:a="http://schemas.openxmlformats.org/drawingml/2006/main">
            <a:r>
              <a:t>      "name": "Внешняя повестка — внутренняя повестка",</a:t>
            </a:r>
          </a:p>
          <a:p xmlns:a="http://schemas.openxmlformats.org/drawingml/2006/main">
            <a:r>
              <a:t>      "positive": "Приоритет международной и внешнеполитической повестки",</a:t>
            </a:r>
          </a:p>
          <a:p xmlns:a="http://schemas.openxmlformats.org/drawingml/2006/main">
            <a:r>
              <a:t>      "negative": "Приоритет внутренних общественных и хозяйственных задач",</a:t>
            </a:r>
          </a:p>
          <a:p xmlns:a="http://schemas.openxmlformats.org/drawingml/2006/main">
            <a:r>
              <a:t>      "loading": -0.3830141363267151,</a:t>
            </a:r>
          </a:p>
          <a:p xmlns:a="http://schemas.openxmlformats.org/drawingml/2006/main">
            <a:r>
              <a:t>      "high_factor_property": "Приоритет внутренних общественных и хозяйственных задач",</a:t>
            </a:r>
          </a:p>
          <a:p xmlns:a="http://schemas.openxmlformats.org/drawingml/2006/main">
            <a:r>
              <a:t>      "low_factor_property": "Приоритет международной и внешнеполитической повестки"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"strong_loading_threshold": 0.35,</a:t>
            </a:r>
          </a:p>
          <a:p xmlns:a="http://schemas.openxmlformats.org/drawingml/2006/main">
            <a:r>
              <a:t>  "variance_share": 0.18268057849913052,</a:t>
            </a:r>
          </a:p>
          <a:p xmlns:a="http://schemas.openxmlformats.org/drawingml/2006/main">
            <a:r>
              <a:t>  "interpretation": "Вторая ось выделяет различие между акцентом на институциональной работе через парламентские процедуры, партийной организацией и централизацией полномочий — и противоположным полюсом, где преобладают конфронтационная риторика, персонализированный стиль, протестные и внеинституциональные действия. Высокие значения по этой оси соответствуют образам, где изменения связываются с действующими институтами, партийной дисциплиной и вертикалью власти, а публичная риторика склонна к компромиссу и коллективному авторству. Низкие значения характерны для образов с ярко выраженной конфронтационностью, персонализацией, протестной стратегией и акцентом на самостоятельности от партийных структур.\n\nЭта ось позволяет различать публичные образы, ориентированные на коллективные институты и формальные процедуры, и образы, строящиеся на личном бренде, конфликтности и протестной активности. В отличие от первой оси, здесь на первый план выходят способы организации и формы публичного действия, а не внешнеполитические или идеологические установки.",</a:t>
            </a:r>
          </a:p>
          <a:p xmlns:a="http://schemas.openxmlformats.org/drawingml/2006/main">
            <a:r>
              <a:t>  "numeric_label": "Изменения через действующие правовые и парламентские процедуры ↔ Конфронтационная полемика и жёсткое противопоставление оппонентам"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Два основных контраста сохраняются при q=2, q=3 и q=4: отношение к войне, внешней интеграции и мобилизации; институциональная стратегия в сравнении с конфронтацией и персонализацией. При q=3 добавляется сочетание технократического обоснования, идеологических акцентов и электоральной критики. При q=4 оно перестраивается: централизация преимущественно относится к F1, управленческое обоснование и социальная программа — к F4. Модель с большим q повторно оценивает и вращает всю систему, а не просто добавляет неизменную новую ось. Описанная общая дисперсия возрастает с 47,09% до 53,60% и 58,82%; рост сам по себе не обосновывает выбор более сложной модели.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Институциональная работа и технократическая результативность перестают восприниматься как одно сочетание. Высокий F3 объединяет идеологическую аргументацию, критику курса и электоральный мандат; это может сближать публичные образы акторов, расходящихся по войне и международной интеграции.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"F1",</a:t>
            </a:r>
          </a:p>
          <a:p xmlns:a="http://schemas.openxmlformats.org/drawingml/2006/main">
            <a:r>
              <a:t>  "name": "Антивоенная критика и интеграция ↔ Антизападная мобилизация и суверенитет",</a:t>
            </a:r>
          </a:p>
          <a:p xmlns:a="http://schemas.openxmlformats.org/drawingml/2006/main">
            <a:r>
              <a:t>  "label": "Антивоенная критика и интеграция ↔ Антизападная мобилизация и суверенитет",</a:t>
            </a:r>
          </a:p>
          <a:p xmlns:a="http://schemas.openxmlformats.org/drawingml/2006/main">
            <a:r>
              <a:t>  "positive_traits":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"antiwar-rhetoric",</a:t>
            </a:r>
          </a:p>
          <a:p xmlns:a="http://schemas.openxmlformats.org/drawingml/2006/main">
            <a:r>
              <a:t>      "name": "Прекращение военных действий — их продолжение",</a:t>
            </a:r>
          </a:p>
          <a:p xmlns:a="http://schemas.openxmlformats.org/drawingml/2006/main">
            <a:r>
              <a:t>      "positive": "Публичные призывы прекратить военные действия и перейти к миру",</a:t>
            </a:r>
          </a:p>
          <a:p xmlns:a="http://schemas.openxmlformats.org/drawingml/2006/main">
            <a:r>
              <a:t>      "negative": "Публичная поддержка продолжения военных действий ради заявленных целей",</a:t>
            </a:r>
          </a:p>
          <a:p xmlns:a="http://schemas.openxmlformats.org/drawingml/2006/main">
            <a:r>
              <a:t>      "loading": 0.860263856102045,</a:t>
            </a:r>
          </a:p>
          <a:p xmlns:a="http://schemas.openxmlformats.org/drawingml/2006/main">
            <a:r>
              <a:t>      "high_factor_property": "Публичные призывы прекратить военные действия и перейти к миру",</a:t>
            </a:r>
          </a:p>
          <a:p xmlns:a="http://schemas.openxmlformats.org/drawingml/2006/main">
            <a:r>
              <a:t>      "low_factor_property": "Публичная поддержка продолжения военных действий ради заявленных целей"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"oppositionality",</a:t>
            </a:r>
          </a:p>
          <a:p xmlns:a="http://schemas.openxmlformats.org/drawingml/2006/main">
            <a:r>
              <a:t>      "name": "Критика действующей власти — поддержка её курса",</a:t>
            </a:r>
          </a:p>
          <a:p xmlns:a="http://schemas.openxmlformats.org/drawingml/2006/main">
            <a:r>
              <a:t>      "positive": "Публичная критика действующей федеральной власти",</a:t>
            </a:r>
          </a:p>
          <a:p xmlns:a="http://schemas.openxmlformats.org/drawingml/2006/main">
            <a:r>
              <a:t>      "negative": "Публичная поддержка курса действующей федеральной власти",</a:t>
            </a:r>
          </a:p>
          <a:p xmlns:a="http://schemas.openxmlformats.org/drawingml/2006/main">
            <a:r>
              <a:t>      "loading": 0.6016011812510457,</a:t>
            </a:r>
          </a:p>
          <a:p xmlns:a="http://schemas.openxmlformats.org/drawingml/2006/main">
            <a:r>
              <a:t>      "high_factor_property": "Публичная критика действующей федеральной власти",</a:t>
            </a:r>
          </a:p>
          <a:p xmlns:a="http://schemas.openxmlformats.org/drawingml/2006/main">
            <a:r>
              <a:t>      "low_factor_property": "Публичная поддержка курса действующей федеральной власти"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"electoral-legitimacy",</a:t>
            </a:r>
          </a:p>
          <a:p xmlns:a="http://schemas.openxmlformats.org/drawingml/2006/main">
            <a:r>
              <a:t>      "name": "Электоральный мандат — административный мандат",</a:t>
            </a:r>
          </a:p>
          <a:p xmlns:a="http://schemas.openxmlformats.org/drawingml/2006/main">
            <a:r>
              <a:t>      "positive": "Конкурентные выборы и воля избирателей как источник полномочий",</a:t>
            </a:r>
          </a:p>
          <a:p xmlns:a="http://schemas.openxmlformats.org/drawingml/2006/main">
            <a:r>
              <a:t>      "negative": "Назначение, государственная иерархия и управленческая преемственность как источник полномочий",</a:t>
            </a:r>
          </a:p>
          <a:p xmlns:a="http://schemas.openxmlformats.org/drawingml/2006/main">
            <a:r>
              <a:t>      "loading": 0.51888661670875,</a:t>
            </a:r>
          </a:p>
          <a:p xmlns:a="http://schemas.openxmlformats.org/drawingml/2006/main">
            <a:r>
              <a:t>      "high_factor_property": "Конкурентные выборы и воля избирателей как источник полномочий",</a:t>
            </a:r>
          </a:p>
          <a:p xmlns:a="http://schemas.openxmlformats.org/drawingml/2006/main">
            <a:r>
              <a:t>      "low_factor_property": "Назначение, государственная иерархия и управленческая преемственность как источник полномочий"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"negative_traits":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"antiwesternism",</a:t>
            </a:r>
          </a:p>
          <a:p xmlns:a="http://schemas.openxmlformats.org/drawingml/2006/main">
            <a:r>
              <a:t>      "name": "Противостояние Западу — сближение с Западом",</a:t>
            </a:r>
          </a:p>
          <a:p xmlns:a="http://schemas.openxmlformats.org/drawingml/2006/main">
            <a:r>
              <a:t>      "positive": "Противостояние западным государствам и институтам",</a:t>
            </a:r>
          </a:p>
          <a:p xmlns:a="http://schemas.openxmlformats.org/drawingml/2006/main">
            <a:r>
              <a:t>      "negative": "Сотрудничество и политическое сближение с западными государствами",</a:t>
            </a:r>
          </a:p>
          <a:p xmlns:a="http://schemas.openxmlformats.org/drawingml/2006/main">
            <a:r>
              <a:t>      "loading": -0.8362588662262469,</a:t>
            </a:r>
          </a:p>
          <a:p xmlns:a="http://schemas.openxmlformats.org/drawingml/2006/main">
            <a:r>
              <a:t>      "high_factor_property": "Сотрудничество и политическое сближение с западными государствами",</a:t>
            </a:r>
          </a:p>
          <a:p xmlns:a="http://schemas.openxmlformats.org/drawingml/2006/main">
            <a:r>
              <a:t>      "low_factor_property": "Противостояние западным государствам и институтам"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"mobilization-rhetoric",</a:t>
            </a:r>
          </a:p>
          <a:p xmlns:a="http://schemas.openxmlformats.org/drawingml/2006/main">
            <a:r>
              <a:t>      "name": "Мобилизационный призыв — обсуждение и убеждение",</a:t>
            </a:r>
          </a:p>
          <a:p xmlns:a="http://schemas.openxmlformats.org/drawingml/2006/main">
            <a:r>
              <a:t>      "positive": "Призывы к единению, дисциплине и чрезвычайной мобилизации",</a:t>
            </a:r>
          </a:p>
          <a:p xmlns:a="http://schemas.openxmlformats.org/drawingml/2006/main">
            <a:r>
              <a:t>      "negative": "Призывы к открытому обсуждению, сомнению и убеждению",</a:t>
            </a:r>
          </a:p>
          <a:p xmlns:a="http://schemas.openxmlformats.org/drawingml/2006/main">
            <a:r>
              <a:t>      "loading": -0.7669009558107756,</a:t>
            </a:r>
          </a:p>
          <a:p xmlns:a="http://schemas.openxmlformats.org/drawingml/2006/main">
            <a:r>
              <a:t>      "high_factor_property": "Призывы к открытому обсуждению, сомнению и убеждению",</a:t>
            </a:r>
          </a:p>
          <a:p xmlns:a="http://schemas.openxmlformats.org/drawingml/2006/main">
            <a:r>
              <a:t>      "low_factor_property": "Призывы к единению, дисциплине и чрезвычайной мобилизации"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"security-sovereignty",</a:t>
            </a:r>
          </a:p>
          <a:p xmlns:a="http://schemas.openxmlformats.org/drawingml/2006/main">
            <a:r>
              <a:t>      "name": "Суверенная самостоятельность — международная интеграция",</a:t>
            </a:r>
          </a:p>
          <a:p xmlns:a="http://schemas.openxmlformats.org/drawingml/2006/main">
            <a:r>
              <a:t>      "positive": "Суверенная самостоятельность и защита от внешнего влияния",</a:t>
            </a:r>
          </a:p>
          <a:p xmlns:a="http://schemas.openxmlformats.org/drawingml/2006/main">
            <a:r>
              <a:t>      "negative": "Международная интеграция и взаимозависимость",</a:t>
            </a:r>
          </a:p>
          <a:p xmlns:a="http://schemas.openxmlformats.org/drawingml/2006/main">
            <a:r>
              <a:t>      "loading": -0.7044141296240565,</a:t>
            </a:r>
          </a:p>
          <a:p xmlns:a="http://schemas.openxmlformats.org/drawingml/2006/main">
            <a:r>
              <a:t>      "high_factor_property": "Международная интеграция и взаимозависимость",</a:t>
            </a:r>
          </a:p>
          <a:p xmlns:a="http://schemas.openxmlformats.org/drawingml/2006/main">
            <a:r>
              <a:t>      "low_factor_property": "Суверенная самостоятельность и защита от внешнего влияния"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"national-patriotism",</a:t>
            </a:r>
          </a:p>
          <a:p xmlns:a="http://schemas.openxmlformats.org/drawingml/2006/main">
            <a:r>
              <a:t>      "name": "Национальная общность — универсальные права",</a:t>
            </a:r>
          </a:p>
          <a:p xmlns:a="http://schemas.openxmlformats.org/drawingml/2006/main">
            <a:r>
              <a:t>      "positive": "Особые интересы национальной общности и защита культурной идентичности",</a:t>
            </a:r>
          </a:p>
          <a:p xmlns:a="http://schemas.openxmlformats.org/drawingml/2006/main">
            <a:r>
              <a:t>      "negative": "Универсальные права и равное отношение независимо от национальной принадлежности",</a:t>
            </a:r>
          </a:p>
          <a:p xmlns:a="http://schemas.openxmlformats.org/drawingml/2006/main">
            <a:r>
              <a:t>      "loading": -0.7022286064344992,</a:t>
            </a:r>
          </a:p>
          <a:p xmlns:a="http://schemas.openxmlformats.org/drawingml/2006/main">
            <a:r>
              <a:t>      "high_factor_property": "Универсальные права и равное отношение независимо от национальной принадлежности",</a:t>
            </a:r>
          </a:p>
          <a:p xmlns:a="http://schemas.openxmlformats.org/drawingml/2006/main">
            <a:r>
              <a:t>      "low_factor_property": "Особые интересы национальной общности и защита культурной идентичности"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"rhetorical-simplicity",</a:t>
            </a:r>
          </a:p>
          <a:p xmlns:a="http://schemas.openxmlformats.org/drawingml/2006/main">
            <a:r>
              <a:t>      "name": "Лозунговая простота — развёрнутая аргументация",</a:t>
            </a:r>
          </a:p>
          <a:p xmlns:a="http://schemas.openxmlformats.org/drawingml/2006/main">
            <a:r>
              <a:t>      "positive": "Краткие лозунги и обещания простых быстрых решений",</a:t>
            </a:r>
          </a:p>
          <a:p xmlns:a="http://schemas.openxmlformats.org/drawingml/2006/main">
            <a:r>
              <a:t>      "negative": "Развёрнутое объяснение механизмов, ограничений и альтернатив",</a:t>
            </a:r>
          </a:p>
          <a:p xmlns:a="http://schemas.openxmlformats.org/drawingml/2006/main">
            <a:r>
              <a:t>      "loading": -0.5314039606233625,</a:t>
            </a:r>
          </a:p>
          <a:p xmlns:a="http://schemas.openxmlformats.org/drawingml/2006/main">
            <a:r>
              <a:t>      "high_factor_property": "Развёрнутое объяснение механизмов, ограничений и альтернатив",</a:t>
            </a:r>
          </a:p>
          <a:p xmlns:a="http://schemas.openxmlformats.org/drawingml/2006/main">
            <a:r>
              <a:t>      "low_factor_property": "Краткие лозунги и обещания простых быстрых решений"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"federal-loyalty",</a:t>
            </a:r>
          </a:p>
          <a:p xmlns:a="http://schemas.openxmlformats.org/drawingml/2006/main">
            <a:r>
              <a:t>      "name": "Централизация — децентрализация",</a:t>
            </a:r>
          </a:p>
          <a:p xmlns:a="http://schemas.openxmlformats.org/drawingml/2006/main">
            <a:r>
              <a:t>      "positive": "Единая вертикаль и концентрация полномочий в центре",</a:t>
            </a:r>
          </a:p>
          <a:p xmlns:a="http://schemas.openxmlformats.org/drawingml/2006/main">
            <a:r>
              <a:t>      "negative": "Региональная и муниципальная автономия, распределение полномочий",</a:t>
            </a:r>
          </a:p>
          <a:p xmlns:a="http://schemas.openxmlformats.org/drawingml/2006/main">
            <a:r>
              <a:t>      "loading": -0.5064500075990696,</a:t>
            </a:r>
          </a:p>
          <a:p xmlns:a="http://schemas.openxmlformats.org/drawingml/2006/main">
            <a:r>
              <a:t>      "high_factor_property": "Региональная и муниципальная автономия, распределение полномочий",</a:t>
            </a:r>
          </a:p>
          <a:p xmlns:a="http://schemas.openxmlformats.org/drawingml/2006/main">
            <a:r>
              <a:t>      "low_factor_property": "Единая вертикаль и концентрация полномочий в центре"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"party-leadership",</a:t>
            </a:r>
          </a:p>
          <a:p xmlns:a="http://schemas.openxmlformats.org/drawingml/2006/main">
            <a:r>
              <a:t>      "name": "Партийная организация — независимая инициатива",</a:t>
            </a:r>
          </a:p>
          <a:p xmlns:a="http://schemas.openxmlformats.org/drawingml/2006/main">
            <a:r>
              <a:t>      "positive": "Партия как основной инструмент политического действия",</a:t>
            </a:r>
          </a:p>
          <a:p xmlns:a="http://schemas.openxmlformats.org/drawingml/2006/main">
            <a:r>
              <a:t>      "negative": "Независимые от партий гражданские и персональные инициативы",</a:t>
            </a:r>
          </a:p>
          <a:p xmlns:a="http://schemas.openxmlformats.org/drawingml/2006/main">
            <a:r>
              <a:t>      "loading": -0.40720684702113763,</a:t>
            </a:r>
          </a:p>
          <a:p xmlns:a="http://schemas.openxmlformats.org/drawingml/2006/main">
            <a:r>
              <a:t>      "high_factor_property": "Независимые от партий гражданские и персональные инициативы",</a:t>
            </a:r>
          </a:p>
          <a:p xmlns:a="http://schemas.openxmlformats.org/drawingml/2006/main">
            <a:r>
              <a:t>      "low_factor_property": "Партия как основной инструмент политического действия"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"strong_loading_threshold": 0.35,</a:t>
            </a:r>
          </a:p>
          <a:p xmlns:a="http://schemas.openxmlformats.org/drawingml/2006/main">
            <a:r>
              <a:t>  "variance_share": 0.27081301011618447,</a:t>
            </a:r>
          </a:p>
          <a:p xmlns:a="http://schemas.openxmlformats.org/drawingml/2006/main">
            <a:r>
              <a:t>  "interpretation": "Первая ось сохраняет главное противопоставление q=2. Высокая координата связана с преобладанием призывов к прекращению военных действий (+0,860), критики федерального курса (+0,602) и электорального мандата (+0,519). Низкая связана с противостоянием Западу (−0,836), мобилизационной риторикой (−0,767), суверенной самостоятельностью (−0,704) и защитой интересов национальной общности (−0,702). Это сочетание оценённых публичных акцентов. Часть связи критики курса с электоральной и управленческой стратегией теперь описывает отдельный F3.",</a:t>
            </a:r>
          </a:p>
          <a:p xmlns:a="http://schemas.openxmlformats.org/drawingml/2006/main">
            <a:r>
              <a:t>  "numeric_label": "Публичные призывы прекратить военные действия и перейти к миру ↔ Противостояние западным государствам и институтам"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"F2",</a:t>
            </a:r>
          </a:p>
          <a:p xmlns:a="http://schemas.openxmlformats.org/drawingml/2006/main">
            <a:r>
              <a:t>  "name": "Институциональная и партийная стратегия ↔ Конфронтация и персонализация",</a:t>
            </a:r>
          </a:p>
          <a:p xmlns:a="http://schemas.openxmlformats.org/drawingml/2006/main">
            <a:r>
              <a:t>  "label": "Институциональная и партийная стратегия ↔ Конфронтация и персонализация",</a:t>
            </a:r>
          </a:p>
          <a:p xmlns:a="http://schemas.openxmlformats.org/drawingml/2006/main">
            <a:r>
              <a:t>  "positive_traits":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"parliamentary-institutional",</a:t>
            </a:r>
          </a:p>
          <a:p xmlns:a="http://schemas.openxmlformats.org/drawingml/2006/main">
            <a:r>
              <a:t>      "name": "Институциональная работа — протестное действие",</a:t>
            </a:r>
          </a:p>
          <a:p xmlns:a="http://schemas.openxmlformats.org/drawingml/2006/main">
            <a:r>
              <a:t>      "positive": "Изменения через действующие правовые и парламентские процедуры",</a:t>
            </a:r>
          </a:p>
          <a:p xmlns:a="http://schemas.openxmlformats.org/drawingml/2006/main">
            <a:r>
              <a:t>      "negative": "Изменения через внеинституциональное протестное давление",</a:t>
            </a:r>
          </a:p>
          <a:p xmlns:a="http://schemas.openxmlformats.org/drawingml/2006/main">
            <a:r>
              <a:t>      "loading": 0.8665767605791219,</a:t>
            </a:r>
          </a:p>
          <a:p xmlns:a="http://schemas.openxmlformats.org/drawingml/2006/main">
            <a:r>
              <a:t>      "high_factor_property": "Изменения через действующие правовые и парламентские процедуры",</a:t>
            </a:r>
          </a:p>
          <a:p xmlns:a="http://schemas.openxmlformats.org/drawingml/2006/main">
            <a:r>
              <a:t>      "low_factor_property": "Изменения через внеинституциональное протестное давление"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"party-leadership",</a:t>
            </a:r>
          </a:p>
          <a:p xmlns:a="http://schemas.openxmlformats.org/drawingml/2006/main">
            <a:r>
              <a:t>      "name": "Партийная организация — независимая инициатива",</a:t>
            </a:r>
          </a:p>
          <a:p xmlns:a="http://schemas.openxmlformats.org/drawingml/2006/main">
            <a:r>
              <a:t>      "positive": "Партия как основной инструмент политического действия",</a:t>
            </a:r>
          </a:p>
          <a:p xmlns:a="http://schemas.openxmlformats.org/drawingml/2006/main">
            <a:r>
              <a:t>      "negative": "Независимые от партий гражданские и персональные инициативы",</a:t>
            </a:r>
          </a:p>
          <a:p xmlns:a="http://schemas.openxmlformats.org/drawingml/2006/main">
            <a:r>
              <a:t>      "loading": 0.659762218003124,</a:t>
            </a:r>
          </a:p>
          <a:p xmlns:a="http://schemas.openxmlformats.org/drawingml/2006/main">
            <a:r>
              <a:t>      "high_factor_property": "Партия как основной инструмент политического действия",</a:t>
            </a:r>
          </a:p>
          <a:p xmlns:a="http://schemas.openxmlformats.org/drawingml/2006/main">
            <a:r>
              <a:t>      "low_factor_property": "Независимые от партий гражданские и персональные инициативы"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"negative_traits":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"conflictuality",</a:t>
            </a:r>
          </a:p>
          <a:p xmlns:a="http://schemas.openxmlformats.org/drawingml/2006/main">
            <a:r>
              <a:t>      "name": "Конфронтация — компромисс",</a:t>
            </a:r>
          </a:p>
          <a:p xmlns:a="http://schemas.openxmlformats.org/drawingml/2006/main">
            <a:r>
              <a:t>      "positive": "Конфронтационная полемика и жёсткое противопоставление оппонентам",</a:t>
            </a:r>
          </a:p>
          <a:p xmlns:a="http://schemas.openxmlformats.org/drawingml/2006/main">
            <a:r>
              <a:t>      "negative": "Компромиссная и согласительная риторика",</a:t>
            </a:r>
          </a:p>
          <a:p xmlns:a="http://schemas.openxmlformats.org/drawingml/2006/main">
            <a:r>
              <a:t>      "loading": -0.7472758156272313,</a:t>
            </a:r>
          </a:p>
          <a:p xmlns:a="http://schemas.openxmlformats.org/drawingml/2006/main">
            <a:r>
              <a:t>      "high_factor_property": "Компромиссная и согласительная риторика",</a:t>
            </a:r>
          </a:p>
          <a:p xmlns:a="http://schemas.openxmlformats.org/drawingml/2006/main">
            <a:r>
              <a:t>      "low_factor_property": "Конфронтационная полемика и жёсткое противопоставление оппонентам"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"media-personalization",</a:t>
            </a:r>
          </a:p>
          <a:p xmlns:a="http://schemas.openxmlformats.org/drawingml/2006/main">
            <a:r>
              <a:t>      "name": "Персональный бренд — коллективный институт",</a:t>
            </a:r>
          </a:p>
          <a:p xmlns:a="http://schemas.openxmlformats.org/drawingml/2006/main">
            <a:r>
              <a:t>      "positive": "Личный бренд и обращение от собственного имени",</a:t>
            </a:r>
          </a:p>
          <a:p xmlns:a="http://schemas.openxmlformats.org/drawingml/2006/main">
            <a:r>
              <a:t>      "negative": "Коллективное представительство и институциональное авторство",</a:t>
            </a:r>
          </a:p>
          <a:p xmlns:a="http://schemas.openxmlformats.org/drawingml/2006/main">
            <a:r>
              <a:t>      "loading": -0.6621865757314537,</a:t>
            </a:r>
          </a:p>
          <a:p xmlns:a="http://schemas.openxmlformats.org/drawingml/2006/main">
            <a:r>
              <a:t>      "high_factor_property": "Коллективное представительство и институциональное авторство",</a:t>
            </a:r>
          </a:p>
          <a:p xmlns:a="http://schemas.openxmlformats.org/drawingml/2006/main">
            <a:r>
              <a:t>      "low_factor_property": "Личный бренд и обращение от собственного имени"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"oppositionality",</a:t>
            </a:r>
          </a:p>
          <a:p xmlns:a="http://schemas.openxmlformats.org/drawingml/2006/main">
            <a:r>
              <a:t>      "name": "Критика действующей власти — поддержка её курса",</a:t>
            </a:r>
          </a:p>
          <a:p xmlns:a="http://schemas.openxmlformats.org/drawingml/2006/main">
            <a:r>
              <a:t>      "positive": "Публичная критика действующей федеральной власти",</a:t>
            </a:r>
          </a:p>
          <a:p xmlns:a="http://schemas.openxmlformats.org/drawingml/2006/main">
            <a:r>
              <a:t>      "negative": "Публичная поддержка курса действующей федеральной власти",</a:t>
            </a:r>
          </a:p>
          <a:p xmlns:a="http://schemas.openxmlformats.org/drawingml/2006/main">
            <a:r>
              <a:t>      "loading": -0.5161450408427007,</a:t>
            </a:r>
          </a:p>
          <a:p xmlns:a="http://schemas.openxmlformats.org/drawingml/2006/main">
            <a:r>
              <a:t>      "high_factor_property": "Публичная поддержка курса действующей федеральной власти",</a:t>
            </a:r>
          </a:p>
          <a:p xmlns:a="http://schemas.openxmlformats.org/drawingml/2006/main">
            <a:r>
              <a:t>      "low_factor_property": "Публичная критика действующей федеральной власти"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"international-activity",</a:t>
            </a:r>
          </a:p>
          <a:p xmlns:a="http://schemas.openxmlformats.org/drawingml/2006/main">
            <a:r>
              <a:t>      "name": "Внешняя повестка — внутренняя повестка",</a:t>
            </a:r>
          </a:p>
          <a:p xmlns:a="http://schemas.openxmlformats.org/drawingml/2006/main">
            <a:r>
              <a:t>      "positive": "Приоритет международной и внешнеполитической повестки",</a:t>
            </a:r>
          </a:p>
          <a:p xmlns:a="http://schemas.openxmlformats.org/drawingml/2006/main">
            <a:r>
              <a:t>      "negative": "Приоритет внутренних общественных и хозяйственных задач",</a:t>
            </a:r>
          </a:p>
          <a:p xmlns:a="http://schemas.openxmlformats.org/drawingml/2006/main">
            <a:r>
              <a:t>      "loading": -0.39780656989406576,</a:t>
            </a:r>
          </a:p>
          <a:p xmlns:a="http://schemas.openxmlformats.org/drawingml/2006/main">
            <a:r>
              <a:t>      "high_factor_property": "Приоритет внутренних общественных и хозяйственных задач",</a:t>
            </a:r>
          </a:p>
          <a:p xmlns:a="http://schemas.openxmlformats.org/drawingml/2006/main">
            <a:r>
              <a:t>      "low_factor_property": "Приоритет международной и внешнеполитической повестки"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"mobilization-rhetoric",</a:t>
            </a:r>
          </a:p>
          <a:p xmlns:a="http://schemas.openxmlformats.org/drawingml/2006/main">
            <a:r>
              <a:t>      "name": "Мобилизационный призыв — обсуждение и убеждение",</a:t>
            </a:r>
          </a:p>
          <a:p xmlns:a="http://schemas.openxmlformats.org/drawingml/2006/main">
            <a:r>
              <a:t>      "positive": "Призывы к единению, дисциплине и чрезвычайной мобилизации",</a:t>
            </a:r>
          </a:p>
          <a:p xmlns:a="http://schemas.openxmlformats.org/drawingml/2006/main">
            <a:r>
              <a:t>      "negative": "Призывы к открытому обсуждению, сомнению и убеждению",</a:t>
            </a:r>
          </a:p>
          <a:p xmlns:a="http://schemas.openxmlformats.org/drawingml/2006/main">
            <a:r>
              <a:t>      "loading": -0.3769547238130465,</a:t>
            </a:r>
          </a:p>
          <a:p xmlns:a="http://schemas.openxmlformats.org/drawingml/2006/main">
            <a:r>
              <a:t>      "high_factor_property": "Призывы к открытому обсуждению, сомнению и убеждению",</a:t>
            </a:r>
          </a:p>
          <a:p xmlns:a="http://schemas.openxmlformats.org/drawingml/2006/main">
            <a:r>
              <a:t>      "low_factor_property": "Призывы к единению, дисциплине и чрезвычайной мобилизации"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"strong_loading_threshold": 0.35,</a:t>
            </a:r>
          </a:p>
          <a:p xmlns:a="http://schemas.openxmlformats.org/drawingml/2006/main">
            <a:r>
              <a:t>  "variance_share": 0.17814606012931034,</a:t>
            </a:r>
          </a:p>
          <a:p xmlns:a="http://schemas.openxmlformats.org/drawingml/2006/main">
            <a:r>
              <a:t>  "interpretation": "Вторая ось сохраняет содержание q=2: высокий полюс объединяет действующие правовые и парламентские процедуры (+0,867) и партию как инструмент действия (+0,660), низкий — конфронтационную полемику (−0,747), персональный бренд (−0,662) и внеинституциональное протестное давление, противоположное первому свойству шкалы институциональной работы. Критика курса дополнительно связана с низкой координатой (−0,516). Ось описывает публичную стратегию и организационную форму действия; наличие должности или партийного билета само по себе не определяет её значение.",</a:t>
            </a:r>
          </a:p>
          <a:p xmlns:a="http://schemas.openxmlformats.org/drawingml/2006/main">
            <a:r>
              <a:t>  "numeric_label": "Изменения через действующие правовые и парламентские процедуры ↔ Конфронтационная полемика и жёсткое противопоставление оппонентам"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"F3",</a:t>
            </a:r>
          </a:p>
          <a:p xmlns:a="http://schemas.openxmlformats.org/drawingml/2006/main">
            <a:r>
              <a:t>  "name": "Идеологическая критика и выборы ↔ Результативное управление и централизация",</a:t>
            </a:r>
          </a:p>
          <a:p xmlns:a="http://schemas.openxmlformats.org/drawingml/2006/main">
            <a:r>
              <a:t>  "label": "Идеологическая критика и выборы ↔ Результативное управление и централизация",</a:t>
            </a:r>
          </a:p>
          <a:p xmlns:a="http://schemas.openxmlformats.org/drawingml/2006/main">
            <a:r>
              <a:t>  "positive_traits":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"oppositionality",</a:t>
            </a:r>
          </a:p>
          <a:p xmlns:a="http://schemas.openxmlformats.org/drawingml/2006/main">
            <a:r>
              <a:t>      "name": "Критика действующей власти — поддержка её курса",</a:t>
            </a:r>
          </a:p>
          <a:p xmlns:a="http://schemas.openxmlformats.org/drawingml/2006/main">
            <a:r>
              <a:t>      "positive": "Публичная критика действующей федеральной власти",</a:t>
            </a:r>
          </a:p>
          <a:p xmlns:a="http://schemas.openxmlformats.org/drawingml/2006/main">
            <a:r>
              <a:t>      "negative": "Публичная поддержка курса действующей федеральной власти",</a:t>
            </a:r>
          </a:p>
          <a:p xmlns:a="http://schemas.openxmlformats.org/drawingml/2006/main">
            <a:r>
              <a:t>      "loading": 0.5538451137663819,</a:t>
            </a:r>
          </a:p>
          <a:p xmlns:a="http://schemas.openxmlformats.org/drawingml/2006/main">
            <a:r>
              <a:t>      "high_factor_property": "Публичная критика действующей федеральной власти",</a:t>
            </a:r>
          </a:p>
          <a:p xmlns:a="http://schemas.openxmlformats.org/drawingml/2006/main">
            <a:r>
              <a:t>      "low_factor_property": "Публичная поддержка курса действующей федеральной власти"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"electoral-legitimacy",</a:t>
            </a:r>
          </a:p>
          <a:p xmlns:a="http://schemas.openxmlformats.org/drawingml/2006/main">
            <a:r>
              <a:t>      "name": "Электоральный мандат — административный мандат",</a:t>
            </a:r>
          </a:p>
          <a:p xmlns:a="http://schemas.openxmlformats.org/drawingml/2006/main">
            <a:r>
              <a:t>      "positive": "Конкурентные выборы и воля избирателей как источник полномочий",</a:t>
            </a:r>
          </a:p>
          <a:p xmlns:a="http://schemas.openxmlformats.org/drawingml/2006/main">
            <a:r>
              <a:t>      "negative": "Назначение, государственная иерархия и управленческая преемственность как источник полномочий",</a:t>
            </a:r>
          </a:p>
          <a:p xmlns:a="http://schemas.openxmlformats.org/drawingml/2006/main">
            <a:r>
              <a:t>      "loading": 0.4888594426820218,</a:t>
            </a:r>
          </a:p>
          <a:p xmlns:a="http://schemas.openxmlformats.org/drawingml/2006/main">
            <a:r>
              <a:t>      "high_factor_property": "Конкурентные выборы и воля избирателей как источник полномочий",</a:t>
            </a:r>
          </a:p>
          <a:p xmlns:a="http://schemas.openxmlformats.org/drawingml/2006/main">
            <a:r>
              <a:t>      "low_factor_property": "Назначение, государственная иерархия и управленческая преемственность как источник полномочий"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"negative_traits":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"technocratic-management",</a:t>
            </a:r>
          </a:p>
          <a:p xmlns:a="http://schemas.openxmlformats.org/drawingml/2006/main">
            <a:r>
              <a:t>      "name": "Практические результаты — идеологические принципы",</a:t>
            </a:r>
          </a:p>
          <a:p xmlns:a="http://schemas.openxmlformats.org/drawingml/2006/main">
            <a:r>
              <a:t>      "positive": "Измеримые результаты и управленческая эффективность",</a:t>
            </a:r>
          </a:p>
          <a:p xmlns:a="http://schemas.openxmlformats.org/drawingml/2006/main">
            <a:r>
              <a:t>      "negative": "Идеологические принципы и символические цели",</a:t>
            </a:r>
          </a:p>
          <a:p xmlns:a="http://schemas.openxmlformats.org/drawingml/2006/main">
            <a:r>
              <a:t>      "loading": -0.6269178907669858,</a:t>
            </a:r>
          </a:p>
          <a:p xmlns:a="http://schemas.openxmlformats.org/drawingml/2006/main">
            <a:r>
              <a:t>      "high_factor_property": "Идеологические принципы и символические цели",</a:t>
            </a:r>
          </a:p>
          <a:p xmlns:a="http://schemas.openxmlformats.org/drawingml/2006/main">
            <a:r>
              <a:t>      "low_factor_property": "Измеримые результаты и управленческая эффективность"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"federal-loyalty",</a:t>
            </a:r>
          </a:p>
          <a:p xmlns:a="http://schemas.openxmlformats.org/drawingml/2006/main">
            <a:r>
              <a:t>      "name": "Централизация — децентрализация",</a:t>
            </a:r>
          </a:p>
          <a:p xmlns:a="http://schemas.openxmlformats.org/drawingml/2006/main">
            <a:r>
              <a:t>      "positive": "Единая вертикаль и концентрация полномочий в центре",</a:t>
            </a:r>
          </a:p>
          <a:p xmlns:a="http://schemas.openxmlformats.org/drawingml/2006/main">
            <a:r>
              <a:t>      "negative": "Региональная и муниципальная автономия, распределение полномочий",</a:t>
            </a:r>
          </a:p>
          <a:p xmlns:a="http://schemas.openxmlformats.org/drawingml/2006/main">
            <a:r>
              <a:t>      "loading": -0.471626351171847,</a:t>
            </a:r>
          </a:p>
          <a:p xmlns:a="http://schemas.openxmlformats.org/drawingml/2006/main">
            <a:r>
              <a:t>      "high_factor_property": "Региональная и муниципальная автономия, распределение полномочий",</a:t>
            </a:r>
          </a:p>
          <a:p xmlns:a="http://schemas.openxmlformats.org/drawingml/2006/main">
            <a:r>
              <a:t>      "low_factor_property": "Единая вертикаль и концентрация полномочий в центре"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"strong_loading_threshold": 0.35,</a:t>
            </a:r>
          </a:p>
          <a:p xmlns:a="http://schemas.openxmlformats.org/drawingml/2006/main">
            <a:r>
              <a:t>  "variance_share": 0.08704838611019304,</a:t>
            </a:r>
          </a:p>
          <a:p xmlns:a="http://schemas.openxmlformats.org/drawingml/2006/main">
            <a:r>
              <a:t>  "interpretation": "Третья ось отделяет сочетание свойств, ранее распределённое между двумя широкими осями. Высокий полюс объединяет идеологическое обоснование и символические цели, противоположные практической результативности (нагрузка шкалы результативности −0,627), критику курса (+0,554), электоральный мандат (+0,489) и децентрализацию (нагрузка централизации −0,472). На низком полюсе — обратное сочетание с управленческой результативностью и централизацией. Это публичное обоснование программы, а не реальная компетентность управленца.\n\nНовая ось позволяет различать институциональную форму действия и способ её обоснования: парламентская стратегия не обязательно технократична, а идеологическая и электоральная риторика не обязательно означает протест вне институтов. Фактор поддерживают четыре нагрузки с модулем не ниже 0,35; более слабые связи социальной политики и персонализации не должны определять его название. Похожие координаты могут сочетаться с противоположными значениями F1, поэтому общность по F3 не означает единого лагеря или союза.",</a:t>
            </a:r>
          </a:p>
          <a:p xmlns:a="http://schemas.openxmlformats.org/drawingml/2006/main">
            <a:r>
              <a:t>  "numeric_label": "Публичная критика действующей федеральной власти ↔ Измеримые результаты и управленческая эффективность"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q=4 показывает различимость централизации и технократической результативности. Это уточняет, почему некоторые партийные и электоральные образы могут быть близки к антивоенной группе по одним координатам, сохраняя отличие по войне и внешней интеграции. Интерпретация F1 должна учитывать доминирование шкалы централизации, F4 — наличие только двух сильных индикаторов.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"F1",</a:t>
            </a:r>
          </a:p>
          <a:p xmlns:a="http://schemas.openxmlformats.org/drawingml/2006/main">
            <a:r>
              <a:t>  "name": "Децентрализация и персональная инициатива ↔ Централизация",</a:t>
            </a:r>
          </a:p>
          <a:p xmlns:a="http://schemas.openxmlformats.org/drawingml/2006/main">
            <a:r>
              <a:t>  "label": "Децентрализация и персональная инициатива ↔ Централизация",</a:t>
            </a:r>
          </a:p>
          <a:p xmlns:a="http://schemas.openxmlformats.org/drawingml/2006/main">
            <a:r>
              <a:t>  "positive_traits":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"oppositionality",</a:t>
            </a:r>
          </a:p>
          <a:p xmlns:a="http://schemas.openxmlformats.org/drawingml/2006/main">
            <a:r>
              <a:t>      "name": "Критика действующей власти — поддержка её курса",</a:t>
            </a:r>
          </a:p>
          <a:p xmlns:a="http://schemas.openxmlformats.org/drawingml/2006/main">
            <a:r>
              <a:t>      "positive": "Публичная критика действующей федеральной власти",</a:t>
            </a:r>
          </a:p>
          <a:p xmlns:a="http://schemas.openxmlformats.org/drawingml/2006/main">
            <a:r>
              <a:t>      "negative": "Публичная поддержка курса действующей федеральной власти",</a:t>
            </a:r>
          </a:p>
          <a:p xmlns:a="http://schemas.openxmlformats.org/drawingml/2006/main">
            <a:r>
              <a:t>      "loading": 0.49273427395056923,</a:t>
            </a:r>
          </a:p>
          <a:p xmlns:a="http://schemas.openxmlformats.org/drawingml/2006/main">
            <a:r>
              <a:t>      "high_factor_property": "Публичная критика действующей федеральной власти",</a:t>
            </a:r>
          </a:p>
          <a:p xmlns:a="http://schemas.openxmlformats.org/drawingml/2006/main">
            <a:r>
              <a:t>      "low_factor_property": "Публичная поддержка курса действующей федеральной власти"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"media-personalization",</a:t>
            </a:r>
          </a:p>
          <a:p xmlns:a="http://schemas.openxmlformats.org/drawingml/2006/main">
            <a:r>
              <a:t>      "name": "Персональный бренд — коллективный институт",</a:t>
            </a:r>
          </a:p>
          <a:p xmlns:a="http://schemas.openxmlformats.org/drawingml/2006/main">
            <a:r>
              <a:t>      "positive": "Личный бренд и обращение от собственного имени",</a:t>
            </a:r>
          </a:p>
          <a:p xmlns:a="http://schemas.openxmlformats.org/drawingml/2006/main">
            <a:r>
              <a:t>      "negative": "Коллективное представительство и институциональное авторство",</a:t>
            </a:r>
          </a:p>
          <a:p xmlns:a="http://schemas.openxmlformats.org/drawingml/2006/main">
            <a:r>
              <a:t>      "loading": 0.4664304858578018,</a:t>
            </a:r>
          </a:p>
          <a:p xmlns:a="http://schemas.openxmlformats.org/drawingml/2006/main">
            <a:r>
              <a:t>      "high_factor_property": "Личный бренд и обращение от собственного имени",</a:t>
            </a:r>
          </a:p>
          <a:p xmlns:a="http://schemas.openxmlformats.org/drawingml/2006/main">
            <a:r>
              <a:t>      "low_factor_property": "Коллективное представительство и институциональное авторство"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"electoral-legitimacy",</a:t>
            </a:r>
          </a:p>
          <a:p xmlns:a="http://schemas.openxmlformats.org/drawingml/2006/main">
            <a:r>
              <a:t>      "name": "Электоральный мандат — административный мандат",</a:t>
            </a:r>
          </a:p>
          <a:p xmlns:a="http://schemas.openxmlformats.org/drawingml/2006/main">
            <a:r>
              <a:t>      "positive": "Конкурентные выборы и воля избирателей как источник полномочий",</a:t>
            </a:r>
          </a:p>
          <a:p xmlns:a="http://schemas.openxmlformats.org/drawingml/2006/main">
            <a:r>
              <a:t>      "negative": "Назначение, государственная иерархия и управленческая преемственность как источник полномочий",</a:t>
            </a:r>
          </a:p>
          <a:p xmlns:a="http://schemas.openxmlformats.org/drawingml/2006/main">
            <a:r>
              <a:t>      "loading": 0.4316493623331397,</a:t>
            </a:r>
          </a:p>
          <a:p xmlns:a="http://schemas.openxmlformats.org/drawingml/2006/main">
            <a:r>
              <a:t>      "high_factor_property": "Конкурентные выборы и воля избирателей как источник полномочий",</a:t>
            </a:r>
          </a:p>
          <a:p xmlns:a="http://schemas.openxmlformats.org/drawingml/2006/main">
            <a:r>
              <a:t>      "low_factor_property": "Назначение, государственная иерархия и управленческая преемственность как источник полномочий"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"negative_traits":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"federal-loyalty",</a:t>
            </a:r>
          </a:p>
          <a:p xmlns:a="http://schemas.openxmlformats.org/drawingml/2006/main">
            <a:r>
              <a:t>      "name": "Централизация — децентрализация",</a:t>
            </a:r>
          </a:p>
          <a:p xmlns:a="http://schemas.openxmlformats.org/drawingml/2006/main">
            <a:r>
              <a:t>      "positive": "Единая вертикаль и концентрация полномочий в центре",</a:t>
            </a:r>
          </a:p>
          <a:p xmlns:a="http://schemas.openxmlformats.org/drawingml/2006/main">
            <a:r>
              <a:t>      "negative": "Региональная и муниципальная автономия, распределение полномочий",</a:t>
            </a:r>
          </a:p>
          <a:p xmlns:a="http://schemas.openxmlformats.org/drawingml/2006/main">
            <a:r>
              <a:t>      "loading": -0.9254679380262444,</a:t>
            </a:r>
          </a:p>
          <a:p xmlns:a="http://schemas.openxmlformats.org/drawingml/2006/main">
            <a:r>
              <a:t>      "high_factor_property": "Региональная и муниципальная автономия, распределение полномочий",</a:t>
            </a:r>
          </a:p>
          <a:p xmlns:a="http://schemas.openxmlformats.org/drawingml/2006/main">
            <a:r>
              <a:t>      "low_factor_property": "Единая вертикаль и концентрация полномочий в центре"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"strong_loading_threshold": 0.35,</a:t>
            </a:r>
          </a:p>
          <a:p xmlns:a="http://schemas.openxmlformats.org/drawingml/2006/main">
            <a:r>
              <a:t>  "variance_share": 0.10975322248076926,</a:t>
            </a:r>
          </a:p>
          <a:p xmlns:a="http://schemas.openxmlformats.org/drawingml/2006/main">
            <a:r>
              <a:t>  "interpretation": "Первая ось прежде всего выделяет распределение власти: нагрузка шкалы «Централизация — децентрализация» равна −0,925. Высокая координата связана с децентрализацией, критикой курса (+0,493), персональным брендом (+0,466) и электоральным мандатом (+0,432). Низкая — с преобладанием централизации и обратным сочетанием сопутствующих акцентов. Отношение к войне и внешней интеграции преимущественно относится к F2, поэтому F1 нельзя считать общей шкалой оппозиционности.\n\nШкала централизации заметно доминирует над остальными индикаторами. Интерпретацию стоит сохранять узкой: распределение полномочий с сопутствующими публичными стратегиями. В q=4 централизация описывается более отдельно от управленческой результативности и отношения к войне. Для проверки широты и переносимости этого измерения нужны дополнительные независимые индикаторы распределения власти и новая выборка; доминирование одной нагрузки само по себе не делает решение непригодным.",</a:t>
            </a:r>
          </a:p>
          <a:p xmlns:a="http://schemas.openxmlformats.org/drawingml/2006/main">
            <a:r>
              <a:t>  "numeric_label": "Публичная критика действующей федеральной власти ↔ Единая вертикаль и концентрация полномочий в центре"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"F2",</a:t>
            </a:r>
          </a:p>
          <a:p xmlns:a="http://schemas.openxmlformats.org/drawingml/2006/main">
            <a:r>
              <a:t>  "name": "Антивоенная критика и интеграция ↔ Антизападная мобилизация и суверенитет",</a:t>
            </a:r>
          </a:p>
          <a:p xmlns:a="http://schemas.openxmlformats.org/drawingml/2006/main">
            <a:r>
              <a:t>  "label": "Антивоенная критика и интеграция ↔ Антизападная мобилизация и суверенитет",</a:t>
            </a:r>
          </a:p>
          <a:p xmlns:a="http://schemas.openxmlformats.org/drawingml/2006/main">
            <a:r>
              <a:t>  "positive_traits":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"antiwar-rhetoric",</a:t>
            </a:r>
          </a:p>
          <a:p xmlns:a="http://schemas.openxmlformats.org/drawingml/2006/main">
            <a:r>
              <a:t>      "name": "Прекращение военных действий — их продолжение",</a:t>
            </a:r>
          </a:p>
          <a:p xmlns:a="http://schemas.openxmlformats.org/drawingml/2006/main">
            <a:r>
              <a:t>      "positive": "Публичные призывы прекратить военные действия и перейти к миру",</a:t>
            </a:r>
          </a:p>
          <a:p xmlns:a="http://schemas.openxmlformats.org/drawingml/2006/main">
            <a:r>
              <a:t>      "negative": "Публичная поддержка продолжения военных действий ради заявленных целей",</a:t>
            </a:r>
          </a:p>
          <a:p xmlns:a="http://schemas.openxmlformats.org/drawingml/2006/main">
            <a:r>
              <a:t>      "loading": 0.8629849852977746,</a:t>
            </a:r>
          </a:p>
          <a:p xmlns:a="http://schemas.openxmlformats.org/drawingml/2006/main">
            <a:r>
              <a:t>      "high_factor_property": "Публичные призывы прекратить военные действия и перейти к миру",</a:t>
            </a:r>
          </a:p>
          <a:p xmlns:a="http://schemas.openxmlformats.org/drawingml/2006/main">
            <a:r>
              <a:t>      "low_factor_property": "Публичная поддержка продолжения военных действий ради заявленных целей"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"oppositionality",</a:t>
            </a:r>
          </a:p>
          <a:p xmlns:a="http://schemas.openxmlformats.org/drawingml/2006/main">
            <a:r>
              <a:t>      "name": "Критика действующей власти — поддержка её курса",</a:t>
            </a:r>
          </a:p>
          <a:p xmlns:a="http://schemas.openxmlformats.org/drawingml/2006/main">
            <a:r>
              <a:t>      "positive": "Публичная критика действующей федеральной власти",</a:t>
            </a:r>
          </a:p>
          <a:p xmlns:a="http://schemas.openxmlformats.org/drawingml/2006/main">
            <a:r>
              <a:t>      "negative": "Публичная поддержка курса действующей федеральной власти",</a:t>
            </a:r>
          </a:p>
          <a:p xmlns:a="http://schemas.openxmlformats.org/drawingml/2006/main">
            <a:r>
              <a:t>      "loading": 0.5775154739480903,</a:t>
            </a:r>
          </a:p>
          <a:p xmlns:a="http://schemas.openxmlformats.org/drawingml/2006/main">
            <a:r>
              <a:t>      "high_factor_property": "Публичная критика действующей федеральной власти",</a:t>
            </a:r>
          </a:p>
          <a:p xmlns:a="http://schemas.openxmlformats.org/drawingml/2006/main">
            <a:r>
              <a:t>      "low_factor_property": "Публичная поддержка курса действующей федеральной власти"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"electoral-legitimacy",</a:t>
            </a:r>
          </a:p>
          <a:p xmlns:a="http://schemas.openxmlformats.org/drawingml/2006/main">
            <a:r>
              <a:t>      "name": "Электоральный мандат — административный мандат",</a:t>
            </a:r>
          </a:p>
          <a:p xmlns:a="http://schemas.openxmlformats.org/drawingml/2006/main">
            <a:r>
              <a:t>      "positive": "Конкурентные выборы и воля избирателей как источник полномочий",</a:t>
            </a:r>
          </a:p>
          <a:p xmlns:a="http://schemas.openxmlformats.org/drawingml/2006/main">
            <a:r>
              <a:t>      "negative": "Назначение, государственная иерархия и управленческая преемственность как источник полномочий",</a:t>
            </a:r>
          </a:p>
          <a:p xmlns:a="http://schemas.openxmlformats.org/drawingml/2006/main">
            <a:r>
              <a:t>      "loading": 0.4694797052544428,</a:t>
            </a:r>
          </a:p>
          <a:p xmlns:a="http://schemas.openxmlformats.org/drawingml/2006/main">
            <a:r>
              <a:t>      "high_factor_property": "Конкурентные выборы и воля избирателей как источник полномочий",</a:t>
            </a:r>
          </a:p>
          <a:p xmlns:a="http://schemas.openxmlformats.org/drawingml/2006/main">
            <a:r>
              <a:t>      "low_factor_property": "Назначение, государственная иерархия и управленческая преемственность как источник полномочий"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"negative_traits":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"antiwesternism",</a:t>
            </a:r>
          </a:p>
          <a:p xmlns:a="http://schemas.openxmlformats.org/drawingml/2006/main">
            <a:r>
              <a:t>      "name": "Противостояние Западу — сближение с Западом",</a:t>
            </a:r>
          </a:p>
          <a:p xmlns:a="http://schemas.openxmlformats.org/drawingml/2006/main">
            <a:r>
              <a:t>      "positive": "Противостояние западным государствам и институтам",</a:t>
            </a:r>
          </a:p>
          <a:p xmlns:a="http://schemas.openxmlformats.org/drawingml/2006/main">
            <a:r>
              <a:t>      "negative": "Сотрудничество и политическое сближение с западными государствами",</a:t>
            </a:r>
          </a:p>
          <a:p xmlns:a="http://schemas.openxmlformats.org/drawingml/2006/main">
            <a:r>
              <a:t>      "loading": -0.8340726493393992,</a:t>
            </a:r>
          </a:p>
          <a:p xmlns:a="http://schemas.openxmlformats.org/drawingml/2006/main">
            <a:r>
              <a:t>      "high_factor_property": "Сотрудничество и политическое сближение с западными государствами",</a:t>
            </a:r>
          </a:p>
          <a:p xmlns:a="http://schemas.openxmlformats.org/drawingml/2006/main">
            <a:r>
              <a:t>      "low_factor_property": "Противостояние западным государствам и институтам"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"security-sovereignty",</a:t>
            </a:r>
          </a:p>
          <a:p xmlns:a="http://schemas.openxmlformats.org/drawingml/2006/main">
            <a:r>
              <a:t>      "name": "Суверенная самостоятельность — международная интеграция",</a:t>
            </a:r>
          </a:p>
          <a:p xmlns:a="http://schemas.openxmlformats.org/drawingml/2006/main">
            <a:r>
              <a:t>      "positive": "Суверенная самостоятельность и защита от внешнего влияния",</a:t>
            </a:r>
          </a:p>
          <a:p xmlns:a="http://schemas.openxmlformats.org/drawingml/2006/main">
            <a:r>
              <a:t>      "negative": "Международная интеграция и взаимозависимость",</a:t>
            </a:r>
          </a:p>
          <a:p xmlns:a="http://schemas.openxmlformats.org/drawingml/2006/main">
            <a:r>
              <a:t>      "loading": -0.7216973857711607,</a:t>
            </a:r>
          </a:p>
          <a:p xmlns:a="http://schemas.openxmlformats.org/drawingml/2006/main">
            <a:r>
              <a:t>      "high_factor_property": "Международная интеграция и взаимозависимость",</a:t>
            </a:r>
          </a:p>
          <a:p xmlns:a="http://schemas.openxmlformats.org/drawingml/2006/main">
            <a:r>
              <a:t>      "low_factor_property": "Суверенная самостоятельность и защита от внешнего влияния"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"mobilization-rhetoric",</a:t>
            </a:r>
          </a:p>
          <a:p xmlns:a="http://schemas.openxmlformats.org/drawingml/2006/main">
            <a:r>
              <a:t>      "name": "Мобилизационный призыв — обсуждение и убеждение",</a:t>
            </a:r>
          </a:p>
          <a:p xmlns:a="http://schemas.openxmlformats.org/drawingml/2006/main">
            <a:r>
              <a:t>      "positive": "Призывы к единению, дисциплине и чрезвычайной мобилизации",</a:t>
            </a:r>
          </a:p>
          <a:p xmlns:a="http://schemas.openxmlformats.org/drawingml/2006/main">
            <a:r>
              <a:t>      "negative": "Призывы к открытому обсуждению, сомнению и убеждению",</a:t>
            </a:r>
          </a:p>
          <a:p xmlns:a="http://schemas.openxmlformats.org/drawingml/2006/main">
            <a:r>
              <a:t>      "loading": -0.6858453177427508,</a:t>
            </a:r>
          </a:p>
          <a:p xmlns:a="http://schemas.openxmlformats.org/drawingml/2006/main">
            <a:r>
              <a:t>      "high_factor_property": "Призывы к открытому обсуждению, сомнению и убеждению",</a:t>
            </a:r>
          </a:p>
          <a:p xmlns:a="http://schemas.openxmlformats.org/drawingml/2006/main">
            <a:r>
              <a:t>      "low_factor_property": "Призывы к единению, дисциплине и чрезвычайной мобилизации"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"national-patriotism",</a:t>
            </a:r>
          </a:p>
          <a:p xmlns:a="http://schemas.openxmlformats.org/drawingml/2006/main">
            <a:r>
              <a:t>      "name": "Национальная общность — универсальные права",</a:t>
            </a:r>
          </a:p>
          <a:p xmlns:a="http://schemas.openxmlformats.org/drawingml/2006/main">
            <a:r>
              <a:t>      "positive": "Особые интересы национальной общности и защита культурной идентичности",</a:t>
            </a:r>
          </a:p>
          <a:p xmlns:a="http://schemas.openxmlformats.org/drawingml/2006/main">
            <a:r>
              <a:t>      "negative": "Универсальные права и равное отношение независимо от национальной принадлежности",</a:t>
            </a:r>
          </a:p>
          <a:p xmlns:a="http://schemas.openxmlformats.org/drawingml/2006/main">
            <a:r>
              <a:t>      "loading": -0.6449026547151827,</a:t>
            </a:r>
          </a:p>
          <a:p xmlns:a="http://schemas.openxmlformats.org/drawingml/2006/main">
            <a:r>
              <a:t>      "high_factor_property": "Универсальные права и равное отношение независимо от национальной принадлежности",</a:t>
            </a:r>
          </a:p>
          <a:p xmlns:a="http://schemas.openxmlformats.org/drawingml/2006/main">
            <a:r>
              <a:t>      "low_factor_property": "Особые интересы национальной общности и защита культурной идентичности"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"rhetorical-simplicity",</a:t>
            </a:r>
          </a:p>
          <a:p xmlns:a="http://schemas.openxmlformats.org/drawingml/2006/main">
            <a:r>
              <a:t>      "name": "Лозунговая простота — развёрнутая аргументация",</a:t>
            </a:r>
          </a:p>
          <a:p xmlns:a="http://schemas.openxmlformats.org/drawingml/2006/main">
            <a:r>
              <a:t>      "positive": "Краткие лозунги и обещания простых быстрых решений",</a:t>
            </a:r>
          </a:p>
          <a:p xmlns:a="http://schemas.openxmlformats.org/drawingml/2006/main">
            <a:r>
              <a:t>      "negative": "Развёрнутое объяснение механизмов, ограничений и альтернатив",</a:t>
            </a:r>
          </a:p>
          <a:p xmlns:a="http://schemas.openxmlformats.org/drawingml/2006/main">
            <a:r>
              <a:t>      "loading": -0.5107372058424329,</a:t>
            </a:r>
          </a:p>
          <a:p xmlns:a="http://schemas.openxmlformats.org/drawingml/2006/main">
            <a:r>
              <a:t>      "high_factor_property": "Развёрнутое объяснение механизмов, ограничений и альтернатив",</a:t>
            </a:r>
          </a:p>
          <a:p xmlns:a="http://schemas.openxmlformats.org/drawingml/2006/main">
            <a:r>
              <a:t>      "low_factor_property": "Краткие лозунги и обещания простых быстрых решений"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"party-leadership",</a:t>
            </a:r>
          </a:p>
          <a:p xmlns:a="http://schemas.openxmlformats.org/drawingml/2006/main">
            <a:r>
              <a:t>      "name": "Партийная организация — независимая инициатива",</a:t>
            </a:r>
          </a:p>
          <a:p xmlns:a="http://schemas.openxmlformats.org/drawingml/2006/main">
            <a:r>
              <a:t>      "positive": "Партия как основной инструмент политического действия",</a:t>
            </a:r>
          </a:p>
          <a:p xmlns:a="http://schemas.openxmlformats.org/drawingml/2006/main">
            <a:r>
              <a:t>      "negative": "Независимые от партий гражданские и персональные инициативы",</a:t>
            </a:r>
          </a:p>
          <a:p xmlns:a="http://schemas.openxmlformats.org/drawingml/2006/main">
            <a:r>
              <a:t>      "loading": -0.4213328000614116,</a:t>
            </a:r>
          </a:p>
          <a:p xmlns:a="http://schemas.openxmlformats.org/drawingml/2006/main">
            <a:r>
              <a:t>      "high_factor_property": "Независимые от партий гражданские и персональные инициативы",</a:t>
            </a:r>
          </a:p>
          <a:p xmlns:a="http://schemas.openxmlformats.org/drawingml/2006/main">
            <a:r>
              <a:t>      "low_factor_property": "Партия как основной инструмент политического действия"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"strong_loading_threshold": 0.35,</a:t>
            </a:r>
          </a:p>
          <a:p xmlns:a="http://schemas.openxmlformats.org/drawingml/2006/main">
            <a:r>
              <a:t>  "variance_share": 0.2463978444117229,</a:t>
            </a:r>
          </a:p>
          <a:p xmlns:a="http://schemas.openxmlformats.org/drawingml/2006/main">
            <a:r>
              <a:t>  "interpretation": "Вторая ось продолжает F1 решений q=2 и q=3: изменение номера не означает нового политического противопоставления. Высокая координата связана с призывами прекратить военные действия (+0,863), критикой курса (+0,578) и электоральным мандатом (+0,469). Низкая — с противостоянием Западу (−0,834), суверенной самостоятельностью (−0,722), мобилизацией (−0,686) и защитой интересов национальной общности (−0,645). Сохранение сочетания при изменении q поддерживает его описательную роль в данной матрице; это не оценка распространённости позиций в обществе.",</a:t>
            </a:r>
          </a:p>
          <a:p xmlns:a="http://schemas.openxmlformats.org/drawingml/2006/main">
            <a:r>
              <a:t>  "numeric_label": "Публичные призывы прекратить военные действия и перейти к миру ↔ Противостояние западным государствам и институтам"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"F3",</a:t>
            </a:r>
          </a:p>
          <a:p xmlns:a="http://schemas.openxmlformats.org/drawingml/2006/main">
            <a:r>
              <a:t>  "name": "Конфронтация и персонализация ↔ Институциональная и партийная стратегия",</a:t>
            </a:r>
          </a:p>
          <a:p xmlns:a="http://schemas.openxmlformats.org/drawingml/2006/main">
            <a:r>
              <a:t>  "label": "Конфронтация и персонализация ↔ Институциональная и партийная стратегия",</a:t>
            </a:r>
          </a:p>
          <a:p xmlns:a="http://schemas.openxmlformats.org/drawingml/2006/main">
            <a:r>
              <a:t>  "positive_traits":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"conflictuality",</a:t>
            </a:r>
          </a:p>
          <a:p xmlns:a="http://schemas.openxmlformats.org/drawingml/2006/main">
            <a:r>
              <a:t>      "name": "Конфронтация — компромисс",</a:t>
            </a:r>
          </a:p>
          <a:p xmlns:a="http://schemas.openxmlformats.org/drawingml/2006/main">
            <a:r>
              <a:t>      "positive": "Конфронтационная полемика и жёсткое противопоставление оппонентам",</a:t>
            </a:r>
          </a:p>
          <a:p xmlns:a="http://schemas.openxmlformats.org/drawingml/2006/main">
            <a:r>
              <a:t>      "negative": "Компромиссная и согласительная риторика",</a:t>
            </a:r>
          </a:p>
          <a:p xmlns:a="http://schemas.openxmlformats.org/drawingml/2006/main">
            <a:r>
              <a:t>      "loading": 0.7678465349531136,</a:t>
            </a:r>
          </a:p>
          <a:p xmlns:a="http://schemas.openxmlformats.org/drawingml/2006/main">
            <a:r>
              <a:t>      "high_factor_property": "Конфронтационная полемика и жёсткое противопоставление оппонентам",</a:t>
            </a:r>
          </a:p>
          <a:p xmlns:a="http://schemas.openxmlformats.org/drawingml/2006/main">
            <a:r>
              <a:t>      "low_factor_property": "Компромиссная и согласительная риторика"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"media-personalization",</a:t>
            </a:r>
          </a:p>
          <a:p xmlns:a="http://schemas.openxmlformats.org/drawingml/2006/main">
            <a:r>
              <a:t>      "name": "Персональный бренд — коллективный институт",</a:t>
            </a:r>
          </a:p>
          <a:p xmlns:a="http://schemas.openxmlformats.org/drawingml/2006/main">
            <a:r>
              <a:t>      "positive": "Личный бренд и обращение от собственного имени",</a:t>
            </a:r>
          </a:p>
          <a:p xmlns:a="http://schemas.openxmlformats.org/drawingml/2006/main">
            <a:r>
              <a:t>      "negative": "Коллективное представительство и институциональное авторство",</a:t>
            </a:r>
          </a:p>
          <a:p xmlns:a="http://schemas.openxmlformats.org/drawingml/2006/main">
            <a:r>
              <a:t>      "loading": 0.626423777043571,</a:t>
            </a:r>
          </a:p>
          <a:p xmlns:a="http://schemas.openxmlformats.org/drawingml/2006/main">
            <a:r>
              <a:t>      "high_factor_property": "Личный бренд и обращение от собственного имени",</a:t>
            </a:r>
          </a:p>
          <a:p xmlns:a="http://schemas.openxmlformats.org/drawingml/2006/main">
            <a:r>
              <a:t>      "low_factor_property": "Коллективное представительство и институциональное авторство"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"mobilization-rhetoric",</a:t>
            </a:r>
          </a:p>
          <a:p xmlns:a="http://schemas.openxmlformats.org/drawingml/2006/main">
            <a:r>
              <a:t>      "name": "Мобилизационный призыв — обсуждение и убеждение",</a:t>
            </a:r>
          </a:p>
          <a:p xmlns:a="http://schemas.openxmlformats.org/drawingml/2006/main">
            <a:r>
              <a:t>      "positive": "Призывы к единению, дисциплине и чрезвычайной мобилизации",</a:t>
            </a:r>
          </a:p>
          <a:p xmlns:a="http://schemas.openxmlformats.org/drawingml/2006/main">
            <a:r>
              <a:t>      "negative": "Призывы к открытому обсуждению, сомнению и убеждению",</a:t>
            </a:r>
          </a:p>
          <a:p xmlns:a="http://schemas.openxmlformats.org/drawingml/2006/main">
            <a:r>
              <a:t>      "loading": 0.46038871014427163,</a:t>
            </a:r>
          </a:p>
          <a:p xmlns:a="http://schemas.openxmlformats.org/drawingml/2006/main">
            <a:r>
              <a:t>      "high_factor_property": "Призывы к единению, дисциплине и чрезвычайной мобилизации",</a:t>
            </a:r>
          </a:p>
          <a:p xmlns:a="http://schemas.openxmlformats.org/drawingml/2006/main">
            <a:r>
              <a:t>      "low_factor_property": "Призывы к открытому обсуждению, сомнению и убеждению"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"oppositionality",</a:t>
            </a:r>
          </a:p>
          <a:p xmlns:a="http://schemas.openxmlformats.org/drawingml/2006/main">
            <a:r>
              <a:t>      "name": "Критика действующей власти — поддержка её курса",</a:t>
            </a:r>
          </a:p>
          <a:p xmlns:a="http://schemas.openxmlformats.org/drawingml/2006/main">
            <a:r>
              <a:t>      "positive": "Публичная критика действующей федеральной власти",</a:t>
            </a:r>
          </a:p>
          <a:p xmlns:a="http://schemas.openxmlformats.org/drawingml/2006/main">
            <a:r>
              <a:t>      "negative": "Публичная поддержка курса действующей федеральной власти",</a:t>
            </a:r>
          </a:p>
          <a:p xmlns:a="http://schemas.openxmlformats.org/drawingml/2006/main">
            <a:r>
              <a:t>      "loading": 0.4475954713294351,</a:t>
            </a:r>
          </a:p>
          <a:p xmlns:a="http://schemas.openxmlformats.org/drawingml/2006/main">
            <a:r>
              <a:t>      "high_factor_property": "Публичная критика действующей федеральной власти",</a:t>
            </a:r>
          </a:p>
          <a:p xmlns:a="http://schemas.openxmlformats.org/drawingml/2006/main">
            <a:r>
              <a:t>      "low_factor_property": "Публичная поддержка курса действующей федеральной власти"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"international-activity",</a:t>
            </a:r>
          </a:p>
          <a:p xmlns:a="http://schemas.openxmlformats.org/drawingml/2006/main">
            <a:r>
              <a:t>      "name": "Внешняя повестка — внутренняя повестка",</a:t>
            </a:r>
          </a:p>
          <a:p xmlns:a="http://schemas.openxmlformats.org/drawingml/2006/main">
            <a:r>
              <a:t>      "positive": "Приоритет международной и внешнеполитической повестки",</a:t>
            </a:r>
          </a:p>
          <a:p xmlns:a="http://schemas.openxmlformats.org/drawingml/2006/main">
            <a:r>
              <a:t>      "negative": "Приоритет внутренних общественных и хозяйственных задач",</a:t>
            </a:r>
          </a:p>
          <a:p xmlns:a="http://schemas.openxmlformats.org/drawingml/2006/main">
            <a:r>
              <a:t>      "loading": 0.39426806621233945,</a:t>
            </a:r>
          </a:p>
          <a:p xmlns:a="http://schemas.openxmlformats.org/drawingml/2006/main">
            <a:r>
              <a:t>      "high_factor_property": "Приоритет международной и внешнеполитической повестки",</a:t>
            </a:r>
          </a:p>
          <a:p xmlns:a="http://schemas.openxmlformats.org/drawingml/2006/main">
            <a:r>
              <a:t>      "low_factor_property": "Приоритет внутренних общественных и хозяйственных задач"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"negative_traits":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"parliamentary-institutional",</a:t>
            </a:r>
          </a:p>
          <a:p xmlns:a="http://schemas.openxmlformats.org/drawingml/2006/main">
            <a:r>
              <a:t>      "name": "Институциональная работа — протестное действие",</a:t>
            </a:r>
          </a:p>
          <a:p xmlns:a="http://schemas.openxmlformats.org/drawingml/2006/main">
            <a:r>
              <a:t>      "positive": "Изменения через действующие правовые и парламентские процедуры",</a:t>
            </a:r>
          </a:p>
          <a:p xmlns:a="http://schemas.openxmlformats.org/drawingml/2006/main">
            <a:r>
              <a:t>      "negative": "Изменения через внеинституциональное протестное давление",</a:t>
            </a:r>
          </a:p>
          <a:p xmlns:a="http://schemas.openxmlformats.org/drawingml/2006/main">
            <a:r>
              <a:t>      "loading": -0.8346140574838202,</a:t>
            </a:r>
          </a:p>
          <a:p xmlns:a="http://schemas.openxmlformats.org/drawingml/2006/main">
            <a:r>
              <a:t>      "high_factor_property": "Изменения через внеинституциональное протестное давление",</a:t>
            </a:r>
          </a:p>
          <a:p xmlns:a="http://schemas.openxmlformats.org/drawingml/2006/main">
            <a:r>
              <a:t>      "low_factor_property": "Изменения через действующие правовые и парламентские процедуры"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"party-leadership",</a:t>
            </a:r>
          </a:p>
          <a:p xmlns:a="http://schemas.openxmlformats.org/drawingml/2006/main">
            <a:r>
              <a:t>      "name": "Партийная организация — независимая инициатива",</a:t>
            </a:r>
          </a:p>
          <a:p xmlns:a="http://schemas.openxmlformats.org/drawingml/2006/main">
            <a:r>
              <a:t>      "positive": "Партия как основной инструмент политического действия",</a:t>
            </a:r>
          </a:p>
          <a:p xmlns:a="http://schemas.openxmlformats.org/drawingml/2006/main">
            <a:r>
              <a:t>      "negative": "Независимые от партий гражданские и персональные инициативы",</a:t>
            </a:r>
          </a:p>
          <a:p xmlns:a="http://schemas.openxmlformats.org/drawingml/2006/main">
            <a:r>
              <a:t>      "loading": -0.6111031641597771,</a:t>
            </a:r>
          </a:p>
          <a:p xmlns:a="http://schemas.openxmlformats.org/drawingml/2006/main">
            <a:r>
              <a:t>      "high_factor_property": "Независимые от партий гражданские и персональные инициативы",</a:t>
            </a:r>
          </a:p>
          <a:p xmlns:a="http://schemas.openxmlformats.org/drawingml/2006/main">
            <a:r>
              <a:t>      "low_factor_property": "Партия как основной инструмент политического действия"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"strong_loading_threshold": 0.35,</a:t>
            </a:r>
          </a:p>
          <a:p xmlns:a="http://schemas.openxmlformats.org/drawingml/2006/main">
            <a:r>
              <a:t>  "variance_share": 0.1641592793189825,</a:t>
            </a:r>
          </a:p>
          <a:p xmlns:a="http://schemas.openxmlformats.org/drawingml/2006/main">
            <a:r>
              <a:t>  "interpretation": "Третья ось воспроизводит F2 решений q=2 и q=3 с обратным знаком. Высокая координата соответствует конфронтации (+0,768), персональному бренду (+0,626), мобилизационной риторике (+0,460) и протестному давлению, противоположному парламентским процедурам (нагрузка −0,835). Низкая связана с институциональной работой, партией как инструментом действия (−0,611), компромиссной риторикой и коллективным представительством. Это прежнее различие публичных стратегий, а не новая политическая идеология; знак факторной оси условен.",</a:t>
            </a:r>
          </a:p>
          <a:p xmlns:a="http://schemas.openxmlformats.org/drawingml/2006/main">
            <a:r>
              <a:t>  "numeric_label": "Конфронтационная полемика и жёсткое противопоставление оппонентам ↔ Изменения через действующие правовые и парламентские процедуры"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"F4",</a:t>
            </a:r>
          </a:p>
          <a:p xmlns:a="http://schemas.openxmlformats.org/drawingml/2006/main">
            <a:r>
              <a:t>  "name": "Результативное управление ↔ Идеологическая и социальная программа",</a:t>
            </a:r>
          </a:p>
          <a:p xmlns:a="http://schemas.openxmlformats.org/drawingml/2006/main">
            <a:r>
              <a:t>  "label": "Результативное управление ↔ Идеологическая и социальная программа",</a:t>
            </a:r>
          </a:p>
          <a:p xmlns:a="http://schemas.openxmlformats.org/drawingml/2006/main">
            <a:r>
              <a:t>  "positive_traits":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"technocratic-management",</a:t>
            </a:r>
          </a:p>
          <a:p xmlns:a="http://schemas.openxmlformats.org/drawingml/2006/main">
            <a:r>
              <a:t>      "name": "Практические результаты — идеологические принципы",</a:t>
            </a:r>
          </a:p>
          <a:p xmlns:a="http://schemas.openxmlformats.org/drawingml/2006/main">
            <a:r>
              <a:t>      "positive": "Измеримые результаты и управленческая эффективность",</a:t>
            </a:r>
          </a:p>
          <a:p xmlns:a="http://schemas.openxmlformats.org/drawingml/2006/main">
            <a:r>
              <a:t>      "negative": "Идеологические принципы и символические цели",</a:t>
            </a:r>
          </a:p>
          <a:p xmlns:a="http://schemas.openxmlformats.org/drawingml/2006/main">
            <a:r>
              <a:t>      "loading": 0.7648384177510762,</a:t>
            </a:r>
          </a:p>
          <a:p xmlns:a="http://schemas.openxmlformats.org/drawingml/2006/main">
            <a:r>
              <a:t>      "high_factor_property": "Измеримые результаты и управленческая эффективность",</a:t>
            </a:r>
          </a:p>
          <a:p xmlns:a="http://schemas.openxmlformats.org/drawingml/2006/main">
            <a:r>
              <a:t>      "low_factor_property": "Идеологические принципы и символические цели"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"negative_traits":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"social-policy",</a:t>
            </a:r>
          </a:p>
          <a:p xmlns:a="http://schemas.openxmlformats.org/drawingml/2006/main">
            <a:r>
              <a:t>      "name": "Социальное перераспределение — личная экономическая ответственность",</a:t>
            </a:r>
          </a:p>
          <a:p xmlns:a="http://schemas.openxmlformats.org/drawingml/2006/main">
            <a:r>
              <a:t>      "positive": "Государственные социальные гарантии и перераспределение",</a:t>
            </a:r>
          </a:p>
          <a:p xmlns:a="http://schemas.openxmlformats.org/drawingml/2006/main">
            <a:r>
              <a:t>      "negative": "Личная ответственность и частные механизмы социальной поддержки",</a:t>
            </a:r>
          </a:p>
          <a:p xmlns:a="http://schemas.openxmlformats.org/drawingml/2006/main">
            <a:r>
              <a:t>      "loading": -0.4258420714895648,</a:t>
            </a:r>
          </a:p>
          <a:p xmlns:a="http://schemas.openxmlformats.org/drawingml/2006/main">
            <a:r>
              <a:t>      "high_factor_property": "Личная ответственность и частные механизмы социальной поддержки",</a:t>
            </a:r>
          </a:p>
          <a:p xmlns:a="http://schemas.openxmlformats.org/drawingml/2006/main">
            <a:r>
              <a:t>      "low_factor_property": "Государственные социальные гарантии и перераспределение"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"strong_loading_threshold": 0.35,</a:t>
            </a:r>
          </a:p>
          <a:p xmlns:a="http://schemas.openxmlformats.org/drawingml/2006/main">
            <a:r>
              <a:t>  "variance_share": 0.06791701015568022,</a:t>
            </a:r>
          </a:p>
          <a:p xmlns:a="http://schemas.openxmlformats.org/drawingml/2006/main">
            <a:r>
              <a:t>  "interpretation": "Четвёртая ось выделяет способ обоснования публичной программы. На высоком полюсе сильнее преобладают измеримые результаты и управленческая эффективность над идеологическими принципами и символическими целями (+0,765). Второй сильный индикатор — социальная политика (−0,426): низкая координата связана с большим приоритетом государственных гарантий и перераспределения относительно личных и частных механизмов поддержки. Противоположный полюс можно описать как идеологическую и социальную программу. Здесь не измеряются фактические социальные расходы или результативность управления.\n\nПри пороге |нагрузка| ≥ 0,35 у фактора только два сильных индикатора. Критика власти (−0,343) и электоральный мандат (−0,306) остаются ниже порога и не позволяют называть ось широким противопоставлением власти и оппозиции. По сравнению с q=3 управленческая результативность становится более самостоятельной, а централизация преимущественно относится к F1. Это полезная детализация для данной выборки, требующая проверки воспроизводимости из-за узкой индикаторной основы.",</a:t>
            </a:r>
          </a:p>
          <a:p xmlns:a="http://schemas.openxmlformats.org/drawingml/2006/main">
            <a:r>
              <a:t>  "numeric_label": "Измеримые результаты и управленческая эффективность ↔ Государственные социальные гарантии и перераспределение"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Одинаковые 17 шкал в одинаковом порядке; все знаковые нагрузки после varimax и единый цветовой диапазон −1…1. Положительная нагрузка связывает высокий фактор с положительным полюсом утверждённой шкалы, отрицательная — с отрицательным. Номера факторов локальны для каждой модели.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Одинаковые 17 шкал в одинаковом порядке; все знаковые нагрузки после varimax и единый цветовой диапазон −1…1. Положительная нагрузка связывает высокий фактор с положительным полюсом утверждённой шкалы, отрицательная — с отрицательным. Номера факторов локальны для каждой модели.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Показаны q3:F1/F3 и q4:F1/F4 при фактическом k=4; остальные координаты здесь не видны. Цвета групп согласованы по max-overlap, легенды сохраняют исходные номера данной модели. Чёрной рамкой отмечены четыре объекта, сменившие группу между q3k4 и q4k4. Оси условны на выбранной FA-модели; расстояния в этой проекции не заменяют расстояний в полном пространстве.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"reference_q": 2,</a:t>
            </a:r>
          </a:p>
          <a:p xmlns:a="http://schemas.openxmlformats.org/drawingml/2006/main">
            <a:r>
              <a:t>  "target_q": 3,</a:t>
            </a:r>
          </a:p>
          <a:p xmlns:a="http://schemas.openxmlformats.org/drawingml/2006/main">
            <a:r>
              <a:t>  "k": 3,</a:t>
            </a:r>
          </a:p>
          <a:p xmlns:a="http://schemas.openxmlformats.org/drawingml/2006/main">
            <a:r>
              <a:t>  "ari": 0.7768764994858905,</a:t>
            </a:r>
          </a:p>
          <a:p xmlns:a="http://schemas.openxmlformats.org/drawingml/2006/main">
            <a:r>
              <a:t>  "nmi": 0.8002678042971674,</a:t>
            </a:r>
          </a:p>
          <a:p xmlns:a="http://schemas.openxmlformats.org/drawingml/2006/main">
            <a:r>
              <a:t>  "moved_count": 5,</a:t>
            </a:r>
          </a:p>
          <a:p xmlns:a="http://schemas.openxmlformats.org/drawingml/2006/main">
            <a:r>
              <a:t>  "unchanged_count": 58,</a:t>
            </a:r>
          </a:p>
          <a:p xmlns:a="http://schemas.openxmlformats.org/drawingml/2006/main">
            <a:r>
              <a:t>  "overlap_alignment": {</a:t>
            </a:r>
          </a:p>
          <a:p xmlns:a="http://schemas.openxmlformats.org/drawingml/2006/main">
            <a:r>
              <a:t>    "C2": "C1",</a:t>
            </a:r>
          </a:p>
          <a:p xmlns:a="http://schemas.openxmlformats.org/drawingml/2006/main">
            <a:r>
              <a:t>    "C1": "C2",</a:t>
            </a:r>
          </a:p>
          <a:p xmlns:a="http://schemas.openxmlformats.org/drawingml/2006/main">
            <a:r>
              <a:t>    "C3": "C3"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"contingency_raw": {</a:t>
            </a:r>
          </a:p>
          <a:p xmlns:a="http://schemas.openxmlformats.org/drawingml/2006/main">
            <a:r>
              <a:t>    "rows": [</a:t>
            </a:r>
          </a:p>
          <a:p xmlns:a="http://schemas.openxmlformats.org/drawingml/2006/main">
            <a:r>
              <a:t>      "C1",</a:t>
            </a:r>
          </a:p>
          <a:p xmlns:a="http://schemas.openxmlformats.org/drawingml/2006/main">
            <a:r>
              <a:t>      "C2",</a:t>
            </a:r>
          </a:p>
          <a:p xmlns:a="http://schemas.openxmlformats.org/drawingml/2006/main">
            <a:r>
              <a:t>      "C3"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"columns": [</a:t>
            </a:r>
          </a:p>
          <a:p xmlns:a="http://schemas.openxmlformats.org/drawingml/2006/main">
            <a:r>
              <a:t>      "C1",</a:t>
            </a:r>
          </a:p>
          <a:p xmlns:a="http://schemas.openxmlformats.org/drawingml/2006/main">
            <a:r>
              <a:t>      "C2",</a:t>
            </a:r>
          </a:p>
          <a:p xmlns:a="http://schemas.openxmlformats.org/drawingml/2006/main">
            <a:r>
              <a:t>      "C3"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"values":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35,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15,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0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8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"contingency_aligned": {</a:t>
            </a:r>
          </a:p>
          <a:p xmlns:a="http://schemas.openxmlformats.org/drawingml/2006/main">
            <a:r>
              <a:t>    "rows": [</a:t>
            </a:r>
          </a:p>
          <a:p xmlns:a="http://schemas.openxmlformats.org/drawingml/2006/main">
            <a:r>
              <a:t>      "C1",</a:t>
            </a:r>
          </a:p>
          <a:p xmlns:a="http://schemas.openxmlformats.org/drawingml/2006/main">
            <a:r>
              <a:t>      "C2",</a:t>
            </a:r>
          </a:p>
          <a:p xmlns:a="http://schemas.openxmlformats.org/drawingml/2006/main">
            <a:r>
              <a:t>      "C3"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"columns": [</a:t>
            </a:r>
          </a:p>
          <a:p xmlns:a="http://schemas.openxmlformats.org/drawingml/2006/main">
            <a:r>
              <a:t>      "C1",</a:t>
            </a:r>
          </a:p>
          <a:p xmlns:a="http://schemas.openxmlformats.org/drawingml/2006/main">
            <a:r>
              <a:t>      "C2",</a:t>
            </a:r>
          </a:p>
          <a:p xmlns:a="http://schemas.openxmlformats.org/drawingml/2006/main">
            <a:r>
              <a:t>      "C3"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"values":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35,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15,</a:t>
            </a:r>
          </a:p>
          <a:p xmlns:a="http://schemas.openxmlformats.org/drawingml/2006/main">
            <a:r>
              <a:t>        0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8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"transitions":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"vladimir-putin",</a:t>
            </a:r>
          </a:p>
          <a:p xmlns:a="http://schemas.openxmlformats.org/drawingml/2006/main">
            <a:r>
              <a:t>      "name": "Владимир Путин",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"C3",</a:t>
            </a:r>
          </a:p>
          <a:p xmlns:a="http://schemas.openxmlformats.org/drawingml/2006/main">
            <a:r>
              <a:t>      "changed": true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"dmitry-medvedev",</a:t>
            </a:r>
          </a:p>
          <a:p xmlns:a="http://schemas.openxmlformats.org/drawingml/2006/main">
            <a:r>
              <a:t>      "name": "Дмитрий Медведев",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"mikhail-mishustin",</a:t>
            </a:r>
          </a:p>
          <a:p xmlns:a="http://schemas.openxmlformats.org/drawingml/2006/main">
            <a:r>
              <a:t>      "name": "Михаил Мишустин",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"sergey-lavrov",</a:t>
            </a:r>
          </a:p>
          <a:p xmlns:a="http://schemas.openxmlformats.org/drawingml/2006/main">
            <a:r>
              <a:t>      "name": "Сергей Лавров",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"sergey-shoigu",</a:t>
            </a:r>
          </a:p>
          <a:p xmlns:a="http://schemas.openxmlformats.org/drawingml/2006/main">
            <a:r>
              <a:t>      "name": "Сергей Шойгу",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"andrey-belousov",</a:t>
            </a:r>
          </a:p>
          <a:p xmlns:a="http://schemas.openxmlformats.org/drawingml/2006/main">
            <a:r>
              <a:t>      "name": "Андрей Белоусов",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"nikolay-patrushev",</a:t>
            </a:r>
          </a:p>
          <a:p xmlns:a="http://schemas.openxmlformats.org/drawingml/2006/main">
            <a:r>
              <a:t>      "name": "Николай Патрушев",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"alexander-bortnikov",</a:t>
            </a:r>
          </a:p>
          <a:p xmlns:a="http://schemas.openxmlformats.org/drawingml/2006/main">
            <a:r>
              <a:t>      "name": "Александр Бортников",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"sergey-kiriyenko",</a:t>
            </a:r>
          </a:p>
          <a:p xmlns:a="http://schemas.openxmlformats.org/drawingml/2006/main">
            <a:r>
              <a:t>      "name": "Сергей Кириенко",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"vyacheslav-volodin",</a:t>
            </a:r>
          </a:p>
          <a:p xmlns:a="http://schemas.openxmlformats.org/drawingml/2006/main">
            <a:r>
              <a:t>      "name": "Вячеслав Володин",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"valentina-matviyenko",</a:t>
            </a:r>
          </a:p>
          <a:p xmlns:a="http://schemas.openxmlformats.org/drawingml/2006/main">
            <a:r>
              <a:t>      "name": "Валентина Матвиенко",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"dmitry-peskov",</a:t>
            </a:r>
          </a:p>
          <a:p xmlns:a="http://schemas.openxmlformats.org/drawingml/2006/main">
            <a:r>
              <a:t>      "name": "Дмитрий Песков",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"elvira-nabiullina",</a:t>
            </a:r>
          </a:p>
          <a:p xmlns:a="http://schemas.openxmlformats.org/drawingml/2006/main">
            <a:r>
              <a:t>      "name": "Эльвира Набиуллина",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"anton-siluanov",</a:t>
            </a:r>
          </a:p>
          <a:p xmlns:a="http://schemas.openxmlformats.org/drawingml/2006/main">
            <a:r>
              <a:t>      "name": "Антон Силуанов",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"tatyana-golikova",</a:t>
            </a:r>
          </a:p>
          <a:p xmlns:a="http://schemas.openxmlformats.org/drawingml/2006/main">
            <a:r>
              <a:t>      "name": "Татьяна Голикова",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"gennady-zyuganov",</a:t>
            </a:r>
          </a:p>
          <a:p xmlns:a="http://schemas.openxmlformats.org/drawingml/2006/main">
            <a:r>
              <a:t>      "name": "Геннадий Зюганов",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"C3",</a:t>
            </a:r>
          </a:p>
          <a:p xmlns:a="http://schemas.openxmlformats.org/drawingml/2006/main">
            <a:r>
              <a:t>      "changed": true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"vladimir-zhirinovsky",</a:t>
            </a:r>
          </a:p>
          <a:p xmlns:a="http://schemas.openxmlformats.org/drawingml/2006/main">
            <a:r>
              <a:t>      "name": "Владимир Жириновский",</a:t>
            </a:r>
          </a:p>
          <a:p xmlns:a="http://schemas.openxmlformats.org/drawingml/2006/main">
            <a:r>
              <a:t>      "from_cluster": "C3",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"C3",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"leonid-slutsky",</a:t>
            </a:r>
          </a:p>
          <a:p xmlns:a="http://schemas.openxmlformats.org/drawingml/2006/main">
            <a:r>
              <a:t>      "name": "Леонид Слуцкий",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"sergey-mironov",</a:t>
            </a:r>
          </a:p>
          <a:p xmlns:a="http://schemas.openxmlformats.org/drawingml/2006/main">
            <a:r>
              <a:t>      "name": "Сергей Миронов",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"C3",</a:t>
            </a:r>
          </a:p>
          <a:p xmlns:a="http://schemas.openxmlformats.org/drawingml/2006/main">
            <a:r>
              <a:t>      "changed": true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"alexey-nechayev",</a:t>
            </a:r>
          </a:p>
          <a:p xmlns:a="http://schemas.openxmlformats.org/drawingml/2006/main">
            <a:r>
              <a:t>      "name": "Алексей Нечаев",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"vladislav-davankov",</a:t>
            </a:r>
          </a:p>
          <a:p xmlns:a="http://schemas.openxmlformats.org/drawingml/2006/main">
            <a:r>
              <a:t>      "name": "Владислав Даванков",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"zakhar-prilepin",</a:t>
            </a:r>
          </a:p>
          <a:p xmlns:a="http://schemas.openxmlformats.org/drawingml/2006/main">
            <a:r>
              <a:t>      "name": "Захар Прилепин",</a:t>
            </a:r>
          </a:p>
          <a:p xmlns:a="http://schemas.openxmlformats.org/drawingml/2006/main">
            <a:r>
              <a:t>      "from_cluster": "C3",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"C3",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"natalya-poklonskaya",</a:t>
            </a:r>
          </a:p>
          <a:p xmlns:a="http://schemas.openxmlformats.org/drawingml/2006/main">
            <a:r>
              <a:t>      "name": "Наталья Поклонская",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"elena-mizulina",</a:t>
            </a:r>
          </a:p>
          <a:p xmlns:a="http://schemas.openxmlformats.org/drawingml/2006/main">
            <a:r>
              <a:t>      "name": "Елена Мизулина",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"vitaly-milonov",</a:t>
            </a:r>
          </a:p>
          <a:p xmlns:a="http://schemas.openxmlformats.org/drawingml/2006/main">
            <a:r>
              <a:t>      "name": "Виталий Милонов",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"C3",</a:t>
            </a:r>
          </a:p>
          <a:p xmlns:a="http://schemas.openxmlformats.org/drawingml/2006/main">
            <a:r>
              <a:t>      "changed": true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"nina-ostanina",</a:t>
            </a:r>
          </a:p>
          <a:p xmlns:a="http://schemas.openxmlformats.org/drawingml/2006/main">
            <a:r>
              <a:t>      "name": "Нина Останина",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"valentina-tereshkova",</a:t>
            </a:r>
          </a:p>
          <a:p xmlns:a="http://schemas.openxmlformats.org/drawingml/2006/main">
            <a:r>
              <a:t>      "name": "Валентина Терешкова",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"alexander-khinshtein",</a:t>
            </a:r>
          </a:p>
          <a:p xmlns:a="http://schemas.openxmlformats.org/drawingml/2006/main">
            <a:r>
              <a:t>      "name": "Александр Хинштейн",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"alexey-pushkov",</a:t>
            </a:r>
          </a:p>
          <a:p xmlns:a="http://schemas.openxmlformats.org/drawingml/2006/main">
            <a:r>
              <a:t>      "name": "Алексей Пушков",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"konstantin-kosachev",</a:t>
            </a:r>
          </a:p>
          <a:p xmlns:a="http://schemas.openxmlformats.org/drawingml/2006/main">
            <a:r>
              <a:t>      "name": "Константин Косачёв",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"sergey-sobyanin",</a:t>
            </a:r>
          </a:p>
          <a:p xmlns:a="http://schemas.openxmlformats.org/drawingml/2006/main">
            <a:r>
              <a:t>      "name": "Сергей Собянин",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"alexander-beglov",</a:t>
            </a:r>
          </a:p>
          <a:p xmlns:a="http://schemas.openxmlformats.org/drawingml/2006/main">
            <a:r>
              <a:t>      "name": "Александр Беглов",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"ramzan-kadyrov",</a:t>
            </a:r>
          </a:p>
          <a:p xmlns:a="http://schemas.openxmlformats.org/drawingml/2006/main">
            <a:r>
              <a:t>      "name": "Рамзан Кадыров",</a:t>
            </a:r>
          </a:p>
          <a:p xmlns:a="http://schemas.openxmlformats.org/drawingml/2006/main">
            <a:r>
              <a:t>      "from_cluster": "C3",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"C3",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"rustam-minnikhanov",</a:t>
            </a:r>
          </a:p>
          <a:p xmlns:a="http://schemas.openxmlformats.org/drawingml/2006/main">
            <a:r>
              <a:t>      "name": "Рустам Минниханов",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"mikhail-degtyarev",</a:t>
            </a:r>
          </a:p>
          <a:p xmlns:a="http://schemas.openxmlformats.org/drawingml/2006/main">
            <a:r>
              <a:t>      "name": "Михаил Дегтярёв",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"sergey-levchenko",</a:t>
            </a:r>
          </a:p>
          <a:p xmlns:a="http://schemas.openxmlformats.org/drawingml/2006/main">
            <a:r>
              <a:t>      "name": "Сергей Левченко",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"sergey-aksyonov",</a:t>
            </a:r>
          </a:p>
          <a:p xmlns:a="http://schemas.openxmlformats.org/drawingml/2006/main">
            <a:r>
              <a:t>      "name": "Сергей Аксёнов",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"mikhail-razvozhayev",</a:t>
            </a:r>
          </a:p>
          <a:p xmlns:a="http://schemas.openxmlformats.org/drawingml/2006/main">
            <a:r>
              <a:t>      "name": "Михаил Развожаев",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"vyacheslav-gladkov",</a:t>
            </a:r>
          </a:p>
          <a:p xmlns:a="http://schemas.openxmlformats.org/drawingml/2006/main">
            <a:r>
              <a:t>      "name": "Вячеслав Гладков",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"andrey-chibis",</a:t>
            </a:r>
          </a:p>
          <a:p xmlns:a="http://schemas.openxmlformats.org/drawingml/2006/main">
            <a:r>
              <a:t>      "name": "Андрей Чибис",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"yevgeny-royzman",</a:t>
            </a:r>
          </a:p>
          <a:p xmlns:a="http://schemas.openxmlformats.org/drawingml/2006/main">
            <a:r>
              <a:t>      "name": "Евгений Ройзман",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"vadim-shumkov",</a:t>
            </a:r>
          </a:p>
          <a:p xmlns:a="http://schemas.openxmlformats.org/drawingml/2006/main">
            <a:r>
              <a:t>      "name": "Вадим Шумков",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"alexey-navalny",</a:t>
            </a:r>
          </a:p>
          <a:p xmlns:a="http://schemas.openxmlformats.org/drawingml/2006/main">
            <a:r>
              <a:t>      "name": "Алексей Навальный",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"ilya-yashin",</a:t>
            </a:r>
          </a:p>
          <a:p xmlns:a="http://schemas.openxmlformats.org/drawingml/2006/main">
            <a:r>
              <a:t>      "name": "Илья Яшин",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"vladimir-kara-murza",</a:t>
            </a:r>
          </a:p>
          <a:p xmlns:a="http://schemas.openxmlformats.org/drawingml/2006/main">
            <a:r>
              <a:t>      "name": "Владимир Кара-Мурза",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"grigory-yavlinsky",</a:t>
            </a:r>
          </a:p>
          <a:p xmlns:a="http://schemas.openxmlformats.org/drawingml/2006/main">
            <a:r>
              <a:t>      "name": "Григорий Явлинский",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"lev-shlosberg",</a:t>
            </a:r>
          </a:p>
          <a:p xmlns:a="http://schemas.openxmlformats.org/drawingml/2006/main">
            <a:r>
              <a:t>      "name": "Лев Шлосберг",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"boris-vishnevsky",</a:t>
            </a:r>
          </a:p>
          <a:p xmlns:a="http://schemas.openxmlformats.org/drawingml/2006/main">
            <a:r>
              <a:t>      "name": "Борис Вишневский",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"gennady-gudkov",</a:t>
            </a:r>
          </a:p>
          <a:p xmlns:a="http://schemas.openxmlformats.org/drawingml/2006/main">
            <a:r>
              <a:t>      "name": "Геннадий Гудков",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"garry-kasparov",</a:t>
            </a:r>
          </a:p>
          <a:p xmlns:a="http://schemas.openxmlformats.org/drawingml/2006/main">
            <a:r>
              <a:t>      "name": "Гарри Каспаров",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"mikhail-khodorkovsky",</a:t>
            </a:r>
          </a:p>
          <a:p xmlns:a="http://schemas.openxmlformats.org/drawingml/2006/main">
            <a:r>
              <a:t>      "name": "Михаил Ходорковский",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"vladimir-milov",</a:t>
            </a:r>
          </a:p>
          <a:p xmlns:a="http://schemas.openxmlformats.org/drawingml/2006/main">
            <a:r>
              <a:t>      "name": "Владимир Милов",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"lyubov-sobol",</a:t>
            </a:r>
          </a:p>
          <a:p xmlns:a="http://schemas.openxmlformats.org/drawingml/2006/main">
            <a:r>
              <a:t>      "name": "Любовь Соболь",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"yekaterina-duntsova",</a:t>
            </a:r>
          </a:p>
          <a:p xmlns:a="http://schemas.openxmlformats.org/drawingml/2006/main">
            <a:r>
              <a:t>      "name": "Екатерина Дунцова",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"pavel-grudinin",</a:t>
            </a:r>
          </a:p>
          <a:p xmlns:a="http://schemas.openxmlformats.org/drawingml/2006/main">
            <a:r>
              <a:t>      "name": "Павел Грудинин",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"nikolay-platoshkin",</a:t>
            </a:r>
          </a:p>
          <a:p xmlns:a="http://schemas.openxmlformats.org/drawingml/2006/main">
            <a:r>
              <a:t>      "name": "Николай Платошкин",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"C3",</a:t>
            </a:r>
          </a:p>
          <a:p xmlns:a="http://schemas.openxmlformats.org/drawingml/2006/main">
            <a:r>
              <a:t>      "changed": true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"ilya-ponomarev",</a:t>
            </a:r>
          </a:p>
          <a:p xmlns:a="http://schemas.openxmlformats.org/drawingml/2006/main">
            <a:r>
              <a:t>      "name": "Илья Пономарёв",</a:t>
            </a:r>
          </a:p>
          <a:p xmlns:a="http://schemas.openxmlformats.org/drawingml/2006/main">
            <a:r>
              <a:t>      "from_cluster": "C3",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"C3",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"leonid-gozman",</a:t>
            </a:r>
          </a:p>
          <a:p xmlns:a="http://schemas.openxmlformats.org/drawingml/2006/main">
            <a:r>
              <a:t>      "name": "Леонид Гозман",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"sergey-udaltsov",</a:t>
            </a:r>
          </a:p>
          <a:p xmlns:a="http://schemas.openxmlformats.org/drawingml/2006/main">
            <a:r>
              <a:t>      "name": "Сергей Удальцов",</a:t>
            </a:r>
          </a:p>
          <a:p xmlns:a="http://schemas.openxmlformats.org/drawingml/2006/main">
            <a:r>
              <a:t>      "from_cluster": "C3",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"C3",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"eduard-limonov",</a:t>
            </a:r>
          </a:p>
          <a:p xmlns:a="http://schemas.openxmlformats.org/drawingml/2006/main">
            <a:r>
              <a:t>      "name": "Эдуард Лимонов",</a:t>
            </a:r>
          </a:p>
          <a:p xmlns:a="http://schemas.openxmlformats.org/drawingml/2006/main">
            <a:r>
              <a:t>      "from_cluster": "C3",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"C3",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"igor-strelkov",</a:t>
            </a:r>
          </a:p>
          <a:p xmlns:a="http://schemas.openxmlformats.org/drawingml/2006/main">
            <a:r>
              <a:t>      "name": "Игорь Стрелков (Гиркин)",</a:t>
            </a:r>
          </a:p>
          <a:p xmlns:a="http://schemas.openxmlformats.org/drawingml/2006/main">
            <a:r>
              <a:t>      "from_cluster": "C3",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"C3",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"yevgeny-prigozhin",</a:t>
            </a:r>
          </a:p>
          <a:p xmlns:a="http://schemas.openxmlformats.org/drawingml/2006/main">
            <a:r>
              <a:t>      "name": "Евгений Пригожин",</a:t>
            </a:r>
          </a:p>
          <a:p xmlns:a="http://schemas.openxmlformats.org/drawingml/2006/main">
            <a:r>
              <a:t>      "from_cluster": "C3",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"C3",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"oksana-dmitriyeva",</a:t>
            </a:r>
          </a:p>
          <a:p xmlns:a="http://schemas.openxmlformats.org/drawingml/2006/main">
            <a:r>
              <a:t>      "name": "Оксана Дмитриева",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"scope": "Same objects and fixed k; maximum-overlap label permutation only, no model refit or forced memberships",</a:t>
            </a:r>
          </a:p>
          <a:p xmlns:a="http://schemas.openxmlformats.org/drawingml/2006/main">
            <a:r>
              <a:t>  "artifact_files": {</a:t>
            </a:r>
          </a:p>
          <a:p xmlns:a="http://schemas.openxmlformats.org/drawingml/2006/main">
            <a:r>
              <a:t>    "all_objects_csv": "models/clusters_q2_q3_k3_all_objects.csv",</a:t>
            </a:r>
          </a:p>
          <a:p xmlns:a="http://schemas.openxmlformats.org/drawingml/2006/main">
            <a:r>
              <a:t>    "changed_objects_csv": "models/clusters_q2_q3_k3_changed_objects.csv",</a:t>
            </a:r>
          </a:p>
          <a:p xmlns:a="http://schemas.openxmlformats.org/drawingml/2006/main">
            <a:r>
              <a:t>    "contingency_raw_csv": "models/clusters_q2_q3_k3_contingency_raw.csv",</a:t>
            </a:r>
          </a:p>
          <a:p xmlns:a="http://schemas.openxmlformats.org/drawingml/2006/main">
            <a:r>
              <a:t>    "contingency_aligned_csv": "models/clusters_q2_q3_k3_contingency_aligned.csv"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 контроле k=3 сохраняется антивоенная группа из 15 объектов, а группа поддержки курса сокращается с 40 до 35. Путин, Зюганов, Миронов, Милонов и Платошкин переходят в расширенную мобилизационно-идеологическую группу из 13 объектов. Это не означает, что все 13 используют одинаково конфронтационную или протестную стратегию: у Зюганова и Миронова высока институциональная координата F2. При предпочтительном k=4 возникает отдельная группа институциональной электоральной конкуренции из 10 объектов: пять из прежней группы поддержки курса и пять из антивоенной группы. Прежняя конфронтационная восьмёрка сохраняется полностью; персональная антивоенная группа состоит из 10 объектов.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"reference_q": 2,</a:t>
            </a:r>
          </a:p>
          <a:p xmlns:a="http://schemas.openxmlformats.org/drawingml/2006/main">
            <a:r>
              <a:t>  "target_q": 4,</a:t>
            </a:r>
          </a:p>
          <a:p xmlns:a="http://schemas.openxmlformats.org/drawingml/2006/main">
            <a:r>
              <a:t>  "k": 3,</a:t>
            </a:r>
          </a:p>
          <a:p xmlns:a="http://schemas.openxmlformats.org/drawingml/2006/main">
            <a:r>
              <a:t>  "ari": 0.549213296801467,</a:t>
            </a:r>
          </a:p>
          <a:p xmlns:a="http://schemas.openxmlformats.org/drawingml/2006/main">
            <a:r>
              <a:t>  "nmi": 0.6029104105703763,</a:t>
            </a:r>
          </a:p>
          <a:p xmlns:a="http://schemas.openxmlformats.org/drawingml/2006/main">
            <a:r>
              <a:t>  "moved_count": 10,</a:t>
            </a:r>
          </a:p>
          <a:p xmlns:a="http://schemas.openxmlformats.org/drawingml/2006/main">
            <a:r>
              <a:t>  "unchanged_count": 53,</a:t>
            </a:r>
          </a:p>
          <a:p xmlns:a="http://schemas.openxmlformats.org/drawingml/2006/main">
            <a:r>
              <a:t>  "overlap_alignment": {</a:t>
            </a:r>
          </a:p>
          <a:p xmlns:a="http://schemas.openxmlformats.org/drawingml/2006/main">
            <a:r>
              <a:t>    "C2": "C1",</a:t>
            </a:r>
          </a:p>
          <a:p xmlns:a="http://schemas.openxmlformats.org/drawingml/2006/main">
            <a:r>
              <a:t>    "C1": "C2",</a:t>
            </a:r>
          </a:p>
          <a:p xmlns:a="http://schemas.openxmlformats.org/drawingml/2006/main">
            <a:r>
              <a:t>    "C3": "C3"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"contingency_raw": {</a:t>
            </a:r>
          </a:p>
          <a:p xmlns:a="http://schemas.openxmlformats.org/drawingml/2006/main">
            <a:r>
              <a:t>    "rows": [</a:t>
            </a:r>
          </a:p>
          <a:p xmlns:a="http://schemas.openxmlformats.org/drawingml/2006/main">
            <a:r>
              <a:t>      "C1",</a:t>
            </a:r>
          </a:p>
          <a:p xmlns:a="http://schemas.openxmlformats.org/drawingml/2006/main">
            <a:r>
              <a:t>      "C2",</a:t>
            </a:r>
          </a:p>
          <a:p xmlns:a="http://schemas.openxmlformats.org/drawingml/2006/main">
            <a:r>
              <a:t>      "C3"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"columns": [</a:t>
            </a:r>
          </a:p>
          <a:p xmlns:a="http://schemas.openxmlformats.org/drawingml/2006/main">
            <a:r>
              <a:t>      "C1",</a:t>
            </a:r>
          </a:p>
          <a:p xmlns:a="http://schemas.openxmlformats.org/drawingml/2006/main">
            <a:r>
              <a:t>      "C2",</a:t>
            </a:r>
          </a:p>
          <a:p xmlns:a="http://schemas.openxmlformats.org/drawingml/2006/main">
            <a:r>
              <a:t>      "C3"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"values":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4,</a:t>
            </a:r>
          </a:p>
          <a:p xmlns:a="http://schemas.openxmlformats.org/drawingml/2006/main">
            <a:r>
              <a:t>        30,</a:t>
            </a:r>
          </a:p>
          <a:p xmlns:a="http://schemas.openxmlformats.org/drawingml/2006/main">
            <a:r>
              <a:t>        6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15,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0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8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"contingency_aligned": {</a:t>
            </a:r>
          </a:p>
          <a:p xmlns:a="http://schemas.openxmlformats.org/drawingml/2006/main">
            <a:r>
              <a:t>    "rows": [</a:t>
            </a:r>
          </a:p>
          <a:p xmlns:a="http://schemas.openxmlformats.org/drawingml/2006/main">
            <a:r>
              <a:t>      "C1",</a:t>
            </a:r>
          </a:p>
          <a:p xmlns:a="http://schemas.openxmlformats.org/drawingml/2006/main">
            <a:r>
              <a:t>      "C2",</a:t>
            </a:r>
          </a:p>
          <a:p xmlns:a="http://schemas.openxmlformats.org/drawingml/2006/main">
            <a:r>
              <a:t>      "C3"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"columns": [</a:t>
            </a:r>
          </a:p>
          <a:p xmlns:a="http://schemas.openxmlformats.org/drawingml/2006/main">
            <a:r>
              <a:t>      "C1",</a:t>
            </a:r>
          </a:p>
          <a:p xmlns:a="http://schemas.openxmlformats.org/drawingml/2006/main">
            <a:r>
              <a:t>      "C2",</a:t>
            </a:r>
          </a:p>
          <a:p xmlns:a="http://schemas.openxmlformats.org/drawingml/2006/main">
            <a:r>
              <a:t>      "C3"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"values":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30,</a:t>
            </a:r>
          </a:p>
          <a:p xmlns:a="http://schemas.openxmlformats.org/drawingml/2006/main">
            <a:r>
              <a:t>        4,</a:t>
            </a:r>
          </a:p>
          <a:p xmlns:a="http://schemas.openxmlformats.org/drawingml/2006/main">
            <a:r>
              <a:t>        6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15,</a:t>
            </a:r>
          </a:p>
          <a:p xmlns:a="http://schemas.openxmlformats.org/drawingml/2006/main">
            <a:r>
              <a:t>        0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8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"transitions":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"vladimir-putin",</a:t>
            </a:r>
          </a:p>
          <a:p xmlns:a="http://schemas.openxmlformats.org/drawingml/2006/main">
            <a:r>
              <a:t>      "name": "Владимир Путин",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"C3",</a:t>
            </a:r>
          </a:p>
          <a:p xmlns:a="http://schemas.openxmlformats.org/drawingml/2006/main">
            <a:r>
              <a:t>      "changed": true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"dmitry-medvedev",</a:t>
            </a:r>
          </a:p>
          <a:p xmlns:a="http://schemas.openxmlformats.org/drawingml/2006/main">
            <a:r>
              <a:t>      "name": "Дмитрий Медведев",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"mikhail-mishustin",</a:t>
            </a:r>
          </a:p>
          <a:p xmlns:a="http://schemas.openxmlformats.org/drawingml/2006/main">
            <a:r>
              <a:t>      "name": "Михаил Мишустин",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"sergey-lavrov",</a:t>
            </a:r>
          </a:p>
          <a:p xmlns:a="http://schemas.openxmlformats.org/drawingml/2006/main">
            <a:r>
              <a:t>      "name": "Сергей Лавров",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"sergey-shoigu",</a:t>
            </a:r>
          </a:p>
          <a:p xmlns:a="http://schemas.openxmlformats.org/drawingml/2006/main">
            <a:r>
              <a:t>      "name": "Сергей Шойгу",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"andrey-belousov",</a:t>
            </a:r>
          </a:p>
          <a:p xmlns:a="http://schemas.openxmlformats.org/drawingml/2006/main">
            <a:r>
              <a:t>      "name": "Андрей Белоусов",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"nikolay-patrushev",</a:t>
            </a:r>
          </a:p>
          <a:p xmlns:a="http://schemas.openxmlformats.org/drawingml/2006/main">
            <a:r>
              <a:t>      "name": "Николай Патрушев",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"alexander-bortnikov",</a:t>
            </a:r>
          </a:p>
          <a:p xmlns:a="http://schemas.openxmlformats.org/drawingml/2006/main">
            <a:r>
              <a:t>      "name": "Александр Бортников",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"sergey-kiriyenko",</a:t>
            </a:r>
          </a:p>
          <a:p xmlns:a="http://schemas.openxmlformats.org/drawingml/2006/main">
            <a:r>
              <a:t>      "name": "Сергей Кириенко",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"vyacheslav-volodin",</a:t>
            </a:r>
          </a:p>
          <a:p xmlns:a="http://schemas.openxmlformats.org/drawingml/2006/main">
            <a:r>
              <a:t>      "name": "Вячеслав Володин",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"valentina-matviyenko",</a:t>
            </a:r>
          </a:p>
          <a:p xmlns:a="http://schemas.openxmlformats.org/drawingml/2006/main">
            <a:r>
              <a:t>      "name": "Валентина Матвиенко",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"dmitry-peskov",</a:t>
            </a:r>
          </a:p>
          <a:p xmlns:a="http://schemas.openxmlformats.org/drawingml/2006/main">
            <a:r>
              <a:t>      "name": "Дмитрий Песков",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"elvira-nabiullina",</a:t>
            </a:r>
          </a:p>
          <a:p xmlns:a="http://schemas.openxmlformats.org/drawingml/2006/main">
            <a:r>
              <a:t>      "name": "Эльвира Набиуллина",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"anton-siluanov",</a:t>
            </a:r>
          </a:p>
          <a:p xmlns:a="http://schemas.openxmlformats.org/drawingml/2006/main">
            <a:r>
              <a:t>      "name": "Антон Силуанов",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"tatyana-golikova",</a:t>
            </a:r>
          </a:p>
          <a:p xmlns:a="http://schemas.openxmlformats.org/drawingml/2006/main">
            <a:r>
              <a:t>      "name": "Татьяна Голикова",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"gennady-zyuganov",</a:t>
            </a:r>
          </a:p>
          <a:p xmlns:a="http://schemas.openxmlformats.org/drawingml/2006/main">
            <a:r>
              <a:t>      "name": "Геннадий Зюганов",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"C3",</a:t>
            </a:r>
          </a:p>
          <a:p xmlns:a="http://schemas.openxmlformats.org/drawingml/2006/main">
            <a:r>
              <a:t>      "changed": true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"vladimir-zhirinovsky",</a:t>
            </a:r>
          </a:p>
          <a:p xmlns:a="http://schemas.openxmlformats.org/drawingml/2006/main">
            <a:r>
              <a:t>      "name": "Владимир Жириновский",</a:t>
            </a:r>
          </a:p>
          <a:p xmlns:a="http://schemas.openxmlformats.org/drawingml/2006/main">
            <a:r>
              <a:t>      "from_cluster": "C3",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"C3",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"leonid-slutsky",</a:t>
            </a:r>
          </a:p>
          <a:p xmlns:a="http://schemas.openxmlformats.org/drawingml/2006/main">
            <a:r>
              <a:t>      "name": "Леонид Слуцкий",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"C3",</a:t>
            </a:r>
          </a:p>
          <a:p xmlns:a="http://schemas.openxmlformats.org/drawingml/2006/main">
            <a:r>
              <a:t>      "changed": true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"sergey-mironov",</a:t>
            </a:r>
          </a:p>
          <a:p xmlns:a="http://schemas.openxmlformats.org/drawingml/2006/main">
            <a:r>
              <a:t>      "name": "Сергей Миронов",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"C3",</a:t>
            </a:r>
          </a:p>
          <a:p xmlns:a="http://schemas.openxmlformats.org/drawingml/2006/main">
            <a:r>
              <a:t>      "changed": true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"alexey-nechayev",</a:t>
            </a:r>
          </a:p>
          <a:p xmlns:a="http://schemas.openxmlformats.org/drawingml/2006/main">
            <a:r>
              <a:t>      "name": "Алексей Нечаев",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true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"vladislav-davankov",</a:t>
            </a:r>
          </a:p>
          <a:p xmlns:a="http://schemas.openxmlformats.org/drawingml/2006/main">
            <a:r>
              <a:t>      "name": "Владислав Даванков",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true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"zakhar-prilepin",</a:t>
            </a:r>
          </a:p>
          <a:p xmlns:a="http://schemas.openxmlformats.org/drawingml/2006/main">
            <a:r>
              <a:t>      "name": "Захар Прилепин",</a:t>
            </a:r>
          </a:p>
          <a:p xmlns:a="http://schemas.openxmlformats.org/drawingml/2006/main">
            <a:r>
              <a:t>      "from_cluster": "C3",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"C3",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"natalya-poklonskaya",</a:t>
            </a:r>
          </a:p>
          <a:p xmlns:a="http://schemas.openxmlformats.org/drawingml/2006/main">
            <a:r>
              <a:t>      "name": "Наталья Поклонская",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"elena-mizulina",</a:t>
            </a:r>
          </a:p>
          <a:p xmlns:a="http://schemas.openxmlformats.org/drawingml/2006/main">
            <a:r>
              <a:t>      "name": "Елена Мизулина",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"vitaly-milonov",</a:t>
            </a:r>
          </a:p>
          <a:p xmlns:a="http://schemas.openxmlformats.org/drawingml/2006/main">
            <a:r>
              <a:t>      "name": "Виталий Милонов",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"C3",</a:t>
            </a:r>
          </a:p>
          <a:p xmlns:a="http://schemas.openxmlformats.org/drawingml/2006/main">
            <a:r>
              <a:t>      "changed": true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"nina-ostanina",</a:t>
            </a:r>
          </a:p>
          <a:p xmlns:a="http://schemas.openxmlformats.org/drawingml/2006/main">
            <a:r>
              <a:t>      "name": "Нина Останина",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"valentina-tereshkova",</a:t>
            </a:r>
          </a:p>
          <a:p xmlns:a="http://schemas.openxmlformats.org/drawingml/2006/main">
            <a:r>
              <a:t>      "name": "Валентина Терешкова",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"alexander-khinshtein",</a:t>
            </a:r>
          </a:p>
          <a:p xmlns:a="http://schemas.openxmlformats.org/drawingml/2006/main">
            <a:r>
              <a:t>      "name": "Александр Хинштейн",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"alexey-pushkov",</a:t>
            </a:r>
          </a:p>
          <a:p xmlns:a="http://schemas.openxmlformats.org/drawingml/2006/main">
            <a:r>
              <a:t>      "name": "Алексей Пушков",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"konstantin-kosachev",</a:t>
            </a:r>
          </a:p>
          <a:p xmlns:a="http://schemas.openxmlformats.org/drawingml/2006/main">
            <a:r>
              <a:t>      "name": "Константин Косачёв",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"sergey-sobyanin",</a:t>
            </a:r>
          </a:p>
          <a:p xmlns:a="http://schemas.openxmlformats.org/drawingml/2006/main">
            <a:r>
              <a:t>      "name": "Сергей Собянин",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"alexander-beglov",</a:t>
            </a:r>
          </a:p>
          <a:p xmlns:a="http://schemas.openxmlformats.org/drawingml/2006/main">
            <a:r>
              <a:t>      "name": "Александр Беглов",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"ramzan-kadyrov",</a:t>
            </a:r>
          </a:p>
          <a:p xmlns:a="http://schemas.openxmlformats.org/drawingml/2006/main">
            <a:r>
              <a:t>      "name": "Рамзан Кадыров",</a:t>
            </a:r>
          </a:p>
          <a:p xmlns:a="http://schemas.openxmlformats.org/drawingml/2006/main">
            <a:r>
              <a:t>      "from_cluster": "C3",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"C3",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"rustam-minnikhanov",</a:t>
            </a:r>
          </a:p>
          <a:p xmlns:a="http://schemas.openxmlformats.org/drawingml/2006/main">
            <a:r>
              <a:t>      "name": "Рустам Минниханов",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"mikhail-degtyarev",</a:t>
            </a:r>
          </a:p>
          <a:p xmlns:a="http://schemas.openxmlformats.org/drawingml/2006/main">
            <a:r>
              <a:t>      "name": "Михаил Дегтярёв",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"sergey-levchenko",</a:t>
            </a:r>
          </a:p>
          <a:p xmlns:a="http://schemas.openxmlformats.org/drawingml/2006/main">
            <a:r>
              <a:t>      "name": "Сергей Левченко",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true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"sergey-aksyonov",</a:t>
            </a:r>
          </a:p>
          <a:p xmlns:a="http://schemas.openxmlformats.org/drawingml/2006/main">
            <a:r>
              <a:t>      "name": "Сергей Аксёнов",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"mikhail-razvozhayev",</a:t>
            </a:r>
          </a:p>
          <a:p xmlns:a="http://schemas.openxmlformats.org/drawingml/2006/main">
            <a:r>
              <a:t>      "name": "Михаил Развожаев",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"vyacheslav-gladkov",</a:t>
            </a:r>
          </a:p>
          <a:p xmlns:a="http://schemas.openxmlformats.org/drawingml/2006/main">
            <a:r>
              <a:t>      "name": "Вячеслав Гладков",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"andrey-chibis",</a:t>
            </a:r>
          </a:p>
          <a:p xmlns:a="http://schemas.openxmlformats.org/drawingml/2006/main">
            <a:r>
              <a:t>      "name": "Андрей Чибис",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"yevgeny-royzman",</a:t>
            </a:r>
          </a:p>
          <a:p xmlns:a="http://schemas.openxmlformats.org/drawingml/2006/main">
            <a:r>
              <a:t>      "name": "Евгений Ройзман",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"vadim-shumkov",</a:t>
            </a:r>
          </a:p>
          <a:p xmlns:a="http://schemas.openxmlformats.org/drawingml/2006/main">
            <a:r>
              <a:t>      "name": "Вадим Шумков",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"alexey-navalny",</a:t>
            </a:r>
          </a:p>
          <a:p xmlns:a="http://schemas.openxmlformats.org/drawingml/2006/main">
            <a:r>
              <a:t>      "name": "Алексей Навальный",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"ilya-yashin",</a:t>
            </a:r>
          </a:p>
          <a:p xmlns:a="http://schemas.openxmlformats.org/drawingml/2006/main">
            <a:r>
              <a:t>      "name": "Илья Яшин",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"vladimir-kara-murza",</a:t>
            </a:r>
          </a:p>
          <a:p xmlns:a="http://schemas.openxmlformats.org/drawingml/2006/main">
            <a:r>
              <a:t>      "name": "Владимир Кара-Мурза",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"grigory-yavlinsky",</a:t>
            </a:r>
          </a:p>
          <a:p xmlns:a="http://schemas.openxmlformats.org/drawingml/2006/main">
            <a:r>
              <a:t>      "name": "Григорий Явлинский",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"lev-shlosberg",</a:t>
            </a:r>
          </a:p>
          <a:p xmlns:a="http://schemas.openxmlformats.org/drawingml/2006/main">
            <a:r>
              <a:t>      "name": "Лев Шлосберг",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"boris-vishnevsky",</a:t>
            </a:r>
          </a:p>
          <a:p xmlns:a="http://schemas.openxmlformats.org/drawingml/2006/main">
            <a:r>
              <a:t>      "name": "Борис Вишневский",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"gennady-gudkov",</a:t>
            </a:r>
          </a:p>
          <a:p xmlns:a="http://schemas.openxmlformats.org/drawingml/2006/main">
            <a:r>
              <a:t>      "name": "Геннадий Гудков",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"garry-kasparov",</a:t>
            </a:r>
          </a:p>
          <a:p xmlns:a="http://schemas.openxmlformats.org/drawingml/2006/main">
            <a:r>
              <a:t>      "name": "Гарри Каспаров",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"mikhail-khodorkovsky",</a:t>
            </a:r>
          </a:p>
          <a:p xmlns:a="http://schemas.openxmlformats.org/drawingml/2006/main">
            <a:r>
              <a:t>      "name": "Михаил Ходорковский",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"vladimir-milov",</a:t>
            </a:r>
          </a:p>
          <a:p xmlns:a="http://schemas.openxmlformats.org/drawingml/2006/main">
            <a:r>
              <a:t>      "name": "Владимир Милов",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"lyubov-sobol",</a:t>
            </a:r>
          </a:p>
          <a:p xmlns:a="http://schemas.openxmlformats.org/drawingml/2006/main">
            <a:r>
              <a:t>      "name": "Любовь Соболь",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"yekaterina-duntsova",</a:t>
            </a:r>
          </a:p>
          <a:p xmlns:a="http://schemas.openxmlformats.org/drawingml/2006/main">
            <a:r>
              <a:t>      "name": "Екатерина Дунцова",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"pavel-grudinin",</a:t>
            </a:r>
          </a:p>
          <a:p xmlns:a="http://schemas.openxmlformats.org/drawingml/2006/main">
            <a:r>
              <a:t>      "name": "Павел Грудинин",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"nikolay-platoshkin",</a:t>
            </a:r>
          </a:p>
          <a:p xmlns:a="http://schemas.openxmlformats.org/drawingml/2006/main">
            <a:r>
              <a:t>      "name": "Николай Платошкин",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"C3",</a:t>
            </a:r>
          </a:p>
          <a:p xmlns:a="http://schemas.openxmlformats.org/drawingml/2006/main">
            <a:r>
              <a:t>      "changed": true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"ilya-ponomarev",</a:t>
            </a:r>
          </a:p>
          <a:p xmlns:a="http://schemas.openxmlformats.org/drawingml/2006/main">
            <a:r>
              <a:t>      "name": "Илья Пономарёв",</a:t>
            </a:r>
          </a:p>
          <a:p xmlns:a="http://schemas.openxmlformats.org/drawingml/2006/main">
            <a:r>
              <a:t>      "from_cluster": "C3",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"C3",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"leonid-gozman",</a:t>
            </a:r>
          </a:p>
          <a:p xmlns:a="http://schemas.openxmlformats.org/drawingml/2006/main">
            <a:r>
              <a:t>      "name": "Леонид Гозман",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"sergey-udaltsov",</a:t>
            </a:r>
          </a:p>
          <a:p xmlns:a="http://schemas.openxmlformats.org/drawingml/2006/main">
            <a:r>
              <a:t>      "name": "Сергей Удальцов",</a:t>
            </a:r>
          </a:p>
          <a:p xmlns:a="http://schemas.openxmlformats.org/drawingml/2006/main">
            <a:r>
              <a:t>      "from_cluster": "C3",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"C3",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"eduard-limonov",</a:t>
            </a:r>
          </a:p>
          <a:p xmlns:a="http://schemas.openxmlformats.org/drawingml/2006/main">
            <a:r>
              <a:t>      "name": "Эдуард Лимонов",</a:t>
            </a:r>
          </a:p>
          <a:p xmlns:a="http://schemas.openxmlformats.org/drawingml/2006/main">
            <a:r>
              <a:t>      "from_cluster": "C3",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"C3",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"igor-strelkov",</a:t>
            </a:r>
          </a:p>
          <a:p xmlns:a="http://schemas.openxmlformats.org/drawingml/2006/main">
            <a:r>
              <a:t>      "name": "Игорь Стрелков (Гиркин)",</a:t>
            </a:r>
          </a:p>
          <a:p xmlns:a="http://schemas.openxmlformats.org/drawingml/2006/main">
            <a:r>
              <a:t>      "from_cluster": "C3",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"C3",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"yevgeny-prigozhin",</a:t>
            </a:r>
          </a:p>
          <a:p xmlns:a="http://schemas.openxmlformats.org/drawingml/2006/main">
            <a:r>
              <a:t>      "name": "Евгений Пригожин",</a:t>
            </a:r>
          </a:p>
          <a:p xmlns:a="http://schemas.openxmlformats.org/drawingml/2006/main">
            <a:r>
              <a:t>      "from_cluster": "C3",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"C3",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"oksana-dmitriyeva",</a:t>
            </a:r>
          </a:p>
          <a:p xmlns:a="http://schemas.openxmlformats.org/drawingml/2006/main">
            <a:r>
              <a:t>      "name": "Оксана Дмитриева",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true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"scope": "Same objects and fixed k; maximum-overlap label permutation only, no model refit or forced memberships",</a:t>
            </a:r>
          </a:p>
          <a:p xmlns:a="http://schemas.openxmlformats.org/drawingml/2006/main">
            <a:r>
              <a:t>  "artifact_files": {</a:t>
            </a:r>
          </a:p>
          <a:p xmlns:a="http://schemas.openxmlformats.org/drawingml/2006/main">
            <a:r>
              <a:t>    "all_objects_csv": "models/clusters_q2_q4_k3_all_objects.csv",</a:t>
            </a:r>
          </a:p>
          <a:p xmlns:a="http://schemas.openxmlformats.org/drawingml/2006/main">
            <a:r>
              <a:t>    "changed_objects_csv": "models/clusters_q2_q4_k3_changed_objects.csv",</a:t>
            </a:r>
          </a:p>
          <a:p xmlns:a="http://schemas.openxmlformats.org/drawingml/2006/main">
            <a:r>
              <a:t>    "contingency_raw_csv": "models/clusters_q2_q4_k3_contingency_raw.csv",</a:t>
            </a:r>
          </a:p>
          <a:p xmlns:a="http://schemas.openxmlformats.org/drawingml/2006/main">
            <a:r>
              <a:t>    "contingency_aligned_csv": "models/clusters_q2_q4_k3_contingency_aligned.csv"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При контроле k=3 дополнительно к пяти переходам q=3 Слуцкий перемещается в мобилизационно-идеологическую группу, а Нечаев, Даванков, Левченко и Дмитриева — в расширенную электоральную альтернативу. Последнее не делает всех четырёх антивоенными или проинтеграционными в одинаковой степени: близость учитывает четыре координаты, особенно распределение полномочий и институциональный стиль. При k=4 возникают группы 9/10/31/13. По сравнению с q=3, k=4 персональная антивоенная десятка сохраняется полностью; исходная конфронтационная восьмёрка пополняется Путиным, а институциональная электоральная десятка — Слуцким, Нечаевым и Даванковым. После согласования номеров группы сохраняют 59 из 63 объектов.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"q": 3,</a:t>
            </a:r>
          </a:p>
          <a:p xmlns:a="http://schemas.openxmlformats.org/drawingml/2006/main">
            <a:r>
              <a:t>  "k": 4,</a:t>
            </a:r>
          </a:p>
          <a:p xmlns:a="http://schemas.openxmlformats.org/drawingml/2006/main">
            <a:r>
              <a:t>  "path": "models/q3/selected_k4",</a:t>
            </a:r>
          </a:p>
          <a:p xmlns:a="http://schemas.openxmlformats.org/drawingml/2006/main">
            <a:r>
              <a:t>  "selection_reason": "Предпочтительно k=4: оно разделяет институциональную электоральную конкуренцию и персональную антивоенную стратегию, которые различаются по F2 и F3, сохраняя отдельную конфронтационную мобилизацию. Размеры групп 10/35/8/10 позволяют описывать сочетания свойств без сведения новых групп к единичным случаям. Силуэт 0,428 выше, чем при k=3 (0,391); средний условный ARI 0,904 против 0,805, медианный ARI и минимальный по группам медианный Jaccard равны 1,000. Это характеристики устойчивости при фиксированных факторных координатах, не независимая проверка исходных оценок.\n\nk=2 чрезмерно укрупняет стратегии; k=3 смешивает институциональные идеологические образы с конфронтационными. При k=5 и k=6 возникают содержательно обсуждаемые подтипы управленческой и программной аргументации, но для общего обзора они требуют большей детализации. Решения k=7…10 дополнительно выделяют малые группы по 2–3 объекта; часть из них слабо воспроизводится. k=4 выбрано как описательная типология, а не доказанные естественные классы.",</a:t>
            </a:r>
          </a:p>
          <a:p xmlns:a="http://schemas.openxmlformats.org/drawingml/2006/main">
            <a:r>
              <a:t>  "selection_authority": "assistant_review_of_all_computed_candidate_profiles",</a:t>
            </a:r>
          </a:p>
          <a:p xmlns:a="http://schemas.openxmlformats.org/drawingml/2006/main">
            <a:r>
              <a:t>  "clusters":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"C1",</a:t>
            </a:r>
          </a:p>
          <a:p xmlns:a="http://schemas.openxmlformats.org/drawingml/2006/main">
            <a:r>
              <a:t>      "name": "Институциональная электоральная конкуренция",</a:t>
            </a:r>
          </a:p>
          <a:p xmlns:a="http://schemas.openxmlformats.org/drawingml/2006/main">
            <a:r>
              <a:t>      "count": 10,</a:t>
            </a:r>
          </a:p>
          <a:p xmlns:a="http://schemas.openxmlformats.org/drawingml/2006/main">
            <a:r>
              <a:t>      "members":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"gennady-zyuganov",</a:t>
            </a:r>
          </a:p>
          <a:p xmlns:a="http://schemas.openxmlformats.org/drawingml/2006/main">
            <a:r>
              <a:t>          "name": "Геннадий Зюганов"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"sergey-mironov",</a:t>
            </a:r>
          </a:p>
          <a:p xmlns:a="http://schemas.openxmlformats.org/drawingml/2006/main">
            <a:r>
              <a:t>          "name": "Сергей Миронов"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"sergey-levchenko",</a:t>
            </a:r>
          </a:p>
          <a:p xmlns:a="http://schemas.openxmlformats.org/drawingml/2006/main">
            <a:r>
              <a:t>          "name": "Сергей Левченко"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"grigory-yavlinsky",</a:t>
            </a:r>
          </a:p>
          <a:p xmlns:a="http://schemas.openxmlformats.org/drawingml/2006/main">
            <a:r>
              <a:t>          "name": "Григорий Явлинский"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"lev-shlosberg",</a:t>
            </a:r>
          </a:p>
          <a:p xmlns:a="http://schemas.openxmlformats.org/drawingml/2006/main">
            <a:r>
              <a:t>          "name": "Лев Шлосберг"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"boris-vishnevsky",</a:t>
            </a:r>
          </a:p>
          <a:p xmlns:a="http://schemas.openxmlformats.org/drawingml/2006/main">
            <a:r>
              <a:t>          "name": "Борис Вишневский"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"yekaterina-duntsova",</a:t>
            </a:r>
          </a:p>
          <a:p xmlns:a="http://schemas.openxmlformats.org/drawingml/2006/main">
            <a:r>
              <a:t>          "name": "Екатерина Дунцова"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"pavel-grudinin",</a:t>
            </a:r>
          </a:p>
          <a:p xmlns:a="http://schemas.openxmlformats.org/drawingml/2006/main">
            <a:r>
              <a:t>          "name": "Павел Грудинин"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"nikolay-platoshkin",</a:t>
            </a:r>
          </a:p>
          <a:p xmlns:a="http://schemas.openxmlformats.org/drawingml/2006/main">
            <a:r>
              <a:t>          "name": "Николай Платошкин"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"oksana-dmitriyeva",</a:t>
            </a:r>
          </a:p>
          <a:p xmlns:a="http://schemas.openxmlformats.org/drawingml/2006/main">
            <a:r>
              <a:t>          "name": "Оксана Дмитриева"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"representatives":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"boris-vishnevsky",</a:t>
            </a:r>
          </a:p>
          <a:p xmlns:a="http://schemas.openxmlformats.org/drawingml/2006/main">
            <a:r>
              <a:t>          "name": "Борис Вишневский",</a:t>
            </a:r>
          </a:p>
          <a:p xmlns:a="http://schemas.openxmlformats.org/drawingml/2006/main">
            <a:r>
              <a:t>          "distance": 0.7673342070737712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"sergey-levchenko",</a:t>
            </a:r>
          </a:p>
          <a:p xmlns:a="http://schemas.openxmlformats.org/drawingml/2006/main">
            <a:r>
              <a:t>          "name": "Сергей Левченко",</a:t>
            </a:r>
          </a:p>
          <a:p xmlns:a="http://schemas.openxmlformats.org/drawingml/2006/main">
            <a:r>
              <a:t>          "distance": 0.8159529935097943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"oksana-dmitriyeva",</a:t>
            </a:r>
          </a:p>
          <a:p xmlns:a="http://schemas.openxmlformats.org/drawingml/2006/main">
            <a:r>
              <a:t>          "name": "Оксана Дмитриева",</a:t>
            </a:r>
          </a:p>
          <a:p xmlns:a="http://schemas.openxmlformats.org/drawingml/2006/main">
            <a:r>
              <a:t>          "distance": 0.863889974204251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"pavel-grudinin",</a:t>
            </a:r>
          </a:p>
          <a:p xmlns:a="http://schemas.openxmlformats.org/drawingml/2006/main">
            <a:r>
              <a:t>          "name": "Павел Грудинин",</a:t>
            </a:r>
          </a:p>
          <a:p xmlns:a="http://schemas.openxmlformats.org/drawingml/2006/main">
            <a:r>
              <a:t>          "distance": 0.9257147188924402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"yekaterina-duntsova",</a:t>
            </a:r>
          </a:p>
          <a:p xmlns:a="http://schemas.openxmlformats.org/drawingml/2006/main">
            <a:r>
              <a:t>          "name": "Екатерина Дунцова",</a:t>
            </a:r>
          </a:p>
          <a:p xmlns:a="http://schemas.openxmlformats.org/drawingml/2006/main">
            <a:r>
              <a:t>          "distance": 0.957742320423702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"factor_center": {</a:t>
            </a:r>
          </a:p>
          <a:p xmlns:a="http://schemas.openxmlformats.org/drawingml/2006/main">
            <a:r>
              <a:t>        "F1": 0.7064469033810168,</a:t>
            </a:r>
          </a:p>
          <a:p xmlns:a="http://schemas.openxmlformats.org/drawingml/2006/main">
            <a:r>
              <a:t>        "F2": 0.8121613520479224,</a:t>
            </a:r>
          </a:p>
          <a:p xmlns:a="http://schemas.openxmlformats.org/drawingml/2006/main">
            <a:r>
              <a:t>        "F3": 1.1851683696170026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"distinguishing_scales":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"conflictuality",</a:t>
            </a:r>
          </a:p>
          <a:p xmlns:a="http://schemas.openxmlformats.org/drawingml/2006/main">
            <a:r>
              <a:t>          "name": "Конфронтация — компромисс",</a:t>
            </a:r>
          </a:p>
          <a:p xmlns:a="http://schemas.openxmlformats.org/drawingml/2006/main">
            <a:r>
              <a:t>          "positive": "Конфронтационная полемика и жёсткое противопоставление оппонентам",</a:t>
            </a:r>
          </a:p>
          <a:p xmlns:a="http://schemas.openxmlformats.org/drawingml/2006/main">
            <a:r>
              <a:t>          "negative": "Компромиссная и согласительная риторика",</a:t>
            </a:r>
          </a:p>
          <a:p xmlns:a="http://schemas.openxmlformats.org/drawingml/2006/main">
            <a:r>
              <a:t>          "difference": -0.965788456443834,</a:t>
            </a:r>
          </a:p>
          <a:p xmlns:a="http://schemas.openxmlformats.org/drawingml/2006/main">
            <a:r>
              <a:t>          "group_mean": -1,</a:t>
            </a:r>
          </a:p>
          <a:p xmlns:a="http://schemas.openxmlformats.org/drawingml/2006/main">
            <a:r>
              <a:t>          "overall_mean": 0.9180327868852459,</a:t>
            </a:r>
          </a:p>
          <a:p xmlns:a="http://schemas.openxmlformats.org/drawingml/2006/main">
            <a:r>
              <a:t>          "direction": "negative",</a:t>
            </a:r>
          </a:p>
          <a:p xmlns:a="http://schemas.openxmlformats.org/drawingml/2006/main">
            <a:r>
              <a:t>          "observed_group_count": 10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"electoral-legitimacy",</a:t>
            </a:r>
          </a:p>
          <a:p xmlns:a="http://schemas.openxmlformats.org/drawingml/2006/main">
            <a:r>
              <a:t>          "name": "Электоральный мандат — административный мандат",</a:t>
            </a:r>
          </a:p>
          <a:p xmlns:a="http://schemas.openxmlformats.org/drawingml/2006/main">
            <a:r>
              <a:t>          "positive": "Конкурентные выборы и воля избирателей как источник полномочий",</a:t>
            </a:r>
          </a:p>
          <a:p xmlns:a="http://schemas.openxmlformats.org/drawingml/2006/main">
            <a:r>
              <a:t>          "negative": "Назначение, государственная иерархия и управленческая преемственность как источник полномочий",</a:t>
            </a:r>
          </a:p>
          <a:p xmlns:a="http://schemas.openxmlformats.org/drawingml/2006/main">
            <a:r>
              <a:t>          "difference": 0.8948226018468214,</a:t>
            </a:r>
          </a:p>
          <a:p xmlns:a="http://schemas.openxmlformats.org/drawingml/2006/main">
            <a:r>
              <a:t>          "group_mean": 2.625,</a:t>
            </a:r>
          </a:p>
          <a:p xmlns:a="http://schemas.openxmlformats.org/drawingml/2006/main">
            <a:r>
              <a:t>          "overall_mean": 0.17777777777777778,</a:t>
            </a:r>
          </a:p>
          <a:p xmlns:a="http://schemas.openxmlformats.org/drawingml/2006/main">
            <a:r>
              <a:t>          "direction": "positive",</a:t>
            </a:r>
          </a:p>
          <a:p xmlns:a="http://schemas.openxmlformats.org/drawingml/2006/main">
            <a:r>
              <a:t>          "observed_group_count": 8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"federal-loyalty",</a:t>
            </a:r>
          </a:p>
          <a:p xmlns:a="http://schemas.openxmlformats.org/drawingml/2006/main">
            <a:r>
              <a:t>          "name": "Централизация — децентрализация",</a:t>
            </a:r>
          </a:p>
          <a:p xmlns:a="http://schemas.openxmlformats.org/drawingml/2006/main">
            <a:r>
              <a:t>          "positive": "Единая вертикаль и концентрация полномочий в центре",</a:t>
            </a:r>
          </a:p>
          <a:p xmlns:a="http://schemas.openxmlformats.org/drawingml/2006/main">
            <a:r>
              <a:t>          "negative": "Региональная и муниципальная автономия, распределение полномочий",</a:t>
            </a:r>
          </a:p>
          <a:p xmlns:a="http://schemas.openxmlformats.org/drawingml/2006/main">
            <a:r>
              <a:t>          "difference": -0.8095027855574851,</a:t>
            </a:r>
          </a:p>
          <a:p xmlns:a="http://schemas.openxmlformats.org/drawingml/2006/main">
            <a:r>
              <a:t>          "group_mean": -0.875,</a:t>
            </a:r>
          </a:p>
          <a:p xmlns:a="http://schemas.openxmlformats.org/drawingml/2006/main">
            <a:r>
              <a:t>          "overall_mean": 1.1666666666666667,</a:t>
            </a:r>
          </a:p>
          <a:p xmlns:a="http://schemas.openxmlformats.org/drawingml/2006/main">
            <a:r>
              <a:t>          "direction": "negative",</a:t>
            </a:r>
          </a:p>
          <a:p xmlns:a="http://schemas.openxmlformats.org/drawingml/2006/main">
            <a:r>
              <a:t>          "observed_group_count": 8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"oppositionality",</a:t>
            </a:r>
          </a:p>
          <a:p xmlns:a="http://schemas.openxmlformats.org/drawingml/2006/main">
            <a:r>
              <a:t>          "name": "Критика действующей власти — поддержка её курса",</a:t>
            </a:r>
          </a:p>
          <a:p xmlns:a="http://schemas.openxmlformats.org/drawingml/2006/main">
            <a:r>
              <a:t>          "positive": "Публичная критика действующей федеральной власти",</a:t>
            </a:r>
          </a:p>
          <a:p xmlns:a="http://schemas.openxmlformats.org/drawingml/2006/main">
            <a:r>
              <a:t>          "negative": "Публичная поддержка курса действующей федеральной власти",</a:t>
            </a:r>
          </a:p>
          <a:p xmlns:a="http://schemas.openxmlformats.org/drawingml/2006/main">
            <a:r>
              <a:t>          "difference": 0.7313862565217025,</a:t>
            </a:r>
          </a:p>
          <a:p xmlns:a="http://schemas.openxmlformats.org/drawingml/2006/main">
            <a:r>
              <a:t>          "group_mean": 2.3,</a:t>
            </a:r>
          </a:p>
          <a:p xmlns:a="http://schemas.openxmlformats.org/drawingml/2006/main">
            <a:r>
              <a:t>          "overall_mean": -0.41935483870967744,</a:t>
            </a:r>
          </a:p>
          <a:p xmlns:a="http://schemas.openxmlformats.org/drawingml/2006/main">
            <a:r>
              <a:t>          "direction": "positive",</a:t>
            </a:r>
          </a:p>
          <a:p xmlns:a="http://schemas.openxmlformats.org/drawingml/2006/main">
            <a:r>
              <a:t>          "observed_group_count": 10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"international-activity",</a:t>
            </a:r>
          </a:p>
          <a:p xmlns:a="http://schemas.openxmlformats.org/drawingml/2006/main">
            <a:r>
              <a:t>          "name": "Внешняя повестка — внутренняя повестка",</a:t>
            </a:r>
          </a:p>
          <a:p xmlns:a="http://schemas.openxmlformats.org/drawingml/2006/main">
            <a:r>
              <a:t>          "positive": "Приоритет международной и внешнеполитической повестки",</a:t>
            </a:r>
          </a:p>
          <a:p xmlns:a="http://schemas.openxmlformats.org/drawingml/2006/main">
            <a:r>
              <a:t>          "negative": "Приоритет внутренних общественных и хозяйственных задач",</a:t>
            </a:r>
          </a:p>
          <a:p xmlns:a="http://schemas.openxmlformats.org/drawingml/2006/main">
            <a:r>
              <a:t>          "difference": -0.7179030529815806,</a:t>
            </a:r>
          </a:p>
          <a:p xmlns:a="http://schemas.openxmlformats.org/drawingml/2006/main">
            <a:r>
              <a:t>          "group_mean": -2.125,</a:t>
            </a:r>
          </a:p>
          <a:p xmlns:a="http://schemas.openxmlformats.org/drawingml/2006/main">
            <a:r>
              <a:t>          "overall_mean": -0.36666666666666664,</a:t>
            </a:r>
          </a:p>
          <a:p xmlns:a="http://schemas.openxmlformats.org/drawingml/2006/main">
            <a:r>
              <a:t>          "direction": "negative",</a:t>
            </a:r>
          </a:p>
          <a:p xmlns:a="http://schemas.openxmlformats.org/drawingml/2006/main">
            <a:r>
              <a:t>          "observed_group_count": 8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"antiwar-rhetoric",</a:t>
            </a:r>
          </a:p>
          <a:p xmlns:a="http://schemas.openxmlformats.org/drawingml/2006/main">
            <a:r>
              <a:t>          "name": "Прекращение военных действий — их продолжение",</a:t>
            </a:r>
          </a:p>
          <a:p xmlns:a="http://schemas.openxmlformats.org/drawingml/2006/main">
            <a:r>
              <a:t>          "positive": "Публичные призывы прекратить военные действия и перейти к миру",</a:t>
            </a:r>
          </a:p>
          <a:p xmlns:a="http://schemas.openxmlformats.org/drawingml/2006/main">
            <a:r>
              <a:t>          "negative": "Публичная поддержка продолжения военных действий ради заявленных целей",</a:t>
            </a:r>
          </a:p>
          <a:p xmlns:a="http://schemas.openxmlformats.org/drawingml/2006/main">
            <a:r>
              <a:t>          "difference": 0.7073113799864852,</a:t>
            </a:r>
          </a:p>
          <a:p xmlns:a="http://schemas.openxmlformats.org/drawingml/2006/main">
            <a:r>
              <a:t>          "group_mean": 1.8571428571428572,</a:t>
            </a:r>
          </a:p>
          <a:p xmlns:a="http://schemas.openxmlformats.org/drawingml/2006/main">
            <a:r>
              <a:t>          "overall_mean": -0.4318181818181818,</a:t>
            </a:r>
          </a:p>
          <a:p xmlns:a="http://schemas.openxmlformats.org/drawingml/2006/main">
            <a:r>
              <a:t>          "direction": "positive",</a:t>
            </a:r>
          </a:p>
          <a:p xmlns:a="http://schemas.openxmlformats.org/drawingml/2006/main">
            <a:r>
              <a:t>          "observed_group_count": 7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"interpretation": "Группа объединяет парламентскую и правовую стратегию с электоральным мандатом, критикой курса и менее конфронтационной риторикой. Её центр: F3=+1,19, F2=+0,81, F1=+0,71. Представители — Борис Вишневский, Сергей Левченко, Оксана Дмитриева; также входят Зюганов, Миронов, Явлинский, Шлосберг, Дунцова, Грудинин и Платошкин. По отношению к войне и внешней политике участники расходятся. Общность описывает способ конкуренции и аргументации, а не единую идеологию.",</a:t>
            </a:r>
          </a:p>
          <a:p xmlns:a="http://schemas.openxmlformats.org/drawingml/2006/main">
            <a:r>
              <a:t>      "boundary_objects": [],</a:t>
            </a:r>
          </a:p>
          <a:p xmlns:a="http://schemas.openxmlformats.org/drawingml/2006/main">
            <a:r>
              <a:t>      "stability": {</a:t>
            </a:r>
          </a:p>
          <a:p xmlns:a="http://schemas.openxmlformats.org/drawingml/2006/main">
            <a:r>
              <a:t>        "median_jaccard": 1,</a:t>
            </a:r>
          </a:p>
          <a:p xmlns:a="http://schemas.openxmlformats.org/drawingml/2006/main">
            <a:r>
              <a:t>        "conditional_mean_ari": 0.9042748287361841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"numeric_label": "Группа 1",</a:t>
            </a:r>
          </a:p>
          <a:p xmlns:a="http://schemas.openxmlformats.org/drawingml/2006/main">
            <a:r>
              <a:t>      "label": "Институциональная электоральная конкуренция"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"C2",</a:t>
            </a:r>
          </a:p>
          <a:p xmlns:a="http://schemas.openxmlformats.org/drawingml/2006/main">
            <a:r>
              <a:t>      "name": "Институциональная поддержка курса и управленческое представительство",</a:t>
            </a:r>
          </a:p>
          <a:p xmlns:a="http://schemas.openxmlformats.org/drawingml/2006/main">
            <a:r>
              <a:t>      "count": 35,</a:t>
            </a:r>
          </a:p>
          <a:p xmlns:a="http://schemas.openxmlformats.org/drawingml/2006/main">
            <a:r>
              <a:t>      "members":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"vladimir-putin",</a:t>
            </a:r>
          </a:p>
          <a:p xmlns:a="http://schemas.openxmlformats.org/drawingml/2006/main">
            <a:r>
              <a:t>          "name": "Владимир Путин"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"dmitry-medvedev",</a:t>
            </a:r>
          </a:p>
          <a:p xmlns:a="http://schemas.openxmlformats.org/drawingml/2006/main">
            <a:r>
              <a:t>          "name": "Дмитрий Медведев"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"mikhail-mishustin",</a:t>
            </a:r>
          </a:p>
          <a:p xmlns:a="http://schemas.openxmlformats.org/drawingml/2006/main">
            <a:r>
              <a:t>          "name": "Михаил Мишустин"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"sergey-lavrov",</a:t>
            </a:r>
          </a:p>
          <a:p xmlns:a="http://schemas.openxmlformats.org/drawingml/2006/main">
            <a:r>
              <a:t>          "name": "Сергей Лавров"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"sergey-shoigu",</a:t>
            </a:r>
          </a:p>
          <a:p xmlns:a="http://schemas.openxmlformats.org/drawingml/2006/main">
            <a:r>
              <a:t>          "name": "Сергей Шойгу"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"andrey-belousov",</a:t>
            </a:r>
          </a:p>
          <a:p xmlns:a="http://schemas.openxmlformats.org/drawingml/2006/main">
            <a:r>
              <a:t>          "name": "Андрей Белоусов"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"nikolay-patrushev",</a:t>
            </a:r>
          </a:p>
          <a:p xmlns:a="http://schemas.openxmlformats.org/drawingml/2006/main">
            <a:r>
              <a:t>          "name": "Николай Патрушев"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"alexander-bortnikov",</a:t>
            </a:r>
          </a:p>
          <a:p xmlns:a="http://schemas.openxmlformats.org/drawingml/2006/main">
            <a:r>
              <a:t>          "name": "Александр Бортников"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"sergey-kiriyenko",</a:t>
            </a:r>
          </a:p>
          <a:p xmlns:a="http://schemas.openxmlformats.org/drawingml/2006/main">
            <a:r>
              <a:t>          "name": "Сергей Кириенко"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"vyacheslav-volodin",</a:t>
            </a:r>
          </a:p>
          <a:p xmlns:a="http://schemas.openxmlformats.org/drawingml/2006/main">
            <a:r>
              <a:t>          "name": "Вячеслав Володин"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"valentina-matviyenko",</a:t>
            </a:r>
          </a:p>
          <a:p xmlns:a="http://schemas.openxmlformats.org/drawingml/2006/main">
            <a:r>
              <a:t>          "name": "Валентина Матвиенко"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"dmitry-peskov",</a:t>
            </a:r>
          </a:p>
          <a:p xmlns:a="http://schemas.openxmlformats.org/drawingml/2006/main">
            <a:r>
              <a:t>          "name": "Дмитрий Песков"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"elvira-nabiullina",</a:t>
            </a:r>
          </a:p>
          <a:p xmlns:a="http://schemas.openxmlformats.org/drawingml/2006/main">
            <a:r>
              <a:t>          "name": "Эльвира Набиуллина"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"anton-siluanov",</a:t>
            </a:r>
          </a:p>
          <a:p xmlns:a="http://schemas.openxmlformats.org/drawingml/2006/main">
            <a:r>
              <a:t>          "name": "Антон Силуанов"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"tatyana-golikova",</a:t>
            </a:r>
          </a:p>
          <a:p xmlns:a="http://schemas.openxmlformats.org/drawingml/2006/main">
            <a:r>
              <a:t>          "name": "Татьяна Голикова"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"leonid-slutsky",</a:t>
            </a:r>
          </a:p>
          <a:p xmlns:a="http://schemas.openxmlformats.org/drawingml/2006/main">
            <a:r>
              <a:t>          "name": "Леонид Слуцкий"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"alexey-nechayev",</a:t>
            </a:r>
          </a:p>
          <a:p xmlns:a="http://schemas.openxmlformats.org/drawingml/2006/main">
            <a:r>
              <a:t>          "name": "Алексей Нечаев"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"vladislav-davankov",</a:t>
            </a:r>
          </a:p>
          <a:p xmlns:a="http://schemas.openxmlformats.org/drawingml/2006/main">
            <a:r>
              <a:t>          "name": "Владислав Даванков"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"natalya-poklonskaya",</a:t>
            </a:r>
          </a:p>
          <a:p xmlns:a="http://schemas.openxmlformats.org/drawingml/2006/main">
            <a:r>
              <a:t>          "name": "Наталья Поклонская"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"elena-mizulina",</a:t>
            </a:r>
          </a:p>
          <a:p xmlns:a="http://schemas.openxmlformats.org/drawingml/2006/main">
            <a:r>
              <a:t>          "name": "Елена Мизулина"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"vitaly-milonov",</a:t>
            </a:r>
          </a:p>
          <a:p xmlns:a="http://schemas.openxmlformats.org/drawingml/2006/main">
            <a:r>
              <a:t>          "name": "Виталий Милонов"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"nina-ostanina",</a:t>
            </a:r>
          </a:p>
          <a:p xmlns:a="http://schemas.openxmlformats.org/drawingml/2006/main">
            <a:r>
              <a:t>          "name": "Нина Останина"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"valentina-tereshkova",</a:t>
            </a:r>
          </a:p>
          <a:p xmlns:a="http://schemas.openxmlformats.org/drawingml/2006/main">
            <a:r>
              <a:t>          "name": "Валентина Терешкова"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"alexander-khinshtein",</a:t>
            </a:r>
          </a:p>
          <a:p xmlns:a="http://schemas.openxmlformats.org/drawingml/2006/main">
            <a:r>
              <a:t>          "name": "Александр Хинштейн"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"alexey-pushkov",</a:t>
            </a:r>
          </a:p>
          <a:p xmlns:a="http://schemas.openxmlformats.org/drawingml/2006/main">
            <a:r>
              <a:t>          "name": "Алексей Пушков"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"konstantin-kosachev",</a:t>
            </a:r>
          </a:p>
          <a:p xmlns:a="http://schemas.openxmlformats.org/drawingml/2006/main">
            <a:r>
              <a:t>          "name": "Константин Косачёв"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"sergey-sobyanin",</a:t>
            </a:r>
          </a:p>
          <a:p xmlns:a="http://schemas.openxmlformats.org/drawingml/2006/main">
            <a:r>
              <a:t>          "name": "Сергей Собянин"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"alexander-beglov",</a:t>
            </a:r>
          </a:p>
          <a:p xmlns:a="http://schemas.openxmlformats.org/drawingml/2006/main">
            <a:r>
              <a:t>          "name": "Александр Беглов"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"rustam-minnikhanov",</a:t>
            </a:r>
          </a:p>
          <a:p xmlns:a="http://schemas.openxmlformats.org/drawingml/2006/main">
            <a:r>
              <a:t>          "name": "Рустам Минниханов"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"mikhail-degtyarev",</a:t>
            </a:r>
          </a:p>
          <a:p xmlns:a="http://schemas.openxmlformats.org/drawingml/2006/main">
            <a:r>
              <a:t>          "name": "Михаил Дегтярёв"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"sergey-aksyonov",</a:t>
            </a:r>
          </a:p>
          <a:p xmlns:a="http://schemas.openxmlformats.org/drawingml/2006/main">
            <a:r>
              <a:t>          "name": "Сергей Аксёнов"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"mikhail-razvozhayev",</a:t>
            </a:r>
          </a:p>
          <a:p xmlns:a="http://schemas.openxmlformats.org/drawingml/2006/main">
            <a:r>
              <a:t>          "name": "Михаил Развожаев"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"vyacheslav-gladkov",</a:t>
            </a:r>
          </a:p>
          <a:p xmlns:a="http://schemas.openxmlformats.org/drawingml/2006/main">
            <a:r>
              <a:t>          "name": "Вячеслав Гладков"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"andrey-chibis",</a:t>
            </a:r>
          </a:p>
          <a:p xmlns:a="http://schemas.openxmlformats.org/drawingml/2006/main">
            <a:r>
              <a:t>          "name": "Андрей Чибис"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"vadim-shumkov",</a:t>
            </a:r>
          </a:p>
          <a:p xmlns:a="http://schemas.openxmlformats.org/drawingml/2006/main">
            <a:r>
              <a:t>          "name": "Вадим Шумков"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"representatives":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"mikhail-degtyarev",</a:t>
            </a:r>
          </a:p>
          <a:p xmlns:a="http://schemas.openxmlformats.org/drawingml/2006/main">
            <a:r>
              <a:t>          "name": "Михаил Дегтярёв",</a:t>
            </a:r>
          </a:p>
          <a:p xmlns:a="http://schemas.openxmlformats.org/drawingml/2006/main">
            <a:r>
              <a:t>          "distance": 0.1739341904769658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"sergey-aksyonov",</a:t>
            </a:r>
          </a:p>
          <a:p xmlns:a="http://schemas.openxmlformats.org/drawingml/2006/main">
            <a:r>
              <a:t>          "name": "Сергей Аксёнов",</a:t>
            </a:r>
          </a:p>
          <a:p xmlns:a="http://schemas.openxmlformats.org/drawingml/2006/main">
            <a:r>
              <a:t>          "distance": 0.2018327406068288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"konstantin-kosachev",</a:t>
            </a:r>
          </a:p>
          <a:p xmlns:a="http://schemas.openxmlformats.org/drawingml/2006/main">
            <a:r>
              <a:t>          "name": "Константин Косачёв",</a:t>
            </a:r>
          </a:p>
          <a:p xmlns:a="http://schemas.openxmlformats.org/drawingml/2006/main">
            <a:r>
              <a:t>          "distance": 0.39092029013726776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"sergey-kiriyenko",</a:t>
            </a:r>
          </a:p>
          <a:p xmlns:a="http://schemas.openxmlformats.org/drawingml/2006/main">
            <a:r>
              <a:t>          "name": "Сергей Кириенко",</a:t>
            </a:r>
          </a:p>
          <a:p xmlns:a="http://schemas.openxmlformats.org/drawingml/2006/main">
            <a:r>
              <a:t>          "distance": 0.40592883120502976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"anton-siluanov",</a:t>
            </a:r>
          </a:p>
          <a:p xmlns:a="http://schemas.openxmlformats.org/drawingml/2006/main">
            <a:r>
              <a:t>          "name": "Антон Силуанов",</a:t>
            </a:r>
          </a:p>
          <a:p xmlns:a="http://schemas.openxmlformats.org/drawingml/2006/main">
            <a:r>
              <a:t>          "distance": 0.44299527622040535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"factor_center": {</a:t>
            </a:r>
          </a:p>
          <a:p xmlns:a="http://schemas.openxmlformats.org/drawingml/2006/main">
            <a:r>
              <a:t>        "F1": -0.33572427063607985,</a:t>
            </a:r>
          </a:p>
          <a:p xmlns:a="http://schemas.openxmlformats.org/drawingml/2006/main">
            <a:r>
              <a:t>        "F2": 0.44825354613958285,</a:t>
            </a:r>
          </a:p>
          <a:p xmlns:a="http://schemas.openxmlformats.org/drawingml/2006/main">
            <a:r>
              <a:t>        "F3": -0.5677088359368202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"distinguishing_scales":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"oppositionality",</a:t>
            </a:r>
          </a:p>
          <a:p xmlns:a="http://schemas.openxmlformats.org/drawingml/2006/main">
            <a:r>
              <a:t>          "name": "Критика действующей власти — поддержка её курса",</a:t>
            </a:r>
          </a:p>
          <a:p xmlns:a="http://schemas.openxmlformats.org/drawingml/2006/main">
            <a:r>
              <a:t>          "positive": "Публичная критика действующей федеральной власти",</a:t>
            </a:r>
          </a:p>
          <a:p xmlns:a="http://schemas.openxmlformats.org/drawingml/2006/main">
            <a:r>
              <a:t>          "negative": "Публичная поддержка курса действующей федеральной власти",</a:t>
            </a:r>
          </a:p>
          <a:p xmlns:a="http://schemas.openxmlformats.org/drawingml/2006/main">
            <a:r>
              <a:t>          "difference": -0.7731841313449022,</a:t>
            </a:r>
          </a:p>
          <a:p xmlns:a="http://schemas.openxmlformats.org/drawingml/2006/main">
            <a:r>
              <a:t>          "group_mean": -3.2941176470588234,</a:t>
            </a:r>
          </a:p>
          <a:p xmlns:a="http://schemas.openxmlformats.org/drawingml/2006/main">
            <a:r>
              <a:t>          "overall_mean": -0.41935483870967744,</a:t>
            </a:r>
          </a:p>
          <a:p xmlns:a="http://schemas.openxmlformats.org/drawingml/2006/main">
            <a:r>
              <a:t>          "direction": "negative",</a:t>
            </a:r>
          </a:p>
          <a:p xmlns:a="http://schemas.openxmlformats.org/drawingml/2006/main">
            <a:r>
              <a:t>          "observed_group_count": 34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"electoral-legitimacy",</a:t>
            </a:r>
          </a:p>
          <a:p xmlns:a="http://schemas.openxmlformats.org/drawingml/2006/main">
            <a:r>
              <a:t>          "name": "Электоральный мандат — административный мандат",</a:t>
            </a:r>
          </a:p>
          <a:p xmlns:a="http://schemas.openxmlformats.org/drawingml/2006/main">
            <a:r>
              <a:t>          "positive": "Конкурентные выборы и воля избирателей как источник полномочий",</a:t>
            </a:r>
          </a:p>
          <a:p xmlns:a="http://schemas.openxmlformats.org/drawingml/2006/main">
            <a:r>
              <a:t>          "negative": "Назначение, государственная иерархия и управленческая преемственность как источник полномочий",</a:t>
            </a:r>
          </a:p>
          <a:p xmlns:a="http://schemas.openxmlformats.org/drawingml/2006/main">
            <a:r>
              <a:t>          "difference": -0.6691186923546877,</a:t>
            </a:r>
          </a:p>
          <a:p xmlns:a="http://schemas.openxmlformats.org/drawingml/2006/main">
            <a:r>
              <a:t>          "group_mean": -1.6521739130434783,</a:t>
            </a:r>
          </a:p>
          <a:p xmlns:a="http://schemas.openxmlformats.org/drawingml/2006/main">
            <a:r>
              <a:t>          "overall_mean": 0.17777777777777778,</a:t>
            </a:r>
          </a:p>
          <a:p xmlns:a="http://schemas.openxmlformats.org/drawingml/2006/main">
            <a:r>
              <a:t>          "direction": "negative",</a:t>
            </a:r>
          </a:p>
          <a:p xmlns:a="http://schemas.openxmlformats.org/drawingml/2006/main">
            <a:r>
              <a:t>          "observed_group_count": 23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"antiwar-rhetoric",</a:t>
            </a:r>
          </a:p>
          <a:p xmlns:a="http://schemas.openxmlformats.org/drawingml/2006/main">
            <a:r>
              <a:t>          "name": "Прекращение военных действий — их продолжение",</a:t>
            </a:r>
          </a:p>
          <a:p xmlns:a="http://schemas.openxmlformats.org/drawingml/2006/main">
            <a:r>
              <a:t>          "positive": "Публичные призывы прекратить военные действия и перейти к миру",</a:t>
            </a:r>
          </a:p>
          <a:p xmlns:a="http://schemas.openxmlformats.org/drawingml/2006/main">
            <a:r>
              <a:t>          "negative": "Публичная поддержка продолжения военных действий ради заявленных целей",</a:t>
            </a:r>
          </a:p>
          <a:p xmlns:a="http://schemas.openxmlformats.org/drawingml/2006/main">
            <a:r>
              <a:t>          "difference": -0.5659019081235656,</a:t>
            </a:r>
          </a:p>
          <a:p xmlns:a="http://schemas.openxmlformats.org/drawingml/2006/main">
            <a:r>
              <a:t>          "group_mean": -2.263157894736842,</a:t>
            </a:r>
          </a:p>
          <a:p xmlns:a="http://schemas.openxmlformats.org/drawingml/2006/main">
            <a:r>
              <a:t>          "overall_mean": -0.4318181818181818,</a:t>
            </a:r>
          </a:p>
          <a:p xmlns:a="http://schemas.openxmlformats.org/drawingml/2006/main">
            <a:r>
              <a:t>          "direction": "negative",</a:t>
            </a:r>
          </a:p>
          <a:p xmlns:a="http://schemas.openxmlformats.org/drawingml/2006/main">
            <a:r>
              <a:t>          "observed_group_count": 19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"media-personalization",</a:t>
            </a:r>
          </a:p>
          <a:p xmlns:a="http://schemas.openxmlformats.org/drawingml/2006/main">
            <a:r>
              <a:t>          "name": "Персональный бренд — коллективный институт",</a:t>
            </a:r>
          </a:p>
          <a:p xmlns:a="http://schemas.openxmlformats.org/drawingml/2006/main">
            <a:r>
              <a:t>          "positive": "Личный бренд и обращение от собственного имени",</a:t>
            </a:r>
          </a:p>
          <a:p xmlns:a="http://schemas.openxmlformats.org/drawingml/2006/main">
            <a:r>
              <a:t>          "negative": "Коллективное представительство и институциональное авторство",</a:t>
            </a:r>
          </a:p>
          <a:p xmlns:a="http://schemas.openxmlformats.org/drawingml/2006/main">
            <a:r>
              <a:t>          "difference": -0.5502967161902127,</a:t>
            </a:r>
          </a:p>
          <a:p xmlns:a="http://schemas.openxmlformats.org/drawingml/2006/main">
            <a:r>
              <a:t>          "group_mean": -1.2,</a:t>
            </a:r>
          </a:p>
          <a:p xmlns:a="http://schemas.openxmlformats.org/drawingml/2006/main">
            <a:r>
              <a:t>          "overall_mean": -0.031746031746031744,</a:t>
            </a:r>
          </a:p>
          <a:p xmlns:a="http://schemas.openxmlformats.org/drawingml/2006/main">
            <a:r>
              <a:t>          "direction": "negative",</a:t>
            </a:r>
          </a:p>
          <a:p xmlns:a="http://schemas.openxmlformats.org/drawingml/2006/main">
            <a:r>
              <a:t>          "observed_group_count": 35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"federal-loyalty",</a:t>
            </a:r>
          </a:p>
          <a:p xmlns:a="http://schemas.openxmlformats.org/drawingml/2006/main">
            <a:r>
              <a:t>          "name": "Централизация — децентрализация",</a:t>
            </a:r>
          </a:p>
          <a:p xmlns:a="http://schemas.openxmlformats.org/drawingml/2006/main">
            <a:r>
              <a:t>          "positive": "Единая вертикаль и концентрация полномочий в центре",</a:t>
            </a:r>
          </a:p>
          <a:p xmlns:a="http://schemas.openxmlformats.org/drawingml/2006/main">
            <a:r>
              <a:t>          "negative": "Региональная и муниципальная автономия, распределение полномочий",</a:t>
            </a:r>
          </a:p>
          <a:p xmlns:a="http://schemas.openxmlformats.org/drawingml/2006/main">
            <a:r>
              <a:t>          "difference": 0.5466772058310287,</a:t>
            </a:r>
          </a:p>
          <a:p xmlns:a="http://schemas.openxmlformats.org/drawingml/2006/main">
            <a:r>
              <a:t>          "group_mean": 2.5454545454545454,</a:t>
            </a:r>
          </a:p>
          <a:p xmlns:a="http://schemas.openxmlformats.org/drawingml/2006/main">
            <a:r>
              <a:t>          "overall_mean": 1.1666666666666667,</a:t>
            </a:r>
          </a:p>
          <a:p xmlns:a="http://schemas.openxmlformats.org/drawingml/2006/main">
            <a:r>
              <a:t>          "direction": "positive",</a:t>
            </a:r>
          </a:p>
          <a:p xmlns:a="http://schemas.openxmlformats.org/drawingml/2006/main">
            <a:r>
              <a:t>          "observed_group_count": 33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"parliamentary-institutional",</a:t>
            </a:r>
          </a:p>
          <a:p xmlns:a="http://schemas.openxmlformats.org/drawingml/2006/main">
            <a:r>
              <a:t>          "name": "Институциональная работа — протестное действие",</a:t>
            </a:r>
          </a:p>
          <a:p xmlns:a="http://schemas.openxmlformats.org/drawingml/2006/main">
            <a:r>
              <a:t>          "positive": "Изменения через действующие правовые и парламентские процедуры",</a:t>
            </a:r>
          </a:p>
          <a:p xmlns:a="http://schemas.openxmlformats.org/drawingml/2006/main">
            <a:r>
              <a:t>          "negative": "Изменения через внеинституциональное протестное давление",</a:t>
            </a:r>
          </a:p>
          <a:p xmlns:a="http://schemas.openxmlformats.org/drawingml/2006/main">
            <a:r>
              <a:t>          "difference": 0.5084557361559936,</a:t>
            </a:r>
          </a:p>
          <a:p xmlns:a="http://schemas.openxmlformats.org/drawingml/2006/main">
            <a:r>
              <a:t>          "group_mean": 3.090909090909091,</a:t>
            </a:r>
          </a:p>
          <a:p xmlns:a="http://schemas.openxmlformats.org/drawingml/2006/main">
            <a:r>
              <a:t>          "overall_mean": 1.7333333333333334,</a:t>
            </a:r>
          </a:p>
          <a:p xmlns:a="http://schemas.openxmlformats.org/drawingml/2006/main">
            <a:r>
              <a:t>          "direction": "positive",</a:t>
            </a:r>
          </a:p>
          <a:p xmlns:a="http://schemas.openxmlformats.org/drawingml/2006/main">
            <a:r>
              <a:t>          "observed_group_count": 33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"interpretation": "Группа сохраняет административную и институциональную общность: низкую критику курса, централизацию, преобладание административного мандата и коллективного представительства. Средние F3=−0,57, F2=+0,45, F1=−0,34. Представители — Михаил Дегтярёв, Сергей Аксёнов и Константин Косачёв. Состав включает Путина и Милонова, вернувшихся сюда относительно контроля q=3, k=3: изменение k перераспределяет границы, поэтому переходы при смене q и при смене k следует различать.",</a:t>
            </a:r>
          </a:p>
          <a:p xmlns:a="http://schemas.openxmlformats.org/drawingml/2006/main">
            <a:r>
              <a:t>      "boundary_objects": [</a:t>
            </a:r>
          </a:p>
          <a:p xmlns:a="http://schemas.openxmlformats.org/drawingml/2006/main">
            <a:r>
              <a:t>        "vladislav-davankov"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"stability": {</a:t>
            </a:r>
          </a:p>
          <a:p xmlns:a="http://schemas.openxmlformats.org/drawingml/2006/main">
            <a:r>
              <a:t>        "median_jaccard": 1,</a:t>
            </a:r>
          </a:p>
          <a:p xmlns:a="http://schemas.openxmlformats.org/drawingml/2006/main">
            <a:r>
              <a:t>        "conditional_mean_ari": 0.9042748287361841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"numeric_label": "Группа 2",</a:t>
            </a:r>
          </a:p>
          <a:p xmlns:a="http://schemas.openxmlformats.org/drawingml/2006/main">
            <a:r>
              <a:t>      "label": "Институциональная поддержка курса и управленческое представительство"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"C3",</a:t>
            </a:r>
          </a:p>
          <a:p xmlns:a="http://schemas.openxmlformats.org/drawingml/2006/main">
            <a:r>
              <a:t>      "name": "Конфронтационная мобилизация и персональный бренд",</a:t>
            </a:r>
          </a:p>
          <a:p xmlns:a="http://schemas.openxmlformats.org/drawingml/2006/main">
            <a:r>
              <a:t>      "count": 8,</a:t>
            </a:r>
          </a:p>
          <a:p xmlns:a="http://schemas.openxmlformats.org/drawingml/2006/main">
            <a:r>
              <a:t>      "members":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"vladimir-zhirinovsky",</a:t>
            </a:r>
          </a:p>
          <a:p xmlns:a="http://schemas.openxmlformats.org/drawingml/2006/main">
            <a:r>
              <a:t>          "name": "Владимир Жириновский"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"zakhar-prilepin",</a:t>
            </a:r>
          </a:p>
          <a:p xmlns:a="http://schemas.openxmlformats.org/drawingml/2006/main">
            <a:r>
              <a:t>          "name": "Захар Прилепин"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"ramzan-kadyrov",</a:t>
            </a:r>
          </a:p>
          <a:p xmlns:a="http://schemas.openxmlformats.org/drawingml/2006/main">
            <a:r>
              <a:t>          "name": "Рамзан Кадыров"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"ilya-ponomarev",</a:t>
            </a:r>
          </a:p>
          <a:p xmlns:a="http://schemas.openxmlformats.org/drawingml/2006/main">
            <a:r>
              <a:t>          "name": "Илья Пономарёв"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"sergey-udaltsov",</a:t>
            </a:r>
          </a:p>
          <a:p xmlns:a="http://schemas.openxmlformats.org/drawingml/2006/main">
            <a:r>
              <a:t>          "name": "Сергей Удальцов"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"eduard-limonov",</a:t>
            </a:r>
          </a:p>
          <a:p xmlns:a="http://schemas.openxmlformats.org/drawingml/2006/main">
            <a:r>
              <a:t>          "name": "Эдуард Лимонов"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"igor-strelkov",</a:t>
            </a:r>
          </a:p>
          <a:p xmlns:a="http://schemas.openxmlformats.org/drawingml/2006/main">
            <a:r>
              <a:t>          "name": "Игорь Стрелков (Гиркин)"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"yevgeny-prigozhin",</a:t>
            </a:r>
          </a:p>
          <a:p xmlns:a="http://schemas.openxmlformats.org/drawingml/2006/main">
            <a:r>
              <a:t>          "name": "Евгений Пригожин"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"representatives":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"eduard-limonov",</a:t>
            </a:r>
          </a:p>
          <a:p xmlns:a="http://schemas.openxmlformats.org/drawingml/2006/main">
            <a:r>
              <a:t>          "name": "Эдуард Лимонов",</a:t>
            </a:r>
          </a:p>
          <a:p xmlns:a="http://schemas.openxmlformats.org/drawingml/2006/main">
            <a:r>
              <a:t>          "distance": 0.48681652146368687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"yevgeny-prigozhin",</a:t>
            </a:r>
          </a:p>
          <a:p xmlns:a="http://schemas.openxmlformats.org/drawingml/2006/main">
            <a:r>
              <a:t>          "name": "Евгений Пригожин",</a:t>
            </a:r>
          </a:p>
          <a:p xmlns:a="http://schemas.openxmlformats.org/drawingml/2006/main">
            <a:r>
              <a:t>          "distance": 0.9263498596706726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"sergey-udaltsov",</a:t>
            </a:r>
          </a:p>
          <a:p xmlns:a="http://schemas.openxmlformats.org/drawingml/2006/main">
            <a:r>
              <a:t>          "name": "Сергей Удальцов",</a:t>
            </a:r>
          </a:p>
          <a:p xmlns:a="http://schemas.openxmlformats.org/drawingml/2006/main">
            <a:r>
              <a:t>          "distance": 1.0206424766708253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"igor-strelkov",</a:t>
            </a:r>
          </a:p>
          <a:p xmlns:a="http://schemas.openxmlformats.org/drawingml/2006/main">
            <a:r>
              <a:t>          "name": "Игорь Стрелков (Гиркин)",</a:t>
            </a:r>
          </a:p>
          <a:p xmlns:a="http://schemas.openxmlformats.org/drawingml/2006/main">
            <a:r>
              <a:t>          "distance": 1.1445619387767614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"zakhar-prilepin",</a:t>
            </a:r>
          </a:p>
          <a:p xmlns:a="http://schemas.openxmlformats.org/drawingml/2006/main">
            <a:r>
              <a:t>          "name": "Захар Прилепин",</a:t>
            </a:r>
          </a:p>
          <a:p xmlns:a="http://schemas.openxmlformats.org/drawingml/2006/main">
            <a:r>
              <a:t>          "distance": 1.1594132898289868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"factor_center": {</a:t>
            </a:r>
          </a:p>
          <a:p xmlns:a="http://schemas.openxmlformats.org/drawingml/2006/main">
            <a:r>
              <a:t>        "F1": -1.1290692034767174,</a:t>
            </a:r>
          </a:p>
          <a:p xmlns:a="http://schemas.openxmlformats.org/drawingml/2006/main">
            <a:r>
              <a:t>        "F2": -1.449953909579369,</a:t>
            </a:r>
          </a:p>
          <a:p xmlns:a="http://schemas.openxmlformats.org/drawingml/2006/main">
            <a:r>
              <a:t>        "F3": 0.747733487563027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"distinguishing_scales":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"conflictuality",</a:t>
            </a:r>
          </a:p>
          <a:p xmlns:a="http://schemas.openxmlformats.org/drawingml/2006/main">
            <a:r>
              <a:t>          "name": "Конфронтация — компромисс",</a:t>
            </a:r>
          </a:p>
          <a:p xmlns:a="http://schemas.openxmlformats.org/drawingml/2006/main">
            <a:r>
              <a:t>          "positive": "Конфронтационная полемика и жёсткое противопоставление оппонентам",</a:t>
            </a:r>
          </a:p>
          <a:p xmlns:a="http://schemas.openxmlformats.org/drawingml/2006/main">
            <a:r>
              <a:t>          "negative": "Компромиссная и согласительная риторика",</a:t>
            </a:r>
          </a:p>
          <a:p xmlns:a="http://schemas.openxmlformats.org/drawingml/2006/main">
            <a:r>
              <a:t>          "difference": 1.4889238703509107,</a:t>
            </a:r>
          </a:p>
          <a:p xmlns:a="http://schemas.openxmlformats.org/drawingml/2006/main">
            <a:r>
              <a:t>          "group_mean": 3.875,</a:t>
            </a:r>
          </a:p>
          <a:p xmlns:a="http://schemas.openxmlformats.org/drawingml/2006/main">
            <a:r>
              <a:t>          "overall_mean": 0.9180327868852459,</a:t>
            </a:r>
          </a:p>
          <a:p xmlns:a="http://schemas.openxmlformats.org/drawingml/2006/main">
            <a:r>
              <a:t>          "direction": "positive",</a:t>
            </a:r>
          </a:p>
          <a:p xmlns:a="http://schemas.openxmlformats.org/drawingml/2006/main">
            <a:r>
              <a:t>          "observed_group_count": 8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"mobilization-rhetoric",</a:t>
            </a:r>
          </a:p>
          <a:p xmlns:a="http://schemas.openxmlformats.org/drawingml/2006/main">
            <a:r>
              <a:t>          "name": "Мобилизационный призыв — обсуждение и убеждение",</a:t>
            </a:r>
          </a:p>
          <a:p xmlns:a="http://schemas.openxmlformats.org/drawingml/2006/main">
            <a:r>
              <a:t>          "positive": "Призывы к единению, дисциплине и чрезвычайной мобилизации",</a:t>
            </a:r>
          </a:p>
          <a:p xmlns:a="http://schemas.openxmlformats.org/drawingml/2006/main">
            <a:r>
              <a:t>          "negative": "Призывы к открытому обсуждению, сомнению и убеждению",</a:t>
            </a:r>
          </a:p>
          <a:p xmlns:a="http://schemas.openxmlformats.org/drawingml/2006/main">
            <a:r>
              <a:t>          "difference": 1.3252655727236589,</a:t>
            </a:r>
          </a:p>
          <a:p xmlns:a="http://schemas.openxmlformats.org/drawingml/2006/main">
            <a:r>
              <a:t>          "group_mean": 3.375,</a:t>
            </a:r>
          </a:p>
          <a:p xmlns:a="http://schemas.openxmlformats.org/drawingml/2006/main">
            <a:r>
              <a:t>          "overall_mean": 0.6379310344827587,</a:t>
            </a:r>
          </a:p>
          <a:p xmlns:a="http://schemas.openxmlformats.org/drawingml/2006/main">
            <a:r>
              <a:t>          "direction": "positive",</a:t>
            </a:r>
          </a:p>
          <a:p xmlns:a="http://schemas.openxmlformats.org/drawingml/2006/main">
            <a:r>
              <a:t>          "observed_group_count": 8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"media-personalization",</a:t>
            </a:r>
          </a:p>
          <a:p xmlns:a="http://schemas.openxmlformats.org/drawingml/2006/main">
            <a:r>
              <a:t>          "name": "Персональный бренд — коллективный институт",</a:t>
            </a:r>
          </a:p>
          <a:p xmlns:a="http://schemas.openxmlformats.org/drawingml/2006/main">
            <a:r>
              <a:t>          "positive": "Личный бренд и обращение от собственного имени",</a:t>
            </a:r>
          </a:p>
          <a:p xmlns:a="http://schemas.openxmlformats.org/drawingml/2006/main">
            <a:r>
              <a:t>          "negative": "Коллективное представительство и институциональное авторство",</a:t>
            </a:r>
          </a:p>
          <a:p xmlns:a="http://schemas.openxmlformats.org/drawingml/2006/main">
            <a:r>
              <a:t>          "difference": 1.3103192868523748,</a:t>
            </a:r>
          </a:p>
          <a:p xmlns:a="http://schemas.openxmlformats.org/drawingml/2006/main">
            <a:r>
              <a:t>          "group_mean": 2.75,</a:t>
            </a:r>
          </a:p>
          <a:p xmlns:a="http://schemas.openxmlformats.org/drawingml/2006/main">
            <a:r>
              <a:t>          "overall_mean": -0.031746031746031744,</a:t>
            </a:r>
          </a:p>
          <a:p xmlns:a="http://schemas.openxmlformats.org/drawingml/2006/main">
            <a:r>
              <a:t>          "direction": "positive",</a:t>
            </a:r>
          </a:p>
          <a:p xmlns:a="http://schemas.openxmlformats.org/drawingml/2006/main">
            <a:r>
              <a:t>          "observed_group_count": 8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"parliamentary-institutional",</a:t>
            </a:r>
          </a:p>
          <a:p xmlns:a="http://schemas.openxmlformats.org/drawingml/2006/main">
            <a:r>
              <a:t>          "name": "Институциональная работа — протестное действие",</a:t>
            </a:r>
          </a:p>
          <a:p xmlns:a="http://schemas.openxmlformats.org/drawingml/2006/main">
            <a:r>
              <a:t>          "positive": "Изменения через действующие правовые и парламентские процедуры",</a:t>
            </a:r>
          </a:p>
          <a:p xmlns:a="http://schemas.openxmlformats.org/drawingml/2006/main">
            <a:r>
              <a:t>          "negative": "Изменения через внеинституциональное протестное давление",</a:t>
            </a:r>
          </a:p>
          <a:p xmlns:a="http://schemas.openxmlformats.org/drawingml/2006/main">
            <a:r>
              <a:t>          "difference": -1.3046202426591846,</a:t>
            </a:r>
          </a:p>
          <a:p xmlns:a="http://schemas.openxmlformats.org/drawingml/2006/main">
            <a:r>
              <a:t>          "group_mean": -1.75,</a:t>
            </a:r>
          </a:p>
          <a:p xmlns:a="http://schemas.openxmlformats.org/drawingml/2006/main">
            <a:r>
              <a:t>          "overall_mean": 1.7333333333333334,</a:t>
            </a:r>
          </a:p>
          <a:p xmlns:a="http://schemas.openxmlformats.org/drawingml/2006/main">
            <a:r>
              <a:t>          "direction": "negative",</a:t>
            </a:r>
          </a:p>
          <a:p xmlns:a="http://schemas.openxmlformats.org/drawingml/2006/main">
            <a:r>
              <a:t>          "observed_group_count": 8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"rhetorical-simplicity",</a:t>
            </a:r>
          </a:p>
          <a:p xmlns:a="http://schemas.openxmlformats.org/drawingml/2006/main">
            <a:r>
              <a:t>          "name": "Лозунговая простота — развёрнутая аргументация",</a:t>
            </a:r>
          </a:p>
          <a:p xmlns:a="http://schemas.openxmlformats.org/drawingml/2006/main">
            <a:r>
              <a:t>          "positive": "Краткие лозунги и обещания простых быстрых решений",</a:t>
            </a:r>
          </a:p>
          <a:p xmlns:a="http://schemas.openxmlformats.org/drawingml/2006/main">
            <a:r>
              <a:t>          "negative": "Развёрнутое объяснение механизмов, ограничений и альтернатив",</a:t>
            </a:r>
          </a:p>
          <a:p xmlns:a="http://schemas.openxmlformats.org/drawingml/2006/main">
            <a:r>
              <a:t>          "difference": 1.0128780817875038,</a:t>
            </a:r>
          </a:p>
          <a:p xmlns:a="http://schemas.openxmlformats.org/drawingml/2006/main">
            <a:r>
              <a:t>          "group_mean": 1.1428571428571428,</a:t>
            </a:r>
          </a:p>
          <a:p xmlns:a="http://schemas.openxmlformats.org/drawingml/2006/main">
            <a:r>
              <a:t>          "overall_mean": -0.5517241379310345,</a:t>
            </a:r>
          </a:p>
          <a:p xmlns:a="http://schemas.openxmlformats.org/drawingml/2006/main">
            <a:r>
              <a:t>          "direction": "positive",</a:t>
            </a:r>
          </a:p>
          <a:p xmlns:a="http://schemas.openxmlformats.org/drawingml/2006/main">
            <a:r>
              <a:t>          "observed_group_count": 7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"national-patriotism",</a:t>
            </a:r>
          </a:p>
          <a:p xmlns:a="http://schemas.openxmlformats.org/drawingml/2006/main">
            <a:r>
              <a:t>          "name": "Национальная общность — универсальные права",</a:t>
            </a:r>
          </a:p>
          <a:p xmlns:a="http://schemas.openxmlformats.org/drawingml/2006/main">
            <a:r>
              <a:t>          "positive": "Особые интересы национальной общности и защита культурной идентичности",</a:t>
            </a:r>
          </a:p>
          <a:p xmlns:a="http://schemas.openxmlformats.org/drawingml/2006/main">
            <a:r>
              <a:t>          "negative": "Универсальные права и равное отношение независимо от национальной принадлежности",</a:t>
            </a:r>
          </a:p>
          <a:p xmlns:a="http://schemas.openxmlformats.org/drawingml/2006/main">
            <a:r>
              <a:t>          "difference": 0.9453587956142667,</a:t>
            </a:r>
          </a:p>
          <a:p xmlns:a="http://schemas.openxmlformats.org/drawingml/2006/main">
            <a:r>
              <a:t>          "group_mean": 3.7142857142857144,</a:t>
            </a:r>
          </a:p>
          <a:p xmlns:a="http://schemas.openxmlformats.org/drawingml/2006/main">
            <a:r>
              <a:t>          "overall_mean": 1.6956521739130435,</a:t>
            </a:r>
          </a:p>
          <a:p xmlns:a="http://schemas.openxmlformats.org/drawingml/2006/main">
            <a:r>
              <a:t>          "direction": "positive",</a:t>
            </a:r>
          </a:p>
          <a:p xmlns:a="http://schemas.openxmlformats.org/drawingml/2006/main">
            <a:r>
              <a:t>          "observed_group_count": 7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"interpretation": "Полностью сохраняется восьмёрка q=2: Жириновский, Прилепин, Кадыров, Пономарёв, Удальцов, Лимонов, Стрелков и Пригожин. Общность поддерживают конфронтация (+1,49 σ), мобилизация (+1,33 σ), персонализация (+1,31 σ) и меньший акцент на парламентской стратегии (−1,30 σ). Представители центра — Эдуард Лимонов, Евгений Пригожин и Сергей Удальцов. Это сходство оценённого публичного стиля при различных политических позициях.",</a:t>
            </a:r>
          </a:p>
          <a:p xmlns:a="http://schemas.openxmlformats.org/drawingml/2006/main">
            <a:r>
              <a:t>      "boundary_objects": [],</a:t>
            </a:r>
          </a:p>
          <a:p xmlns:a="http://schemas.openxmlformats.org/drawingml/2006/main">
            <a:r>
              <a:t>      "stability": {</a:t>
            </a:r>
          </a:p>
          <a:p xmlns:a="http://schemas.openxmlformats.org/drawingml/2006/main">
            <a:r>
              <a:t>        "median_jaccard": 1,</a:t>
            </a:r>
          </a:p>
          <a:p xmlns:a="http://schemas.openxmlformats.org/drawingml/2006/main">
            <a:r>
              <a:t>        "conditional_mean_ari": 0.9042748287361841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"numeric_label": "Группа 3",</a:t>
            </a:r>
          </a:p>
          <a:p xmlns:a="http://schemas.openxmlformats.org/drawingml/2006/main">
            <a:r>
              <a:t>      "label": "Конфронтационная мобилизация и персональный бренд"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"C4",</a:t>
            </a:r>
          </a:p>
          <a:p xmlns:a="http://schemas.openxmlformats.org/drawingml/2006/main">
            <a:r>
              <a:t>      "name": "Персональная антивоенная оппозиционная стратегия",</a:t>
            </a:r>
          </a:p>
          <a:p xmlns:a="http://schemas.openxmlformats.org/drawingml/2006/main">
            <a:r>
              <a:t>      "count": 10,</a:t>
            </a:r>
          </a:p>
          <a:p xmlns:a="http://schemas.openxmlformats.org/drawingml/2006/main">
            <a:r>
              <a:t>      "members":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"yevgeny-royzman",</a:t>
            </a:r>
          </a:p>
          <a:p xmlns:a="http://schemas.openxmlformats.org/drawingml/2006/main">
            <a:r>
              <a:t>          "name": "Евгений Ройзман"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"alexey-navalny",</a:t>
            </a:r>
          </a:p>
          <a:p xmlns:a="http://schemas.openxmlformats.org/drawingml/2006/main">
            <a:r>
              <a:t>          "name": "Алексей Навальный"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"ilya-yashin",</a:t>
            </a:r>
          </a:p>
          <a:p xmlns:a="http://schemas.openxmlformats.org/drawingml/2006/main">
            <a:r>
              <a:t>          "name": "Илья Яшин"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"vladimir-kara-murza",</a:t>
            </a:r>
          </a:p>
          <a:p xmlns:a="http://schemas.openxmlformats.org/drawingml/2006/main">
            <a:r>
              <a:t>          "name": "Владимир Кара-Мурза"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"gennady-gudkov",</a:t>
            </a:r>
          </a:p>
          <a:p xmlns:a="http://schemas.openxmlformats.org/drawingml/2006/main">
            <a:r>
              <a:t>          "name": "Геннадий Гудков"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"garry-kasparov",</a:t>
            </a:r>
          </a:p>
          <a:p xmlns:a="http://schemas.openxmlformats.org/drawingml/2006/main">
            <a:r>
              <a:t>          "name": "Гарри Каспаров"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"mikhail-khodorkovsky",</a:t>
            </a:r>
          </a:p>
          <a:p xmlns:a="http://schemas.openxmlformats.org/drawingml/2006/main">
            <a:r>
              <a:t>          "name": "Михаил Ходорковский"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"vladimir-milov",</a:t>
            </a:r>
          </a:p>
          <a:p xmlns:a="http://schemas.openxmlformats.org/drawingml/2006/main">
            <a:r>
              <a:t>          "name": "Владимир Милов"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"lyubov-sobol",</a:t>
            </a:r>
          </a:p>
          <a:p xmlns:a="http://schemas.openxmlformats.org/drawingml/2006/main">
            <a:r>
              <a:t>          "name": "Любовь Соболь"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"leonid-gozman",</a:t>
            </a:r>
          </a:p>
          <a:p xmlns:a="http://schemas.openxmlformats.org/drawingml/2006/main">
            <a:r>
              <a:t>          "name": "Леонид Гозман"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"representatives":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"lyubov-sobol",</a:t>
            </a:r>
          </a:p>
          <a:p xmlns:a="http://schemas.openxmlformats.org/drawingml/2006/main">
            <a:r>
              <a:t>          "name": "Любовь Соболь",</a:t>
            </a:r>
          </a:p>
          <a:p xmlns:a="http://schemas.openxmlformats.org/drawingml/2006/main">
            <a:r>
              <a:t>          "distance": 0.2506834803522487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"ilya-yashin",</a:t>
            </a:r>
          </a:p>
          <a:p xmlns:a="http://schemas.openxmlformats.org/drawingml/2006/main">
            <a:r>
              <a:t>          "name": "Илья Яшин",</a:t>
            </a:r>
          </a:p>
          <a:p xmlns:a="http://schemas.openxmlformats.org/drawingml/2006/main">
            <a:r>
              <a:t>          "distance": 0.2758713731261115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"vladimir-milov",</a:t>
            </a:r>
          </a:p>
          <a:p xmlns:a="http://schemas.openxmlformats.org/drawingml/2006/main">
            <a:r>
              <a:t>          "name": "Владимир Милов",</a:t>
            </a:r>
          </a:p>
          <a:p xmlns:a="http://schemas.openxmlformats.org/drawingml/2006/main">
            <a:r>
              <a:t>          "distance": 0.38250192600771854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"mikhail-khodorkovsky",</a:t>
            </a:r>
          </a:p>
          <a:p xmlns:a="http://schemas.openxmlformats.org/drawingml/2006/main">
            <a:r>
              <a:t>          "name": "Михаил Ходорковский",</a:t>
            </a:r>
          </a:p>
          <a:p xmlns:a="http://schemas.openxmlformats.org/drawingml/2006/main">
            <a:r>
              <a:t>          "distance": 0.40770776857799734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"alexey-navalny",</a:t>
            </a:r>
          </a:p>
          <a:p xmlns:a="http://schemas.openxmlformats.org/drawingml/2006/main">
            <a:r>
              <a:t>          "name": "Алексей Навальный",</a:t>
            </a:r>
          </a:p>
          <a:p xmlns:a="http://schemas.openxmlformats.org/drawingml/2006/main">
            <a:r>
              <a:t>          "distance": 0.4089771546509109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"factor_center": {</a:t>
            </a:r>
          </a:p>
          <a:p xmlns:a="http://schemas.openxmlformats.org/drawingml/2006/main">
            <a:r>
              <a:t>        "F1": 1.493370505746379,</a:t>
            </a:r>
          </a:p>
          <a:p xmlns:a="http://schemas.openxmlformats.org/drawingml/2006/main">
            <a:r>
              <a:t>        "F2": -1.1265944882068495,</a:t>
            </a:r>
          </a:p>
          <a:p xmlns:a="http://schemas.openxmlformats.org/drawingml/2006/main">
            <a:r>
              <a:t>        "F3": 0.19252164289737814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"distinguishing_scales":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"security-sovereignty",</a:t>
            </a:r>
          </a:p>
          <a:p xmlns:a="http://schemas.openxmlformats.org/drawingml/2006/main">
            <a:r>
              <a:t>          "name": "Суверенная самостоятельность — международная интеграция",</a:t>
            </a:r>
          </a:p>
          <a:p xmlns:a="http://schemas.openxmlformats.org/drawingml/2006/main">
            <a:r>
              <a:t>          "positive": "Суверенная самостоятельность и защита от внешнего влияния",</a:t>
            </a:r>
          </a:p>
          <a:p xmlns:a="http://schemas.openxmlformats.org/drawingml/2006/main">
            <a:r>
              <a:t>          "negative": "Международная интеграция и взаимозависимость",</a:t>
            </a:r>
          </a:p>
          <a:p xmlns:a="http://schemas.openxmlformats.org/drawingml/2006/main">
            <a:r>
              <a:t>          "difference": -2.054358213934092,</a:t>
            </a:r>
          </a:p>
          <a:p xmlns:a="http://schemas.openxmlformats.org/drawingml/2006/main">
            <a:r>
              <a:t>          "group_mean": -3.5714285714285716,</a:t>
            </a:r>
          </a:p>
          <a:p xmlns:a="http://schemas.openxmlformats.org/drawingml/2006/main">
            <a:r>
              <a:t>          "overall_mean": 1.607843137254902,</a:t>
            </a:r>
          </a:p>
          <a:p xmlns:a="http://schemas.openxmlformats.org/drawingml/2006/main">
            <a:r>
              <a:t>          "direction": "negative",</a:t>
            </a:r>
          </a:p>
          <a:p xmlns:a="http://schemas.openxmlformats.org/drawingml/2006/main">
            <a:r>
              <a:t>          "observed_group_count": 7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"national-patriotism",</a:t>
            </a:r>
          </a:p>
          <a:p xmlns:a="http://schemas.openxmlformats.org/drawingml/2006/main">
            <a:r>
              <a:t>          "name": "Национальная общность — универсальные права",</a:t>
            </a:r>
          </a:p>
          <a:p xmlns:a="http://schemas.openxmlformats.org/drawingml/2006/main">
            <a:r>
              <a:t>          "positive": "Особые интересы национальной общности и защита культурной идентичности",</a:t>
            </a:r>
          </a:p>
          <a:p xmlns:a="http://schemas.openxmlformats.org/drawingml/2006/main">
            <a:r>
              <a:t>          "negative": "Универсальные права и равное отношение независимо от национальной принадлежности",</a:t>
            </a:r>
          </a:p>
          <a:p xmlns:a="http://schemas.openxmlformats.org/drawingml/2006/main">
            <a:r>
              <a:t>          "difference": -1.918060276393992,</a:t>
            </a:r>
          </a:p>
          <a:p xmlns:a="http://schemas.openxmlformats.org/drawingml/2006/main">
            <a:r>
              <a:t>          "group_mean": -2.4,</a:t>
            </a:r>
          </a:p>
          <a:p xmlns:a="http://schemas.openxmlformats.org/drawingml/2006/main">
            <a:r>
              <a:t>          "overall_mean": 1.6956521739130435,</a:t>
            </a:r>
          </a:p>
          <a:p xmlns:a="http://schemas.openxmlformats.org/drawingml/2006/main">
            <a:r>
              <a:t>          "direction": "negative",</a:t>
            </a:r>
          </a:p>
          <a:p xmlns:a="http://schemas.openxmlformats.org/drawingml/2006/main">
            <a:r>
              <a:t>          "observed_group_count": 5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"federal-loyalty",</a:t>
            </a:r>
          </a:p>
          <a:p xmlns:a="http://schemas.openxmlformats.org/drawingml/2006/main">
            <a:r>
              <a:t>          "name": "Централизация — децентрализация",</a:t>
            </a:r>
          </a:p>
          <a:p xmlns:a="http://schemas.openxmlformats.org/drawingml/2006/main">
            <a:r>
              <a:t>          "positive": "Единая вертикаль и концентрация полномочий в центре",</a:t>
            </a:r>
          </a:p>
          <a:p xmlns:a="http://schemas.openxmlformats.org/drawingml/2006/main">
            <a:r>
              <a:t>          "negative": "Региональная и муниципальная автономия, распределение полномочий",</a:t>
            </a:r>
          </a:p>
          <a:p xmlns:a="http://schemas.openxmlformats.org/drawingml/2006/main">
            <a:r>
              <a:t>          "difference": -1.6520465011377246,</a:t>
            </a:r>
          </a:p>
          <a:p xmlns:a="http://schemas.openxmlformats.org/drawingml/2006/main">
            <a:r>
              <a:t>          "group_mean": -3,</a:t>
            </a:r>
          </a:p>
          <a:p xmlns:a="http://schemas.openxmlformats.org/drawingml/2006/main">
            <a:r>
              <a:t>          "overall_mean": 1.1666666666666667,</a:t>
            </a:r>
          </a:p>
          <a:p xmlns:a="http://schemas.openxmlformats.org/drawingml/2006/main">
            <a:r>
              <a:t>          "direction": "negative",</a:t>
            </a:r>
          </a:p>
          <a:p xmlns:a="http://schemas.openxmlformats.org/drawingml/2006/main">
            <a:r>
              <a:t>          "observed_group_count": 6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"oppositionality",</a:t>
            </a:r>
          </a:p>
          <a:p xmlns:a="http://schemas.openxmlformats.org/drawingml/2006/main">
            <a:r>
              <a:t>          "name": "Критика действующей власти — поддержка её курса",</a:t>
            </a:r>
          </a:p>
          <a:p xmlns:a="http://schemas.openxmlformats.org/drawingml/2006/main">
            <a:r>
              <a:t>          "positive": "Публичная критика действующей федеральной власти",</a:t>
            </a:r>
          </a:p>
          <a:p xmlns:a="http://schemas.openxmlformats.org/drawingml/2006/main">
            <a:r>
              <a:t>          "negative": "Публичная поддержка курса действующей федеральной власти",</a:t>
            </a:r>
          </a:p>
          <a:p xmlns:a="http://schemas.openxmlformats.org/drawingml/2006/main">
            <a:r>
              <a:t>          "difference": 1.457566916911578,</a:t>
            </a:r>
          </a:p>
          <a:p xmlns:a="http://schemas.openxmlformats.org/drawingml/2006/main">
            <a:r>
              <a:t>          "group_mean": 5,</a:t>
            </a:r>
          </a:p>
          <a:p xmlns:a="http://schemas.openxmlformats.org/drawingml/2006/main">
            <a:r>
              <a:t>          "overall_mean": -0.41935483870967744,</a:t>
            </a:r>
          </a:p>
          <a:p xmlns:a="http://schemas.openxmlformats.org/drawingml/2006/main">
            <a:r>
              <a:t>          "direction": "positive",</a:t>
            </a:r>
          </a:p>
          <a:p xmlns:a="http://schemas.openxmlformats.org/drawingml/2006/main">
            <a:r>
              <a:t>          "observed_group_count": 10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"social-policy",</a:t>
            </a:r>
          </a:p>
          <a:p xmlns:a="http://schemas.openxmlformats.org/drawingml/2006/main">
            <a:r>
              <a:t>          "name": "Социальное перераспределение — личная экономическая ответственность",</a:t>
            </a:r>
          </a:p>
          <a:p xmlns:a="http://schemas.openxmlformats.org/drawingml/2006/main">
            <a:r>
              <a:t>          "positive": "Государственные социальные гарантии и перераспределение",</a:t>
            </a:r>
          </a:p>
          <a:p xmlns:a="http://schemas.openxmlformats.org/drawingml/2006/main">
            <a:r>
              <a:t>          "negative": "Личная ответственность и частные механизмы социальной поддержки",</a:t>
            </a:r>
          </a:p>
          <a:p xmlns:a="http://schemas.openxmlformats.org/drawingml/2006/main">
            <a:r>
              <a:t>          "difference": -1.3843863356202695,</a:t>
            </a:r>
          </a:p>
          <a:p xmlns:a="http://schemas.openxmlformats.org/drawingml/2006/main">
            <a:r>
              <a:t>          "group_mean": 0.3333333333333333,</a:t>
            </a:r>
          </a:p>
          <a:p xmlns:a="http://schemas.openxmlformats.org/drawingml/2006/main">
            <a:r>
              <a:t>          "overall_mean": 2.4523809523809526,</a:t>
            </a:r>
          </a:p>
          <a:p xmlns:a="http://schemas.openxmlformats.org/drawingml/2006/main">
            <a:r>
              <a:t>          "direction": "negative",</a:t>
            </a:r>
          </a:p>
          <a:p xmlns:a="http://schemas.openxmlformats.org/drawingml/2006/main">
            <a:r>
              <a:t>          "observed_group_count": 3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"antiwar-rhetoric",</a:t>
            </a:r>
          </a:p>
          <a:p xmlns:a="http://schemas.openxmlformats.org/drawingml/2006/main">
            <a:r>
              <a:t>          "name": "Прекращение военных действий — их продолжение",</a:t>
            </a:r>
          </a:p>
          <a:p xmlns:a="http://schemas.openxmlformats.org/drawingml/2006/main">
            <a:r>
              <a:t>          "positive": "Публичные призывы прекратить военные действия и перейти к миру",</a:t>
            </a:r>
          </a:p>
          <a:p xmlns:a="http://schemas.openxmlformats.org/drawingml/2006/main">
            <a:r>
              <a:t>          "negative": "Публичная поддержка продолжения военных действий ради заявленных целей",</a:t>
            </a:r>
          </a:p>
          <a:p xmlns:a="http://schemas.openxmlformats.org/drawingml/2006/main">
            <a:r>
              <a:t>          "difference": 1.307673266204801,</a:t>
            </a:r>
          </a:p>
          <a:p xmlns:a="http://schemas.openxmlformats.org/drawingml/2006/main">
            <a:r>
              <a:t>          "group_mean": 3.8,</a:t>
            </a:r>
          </a:p>
          <a:p xmlns:a="http://schemas.openxmlformats.org/drawingml/2006/main">
            <a:r>
              <a:t>          "overall_mean": -0.4318181818181818,</a:t>
            </a:r>
          </a:p>
          <a:p xmlns:a="http://schemas.openxmlformats.org/drawingml/2006/main">
            <a:r>
              <a:t>          "direction": "positive",</a:t>
            </a:r>
          </a:p>
          <a:p xmlns:a="http://schemas.openxmlformats.org/drawingml/2006/main">
            <a:r>
              <a:t>          "observed_group_count": 10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"interpretation": "Выделяется часть прежней антивоенной группы с критикой курса, прекращением военных действий и персональной либо внепартийной публичной стратегией. Средние F1=+1,49, F2=−1,13, F3=+0,19. Представители — Любовь Соболь, Илья Яшин и Владимир Милов. Все 10 имеют оценки критики курса и антивоенной риторики; некоторые другие шкалы наблюдаются лишь у части группы, поэтому их средние нельзя автоматически приписывать каждому участнику.",</a:t>
            </a:r>
          </a:p>
          <a:p xmlns:a="http://schemas.openxmlformats.org/drawingml/2006/main">
            <a:r>
              <a:t>      "boundary_objects": [],</a:t>
            </a:r>
          </a:p>
          <a:p xmlns:a="http://schemas.openxmlformats.org/drawingml/2006/main">
            <a:r>
              <a:t>      "stability": {</a:t>
            </a:r>
          </a:p>
          <a:p xmlns:a="http://schemas.openxmlformats.org/drawingml/2006/main">
            <a:r>
              <a:t>        "median_jaccard": 1,</a:t>
            </a:r>
          </a:p>
          <a:p xmlns:a="http://schemas.openxmlformats.org/drawingml/2006/main">
            <a:r>
              <a:t>        "conditional_mean_ari": 0.9042748287361841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"numeric_label": "Группа 4",</a:t>
            </a:r>
          </a:p>
          <a:p xmlns:a="http://schemas.openxmlformats.org/drawingml/2006/main">
            <a:r>
              <a:t>      "label": "Персональная антивоенная оппозиционная стратегия"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"quality": {</a:t>
            </a:r>
          </a:p>
          <a:p xmlns:a="http://schemas.openxmlformats.org/drawingml/2006/main">
            <a:r>
              <a:t>    "silhouette": 0.42845647241631407,</a:t>
            </a:r>
          </a:p>
          <a:p xmlns:a="http://schemas.openxmlformats.org/drawingml/2006/main">
            <a:r>
              <a:t>    "mean_ari": 0.9042748287361841,</a:t>
            </a:r>
          </a:p>
          <a:p xmlns:a="http://schemas.openxmlformats.org/drawingml/2006/main">
            <a:r>
              <a:t>    "median_ari": 1,</a:t>
            </a:r>
          </a:p>
          <a:p xmlns:a="http://schemas.openxmlformats.org/drawingml/2006/main">
            <a:r>
              <a:t>    "min_ari": 0.4061669398041673,</a:t>
            </a:r>
          </a:p>
          <a:p xmlns:a="http://schemas.openxmlformats.org/drawingml/2006/main">
            <a:r>
              <a:t>    "per_cluster_median_jaccard": [</a:t>
            </a:r>
          </a:p>
          <a:p xmlns:a="http://schemas.openxmlformats.org/drawingml/2006/main">
            <a:r>
              <a:t>      1,</a:t>
            </a:r>
          </a:p>
          <a:p xmlns:a="http://schemas.openxmlformats.org/drawingml/2006/main">
            <a:r>
              <a:t>      1,</a:t>
            </a:r>
          </a:p>
          <a:p xmlns:a="http://schemas.openxmlformats.org/drawingml/2006/main">
            <a:r>
              <a:t>      1,</a:t>
            </a:r>
          </a:p>
          <a:p xmlns:a="http://schemas.openxmlformats.org/drawingml/2006/main">
            <a:r>
              <a:t>      1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"min_cluster_median_jaccard": 1,</a:t>
            </a:r>
          </a:p>
          <a:p xmlns:a="http://schemas.openxmlformats.org/drawingml/2006/main">
            <a:r>
              <a:t>    "repeats": 30,</a:t>
            </a:r>
          </a:p>
          <a:p xmlns:a="http://schemas.openxmlformats.org/drawingml/2006/main">
            <a:r>
              <a:t>    "scope": "80% objects, shared sampled objects, fixed factor scores; conditional cluster stability, not whole-pipeline validation"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"relative_to_q2": {</a:t>
            </a:r>
          </a:p>
          <a:p xmlns:a="http://schemas.openxmlformats.org/drawingml/2006/main">
            <a:r>
              <a:t>    "k_reference": 3,</a:t>
            </a:r>
          </a:p>
          <a:p xmlns:a="http://schemas.openxmlformats.org/drawingml/2006/main">
            <a:r>
              <a:t>    "k_target": 4,</a:t>
            </a:r>
          </a:p>
          <a:p xmlns:a="http://schemas.openxmlformats.org/drawingml/2006/main">
            <a:r>
              <a:t>    "ari": 0.7394109861019192,</a:t>
            </a:r>
          </a:p>
          <a:p xmlns:a="http://schemas.openxmlformats.org/drawingml/2006/main">
            <a:r>
              <a:t>    "nmi": 0.7574926203835187,</a:t>
            </a:r>
          </a:p>
          <a:p xmlns:a="http://schemas.openxmlformats.org/drawingml/2006/main">
            <a:r>
              <a:t>    "overlap": {</a:t>
            </a:r>
          </a:p>
          <a:p xmlns:a="http://schemas.openxmlformats.org/drawingml/2006/main">
            <a:r>
              <a:t>      "rows": [</a:t>
            </a:r>
          </a:p>
          <a:p xmlns:a="http://schemas.openxmlformats.org/drawingml/2006/main">
            <a:r>
              <a:t>        "C1",</a:t>
            </a:r>
          </a:p>
          <a:p xmlns:a="http://schemas.openxmlformats.org/drawingml/2006/main">
            <a:r>
              <a:t>        "C2",</a:t>
            </a:r>
          </a:p>
          <a:p xmlns:a="http://schemas.openxmlformats.org/drawingml/2006/main">
            <a:r>
              <a:t>        "C3"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"columns": [</a:t>
            </a:r>
          </a:p>
          <a:p xmlns:a="http://schemas.openxmlformats.org/drawingml/2006/main">
            <a:r>
              <a:t>        "C1",</a:t>
            </a:r>
          </a:p>
          <a:p xmlns:a="http://schemas.openxmlformats.org/drawingml/2006/main">
            <a:r>
              <a:t>        "C2",</a:t>
            </a:r>
          </a:p>
          <a:p xmlns:a="http://schemas.openxmlformats.org/drawingml/2006/main">
            <a:r>
              <a:t>        "C3",</a:t>
            </a:r>
          </a:p>
          <a:p xmlns:a="http://schemas.openxmlformats.org/drawingml/2006/main">
            <a:r>
              <a:t>        "C4"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"values":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35,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0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"scope": "Raw cluster labels are model-local. Intersections describe regrouping; no cross-k moved-count is inferred."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"relative_to_fixed_k3": {</a:t>
            </a:r>
          </a:p>
          <a:p xmlns:a="http://schemas.openxmlformats.org/drawingml/2006/main">
            <a:r>
              <a:t>    "k_reference": 3,</a:t>
            </a:r>
          </a:p>
          <a:p xmlns:a="http://schemas.openxmlformats.org/drawingml/2006/main">
            <a:r>
              <a:t>    "k_target": 4,</a:t>
            </a:r>
          </a:p>
          <a:p xmlns:a="http://schemas.openxmlformats.org/drawingml/2006/main">
            <a:r>
              <a:t>    "ari": 0.7193739788459885,</a:t>
            </a:r>
          </a:p>
          <a:p xmlns:a="http://schemas.openxmlformats.org/drawingml/2006/main">
            <a:r>
              <a:t>    "nmi": 0.6542100123215066,</a:t>
            </a:r>
          </a:p>
          <a:p xmlns:a="http://schemas.openxmlformats.org/drawingml/2006/main">
            <a:r>
              <a:t>    "overlap": {</a:t>
            </a:r>
          </a:p>
          <a:p xmlns:a="http://schemas.openxmlformats.org/drawingml/2006/main">
            <a:r>
              <a:t>      "rows": [</a:t>
            </a:r>
          </a:p>
          <a:p xmlns:a="http://schemas.openxmlformats.org/drawingml/2006/main">
            <a:r>
              <a:t>        "C1",</a:t>
            </a:r>
          </a:p>
          <a:p xmlns:a="http://schemas.openxmlformats.org/drawingml/2006/main">
            <a:r>
              <a:t>        "C2",</a:t>
            </a:r>
          </a:p>
          <a:p xmlns:a="http://schemas.openxmlformats.org/drawingml/2006/main">
            <a:r>
              <a:t>        "C3"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"columns": [</a:t>
            </a:r>
          </a:p>
          <a:p xmlns:a="http://schemas.openxmlformats.org/drawingml/2006/main">
            <a:r>
              <a:t>        "C1",</a:t>
            </a:r>
          </a:p>
          <a:p xmlns:a="http://schemas.openxmlformats.org/drawingml/2006/main">
            <a:r>
              <a:t>        "C2",</a:t>
            </a:r>
          </a:p>
          <a:p xmlns:a="http://schemas.openxmlformats.org/drawingml/2006/main">
            <a:r>
              <a:t>        "C3",</a:t>
            </a:r>
          </a:p>
          <a:p xmlns:a="http://schemas.openxmlformats.org/drawingml/2006/main">
            <a:r>
              <a:t>        "C4"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"values":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33,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0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"scope": "Raw cluster labels are model-local. Intersections describe regrouping; no cross-k moved-count is inferred."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"q": 4,</a:t>
            </a:r>
          </a:p>
          <a:p xmlns:a="http://schemas.openxmlformats.org/drawingml/2006/main">
            <a:r>
              <a:t>  "k": 4,</a:t>
            </a:r>
          </a:p>
          <a:p xmlns:a="http://schemas.openxmlformats.org/drawingml/2006/main">
            <a:r>
              <a:t>  "path": "models/q4/selected_k4",</a:t>
            </a:r>
          </a:p>
          <a:p xmlns:a="http://schemas.openxmlformats.org/drawingml/2006/main">
            <a:r>
              <a:t>  "selection_reason": "Для содержательного сравнения предпочтительно k=4, хотя численное правило предлагает k=3. При k=4 отделяются институциональная партийно-электоральная конкуренция (13) и персональная антивоенная стратегия (10), которые при k=3 объединяются с другими профилями. Отдельно остаются конфронтационная мобилизация (9) и централизация с управленческим представительством (31). Эти четыре сочетания согласуются с q=3, k=4: полностью сохраняется десятка персональной оппозиционной стратегии и ядро из восьми конфронтационных образов, а институциональная электоральная группа расширяется с 10 до 13.\n\nВыбор не сводится к максимуму показателя: при k=4 силуэт 0,326 против 0,307 у k=3, средний ARI 0,856 против 0,805, но минимальный медианный Jaccard ниже — 0,757 против 0,875. Разница силуэтов около 0,019 укладывается в допуск численного правила, поэтому оно предпочитает более компактное k=3; содержательное разделение стратегий оправдывает показ k=4 как дополнительной типологии. k=5…10 выделяют управленческие, партийно-программные и радикальные подтипы, однако часть групп мала или слабо воспроизводится. Это исследовательский выбор, не доказательство естественных классов.",</a:t>
            </a:r>
          </a:p>
          <a:p xmlns:a="http://schemas.openxmlformats.org/drawingml/2006/main">
            <a:r>
              <a:t>  "selection_authority": "assistant_review_of_all_computed_candidate_profiles",</a:t>
            </a:r>
          </a:p>
          <a:p xmlns:a="http://schemas.openxmlformats.org/drawingml/2006/main">
            <a:r>
              <a:t>  "clusters":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"C1",</a:t>
            </a:r>
          </a:p>
          <a:p xmlns:a="http://schemas.openxmlformats.org/drawingml/2006/main">
            <a:r>
              <a:t>      "name": "Конфронтационная мобилизация и персональный бренд",</a:t>
            </a:r>
          </a:p>
          <a:p xmlns:a="http://schemas.openxmlformats.org/drawingml/2006/main">
            <a:r>
              <a:t>      "count": 9,</a:t>
            </a:r>
          </a:p>
          <a:p xmlns:a="http://schemas.openxmlformats.org/drawingml/2006/main">
            <a:r>
              <a:t>      "members":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"vladimir-putin",</a:t>
            </a:r>
          </a:p>
          <a:p xmlns:a="http://schemas.openxmlformats.org/drawingml/2006/main">
            <a:r>
              <a:t>          "name": "Владимир Путин"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"vladimir-zhirinovsky",</a:t>
            </a:r>
          </a:p>
          <a:p xmlns:a="http://schemas.openxmlformats.org/drawingml/2006/main">
            <a:r>
              <a:t>          "name": "Владимир Жириновский"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"zakhar-prilepin",</a:t>
            </a:r>
          </a:p>
          <a:p xmlns:a="http://schemas.openxmlformats.org/drawingml/2006/main">
            <a:r>
              <a:t>          "name": "Захар Прилепин"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"ramzan-kadyrov",</a:t>
            </a:r>
          </a:p>
          <a:p xmlns:a="http://schemas.openxmlformats.org/drawingml/2006/main">
            <a:r>
              <a:t>          "name": "Рамзан Кадыров"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"ilya-ponomarev",</a:t>
            </a:r>
          </a:p>
          <a:p xmlns:a="http://schemas.openxmlformats.org/drawingml/2006/main">
            <a:r>
              <a:t>          "name": "Илья Пономарёв"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"sergey-udaltsov",</a:t>
            </a:r>
          </a:p>
          <a:p xmlns:a="http://schemas.openxmlformats.org/drawingml/2006/main">
            <a:r>
              <a:t>          "name": "Сергей Удальцов"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"eduard-limonov",</a:t>
            </a:r>
          </a:p>
          <a:p xmlns:a="http://schemas.openxmlformats.org/drawingml/2006/main">
            <a:r>
              <a:t>          "name": "Эдуард Лимонов"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"igor-strelkov",</a:t>
            </a:r>
          </a:p>
          <a:p xmlns:a="http://schemas.openxmlformats.org/drawingml/2006/main">
            <a:r>
              <a:t>          "name": "Игорь Стрелков (Гиркин)"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"yevgeny-prigozhin",</a:t>
            </a:r>
          </a:p>
          <a:p xmlns:a="http://schemas.openxmlformats.org/drawingml/2006/main">
            <a:r>
              <a:t>          "name": "Евгений Пригожин"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"representatives":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"sergey-udaltsov",</a:t>
            </a:r>
          </a:p>
          <a:p xmlns:a="http://schemas.openxmlformats.org/drawingml/2006/main">
            <a:r>
              <a:t>          "name": "Сергей Удальцов",</a:t>
            </a:r>
          </a:p>
          <a:p xmlns:a="http://schemas.openxmlformats.org/drawingml/2006/main">
            <a:r>
              <a:t>          "distance": 1.0624109762113059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"zakhar-prilepin",</a:t>
            </a:r>
          </a:p>
          <a:p xmlns:a="http://schemas.openxmlformats.org/drawingml/2006/main">
            <a:r>
              <a:t>          "name": "Захар Прилепин",</a:t>
            </a:r>
          </a:p>
          <a:p xmlns:a="http://schemas.openxmlformats.org/drawingml/2006/main">
            <a:r>
              <a:t>          "distance": 1.2497445982111546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"vladimir-zhirinovsky",</a:t>
            </a:r>
          </a:p>
          <a:p xmlns:a="http://schemas.openxmlformats.org/drawingml/2006/main">
            <a:r>
              <a:t>          "name": "Владимир Жириновский",</a:t>
            </a:r>
          </a:p>
          <a:p xmlns:a="http://schemas.openxmlformats.org/drawingml/2006/main">
            <a:r>
              <a:t>          "distance": 1.2532309091214084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"eduard-limonov",</a:t>
            </a:r>
          </a:p>
          <a:p xmlns:a="http://schemas.openxmlformats.org/drawingml/2006/main">
            <a:r>
              <a:t>          "name": "Эдуард Лимонов",</a:t>
            </a:r>
          </a:p>
          <a:p xmlns:a="http://schemas.openxmlformats.org/drawingml/2006/main">
            <a:r>
              <a:t>          "distance": 1.3728802838298217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"igor-strelkov",</a:t>
            </a:r>
          </a:p>
          <a:p xmlns:a="http://schemas.openxmlformats.org/drawingml/2006/main">
            <a:r>
              <a:t>          "name": "Игорь Стрелков (Гиркин)",</a:t>
            </a:r>
          </a:p>
          <a:p xmlns:a="http://schemas.openxmlformats.org/drawingml/2006/main">
            <a:r>
              <a:t>          "distance": 1.3988063091344864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"factor_center": {</a:t>
            </a:r>
          </a:p>
          <a:p xmlns:a="http://schemas.openxmlformats.org/drawingml/2006/main">
            <a:r>
              <a:t>        "F1": 0.3913430491365019,</a:t>
            </a:r>
          </a:p>
          <a:p xmlns:a="http://schemas.openxmlformats.org/drawingml/2006/main">
            <a:r>
              <a:t>        "F2": -1.169324835127534,</a:t>
            </a:r>
          </a:p>
          <a:p xmlns:a="http://schemas.openxmlformats.org/drawingml/2006/main">
            <a:r>
              <a:t>        "F3": 1.29858344693766,</a:t>
            </a:r>
          </a:p>
          <a:p xmlns:a="http://schemas.openxmlformats.org/drawingml/2006/main">
            <a:r>
              <a:t>        "F4": -0.5391564849371596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"distinguishing_scales":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"conflictuality",</a:t>
            </a:r>
          </a:p>
          <a:p xmlns:a="http://schemas.openxmlformats.org/drawingml/2006/main">
            <a:r>
              <a:t>          "name": "Конфронтация — компромисс",</a:t>
            </a:r>
          </a:p>
          <a:p xmlns:a="http://schemas.openxmlformats.org/drawingml/2006/main">
            <a:r>
              <a:t>          "positive": "Конфронтационная полемика и жёсткое противопоставление оппонентам",</a:t>
            </a:r>
          </a:p>
          <a:p xmlns:a="http://schemas.openxmlformats.org/drawingml/2006/main">
            <a:r>
              <a:t>          "negative": "Компромиссная и согласительная риторика",</a:t>
            </a:r>
          </a:p>
          <a:p xmlns:a="http://schemas.openxmlformats.org/drawingml/2006/main">
            <a:r>
              <a:t>          "difference": 1.384021634163101,</a:t>
            </a:r>
          </a:p>
          <a:p xmlns:a="http://schemas.openxmlformats.org/drawingml/2006/main">
            <a:r>
              <a:t>          "group_mean": 3.6666666666666665,</a:t>
            </a:r>
          </a:p>
          <a:p xmlns:a="http://schemas.openxmlformats.org/drawingml/2006/main">
            <a:r>
              <a:t>          "overall_mean": 0.9180327868852459,</a:t>
            </a:r>
          </a:p>
          <a:p xmlns:a="http://schemas.openxmlformats.org/drawingml/2006/main">
            <a:r>
              <a:t>          "direction": "positive",</a:t>
            </a:r>
          </a:p>
          <a:p xmlns:a="http://schemas.openxmlformats.org/drawingml/2006/main">
            <a:r>
              <a:t>          "observed_group_count": 9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"mobilization-rhetoric",</a:t>
            </a:r>
          </a:p>
          <a:p xmlns:a="http://schemas.openxmlformats.org/drawingml/2006/main">
            <a:r>
              <a:t>          "name": "Мобилизационный призыв — обсуждение и убеждение",</a:t>
            </a:r>
          </a:p>
          <a:p xmlns:a="http://schemas.openxmlformats.org/drawingml/2006/main">
            <a:r>
              <a:t>          "positive": "Призывы к единению, дисциплине и чрезвычайной мобилизации",</a:t>
            </a:r>
          </a:p>
          <a:p xmlns:a="http://schemas.openxmlformats.org/drawingml/2006/main">
            <a:r>
              <a:t>          "negative": "Призывы к открытому обсуждению, сомнению и убеждению",</a:t>
            </a:r>
          </a:p>
          <a:p xmlns:a="http://schemas.openxmlformats.org/drawingml/2006/main">
            <a:r>
              <a:t>          "difference": 1.3050909262097556,</a:t>
            </a:r>
          </a:p>
          <a:p xmlns:a="http://schemas.openxmlformats.org/drawingml/2006/main">
            <a:r>
              <a:t>          "group_mean": 3.3333333333333335,</a:t>
            </a:r>
          </a:p>
          <a:p xmlns:a="http://schemas.openxmlformats.org/drawingml/2006/main">
            <a:r>
              <a:t>          "overall_mean": 0.6379310344827587,</a:t>
            </a:r>
          </a:p>
          <a:p xmlns:a="http://schemas.openxmlformats.org/drawingml/2006/main">
            <a:r>
              <a:t>          "direction": "positive",</a:t>
            </a:r>
          </a:p>
          <a:p xmlns:a="http://schemas.openxmlformats.org/drawingml/2006/main">
            <a:r>
              <a:t>          "observed_group_count": 9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"media-personalization",</a:t>
            </a:r>
          </a:p>
          <a:p xmlns:a="http://schemas.openxmlformats.org/drawingml/2006/main">
            <a:r>
              <a:t>          "name": "Персональный бренд — коллективный институт",</a:t>
            </a:r>
          </a:p>
          <a:p xmlns:a="http://schemas.openxmlformats.org/drawingml/2006/main">
            <a:r>
              <a:t>          "positive": "Личный бренд и обращение от собственного имени",</a:t>
            </a:r>
          </a:p>
          <a:p xmlns:a="http://schemas.openxmlformats.org/drawingml/2006/main">
            <a:r>
              <a:t>          "negative": "Коллективное представительство и институциональное авторство",</a:t>
            </a:r>
          </a:p>
          <a:p xmlns:a="http://schemas.openxmlformats.org/drawingml/2006/main">
            <a:r>
              <a:t>          "difference": 1.1663897788814293,</a:t>
            </a:r>
          </a:p>
          <a:p xmlns:a="http://schemas.openxmlformats.org/drawingml/2006/main">
            <a:r>
              <a:t>          "group_mean": 2.4444444444444446,</a:t>
            </a:r>
          </a:p>
          <a:p xmlns:a="http://schemas.openxmlformats.org/drawingml/2006/main">
            <a:r>
              <a:t>          "overall_mean": -0.031746031746031744,</a:t>
            </a:r>
          </a:p>
          <a:p xmlns:a="http://schemas.openxmlformats.org/drawingml/2006/main">
            <a:r>
              <a:t>          "direction": "positive",</a:t>
            </a:r>
          </a:p>
          <a:p xmlns:a="http://schemas.openxmlformats.org/drawingml/2006/main">
            <a:r>
              <a:t>          "observed_group_count": 9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"parliamentary-institutional",</a:t>
            </a:r>
          </a:p>
          <a:p xmlns:a="http://schemas.openxmlformats.org/drawingml/2006/main">
            <a:r>
              <a:t>          "name": "Институциональная работа — протестное действие",</a:t>
            </a:r>
          </a:p>
          <a:p xmlns:a="http://schemas.openxmlformats.org/drawingml/2006/main">
            <a:r>
              <a:t>          "positive": "Изменения через действующие правовые и парламентские процедуры",</a:t>
            </a:r>
          </a:p>
          <a:p xmlns:a="http://schemas.openxmlformats.org/drawingml/2006/main">
            <a:r>
              <a:t>          "negative": "Изменения через внеинституциональное протестное давление",</a:t>
            </a:r>
          </a:p>
          <a:p xmlns:a="http://schemas.openxmlformats.org/drawingml/2006/main">
            <a:r>
              <a:t>          "difference": -1.1069505089229446,</a:t>
            </a:r>
          </a:p>
          <a:p xmlns:a="http://schemas.openxmlformats.org/drawingml/2006/main">
            <a:r>
              <a:t>          "group_mean": -1.2222222222222223,</a:t>
            </a:r>
          </a:p>
          <a:p xmlns:a="http://schemas.openxmlformats.org/drawingml/2006/main">
            <a:r>
              <a:t>          "overall_mean": 1.7333333333333334,</a:t>
            </a:r>
          </a:p>
          <a:p xmlns:a="http://schemas.openxmlformats.org/drawingml/2006/main">
            <a:r>
              <a:t>          "direction": "negative",</a:t>
            </a:r>
          </a:p>
          <a:p xmlns:a="http://schemas.openxmlformats.org/drawingml/2006/main">
            <a:r>
              <a:t>          "observed_group_count": 9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"rhetorical-simplicity",</a:t>
            </a:r>
          </a:p>
          <a:p xmlns:a="http://schemas.openxmlformats.org/drawingml/2006/main">
            <a:r>
              <a:t>          "name": "Лозунговая простота — развёрнутая аргументация",</a:t>
            </a:r>
          </a:p>
          <a:p xmlns:a="http://schemas.openxmlformats.org/drawingml/2006/main">
            <a:r>
              <a:t>          "positive": "Краткие лозунги и обещания простых быстрых решений",</a:t>
            </a:r>
          </a:p>
          <a:p xmlns:a="http://schemas.openxmlformats.org/drawingml/2006/main">
            <a:r>
              <a:t>          "negative": "Развёрнутое объяснение механизмов, ограничений и альтернатив",</a:t>
            </a:r>
          </a:p>
          <a:p xmlns:a="http://schemas.openxmlformats.org/drawingml/2006/main">
            <a:r>
              <a:t>          "difference": 0.9274901039623945,</a:t>
            </a:r>
          </a:p>
          <a:p xmlns:a="http://schemas.openxmlformats.org/drawingml/2006/main">
            <a:r>
              <a:t>          "group_mean": 1,</a:t>
            </a:r>
          </a:p>
          <a:p xmlns:a="http://schemas.openxmlformats.org/drawingml/2006/main">
            <a:r>
              <a:t>          "overall_mean": -0.5517241379310345,</a:t>
            </a:r>
          </a:p>
          <a:p xmlns:a="http://schemas.openxmlformats.org/drawingml/2006/main">
            <a:r>
              <a:t>          "direction": "positive",</a:t>
            </a:r>
          </a:p>
          <a:p xmlns:a="http://schemas.openxmlformats.org/drawingml/2006/main">
            <a:r>
              <a:t>          "observed_group_count": 8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"national-patriotism",</a:t>
            </a:r>
          </a:p>
          <a:p xmlns:a="http://schemas.openxmlformats.org/drawingml/2006/main">
            <a:r>
              <a:t>          "name": "Национальная общность — универсальные права",</a:t>
            </a:r>
          </a:p>
          <a:p xmlns:a="http://schemas.openxmlformats.org/drawingml/2006/main">
            <a:r>
              <a:t>          "positive": "Особые интересы национальной общности и защита культурной идентичности",</a:t>
            </a:r>
          </a:p>
          <a:p xmlns:a="http://schemas.openxmlformats.org/drawingml/2006/main">
            <a:r>
              <a:t>          "negative": "Универсальные права и равное отношение независимо от национальной принадлежности",</a:t>
            </a:r>
          </a:p>
          <a:p xmlns:a="http://schemas.openxmlformats.org/drawingml/2006/main">
            <a:r>
              <a:t>          "difference": 0.9035448488851741,</a:t>
            </a:r>
          </a:p>
          <a:p xmlns:a="http://schemas.openxmlformats.org/drawingml/2006/main">
            <a:r>
              <a:t>          "group_mean": 3.625,</a:t>
            </a:r>
          </a:p>
          <a:p xmlns:a="http://schemas.openxmlformats.org/drawingml/2006/main">
            <a:r>
              <a:t>          "overall_mean": 1.6956521739130435,</a:t>
            </a:r>
          </a:p>
          <a:p xmlns:a="http://schemas.openxmlformats.org/drawingml/2006/main">
            <a:r>
              <a:t>          "direction": "positive",</a:t>
            </a:r>
          </a:p>
          <a:p xmlns:a="http://schemas.openxmlformats.org/drawingml/2006/main">
            <a:r>
              <a:t>          "observed_group_count": 8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"interpretation": "К исходной конфронтационной восьмёрке добавляется Путин. Средние F3=+1,30 и F2=−1,17 отражают конфронтацию, мобилизационную риторику и персонализацию при ином полюсе внешнеполитической оси. Представители центра — Сергей Удальцов, Захар Прилепин и Владимир Жириновский. Путин не является наиболее близким представителем конфронтационного полюса: его попадание определяется расстоянием по всем четырём координатам. Общность риторического профиля не означает совпадения отношения к действующей власти, войны или организационного союза.",</a:t>
            </a:r>
          </a:p>
          <a:p xmlns:a="http://schemas.openxmlformats.org/drawingml/2006/main">
            <a:r>
              <a:t>      "boundary_objects": [</a:t>
            </a:r>
          </a:p>
          <a:p xmlns:a="http://schemas.openxmlformats.org/drawingml/2006/main">
            <a:r>
              <a:t>        "vladimir-putin"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"stability": {</a:t>
            </a:r>
          </a:p>
          <a:p xmlns:a="http://schemas.openxmlformats.org/drawingml/2006/main">
            <a:r>
              <a:t>        "median_jaccard": 0.7571428571428571,</a:t>
            </a:r>
          </a:p>
          <a:p xmlns:a="http://schemas.openxmlformats.org/drawingml/2006/main">
            <a:r>
              <a:t>        "conditional_mean_ari": 0.8557870577763491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"numeric_label": "Группа 1",</a:t>
            </a:r>
          </a:p>
          <a:p xmlns:a="http://schemas.openxmlformats.org/drawingml/2006/main">
            <a:r>
              <a:t>      "label": "Конфронтационная мобилизация и персональный бренд"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"C2",</a:t>
            </a:r>
          </a:p>
          <a:p xmlns:a="http://schemas.openxmlformats.org/drawingml/2006/main">
            <a:r>
              <a:t>      "name": "Персональная антивоенная оппозиционная стратегия",</a:t>
            </a:r>
          </a:p>
          <a:p xmlns:a="http://schemas.openxmlformats.org/drawingml/2006/main">
            <a:r>
              <a:t>      "count": 10,</a:t>
            </a:r>
          </a:p>
          <a:p xmlns:a="http://schemas.openxmlformats.org/drawingml/2006/main">
            <a:r>
              <a:t>      "members":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"yevgeny-royzman",</a:t>
            </a:r>
          </a:p>
          <a:p xmlns:a="http://schemas.openxmlformats.org/drawingml/2006/main">
            <a:r>
              <a:t>          "name": "Евгений Ройзман"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"alexey-navalny",</a:t>
            </a:r>
          </a:p>
          <a:p xmlns:a="http://schemas.openxmlformats.org/drawingml/2006/main">
            <a:r>
              <a:t>          "name": "Алексей Навальный"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"ilya-yashin",</a:t>
            </a:r>
          </a:p>
          <a:p xmlns:a="http://schemas.openxmlformats.org/drawingml/2006/main">
            <a:r>
              <a:t>          "name": "Илья Яшин"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"vladimir-kara-murza",</a:t>
            </a:r>
          </a:p>
          <a:p xmlns:a="http://schemas.openxmlformats.org/drawingml/2006/main">
            <a:r>
              <a:t>          "name": "Владимир Кара-Мурза"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"gennady-gudkov",</a:t>
            </a:r>
          </a:p>
          <a:p xmlns:a="http://schemas.openxmlformats.org/drawingml/2006/main">
            <a:r>
              <a:t>          "name": "Геннадий Гудков"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"garry-kasparov",</a:t>
            </a:r>
          </a:p>
          <a:p xmlns:a="http://schemas.openxmlformats.org/drawingml/2006/main">
            <a:r>
              <a:t>          "name": "Гарри Каспаров"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"mikhail-khodorkovsky",</a:t>
            </a:r>
          </a:p>
          <a:p xmlns:a="http://schemas.openxmlformats.org/drawingml/2006/main">
            <a:r>
              <a:t>          "name": "Михаил Ходорковский"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"vladimir-milov",</a:t>
            </a:r>
          </a:p>
          <a:p xmlns:a="http://schemas.openxmlformats.org/drawingml/2006/main">
            <a:r>
              <a:t>          "name": "Владимир Милов"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"lyubov-sobol",</a:t>
            </a:r>
          </a:p>
          <a:p xmlns:a="http://schemas.openxmlformats.org/drawingml/2006/main">
            <a:r>
              <a:t>          "name": "Любовь Соболь"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"leonid-gozman",</a:t>
            </a:r>
          </a:p>
          <a:p xmlns:a="http://schemas.openxmlformats.org/drawingml/2006/main">
            <a:r>
              <a:t>          "name": "Леонид Гозман"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"representatives":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"ilya-yashin",</a:t>
            </a:r>
          </a:p>
          <a:p xmlns:a="http://schemas.openxmlformats.org/drawingml/2006/main">
            <a:r>
              <a:t>          "name": "Илья Яшин",</a:t>
            </a:r>
          </a:p>
          <a:p xmlns:a="http://schemas.openxmlformats.org/drawingml/2006/main">
            <a:r>
              <a:t>          "distance": 0.6631342710769491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"lyubov-sobol",</a:t>
            </a:r>
          </a:p>
          <a:p xmlns:a="http://schemas.openxmlformats.org/drawingml/2006/main">
            <a:r>
              <a:t>          "name": "Любовь Соболь",</a:t>
            </a:r>
          </a:p>
          <a:p xmlns:a="http://schemas.openxmlformats.org/drawingml/2006/main">
            <a:r>
              <a:t>          "distance": 0.680973238100347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"alexey-navalny",</a:t>
            </a:r>
          </a:p>
          <a:p xmlns:a="http://schemas.openxmlformats.org/drawingml/2006/main">
            <a:r>
              <a:t>          "name": "Алексей Навальный",</a:t>
            </a:r>
          </a:p>
          <a:p xmlns:a="http://schemas.openxmlformats.org/drawingml/2006/main">
            <a:r>
              <a:t>          "distance": 0.8007131381791227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"mikhail-khodorkovsky",</a:t>
            </a:r>
          </a:p>
          <a:p xmlns:a="http://schemas.openxmlformats.org/drawingml/2006/main">
            <a:r>
              <a:t>          "name": "Михаил Ходорковский",</a:t>
            </a:r>
          </a:p>
          <a:p xmlns:a="http://schemas.openxmlformats.org/drawingml/2006/main">
            <a:r>
              <a:t>          "distance": 0.8931577872451198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"leonid-gozman",</a:t>
            </a:r>
          </a:p>
          <a:p xmlns:a="http://schemas.openxmlformats.org/drawingml/2006/main">
            <a:r>
              <a:t>          "name": "Леонид Гозман",</a:t>
            </a:r>
          </a:p>
          <a:p xmlns:a="http://schemas.openxmlformats.org/drawingml/2006/main">
            <a:r>
              <a:t>          "distance": 0.9728186755990625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"factor_center": {</a:t>
            </a:r>
          </a:p>
          <a:p xmlns:a="http://schemas.openxmlformats.org/drawingml/2006/main">
            <a:r>
              <a:t>        "F1": 0.7908959477857221,</a:t>
            </a:r>
          </a:p>
          <a:p xmlns:a="http://schemas.openxmlformats.org/drawingml/2006/main">
            <a:r>
              <a:t>        "F2": 1.4290161945845865,</a:t>
            </a:r>
          </a:p>
          <a:p xmlns:a="http://schemas.openxmlformats.org/drawingml/2006/main">
            <a:r>
              <a:t>        "F3": 0.9600363455648284,</a:t>
            </a:r>
          </a:p>
          <a:p xmlns:a="http://schemas.openxmlformats.org/drawingml/2006/main">
            <a:r>
              <a:t>        "F4": -0.017294276058253837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"distinguishing_scales":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"security-sovereignty",</a:t>
            </a:r>
          </a:p>
          <a:p xmlns:a="http://schemas.openxmlformats.org/drawingml/2006/main">
            <a:r>
              <a:t>          "name": "Суверенная самостоятельность — международная интеграция",</a:t>
            </a:r>
          </a:p>
          <a:p xmlns:a="http://schemas.openxmlformats.org/drawingml/2006/main">
            <a:r>
              <a:t>          "positive": "Суверенная самостоятельность и защита от внешнего влияния",</a:t>
            </a:r>
          </a:p>
          <a:p xmlns:a="http://schemas.openxmlformats.org/drawingml/2006/main">
            <a:r>
              <a:t>          "negative": "Международная интеграция и взаимозависимость",</a:t>
            </a:r>
          </a:p>
          <a:p xmlns:a="http://schemas.openxmlformats.org/drawingml/2006/main">
            <a:r>
              <a:t>          "difference": -2.054358213934092,</a:t>
            </a:r>
          </a:p>
          <a:p xmlns:a="http://schemas.openxmlformats.org/drawingml/2006/main">
            <a:r>
              <a:t>          "group_mean": -3.5714285714285716,</a:t>
            </a:r>
          </a:p>
          <a:p xmlns:a="http://schemas.openxmlformats.org/drawingml/2006/main">
            <a:r>
              <a:t>          "overall_mean": 1.607843137254902,</a:t>
            </a:r>
          </a:p>
          <a:p xmlns:a="http://schemas.openxmlformats.org/drawingml/2006/main">
            <a:r>
              <a:t>          "direction": "negative",</a:t>
            </a:r>
          </a:p>
          <a:p xmlns:a="http://schemas.openxmlformats.org/drawingml/2006/main">
            <a:r>
              <a:t>          "observed_group_count": 7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"national-patriotism",</a:t>
            </a:r>
          </a:p>
          <a:p xmlns:a="http://schemas.openxmlformats.org/drawingml/2006/main">
            <a:r>
              <a:t>          "name": "Национальная общность — универсальные права",</a:t>
            </a:r>
          </a:p>
          <a:p xmlns:a="http://schemas.openxmlformats.org/drawingml/2006/main">
            <a:r>
              <a:t>          "positive": "Особые интересы национальной общности и защита культурной идентичности",</a:t>
            </a:r>
          </a:p>
          <a:p xmlns:a="http://schemas.openxmlformats.org/drawingml/2006/main">
            <a:r>
              <a:t>          "negative": "Универсальные права и равное отношение независимо от национальной принадлежности",</a:t>
            </a:r>
          </a:p>
          <a:p xmlns:a="http://schemas.openxmlformats.org/drawingml/2006/main">
            <a:r>
              <a:t>          "difference": -1.918060276393992,</a:t>
            </a:r>
          </a:p>
          <a:p xmlns:a="http://schemas.openxmlformats.org/drawingml/2006/main">
            <a:r>
              <a:t>          "group_mean": -2.4,</a:t>
            </a:r>
          </a:p>
          <a:p xmlns:a="http://schemas.openxmlformats.org/drawingml/2006/main">
            <a:r>
              <a:t>          "overall_mean": 1.6956521739130435,</a:t>
            </a:r>
          </a:p>
          <a:p xmlns:a="http://schemas.openxmlformats.org/drawingml/2006/main">
            <a:r>
              <a:t>          "direction": "negative",</a:t>
            </a:r>
          </a:p>
          <a:p xmlns:a="http://schemas.openxmlformats.org/drawingml/2006/main">
            <a:r>
              <a:t>          "observed_group_count": 5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"federal-loyalty",</a:t>
            </a:r>
          </a:p>
          <a:p xmlns:a="http://schemas.openxmlformats.org/drawingml/2006/main">
            <a:r>
              <a:t>          "name": "Централизация — децентрализация",</a:t>
            </a:r>
          </a:p>
          <a:p xmlns:a="http://schemas.openxmlformats.org/drawingml/2006/main">
            <a:r>
              <a:t>          "positive": "Единая вертикаль и концентрация полномочий в центре",</a:t>
            </a:r>
          </a:p>
          <a:p xmlns:a="http://schemas.openxmlformats.org/drawingml/2006/main">
            <a:r>
              <a:t>          "negative": "Региональная и муниципальная автономия, распределение полномочий",</a:t>
            </a:r>
          </a:p>
          <a:p xmlns:a="http://schemas.openxmlformats.org/drawingml/2006/main">
            <a:r>
              <a:t>          "difference": -1.6520465011377246,</a:t>
            </a:r>
          </a:p>
          <a:p xmlns:a="http://schemas.openxmlformats.org/drawingml/2006/main">
            <a:r>
              <a:t>          "group_mean": -3,</a:t>
            </a:r>
          </a:p>
          <a:p xmlns:a="http://schemas.openxmlformats.org/drawingml/2006/main">
            <a:r>
              <a:t>          "overall_mean": 1.1666666666666667,</a:t>
            </a:r>
          </a:p>
          <a:p xmlns:a="http://schemas.openxmlformats.org/drawingml/2006/main">
            <a:r>
              <a:t>          "direction": "negative",</a:t>
            </a:r>
          </a:p>
          <a:p xmlns:a="http://schemas.openxmlformats.org/drawingml/2006/main">
            <a:r>
              <a:t>          "observed_group_count": 6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"oppositionality",</a:t>
            </a:r>
          </a:p>
          <a:p xmlns:a="http://schemas.openxmlformats.org/drawingml/2006/main">
            <a:r>
              <a:t>          "name": "Критика действующей власти — поддержка её курса",</a:t>
            </a:r>
          </a:p>
          <a:p xmlns:a="http://schemas.openxmlformats.org/drawingml/2006/main">
            <a:r>
              <a:t>          "positive": "Публичная критика действующей федеральной власти",</a:t>
            </a:r>
          </a:p>
          <a:p xmlns:a="http://schemas.openxmlformats.org/drawingml/2006/main">
            <a:r>
              <a:t>          "negative": "Публичная поддержка курса действующей федеральной власти",</a:t>
            </a:r>
          </a:p>
          <a:p xmlns:a="http://schemas.openxmlformats.org/drawingml/2006/main">
            <a:r>
              <a:t>          "difference": 1.457566916911578,</a:t>
            </a:r>
          </a:p>
          <a:p xmlns:a="http://schemas.openxmlformats.org/drawingml/2006/main">
            <a:r>
              <a:t>          "group_mean": 5,</a:t>
            </a:r>
          </a:p>
          <a:p xmlns:a="http://schemas.openxmlformats.org/drawingml/2006/main">
            <a:r>
              <a:t>          "overall_mean": -0.41935483870967744,</a:t>
            </a:r>
          </a:p>
          <a:p xmlns:a="http://schemas.openxmlformats.org/drawingml/2006/main">
            <a:r>
              <a:t>          "direction": "positive",</a:t>
            </a:r>
          </a:p>
          <a:p xmlns:a="http://schemas.openxmlformats.org/drawingml/2006/main">
            <a:r>
              <a:t>          "observed_group_count": 10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"social-policy",</a:t>
            </a:r>
          </a:p>
          <a:p xmlns:a="http://schemas.openxmlformats.org/drawingml/2006/main">
            <a:r>
              <a:t>          "name": "Социальное перераспределение — личная экономическая ответственность",</a:t>
            </a:r>
          </a:p>
          <a:p xmlns:a="http://schemas.openxmlformats.org/drawingml/2006/main">
            <a:r>
              <a:t>          "positive": "Государственные социальные гарантии и перераспределение",</a:t>
            </a:r>
          </a:p>
          <a:p xmlns:a="http://schemas.openxmlformats.org/drawingml/2006/main">
            <a:r>
              <a:t>          "negative": "Личная ответственность и частные механизмы социальной поддержки",</a:t>
            </a:r>
          </a:p>
          <a:p xmlns:a="http://schemas.openxmlformats.org/drawingml/2006/main">
            <a:r>
              <a:t>          "difference": -1.3843863356202695,</a:t>
            </a:r>
          </a:p>
          <a:p xmlns:a="http://schemas.openxmlformats.org/drawingml/2006/main">
            <a:r>
              <a:t>          "group_mean": 0.3333333333333333,</a:t>
            </a:r>
          </a:p>
          <a:p xmlns:a="http://schemas.openxmlformats.org/drawingml/2006/main">
            <a:r>
              <a:t>          "overall_mean": 2.4523809523809526,</a:t>
            </a:r>
          </a:p>
          <a:p xmlns:a="http://schemas.openxmlformats.org/drawingml/2006/main">
            <a:r>
              <a:t>          "direction": "negative",</a:t>
            </a:r>
          </a:p>
          <a:p xmlns:a="http://schemas.openxmlformats.org/drawingml/2006/main">
            <a:r>
              <a:t>          "observed_group_count": 3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"antiwar-rhetoric",</a:t>
            </a:r>
          </a:p>
          <a:p xmlns:a="http://schemas.openxmlformats.org/drawingml/2006/main">
            <a:r>
              <a:t>          "name": "Прекращение военных действий — их продолжение",</a:t>
            </a:r>
          </a:p>
          <a:p xmlns:a="http://schemas.openxmlformats.org/drawingml/2006/main">
            <a:r>
              <a:t>          "positive": "Публичные призывы прекратить военные действия и перейти к миру",</a:t>
            </a:r>
          </a:p>
          <a:p xmlns:a="http://schemas.openxmlformats.org/drawingml/2006/main">
            <a:r>
              <a:t>          "negative": "Публичная поддержка продолжения военных действий ради заявленных целей",</a:t>
            </a:r>
          </a:p>
          <a:p xmlns:a="http://schemas.openxmlformats.org/drawingml/2006/main">
            <a:r>
              <a:t>          "difference": 1.307673266204801,</a:t>
            </a:r>
          </a:p>
          <a:p xmlns:a="http://schemas.openxmlformats.org/drawingml/2006/main">
            <a:r>
              <a:t>          "group_mean": 3.8,</a:t>
            </a:r>
          </a:p>
          <a:p xmlns:a="http://schemas.openxmlformats.org/drawingml/2006/main">
            <a:r>
              <a:t>          "overall_mean": -0.4318181818181818,</a:t>
            </a:r>
          </a:p>
          <a:p xmlns:a="http://schemas.openxmlformats.org/drawingml/2006/main">
            <a:r>
              <a:t>          "direction": "positive",</a:t>
            </a:r>
          </a:p>
          <a:p xmlns:a="http://schemas.openxmlformats.org/drawingml/2006/main">
            <a:r>
              <a:t>          "observed_group_count": 10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"interpretation": "Полностью сохраняется десятка q=3, k=4. Средние F2=+1,43, F3=+0,96 и F1=+0,79 сочетают антивоенную критику, персональную или внеинституциональную стратегию и меньший приоритет централизации. Представители — Илья Яшин, Любовь Соболь и Алексей Навальный. Группа выделяется по измеренным акцентам публичного образа, а не по единству программ или электората.",</a:t>
            </a:r>
          </a:p>
          <a:p xmlns:a="http://schemas.openxmlformats.org/drawingml/2006/main">
            <a:r>
              <a:t>      "boundary_objects": [],</a:t>
            </a:r>
          </a:p>
          <a:p xmlns:a="http://schemas.openxmlformats.org/drawingml/2006/main">
            <a:r>
              <a:t>      "stability": {</a:t>
            </a:r>
          </a:p>
          <a:p xmlns:a="http://schemas.openxmlformats.org/drawingml/2006/main">
            <a:r>
              <a:t>        "median_jaccard": 1,</a:t>
            </a:r>
          </a:p>
          <a:p xmlns:a="http://schemas.openxmlformats.org/drawingml/2006/main">
            <a:r>
              <a:t>        "conditional_mean_ari": 0.8557870577763491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"numeric_label": "Группа 2",</a:t>
            </a:r>
          </a:p>
          <a:p xmlns:a="http://schemas.openxmlformats.org/drawingml/2006/main">
            <a:r>
              <a:t>      "label": "Персональная антивоенная оппозиционная стратегия"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"C3",</a:t>
            </a:r>
          </a:p>
          <a:p xmlns:a="http://schemas.openxmlformats.org/drawingml/2006/main">
            <a:r>
              <a:t>      "name": "Централизация и институциональное управленческое представительство",</a:t>
            </a:r>
          </a:p>
          <a:p xmlns:a="http://schemas.openxmlformats.org/drawingml/2006/main">
            <a:r>
              <a:t>      "count": 31,</a:t>
            </a:r>
          </a:p>
          <a:p xmlns:a="http://schemas.openxmlformats.org/drawingml/2006/main">
            <a:r>
              <a:t>      "members":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"dmitry-medvedev",</a:t>
            </a:r>
          </a:p>
          <a:p xmlns:a="http://schemas.openxmlformats.org/drawingml/2006/main">
            <a:r>
              <a:t>          "name": "Дмитрий Медведев"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"mikhail-mishustin",</a:t>
            </a:r>
          </a:p>
          <a:p xmlns:a="http://schemas.openxmlformats.org/drawingml/2006/main">
            <a:r>
              <a:t>          "name": "Михаил Мишустин"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"sergey-lavrov",</a:t>
            </a:r>
          </a:p>
          <a:p xmlns:a="http://schemas.openxmlformats.org/drawingml/2006/main">
            <a:r>
              <a:t>          "name": "Сергей Лавров"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"sergey-shoigu",</a:t>
            </a:r>
          </a:p>
          <a:p xmlns:a="http://schemas.openxmlformats.org/drawingml/2006/main">
            <a:r>
              <a:t>          "name": "Сергей Шойгу"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"andrey-belousov",</a:t>
            </a:r>
          </a:p>
          <a:p xmlns:a="http://schemas.openxmlformats.org/drawingml/2006/main">
            <a:r>
              <a:t>          "name": "Андрей Белоусов"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"nikolay-patrushev",</a:t>
            </a:r>
          </a:p>
          <a:p xmlns:a="http://schemas.openxmlformats.org/drawingml/2006/main">
            <a:r>
              <a:t>          "name": "Николай Патрушев"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"alexander-bortnikov",</a:t>
            </a:r>
          </a:p>
          <a:p xmlns:a="http://schemas.openxmlformats.org/drawingml/2006/main">
            <a:r>
              <a:t>          "name": "Александр Бортников"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"sergey-kiriyenko",</a:t>
            </a:r>
          </a:p>
          <a:p xmlns:a="http://schemas.openxmlformats.org/drawingml/2006/main">
            <a:r>
              <a:t>          "name": "Сергей Кириенко"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"vyacheslav-volodin",</a:t>
            </a:r>
          </a:p>
          <a:p xmlns:a="http://schemas.openxmlformats.org/drawingml/2006/main">
            <a:r>
              <a:t>          "name": "Вячеслав Володин"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"valentina-matviyenko",</a:t>
            </a:r>
          </a:p>
          <a:p xmlns:a="http://schemas.openxmlformats.org/drawingml/2006/main">
            <a:r>
              <a:t>          "name": "Валентина Матвиенко"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"dmitry-peskov",</a:t>
            </a:r>
          </a:p>
          <a:p xmlns:a="http://schemas.openxmlformats.org/drawingml/2006/main">
            <a:r>
              <a:t>          "name": "Дмитрий Песков"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"elvira-nabiullina",</a:t>
            </a:r>
          </a:p>
          <a:p xmlns:a="http://schemas.openxmlformats.org/drawingml/2006/main">
            <a:r>
              <a:t>          "name": "Эльвира Набиуллина"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"anton-siluanov",</a:t>
            </a:r>
          </a:p>
          <a:p xmlns:a="http://schemas.openxmlformats.org/drawingml/2006/main">
            <a:r>
              <a:t>          "name": "Антон Силуанов"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"tatyana-golikova",</a:t>
            </a:r>
          </a:p>
          <a:p xmlns:a="http://schemas.openxmlformats.org/drawingml/2006/main">
            <a:r>
              <a:t>          "name": "Татьяна Голикова"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"natalya-poklonskaya",</a:t>
            </a:r>
          </a:p>
          <a:p xmlns:a="http://schemas.openxmlformats.org/drawingml/2006/main">
            <a:r>
              <a:t>          "name": "Наталья Поклонская"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"elena-mizulina",</a:t>
            </a:r>
          </a:p>
          <a:p xmlns:a="http://schemas.openxmlformats.org/drawingml/2006/main">
            <a:r>
              <a:t>          "name": "Елена Мизулина"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"vitaly-milonov",</a:t>
            </a:r>
          </a:p>
          <a:p xmlns:a="http://schemas.openxmlformats.org/drawingml/2006/main">
            <a:r>
              <a:t>          "name": "Виталий Милонов"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"nina-ostanina",</a:t>
            </a:r>
          </a:p>
          <a:p xmlns:a="http://schemas.openxmlformats.org/drawingml/2006/main">
            <a:r>
              <a:t>          "name": "Нина Останина"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"valentina-tereshkova",</a:t>
            </a:r>
          </a:p>
          <a:p xmlns:a="http://schemas.openxmlformats.org/drawingml/2006/main">
            <a:r>
              <a:t>          "name": "Валентина Терешкова"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"alexander-khinshtein",</a:t>
            </a:r>
          </a:p>
          <a:p xmlns:a="http://schemas.openxmlformats.org/drawingml/2006/main">
            <a:r>
              <a:t>          "name": "Александр Хинштейн"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"alexey-pushkov",</a:t>
            </a:r>
          </a:p>
          <a:p xmlns:a="http://schemas.openxmlformats.org/drawingml/2006/main">
            <a:r>
              <a:t>          "name": "Алексей Пушков"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"konstantin-kosachev",</a:t>
            </a:r>
          </a:p>
          <a:p xmlns:a="http://schemas.openxmlformats.org/drawingml/2006/main">
            <a:r>
              <a:t>          "name": "Константин Косачёв"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"sergey-sobyanin",</a:t>
            </a:r>
          </a:p>
          <a:p xmlns:a="http://schemas.openxmlformats.org/drawingml/2006/main">
            <a:r>
              <a:t>          "name": "Сергей Собянин"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"alexander-beglov",</a:t>
            </a:r>
          </a:p>
          <a:p xmlns:a="http://schemas.openxmlformats.org/drawingml/2006/main">
            <a:r>
              <a:t>          "name": "Александр Беглов"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"rustam-minnikhanov",</a:t>
            </a:r>
          </a:p>
          <a:p xmlns:a="http://schemas.openxmlformats.org/drawingml/2006/main">
            <a:r>
              <a:t>          "name": "Рустам Минниханов"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"mikhail-degtyarev",</a:t>
            </a:r>
          </a:p>
          <a:p xmlns:a="http://schemas.openxmlformats.org/drawingml/2006/main">
            <a:r>
              <a:t>          "name": "Михаил Дегтярёв"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"sergey-aksyonov",</a:t>
            </a:r>
          </a:p>
          <a:p xmlns:a="http://schemas.openxmlformats.org/drawingml/2006/main">
            <a:r>
              <a:t>          "name": "Сергей Аксёнов"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"mikhail-razvozhayev",</a:t>
            </a:r>
          </a:p>
          <a:p xmlns:a="http://schemas.openxmlformats.org/drawingml/2006/main">
            <a:r>
              <a:t>          "name": "Михаил Развожаев"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"vyacheslav-gladkov",</a:t>
            </a:r>
          </a:p>
          <a:p xmlns:a="http://schemas.openxmlformats.org/drawingml/2006/main">
            <a:r>
              <a:t>          "name": "Вячеслав Гладков"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"andrey-chibis",</a:t>
            </a:r>
          </a:p>
          <a:p xmlns:a="http://schemas.openxmlformats.org/drawingml/2006/main">
            <a:r>
              <a:t>          "name": "Андрей Чибис"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"vadim-shumkov",</a:t>
            </a:r>
          </a:p>
          <a:p xmlns:a="http://schemas.openxmlformats.org/drawingml/2006/main">
            <a:r>
              <a:t>          "name": "Вадим Шумков"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"representatives":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"mikhail-degtyarev",</a:t>
            </a:r>
          </a:p>
          <a:p xmlns:a="http://schemas.openxmlformats.org/drawingml/2006/main">
            <a:r>
              <a:t>          "name": "Михаил Дегтярёв",</a:t>
            </a:r>
          </a:p>
          <a:p xmlns:a="http://schemas.openxmlformats.org/drawingml/2006/main">
            <a:r>
              <a:t>          "distance": 0.2179844042223097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"sergey-lavrov",</a:t>
            </a:r>
          </a:p>
          <a:p xmlns:a="http://schemas.openxmlformats.org/drawingml/2006/main">
            <a:r>
              <a:t>          "name": "Сергей Лавров",</a:t>
            </a:r>
          </a:p>
          <a:p xmlns:a="http://schemas.openxmlformats.org/drawingml/2006/main">
            <a:r>
              <a:t>          "distance": 0.5209877606729348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"mikhail-razvozhayev",</a:t>
            </a:r>
          </a:p>
          <a:p xmlns:a="http://schemas.openxmlformats.org/drawingml/2006/main">
            <a:r>
              <a:t>          "name": "Михаил Развожаев",</a:t>
            </a:r>
          </a:p>
          <a:p xmlns:a="http://schemas.openxmlformats.org/drawingml/2006/main">
            <a:r>
              <a:t>          "distance": 0.5306338407128024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"sergey-kiriyenko",</a:t>
            </a:r>
          </a:p>
          <a:p xmlns:a="http://schemas.openxmlformats.org/drawingml/2006/main">
            <a:r>
              <a:t>          "name": "Сергей Кириенко",</a:t>
            </a:r>
          </a:p>
          <a:p xmlns:a="http://schemas.openxmlformats.org/drawingml/2006/main">
            <a:r>
              <a:t>          "distance": 0.5615545595508851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"sergey-shoigu",</a:t>
            </a:r>
          </a:p>
          <a:p xmlns:a="http://schemas.openxmlformats.org/drawingml/2006/main">
            <a:r>
              <a:t>          "name": "Сергей Шойгу",</a:t>
            </a:r>
          </a:p>
          <a:p xmlns:a="http://schemas.openxmlformats.org/drawingml/2006/main">
            <a:r>
              <a:t>          "distance": 0.5665495926505756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"factor_center": {</a:t>
            </a:r>
          </a:p>
          <a:p xmlns:a="http://schemas.openxmlformats.org/drawingml/2006/main">
            <a:r>
              <a:t>        "F1": -0.6198077515904642,</a:t>
            </a:r>
          </a:p>
          <a:p xmlns:a="http://schemas.openxmlformats.org/drawingml/2006/main">
            <a:r>
              <a:t>        "F2": -0.29763812323163885,</a:t>
            </a:r>
          </a:p>
          <a:p xmlns:a="http://schemas.openxmlformats.org/drawingml/2006/main">
            <a:r>
              <a:t>        "F3": -0.3577912919096343,</a:t>
            </a:r>
          </a:p>
          <a:p xmlns:a="http://schemas.openxmlformats.org/drawingml/2006/main">
            <a:r>
              <a:t>        "F4": 0.40982730113011007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"distinguishing_scales":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"electoral-legitimacy",</a:t>
            </a:r>
          </a:p>
          <a:p xmlns:a="http://schemas.openxmlformats.org/drawingml/2006/main">
            <a:r>
              <a:t>          "name": "Электоральный мандат — административный мандат",</a:t>
            </a:r>
          </a:p>
          <a:p xmlns:a="http://schemas.openxmlformats.org/drawingml/2006/main">
            <a:r>
              <a:t>          "positive": "Конкурентные выборы и воля избирателей как источник полномочий",</a:t>
            </a:r>
          </a:p>
          <a:p xmlns:a="http://schemas.openxmlformats.org/drawingml/2006/main">
            <a:r>
              <a:t>          "negative": "Назначение, государственная иерархия и управленческая преемственность как источник полномочий",</a:t>
            </a:r>
          </a:p>
          <a:p xmlns:a="http://schemas.openxmlformats.org/drawingml/2006/main">
            <a:r>
              <a:t>          "difference": -0.7963007035731077,</a:t>
            </a:r>
          </a:p>
          <a:p xmlns:a="http://schemas.openxmlformats.org/drawingml/2006/main">
            <a:r>
              <a:t>          "group_mean": -2,</a:t>
            </a:r>
          </a:p>
          <a:p xmlns:a="http://schemas.openxmlformats.org/drawingml/2006/main">
            <a:r>
              <a:t>          "overall_mean": 0.17777777777777778,</a:t>
            </a:r>
          </a:p>
          <a:p xmlns:a="http://schemas.openxmlformats.org/drawingml/2006/main">
            <a:r>
              <a:t>          "direction": "negative",</a:t>
            </a:r>
          </a:p>
          <a:p xmlns:a="http://schemas.openxmlformats.org/drawingml/2006/main">
            <a:r>
              <a:t>          "observed_group_count": 20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"oppositionality",</a:t>
            </a:r>
          </a:p>
          <a:p xmlns:a="http://schemas.openxmlformats.org/drawingml/2006/main">
            <a:r>
              <a:t>          "name": "Критика действующей власти — поддержка её курса",</a:t>
            </a:r>
          </a:p>
          <a:p xmlns:a="http://schemas.openxmlformats.org/drawingml/2006/main">
            <a:r>
              <a:t>          "positive": "Публичная критика действующей федеральной власти",</a:t>
            </a:r>
          </a:p>
          <a:p xmlns:a="http://schemas.openxmlformats.org/drawingml/2006/main">
            <a:r>
              <a:t>          "negative": "Публичная поддержка курса действующей федеральной власти",</a:t>
            </a:r>
          </a:p>
          <a:p xmlns:a="http://schemas.openxmlformats.org/drawingml/2006/main">
            <a:r>
              <a:t>          "difference": -0.7837314176250747,</a:t>
            </a:r>
          </a:p>
          <a:p xmlns:a="http://schemas.openxmlformats.org/drawingml/2006/main">
            <a:r>
              <a:t>          "group_mean": -3.3333333333333335,</a:t>
            </a:r>
          </a:p>
          <a:p xmlns:a="http://schemas.openxmlformats.org/drawingml/2006/main">
            <a:r>
              <a:t>          "overall_mean": -0.41935483870967744,</a:t>
            </a:r>
          </a:p>
          <a:p xmlns:a="http://schemas.openxmlformats.org/drawingml/2006/main">
            <a:r>
              <a:t>          "direction": "negative",</a:t>
            </a:r>
          </a:p>
          <a:p xmlns:a="http://schemas.openxmlformats.org/drawingml/2006/main">
            <a:r>
              <a:t>          "observed_group_count": 30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"federal-loyalty",</a:t>
            </a:r>
          </a:p>
          <a:p xmlns:a="http://schemas.openxmlformats.org/drawingml/2006/main">
            <a:r>
              <a:t>          "name": "Централизация — децентрализация",</a:t>
            </a:r>
          </a:p>
          <a:p xmlns:a="http://schemas.openxmlformats.org/drawingml/2006/main">
            <a:r>
              <a:t>          "positive": "Единая вертикаль и концентрация полномочий в центре",</a:t>
            </a:r>
          </a:p>
          <a:p xmlns:a="http://schemas.openxmlformats.org/drawingml/2006/main">
            <a:r>
              <a:t>          "negative": "Региональная и муниципальная автономия, распределение полномочий",</a:t>
            </a:r>
          </a:p>
          <a:p xmlns:a="http://schemas.openxmlformats.org/drawingml/2006/main">
            <a:r>
              <a:t>          "difference": 0.7132283515256659,</a:t>
            </a:r>
          </a:p>
          <a:p xmlns:a="http://schemas.openxmlformats.org/drawingml/2006/main">
            <a:r>
              <a:t>          "group_mean": 2.9655172413793105,</a:t>
            </a:r>
          </a:p>
          <a:p xmlns:a="http://schemas.openxmlformats.org/drawingml/2006/main">
            <a:r>
              <a:t>          "overall_mean": 1.1666666666666667,</a:t>
            </a:r>
          </a:p>
          <a:p xmlns:a="http://schemas.openxmlformats.org/drawingml/2006/main">
            <a:r>
              <a:t>          "direction": "positive",</a:t>
            </a:r>
          </a:p>
          <a:p xmlns:a="http://schemas.openxmlformats.org/drawingml/2006/main">
            <a:r>
              <a:t>          "observed_group_count": 29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"antiwar-rhetoric",</a:t>
            </a:r>
          </a:p>
          <a:p xmlns:a="http://schemas.openxmlformats.org/drawingml/2006/main">
            <a:r>
              <a:t>          "name": "Прекращение военных действий — их продолжение",</a:t>
            </a:r>
          </a:p>
          <a:p xmlns:a="http://schemas.openxmlformats.org/drawingml/2006/main">
            <a:r>
              <a:t>          "positive": "Публичные призывы прекратить военные действия и перейти к миру",</a:t>
            </a:r>
          </a:p>
          <a:p xmlns:a="http://schemas.openxmlformats.org/drawingml/2006/main">
            <a:r>
              <a:t>          "negative": "Публичная поддержка продолжения военных действий ради заявленных целей",</a:t>
            </a:r>
          </a:p>
          <a:p xmlns:a="http://schemas.openxmlformats.org/drawingml/2006/main">
            <a:r>
              <a:t>          "difference": -0.6287881118915317,</a:t>
            </a:r>
          </a:p>
          <a:p xmlns:a="http://schemas.openxmlformats.org/drawingml/2006/main">
            <a:r>
              <a:t>          "group_mean": -2.466666666666667,</a:t>
            </a:r>
          </a:p>
          <a:p xmlns:a="http://schemas.openxmlformats.org/drawingml/2006/main">
            <a:r>
              <a:t>          "overall_mean": -0.4318181818181818,</a:t>
            </a:r>
          </a:p>
          <a:p xmlns:a="http://schemas.openxmlformats.org/drawingml/2006/main">
            <a:r>
              <a:t>          "direction": "negative",</a:t>
            </a:r>
          </a:p>
          <a:p xmlns:a="http://schemas.openxmlformats.org/drawingml/2006/main">
            <a:r>
              <a:t>          "observed_group_count": 15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"media-personalization",</a:t>
            </a:r>
          </a:p>
          <a:p xmlns:a="http://schemas.openxmlformats.org/drawingml/2006/main">
            <a:r>
              <a:t>          "name": "Персональный бренд — коллективный институт",</a:t>
            </a:r>
          </a:p>
          <a:p xmlns:a="http://schemas.openxmlformats.org/drawingml/2006/main">
            <a:r>
              <a:t>          "positive": "Личный бренд и обращение от собственного имени",</a:t>
            </a:r>
          </a:p>
          <a:p xmlns:a="http://schemas.openxmlformats.org/drawingml/2006/main">
            <a:r>
              <a:t>          "negative": "Коллективное представительство и институциональное авторство",</a:t>
            </a:r>
          </a:p>
          <a:p xmlns:a="http://schemas.openxmlformats.org/drawingml/2006/main">
            <a:r>
              <a:t>          "difference": -0.6232322557133194,</a:t>
            </a:r>
          </a:p>
          <a:p xmlns:a="http://schemas.openxmlformats.org/drawingml/2006/main">
            <a:r>
              <a:t>          "group_mean": -1.3548387096774193,</a:t>
            </a:r>
          </a:p>
          <a:p xmlns:a="http://schemas.openxmlformats.org/drawingml/2006/main">
            <a:r>
              <a:t>          "overall_mean": -0.031746031746031744,</a:t>
            </a:r>
          </a:p>
          <a:p xmlns:a="http://schemas.openxmlformats.org/drawingml/2006/main">
            <a:r>
              <a:t>          "direction": "negative",</a:t>
            </a:r>
          </a:p>
          <a:p xmlns:a="http://schemas.openxmlformats.org/drawingml/2006/main">
            <a:r>
              <a:t>          "observed_group_count": 31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"technocratic-management",</a:t>
            </a:r>
          </a:p>
          <a:p xmlns:a="http://schemas.openxmlformats.org/drawingml/2006/main">
            <a:r>
              <a:t>          "name": "Практические результаты — идеологические принципы",</a:t>
            </a:r>
          </a:p>
          <a:p xmlns:a="http://schemas.openxmlformats.org/drawingml/2006/main">
            <a:r>
              <a:t>          "positive": "Измеримые результаты и управленческая эффективность",</a:t>
            </a:r>
          </a:p>
          <a:p xmlns:a="http://schemas.openxmlformats.org/drawingml/2006/main">
            <a:r>
              <a:t>          "negative": "Идеологические принципы и символические цели",</a:t>
            </a:r>
          </a:p>
          <a:p xmlns:a="http://schemas.openxmlformats.org/drawingml/2006/main">
            <a:r>
              <a:t>          "difference": 0.5191096953818191,</a:t>
            </a:r>
          </a:p>
          <a:p xmlns:a="http://schemas.openxmlformats.org/drawingml/2006/main">
            <a:r>
              <a:t>          "group_mean": 2.032258064516129,</a:t>
            </a:r>
          </a:p>
          <a:p xmlns:a="http://schemas.openxmlformats.org/drawingml/2006/main">
            <a:r>
              <a:t>          "overall_mean": 0.9491525423728814,</a:t>
            </a:r>
          </a:p>
          <a:p xmlns:a="http://schemas.openxmlformats.org/drawingml/2006/main">
            <a:r>
              <a:t>          "direction": "positive",</a:t>
            </a:r>
          </a:p>
          <a:p xmlns:a="http://schemas.openxmlformats.org/drawingml/2006/main">
            <a:r>
              <a:t>          "observed_group_count": 31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"interpretation": "Основная административно-институциональная группа имеет F1=−0,62, F4=+0,41, F3=−0,36. По сравнению с выборкой сильнее преобладают централизация, поддержка курса и практическое управленческое обоснование; слабее — электоральный мандат и персональный бренд. Представители — Михаил Дегтярёв, Сергей Лавров и Михаил Развожаев. Это группа из 35 объектов q=3, k=4 за вычетом Путина, Слуцкого, Нечаева и Даванкова.",</a:t>
            </a:r>
          </a:p>
          <a:p xmlns:a="http://schemas.openxmlformats.org/drawingml/2006/main">
            <a:r>
              <a:t>      "boundary_objects": [],</a:t>
            </a:r>
          </a:p>
          <a:p xmlns:a="http://schemas.openxmlformats.org/drawingml/2006/main">
            <a:r>
              <a:t>      "stability": {</a:t>
            </a:r>
          </a:p>
          <a:p xmlns:a="http://schemas.openxmlformats.org/drawingml/2006/main">
            <a:r>
              <a:t>        "median_jaccard": 0.9583333333333334,</a:t>
            </a:r>
          </a:p>
          <a:p xmlns:a="http://schemas.openxmlformats.org/drawingml/2006/main">
            <a:r>
              <a:t>        "conditional_mean_ari": 0.8557870577763491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"numeric_label": "Группа 3",</a:t>
            </a:r>
          </a:p>
          <a:p xmlns:a="http://schemas.openxmlformats.org/drawingml/2006/main">
            <a:r>
              <a:t>      "label": "Централизация и институциональное управленческое представительство"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"C4",</a:t>
            </a:r>
          </a:p>
          <a:p xmlns:a="http://schemas.openxmlformats.org/drawingml/2006/main">
            <a:r>
              <a:t>      "name": "Партийная и электоральная конкуренция через институты",</a:t>
            </a:r>
          </a:p>
          <a:p xmlns:a="http://schemas.openxmlformats.org/drawingml/2006/main">
            <a:r>
              <a:t>      "count": 13,</a:t>
            </a:r>
          </a:p>
          <a:p xmlns:a="http://schemas.openxmlformats.org/drawingml/2006/main">
            <a:r>
              <a:t>      "members":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"gennady-zyuganov",</a:t>
            </a:r>
          </a:p>
          <a:p xmlns:a="http://schemas.openxmlformats.org/drawingml/2006/main">
            <a:r>
              <a:t>          "name": "Геннадий Зюганов"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"leonid-slutsky",</a:t>
            </a:r>
          </a:p>
          <a:p xmlns:a="http://schemas.openxmlformats.org/drawingml/2006/main">
            <a:r>
              <a:t>          "name": "Леонид Слуцкий"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"sergey-mironov",</a:t>
            </a:r>
          </a:p>
          <a:p xmlns:a="http://schemas.openxmlformats.org/drawingml/2006/main">
            <a:r>
              <a:t>          "name": "Сергей Миронов"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"alexey-nechayev",</a:t>
            </a:r>
          </a:p>
          <a:p xmlns:a="http://schemas.openxmlformats.org/drawingml/2006/main">
            <a:r>
              <a:t>          "name": "Алексей Нечаев"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"vladislav-davankov",</a:t>
            </a:r>
          </a:p>
          <a:p xmlns:a="http://schemas.openxmlformats.org/drawingml/2006/main">
            <a:r>
              <a:t>          "name": "Владислав Даванков"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"sergey-levchenko",</a:t>
            </a:r>
          </a:p>
          <a:p xmlns:a="http://schemas.openxmlformats.org/drawingml/2006/main">
            <a:r>
              <a:t>          "name": "Сергей Левченко"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"grigory-yavlinsky",</a:t>
            </a:r>
          </a:p>
          <a:p xmlns:a="http://schemas.openxmlformats.org/drawingml/2006/main">
            <a:r>
              <a:t>          "name": "Григорий Явлинский"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"lev-shlosberg",</a:t>
            </a:r>
          </a:p>
          <a:p xmlns:a="http://schemas.openxmlformats.org/drawingml/2006/main">
            <a:r>
              <a:t>          "name": "Лев Шлосберг"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"boris-vishnevsky",</a:t>
            </a:r>
          </a:p>
          <a:p xmlns:a="http://schemas.openxmlformats.org/drawingml/2006/main">
            <a:r>
              <a:t>          "name": "Борис Вишневский"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"yekaterina-duntsova",</a:t>
            </a:r>
          </a:p>
          <a:p xmlns:a="http://schemas.openxmlformats.org/drawingml/2006/main">
            <a:r>
              <a:t>          "name": "Екатерина Дунцова"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"pavel-grudinin",</a:t>
            </a:r>
          </a:p>
          <a:p xmlns:a="http://schemas.openxmlformats.org/drawingml/2006/main">
            <a:r>
              <a:t>          "name": "Павел Грудинин"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"nikolay-platoshkin",</a:t>
            </a:r>
          </a:p>
          <a:p xmlns:a="http://schemas.openxmlformats.org/drawingml/2006/main">
            <a:r>
              <a:t>          "name": "Николай Платошкин"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"oksana-dmitriyeva",</a:t>
            </a:r>
          </a:p>
          <a:p xmlns:a="http://schemas.openxmlformats.org/drawingml/2006/main">
            <a:r>
              <a:t>          "name": "Оксана Дмитриева"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"representatives":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"sergey-levchenko",</a:t>
            </a:r>
          </a:p>
          <a:p xmlns:a="http://schemas.openxmlformats.org/drawingml/2006/main">
            <a:r>
              <a:t>          "name": "Сергей Левченко",</a:t>
            </a:r>
          </a:p>
          <a:p xmlns:a="http://schemas.openxmlformats.org/drawingml/2006/main">
            <a:r>
              <a:t>          "distance": 0.6677864144190766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"oksana-dmitriyeva",</a:t>
            </a:r>
          </a:p>
          <a:p xmlns:a="http://schemas.openxmlformats.org/drawingml/2006/main">
            <a:r>
              <a:t>          "name": "Оксана Дмитриева",</a:t>
            </a:r>
          </a:p>
          <a:p xmlns:a="http://schemas.openxmlformats.org/drawingml/2006/main">
            <a:r>
              <a:t>          "distance": 0.7583154766947834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"boris-vishnevsky",</a:t>
            </a:r>
          </a:p>
          <a:p xmlns:a="http://schemas.openxmlformats.org/drawingml/2006/main">
            <a:r>
              <a:t>          "name": "Борис Вишневский",</a:t>
            </a:r>
          </a:p>
          <a:p xmlns:a="http://schemas.openxmlformats.org/drawingml/2006/main">
            <a:r>
              <a:t>          "distance": 0.9280745179541747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"vladislav-davankov",</a:t>
            </a:r>
          </a:p>
          <a:p xmlns:a="http://schemas.openxmlformats.org/drawingml/2006/main">
            <a:r>
              <a:t>          "name": "Владислав Даванков",</a:t>
            </a:r>
          </a:p>
          <a:p xmlns:a="http://schemas.openxmlformats.org/drawingml/2006/main">
            <a:r>
              <a:t>          "distance": 1.361297190124806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"pavel-grudinin",</a:t>
            </a:r>
          </a:p>
          <a:p xmlns:a="http://schemas.openxmlformats.org/drawingml/2006/main">
            <a:r>
              <a:t>          "name": "Павел Грудинин",</a:t>
            </a:r>
          </a:p>
          <a:p xmlns:a="http://schemas.openxmlformats.org/drawingml/2006/main">
            <a:r>
              <a:t>          "distance": 1.3623041929805026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"factor_center": {</a:t>
            </a:r>
          </a:p>
          <a:p xmlns:a="http://schemas.openxmlformats.org/drawingml/2006/main">
            <a:r>
              <a:t>        "F1": 1.0256845866932278,</a:t>
            </a:r>
          </a:p>
          <a:p xmlns:a="http://schemas.openxmlformats.org/drawingml/2006/main">
            <a:r>
              <a:t>        "F2": 0.34061190902095934,</a:t>
            </a:r>
          </a:p>
          <a:p xmlns:a="http://schemas.openxmlformats.org/drawingml/2006/main">
            <a:r>
              <a:t>        "F3": -0.9416880830512164,</a:t>
            </a:r>
          </a:p>
          <a:p xmlns:a="http://schemas.openxmlformats.org/drawingml/2006/main">
            <a:r>
              <a:t>        "F4": -0.439121469339198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"distinguishing_scales":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"conflictuality",</a:t>
            </a:r>
          </a:p>
          <a:p xmlns:a="http://schemas.openxmlformats.org/drawingml/2006/main">
            <a:r>
              <a:t>          "name": "Конфронтация — компромисс",</a:t>
            </a:r>
          </a:p>
          <a:p xmlns:a="http://schemas.openxmlformats.org/drawingml/2006/main">
            <a:r>
              <a:t>          "positive": "Конфронтационная полемика и жёсткое противопоставление оппонентам",</a:t>
            </a:r>
          </a:p>
          <a:p xmlns:a="http://schemas.openxmlformats.org/drawingml/2006/main">
            <a:r>
              <a:t>          "negative": "Компромиссная и согласительная риторика",</a:t>
            </a:r>
          </a:p>
          <a:p xmlns:a="http://schemas.openxmlformats.org/drawingml/2006/main">
            <a:r>
              <a:t>          "difference": -0.965788456443834,</a:t>
            </a:r>
          </a:p>
          <a:p xmlns:a="http://schemas.openxmlformats.org/drawingml/2006/main">
            <a:r>
              <a:t>          "group_mean": -1,</a:t>
            </a:r>
          </a:p>
          <a:p xmlns:a="http://schemas.openxmlformats.org/drawingml/2006/main">
            <a:r>
              <a:t>          "overall_mean": 0.9180327868852459,</a:t>
            </a:r>
          </a:p>
          <a:p xmlns:a="http://schemas.openxmlformats.org/drawingml/2006/main">
            <a:r>
              <a:t>          "direction": "negative",</a:t>
            </a:r>
          </a:p>
          <a:p xmlns:a="http://schemas.openxmlformats.org/drawingml/2006/main">
            <a:r>
              <a:t>          "observed_group_count": 13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"federal-loyalty",</a:t>
            </a:r>
          </a:p>
          <a:p xmlns:a="http://schemas.openxmlformats.org/drawingml/2006/main">
            <a:r>
              <a:t>          "name": "Централизация — децентрализация",</a:t>
            </a:r>
          </a:p>
          <a:p xmlns:a="http://schemas.openxmlformats.org/drawingml/2006/main">
            <a:r>
              <a:t>          "positive": "Единая вертикаль и концентрация полномочий в центре",</a:t>
            </a:r>
          </a:p>
          <a:p xmlns:a="http://schemas.openxmlformats.org/drawingml/2006/main">
            <a:r>
              <a:t>          "negative": "Региональная и муниципальная автономия, распределение полномочий",</a:t>
            </a:r>
          </a:p>
          <a:p xmlns:a="http://schemas.openxmlformats.org/drawingml/2006/main">
            <a:r>
              <a:t>          "difference": -0.8230195296577026,</a:t>
            </a:r>
          </a:p>
          <a:p xmlns:a="http://schemas.openxmlformats.org/drawingml/2006/main">
            <a:r>
              <a:t>          "group_mean": -0.9090909090909091,</a:t>
            </a:r>
          </a:p>
          <a:p xmlns:a="http://schemas.openxmlformats.org/drawingml/2006/main">
            <a:r>
              <a:t>          "overall_mean": 1.1666666666666667,</a:t>
            </a:r>
          </a:p>
          <a:p xmlns:a="http://schemas.openxmlformats.org/drawingml/2006/main">
            <a:r>
              <a:t>          "direction": "negative",</a:t>
            </a:r>
          </a:p>
          <a:p xmlns:a="http://schemas.openxmlformats.org/drawingml/2006/main">
            <a:r>
              <a:t>          "observed_group_count": 11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"electoral-legitimacy",</a:t>
            </a:r>
          </a:p>
          <a:p xmlns:a="http://schemas.openxmlformats.org/drawingml/2006/main">
            <a:r>
              <a:t>          "name": "Электоральный мандат — административный мандат",</a:t>
            </a:r>
          </a:p>
          <a:p xmlns:a="http://schemas.openxmlformats.org/drawingml/2006/main">
            <a:r>
              <a:t>          "positive": "Конкурентные выборы и воля избирателей как источник полномочий",</a:t>
            </a:r>
          </a:p>
          <a:p xmlns:a="http://schemas.openxmlformats.org/drawingml/2006/main">
            <a:r>
              <a:t>          "negative": "Назначение, государственная иерархия и управленческая преемственность как источник полномочий",</a:t>
            </a:r>
          </a:p>
          <a:p xmlns:a="http://schemas.openxmlformats.org/drawingml/2006/main">
            <a:r>
              <a:t>          "difference": 0.7394220818893145,</a:t>
            </a:r>
          </a:p>
          <a:p xmlns:a="http://schemas.openxmlformats.org/drawingml/2006/main">
            <a:r>
              <a:t>          "group_mean": 2.2,</a:t>
            </a:r>
          </a:p>
          <a:p xmlns:a="http://schemas.openxmlformats.org/drawingml/2006/main">
            <a:r>
              <a:t>          "overall_mean": 0.17777777777777778,</a:t>
            </a:r>
          </a:p>
          <a:p xmlns:a="http://schemas.openxmlformats.org/drawingml/2006/main">
            <a:r>
              <a:t>          "direction": "positive",</a:t>
            </a:r>
          </a:p>
          <a:p xmlns:a="http://schemas.openxmlformats.org/drawingml/2006/main">
            <a:r>
              <a:t>          "observed_group_count": 10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"party-leadership",</a:t>
            </a:r>
          </a:p>
          <a:p xmlns:a="http://schemas.openxmlformats.org/drawingml/2006/main">
            <a:r>
              <a:t>          "name": "Партийная организация — независимая инициатива",</a:t>
            </a:r>
          </a:p>
          <a:p xmlns:a="http://schemas.openxmlformats.org/drawingml/2006/main">
            <a:r>
              <a:t>          "positive": "Партия как основной инструмент политического действия",</a:t>
            </a:r>
          </a:p>
          <a:p xmlns:a="http://schemas.openxmlformats.org/drawingml/2006/main">
            <a:r>
              <a:t>          "negative": "Независимые от партий гражданские и персональные инициативы",</a:t>
            </a:r>
          </a:p>
          <a:p xmlns:a="http://schemas.openxmlformats.org/drawingml/2006/main">
            <a:r>
              <a:t>          "difference": 0.7222922558146266,</a:t>
            </a:r>
          </a:p>
          <a:p xmlns:a="http://schemas.openxmlformats.org/drawingml/2006/main">
            <a:r>
              <a:t>          "group_mean": 2.230769230769231,</a:t>
            </a:r>
          </a:p>
          <a:p xmlns:a="http://schemas.openxmlformats.org/drawingml/2006/main">
            <a:r>
              <a:t>          "overall_mean": 0.4528301886792453,</a:t>
            </a:r>
          </a:p>
          <a:p xmlns:a="http://schemas.openxmlformats.org/drawingml/2006/main">
            <a:r>
              <a:t>          "direction": "positive",</a:t>
            </a:r>
          </a:p>
          <a:p xmlns:a="http://schemas.openxmlformats.org/drawingml/2006/main">
            <a:r>
              <a:t>          "observed_group_count": 13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"mobilization-rhetoric",</a:t>
            </a:r>
          </a:p>
          <a:p xmlns:a="http://schemas.openxmlformats.org/drawingml/2006/main">
            <a:r>
              <a:t>          "name": "Мобилизационный призыв — обсуждение и убеждение",</a:t>
            </a:r>
          </a:p>
          <a:p xmlns:a="http://schemas.openxmlformats.org/drawingml/2006/main">
            <a:r>
              <a:t>          "positive": "Призывы к единению, дисциплине и чрезвычайной мобилизации",</a:t>
            </a:r>
          </a:p>
          <a:p xmlns:a="http://schemas.openxmlformats.org/drawingml/2006/main">
            <a:r>
              <a:t>          "negative": "Призывы к открытому обсуждению, сомнению и убеждению",</a:t>
            </a:r>
          </a:p>
          <a:p xmlns:a="http://schemas.openxmlformats.org/drawingml/2006/main">
            <a:r>
              <a:t>          "difference": -0.7050374900846266,</a:t>
            </a:r>
          </a:p>
          <a:p xmlns:a="http://schemas.openxmlformats.org/drawingml/2006/main">
            <a:r>
              <a:t>          "group_mean": -0.8181818181818182,</a:t>
            </a:r>
          </a:p>
          <a:p xmlns:a="http://schemas.openxmlformats.org/drawingml/2006/main">
            <a:r>
              <a:t>          "overall_mean": 0.6379310344827587,</a:t>
            </a:r>
          </a:p>
          <a:p xmlns:a="http://schemas.openxmlformats.org/drawingml/2006/main">
            <a:r>
              <a:t>          "direction": "negative",</a:t>
            </a:r>
          </a:p>
          <a:p xmlns:a="http://schemas.openxmlformats.org/drawingml/2006/main">
            <a:r>
              <a:t>          "observed_group_count": 11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"international-activity",</a:t>
            </a:r>
          </a:p>
          <a:p xmlns:a="http://schemas.openxmlformats.org/drawingml/2006/main">
            <a:r>
              <a:t>          "name": "Внешняя повестка — внутренняя повестка",</a:t>
            </a:r>
          </a:p>
          <a:p xmlns:a="http://schemas.openxmlformats.org/drawingml/2006/main">
            <a:r>
              <a:t>          "positive": "Приоритет международной и внешнеполитической повестки",</a:t>
            </a:r>
          </a:p>
          <a:p xmlns:a="http://schemas.openxmlformats.org/drawingml/2006/main">
            <a:r>
              <a:t>          "negative": "Приоритет внутренних общественных и хозяйственных задач",</a:t>
            </a:r>
          </a:p>
          <a:p xmlns:a="http://schemas.openxmlformats.org/drawingml/2006/main">
            <a:r>
              <a:t>          "difference": -0.5555165373351654,</a:t>
            </a:r>
          </a:p>
          <a:p xmlns:a="http://schemas.openxmlformats.org/drawingml/2006/main">
            <a:r>
              <a:t>          "group_mean": -1.7272727272727273,</a:t>
            </a:r>
          </a:p>
          <a:p xmlns:a="http://schemas.openxmlformats.org/drawingml/2006/main">
            <a:r>
              <a:t>          "overall_mean": -0.36666666666666664,</a:t>
            </a:r>
          </a:p>
          <a:p xmlns:a="http://schemas.openxmlformats.org/drawingml/2006/main">
            <a:r>
              <a:t>          "direction": "negative",</a:t>
            </a:r>
          </a:p>
          <a:p xmlns:a="http://schemas.openxmlformats.org/drawingml/2006/main">
            <a:r>
              <a:t>          "observed_group_count": 11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"interpretation": "Институциональная электоральная десятка q=3 дополняется Слуцким, Нечаевым и Даванковым. Центр: F1=+1,03, F3=−0,94, F4=−0,44. Группу объединяют меньшая конфронтационность (−0,97 σ), меньший приоритет централизации (−0,82 σ), электоральный мандат (+0,74 σ) и партийная организация (+0,72 σ). Представители — Сергей Левченко, Оксана Дмитриева и Борис Вишневский. Отношение к войне и внешней политике внутри группы неоднородно: её нельзя подписывать как единый антивоенный или единый провластный лагерь.",</a:t>
            </a:r>
          </a:p>
          <a:p xmlns:a="http://schemas.openxmlformats.org/drawingml/2006/main">
            <a:r>
              <a:t>      "boundary_objects": [],</a:t>
            </a:r>
          </a:p>
          <a:p xmlns:a="http://schemas.openxmlformats.org/drawingml/2006/main">
            <a:r>
              <a:t>      "stability": {</a:t>
            </a:r>
          </a:p>
          <a:p xmlns:a="http://schemas.openxmlformats.org/drawingml/2006/main">
            <a:r>
              <a:t>        "median_jaccard": 0.8397435897435898,</a:t>
            </a:r>
          </a:p>
          <a:p xmlns:a="http://schemas.openxmlformats.org/drawingml/2006/main">
            <a:r>
              <a:t>        "conditional_mean_ari": 0.8557870577763491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"numeric_label": "Группа 4",</a:t>
            </a:r>
          </a:p>
          <a:p xmlns:a="http://schemas.openxmlformats.org/drawingml/2006/main">
            <a:r>
              <a:t>      "label": "Партийная и электоральная конкуренция через институты"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"quality": {</a:t>
            </a:r>
          </a:p>
          <a:p xmlns:a="http://schemas.openxmlformats.org/drawingml/2006/main">
            <a:r>
              <a:t>    "silhouette": 0.3264567208937163,</a:t>
            </a:r>
          </a:p>
          <a:p xmlns:a="http://schemas.openxmlformats.org/drawingml/2006/main">
            <a:r>
              <a:t>    "mean_ari": 0.8557870577763491,</a:t>
            </a:r>
          </a:p>
          <a:p xmlns:a="http://schemas.openxmlformats.org/drawingml/2006/main">
            <a:r>
              <a:t>    "median_ari": 0.8627003848212922,</a:t>
            </a:r>
          </a:p>
          <a:p xmlns:a="http://schemas.openxmlformats.org/drawingml/2006/main">
            <a:r>
              <a:t>    "min_ari": 0.44402202103079175,</a:t>
            </a:r>
          </a:p>
          <a:p xmlns:a="http://schemas.openxmlformats.org/drawingml/2006/main">
            <a:r>
              <a:t>    "per_cluster_median_jaccard": [</a:t>
            </a:r>
          </a:p>
          <a:p xmlns:a="http://schemas.openxmlformats.org/drawingml/2006/main">
            <a:r>
              <a:t>      0.7571428571428571,</a:t>
            </a:r>
          </a:p>
          <a:p xmlns:a="http://schemas.openxmlformats.org/drawingml/2006/main">
            <a:r>
              <a:t>      1,</a:t>
            </a:r>
          </a:p>
          <a:p xmlns:a="http://schemas.openxmlformats.org/drawingml/2006/main">
            <a:r>
              <a:t>      0.9583333333333334,</a:t>
            </a:r>
          </a:p>
          <a:p xmlns:a="http://schemas.openxmlformats.org/drawingml/2006/main">
            <a:r>
              <a:t>      0.8397435897435898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"min_cluster_median_jaccard": 0.7571428571428571,</a:t>
            </a:r>
          </a:p>
          <a:p xmlns:a="http://schemas.openxmlformats.org/drawingml/2006/main">
            <a:r>
              <a:t>    "repeats": 30,</a:t>
            </a:r>
          </a:p>
          <a:p xmlns:a="http://schemas.openxmlformats.org/drawingml/2006/main">
            <a:r>
              <a:t>    "scope": "80% objects, shared sampled objects, fixed factor scores; conditional cluster stability, not whole-pipeline validation"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"relative_to_q2": {</a:t>
            </a:r>
          </a:p>
          <a:p xmlns:a="http://schemas.openxmlformats.org/drawingml/2006/main">
            <a:r>
              <a:t>    "k_reference": 3,</a:t>
            </a:r>
          </a:p>
          <a:p xmlns:a="http://schemas.openxmlformats.org/drawingml/2006/main">
            <a:r>
              <a:t>    "k_target": 4,</a:t>
            </a:r>
          </a:p>
          <a:p xmlns:a="http://schemas.openxmlformats.org/drawingml/2006/main">
            <a:r>
              <a:t>    "ari": 0.5962572831877367,</a:t>
            </a:r>
          </a:p>
          <a:p xmlns:a="http://schemas.openxmlformats.org/drawingml/2006/main">
            <a:r>
              <a:t>    "nmi": 0.6596845499637332,</a:t>
            </a:r>
          </a:p>
          <a:p xmlns:a="http://schemas.openxmlformats.org/drawingml/2006/main">
            <a:r>
              <a:t>    "overlap": {</a:t>
            </a:r>
          </a:p>
          <a:p xmlns:a="http://schemas.openxmlformats.org/drawingml/2006/main">
            <a:r>
              <a:t>      "rows": [</a:t>
            </a:r>
          </a:p>
          <a:p xmlns:a="http://schemas.openxmlformats.org/drawingml/2006/main">
            <a:r>
              <a:t>        "C1",</a:t>
            </a:r>
          </a:p>
          <a:p xmlns:a="http://schemas.openxmlformats.org/drawingml/2006/main">
            <a:r>
              <a:t>        "C2",</a:t>
            </a:r>
          </a:p>
          <a:p xmlns:a="http://schemas.openxmlformats.org/drawingml/2006/main">
            <a:r>
              <a:t>        "C3"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"columns": [</a:t>
            </a:r>
          </a:p>
          <a:p xmlns:a="http://schemas.openxmlformats.org/drawingml/2006/main">
            <a:r>
              <a:t>        "C1",</a:t>
            </a:r>
          </a:p>
          <a:p xmlns:a="http://schemas.openxmlformats.org/drawingml/2006/main">
            <a:r>
              <a:t>        "C2",</a:t>
            </a:r>
          </a:p>
          <a:p xmlns:a="http://schemas.openxmlformats.org/drawingml/2006/main">
            <a:r>
              <a:t>        "C3",</a:t>
            </a:r>
          </a:p>
          <a:p xmlns:a="http://schemas.openxmlformats.org/drawingml/2006/main">
            <a:r>
              <a:t>        "C4"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"values":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31,</a:t>
            </a:r>
          </a:p>
          <a:p xmlns:a="http://schemas.openxmlformats.org/drawingml/2006/main">
            <a:r>
              <a:t>          8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0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"scope": "Raw cluster labels are model-local. Intersections describe regrouping; no cross-k moved-count is inferred."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"relative_to_fixed_k3": {</a:t>
            </a:r>
          </a:p>
          <a:p xmlns:a="http://schemas.openxmlformats.org/drawingml/2006/main">
            <a:r>
              <a:t>    "k_reference": 3,</a:t>
            </a:r>
          </a:p>
          <a:p xmlns:a="http://schemas.openxmlformats.org/drawingml/2006/main">
            <a:r>
              <a:t>    "k_target": 4,</a:t>
            </a:r>
          </a:p>
          <a:p xmlns:a="http://schemas.openxmlformats.org/drawingml/2006/main">
            <a:r>
              <a:t>    "ari": 0.765876225178459,</a:t>
            </a:r>
          </a:p>
          <a:p xmlns:a="http://schemas.openxmlformats.org/drawingml/2006/main">
            <a:r>
              <a:t>    "nmi": 0.7424944245120108,</a:t>
            </a:r>
          </a:p>
          <a:p xmlns:a="http://schemas.openxmlformats.org/drawingml/2006/main">
            <a:r>
              <a:t>    "overlap": {</a:t>
            </a:r>
          </a:p>
          <a:p xmlns:a="http://schemas.openxmlformats.org/drawingml/2006/main">
            <a:r>
              <a:t>      "rows": [</a:t>
            </a:r>
          </a:p>
          <a:p xmlns:a="http://schemas.openxmlformats.org/drawingml/2006/main">
            <a:r>
              <a:t>        "C1",</a:t>
            </a:r>
          </a:p>
          <a:p xmlns:a="http://schemas.openxmlformats.org/drawingml/2006/main">
            <a:r>
              <a:t>        "C2",</a:t>
            </a:r>
          </a:p>
          <a:p xmlns:a="http://schemas.openxmlformats.org/drawingml/2006/main">
            <a:r>
              <a:t>        "C3"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"columns": [</a:t>
            </a:r>
          </a:p>
          <a:p xmlns:a="http://schemas.openxmlformats.org/drawingml/2006/main">
            <a:r>
              <a:t>        "C1",</a:t>
            </a:r>
          </a:p>
          <a:p xmlns:a="http://schemas.openxmlformats.org/drawingml/2006/main">
            <a:r>
              <a:t>        "C2",</a:t>
            </a:r>
          </a:p>
          <a:p xmlns:a="http://schemas.openxmlformats.org/drawingml/2006/main">
            <a:r>
              <a:t>        "C3",</a:t>
            </a:r>
          </a:p>
          <a:p xmlns:a="http://schemas.openxmlformats.org/drawingml/2006/main">
            <a:r>
              <a:t>        "C4"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"values":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30,</a:t>
            </a:r>
          </a:p>
          <a:p xmlns:a="http://schemas.openxmlformats.org/drawingml/2006/main">
            <a:r>
              <a:t>          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"scope": "Raw cluster labels are model-local. Intersections describe regrouping; no cross-k moved-count is inferred."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"reference_q": 3,</a:t>
            </a:r>
          </a:p>
          <a:p xmlns:a="http://schemas.openxmlformats.org/drawingml/2006/main">
            <a:r>
              <a:t>  "target_q": 4,</a:t>
            </a:r>
          </a:p>
          <a:p xmlns:a="http://schemas.openxmlformats.org/drawingml/2006/main">
            <a:r>
              <a:t>  "k": 4,</a:t>
            </a:r>
          </a:p>
          <a:p xmlns:a="http://schemas.openxmlformats.org/drawingml/2006/main">
            <a:r>
              <a:t>  "ari": 0.8127937760008644,</a:t>
            </a:r>
          </a:p>
          <a:p xmlns:a="http://schemas.openxmlformats.org/drawingml/2006/main">
            <a:r>
              <a:t>  "nmi": 0.8368485297105085,</a:t>
            </a:r>
          </a:p>
          <a:p xmlns:a="http://schemas.openxmlformats.org/drawingml/2006/main">
            <a:r>
              <a:t>  "moved_count": 4,</a:t>
            </a:r>
          </a:p>
          <a:p xmlns:a="http://schemas.openxmlformats.org/drawingml/2006/main">
            <a:r>
              <a:t>  "unchanged_count": 59,</a:t>
            </a:r>
          </a:p>
          <a:p xmlns:a="http://schemas.openxmlformats.org/drawingml/2006/main">
            <a:r>
              <a:t>  "overlap_alignment": {</a:t>
            </a:r>
          </a:p>
          <a:p xmlns:a="http://schemas.openxmlformats.org/drawingml/2006/main">
            <a:r>
              <a:t>    "C4": "C1",</a:t>
            </a:r>
          </a:p>
          <a:p xmlns:a="http://schemas.openxmlformats.org/drawingml/2006/main">
            <a:r>
              <a:t>    "C3": "C2",</a:t>
            </a:r>
          </a:p>
          <a:p xmlns:a="http://schemas.openxmlformats.org/drawingml/2006/main">
            <a:r>
              <a:t>    "C1": "C3",</a:t>
            </a:r>
          </a:p>
          <a:p xmlns:a="http://schemas.openxmlformats.org/drawingml/2006/main">
            <a:r>
              <a:t>    "C2": "C4"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"contingency_raw": {</a:t>
            </a:r>
          </a:p>
          <a:p xmlns:a="http://schemas.openxmlformats.org/drawingml/2006/main">
            <a:r>
              <a:t>    "rows": [</a:t>
            </a:r>
          </a:p>
          <a:p xmlns:a="http://schemas.openxmlformats.org/drawingml/2006/main">
            <a:r>
              <a:t>      "C1",</a:t>
            </a:r>
          </a:p>
          <a:p xmlns:a="http://schemas.openxmlformats.org/drawingml/2006/main">
            <a:r>
              <a:t>      "C2",</a:t>
            </a:r>
          </a:p>
          <a:p xmlns:a="http://schemas.openxmlformats.org/drawingml/2006/main">
            <a:r>
              <a:t>      "C3",</a:t>
            </a:r>
          </a:p>
          <a:p xmlns:a="http://schemas.openxmlformats.org/drawingml/2006/main">
            <a:r>
              <a:t>      "C4"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"columns": [</a:t>
            </a:r>
          </a:p>
          <a:p xmlns:a="http://schemas.openxmlformats.org/drawingml/2006/main">
            <a:r>
              <a:t>      "C1",</a:t>
            </a:r>
          </a:p>
          <a:p xmlns:a="http://schemas.openxmlformats.org/drawingml/2006/main">
            <a:r>
              <a:t>      "C2",</a:t>
            </a:r>
          </a:p>
          <a:p xmlns:a="http://schemas.openxmlformats.org/drawingml/2006/main">
            <a:r>
              <a:t>      "C3",</a:t>
            </a:r>
          </a:p>
          <a:p xmlns:a="http://schemas.openxmlformats.org/drawingml/2006/main">
            <a:r>
              <a:t>      "C4"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"values":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10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1,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31,</a:t>
            </a:r>
          </a:p>
          <a:p xmlns:a="http://schemas.openxmlformats.org/drawingml/2006/main">
            <a:r>
              <a:t>        3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8,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0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10,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0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"contingency_aligned": {</a:t>
            </a:r>
          </a:p>
          <a:p xmlns:a="http://schemas.openxmlformats.org/drawingml/2006/main">
            <a:r>
              <a:t>    "rows": [</a:t>
            </a:r>
          </a:p>
          <a:p xmlns:a="http://schemas.openxmlformats.org/drawingml/2006/main">
            <a:r>
              <a:t>      "C1",</a:t>
            </a:r>
          </a:p>
          <a:p xmlns:a="http://schemas.openxmlformats.org/drawingml/2006/main">
            <a:r>
              <a:t>      "C2",</a:t>
            </a:r>
          </a:p>
          <a:p xmlns:a="http://schemas.openxmlformats.org/drawingml/2006/main">
            <a:r>
              <a:t>      "C3",</a:t>
            </a:r>
          </a:p>
          <a:p xmlns:a="http://schemas.openxmlformats.org/drawingml/2006/main">
            <a:r>
              <a:t>      "C4"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"columns": [</a:t>
            </a:r>
          </a:p>
          <a:p xmlns:a="http://schemas.openxmlformats.org/drawingml/2006/main">
            <a:r>
              <a:t>      "C1",</a:t>
            </a:r>
          </a:p>
          <a:p xmlns:a="http://schemas.openxmlformats.org/drawingml/2006/main">
            <a:r>
              <a:t>      "C2",</a:t>
            </a:r>
          </a:p>
          <a:p xmlns:a="http://schemas.openxmlformats.org/drawingml/2006/main">
            <a:r>
              <a:t>      "C3",</a:t>
            </a:r>
          </a:p>
          <a:p xmlns:a="http://schemas.openxmlformats.org/drawingml/2006/main">
            <a:r>
              <a:t>      "C4"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"values":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10,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0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3,</a:t>
            </a:r>
          </a:p>
          <a:p xmlns:a="http://schemas.openxmlformats.org/drawingml/2006/main">
            <a:r>
              <a:t>        31,</a:t>
            </a:r>
          </a:p>
          <a:p xmlns:a="http://schemas.openxmlformats.org/drawingml/2006/main">
            <a:r>
              <a:t>        1,</a:t>
            </a:r>
          </a:p>
          <a:p xmlns:a="http://schemas.openxmlformats.org/drawingml/2006/main">
            <a:r>
              <a:t>        0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8,</a:t>
            </a:r>
          </a:p>
          <a:p xmlns:a="http://schemas.openxmlformats.org/drawingml/2006/main">
            <a:r>
              <a:t>        0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10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"transitions":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"vladimir-putin",</a:t>
            </a:r>
          </a:p>
          <a:p xmlns:a="http://schemas.openxmlformats.org/drawingml/2006/main">
            <a:r>
              <a:t>      "name": "Владимир Путин",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"C3",</a:t>
            </a:r>
          </a:p>
          <a:p xmlns:a="http://schemas.openxmlformats.org/drawingml/2006/main">
            <a:r>
              <a:t>      "changed": true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"dmitry-medvedev",</a:t>
            </a:r>
          </a:p>
          <a:p xmlns:a="http://schemas.openxmlformats.org/drawingml/2006/main">
            <a:r>
              <a:t>      "name": "Дмитрий Медведев",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"mikhail-mishustin",</a:t>
            </a:r>
          </a:p>
          <a:p xmlns:a="http://schemas.openxmlformats.org/drawingml/2006/main">
            <a:r>
              <a:t>      "name": "Михаил Мишустин",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"sergey-lavrov",</a:t>
            </a:r>
          </a:p>
          <a:p xmlns:a="http://schemas.openxmlformats.org/drawingml/2006/main">
            <a:r>
              <a:t>      "name": "Сергей Лавров",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"sergey-shoigu",</a:t>
            </a:r>
          </a:p>
          <a:p xmlns:a="http://schemas.openxmlformats.org/drawingml/2006/main">
            <a:r>
              <a:t>      "name": "Сергей Шойгу",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"andrey-belousov",</a:t>
            </a:r>
          </a:p>
          <a:p xmlns:a="http://schemas.openxmlformats.org/drawingml/2006/main">
            <a:r>
              <a:t>      "name": "Андрей Белоусов",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"nikolay-patrushev",</a:t>
            </a:r>
          </a:p>
          <a:p xmlns:a="http://schemas.openxmlformats.org/drawingml/2006/main">
            <a:r>
              <a:t>      "name": "Николай Патрушев",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"alexander-bortnikov",</a:t>
            </a:r>
          </a:p>
          <a:p xmlns:a="http://schemas.openxmlformats.org/drawingml/2006/main">
            <a:r>
              <a:t>      "name": "Александр Бортников",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"sergey-kiriyenko",</a:t>
            </a:r>
          </a:p>
          <a:p xmlns:a="http://schemas.openxmlformats.org/drawingml/2006/main">
            <a:r>
              <a:t>      "name": "Сергей Кириенко",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"vyacheslav-volodin",</a:t>
            </a:r>
          </a:p>
          <a:p xmlns:a="http://schemas.openxmlformats.org/drawingml/2006/main">
            <a:r>
              <a:t>      "name": "Вячеслав Володин",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"valentina-matviyenko",</a:t>
            </a:r>
          </a:p>
          <a:p xmlns:a="http://schemas.openxmlformats.org/drawingml/2006/main">
            <a:r>
              <a:t>      "name": "Валентина Матвиенко",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"dmitry-peskov",</a:t>
            </a:r>
          </a:p>
          <a:p xmlns:a="http://schemas.openxmlformats.org/drawingml/2006/main">
            <a:r>
              <a:t>      "name": "Дмитрий Песков",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"elvira-nabiullina",</a:t>
            </a:r>
          </a:p>
          <a:p xmlns:a="http://schemas.openxmlformats.org/drawingml/2006/main">
            <a:r>
              <a:t>      "name": "Эльвира Набиуллина",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"anton-siluanov",</a:t>
            </a:r>
          </a:p>
          <a:p xmlns:a="http://schemas.openxmlformats.org/drawingml/2006/main">
            <a:r>
              <a:t>      "name": "Антон Силуанов",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"tatyana-golikova",</a:t>
            </a:r>
          </a:p>
          <a:p xmlns:a="http://schemas.openxmlformats.org/drawingml/2006/main">
            <a:r>
              <a:t>      "name": "Татьяна Голикова",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"gennady-zyuganov",</a:t>
            </a:r>
          </a:p>
          <a:p xmlns:a="http://schemas.openxmlformats.org/drawingml/2006/main">
            <a:r>
              <a:t>      "name": "Геннадий Зюганов",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"C4",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"vladimir-zhirinovsky",</a:t>
            </a:r>
          </a:p>
          <a:p xmlns:a="http://schemas.openxmlformats.org/drawingml/2006/main">
            <a:r>
              <a:t>      "name": "Владимир Жириновский",</a:t>
            </a:r>
          </a:p>
          <a:p xmlns:a="http://schemas.openxmlformats.org/drawingml/2006/main">
            <a:r>
              <a:t>      "from_cluster": "C3",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"C3",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"leonid-slutsky",</a:t>
            </a:r>
          </a:p>
          <a:p xmlns:a="http://schemas.openxmlformats.org/drawingml/2006/main">
            <a:r>
              <a:t>      "name": "Леонид Слуцкий",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"C4",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true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"sergey-mironov",</a:t>
            </a:r>
          </a:p>
          <a:p xmlns:a="http://schemas.openxmlformats.org/drawingml/2006/main">
            <a:r>
              <a:t>      "name": "Сергей Миронов",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"C4",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"alexey-nechayev",</a:t>
            </a:r>
          </a:p>
          <a:p xmlns:a="http://schemas.openxmlformats.org/drawingml/2006/main">
            <a:r>
              <a:t>      "name": "Алексей Нечаев",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"C4",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true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"vladislav-davankov",</a:t>
            </a:r>
          </a:p>
          <a:p xmlns:a="http://schemas.openxmlformats.org/drawingml/2006/main">
            <a:r>
              <a:t>      "name": "Владислав Даванков",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"C4",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true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"zakhar-prilepin",</a:t>
            </a:r>
          </a:p>
          <a:p xmlns:a="http://schemas.openxmlformats.org/drawingml/2006/main">
            <a:r>
              <a:t>      "name": "Захар Прилепин",</a:t>
            </a:r>
          </a:p>
          <a:p xmlns:a="http://schemas.openxmlformats.org/drawingml/2006/main">
            <a:r>
              <a:t>      "from_cluster": "C3",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"C3",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"natalya-poklonskaya",</a:t>
            </a:r>
          </a:p>
          <a:p xmlns:a="http://schemas.openxmlformats.org/drawingml/2006/main">
            <a:r>
              <a:t>      "name": "Наталья Поклонская",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"elena-mizulina",</a:t>
            </a:r>
          </a:p>
          <a:p xmlns:a="http://schemas.openxmlformats.org/drawingml/2006/main">
            <a:r>
              <a:t>      "name": "Елена Мизулина",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"vitaly-milonov",</a:t>
            </a:r>
          </a:p>
          <a:p xmlns:a="http://schemas.openxmlformats.org/drawingml/2006/main">
            <a:r>
              <a:t>      "name": "Виталий Милонов",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"nina-ostanina",</a:t>
            </a:r>
          </a:p>
          <a:p xmlns:a="http://schemas.openxmlformats.org/drawingml/2006/main">
            <a:r>
              <a:t>      "name": "Нина Останина",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"valentina-tereshkova",</a:t>
            </a:r>
          </a:p>
          <a:p xmlns:a="http://schemas.openxmlformats.org/drawingml/2006/main">
            <a:r>
              <a:t>      "name": "Валентина Терешкова",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"alexander-khinshtein",</a:t>
            </a:r>
          </a:p>
          <a:p xmlns:a="http://schemas.openxmlformats.org/drawingml/2006/main">
            <a:r>
              <a:t>      "name": "Александр Хинштейн",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"alexey-pushkov",</a:t>
            </a:r>
          </a:p>
          <a:p xmlns:a="http://schemas.openxmlformats.org/drawingml/2006/main">
            <a:r>
              <a:t>      "name": "Алексей Пушков",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"konstantin-kosachev",</a:t>
            </a:r>
          </a:p>
          <a:p xmlns:a="http://schemas.openxmlformats.org/drawingml/2006/main">
            <a:r>
              <a:t>      "name": "Константин Косачёв",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"sergey-sobyanin",</a:t>
            </a:r>
          </a:p>
          <a:p xmlns:a="http://schemas.openxmlformats.org/drawingml/2006/main">
            <a:r>
              <a:t>      "name": "Сергей Собянин",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"alexander-beglov",</a:t>
            </a:r>
          </a:p>
          <a:p xmlns:a="http://schemas.openxmlformats.org/drawingml/2006/main">
            <a:r>
              <a:t>      "name": "Александр Беглов",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"ramzan-kadyrov",</a:t>
            </a:r>
          </a:p>
          <a:p xmlns:a="http://schemas.openxmlformats.org/drawingml/2006/main">
            <a:r>
              <a:t>      "name": "Рамзан Кадыров",</a:t>
            </a:r>
          </a:p>
          <a:p xmlns:a="http://schemas.openxmlformats.org/drawingml/2006/main">
            <a:r>
              <a:t>      "from_cluster": "C3",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"C3",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"rustam-minnikhanov",</a:t>
            </a:r>
          </a:p>
          <a:p xmlns:a="http://schemas.openxmlformats.org/drawingml/2006/main">
            <a:r>
              <a:t>      "name": "Рустам Минниханов",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"mikhail-degtyarev",</a:t>
            </a:r>
          </a:p>
          <a:p xmlns:a="http://schemas.openxmlformats.org/drawingml/2006/main">
            <a:r>
              <a:t>      "name": "Михаил Дегтярёв",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"sergey-levchenko",</a:t>
            </a:r>
          </a:p>
          <a:p xmlns:a="http://schemas.openxmlformats.org/drawingml/2006/main">
            <a:r>
              <a:t>      "name": "Сергей Левченко",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"C4",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"sergey-aksyonov",</a:t>
            </a:r>
          </a:p>
          <a:p xmlns:a="http://schemas.openxmlformats.org/drawingml/2006/main">
            <a:r>
              <a:t>      "name": "Сергей Аксёнов",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"mikhail-razvozhayev",</a:t>
            </a:r>
          </a:p>
          <a:p xmlns:a="http://schemas.openxmlformats.org/drawingml/2006/main">
            <a:r>
              <a:t>      "name": "Михаил Развожаев",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"vyacheslav-gladkov",</a:t>
            </a:r>
          </a:p>
          <a:p xmlns:a="http://schemas.openxmlformats.org/drawingml/2006/main">
            <a:r>
              <a:t>      "name": "Вячеслав Гладков",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"andrey-chibis",</a:t>
            </a:r>
          </a:p>
          <a:p xmlns:a="http://schemas.openxmlformats.org/drawingml/2006/main">
            <a:r>
              <a:t>      "name": "Андрей Чибис",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"yevgeny-royzman",</a:t>
            </a:r>
          </a:p>
          <a:p xmlns:a="http://schemas.openxmlformats.org/drawingml/2006/main">
            <a:r>
              <a:t>      "name": "Евгений Ройзман",</a:t>
            </a:r>
          </a:p>
          <a:p xmlns:a="http://schemas.openxmlformats.org/drawingml/2006/main">
            <a:r>
              <a:t>      "from_cluster": "C4",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"C4",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"vadim-shumkov",</a:t>
            </a:r>
          </a:p>
          <a:p xmlns:a="http://schemas.openxmlformats.org/drawingml/2006/main">
            <a:r>
              <a:t>      "name": "Вадим Шумков",</a:t>
            </a:r>
          </a:p>
          <a:p xmlns:a="http://schemas.openxmlformats.org/drawingml/2006/main">
            <a:r>
              <a:t>      "from_cluster": "C2",</a:t>
            </a:r>
          </a:p>
          <a:p xmlns:a="http://schemas.openxmlformats.org/drawingml/2006/main">
            <a:r>
              <a:t>      "to_cluster_raw": "C3",</a:t>
            </a:r>
          </a:p>
          <a:p xmlns:a="http://schemas.openxmlformats.org/drawingml/2006/main">
            <a:r>
              <a:t>      "to_cluster_aligned": "C2",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"alexey-navalny",</a:t>
            </a:r>
          </a:p>
          <a:p xmlns:a="http://schemas.openxmlformats.org/drawingml/2006/main">
            <a:r>
              <a:t>      "name": "Алексей Навальный",</a:t>
            </a:r>
          </a:p>
          <a:p xmlns:a="http://schemas.openxmlformats.org/drawingml/2006/main">
            <a:r>
              <a:t>      "from_cluster": "C4",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"C4",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"ilya-yashin",</a:t>
            </a:r>
          </a:p>
          <a:p xmlns:a="http://schemas.openxmlformats.org/drawingml/2006/main">
            <a:r>
              <a:t>      "name": "Илья Яшин",</a:t>
            </a:r>
          </a:p>
          <a:p xmlns:a="http://schemas.openxmlformats.org/drawingml/2006/main">
            <a:r>
              <a:t>      "from_cluster": "C4",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"C4",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"vladimir-kara-murza",</a:t>
            </a:r>
          </a:p>
          <a:p xmlns:a="http://schemas.openxmlformats.org/drawingml/2006/main">
            <a:r>
              <a:t>      "name": "Владимир Кара-Мурза",</a:t>
            </a:r>
          </a:p>
          <a:p xmlns:a="http://schemas.openxmlformats.org/drawingml/2006/main">
            <a:r>
              <a:t>      "from_cluster": "C4",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"C4",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"grigory-yavlinsky",</a:t>
            </a:r>
          </a:p>
          <a:p xmlns:a="http://schemas.openxmlformats.org/drawingml/2006/main">
            <a:r>
              <a:t>      "name": "Григорий Явлинский",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"C4",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"lev-shlosberg",</a:t>
            </a:r>
          </a:p>
          <a:p xmlns:a="http://schemas.openxmlformats.org/drawingml/2006/main">
            <a:r>
              <a:t>      "name": "Лев Шлосберг",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"C4",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"boris-vishnevsky",</a:t>
            </a:r>
          </a:p>
          <a:p xmlns:a="http://schemas.openxmlformats.org/drawingml/2006/main">
            <a:r>
              <a:t>      "name": "Борис Вишневский",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"C4",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"gennady-gudkov",</a:t>
            </a:r>
          </a:p>
          <a:p xmlns:a="http://schemas.openxmlformats.org/drawingml/2006/main">
            <a:r>
              <a:t>      "name": "Геннадий Гудков",</a:t>
            </a:r>
          </a:p>
          <a:p xmlns:a="http://schemas.openxmlformats.org/drawingml/2006/main">
            <a:r>
              <a:t>      "from_cluster": "C4",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"C4",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"garry-kasparov",</a:t>
            </a:r>
          </a:p>
          <a:p xmlns:a="http://schemas.openxmlformats.org/drawingml/2006/main">
            <a:r>
              <a:t>      "name": "Гарри Каспаров",</a:t>
            </a:r>
          </a:p>
          <a:p xmlns:a="http://schemas.openxmlformats.org/drawingml/2006/main">
            <a:r>
              <a:t>      "from_cluster": "C4",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"C4",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"mikhail-khodorkovsky",</a:t>
            </a:r>
          </a:p>
          <a:p xmlns:a="http://schemas.openxmlformats.org/drawingml/2006/main">
            <a:r>
              <a:t>      "name": "Михаил Ходорковский",</a:t>
            </a:r>
          </a:p>
          <a:p xmlns:a="http://schemas.openxmlformats.org/drawingml/2006/main">
            <a:r>
              <a:t>      "from_cluster": "C4",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"C4",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"vladimir-milov",</a:t>
            </a:r>
          </a:p>
          <a:p xmlns:a="http://schemas.openxmlformats.org/drawingml/2006/main">
            <a:r>
              <a:t>      "name": "Владимир Милов",</a:t>
            </a:r>
          </a:p>
          <a:p xmlns:a="http://schemas.openxmlformats.org/drawingml/2006/main">
            <a:r>
              <a:t>      "from_cluster": "C4",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"C4",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"lyubov-sobol",</a:t>
            </a:r>
          </a:p>
          <a:p xmlns:a="http://schemas.openxmlformats.org/drawingml/2006/main">
            <a:r>
              <a:t>      "name": "Любовь Соболь",</a:t>
            </a:r>
          </a:p>
          <a:p xmlns:a="http://schemas.openxmlformats.org/drawingml/2006/main">
            <a:r>
              <a:t>      "from_cluster": "C4",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"C4",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"yekaterina-duntsova",</a:t>
            </a:r>
          </a:p>
          <a:p xmlns:a="http://schemas.openxmlformats.org/drawingml/2006/main">
            <a:r>
              <a:t>      "name": "Екатерина Дунцова",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"C4",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"pavel-grudinin",</a:t>
            </a:r>
          </a:p>
          <a:p xmlns:a="http://schemas.openxmlformats.org/drawingml/2006/main">
            <a:r>
              <a:t>      "name": "Павел Грудинин",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"C4",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"nikolay-platoshkin",</a:t>
            </a:r>
          </a:p>
          <a:p xmlns:a="http://schemas.openxmlformats.org/drawingml/2006/main">
            <a:r>
              <a:t>      "name": "Николай Платошкин",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"C4",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"ilya-ponomarev",</a:t>
            </a:r>
          </a:p>
          <a:p xmlns:a="http://schemas.openxmlformats.org/drawingml/2006/main">
            <a:r>
              <a:t>      "name": "Илья Пономарёв",</a:t>
            </a:r>
          </a:p>
          <a:p xmlns:a="http://schemas.openxmlformats.org/drawingml/2006/main">
            <a:r>
              <a:t>      "from_cluster": "C3",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"C3",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"leonid-gozman",</a:t>
            </a:r>
          </a:p>
          <a:p xmlns:a="http://schemas.openxmlformats.org/drawingml/2006/main">
            <a:r>
              <a:t>      "name": "Леонид Гозман",</a:t>
            </a:r>
          </a:p>
          <a:p xmlns:a="http://schemas.openxmlformats.org/drawingml/2006/main">
            <a:r>
              <a:t>      "from_cluster": "C4",</a:t>
            </a:r>
          </a:p>
          <a:p xmlns:a="http://schemas.openxmlformats.org/drawingml/2006/main">
            <a:r>
              <a:t>      "to_cluster_raw": "C2",</a:t>
            </a:r>
          </a:p>
          <a:p xmlns:a="http://schemas.openxmlformats.org/drawingml/2006/main">
            <a:r>
              <a:t>      "to_cluster_aligned": "C4",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"sergey-udaltsov",</a:t>
            </a:r>
          </a:p>
          <a:p xmlns:a="http://schemas.openxmlformats.org/drawingml/2006/main">
            <a:r>
              <a:t>      "name": "Сергей Удальцов",</a:t>
            </a:r>
          </a:p>
          <a:p xmlns:a="http://schemas.openxmlformats.org/drawingml/2006/main">
            <a:r>
              <a:t>      "from_cluster": "C3",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"C3",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"eduard-limonov",</a:t>
            </a:r>
          </a:p>
          <a:p xmlns:a="http://schemas.openxmlformats.org/drawingml/2006/main">
            <a:r>
              <a:t>      "name": "Эдуард Лимонов",</a:t>
            </a:r>
          </a:p>
          <a:p xmlns:a="http://schemas.openxmlformats.org/drawingml/2006/main">
            <a:r>
              <a:t>      "from_cluster": "C3",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"C3",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"igor-strelkov",</a:t>
            </a:r>
          </a:p>
          <a:p xmlns:a="http://schemas.openxmlformats.org/drawingml/2006/main">
            <a:r>
              <a:t>      "name": "Игорь Стрелков (Гиркин)",</a:t>
            </a:r>
          </a:p>
          <a:p xmlns:a="http://schemas.openxmlformats.org/drawingml/2006/main">
            <a:r>
              <a:t>      "from_cluster": "C3",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"C3",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"yevgeny-prigozhin",</a:t>
            </a:r>
          </a:p>
          <a:p xmlns:a="http://schemas.openxmlformats.org/drawingml/2006/main">
            <a:r>
              <a:t>      "name": "Евгений Пригожин",</a:t>
            </a:r>
          </a:p>
          <a:p xmlns:a="http://schemas.openxmlformats.org/drawingml/2006/main">
            <a:r>
              <a:t>      "from_cluster": "C3",</a:t>
            </a:r>
          </a:p>
          <a:p xmlns:a="http://schemas.openxmlformats.org/drawingml/2006/main">
            <a:r>
              <a:t>      "to_cluster_raw": "C1",</a:t>
            </a:r>
          </a:p>
          <a:p xmlns:a="http://schemas.openxmlformats.org/drawingml/2006/main">
            <a:r>
              <a:t>      "to_cluster_aligned": "C3",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"object_id": "oksana-dmitriyeva",</a:t>
            </a:r>
          </a:p>
          <a:p xmlns:a="http://schemas.openxmlformats.org/drawingml/2006/main">
            <a:r>
              <a:t>      "name": "Оксана Дмитриева",</a:t>
            </a:r>
          </a:p>
          <a:p xmlns:a="http://schemas.openxmlformats.org/drawingml/2006/main">
            <a:r>
              <a:t>      "from_cluster": "C1",</a:t>
            </a:r>
          </a:p>
          <a:p xmlns:a="http://schemas.openxmlformats.org/drawingml/2006/main">
            <a:r>
              <a:t>      "to_cluster_raw": "C4",</a:t>
            </a:r>
          </a:p>
          <a:p xmlns:a="http://schemas.openxmlformats.org/drawingml/2006/main">
            <a:r>
              <a:t>      "to_cluster_aligned": "C1",</a:t>
            </a:r>
          </a:p>
          <a:p xmlns:a="http://schemas.openxmlformats.org/drawingml/2006/main">
            <a:r>
              <a:t>      "changed": false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"scope": "Same objects and fixed k; maximum-overlap label permutation only, no model refit or forced memberships",</a:t>
            </a:r>
          </a:p>
          <a:p xmlns:a="http://schemas.openxmlformats.org/drawingml/2006/main">
            <a:r>
              <a:t>  "artifact_files": {</a:t>
            </a:r>
          </a:p>
          <a:p xmlns:a="http://schemas.openxmlformats.org/drawingml/2006/main">
            <a:r>
              <a:t>    "all_objects_csv": "clusters_q3_q4_k4_all_objects.csv",</a:t>
            </a:r>
          </a:p>
          <a:p xmlns:a="http://schemas.openxmlformats.org/drawingml/2006/main">
            <a:r>
              <a:t>    "changed_objects_csv": "clusters_q3_q4_k4_changed_objects.csv",</a:t>
            </a:r>
          </a:p>
          <a:p xmlns:a="http://schemas.openxmlformats.org/drawingml/2006/main">
            <a:r>
              <a:t>    "contingency_raw_csv": "clusters_q3_q4_k4_contingency_raw.csv",</a:t>
            </a:r>
          </a:p>
          <a:p xmlns:a="http://schemas.openxmlformats.org/drawingml/2006/main">
            <a:r>
              <a:t>    "contingency_aligned_csv": "clusters_q3_q4_k4_contingency_aligned.csv",</a:t>
            </a:r>
          </a:p>
          <a:p xmlns:a="http://schemas.openxmlformats.org/drawingml/2006/main">
            <a:r>
              <a:t>    "chart_png": "assets/clusters_q3_q4_k4.png",</a:t>
            </a:r>
          </a:p>
          <a:p xmlns:a="http://schemas.openxmlformats.org/drawingml/2006/main">
            <a:r>
              <a:t>    "comparison_json": "clusters_q3_q4_k4_comparison.json"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"chart": {</a:t>
            </a:r>
          </a:p>
          <a:p xmlns:a="http://schemas.openxmlformats.org/drawingml/2006/main">
            <a:r>
              <a:t>    "title": "Переходы q3→q4 при k=4",</a:t>
            </a:r>
          </a:p>
          <a:p xmlns:a="http://schemas.openxmlformats.org/drawingml/2006/main">
            <a:r>
              <a:t>    "file": "assets/clusters_q3_q4_k4.png",</a:t>
            </a:r>
          </a:p>
          <a:p xmlns:a="http://schemas.openxmlformats.org/drawingml/2006/main">
            <a:r>
              <a:t>    "caption": "После max-overlap выравнивания меток; исходные номера кластеров и полный список всех объектов сохранены в CSV."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Сохранить q=2 как компактный базовый обзор по действующему правилу экономии параметров; q=3 рассмотреть как наиболее ясное содержательное расширение, особенно при k=4. Средняя отложенная log-likelihood q=3 немного лучше q=2 (−31,237 против −31,476), но разница мала, оценена лишь на трёх разбиениях и не доказывает превосходства. q=4 полезна как дополнительная детализация распределения власти и управленческого обоснования; её отложенная log-likelihood не улучшается (−31,529), F1 сильно определяется одной шкалой, F4 имеет лишь два сильных индикатора. Для кластеров показать k=3 как контроль и k=4 как содержательно выбранную типологию обеих расширенных моделей. Изменение q и изменение k следует обсуждать раздельно. Ни одно разбиение не устанавливает общность истинных убеждений или электората.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{"objects":{"seed":20261015,"perplexity":20.666666666666668,"input_dimensions":2,"n_points":63,"iterations":1000,"initialization":"pca"},"traits":{"seed":20261015,"perplexity":5.333333333333333,"input_dimensions":2,"n_points":17,"iterations":1000,"initialization":"pca"}}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"recommended_k": 3,</a:t>
            </a:r>
          </a:p>
          <a:p xmlns:a="http://schemas.openxmlformats.org/drawingml/2006/main">
            <a:r>
              <a:t>  "used_k": 3,</a:t>
            </a:r>
          </a:p>
          <a:p xmlns:a="http://schemas.openxmlformats.org/drawingml/2006/main">
            <a:r>
              <a:t>  "overridden": false,</a:t>
            </a:r>
          </a:p>
          <a:p xmlns:a="http://schemas.openxmlformats.org/drawingml/2006/main">
            <a:r>
              <a:t>  "stable_candidates_available": true,</a:t>
            </a:r>
          </a:p>
          <a:p xmlns:a="http://schemas.openxmlformats.org/drawingml/2006/main">
            <a:r>
              <a:t>  "minimum_size_preference": 4,</a:t>
            </a:r>
          </a:p>
          <a:p xmlns:a="http://schemas.openxmlformats.org/drawingml/2006/main">
            <a:r>
              <a:t>  "rule": "Prefer groups &gt;=max(3,ceil(0.05*n)), median resampling ARI&gt;=0.65 and every group's median Jaccard&gt;=0.60; among admissible candidates choose smallest k within 0.02 of the best silhouette. If none qualify, use size-admissible candidates, then all candidates, and explicitly mark uncertainty. User override is allowed.",</a:t>
            </a:r>
          </a:p>
          <a:p xmlns:a="http://schemas.openxmlformats.org/drawingml/2006/main">
            <a:r>
              <a:t>  "interpretation": "Numerical choice is a reviewable proposal; final grouping requires semantic interpretation. KMeans also partitions continuous spaces.",</a:t>
            </a:r>
          </a:p>
          <a:p xmlns:a="http://schemas.openxmlformats.org/drawingml/2006/main">
            <a:r>
              <a:t>  "selection_authority": "semantic_and_numerical_review",</a:t>
            </a:r>
          </a:p>
          <a:p xmlns:a="http://schemas.openxmlformats.org/drawingml/2006/main">
            <a:r>
              <a:t>  "content_recommended_k": 3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Трёхкластерное решение выделяет три содержательно различимых профиля, каждый из которых характеризуется уникальным сочетанием нагруженных свойств. Первый кластер объединяет акторов, ориентированных на институциональные процедуры и умеренную поддержку действующей власти, второй — выраженных сторонников антивоенной риторики, критики власти и интеграции с Западом, а третий — группу с выраженной конфронтационностью, мобилизационной риторикой и персонализацией. Эти профили различаются не только по ключевым факторам, но и по ряду шкал с крупными сдвигами относительно всей выборки, что позволяет говорить о содержательной интерпретируемости каждого кластера.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При дальнейшем увеличении числа кластеров (k &gt; 3) происходит преимущественно дробление уже выделенных профилей на более мелкие подгруппы, различия между которыми выражены слабее и часто касаются нюансов внутри уже описанных направлений (например, разделение умеренных и радикальных представителей внутри одного лагеря). При этом новые кластеры зачастую оказываются малы по размеру и менее устойчивы, а их содержательная специфика не столь отчётлива, как у трёх основных профилей. Таким образом, k=3 выбрано как рабочий компромисс между различимостью, интерпретируемостью и ценой дополнительного дробления.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Численная сводка из расчёта: у k=3 силуэт 0.508; наибольший силуэт среди проверенных вариантов — 0.512 при k=7. Медианный ARI выбранного разбиения — 1.000, минимальный по группам медианный Jaccard — 1.000. Содержательное предпочтение не означает максимума всех численных показателей или доказательства естественных классов. Средний ARI — 0.914, минимальный ARI — 0.360; устойчивость оценена при фиксированных факторных координатах, без повторного сбора досье и оценивания.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Трёхкластерное решение выделяет три содержательно различимых профиля, каждый из которых характеризуется уникальным сочетанием нагруженных свойств. Первый кластер объединяет акторов, ориентированных на институциональные процедуры и умеренную поддержку действующей власти, второй — выраженных сторонников антивоенной риторики, критики власти и интеграции с Западом, а третий — группу с выраженной конфронтационностью, мобилизационной риторикой и персонализацией. Эти профили различаются не только по ключевым факторам, но и по ряду шкал с крупными сдвигами относительно всей выборки, что позволяет говорить о содержательной интерпретируемости каждого кластера.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При дальнейшем увеличении числа кластеров (k &gt; 3) происходит преимущественно дробление уже выделенных профилей на более мелкие подгруппы, различия между которыми выражены слабее и часто касаются нюансов внутри уже описанных направлений (например, разделение умеренных и радикальных представителей внутри одного лагеря). При этом новые кластеры зачастую оказываются малы по размеру и менее устойчивы, а их содержательная специфика не столь отчётлива, как у трёх основных профилей. Таким образом, k=3 выбрано как рабочий компромисс между различимостью, интерпретируемостью и ценой дополнительного дробления.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Численная сводка из расчёта: у k=3 силуэт 0.508; наибольший силуэт среди проверенных вариантов — 0.512 при k=7. Медианный ARI выбранного разбиения — 1.000, минимальный по группам медианный Jaccard — 1.000. Содержательное предпочтение не означает максимума всех численных показателей или доказательства естественных классов. Средний ARI — 0.914, минимальный ARI — 0.360; устойчивость оценена при фиксированных факторных координатах, без повторного сбора досье и оценивания.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Трёхкластерное решение выделяет три содержательно различимых профиля, каждый из которых характеризуется уникальным сочетанием нагруженных свойств. Первый кластер объединяет акторов, ориентированных на институциональные процедуры и умеренную поддержку действующей власти, второй — выраженных сторонников антивоенной риторики, критики власти и интеграции с Западом, а третий — группу с выраженной конфронтационностью, мобилизационной риторикой и персонализацией. Эти профили различаются не только по ключевым факторам, но и по ряду шкал с крупными сдвигами относительно всей выборки, что позволяет говорить о содержательной интерпретируемости каждого кластера.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При дальнейшем увеличении числа кластеров (k &gt; 3) происходит преимущественно дробление уже выделенных профилей на более мелкие подгруппы, различия между которыми выражены слабее и часто касаются нюансов внутри уже описанных направлений (например, разделение умеренных и радикальных представителей внутри одного лагеря). При этом новые кластеры зачастую оказываются малы по размеру и менее устойчивы, а их содержательная специфика не столь отчётлива, как у трёх основных профилей. Таким образом, k=3 выбрано как рабочий компромисс между различимостью, интерпретируемостью и ценой дополнительного дробления.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Численная сводка из расчёта: у k=3 силуэт 0.508; наибольший силуэт среди проверенных вариантов — 0.512 при k=7. Медианный ARI выбранного разбиения — 1.000, минимальный по группам медианный Jaccard — 1.000. Содержательное предпочтение не означает максимума всех численных показателей или доказательства естественных классов. Средний ARI — 0.914, минимальный ARI — 0.360; устойчивость оценена при фиксированных факторных координатах, без повторного сбора досье и оценивания.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"C1",</a:t>
            </a:r>
          </a:p>
          <a:p xmlns:a="http://schemas.openxmlformats.org/drawingml/2006/main">
            <a:r>
              <a:t>  "name": "Институциональная поддержка курса и партийная централизация",</a:t>
            </a:r>
          </a:p>
          <a:p xmlns:a="http://schemas.openxmlformats.org/drawingml/2006/main">
            <a:r>
              <a:t>  "count": 40,</a:t>
            </a:r>
          </a:p>
          <a:p xmlns:a="http://schemas.openxmlformats.org/drawingml/2006/main">
            <a:r>
              <a:t>  "members":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"vladimir-putin",</a:t>
            </a:r>
          </a:p>
          <a:p xmlns:a="http://schemas.openxmlformats.org/drawingml/2006/main">
            <a:r>
              <a:t>      "name": "Владимир Путин"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"dmitry-medvedev",</a:t>
            </a:r>
          </a:p>
          <a:p xmlns:a="http://schemas.openxmlformats.org/drawingml/2006/main">
            <a:r>
              <a:t>      "name": "Дмитрий Медведев"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"mikhail-mishustin",</a:t>
            </a:r>
          </a:p>
          <a:p xmlns:a="http://schemas.openxmlformats.org/drawingml/2006/main">
            <a:r>
              <a:t>      "name": "Михаил Мишустин"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"sergey-lavrov",</a:t>
            </a:r>
          </a:p>
          <a:p xmlns:a="http://schemas.openxmlformats.org/drawingml/2006/main">
            <a:r>
              <a:t>      "name": "Сергей Лавров"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"sergey-shoigu",</a:t>
            </a:r>
          </a:p>
          <a:p xmlns:a="http://schemas.openxmlformats.org/drawingml/2006/main">
            <a:r>
              <a:t>      "name": "Сергей Шойгу"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"andrey-belousov",</a:t>
            </a:r>
          </a:p>
          <a:p xmlns:a="http://schemas.openxmlformats.org/drawingml/2006/main">
            <a:r>
              <a:t>      "name": "Андрей Белоусов"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"nikolay-patrushev",</a:t>
            </a:r>
          </a:p>
          <a:p xmlns:a="http://schemas.openxmlformats.org/drawingml/2006/main">
            <a:r>
              <a:t>      "name": "Николай Патрушев"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"alexander-bortnikov",</a:t>
            </a:r>
          </a:p>
          <a:p xmlns:a="http://schemas.openxmlformats.org/drawingml/2006/main">
            <a:r>
              <a:t>      "name": "Александр Бортников"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"sergey-kiriyenko",</a:t>
            </a:r>
          </a:p>
          <a:p xmlns:a="http://schemas.openxmlformats.org/drawingml/2006/main">
            <a:r>
              <a:t>      "name": "Сергей Кириенко"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"vyacheslav-volodin",</a:t>
            </a:r>
          </a:p>
          <a:p xmlns:a="http://schemas.openxmlformats.org/drawingml/2006/main">
            <a:r>
              <a:t>      "name": "Вячеслав Володин"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"valentina-matviyenko",</a:t>
            </a:r>
          </a:p>
          <a:p xmlns:a="http://schemas.openxmlformats.org/drawingml/2006/main">
            <a:r>
              <a:t>      "name": "Валентина Матвиенко"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"dmitry-peskov",</a:t>
            </a:r>
          </a:p>
          <a:p xmlns:a="http://schemas.openxmlformats.org/drawingml/2006/main">
            <a:r>
              <a:t>      "name": "Дмитрий Песков"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"elvira-nabiullina",</a:t>
            </a:r>
          </a:p>
          <a:p xmlns:a="http://schemas.openxmlformats.org/drawingml/2006/main">
            <a:r>
              <a:t>      "name": "Эльвира Набиуллина"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"anton-siluanov",</a:t>
            </a:r>
          </a:p>
          <a:p xmlns:a="http://schemas.openxmlformats.org/drawingml/2006/main">
            <a:r>
              <a:t>      "name": "Антон Силуанов"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"tatyana-golikova",</a:t>
            </a:r>
          </a:p>
          <a:p xmlns:a="http://schemas.openxmlformats.org/drawingml/2006/main">
            <a:r>
              <a:t>      "name": "Татьяна Голикова"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"gennady-zyuganov",</a:t>
            </a:r>
          </a:p>
          <a:p xmlns:a="http://schemas.openxmlformats.org/drawingml/2006/main">
            <a:r>
              <a:t>      "name": "Геннадий Зюганов"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"leonid-slutsky",</a:t>
            </a:r>
          </a:p>
          <a:p xmlns:a="http://schemas.openxmlformats.org/drawingml/2006/main">
            <a:r>
              <a:t>      "name": "Леонид Слуцкий"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"sergey-mironov",</a:t>
            </a:r>
          </a:p>
          <a:p xmlns:a="http://schemas.openxmlformats.org/drawingml/2006/main">
            <a:r>
              <a:t>      "name": "Сергей Миронов"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"alexey-nechayev",</a:t>
            </a:r>
          </a:p>
          <a:p xmlns:a="http://schemas.openxmlformats.org/drawingml/2006/main">
            <a:r>
              <a:t>      "name": "Алексей Нечаев"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"vladislav-davankov",</a:t>
            </a:r>
          </a:p>
          <a:p xmlns:a="http://schemas.openxmlformats.org/drawingml/2006/main">
            <a:r>
              <a:t>      "name": "Владислав Даванков"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"natalya-poklonskaya",</a:t>
            </a:r>
          </a:p>
          <a:p xmlns:a="http://schemas.openxmlformats.org/drawingml/2006/main">
            <a:r>
              <a:t>      "name": "Наталья Поклонская"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"elena-mizulina",</a:t>
            </a:r>
          </a:p>
          <a:p xmlns:a="http://schemas.openxmlformats.org/drawingml/2006/main">
            <a:r>
              <a:t>      "name": "Елена Мизулина"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"vitaly-milonov",</a:t>
            </a:r>
          </a:p>
          <a:p xmlns:a="http://schemas.openxmlformats.org/drawingml/2006/main">
            <a:r>
              <a:t>      "name": "Виталий Милонов"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"nina-ostanina",</a:t>
            </a:r>
          </a:p>
          <a:p xmlns:a="http://schemas.openxmlformats.org/drawingml/2006/main">
            <a:r>
              <a:t>      "name": "Нина Останина"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"valentina-tereshkova",</a:t>
            </a:r>
          </a:p>
          <a:p xmlns:a="http://schemas.openxmlformats.org/drawingml/2006/main">
            <a:r>
              <a:t>      "name": "Валентина Терешкова"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"alexander-khinshtein",</a:t>
            </a:r>
          </a:p>
          <a:p xmlns:a="http://schemas.openxmlformats.org/drawingml/2006/main">
            <a:r>
              <a:t>      "name": "Александр Хинштейн"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"alexey-pushkov",</a:t>
            </a:r>
          </a:p>
          <a:p xmlns:a="http://schemas.openxmlformats.org/drawingml/2006/main">
            <a:r>
              <a:t>      "name": "Алексей Пушков"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"konstantin-kosachev",</a:t>
            </a:r>
          </a:p>
          <a:p xmlns:a="http://schemas.openxmlformats.org/drawingml/2006/main">
            <a:r>
              <a:t>      "name": "Константин Косачёв"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"sergey-sobyanin",</a:t>
            </a:r>
          </a:p>
          <a:p xmlns:a="http://schemas.openxmlformats.org/drawingml/2006/main">
            <a:r>
              <a:t>      "name": "Сергей Собянин"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"alexander-beglov",</a:t>
            </a:r>
          </a:p>
          <a:p xmlns:a="http://schemas.openxmlformats.org/drawingml/2006/main">
            <a:r>
              <a:t>      "name": "Александр Беглов"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"rustam-minnikhanov",</a:t>
            </a:r>
          </a:p>
          <a:p xmlns:a="http://schemas.openxmlformats.org/drawingml/2006/main">
            <a:r>
              <a:t>      "name": "Рустам Минниханов"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"mikhail-degtyarev",</a:t>
            </a:r>
          </a:p>
          <a:p xmlns:a="http://schemas.openxmlformats.org/drawingml/2006/main">
            <a:r>
              <a:t>      "name": "Михаил Дегтярёв"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"sergey-levchenko",</a:t>
            </a:r>
          </a:p>
          <a:p xmlns:a="http://schemas.openxmlformats.org/drawingml/2006/main">
            <a:r>
              <a:t>      "name": "Сергей Левченко"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"sergey-aksyonov",</a:t>
            </a:r>
          </a:p>
          <a:p xmlns:a="http://schemas.openxmlformats.org/drawingml/2006/main">
            <a:r>
              <a:t>      "name": "Сергей Аксёнов"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"mikhail-razvozhayev",</a:t>
            </a:r>
          </a:p>
          <a:p xmlns:a="http://schemas.openxmlformats.org/drawingml/2006/main">
            <a:r>
              <a:t>      "name": "Михаил Развожаев"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"vyacheslav-gladkov",</a:t>
            </a:r>
          </a:p>
          <a:p xmlns:a="http://schemas.openxmlformats.org/drawingml/2006/main">
            <a:r>
              <a:t>      "name": "Вячеслав Гладков"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"andrey-chibis",</a:t>
            </a:r>
          </a:p>
          <a:p xmlns:a="http://schemas.openxmlformats.org/drawingml/2006/main">
            <a:r>
              <a:t>      "name": "Андрей Чибис"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"vadim-shumkov",</a:t>
            </a:r>
          </a:p>
          <a:p xmlns:a="http://schemas.openxmlformats.org/drawingml/2006/main">
            <a:r>
              <a:t>      "name": "Вадим Шумков"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"nikolay-platoshkin",</a:t>
            </a:r>
          </a:p>
          <a:p xmlns:a="http://schemas.openxmlformats.org/drawingml/2006/main">
            <a:r>
              <a:t>      "name": "Николай Платошкин"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"oksana-dmitriyeva",</a:t>
            </a:r>
          </a:p>
          <a:p xmlns:a="http://schemas.openxmlformats.org/drawingml/2006/main">
            <a:r>
              <a:t>      "name": "Оксана Дмитриева"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"representatives":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"mikhail-degtyarev",</a:t>
            </a:r>
          </a:p>
          <a:p xmlns:a="http://schemas.openxmlformats.org/drawingml/2006/main">
            <a:r>
              <a:t>      "name": "Михаил Дегтярёв",</a:t>
            </a:r>
          </a:p>
          <a:p xmlns:a="http://schemas.openxmlformats.org/drawingml/2006/main">
            <a:r>
              <a:t>      "distance": 0.21740712289556915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"nina-ostanina",</a:t>
            </a:r>
          </a:p>
          <a:p xmlns:a="http://schemas.openxmlformats.org/drawingml/2006/main">
            <a:r>
              <a:t>      "name": "Нина Останина",</a:t>
            </a:r>
          </a:p>
          <a:p xmlns:a="http://schemas.openxmlformats.org/drawingml/2006/main">
            <a:r>
              <a:t>      "distance": 0.28271327767939286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"sergey-aksyonov",</a:t>
            </a:r>
          </a:p>
          <a:p xmlns:a="http://schemas.openxmlformats.org/drawingml/2006/main">
            <a:r>
              <a:t>      "name": "Сергей Аксёнов",</a:t>
            </a:r>
          </a:p>
          <a:p xmlns:a="http://schemas.openxmlformats.org/drawingml/2006/main">
            <a:r>
              <a:t>      "distance": 0.2965515915234597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"leonid-slutsky",</a:t>
            </a:r>
          </a:p>
          <a:p xmlns:a="http://schemas.openxmlformats.org/drawingml/2006/main">
            <a:r>
              <a:t>      "name": "Леонид Слуцкий",</a:t>
            </a:r>
          </a:p>
          <a:p xmlns:a="http://schemas.openxmlformats.org/drawingml/2006/main">
            <a:r>
              <a:t>      "distance": 0.3339486180297306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"gennady-zyuganov",</a:t>
            </a:r>
          </a:p>
          <a:p xmlns:a="http://schemas.openxmlformats.org/drawingml/2006/main">
            <a:r>
              <a:t>      "name": "Геннадий Зюганов",</a:t>
            </a:r>
          </a:p>
          <a:p xmlns:a="http://schemas.openxmlformats.org/drawingml/2006/main">
            <a:r>
              <a:t>      "distance": 0.37252102558839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"factor_center": {</a:t>
            </a:r>
          </a:p>
          <a:p xmlns:a="http://schemas.openxmlformats.org/drawingml/2006/main">
            <a:r>
              <a:t>    "F1": -0.40369958354917845,</a:t>
            </a:r>
          </a:p>
          <a:p xmlns:a="http://schemas.openxmlformats.org/drawingml/2006/main">
            <a:r>
              <a:t>    "F2": 0.5394183938454499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"distinguishing_scales":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"oppositionality",</a:t>
            </a:r>
          </a:p>
          <a:p xmlns:a="http://schemas.openxmlformats.org/drawingml/2006/main">
            <a:r>
              <a:t>      "name": "Критика действующей власти — поддержка её курса",</a:t>
            </a:r>
          </a:p>
          <a:p xmlns:a="http://schemas.openxmlformats.org/drawingml/2006/main">
            <a:r>
              <a:t>      "positive": "Публичная критика действующей федеральной власти",</a:t>
            </a:r>
          </a:p>
          <a:p xmlns:a="http://schemas.openxmlformats.org/drawingml/2006/main">
            <a:r>
              <a:t>      "negative": "Публичная поддержка курса действующей федеральной власти",</a:t>
            </a:r>
          </a:p>
          <a:p xmlns:a="http://schemas.openxmlformats.org/drawingml/2006/main">
            <a:r>
              <a:t>      "difference": -0.6389090637011678,</a:t>
            </a:r>
          </a:p>
          <a:p xmlns:a="http://schemas.openxmlformats.org/drawingml/2006/main">
            <a:r>
              <a:t>      "group_mean": -2.7948717948717947,</a:t>
            </a:r>
          </a:p>
          <a:p xmlns:a="http://schemas.openxmlformats.org/drawingml/2006/main">
            <a:r>
              <a:t>      "overall_mean": -0.41935483870967744,</a:t>
            </a:r>
          </a:p>
          <a:p xmlns:a="http://schemas.openxmlformats.org/drawingml/2006/main">
            <a:r>
              <a:t>      "direction": "negative",</a:t>
            </a:r>
          </a:p>
          <a:p xmlns:a="http://schemas.openxmlformats.org/drawingml/2006/main">
            <a:r>
              <a:t>      "observed_group_count": 39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"antiwar-rhetoric",</a:t>
            </a:r>
          </a:p>
          <a:p xmlns:a="http://schemas.openxmlformats.org/drawingml/2006/main">
            <a:r>
              <a:t>      "name": "Прекращение военных действий — их продолжение",</a:t>
            </a:r>
          </a:p>
          <a:p xmlns:a="http://schemas.openxmlformats.org/drawingml/2006/main">
            <a:r>
              <a:t>      "positive": "Публичные призывы прекратить военные действия и перейти к миру",</a:t>
            </a:r>
          </a:p>
          <a:p xmlns:a="http://schemas.openxmlformats.org/drawingml/2006/main">
            <a:r>
              <a:t>      "negative": "Публичная поддержка продолжения военных действий ради заявленных целей",</a:t>
            </a:r>
          </a:p>
          <a:p xmlns:a="http://schemas.openxmlformats.org/drawingml/2006/main">
            <a:r>
              <a:t>      "difference": -0.5728720538613943,</a:t>
            </a:r>
          </a:p>
          <a:p xmlns:a="http://schemas.openxmlformats.org/drawingml/2006/main">
            <a:r>
              <a:t>      "group_mean": -2.2857142857142856,</a:t>
            </a:r>
          </a:p>
          <a:p xmlns:a="http://schemas.openxmlformats.org/drawingml/2006/main">
            <a:r>
              <a:t>      "overall_mean": -0.4318181818181818,</a:t>
            </a:r>
          </a:p>
          <a:p xmlns:a="http://schemas.openxmlformats.org/drawingml/2006/main">
            <a:r>
              <a:t>      "direction": "negative",</a:t>
            </a:r>
          </a:p>
          <a:p xmlns:a="http://schemas.openxmlformats.org/drawingml/2006/main">
            <a:r>
              <a:t>      "observed_group_count": 21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"parliamentary-institutional",</a:t>
            </a:r>
          </a:p>
          <a:p xmlns:a="http://schemas.openxmlformats.org/drawingml/2006/main">
            <a:r>
              <a:t>      "name": "Институциональная работа — протестное действие",</a:t>
            </a:r>
          </a:p>
          <a:p xmlns:a="http://schemas.openxmlformats.org/drawingml/2006/main">
            <a:r>
              <a:t>      "positive": "Изменения через действующие правовые и парламентские процедуры",</a:t>
            </a:r>
          </a:p>
          <a:p xmlns:a="http://schemas.openxmlformats.org/drawingml/2006/main">
            <a:r>
              <a:t>      "negative": "Изменения через внеинституциональное протестное давление",</a:t>
            </a:r>
          </a:p>
          <a:p xmlns:a="http://schemas.openxmlformats.org/drawingml/2006/main">
            <a:r>
              <a:t>      "difference": 0.5631123384331006,</a:t>
            </a:r>
          </a:p>
          <a:p xmlns:a="http://schemas.openxmlformats.org/drawingml/2006/main">
            <a:r>
              <a:t>      "group_mean": 3.236842105263158,</a:t>
            </a:r>
          </a:p>
          <a:p xmlns:a="http://schemas.openxmlformats.org/drawingml/2006/main">
            <a:r>
              <a:t>      "overall_mean": 1.7333333333333334,</a:t>
            </a:r>
          </a:p>
          <a:p xmlns:a="http://schemas.openxmlformats.org/drawingml/2006/main">
            <a:r>
              <a:t>      "direction": "positive",</a:t>
            </a:r>
          </a:p>
          <a:p xmlns:a="http://schemas.openxmlformats.org/drawingml/2006/main">
            <a:r>
              <a:t>      "observed_group_count": 38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"media-personalization",</a:t>
            </a:r>
          </a:p>
          <a:p xmlns:a="http://schemas.openxmlformats.org/drawingml/2006/main">
            <a:r>
              <a:t>      "name": "Персональный бренд — коллективный институт",</a:t>
            </a:r>
          </a:p>
          <a:p xmlns:a="http://schemas.openxmlformats.org/drawingml/2006/main">
            <a:r>
              <a:t>      "positive": "Личный бренд и обращение от собственного имени",</a:t>
            </a:r>
          </a:p>
          <a:p xmlns:a="http://schemas.openxmlformats.org/drawingml/2006/main">
            <a:r>
              <a:t>      "negative": "Коллективное представительство и институциональное авторство",</a:t>
            </a:r>
          </a:p>
          <a:p xmlns:a="http://schemas.openxmlformats.org/drawingml/2006/main">
            <a:r>
              <a:t>      "difference": -0.5149685642337077,</a:t>
            </a:r>
          </a:p>
          <a:p xmlns:a="http://schemas.openxmlformats.org/drawingml/2006/main">
            <a:r>
              <a:t>      "group_mean": -1.125,</a:t>
            </a:r>
          </a:p>
          <a:p xmlns:a="http://schemas.openxmlformats.org/drawingml/2006/main">
            <a:r>
              <a:t>      "overall_mean": -0.031746031746031744,</a:t>
            </a:r>
          </a:p>
          <a:p xmlns:a="http://schemas.openxmlformats.org/drawingml/2006/main">
            <a:r>
              <a:t>      "direction": "negative",</a:t>
            </a:r>
          </a:p>
          <a:p xmlns:a="http://schemas.openxmlformats.org/drawingml/2006/main">
            <a:r>
              <a:t>      "observed_group_count": 40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"party-leadership",</a:t>
            </a:r>
          </a:p>
          <a:p xmlns:a="http://schemas.openxmlformats.org/drawingml/2006/main">
            <a:r>
              <a:t>      "name": "Партийная организация — независимая инициатива",</a:t>
            </a:r>
          </a:p>
          <a:p xmlns:a="http://schemas.openxmlformats.org/drawingml/2006/main">
            <a:r>
              <a:t>      "positive": "Партия как основной инструмент политического действия",</a:t>
            </a:r>
          </a:p>
          <a:p xmlns:a="http://schemas.openxmlformats.org/drawingml/2006/main">
            <a:r>
              <a:t>      "negative": "Независимые от партий гражданские и персональные инициативы",</a:t>
            </a:r>
          </a:p>
          <a:p xmlns:a="http://schemas.openxmlformats.org/drawingml/2006/main">
            <a:r>
              <a:t>      "difference": 0.4795824036498695,</a:t>
            </a:r>
          </a:p>
          <a:p xmlns:a="http://schemas.openxmlformats.org/drawingml/2006/main">
            <a:r>
              <a:t>      "group_mean": 1.6333333333333333,</a:t>
            </a:r>
          </a:p>
          <a:p xmlns:a="http://schemas.openxmlformats.org/drawingml/2006/main">
            <a:r>
              <a:t>      "overall_mean": 0.4528301886792453,</a:t>
            </a:r>
          </a:p>
          <a:p xmlns:a="http://schemas.openxmlformats.org/drawingml/2006/main">
            <a:r>
              <a:t>      "direction": "positive",</a:t>
            </a:r>
          </a:p>
          <a:p xmlns:a="http://schemas.openxmlformats.org/drawingml/2006/main">
            <a:r>
              <a:t>      "observed_group_count": 30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"antiwesternism",</a:t>
            </a:r>
          </a:p>
          <a:p xmlns:a="http://schemas.openxmlformats.org/drawingml/2006/main">
            <a:r>
              <a:t>      "name": "Противостояние Западу — сближение с Западом",</a:t>
            </a:r>
          </a:p>
          <a:p xmlns:a="http://schemas.openxmlformats.org/drawingml/2006/main">
            <a:r>
              <a:t>      "positive": "Противостояние западным государствам и институтам",</a:t>
            </a:r>
          </a:p>
          <a:p xmlns:a="http://schemas.openxmlformats.org/drawingml/2006/main">
            <a:r>
              <a:t>      "negative": "Сотрудничество и политическое сближение с западными государствами",</a:t>
            </a:r>
          </a:p>
          <a:p xmlns:a="http://schemas.openxmlformats.org/drawingml/2006/main">
            <a:r>
              <a:t>      "difference": 0.4466172862890043,</a:t>
            </a:r>
          </a:p>
          <a:p xmlns:a="http://schemas.openxmlformats.org/drawingml/2006/main">
            <a:r>
              <a:t>      "group_mean": 2.0689655172413794,</a:t>
            </a:r>
          </a:p>
          <a:p xmlns:a="http://schemas.openxmlformats.org/drawingml/2006/main">
            <a:r>
              <a:t>      "overall_mean": 0.9803921568627451,</a:t>
            </a:r>
          </a:p>
          <a:p xmlns:a="http://schemas.openxmlformats.org/drawingml/2006/main">
            <a:r>
              <a:t>      "direction": "positive",</a:t>
            </a:r>
          </a:p>
          <a:p xmlns:a="http://schemas.openxmlformats.org/drawingml/2006/main">
            <a:r>
              <a:t>      "observed_group_count": 29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"interpretation": "Общность этой группы определяется устойчивой поддержкой действующей федеральной власти, акцентом на продолжении военных действий, институциональной работой через парламентские процедуры и партийной организацией. Для большинства представителей характерна коллективная, а не персонализированная публичность, а также выраженная антизападная риторика и поддержка вертикали власти. Типичные представители — руководители федеральных органов, парламентских партий и региональные лидеры, чьи публичные образы строятся на лояльности к центру, партийной дисциплине и институциональной легитимности.\n\nВнутри группы возможны различия по степени выраженности отдельных шкал (например, между экономическими технократами и идеологическими партийными лидерами), однако объединяет их именно сочетание институциональной стратегии, поддержки курса и коллективного авторства. Пограничные случаи встречаются среди фигур с частичным акцентом на региональной идентичности или умеренной критикой, но в целом группа отличается от других устойчивым профилем поддержки существующего порядка.",</a:t>
            </a:r>
          </a:p>
          <a:p xmlns:a="http://schemas.openxmlformats.org/drawingml/2006/main">
            <a:r>
              <a:t>  "boundary_objects": [</a:t>
            </a:r>
          </a:p>
          <a:p xmlns:a="http://schemas.openxmlformats.org/drawingml/2006/main">
            <a:r>
              <a:t>    "nikolay-patrushev",</a:t>
            </a:r>
          </a:p>
          <a:p xmlns:a="http://schemas.openxmlformats.org/drawingml/2006/main">
            <a:r>
              <a:t>    "nikolay-platoshkin",</a:t>
            </a:r>
          </a:p>
          <a:p xmlns:a="http://schemas.openxmlformats.org/drawingml/2006/main">
            <a:r>
              <a:t>    "oksana-dmitriyeva"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"stability": {</a:t>
            </a:r>
          </a:p>
          <a:p xmlns:a="http://schemas.openxmlformats.org/drawingml/2006/main">
            <a:r>
              <a:t>    "median_jaccard": 1,</a:t>
            </a:r>
          </a:p>
          <a:p xmlns:a="http://schemas.openxmlformats.org/drawingml/2006/main">
            <a:r>
              <a:t>    "conditional_mean_ari": 0.9135227370355609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"numeric_label": "Группа 1",</a:t>
            </a:r>
          </a:p>
          <a:p xmlns:a="http://schemas.openxmlformats.org/drawingml/2006/main">
            <a:r>
              <a:t>  "label": "Институциональная поддержка курса и партийная централизация"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"C2",</a:t>
            </a:r>
          </a:p>
          <a:p xmlns:a="http://schemas.openxmlformats.org/drawingml/2006/main">
            <a:r>
              <a:t>  "name": "Антивоенная оппозиция и электоральная легитимность",</a:t>
            </a:r>
          </a:p>
          <a:p xmlns:a="http://schemas.openxmlformats.org/drawingml/2006/main">
            <a:r>
              <a:t>  "count": 15,</a:t>
            </a:r>
          </a:p>
          <a:p xmlns:a="http://schemas.openxmlformats.org/drawingml/2006/main">
            <a:r>
              <a:t>  "members":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"yevgeny-royzman",</a:t>
            </a:r>
          </a:p>
          <a:p xmlns:a="http://schemas.openxmlformats.org/drawingml/2006/main">
            <a:r>
              <a:t>      "name": "Евгений Ройзман"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"alexey-navalny",</a:t>
            </a:r>
          </a:p>
          <a:p xmlns:a="http://schemas.openxmlformats.org/drawingml/2006/main">
            <a:r>
              <a:t>      "name": "Алексей Навальный"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"ilya-yashin",</a:t>
            </a:r>
          </a:p>
          <a:p xmlns:a="http://schemas.openxmlformats.org/drawingml/2006/main">
            <a:r>
              <a:t>      "name": "Илья Яшин"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"vladimir-kara-murza",</a:t>
            </a:r>
          </a:p>
          <a:p xmlns:a="http://schemas.openxmlformats.org/drawingml/2006/main">
            <a:r>
              <a:t>      "name": "Владимир Кара-Мурза"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"grigory-yavlinsky",</a:t>
            </a:r>
          </a:p>
          <a:p xmlns:a="http://schemas.openxmlformats.org/drawingml/2006/main">
            <a:r>
              <a:t>      "name": "Григорий Явлинский"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"lev-shlosberg",</a:t>
            </a:r>
          </a:p>
          <a:p xmlns:a="http://schemas.openxmlformats.org/drawingml/2006/main">
            <a:r>
              <a:t>      "name": "Лев Шлосберг"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"boris-vishnevsky",</a:t>
            </a:r>
          </a:p>
          <a:p xmlns:a="http://schemas.openxmlformats.org/drawingml/2006/main">
            <a:r>
              <a:t>      "name": "Борис Вишневский"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"gennady-gudkov",</a:t>
            </a:r>
          </a:p>
          <a:p xmlns:a="http://schemas.openxmlformats.org/drawingml/2006/main">
            <a:r>
              <a:t>      "name": "Геннадий Гудков"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"garry-kasparov",</a:t>
            </a:r>
          </a:p>
          <a:p xmlns:a="http://schemas.openxmlformats.org/drawingml/2006/main">
            <a:r>
              <a:t>      "name": "Гарри Каспаров"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"mikhail-khodorkovsky",</a:t>
            </a:r>
          </a:p>
          <a:p xmlns:a="http://schemas.openxmlformats.org/drawingml/2006/main">
            <a:r>
              <a:t>      "name": "Михаил Ходорковский"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"vladimir-milov",</a:t>
            </a:r>
          </a:p>
          <a:p xmlns:a="http://schemas.openxmlformats.org/drawingml/2006/main">
            <a:r>
              <a:t>      "name": "Владимир Милов"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"lyubov-sobol",</a:t>
            </a:r>
          </a:p>
          <a:p xmlns:a="http://schemas.openxmlformats.org/drawingml/2006/main">
            <a:r>
              <a:t>      "name": "Любовь Соболь"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"yekaterina-duntsova",</a:t>
            </a:r>
          </a:p>
          <a:p xmlns:a="http://schemas.openxmlformats.org/drawingml/2006/main">
            <a:r>
              <a:t>      "name": "Екатерина Дунцова"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"pavel-grudinin",</a:t>
            </a:r>
          </a:p>
          <a:p xmlns:a="http://schemas.openxmlformats.org/drawingml/2006/main">
            <a:r>
              <a:t>      "name": "Павел Грудинин"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"leonid-gozman",</a:t>
            </a:r>
          </a:p>
          <a:p xmlns:a="http://schemas.openxmlformats.org/drawingml/2006/main">
            <a:r>
              <a:t>      "name": "Леонид Гозман"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"representatives":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"mikhail-khodorkovsky",</a:t>
            </a:r>
          </a:p>
          <a:p xmlns:a="http://schemas.openxmlformats.org/drawingml/2006/main">
            <a:r>
              <a:t>      "name": "Михаил Ходорковский",</a:t>
            </a:r>
          </a:p>
          <a:p xmlns:a="http://schemas.openxmlformats.org/drawingml/2006/main">
            <a:r>
              <a:t>      "distance": 0.1897415538894511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"vladimir-kara-murza",</a:t>
            </a:r>
          </a:p>
          <a:p xmlns:a="http://schemas.openxmlformats.org/drawingml/2006/main">
            <a:r>
              <a:t>      "name": "Владимир Кара-Мурза",</a:t>
            </a:r>
          </a:p>
          <a:p xmlns:a="http://schemas.openxmlformats.org/drawingml/2006/main">
            <a:r>
              <a:t>      "distance": 0.2492237687630286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"leonid-gozman",</a:t>
            </a:r>
          </a:p>
          <a:p xmlns:a="http://schemas.openxmlformats.org/drawingml/2006/main">
            <a:r>
              <a:t>      "name": "Леонид Гозман",</a:t>
            </a:r>
          </a:p>
          <a:p xmlns:a="http://schemas.openxmlformats.org/drawingml/2006/main">
            <a:r>
              <a:t>      "distance": 0.31632069912358696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"ilya-yashin",</a:t>
            </a:r>
          </a:p>
          <a:p xmlns:a="http://schemas.openxmlformats.org/drawingml/2006/main">
            <a:r>
              <a:t>      "name": "Илья Яшин",</a:t>
            </a:r>
          </a:p>
          <a:p xmlns:a="http://schemas.openxmlformats.org/drawingml/2006/main">
            <a:r>
              <a:t>      "distance": 0.4134338586919229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"vladimir-milov",</a:t>
            </a:r>
          </a:p>
          <a:p xmlns:a="http://schemas.openxmlformats.org/drawingml/2006/main">
            <a:r>
              <a:t>      "name": "Владимир Милов",</a:t>
            </a:r>
          </a:p>
          <a:p xmlns:a="http://schemas.openxmlformats.org/drawingml/2006/main">
            <a:r>
              <a:t>      "distance": 0.4537846148170234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"factor_center": {</a:t>
            </a:r>
          </a:p>
          <a:p xmlns:a="http://schemas.openxmlformats.org/drawingml/2006/main">
            <a:r>
              <a:t>    "F1": 1.6080754316825694,</a:t>
            </a:r>
          </a:p>
          <a:p xmlns:a="http://schemas.openxmlformats.org/drawingml/2006/main">
            <a:r>
              <a:t>    "F2": -0.49805859826781224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"distinguishing_scales":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"security-sovereignty",</a:t>
            </a:r>
          </a:p>
          <a:p xmlns:a="http://schemas.openxmlformats.org/drawingml/2006/main">
            <a:r>
              <a:t>      "name": "Суверенная самостоятельность — международная интеграция",</a:t>
            </a:r>
          </a:p>
          <a:p xmlns:a="http://schemas.openxmlformats.org/drawingml/2006/main">
            <a:r>
              <a:t>      "positive": "Суверенная самостоятельность и защита от внешнего влияния",</a:t>
            </a:r>
          </a:p>
          <a:p xmlns:a="http://schemas.openxmlformats.org/drawingml/2006/main">
            <a:r>
              <a:t>      "negative": "Международная интеграция и взаимозависимость",</a:t>
            </a:r>
          </a:p>
          <a:p xmlns:a="http://schemas.openxmlformats.org/drawingml/2006/main">
            <a:r>
              <a:t>      "difference": -1.739556612736331,</a:t>
            </a:r>
          </a:p>
          <a:p xmlns:a="http://schemas.openxmlformats.org/drawingml/2006/main">
            <a:r>
              <a:t>      "group_mean": -2.7777777777777777,</a:t>
            </a:r>
          </a:p>
          <a:p xmlns:a="http://schemas.openxmlformats.org/drawingml/2006/main">
            <a:r>
              <a:t>      "overall_mean": 1.607843137254902,</a:t>
            </a:r>
          </a:p>
          <a:p xmlns:a="http://schemas.openxmlformats.org/drawingml/2006/main">
            <a:r>
              <a:t>      "direction": "negative",</a:t>
            </a:r>
          </a:p>
          <a:p xmlns:a="http://schemas.openxmlformats.org/drawingml/2006/main">
            <a:r>
              <a:t>      "observed_group_count": 9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"national-patriotism",</a:t>
            </a:r>
          </a:p>
          <a:p xmlns:a="http://schemas.openxmlformats.org/drawingml/2006/main">
            <a:r>
              <a:t>      "name": "Национальная общность — универсальные права",</a:t>
            </a:r>
          </a:p>
          <a:p xmlns:a="http://schemas.openxmlformats.org/drawingml/2006/main">
            <a:r>
              <a:t>      "positive": "Особые интересы национальной общности и защита культурной идентичности",</a:t>
            </a:r>
          </a:p>
          <a:p xmlns:a="http://schemas.openxmlformats.org/drawingml/2006/main">
            <a:r>
              <a:t>      "negative": "Универсальные права и равное отношение независимо от национальной принадлежности",</a:t>
            </a:r>
          </a:p>
          <a:p xmlns:a="http://schemas.openxmlformats.org/drawingml/2006/main">
            <a:r>
              <a:t>      "difference": -1.6721942696269279,</a:t>
            </a:r>
          </a:p>
          <a:p xmlns:a="http://schemas.openxmlformats.org/drawingml/2006/main">
            <a:r>
              <a:t>      "group_mean": -1.875,</a:t>
            </a:r>
          </a:p>
          <a:p xmlns:a="http://schemas.openxmlformats.org/drawingml/2006/main">
            <a:r>
              <a:t>      "overall_mean": 1.6956521739130435,</a:t>
            </a:r>
          </a:p>
          <a:p xmlns:a="http://schemas.openxmlformats.org/drawingml/2006/main">
            <a:r>
              <a:t>      "direction": "negative",</a:t>
            </a:r>
          </a:p>
          <a:p xmlns:a="http://schemas.openxmlformats.org/drawingml/2006/main">
            <a:r>
              <a:t>      "observed_group_count": 8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"federal-loyalty",</a:t>
            </a:r>
          </a:p>
          <a:p xmlns:a="http://schemas.openxmlformats.org/drawingml/2006/main">
            <a:r>
              <a:t>      "name": "Централизация — децентрализация",</a:t>
            </a:r>
          </a:p>
          <a:p xmlns:a="http://schemas.openxmlformats.org/drawingml/2006/main">
            <a:r>
              <a:t>      "positive": "Единая вертикаль и концентрация полномочий в центре",</a:t>
            </a:r>
          </a:p>
          <a:p xmlns:a="http://schemas.openxmlformats.org/drawingml/2006/main">
            <a:r>
              <a:t>      "negative": "Региональная и муниципальная автономия, распределение полномочий",</a:t>
            </a:r>
          </a:p>
          <a:p xmlns:a="http://schemas.openxmlformats.org/drawingml/2006/main">
            <a:r>
              <a:t>      "difference": -1.6079919277740513,</a:t>
            </a:r>
          </a:p>
          <a:p xmlns:a="http://schemas.openxmlformats.org/drawingml/2006/main">
            <a:r>
              <a:t>      "group_mean": -2.888888888888889,</a:t>
            </a:r>
          </a:p>
          <a:p xmlns:a="http://schemas.openxmlformats.org/drawingml/2006/main">
            <a:r>
              <a:t>      "overall_mean": 1.1666666666666667,</a:t>
            </a:r>
          </a:p>
          <a:p xmlns:a="http://schemas.openxmlformats.org/drawingml/2006/main">
            <a:r>
              <a:t>      "direction": "negative",</a:t>
            </a:r>
          </a:p>
          <a:p xmlns:a="http://schemas.openxmlformats.org/drawingml/2006/main">
            <a:r>
              <a:t>      "observed_group_count": 9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"oppositionality",</a:t>
            </a:r>
          </a:p>
          <a:p xmlns:a="http://schemas.openxmlformats.org/drawingml/2006/main">
            <a:r>
              <a:t>      "name": "Критика действующей власти — поддержка её курса",</a:t>
            </a:r>
          </a:p>
          <a:p xmlns:a="http://schemas.openxmlformats.org/drawingml/2006/main">
            <a:r>
              <a:t>      "positive": "Публичная критика действующей федеральной власти",</a:t>
            </a:r>
          </a:p>
          <a:p xmlns:a="http://schemas.openxmlformats.org/drawingml/2006/main">
            <a:r>
              <a:t>      "negative": "Публичная поддержка курса действующей федеральной власти",</a:t>
            </a:r>
          </a:p>
          <a:p xmlns:a="http://schemas.openxmlformats.org/drawingml/2006/main">
            <a:r>
              <a:t>      "difference": 1.3679149835301119,</a:t>
            </a:r>
          </a:p>
          <a:p xmlns:a="http://schemas.openxmlformats.org/drawingml/2006/main">
            <a:r>
              <a:t>      "group_mean": 4.666666666666667,</a:t>
            </a:r>
          </a:p>
          <a:p xmlns:a="http://schemas.openxmlformats.org/drawingml/2006/main">
            <a:r>
              <a:t>      "overall_mean": -0.41935483870967744,</a:t>
            </a:r>
          </a:p>
          <a:p xmlns:a="http://schemas.openxmlformats.org/drawingml/2006/main">
            <a:r>
              <a:t>      "direction": "positive",</a:t>
            </a:r>
          </a:p>
          <a:p xmlns:a="http://schemas.openxmlformats.org/drawingml/2006/main">
            <a:r>
              <a:t>      "observed_group_count": 15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"antiwar-rhetoric",</a:t>
            </a:r>
          </a:p>
          <a:p xmlns:a="http://schemas.openxmlformats.org/drawingml/2006/main">
            <a:r>
              <a:t>      "name": "Прекращение военных действий — их продолжение",</a:t>
            </a:r>
          </a:p>
          <a:p xmlns:a="http://schemas.openxmlformats.org/drawingml/2006/main">
            <a:r>
              <a:t>      "positive": "Публичные призывы прекратить военные действия и перейти к миру",</a:t>
            </a:r>
          </a:p>
          <a:p xmlns:a="http://schemas.openxmlformats.org/drawingml/2006/main">
            <a:r>
              <a:t>      "negative": "Публичная поддержка продолжения военных действий ради заявленных целей",</a:t>
            </a:r>
          </a:p>
          <a:p xmlns:a="http://schemas.openxmlformats.org/drawingml/2006/main">
            <a:r>
              <a:t>      "difference": 1.2870726132463293,</a:t>
            </a:r>
          </a:p>
          <a:p xmlns:a="http://schemas.openxmlformats.org/drawingml/2006/main">
            <a:r>
              <a:t>      "group_mean": 3.7333333333333334,</a:t>
            </a:r>
          </a:p>
          <a:p xmlns:a="http://schemas.openxmlformats.org/drawingml/2006/main">
            <a:r>
              <a:t>      "overall_mean": -0.4318181818181818,</a:t>
            </a:r>
          </a:p>
          <a:p xmlns:a="http://schemas.openxmlformats.org/drawingml/2006/main">
            <a:r>
              <a:t>      "direction": "positive",</a:t>
            </a:r>
          </a:p>
          <a:p xmlns:a="http://schemas.openxmlformats.org/drawingml/2006/main">
            <a:r>
              <a:t>      "observed_group_count": 15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"electoral-legitimacy",</a:t>
            </a:r>
          </a:p>
          <a:p xmlns:a="http://schemas.openxmlformats.org/drawingml/2006/main">
            <a:r>
              <a:t>      "name": "Электоральный мандат — административный мандат",</a:t>
            </a:r>
          </a:p>
          <a:p xmlns:a="http://schemas.openxmlformats.org/drawingml/2006/main">
            <a:r>
              <a:t>      "positive": "Конкурентные выборы и воля избирателей как источник полномочий",</a:t>
            </a:r>
          </a:p>
          <a:p xmlns:a="http://schemas.openxmlformats.org/drawingml/2006/main">
            <a:r>
              <a:t>      "negative": "Назначение, государственная иерархия и управленческая преемственность как источник полномочий",</a:t>
            </a:r>
          </a:p>
          <a:p xmlns:a="http://schemas.openxmlformats.org/drawingml/2006/main">
            <a:r>
              <a:t>      "difference": 1.1981444723521157,</a:t>
            </a:r>
          </a:p>
          <a:p xmlns:a="http://schemas.openxmlformats.org/drawingml/2006/main">
            <a:r>
              <a:t>      "group_mean": 3.4545454545454546,</a:t>
            </a:r>
          </a:p>
          <a:p xmlns:a="http://schemas.openxmlformats.org/drawingml/2006/main">
            <a:r>
              <a:t>      "overall_mean": 0.17777777777777778,</a:t>
            </a:r>
          </a:p>
          <a:p xmlns:a="http://schemas.openxmlformats.org/drawingml/2006/main">
            <a:r>
              <a:t>      "direction": "positive",</a:t>
            </a:r>
          </a:p>
          <a:p xmlns:a="http://schemas.openxmlformats.org/drawingml/2006/main">
            <a:r>
              <a:t>      "observed_group_count": 11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"interpretation": "Группа объединяет публичные образы с выраженной критикой действующей власти, антивоенной риторикой, акцентом на конкурентных выборах, поддержкой международной интеграции, универсальных прав и децентрализации. Организационные стратегии внутри группы могут различаться: близость по главным факторам не требует единой партийной формы. Типичные профили сочетают критику действующего курса, призывы к прекращению военных действий и электоральный мандат как источник полномочий.\n\nВнутри группы возможны различия по степени акцентирования отдельных тем (например, между либеральными и левоцентристскими позициями), однако всех объединяет сочетание антивоенной, оппозиционной и электорально-легитимистской риторики. Граница группы проходит по выраженности критики власти и антивоенных позиций; пограничные случаи встречаются среди умеренных реформаторов и независимых кандидатов.",</a:t>
            </a:r>
          </a:p>
          <a:p xmlns:a="http://schemas.openxmlformats.org/drawingml/2006/main">
            <a:r>
              <a:t>  "boundary_objects": [],</a:t>
            </a:r>
          </a:p>
          <a:p xmlns:a="http://schemas.openxmlformats.org/drawingml/2006/main">
            <a:r>
              <a:t>  "stability": {</a:t>
            </a:r>
          </a:p>
          <a:p xmlns:a="http://schemas.openxmlformats.org/drawingml/2006/main">
            <a:r>
              <a:t>    "median_jaccard": 1,</a:t>
            </a:r>
          </a:p>
          <a:p xmlns:a="http://schemas.openxmlformats.org/drawingml/2006/main">
            <a:r>
              <a:t>    "conditional_mean_ari": 0.9135227370355609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"numeric_label": "Группа 2",</a:t>
            </a:r>
          </a:p>
          <a:p xmlns:a="http://schemas.openxmlformats.org/drawingml/2006/main">
            <a:r>
              <a:t>  "label": "Антивоенная оппозиция и электоральная легитимность"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"C3",</a:t>
            </a:r>
          </a:p>
          <a:p xmlns:a="http://schemas.openxmlformats.org/drawingml/2006/main">
            <a:r>
              <a:t>  "name": "Конфронтационная мобилизация и персонализация",</a:t>
            </a:r>
          </a:p>
          <a:p xmlns:a="http://schemas.openxmlformats.org/drawingml/2006/main">
            <a:r>
              <a:t>  "count": 8,</a:t>
            </a:r>
          </a:p>
          <a:p xmlns:a="http://schemas.openxmlformats.org/drawingml/2006/main">
            <a:r>
              <a:t>  "members":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"vladimir-zhirinovsky",</a:t>
            </a:r>
          </a:p>
          <a:p xmlns:a="http://schemas.openxmlformats.org/drawingml/2006/main">
            <a:r>
              <a:t>      "name": "Владимир Жириновский"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"zakhar-prilepin",</a:t>
            </a:r>
          </a:p>
          <a:p xmlns:a="http://schemas.openxmlformats.org/drawingml/2006/main">
            <a:r>
              <a:t>      "name": "Захар Прилепин"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"ramzan-kadyrov",</a:t>
            </a:r>
          </a:p>
          <a:p xmlns:a="http://schemas.openxmlformats.org/drawingml/2006/main">
            <a:r>
              <a:t>      "name": "Рамзан Кадыров"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"ilya-ponomarev",</a:t>
            </a:r>
          </a:p>
          <a:p xmlns:a="http://schemas.openxmlformats.org/drawingml/2006/main">
            <a:r>
              <a:t>      "name": "Илья Пономарёв"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"sergey-udaltsov",</a:t>
            </a:r>
          </a:p>
          <a:p xmlns:a="http://schemas.openxmlformats.org/drawingml/2006/main">
            <a:r>
              <a:t>      "name": "Сергей Удальцов"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"eduard-limonov",</a:t>
            </a:r>
          </a:p>
          <a:p xmlns:a="http://schemas.openxmlformats.org/drawingml/2006/main">
            <a:r>
              <a:t>      "name": "Эдуард Лимонов"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"igor-strelkov",</a:t>
            </a:r>
          </a:p>
          <a:p xmlns:a="http://schemas.openxmlformats.org/drawingml/2006/main">
            <a:r>
              <a:t>      "name": "Игорь Стрелков (Гиркин)"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"yevgeny-prigozhin",</a:t>
            </a:r>
          </a:p>
          <a:p xmlns:a="http://schemas.openxmlformats.org/drawingml/2006/main">
            <a:r>
              <a:t>      "name": "Евгений Пригожин"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"representatives":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"eduard-limonov",</a:t>
            </a:r>
          </a:p>
          <a:p xmlns:a="http://schemas.openxmlformats.org/drawingml/2006/main">
            <a:r>
              <a:t>      "name": "Эдуард Лимонов",</a:t>
            </a:r>
          </a:p>
          <a:p xmlns:a="http://schemas.openxmlformats.org/drawingml/2006/main">
            <a:r>
              <a:t>      "distance": 0.20035149839938612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"igor-strelkov",</a:t>
            </a:r>
          </a:p>
          <a:p xmlns:a="http://schemas.openxmlformats.org/drawingml/2006/main">
            <a:r>
              <a:t>      "name": "Игорь Стрелков (Гиркин)",</a:t>
            </a:r>
          </a:p>
          <a:p xmlns:a="http://schemas.openxmlformats.org/drawingml/2006/main">
            <a:r>
              <a:t>      "distance": 0.716736357280981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"vladimir-zhirinovsky",</a:t>
            </a:r>
          </a:p>
          <a:p xmlns:a="http://schemas.openxmlformats.org/drawingml/2006/main">
            <a:r>
              <a:t>      "name": "Владимир Жириновский",</a:t>
            </a:r>
          </a:p>
          <a:p xmlns:a="http://schemas.openxmlformats.org/drawingml/2006/main">
            <a:r>
              <a:t>      "distance": 0.763387749984511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"zakhar-prilepin",</a:t>
            </a:r>
          </a:p>
          <a:p xmlns:a="http://schemas.openxmlformats.org/drawingml/2006/main">
            <a:r>
              <a:t>      "name": "Захар Прилепин",</a:t>
            </a:r>
          </a:p>
          <a:p xmlns:a="http://schemas.openxmlformats.org/drawingml/2006/main">
            <a:r>
              <a:t>      "distance": 0.821730424940153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"yevgeny-prigozhin",</a:t>
            </a:r>
          </a:p>
          <a:p xmlns:a="http://schemas.openxmlformats.org/drawingml/2006/main">
            <a:r>
              <a:t>      "name": "Евгений Пригожин",</a:t>
            </a:r>
          </a:p>
          <a:p xmlns:a="http://schemas.openxmlformats.org/drawingml/2006/main">
            <a:r>
              <a:t>      "distance": 0.827199864760167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"factor_center": {</a:t>
            </a:r>
          </a:p>
          <a:p xmlns:a="http://schemas.openxmlformats.org/drawingml/2006/main">
            <a:r>
              <a:t>    "F1": -0.8972136416865527,</a:t>
            </a:r>
          </a:p>
          <a:p xmlns:a="http://schemas.openxmlformats.org/drawingml/2006/main">
            <a:r>
              <a:t>    "F2": -1.6627903006923874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"distinguishing_scales":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"conflictuality",</a:t>
            </a:r>
          </a:p>
          <a:p xmlns:a="http://schemas.openxmlformats.org/drawingml/2006/main">
            <a:r>
              <a:t>      "name": "Конфронтация — компромисс",</a:t>
            </a:r>
          </a:p>
          <a:p xmlns:a="http://schemas.openxmlformats.org/drawingml/2006/main">
            <a:r>
              <a:t>      "positive": "Конфронтационная полемика и жёсткое противопоставление оппонентам",</a:t>
            </a:r>
          </a:p>
          <a:p xmlns:a="http://schemas.openxmlformats.org/drawingml/2006/main">
            <a:r>
              <a:t>      "negative": "Компромиссная и согласительная риторика",</a:t>
            </a:r>
          </a:p>
          <a:p xmlns:a="http://schemas.openxmlformats.org/drawingml/2006/main">
            <a:r>
              <a:t>      "difference": 1.488923870350911,</a:t>
            </a:r>
          </a:p>
          <a:p xmlns:a="http://schemas.openxmlformats.org/drawingml/2006/main">
            <a:r>
              <a:t>      "group_mean": 3.875,</a:t>
            </a:r>
          </a:p>
          <a:p xmlns:a="http://schemas.openxmlformats.org/drawingml/2006/main">
            <a:r>
              <a:t>      "overall_mean": 0.9180327868852459,</a:t>
            </a:r>
          </a:p>
          <a:p xmlns:a="http://schemas.openxmlformats.org/drawingml/2006/main">
            <a:r>
              <a:t>      "direction": "positive",</a:t>
            </a:r>
          </a:p>
          <a:p xmlns:a="http://schemas.openxmlformats.org/drawingml/2006/main">
            <a:r>
              <a:t>      "observed_group_count": 8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"mobilization-rhetoric",</a:t>
            </a:r>
          </a:p>
          <a:p xmlns:a="http://schemas.openxmlformats.org/drawingml/2006/main">
            <a:r>
              <a:t>      "name": "Мобилизационный призыв — обсуждение и убеждение",</a:t>
            </a:r>
          </a:p>
          <a:p xmlns:a="http://schemas.openxmlformats.org/drawingml/2006/main">
            <a:r>
              <a:t>      "positive": "Призывы к единению, дисциплине и чрезвычайной мобилизации",</a:t>
            </a:r>
          </a:p>
          <a:p xmlns:a="http://schemas.openxmlformats.org/drawingml/2006/main">
            <a:r>
              <a:t>      "negative": "Призывы к открытому обсуждению, сомнению и убеждению",</a:t>
            </a:r>
          </a:p>
          <a:p xmlns:a="http://schemas.openxmlformats.org/drawingml/2006/main">
            <a:r>
              <a:t>      "difference": 1.3252655727236584,</a:t>
            </a:r>
          </a:p>
          <a:p xmlns:a="http://schemas.openxmlformats.org/drawingml/2006/main">
            <a:r>
              <a:t>      "group_mean": 3.375,</a:t>
            </a:r>
          </a:p>
          <a:p xmlns:a="http://schemas.openxmlformats.org/drawingml/2006/main">
            <a:r>
              <a:t>      "overall_mean": 0.6379310344827587,</a:t>
            </a:r>
          </a:p>
          <a:p xmlns:a="http://schemas.openxmlformats.org/drawingml/2006/main">
            <a:r>
              <a:t>      "direction": "positive",</a:t>
            </a:r>
          </a:p>
          <a:p xmlns:a="http://schemas.openxmlformats.org/drawingml/2006/main">
            <a:r>
              <a:t>      "observed_group_count": 8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"media-personalization",</a:t>
            </a:r>
          </a:p>
          <a:p xmlns:a="http://schemas.openxmlformats.org/drawingml/2006/main">
            <a:r>
              <a:t>      "name": "Персональный бренд — коллективный институт",</a:t>
            </a:r>
          </a:p>
          <a:p xmlns:a="http://schemas.openxmlformats.org/drawingml/2006/main">
            <a:r>
              <a:t>      "positive": "Личный бренд и обращение от собственного имени",</a:t>
            </a:r>
          </a:p>
          <a:p xmlns:a="http://schemas.openxmlformats.org/drawingml/2006/main">
            <a:r>
              <a:t>      "negative": "Коллективное представительство и институциональное авторство",</a:t>
            </a:r>
          </a:p>
          <a:p xmlns:a="http://schemas.openxmlformats.org/drawingml/2006/main">
            <a:r>
              <a:t>      "difference": 1.310319286852374,</a:t>
            </a:r>
          </a:p>
          <a:p xmlns:a="http://schemas.openxmlformats.org/drawingml/2006/main">
            <a:r>
              <a:t>      "group_mean": 2.75,</a:t>
            </a:r>
          </a:p>
          <a:p xmlns:a="http://schemas.openxmlformats.org/drawingml/2006/main">
            <a:r>
              <a:t>      "overall_mean": -0.031746031746031744,</a:t>
            </a:r>
          </a:p>
          <a:p xmlns:a="http://schemas.openxmlformats.org/drawingml/2006/main">
            <a:r>
              <a:t>      "direction": "positive",</a:t>
            </a:r>
          </a:p>
          <a:p xmlns:a="http://schemas.openxmlformats.org/drawingml/2006/main">
            <a:r>
              <a:t>      "observed_group_count": 8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"parliamentary-institutional",</a:t>
            </a:r>
          </a:p>
          <a:p xmlns:a="http://schemas.openxmlformats.org/drawingml/2006/main">
            <a:r>
              <a:t>      "name": "Институциональная работа — протестное действие",</a:t>
            </a:r>
          </a:p>
          <a:p xmlns:a="http://schemas.openxmlformats.org/drawingml/2006/main">
            <a:r>
              <a:t>      "positive": "Изменения через действующие правовые и парламентские процедуры",</a:t>
            </a:r>
          </a:p>
          <a:p xmlns:a="http://schemas.openxmlformats.org/drawingml/2006/main">
            <a:r>
              <a:t>      "negative": "Изменения через внеинституциональное протестное давление",</a:t>
            </a:r>
          </a:p>
          <a:p xmlns:a="http://schemas.openxmlformats.org/drawingml/2006/main">
            <a:r>
              <a:t>      "difference": -1.3046202426591846,</a:t>
            </a:r>
          </a:p>
          <a:p xmlns:a="http://schemas.openxmlformats.org/drawingml/2006/main">
            <a:r>
              <a:t>      "group_mean": -1.75,</a:t>
            </a:r>
          </a:p>
          <a:p xmlns:a="http://schemas.openxmlformats.org/drawingml/2006/main">
            <a:r>
              <a:t>      "overall_mean": 1.7333333333333334,</a:t>
            </a:r>
          </a:p>
          <a:p xmlns:a="http://schemas.openxmlformats.org/drawingml/2006/main">
            <a:r>
              <a:t>      "direction": "negative",</a:t>
            </a:r>
          </a:p>
          <a:p xmlns:a="http://schemas.openxmlformats.org/drawingml/2006/main">
            <a:r>
              <a:t>      "observed_group_count": 8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"rhetorical-simplicity",</a:t>
            </a:r>
          </a:p>
          <a:p xmlns:a="http://schemas.openxmlformats.org/drawingml/2006/main">
            <a:r>
              <a:t>      "name": "Лозунговая простота — развёрнутая аргументация",</a:t>
            </a:r>
          </a:p>
          <a:p xmlns:a="http://schemas.openxmlformats.org/drawingml/2006/main">
            <a:r>
              <a:t>      "positive": "Краткие лозунги и обещания простых быстрых решений",</a:t>
            </a:r>
          </a:p>
          <a:p xmlns:a="http://schemas.openxmlformats.org/drawingml/2006/main">
            <a:r>
              <a:t>      "negative": "Развёрнутое объяснение механизмов, ограничений и альтернатив",</a:t>
            </a:r>
          </a:p>
          <a:p xmlns:a="http://schemas.openxmlformats.org/drawingml/2006/main">
            <a:r>
              <a:t>      "difference": 1.0128780817875038,</a:t>
            </a:r>
          </a:p>
          <a:p xmlns:a="http://schemas.openxmlformats.org/drawingml/2006/main">
            <a:r>
              <a:t>      "group_mean": 1.1428571428571428,</a:t>
            </a:r>
          </a:p>
          <a:p xmlns:a="http://schemas.openxmlformats.org/drawingml/2006/main">
            <a:r>
              <a:t>      "overall_mean": -0.5517241379310345,</a:t>
            </a:r>
          </a:p>
          <a:p xmlns:a="http://schemas.openxmlformats.org/drawingml/2006/main">
            <a:r>
              <a:t>      "direction": "positive",</a:t>
            </a:r>
          </a:p>
          <a:p xmlns:a="http://schemas.openxmlformats.org/drawingml/2006/main">
            <a:r>
              <a:t>      "observed_group_count": 7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"national-patriotism",</a:t>
            </a:r>
          </a:p>
          <a:p xmlns:a="http://schemas.openxmlformats.org/drawingml/2006/main">
            <a:r>
              <a:t>      "name": "Национальная общность — универсальные права",</a:t>
            </a:r>
          </a:p>
          <a:p xmlns:a="http://schemas.openxmlformats.org/drawingml/2006/main">
            <a:r>
              <a:t>      "positive": "Особые интересы национальной общности и защита культурной идентичности",</a:t>
            </a:r>
          </a:p>
          <a:p xmlns:a="http://schemas.openxmlformats.org/drawingml/2006/main">
            <a:r>
              <a:t>      "negative": "Универсальные права и равное отношение независимо от национальной принадлежности",</a:t>
            </a:r>
          </a:p>
          <a:p xmlns:a="http://schemas.openxmlformats.org/drawingml/2006/main">
            <a:r>
              <a:t>      "difference": 0.9453587956142667,</a:t>
            </a:r>
          </a:p>
          <a:p xmlns:a="http://schemas.openxmlformats.org/drawingml/2006/main">
            <a:r>
              <a:t>      "group_mean": 3.7142857142857144,</a:t>
            </a:r>
          </a:p>
          <a:p xmlns:a="http://schemas.openxmlformats.org/drawingml/2006/main">
            <a:r>
              <a:t>      "overall_mean": 1.6956521739130435,</a:t>
            </a:r>
          </a:p>
          <a:p xmlns:a="http://schemas.openxmlformats.org/drawingml/2006/main">
            <a:r>
              <a:t>      "direction": "positive",</a:t>
            </a:r>
          </a:p>
          <a:p xmlns:a="http://schemas.openxmlformats.org/drawingml/2006/main">
            <a:r>
              <a:t>      "observed_group_count": 7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"interpretation": "Группа характеризуется выраженной конфронтационной риторикой, мобилизационными призывами, персонализированным стилем публичности и протестной стратегией. Здесь преобладают образы, строящиеся на личном бренде, лозунговой простоте, акценте на национальной идентичности и внеинституциональных формах действия. Типичные представители — лидеры радикальных движений, харизматические фигуры и деятели, использующие прямую мобилизацию и конфронтацию как основной инструмент публичной политики.\n\nВнутри группы возможны различия по идеологическим основаниям (от национал-патриотических до левых протестных), однако всех объединяет сочетание персонализации, конфликтности и мобилизационного стиля. Пограничность проявляется у тех, кто сочетает протестную риторику с элементами институциональной работы или коллективного авторства, но в целом группа выделяется по максимальной выраженности конфликтных и мобилизационных признаков.",</a:t>
            </a:r>
          </a:p>
          <a:p xmlns:a="http://schemas.openxmlformats.org/drawingml/2006/main">
            <a:r>
              <a:t>  "boundary_objects": [],</a:t>
            </a:r>
          </a:p>
          <a:p xmlns:a="http://schemas.openxmlformats.org/drawingml/2006/main">
            <a:r>
              <a:t>  "stability": {</a:t>
            </a:r>
          </a:p>
          <a:p xmlns:a="http://schemas.openxmlformats.org/drawingml/2006/main">
            <a:r>
              <a:t>    "median_jaccard": 1,</a:t>
            </a:r>
          </a:p>
          <a:p xmlns:a="http://schemas.openxmlformats.org/drawingml/2006/main">
            <a:r>
              <a:t>    "conditional_mean_ari": 0.9135227370355609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"numeric_label": "Группа 3",</a:t>
            </a:r>
          </a:p>
          <a:p xmlns:a="http://schemas.openxmlformats.org/drawingml/2006/main">
            <a:r>
              <a:t>  "label": "Конфронтационная мобилизация и персонализация"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Рассчитанное пространство публичных политических образов российских политиков и заметных акторов за 2016–2026 годы структурировано по двум главным осям: первая противопоставляет антивоенную, оппозиционную и электорально-легитимистскую риторику — антизападной мобилизации, суверенитету и поддержке административного порядка; вторая различает институционально-коллективные и партийные стратегии — и конфронтационно-персонализированные, протестные стили публичности.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Выделено три кластера, для которых проверена устойчивость при фиксированных факторных координатах: группа институциональной поддержки курса и партийной централизации, антивоенная оппозиция с акцентом на электоральную легитимность и международную интеграцию, а также конфронтационная мобилизация с персонализированным стилем и протестной стратегией. Основные противопоставления проходят по линиям отношения к власти, способам легитимации, формам публичной риторики и организационной структуре.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Модель позволяет выявить устойчивые сочетания публичных позиций, риторических акцентов и стратегий действия, но не устанавливает причинно-следственных связей между ними. Она не даёт оснований для выводов о личных свойствах, электоральной поддержке или мотивах участников, а также не позволяет судить о распространённости тех или иных позиций в обществе в целом.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Ограничения анализа связаны с разведочным характером исследования, приближённостью линейной факторной модели к порядковым оценкам и условностью кластеризации. Группы могут возникать и в непрерывном пространстве, а устойчивость кластеров не гарантирует полноты охвата всех возможных публичных стратегий.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Интерпретация опирается только на реально выраженные и агрегированные свойства публичных образов, без привязки к партийным ярлыкам или именам. Не все возможные сочетания представлены в выборке, и модель не фиксирует статистическую значимость различий или их причинность.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Пограничных профилей: 3 из 63. Их свойства могут сочетать признаки нескольких групп.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Незаполненный сектор означает отсутствие такого профиля в выбранной выборке и корпусе. Международное сравнение требует единого словаря и сопоставимого отбора.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Рассчитанное пространство публичных политических образов российских политиков и заметных акторов за 2016–2026 годы структурировано по двум главным осям: первая противопоставляет антивоенную, оппозиционную и электорально-легитимистскую риторику — антизападной мобилизации, суверенитету и поддержке административного порядка; вторая различает институционально-коллективные и партийные стратегии — и конфронтационно-персонализированные, протестные стили публичности.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Выделено три кластера, для которых проверена устойчивость при фиксированных факторных координатах: группа институциональной поддержки курса и партийной централизации, антивоенная оппозиция с акцентом на электоральную легитимность и международную интеграцию, а также конфронтационная мобилизация с персонализированным стилем и протестной стратегией. Основные противопоставления проходят по линиям отношения к власти, способам легитимации, формам публичной риторики и организационной структуре.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Модель позволяет выявить устойчивые сочетания публичных позиций, риторических акцентов и стратегий действия, но не устанавливает причинно-следственных связей между ними. Она не даёт оснований для выводов о личных свойствах, электоральной поддержке или мотивах участников, а также не позволяет судить о распространённости тех или иных позиций в обществе в целом.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Ограничения анализа связаны с разведочным характером исследования, приближённостью линейной факторной модели к порядковым оценкам и условностью кластеризации. Группы могут возникать и в непрерывном пространстве, а устойчивость кластеров не гарантирует полноты охвата всех возможных публичных стратегий.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Интерпретация опирается только на реально выраженные и агрегированные свойства публичных образов, без привязки к партийным ярлыкам или именам. Не все возможные сочетания представлены в выборке, и модель не фиксирует статистическую значимость различий или их причинность.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Пограничных профилей: 3 из 63. Их свойства могут сочетать признаки нескольких групп.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Незаполненный сектор означает отсутствие такого профиля в выбранной выборке и корпусе. Международное сравнение требует единого словаря и сопоставимого отбора.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Рассчитанное пространство публичных политических образов российских политиков и заметных акторов за 2016–2026 годы структурировано по двум главным осям: первая противопоставляет антивоенную, оппозиционную и электорально-легитимистскую риторику — антизападной мобилизации, суверенитету и поддержке административного порядка; вторая различает институционально-коллективные и партийные стратегии — и конфронтационно-персонализированные, протестные стили публичности.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Выделено три кластера, для которых проверена устойчивость при фиксированных факторных координатах: группа институциональной поддержки курса и партийной централизации, антивоенная оппозиция с акцентом на электоральную легитимность и международную интеграцию, а также конфронтационная мобилизация с персонализированным стилем и протестной стратегией. Основные противопоставления проходят по линиям отношения к власти, способам легитимации, формам публичной риторики и организационной структуре.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Модель позволяет выявить устойчивые сочетания публичных позиций, риторических акцентов и стратегий действия, но не устанавливает причинно-следственных связей между ними. Она не даёт оснований для выводов о личных свойствах, электоральной поддержке или мотивах участников, а также не позволяет судить о распространённости тех или иных позиций в обществе в целом.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Ограничения анализа связаны с разведочным характером исследования, приближённостью линейной факторной модели к порядковым оценкам и условностью кластеризации. Группы могут возникать и в непрерывном пространстве, а устойчивость кластеров не гарантирует полноты охвата всех возможных публичных стратегий.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Интерпретация опирается только на реально выраженные и агрегированные свойства публичных образов, без привязки к партийным ярлыкам или именам. Не все возможные сочетания представлены в выборке, и модель не фиксирует статистическую значимость различий или их причинность.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Пограничных профилей: 3 из 63. Их свойства могут сочетать признаки нескольких групп.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Незаполненный сектор означает отсутствие такого профиля в выбранной выборке и корпусе. Международное сравнение требует единого словаря и сопоставимого отбора.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Рассчитанное пространство публичных политических образов российских политиков и заметных акторов за 2016–2026 годы структурировано по двум главным осям: первая противопоставляет антивоенную, оппозиционную и электорально-легитимистскую риторику — антизападной мобилизации, суверенитету и поддержке административного порядка; вторая различает институционально-коллективные и партийные стратегии — и конфронтационно-персонализированные, протестные стили публичности.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Выделено три кластера, для которых проверена устойчивость при фиксированных факторных координатах: группа институциональной поддержки курса и партийной централизации, антивоенная оппозиция с акцентом на электоральную легитимность и международную интеграцию, а также конфронтационная мобилизация с персонализированным стилем и протестной стратегией. Основные противопоставления проходят по линиям отношения к власти, способам легитимации, формам публичной риторики и организационной структуре.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Модель позволяет выявить устойчивые сочетания публичных позиций, риторических акцентов и стратегий действия, но не устанавливает причинно-следственных связей между ними. Она не даёт оснований для выводов о личных свойствах, электоральной поддержке или мотивах участников, а также не позволяет судить о распространённости тех или иных позиций в обществе в целом.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Ограничения анализа связаны с разведочным характером исследования, приближённостью линейной факторной модели к порядковым оценкам и условностью кластеризации. Группы могут возникать и в непрерывном пространстве, а устойчивость кластеров не гарантирует полноты охвата всех возможных публичных стратегий.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Интерпретация опирается только на реально выраженные и агрегированные свойства публичных образов, без привязки к партийным ярлыкам или именам. Не все возможные сочетания представлены в выборке, и модель не фиксирует статистическую значимость различий или их причинность.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Пограничных профилей: 3 из 63. Их свойства могут сочетать признаки нескольких групп.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Незаполненный сектор означает отсутствие такого профиля в выбранной выборке и корпусе. Международное сравнение требует единого словаря и сопоставимого отбора.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Исследование разведочное; численные группы могут возникать и в непрерывном пространстве.</a:t>
            </a:r>
          </a:p>
          <a:p xmlns:a="http://schemas.openxmlformats.org/drawingml/2006/main">
            <a:r>
              <a:t>Гауссова линейная FA приблизительна для ограниченных порядковых оценок; независимость ошибок шкал может нарушаться.</a:t>
            </a:r>
          </a:p>
          <a:p xmlns:a="http://schemas.openxmlformats.org/drawingml/2006/main">
            <a:r>
              <a:t>Сходимость и устойчивость алгоритма не подтверждают точность исходных оценок или полноту пространства.</a:t>
            </a:r>
          </a:p>
          <a:p xmlns:a="http://schemas.openxmlformats.org/drawingml/2006/main">
            <a:r>
              <a:t>Кластеризация условна на выбранных факторных баллах; устойчивость всего сбора и анализа отдельно не проверена.</a:t>
            </a:r>
          </a:p>
          <a:p xmlns:a="http://schemas.openxmlformats.org/drawingml/2006/main">
            <a:r>
              <a:t>При обучении пропуски заполнены средними обучающей выборки. Это техническое допущение; при проекции неизвестные шкалы маргинализируются.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5094a1c6d84eb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197365a50f46a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b94654cc674f0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ffa819019b404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f82ba0cbc2440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fa2bbc80fa468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79AC92F-94AA-4680-BBC5-71864A2AC12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A9F6EE3-8025-419D-AB33-D10821A2E43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24B56F4-1856-4D22-9C77-980873D6BD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F26DDF4-85BD-4D46-8CE7-D128BE76D0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E9510FC-91B9-4D80-A737-6730E7A83F6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2E443FA-7AD6-4977-986C-E7C43C83C2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D97555E-58C5-46D6-906A-6A1D25B9BBF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77C8E49-CAD7-4707-AD05-BC8D300406F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D1547AF-89DE-41C7-8D18-8068C4D709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1F2C733-FE27-4BB5-AAE5-C77558D3B11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ae42e45dfd34ca7" /><Relationship Type="http://schemas.openxmlformats.org/officeDocument/2006/relationships/slideLayout" Target="/ppt/slideLayouts/slideLayout1.xml" Id="Re0e65a05fc9b40bb" /><Relationship Type="http://schemas.openxmlformats.org/officeDocument/2006/relationships/slideLayout" Target="/ppt/slideLayouts/slideLayout2.xml" Id="Rd8c282c1c82e4afe" /><Relationship Type="http://schemas.openxmlformats.org/officeDocument/2006/relationships/slideLayout" Target="/ppt/slideLayouts/slideLayout3.xml" Id="Rf5204cefc4e84889" /><Relationship Type="http://schemas.openxmlformats.org/officeDocument/2006/relationships/slideLayout" Target="/ppt/slideLayouts/slideLayout4.xml" Id="Rb6da92f50b1e43d7" /><Relationship Type="http://schemas.openxmlformats.org/officeDocument/2006/relationships/slideLayout" Target="/ppt/slideLayouts/slideLayout5.xml" Id="Rbb8363fa9c674ead" /><Relationship Type="http://schemas.openxmlformats.org/officeDocument/2006/relationships/slideLayout" Target="/ppt/slideLayouts/slideLayout6.xml" Id="R4c946f4e4c00456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0e65a05fc9b40bb"/>
    <p:sldLayoutId xmlns:r="http://schemas.openxmlformats.org/officeDocument/2006/relationships" id="2147483650" r:id="Rd8c282c1c82e4afe"/>
    <p:sldLayoutId xmlns:r="http://schemas.openxmlformats.org/officeDocument/2006/relationships" id="2147483651" r:id="Rf5204cefc4e84889"/>
    <p:sldLayoutId xmlns:r="http://schemas.openxmlformats.org/officeDocument/2006/relationships" id="2147483652" r:id="Rb6da92f50b1e43d7"/>
    <p:sldLayoutId xmlns:r="http://schemas.openxmlformats.org/officeDocument/2006/relationships" id="2147483653" r:id="Rbb8363fa9c674ead"/>
    <p:sldLayoutId xmlns:r="http://schemas.openxmlformats.org/officeDocument/2006/relationships" id="2147483654" r:id="R4c946f4e4c00456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d54f0d2c6e04743" /><Relationship Type="http://schemas.openxmlformats.org/officeDocument/2006/relationships/notesSlide" Target="/ppt/notesSlides/notesSlide1.xml" Id="Rf935f97a125047c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e711643f1e4961" /><Relationship Type="http://schemas.openxmlformats.org/officeDocument/2006/relationships/notesSlide" Target="/ppt/notesSlides/notesSlide2.xml" Id="R082aac546079432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35f6a3a59942f7" /><Relationship Type="http://schemas.openxmlformats.org/officeDocument/2006/relationships/notesSlide" Target="/ppt/notesSlides/notesSlide3.xml" Id="R0825666ebbcf442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0bd5d3e9af444ab" /><Relationship Type="http://schemas.openxmlformats.org/officeDocument/2006/relationships/image" Target="/ppt/media/image.png" Id="R58a02192d1664b63" /><Relationship Type="http://schemas.openxmlformats.org/officeDocument/2006/relationships/notesSlide" Target="/ppt/notesSlides/notesSlide4.xml" Id="Rd06f965f83c04d0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7195ae3c8054d1d" /><Relationship Type="http://schemas.openxmlformats.org/officeDocument/2006/relationships/notesSlide" Target="/ppt/notesSlides/notesSlide5.xml" Id="R6b90ad576be341a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370f2657cc4c49" /><Relationship Type="http://schemas.openxmlformats.org/officeDocument/2006/relationships/notesSlide" Target="/ppt/notesSlides/notesSlide6.xml" Id="R8b832aa3670d482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0370515ac04d17" /><Relationship Type="http://schemas.openxmlformats.org/officeDocument/2006/relationships/notesSlide" Target="/ppt/notesSlides/notesSlide7.xml" Id="R7007e94b5c8543a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3250cc8f6fe4604" /><Relationship Type="http://schemas.openxmlformats.org/officeDocument/2006/relationships/notesSlide" Target="/ppt/notesSlides/notesSlide8.xml" Id="R74dd90c01540459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894c465fca4f95" /><Relationship Type="http://schemas.openxmlformats.org/officeDocument/2006/relationships/notesSlide" Target="/ppt/notesSlides/notesSlide9.xml" Id="R9f3bc8b910dd478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7f3557b3a8429f" /><Relationship Type="http://schemas.openxmlformats.org/officeDocument/2006/relationships/notesSlide" Target="/ppt/notesSlides/notesSlide10.xml" Id="R7fbfc26fc5ce4fb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ac75bf304e4d8f" /><Relationship Type="http://schemas.openxmlformats.org/officeDocument/2006/relationships/notesSlide" Target="/ppt/notesSlides/notesSlide11.xml" Id="R00603512f08b4f3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12bdb221414a75" /><Relationship Type="http://schemas.openxmlformats.org/officeDocument/2006/relationships/notesSlide" Target="/ppt/notesSlides/notesSlide12.xml" Id="R480cf04b3725445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9cf48b533b94381" /><Relationship Type="http://schemas.openxmlformats.org/officeDocument/2006/relationships/notesSlide" Target="/ppt/notesSlides/notesSlide13.xml" Id="R673a189e5643429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e8fcd32ddf4e0f" /><Relationship Type="http://schemas.openxmlformats.org/officeDocument/2006/relationships/notesSlide" Target="/ppt/notesSlides/notesSlide14.xml" Id="R201fdb4b9a394e0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f57e5c5dce04cf2" /><Relationship Type="http://schemas.openxmlformats.org/officeDocument/2006/relationships/notesSlide" Target="/ppt/notesSlides/notesSlide15.xml" Id="Rd7f2a0740efe4d6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bec5522dfe4186" /><Relationship Type="http://schemas.openxmlformats.org/officeDocument/2006/relationships/notesSlide" Target="/ppt/notesSlides/notesSlide16.xml" Id="Ra132c496e5204fb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274199d66ba4058" /><Relationship Type="http://schemas.openxmlformats.org/officeDocument/2006/relationships/notesSlide" Target="/ppt/notesSlides/notesSlide17.xml" Id="Rf04540608038438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046f6dd5b34303" /><Relationship Type="http://schemas.openxmlformats.org/officeDocument/2006/relationships/notesSlide" Target="/ppt/notesSlides/notesSlide18.xml" Id="R07824494f34d423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5fd5b51ea04874" /><Relationship Type="http://schemas.openxmlformats.org/officeDocument/2006/relationships/notesSlide" Target="/ppt/notesSlides/notesSlide19.xml" Id="R4ae68df3427d4e5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90f831f4c6548c7" /><Relationship Type="http://schemas.openxmlformats.org/officeDocument/2006/relationships/image" Target="/ppt/media/image2.png" Id="Rf63bd7d138b34272" /><Relationship Type="http://schemas.openxmlformats.org/officeDocument/2006/relationships/notesSlide" Target="/ppt/notesSlides/notesSlide20.xml" Id="Rab2ea448e5d54ff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3649d3add84b00" /><Relationship Type="http://schemas.openxmlformats.org/officeDocument/2006/relationships/notesSlide" Target="/ppt/notesSlides/notesSlide21.xml" Id="R741891af448e499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7ee91d0f71480e" /><Relationship Type="http://schemas.openxmlformats.org/officeDocument/2006/relationships/notesSlide" Target="/ppt/notesSlides/notesSlide22.xml" Id="Raac9c2cb13ac4e64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b900064f4846a1" /><Relationship Type="http://schemas.openxmlformats.org/officeDocument/2006/relationships/notesSlide" Target="/ppt/notesSlides/notesSlide23.xml" Id="R5625aee59b1e44ad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e76a3cff1614d73" /><Relationship Type="http://schemas.openxmlformats.org/officeDocument/2006/relationships/notesSlide" Target="/ppt/notesSlides/notesSlide24.xml" Id="Rfcb9612d02254133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d4f0780d044bfa" /><Relationship Type="http://schemas.openxmlformats.org/officeDocument/2006/relationships/notesSlide" Target="/ppt/notesSlides/notesSlide25.xml" Id="R0e1eec65ec4b4a10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adf20283b94da4" /><Relationship Type="http://schemas.openxmlformats.org/officeDocument/2006/relationships/notesSlide" Target="/ppt/notesSlides/notesSlide26.xml" Id="Rb51cc76ec167407d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65124be8c44c4b" /><Relationship Type="http://schemas.openxmlformats.org/officeDocument/2006/relationships/image" Target="/ppt/media/image3.png" Id="R7a69d02f87104931" /><Relationship Type="http://schemas.openxmlformats.org/officeDocument/2006/relationships/notesSlide" Target="/ppt/notesSlides/notesSlide27.xml" Id="R1e420e44084a47a8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4c0470970b429f" /><Relationship Type="http://schemas.openxmlformats.org/officeDocument/2006/relationships/notesSlide" Target="/ppt/notesSlides/notesSlide28.xml" Id="R1dd91faea5394308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2316e933ba1404c" /><Relationship Type="http://schemas.openxmlformats.org/officeDocument/2006/relationships/image" Target="/ppt/media/image4.png" Id="R3eebb24971a74d4e" /><Relationship Type="http://schemas.openxmlformats.org/officeDocument/2006/relationships/notesSlide" Target="/ppt/notesSlides/notesSlide29.xml" Id="R169ce2268ed5407f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a2adcd26854e74" /><Relationship Type="http://schemas.openxmlformats.org/officeDocument/2006/relationships/image" Target="/ppt/media/image5.png" Id="Rf57dc94e4b884669" /><Relationship Type="http://schemas.openxmlformats.org/officeDocument/2006/relationships/notesSlide" Target="/ppt/notesSlides/notesSlide30.xml" Id="R50c4dc28b9ee42c6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99b9e43c58644a8" /><Relationship Type="http://schemas.openxmlformats.org/officeDocument/2006/relationships/image" Target="/ppt/media/image6.png" Id="R4c8e35d98e7a4402" /><Relationship Type="http://schemas.openxmlformats.org/officeDocument/2006/relationships/image" Target="/ppt/media/image7.png" Id="R50248fb7655c47ca" /><Relationship Type="http://schemas.openxmlformats.org/officeDocument/2006/relationships/notesSlide" Target="/ppt/notesSlides/notesSlide31.xml" Id="Rfefb9993c7f94ac0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869c0484bf46f0" /><Relationship Type="http://schemas.openxmlformats.org/officeDocument/2006/relationships/notesSlide" Target="/ppt/notesSlides/notesSlide32.xml" Id="R9e392247e1004d24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1b6325e57b487a" /><Relationship Type="http://schemas.openxmlformats.org/officeDocument/2006/relationships/notesSlide" Target="/ppt/notesSlides/notesSlide33.xml" Id="R4abb578677d94bf7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af1f54a14ee412c" /><Relationship Type="http://schemas.openxmlformats.org/officeDocument/2006/relationships/notesSlide" Target="/ppt/notesSlides/notesSlide34.xml" Id="R71390024621248d6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4b6d91018574093" /><Relationship Type="http://schemas.openxmlformats.org/officeDocument/2006/relationships/notesSlide" Target="/ppt/notesSlides/notesSlide35.xml" Id="R4c8f96051dcb4175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33b52441b147a7" /><Relationship Type="http://schemas.openxmlformats.org/officeDocument/2006/relationships/notesSlide" Target="/ppt/notesSlides/notesSlide36.xml" Id="R61ab11392559434f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aa5cd7717b4a19" /><Relationship Type="http://schemas.openxmlformats.org/officeDocument/2006/relationships/notesSlide" Target="/ppt/notesSlides/notesSlide37.xml" Id="R526e54963e274cfa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2cf6c407bf74d55" /><Relationship Type="http://schemas.openxmlformats.org/officeDocument/2006/relationships/notesSlide" Target="/ppt/notesSlides/notesSlide38.xml" Id="R56cda7c125ab4c99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a79a244f754e20" /><Relationship Type="http://schemas.openxmlformats.org/officeDocument/2006/relationships/notesSlide" Target="/ppt/notesSlides/notesSlide39.xml" Id="R843ac814ffae4c33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91eda980584d7f" /><Relationship Type="http://schemas.openxmlformats.org/officeDocument/2006/relationships/notesSlide" Target="/ppt/notesSlides/notesSlide40.xml" Id="Rff15bace7fe04c5a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eb2624b594b43cb" /><Relationship Type="http://schemas.openxmlformats.org/officeDocument/2006/relationships/notesSlide" Target="/ppt/notesSlides/notesSlide41.xml" Id="Rf561c7ab26d54522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a44af4bb224387" /><Relationship Type="http://schemas.openxmlformats.org/officeDocument/2006/relationships/notesSlide" Target="/ppt/notesSlides/notesSlide42.xml" Id="R8e3e0cfcf88e42db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ad8d2bd2d54922" /><Relationship Type="http://schemas.openxmlformats.org/officeDocument/2006/relationships/notesSlide" Target="/ppt/notesSlides/notesSlide43.xml" Id="Rb6baff553d7343c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A1124E47-5CA8-46C9-B0E9-9A1BA4B99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Публичное политическое пространство России: политики 2016–2026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02D23889-2FAA-47E8-A0B9-48169A9EF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C378B3AE-5A3E-45A3-80CF-C5BCC8903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0239375" cy="10192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E0CEF498-9660-4E83-A6D2-CCC0B31BC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270"/>
            <a:ext cx="10239375" cy="3397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Период: 2016-10-15 – 2026-10-15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DD1E5EA6-9B5D-4109-8537-E06D7C953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3286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63 объектов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D2A2B3DC-EF9B-4D8A-AABC-4CDD543B6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191000"/>
            <a:ext cx="3286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17 шкал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D02B2F42-91A8-45F5-ACA3-D238F8B28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91000"/>
            <a:ext cx="3286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2, 3 и 4 фактора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B5F720E6-505C-4455-9BB4-B1919EDCB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Разведочное исследование оценённых публичных образов</a:t>
            </a:r>
          </a:p>
        </p:txBody>
      </p:sp>
    </p:spTree>
    <p:extLst>
      <p:ext uri="{BB962C8B-B14F-4D97-AF65-F5344CB8AC3E}">
        <p14:creationId xmlns:p14="http://schemas.microsoft.com/office/powerpoint/2010/main" val="127900735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94482FA9-6535-4D17-9E2C-AF7D3862D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Выборка и способ измерения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8176D709-C69C-4531-B9E8-F32E618DD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07C8C53C-5082-4BA1-83A3-202C45CC9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10668000" cy="9138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Исследовательская целевая выборка с покрытием федерального управления, парламентских партий, регионов, оппозиции, избирательных кампаний и иных публичных политических акторов. Первичный состав предложен исследователем,…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13FE32A7-67F4-4717-BF0D-488EEDD26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379"/>
            <a:ext cx="10668000" cy="304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Каждый полюс: от 0 до 5. Разность: от −5 до +5. Неизвестное остаётся пропуском.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FA32698C-1487-48E8-BA93-19E74D43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9163"/>
            <a:ext cx="10668000" cy="6092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Gaussian FA и согласованное вращение varimax. Группы определяются по всем выбранным факторам.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6A0DCF40-3757-4F2A-BD06-005370938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75557"/>
            <a:ext cx="10668000" cy="6092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Базовое решение q=2: 3 групп. Описанная общая дисперсия: 47,1%. Полнота матрицы: 86,3%.</a:t>
            </a:r>
          </a:p>
        </p:txBody>
      </p:sp>
    </p:spTree>
    <p:extLst>
      <p:ext uri="{BB962C8B-B14F-4D97-AF65-F5344CB8AC3E}">
        <p14:creationId xmlns:p14="http://schemas.microsoft.com/office/powerpoint/2010/main" val="6422581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5DF21D99-7EA2-49CF-B76F-9D591E580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Измерительные шкалы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AF99A6F8-BFD2-4520-B0D8-C33B42E35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6D2431-5854-4C5F-9D09-8DF98A29C1B2}"/>
              </a:ext>
            </a:extLst>
          </p:cNvPr>
          <p:cNvGraphicFramePr/>
          <p:nvPr/>
        </p:nvGraphicFramePr>
        <p:xfrm>
          <a:off xmlns:a="http://schemas.openxmlformats.org/drawingml/2006/main" x="685800" y="1476375"/>
          <a:ext xmlns:a="http://schemas.openxmlformats.org/drawingml/2006/main" cx="108204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3695700"/>
                <a:gridCol w="3695700"/>
              </a:tblGrid>
              <a:tr h="557893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Шкала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Положительный полюс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Отрицательный полюс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</a:tr>
              <a:tr h="557893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Суверенная самостоятельность…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Суверенная самостоятельность…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Международная интеграция и…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7893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Историческая преемственность…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Историческая преемственность…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Обновление и разрыв с…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</a:tr>
              <a:tr h="557893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Практические результаты —…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Измеримые результаты и…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Идеологические принципы и…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7893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Институциональная работа —…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Изменения через действующие…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Изменения через внеинституциона…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</a:tr>
              <a:tr h="557893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Критика действующей власти —…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Публичная критика действующей…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Публичная поддержка курса…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7893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Социальное перераспределение…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Государственные социальные…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Личная ответственность и…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</a:tr>
            </a:tbl>
          </a:graphicData>
        </a:graphic>
      </p:graphicFrame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246DF492-18B6-4C4E-8CD4-69CF0A02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Примеры 6 из 26 утверждённых шкал. Полный словарь и определения включены в отчёт.</a:t>
            </a:r>
          </a:p>
        </p:txBody>
      </p:sp>
    </p:spTree>
    <p:extLst>
      <p:ext uri="{BB962C8B-B14F-4D97-AF65-F5344CB8AC3E}">
        <p14:creationId xmlns:p14="http://schemas.microsoft.com/office/powerpoint/2010/main" val="175927859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B67BF2A5-5B81-4C21-B25E-17777A476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Дисперсия базовой модели q=2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9DA8915A-905B-4193-A740-133F0968E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BDF874-C218-46C3-94FB-91A0EF05209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a02192d1664b63"/>
          <a:stretch xmlns:a="http://schemas.openxmlformats.org/drawingml/2006/main"/>
        </p:blipFill>
        <p:spPr>
          <a:xfrm xmlns:a="http://schemas.openxmlformats.org/drawingml/2006/main">
            <a:off x="619125" y="1663744"/>
            <a:ext cx="7715250" cy="3911511"/>
          </a:xfrm>
          <a:prstGeom xmlns:a="http://schemas.openxmlformats.org/drawingml/2006/main" prst="rect">
            <a:avLst/>
          </a:prstGeom>
        </p:spPr>
      </p:pic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1E787986-CF68-4CAB-9BE8-C6DEA96EA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143125"/>
            <a:ext cx="2571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275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4275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4275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47,1%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977F9A68-86E0-42A3-ABEF-8D3D82F45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0956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Общая описанная дисперсия выбранного решения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9E8F451C-2AD1-4992-A5CA-C427AED76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53125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Доли FA описывают модель оценок. Их нельзя трактовать как доли населения.</a:t>
            </a:r>
          </a:p>
        </p:txBody>
      </p:sp>
    </p:spTree>
    <p:extLst>
      <p:ext uri="{BB962C8B-B14F-4D97-AF65-F5344CB8AC3E}">
        <p14:creationId xmlns:p14="http://schemas.microsoft.com/office/powerpoint/2010/main" val="204045450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E5F5D176-2C16-48B6-91BD-F25509F85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q=2 · F1 Антивоенная критика и электоральная легитимность ↔ Антизападная мобилизация и суверенитет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363F31CC-00EE-4A33-B58E-B04CA5B83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96ED50AE-9A02-4891-B2C1-2F235E4A9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71600"/>
            <a:ext cx="108204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Доля наблюдаемой дисперсии: 28,8%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97B18047-04D0-431A-B1FE-59DCC8A82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20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Первая ось пространства отражает противопоставление между публичной антивоенной риторикой, критикой федеральной власти и акцентом на конкурентных выборах — с одной стороны, и акцентом на противостоянии Западу, мобилизационной риторике, суверенитете, национально-патриотических…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77C5E414-687C-4FE2-8018-8AE007CD0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992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Высокая координата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AC3D94AB-E2CB-4A76-B104-CC622399D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62375"/>
            <a:ext cx="5095875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Публичные призывы прекратить военные действия и перейти к миру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Сотрудничество и политическое сближение с западными государствами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Призывы к открытому обсуждению, сомнению и убеждению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F7693E7C-D05C-4174-BBD6-1A32F9D8F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20992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Низкая координата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9A514C31-EDC3-43C0-9B51-D7673D9C0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762375"/>
            <a:ext cx="5095875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Публичная поддержка продолжения военных действий ради заявленных целей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Противостояние западным государствам и институтам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Призывы к единению, дисциплине и чрезвычайной мобилизации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BFC0BB72-85ED-4809-BEE6-1A323B2FA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00750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Свойства ориентированы по знакам нагрузок и заданным полюсам шкал. Знак факторной оси условен.</a:t>
            </a:r>
          </a:p>
        </p:txBody>
      </p:sp>
    </p:spTree>
    <p:extLst>
      <p:ext uri="{BB962C8B-B14F-4D97-AF65-F5344CB8AC3E}">
        <p14:creationId xmlns:p14="http://schemas.microsoft.com/office/powerpoint/2010/main" val="41493915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3981B31B-1BE2-4F90-B550-7B0D7E578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q=2 · F2 Институциональная партийность и централизация ↔ Конфронтационная персонализация и протест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C09647BC-94F4-46E4-AAFB-D50C617E8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F61692C8-1496-4BB1-A327-CF37155C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71600"/>
            <a:ext cx="108204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Доля наблюдаемой дисперсии: 18,3%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76AA328C-AA91-48D5-925E-30DF86667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20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Вторая ось выделяет различие между акцентом на институциональной работе через парламентские процедуры, партийной организацией и централизацией полномочий — и противоположным полюсом, где преобладают конфронтационная риторика, персонализированный стиль, протестные и…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FEFE8E74-2AB4-4324-8484-4FEE832A1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992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Высокая координата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F14030A2-3D69-4881-853D-85CD0591B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62375"/>
            <a:ext cx="5095875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Компромиссная и согласительная риторика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Изменения через действующие правовые и парламентские процедуры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Коллективное представительство и институциональное авторство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D45F3F72-5353-4E2E-986F-CB2745D96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20992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Низкая координата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FE47CA68-1ACE-491F-BA62-E27E2A5C5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762375"/>
            <a:ext cx="5095875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Конфронтационная полемика и жёсткое противопоставление оппонентам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Изменения через внеинституциональное протестное давление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Личный бренд и обращение от собственного имени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440C5850-1CDC-437A-9EEA-FB74A7A26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00750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Свойства ориентированы по знакам нагрузок и заданным полюсам шкал. Знак факторной оси условен.</a:t>
            </a:r>
          </a:p>
        </p:txBody>
      </p:sp>
    </p:spTree>
    <p:extLst>
      <p:ext uri="{BB962C8B-B14F-4D97-AF65-F5344CB8AC3E}">
        <p14:creationId xmlns:p14="http://schemas.microsoft.com/office/powerpoint/2010/main" val="97883026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5F206C05-05E1-47BD-9C6E-74CFEBEBD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Сравнение двух, трёх и четырёх факторов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3346F37B-A4C8-4C9D-932E-D5363A0C7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F03A9B6B-7808-4467-A921-06250A144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1082040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Два основных контраста сохраняются при q=2, q=3 и q=4: отношение к войне,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внешней интеграции и мобилизации; институциональная стратегия в сравнении с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конфронтацией и персонализацией. При q=3 добавляется сочетание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технократического обоснования, идеологических акцентов и электоральной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критики. При q=4 оно перестраивается: централизация преимущественно относится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к F1, управленческое обоснование и социальная программа — к F4. Модель с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большим q повторно оценивает и вращает всю систему, а не просто добавляет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неизменную новую ось. Описанная общая дисперсия возрастает с 47,09% до 53,60%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и 58,82%; рост сам по себе не обосновывает выбор более сложной модели.</a:t>
            </a:r>
          </a:p>
        </p:txBody>
      </p:sp>
    </p:spTree>
    <p:extLst>
      <p:ext uri="{BB962C8B-B14F-4D97-AF65-F5344CB8AC3E}">
        <p14:creationId xmlns:p14="http://schemas.microsoft.com/office/powerpoint/2010/main" val="2796141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6CC6D1E8-9CA6-4BC9-BBB7-1E265F2CD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Дисперсия и качество альтернативных моделей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18544E30-39DC-49BD-8803-86676B500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832923-029E-428D-ADB4-01D7893EE6BF}"/>
              </a:ext>
            </a:extLst>
          </p:cNvPr>
          <p:cNvGraphicFramePr/>
          <p:nvPr/>
        </p:nvGraphicFramePr>
        <p:xfrm>
          <a:off xmlns:a="http://schemas.openxmlformats.org/drawingml/2006/main" x="685800" y="1657350"/>
          <a:ext xmlns:a="http://schemas.openxmlformats.org/drawingml/2006/main" cx="10820400" cy="2286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81125"/>
                <a:gridCol w="2095500"/>
                <a:gridCol w="2238375"/>
                <a:gridCol w="2552700"/>
                <a:gridCol w="2552700"/>
              </a:tblGrid>
              <a:tr h="571500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Факторов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Дисперсия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Прирост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Отлож. log L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Остаток RMS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</a:tr>
              <a:tr h="571500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47,1%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База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-31,476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0,088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53,6%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+6,51 п. п.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-31,237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0,067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</a:tr>
              <a:tr h="571500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58,8%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+5,22 п. п.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-31,529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0,055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CFAB5443-EB0B-4F2D-98F0-5D414CA25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29125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Один корпус: 63 объекта и 17 шкал. Большее log L лучше, меньший остаток лучше. Прирост рассчитан относительно предыдущей размерности.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7BCDE61A-CECF-4E9C-B840-F0D643B3B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Оси после вращения меняют порядок и знак. Их смысл сопоставляется по всему профилю нагрузок.</a:t>
            </a:r>
          </a:p>
        </p:txBody>
      </p:sp>
    </p:spTree>
    <p:extLst>
      <p:ext uri="{BB962C8B-B14F-4D97-AF65-F5344CB8AC3E}">
        <p14:creationId xmlns:p14="http://schemas.microsoft.com/office/powerpoint/2010/main" val="23012670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64A7903C-B754-4F30-B554-4F51C5517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Новые смыслы при q=3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165EDF74-CE37-4EDD-B9A2-7AC22C6A7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D0642A98-7374-447C-A7D6-0E474D39E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1082040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Институциональная работа и технократическая результативность перестают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восприниматься как одно сочетание. Высокий F3 объединяет идеологическую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аргументацию, критику курса и электоральный мандат; это может сближать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публичные образы акторов, расходящихся по войне и международной интеграции.</a:t>
            </a:r>
          </a:p>
        </p:txBody>
      </p:sp>
    </p:spTree>
    <p:extLst>
      <p:ext uri="{BB962C8B-B14F-4D97-AF65-F5344CB8AC3E}">
        <p14:creationId xmlns:p14="http://schemas.microsoft.com/office/powerpoint/2010/main" val="145505426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76564897-CEDC-4F7F-81AA-4E00FB15A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q=3 · F1 Антивоенная критика и интеграция ↔ Антизападная мобилизация и суверенитет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598FFC64-EA01-4723-BA8E-93BA4A711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01478381-B336-4158-BCF7-BAA678504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71600"/>
            <a:ext cx="108204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Доля наблюдаемой дисперсии: 27,1%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057A5E86-031F-4062-9264-CCAC1681B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20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Первая ось сохраняет главное противопоставление q=2. Высокая координата связана с преобладанием призывов к прекращению военных действий (+0,860), критики федерального курса (+0,602) и электорального мандата (+0,519).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92830D5E-D9B0-4B80-9098-5AC2A610D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992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Высокая координата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4053F139-0E1E-4974-B7EA-B26912F98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62375"/>
            <a:ext cx="5095875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Публичные призывы прекратить военные действия и перейти к миру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Сотрудничество и политическое сближение с западными государствами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Призывы к открытому обсуждению, сомнению и убеждению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6260EE6B-16C5-4B57-A86A-FEE43A6B9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20992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Низкая координата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402D17A2-88D5-4CD3-8342-AECFF61B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762375"/>
            <a:ext cx="5095875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Публичная поддержка продолжения военных действий ради заявленных целей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Противостояние западным государствам и институтам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Призывы к единению, дисциплине и чрезвычайной мобилизации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B96D00DF-BBE2-4CB6-8934-B6EFB0B29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00750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Свойства ориентированы по знакам нагрузок и заданным полюсам шкал. Знак факторной оси условен.</a:t>
            </a:r>
          </a:p>
        </p:txBody>
      </p:sp>
    </p:spTree>
    <p:extLst>
      <p:ext uri="{BB962C8B-B14F-4D97-AF65-F5344CB8AC3E}">
        <p14:creationId xmlns:p14="http://schemas.microsoft.com/office/powerpoint/2010/main" val="6137259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C2A41788-395A-4194-B68A-8B62925F2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q=3 · F2 Институциональная и партийная стратегия ↔ Конфронтация и персонализация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CFF91AE8-D08F-43BE-9FFA-39EB87E42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4CA110EB-A736-42C2-9B54-A2083DA4A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71600"/>
            <a:ext cx="108204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Доля наблюдаемой дисперсии: 17,8%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381060FD-A8CD-488E-BE78-D83015768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20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Вторая ось сохраняет содержание q=2: высокий полюс объединяет действующие правовые и парламентские процедуры (+0,867) и партию как инструмент действия (+0,660), низкий — конфронтационную полемику (−0,747), персональный бренд (−0,662) и внеинституциональное протестное давление,…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5507521C-3793-4862-B04E-F86DD7630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992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Высокая координата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D06DA736-B3AF-4B68-A6EF-049EDF8D2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62375"/>
            <a:ext cx="5095875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Изменения через действующие правовые и парламентские процедуры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Компромиссная и согласительная риторика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Коллективное представительство и институциональное авторство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0EC43BC7-8211-4190-8609-EF2A59441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20992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Низкая координата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D3510525-59BE-42BC-922E-0CCA57D67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762375"/>
            <a:ext cx="5095875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Изменения через внеинституциональное протестное давление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Конфронтационная полемика и жёсткое противопоставление оппонентам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Личный бренд и обращение от собственного имени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CF96F090-1F61-40BB-955E-D6AC83E5C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00750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Свойства ориентированы по знакам нагрузок и заданным полюсам шкал. Знак факторной оси условен.</a:t>
            </a:r>
          </a:p>
        </p:txBody>
      </p:sp>
    </p:spTree>
    <p:extLst>
      <p:ext uri="{BB962C8B-B14F-4D97-AF65-F5344CB8AC3E}">
        <p14:creationId xmlns:p14="http://schemas.microsoft.com/office/powerpoint/2010/main" val="28955252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74755D4F-145C-4F48-AD7F-F0C242CB5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q=3 · F3 Идеологическая критика и выборы ↔ Результативное управление и централизация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BF40CF6F-444D-4608-B982-EDFE10E1C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0E67E98F-93DA-4BFA-AFD5-C16963E03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71600"/>
            <a:ext cx="108204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Доля наблюдаемой дисперсии: 8,7%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9EFF6561-99C8-4860-B728-538CCDF5E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20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Третья ось отделяет сочетание свойств, ранее распределённое между двумя широкими осями.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12D51AAD-FDF4-4F5E-8FEA-7A62D945D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992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Высокая координата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4129973-4DC2-4FC2-8DB2-3BC464C1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62375"/>
            <a:ext cx="5095875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Идеологические принципы и символические цели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Публичная критика действующей федеральной власти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Конкурентные выборы и воля избирателей как источник полномочий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3E047C2B-C27C-4288-9277-FEC82F7A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20992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Низкая координата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048980A5-771A-4BF1-AE4F-1C424A4FB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762375"/>
            <a:ext cx="5095875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Измеримые результаты и управленческая эффективность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Публичная поддержка курса действующей федеральной власти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Назначение, государственная иерархия и управленческая преемственность…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6A9FF094-342D-4272-BCEC-1332891EA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00750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Свойства ориентированы по знакам нагрузок и заданным полюсам шкал. Знак факторной оси условен.</a:t>
            </a:r>
          </a:p>
        </p:txBody>
      </p:sp>
    </p:spTree>
    <p:extLst>
      <p:ext uri="{BB962C8B-B14F-4D97-AF65-F5344CB8AC3E}">
        <p14:creationId xmlns:p14="http://schemas.microsoft.com/office/powerpoint/2010/main" val="138426560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8D0C42EA-AA16-4B9C-99C7-833A0DF5F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Новые смыслы при q=4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B2A375C0-D24C-45F3-A2C7-2B8338FE2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DEA0386C-501E-486D-894A-5BCFD9C6A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1082040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q=4 показывает различимость централизации и технократической результативности.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Это уточняет, почему некоторые партийные и электоральные образы могут быть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близки к антивоенной группе по одним координатам, сохраняя отличие по войне и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внешней интеграции. Интерпретация F1 должна учитывать доминирование шкалы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централизации, F4 — наличие только двух сильных индикаторов.</a:t>
            </a:r>
          </a:p>
        </p:txBody>
      </p:sp>
    </p:spTree>
    <p:extLst>
      <p:ext uri="{BB962C8B-B14F-4D97-AF65-F5344CB8AC3E}">
        <p14:creationId xmlns:p14="http://schemas.microsoft.com/office/powerpoint/2010/main" val="100254487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037E7E12-AFB0-458D-A64B-636F2EA79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q=4 · F1 Децентрализация и персональная инициатива ↔ Централизация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EFFEFF2A-14AA-4BCD-8B8A-78D2D4791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2386FFE9-62CE-407D-BBBA-B6C055A3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71600"/>
            <a:ext cx="108204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Доля наблюдаемой дисперсии: 11,0%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097CA376-9082-41CD-A6B4-BBC14173B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20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Первая ось прежде всего выделяет распределение власти: нагрузка шкалы «Централизация — децентрализация» равна −0,925. Высокая координата связана с децентрализацией, критикой курса (+0,493), персональным брендом (+0,466) и электоральным мандатом (+0,432).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E77A66A3-127C-4247-9001-6757D2070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992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Высокая координата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4B9137E0-FEE7-4B54-9DA7-23301E33E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62375"/>
            <a:ext cx="5095875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Региональная и муниципальная автономия, распределение полномочий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Публичная критика действующей федеральной власти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Личный бренд и обращение от собственного имени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0FB669C3-1F86-4945-8799-092CE1368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20992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Низкая координата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604969D9-3859-4B29-96B3-5B3488F98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762375"/>
            <a:ext cx="5095875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Единая вертикаль и концентрация полномочий в центре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Публичная поддержка курса действующей федеральной власти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Коллективное представительство и институциональное авторство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86AF8A9D-F5F8-4D6E-BCFA-7266841B8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00750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Свойства ориентированы по знакам нагрузок и заданным полюсам шкал. Знак факторной оси условен.</a:t>
            </a:r>
          </a:p>
        </p:txBody>
      </p:sp>
    </p:spTree>
    <p:extLst>
      <p:ext uri="{BB962C8B-B14F-4D97-AF65-F5344CB8AC3E}">
        <p14:creationId xmlns:p14="http://schemas.microsoft.com/office/powerpoint/2010/main" val="198513234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9FBD23D9-5F6A-485B-BEEE-3F2470B23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q=4 · F2 Антивоенная критика и интеграция ↔ Антизападная мобилизация и суверенитет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060C78F8-412A-4CB7-84DB-6B6E5BB51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D0C5A000-2AD7-4122-9EB1-DA944251B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71600"/>
            <a:ext cx="108204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Доля наблюдаемой дисперсии: 24,6%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6AAAEC91-FC64-4578-8EE7-E2DAFCEA9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20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Вторая ось продолжает F1 решений q=2 и q=3: изменение номера не означает нового политического противопоставления. Высокая координата связана с призывами прекратить военные действия (+0,863), критикой курса (+0,578) и электоральным мандатом (+0,469).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10098786-0823-4D22-B4E1-DE802C7F8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992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Высокая координата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A23441AD-7ACF-4AD1-A154-D65AD7955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62375"/>
            <a:ext cx="5095875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Публичные призывы прекратить военные действия и перейти к миру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Сотрудничество и политическое сближение с западными государствами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Международная интеграция и взаимозависимость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755EA4E1-A5D5-45D6-9BAF-8D3419E5A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20992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Низкая координата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2B50B570-A3BA-47D2-B159-A6D2A145F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762375"/>
            <a:ext cx="5095875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Публичная поддержка продолжения военных действий ради заявленных целей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Противостояние западным государствам и институтам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Суверенная самостоятельность и защита от внешнего влияния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D0719A93-573B-4D62-B881-11310F999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00750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Свойства ориентированы по знакам нагрузок и заданным полюсам шкал. Знак факторной оси условен.</a:t>
            </a:r>
          </a:p>
        </p:txBody>
      </p:sp>
    </p:spTree>
    <p:extLst>
      <p:ext uri="{BB962C8B-B14F-4D97-AF65-F5344CB8AC3E}">
        <p14:creationId xmlns:p14="http://schemas.microsoft.com/office/powerpoint/2010/main" val="6181007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51AC0136-1205-492B-BDEB-17988097E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q=4 · F3 Конфронтация и персонализация ↔ Институциональная и партийная стратегия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713C439E-2E55-4FF8-9E09-236702DE9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F566D96B-79A6-4B44-85A1-5949E937A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71600"/>
            <a:ext cx="108204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Доля наблюдаемой дисперсии: 16,4%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73406C96-9FF9-4C9B-88F6-BC4864734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20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Третья ось воспроизводит F2 решений q=2 и q=3 с обратным знаком. Высокая координата соответствует конфронтации (+0,768), персональному бренду (+0,626), мобилизационной риторике (+0,460) и протестному давлению, противоположному парламентским процедурам (нагрузка −0,835).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51852141-0364-4069-B5CE-19C30C104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992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Высокая координата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A5C28A1C-6148-4940-BFF9-005FA31A0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62375"/>
            <a:ext cx="5095875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Изменения через внеинституциональное протестное давление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Конфронтационная полемика и жёсткое противопоставление оппонентам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Личный бренд и обращение от собственного имени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AC56A08F-4208-49FB-82C3-A81DE6B89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20992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Низкая координата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C308DA35-FD1F-4C5F-A911-A1C3F1186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762375"/>
            <a:ext cx="5095875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Изменения через действующие правовые и парламентские процедуры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Компромиссная и согласительная риторика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Коллективное представительство и институциональное авторство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6F5D0721-A72D-439D-8620-75DFE388E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00750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Свойства ориентированы по знакам нагрузок и заданным полюсам шкал. Знак факторной оси условен.</a:t>
            </a:r>
          </a:p>
        </p:txBody>
      </p:sp>
    </p:spTree>
    <p:extLst>
      <p:ext uri="{BB962C8B-B14F-4D97-AF65-F5344CB8AC3E}">
        <p14:creationId xmlns:p14="http://schemas.microsoft.com/office/powerpoint/2010/main" val="41717017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F90754DB-0FEB-4946-861F-8E13C8F9A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q=4 · F4 Результативное управление ↔ Идеологическая и социальная программа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1B487820-7458-4455-8BEC-02E94BC25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20E03D4E-8E96-4071-946A-26D97F51C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71600"/>
            <a:ext cx="108204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Доля наблюдаемой дисперсии: 6,8%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1E694AD9-5285-45F1-85CB-A0B3A20E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20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Четвёртая ось выделяет способ обоснования публичной программы. На высоком полюсе сильнее преобладают измеримые результаты и управленческая эффективность над идеологическими принципами и символическими целями (+0,765).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39CDEF12-C9B0-4990-9C43-9B7C5DA7C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992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Высокая координата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82751F21-D9C9-48D3-AB25-D6FD6DF6B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62375"/>
            <a:ext cx="5095875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Измеримые результаты и управленческая эффективность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Личная ответственность и частные механизмы социальной поддержки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1CC97971-D942-49B1-BCC0-FB0D32B31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20992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Низкая координата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F21CA9F4-6108-4894-A9F0-92AFF2C3E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762375"/>
            <a:ext cx="5095875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Идеологические принципы и символические цели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Государственные социальные гарантии и перераспределение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FA6928CF-7D3A-471B-A22C-11C76899A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00750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Свойства ориентированы по знакам нагрузок и заданным полюсам шкал. Знак факторной оси условен.</a:t>
            </a:r>
          </a:p>
        </p:txBody>
      </p:sp>
    </p:spTree>
    <p:extLst>
      <p:ext uri="{BB962C8B-B14F-4D97-AF65-F5344CB8AC3E}">
        <p14:creationId xmlns:p14="http://schemas.microsoft.com/office/powerpoint/2010/main" val="38381374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7D82128C-6EE3-4288-A357-9C5040FC1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Нагрузки шкал в моделях q=3 и q=4 (1/2)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45AE8902-3930-45C6-94F9-A62A1DBB1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D7D555-B675-4F32-9658-22AF863F177D}"/>
              </a:ext>
            </a:extLst>
          </p:cNvPr>
          <p:cNvGraphicFramePr/>
          <p:nvPr/>
        </p:nvGraphicFramePr>
        <p:xfrm>
          <a:off xmlns:a="http://schemas.openxmlformats.org/drawingml/2006/main" x="685800" y="1495425"/>
          <a:ext xmlns:a="http://schemas.openxmlformats.org/drawingml/2006/main" cx="108204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153025"/>
                <a:gridCol w="809625"/>
                <a:gridCol w="809625"/>
                <a:gridCol w="809625"/>
                <a:gridCol w="809625"/>
                <a:gridCol w="809625"/>
                <a:gridCol w="809625"/>
                <a:gridCol w="809625"/>
              </a:tblGrid>
              <a:tr h="400050"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l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Шкала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q3 F1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q3 F2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q3 F3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q4 F1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q4 F2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q4 F3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q4 F4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</a:tr>
              <a:tr h="400050"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Суверенитет / интеграция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-0,70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+0,23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+0,00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-0,11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-0,72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-0,20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-0,05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Результаты / идеологические принципы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-0,00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+0,11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-0,63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-0,16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-0,05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+0,76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</a:tr>
              <a:tr h="400050"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Институциональная / протестная работа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-0,18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+0,87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-0,08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-0,20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-0,21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-0,83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-0,01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Критика / поддержка курса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+0,60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-0,52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+0,55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+0,49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+0,58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+0,45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-0,34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</a:tr>
              <a:tr h="400050"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Перераспределение / личная ответственность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-0,14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+0,12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+0,31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-0,11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-0,07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-0,09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-0,43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Централизация / децентрализация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-0,51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+0,31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-0,47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-0,93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-0,32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-0,18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+0,05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</a:tr>
              <a:tr h="400050"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Мобилизация / обсуждение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-0,77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-0,38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-0,03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-0,25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-0,69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+0,46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-0,08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Конфронтация / компромисс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-0,34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-0,75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+0,14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+0,06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-0,29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+0,77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-0,16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</a:tr>
              <a:tr h="400050"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Персональный / коллективный образ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+0,12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-0,66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+0,32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+0,47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+0,07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+0,63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-0,11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40B5A7B1-6083-494B-A032-99F95DF82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Подписи шкал сокращены. Знак относится к первому полюсу шкалы. Полные определения и исходная матрица приведены в отчёте.</a:t>
            </a:r>
          </a:p>
        </p:txBody>
      </p:sp>
    </p:spTree>
    <p:extLst>
      <p:ext uri="{BB962C8B-B14F-4D97-AF65-F5344CB8AC3E}">
        <p14:creationId xmlns:p14="http://schemas.microsoft.com/office/powerpoint/2010/main" val="74827117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E35EA7B9-CDD1-4CFE-BBAA-D266DBA4F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Нагрузки шкал в моделях q=3 и q=4 (2/2)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57D9B551-C385-4317-9998-D7D59E085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0F9014-65EF-4FEA-9F5C-8233C9017F0A}"/>
              </a:ext>
            </a:extLst>
          </p:cNvPr>
          <p:cNvGraphicFramePr/>
          <p:nvPr/>
        </p:nvGraphicFramePr>
        <p:xfrm>
          <a:off xmlns:a="http://schemas.openxmlformats.org/drawingml/2006/main" x="685800" y="1495425"/>
          <a:ext xmlns:a="http://schemas.openxmlformats.org/drawingml/2006/main" cx="108204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153025"/>
                <a:gridCol w="809625"/>
                <a:gridCol w="809625"/>
                <a:gridCol w="809625"/>
                <a:gridCol w="809625"/>
                <a:gridCol w="809625"/>
                <a:gridCol w="809625"/>
                <a:gridCol w="809625"/>
              </a:tblGrid>
              <a:tr h="444500"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l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Шкала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q3 F1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q3 F2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q3 F3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q4 F1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q4 F2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q4 F3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q4 F4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</a:tr>
              <a:tr h="444500"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Противостояние / сближение с Западом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-0,84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+0,24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-0,08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-0,21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-0,83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-0,18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-0,02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Партийная / независимая организация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-0,41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+0,66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+0,17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-0,11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-0,42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-0,61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-0,21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</a:tr>
              <a:tr h="444500"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Внешняя / внутренняя повестка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-0,03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-0,40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+0,00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-0,03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+0,02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+0,39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-0,14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Прекращение / продолжение войны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+0,86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-0,08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+0,17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+0,22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+0,86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+0,02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-0,14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</a:tr>
              <a:tr h="444500"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Выборный / административный мандат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+0,52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-0,07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+0,49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+0,43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+0,47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+0,02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-0,31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Лозунг / развёрнутая аргументация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-0,53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-0,14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+0,14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-0,02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-0,51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+0,19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-0,18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</a:tr>
              <a:tr h="444500"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Национальная общность / универсальные права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-0,70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+0,05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+0,01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-0,28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-0,64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+0,03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Коалиция / самостоятельная конкуренция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+0,26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-0,11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-0,07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-0,16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+0,33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+0,11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28575" tIns="28575" rIns="28575" bIns="285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-0,07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</a:tr>
            </a:tbl>
          </a:graphicData>
        </a:graphic>
      </p:graphicFrame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DE1FCA63-95F3-41BB-9D14-B39E61170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Подписи шкал сокращены. Знак относится к первому полюсу шкалы. Полные определения и исходная матрица приведены в отчёте.</a:t>
            </a:r>
          </a:p>
        </p:txBody>
      </p:sp>
    </p:spTree>
    <p:extLst>
      <p:ext uri="{BB962C8B-B14F-4D97-AF65-F5344CB8AC3E}">
        <p14:creationId xmlns:p14="http://schemas.microsoft.com/office/powerpoint/2010/main" val="6893094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91F0812C-AF79-43BB-A35C-C7D77E50E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Новые факторные плоскости объектов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3A69B3CE-47FF-41D4-A01A-9C905B755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7D3AB2-DCA8-4ECE-9C53-795806F75E4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3bd7d138b34272"/>
          <a:stretch xmlns:a="http://schemas.openxmlformats.org/drawingml/2006/main"/>
        </p:blipFill>
        <p:spPr>
          <a:xfrm xmlns:a="http://schemas.openxmlformats.org/drawingml/2006/main">
            <a:off x="1469273" y="1333500"/>
            <a:ext cx="9253453" cy="4429125"/>
          </a:xfrm>
          <a:prstGeom xmlns:a="http://schemas.openxmlformats.org/drawingml/2006/main" prst="rect">
            <a:avLst/>
          </a:prstGeom>
        </p:spPr>
      </p:pic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4588240C-93F0-45F9-82D7-0AAED9F26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76925"/>
            <a:ext cx="108204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Показаны q3:F1/F3 и q4:F1/F4 при фактическом k=4; остальные координаты здесь не видны. Цвета групп согласованы по max-overlap, легенды сохраняют исходные номера данной модели. Чёрной рамкой отмечены четыре объекта, сменившие группу между q3k4 и q4k4. Оси условны на выбранной FA-модели; расстояния в этой проекции не заменяют расстояний в полном пространстве.</a:t>
            </a:r>
          </a:p>
        </p:txBody>
      </p:sp>
    </p:spTree>
    <p:extLst>
      <p:ext uri="{BB962C8B-B14F-4D97-AF65-F5344CB8AC3E}">
        <p14:creationId xmlns:p14="http://schemas.microsoft.com/office/powerpoint/2010/main" val="156564605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AEF2F193-CDDF-481C-BDB3-4895B4E11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Изменение групп: q=2 и q=3, k=3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DD157830-4766-41EE-836F-020F362CE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81D5D0-E1CA-4476-844D-2C174E94A8E8}"/>
              </a:ext>
            </a:extLst>
          </p:cNvPr>
          <p:cNvGraphicFramePr/>
          <p:nvPr/>
        </p:nvGraphicFramePr>
        <p:xfrm>
          <a:off xmlns:a="http://schemas.openxmlformats.org/drawingml/2006/main" x="685800" y="1619250"/>
          <a:ext xmlns:a="http://schemas.openxmlformats.org/drawingml/2006/main" cx="676275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19250"/>
                <a:gridCol w="1714500"/>
                <a:gridCol w="1714500"/>
                <a:gridCol w="1714500"/>
              </a:tblGrid>
              <a:tr h="714375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q=2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</a:tr>
              <a:tr h="714375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C1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35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C2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</a:tr>
              <a:tr h="714375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C3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906D9A90-C3C5-46F1-A6A3-AF73BFFE8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762125"/>
            <a:ext cx="3476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5 из 63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55294E06-0143-400B-AF29-125E59D2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619375"/>
            <a:ext cx="347662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сменили группу после сопоставления меток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0E398C21-027E-4623-B3F7-DADD22537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971925"/>
            <a:ext cx="3476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ARI 0,777</a:t>
            </a:r>
          </a:p>
          <a:p xmlns:a="http://schemas.openxmlformats.org/drawingml/2006/main">
            <a: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NMI 0,800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1184A7D8-6CC0-4468-8CAC-A7AF1132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29175"/>
            <a:ext cx="676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Метки базовой модели: C1 — институциональная поддержка курса, C2 — антивоенная оппозиция, C3 — конфронтационная мобилизация.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6669EEF7-CAF6-434C-90E0-DCC71E78C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721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Число групп фиксировано. Метки сопоставлены по максимальному пересечению составов. Полный список переходов включён в отчёт.</a:t>
            </a:r>
          </a:p>
        </p:txBody>
      </p:sp>
    </p:spTree>
    <p:extLst>
      <p:ext uri="{BB962C8B-B14F-4D97-AF65-F5344CB8AC3E}">
        <p14:creationId xmlns:p14="http://schemas.microsoft.com/office/powerpoint/2010/main" val="146572546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9BCF4C27-FA52-4ACA-9B14-269F49151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Состав групп при q=3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E3254E43-A576-44B9-A9C0-67E4A5B40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A1F36389-8992-48D3-98E2-4866535F0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1082040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В контроле k=3 сохраняется антивоенная группа из 15 объектов, а группа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поддержки курса сокращается с 40 до 35. Путин, Зюганов, Миронов, Милонов и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Платошкин переходят в расширенную мобилизационно-идеологическую группу из 13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объектов. Это не означает, что все 13 используют одинаково конфронтационную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или протестную стратегию: у Зюганова и Миронова высока институциональная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координата F2. При предпочтительном k=4 возникает отдельная группа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институциональной электоральной конкуренции из 10 объектов: пять из прежней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группы поддержки курса и пять из антивоенной группы. Прежняя конфронтационная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восьмёрка сохраняется полностью; персональная антивоенная группа состоит из 10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объектов.</a:t>
            </a:r>
          </a:p>
        </p:txBody>
      </p:sp>
    </p:spTree>
    <p:extLst>
      <p:ext uri="{BB962C8B-B14F-4D97-AF65-F5344CB8AC3E}">
        <p14:creationId xmlns:p14="http://schemas.microsoft.com/office/powerpoint/2010/main" val="15397069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217EE3FD-0338-49D5-A7BE-22C71D260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Изменение групп: q=2 и q=4, k=3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DA3325C7-8347-4D87-B8F6-200BD7961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C2A85E-C3B5-47E3-A3D4-E99A4686AF78}"/>
              </a:ext>
            </a:extLst>
          </p:cNvPr>
          <p:cNvGraphicFramePr/>
          <p:nvPr/>
        </p:nvGraphicFramePr>
        <p:xfrm>
          <a:off xmlns:a="http://schemas.openxmlformats.org/drawingml/2006/main" x="685800" y="1619250"/>
          <a:ext xmlns:a="http://schemas.openxmlformats.org/drawingml/2006/main" cx="676275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19250"/>
                <a:gridCol w="1714500"/>
                <a:gridCol w="1714500"/>
                <a:gridCol w="1714500"/>
              </a:tblGrid>
              <a:tr h="714375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q=2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</a:tr>
              <a:tr h="714375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C1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30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C2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</a:tr>
              <a:tr h="714375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C3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69F19CDE-39C1-4C5C-98FD-100604513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762125"/>
            <a:ext cx="3476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10 из 63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2A55C868-28A3-480D-A63C-750D78154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619375"/>
            <a:ext cx="347662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сменили группу после сопоставления меток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C2B54955-EAF0-4D0E-A2B6-E75F44B6A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971925"/>
            <a:ext cx="3476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ARI 0,549</a:t>
            </a:r>
          </a:p>
          <a:p xmlns:a="http://schemas.openxmlformats.org/drawingml/2006/main">
            <a: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NMI 0,603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7DB5F0E8-65C2-4BD2-A481-1DEFF8616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29175"/>
            <a:ext cx="676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Метки базовой модели: C1 — институциональная поддержка курса, C2 — антивоенная оппозиция, C3 — конфронтационная мобилизация.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9FC15B41-C09A-47CE-A537-8AF222AC0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721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Число групп фиксировано. Метки сопоставлены по максимальному пересечению составов. Полный список переходов включён в отчёт.</a:t>
            </a:r>
          </a:p>
        </p:txBody>
      </p:sp>
    </p:spTree>
    <p:extLst>
      <p:ext uri="{BB962C8B-B14F-4D97-AF65-F5344CB8AC3E}">
        <p14:creationId xmlns:p14="http://schemas.microsoft.com/office/powerpoint/2010/main" val="54048281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0ED76A3D-9EA0-4977-A759-095752B21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Состав групп при q=4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6C3A977C-D2E4-467C-AAEB-74DF55975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37164701-73C3-4E50-A00D-950524E49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1082040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При контроле k=3 дополнительно к пяти переходам q=3 Слуцкий перемещается в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мобилизационно-идеологическую группу, а Нечаев, Даванков, Левченко и Дмитриева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— в расширенную электоральную альтернативу. Последнее не делает всех четырёх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антивоенными или проинтеграционными в одинаковой степени: близость учитывает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четыре координаты, особенно распределение полномочий и институциональный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стиль. При k=4 возникают группы 9/10/31/13. По сравнению с q=3, k=4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персональная антивоенная десятка сохраняется полностью; исходная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конфронтационная восьмёрка пополняется Путиным, а институциональная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электоральная десятка — Слуцким, Нечаевым и Даванковым. После согласования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номеров группы сохраняют 59 из 63 объектов.</a:t>
            </a:r>
          </a:p>
        </p:txBody>
      </p:sp>
    </p:spTree>
    <p:extLst>
      <p:ext uri="{BB962C8B-B14F-4D97-AF65-F5344CB8AC3E}">
        <p14:creationId xmlns:p14="http://schemas.microsoft.com/office/powerpoint/2010/main" val="944928290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D3630982-514E-42C0-8125-D5D88FD64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Самостоятельный выбор числа групп при q=3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FFEF106B-0E0A-43AB-A091-A26BB6660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5959A6-90E3-4913-B4A2-6AE715FB93D0}"/>
              </a:ext>
            </a:extLst>
          </p:cNvPr>
          <p:cNvGraphicFramePr/>
          <p:nvPr/>
        </p:nvGraphicFramePr>
        <p:xfrm>
          <a:off xmlns:a="http://schemas.openxmlformats.org/drawingml/2006/main" x="685800" y="1447800"/>
          <a:ext xmlns:a="http://schemas.openxmlformats.org/drawingml/2006/main" cx="108204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238750"/>
                <a:gridCol w="1238250"/>
                <a:gridCol w="4343400"/>
              </a:tblGrid>
              <a:tr h="571500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Группа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Размер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Близкие к центру представители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</a:tr>
              <a:tr h="571500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C1 Институциональная электоральная конкуренция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Борис Вишневский, Сергей Левченко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C2 Институциональная поддержка курса и управленческое…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35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Михаил Дегтярёв, Сергей Аксёнов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</a:tr>
              <a:tr h="571500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C3 Конфронтационная мобилизация и персональный бренд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Эдуард Лимонов, Евгений Пригожин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C4 Персональная антивоенная оппозиционная стратегия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Любовь Соболь, Илья Яшин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</a:tr>
            </a:tbl>
          </a:graphicData>
        </a:graphic>
      </p:graphicFrame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C7F16974-32A5-464C-ADAD-10FBD56A8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1082040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Предпочтительно k=4: оно разделяет институциональную электоральную конкуренцию и персональную антивоенную стратегию, которые различаются по F2 и F3, сохраняя отдельную конфронтационную мобилизацию. Размеры групп 10/35/8/10 позволяют описывать сочетания свойств без сведения новых групп к единичным случаям.</a:t>
            </a:r>
          </a:p>
        </p:txBody>
      </p:sp>
    </p:spTree>
    <p:extLst>
      <p:ext uri="{BB962C8B-B14F-4D97-AF65-F5344CB8AC3E}">
        <p14:creationId xmlns:p14="http://schemas.microsoft.com/office/powerpoint/2010/main" val="483102473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2B81FAA9-4433-4B3D-A569-EC87F5C63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Самостоятельный выбор числа групп при q=4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F524A57D-0DCB-4D96-B2B4-FA47EE77E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976CD3-1D2C-4690-ADAA-BD59E5477BF2}"/>
              </a:ext>
            </a:extLst>
          </p:cNvPr>
          <p:cNvGraphicFramePr/>
          <p:nvPr/>
        </p:nvGraphicFramePr>
        <p:xfrm>
          <a:off xmlns:a="http://schemas.openxmlformats.org/drawingml/2006/main" x="685800" y="1447800"/>
          <a:ext xmlns:a="http://schemas.openxmlformats.org/drawingml/2006/main" cx="108204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238750"/>
                <a:gridCol w="1238250"/>
                <a:gridCol w="4343400"/>
              </a:tblGrid>
              <a:tr h="571500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Группа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Размер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Близкие к центру представители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</a:tr>
              <a:tr h="571500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C1 Конфронтационная мобилизация и персональный бренд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Сергей Удальцов, Захар Прилепин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C2 Персональная антивоенная оппозиционная стратегия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Илья Яшин, Любовь Соболь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</a:tr>
              <a:tr h="571500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C3 Централизация и институциональное управленческое…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31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Михаил Дегтярёв, Сергей Лавров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C4 Партийная и электоральная конкуренция через институты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Сергей Левченко, Оксана Дмитриева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</a:tr>
            </a:tbl>
          </a:graphicData>
        </a:graphic>
      </p:graphicFrame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D9316C1A-DD4C-4B90-A4DE-E2F482E15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1082040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Для содержательного сравнения предпочтительно k=4, хотя численное правило предлагает k=3. При k=4 отделяются институциональная партийно-электоральная конкуренция (13) и персональная антивоенная стратегия (10), которые при k=3 объединяются с другими профилями. Отдельно остаются конфронтационная мобилизация (9) и централизация с управленческим представительством (31).</a:t>
            </a:r>
          </a:p>
        </p:txBody>
      </p:sp>
    </p:spTree>
    <p:extLst>
      <p:ext uri="{BB962C8B-B14F-4D97-AF65-F5344CB8AC3E}">
        <p14:creationId xmlns:p14="http://schemas.microsoft.com/office/powerpoint/2010/main" val="104219371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9F35C9B5-E5C1-4BFA-A93B-49564D35F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Сходство рабочих типологий при k=4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61270A1B-14C0-4011-86B8-81760BE9C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9CB119-C81B-48D4-B9C4-F4E134B87D8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69d02f87104931"/>
          <a:stretch xmlns:a="http://schemas.openxmlformats.org/drawingml/2006/main"/>
        </p:blipFill>
        <p:spPr>
          <a:xfrm xmlns:a="http://schemas.openxmlformats.org/drawingml/2006/main">
            <a:off x="2160517" y="1381125"/>
            <a:ext cx="3965716" cy="4191000"/>
          </a:xfrm>
          <a:prstGeom xmlns:a="http://schemas.openxmlformats.org/drawingml/2006/main" prst="rect">
            <a:avLst/>
          </a:prstGeom>
        </p:spPr>
      </p:pic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4FD117D4-DB2D-40B9-A7AB-BB9ED3857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571625"/>
            <a:ext cx="3476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59 из 63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A40DFBD5-1838-4448-A875-A2EB13CA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05050"/>
            <a:ext cx="3476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сохранили группу между q=3 и q=4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6EC2D209-17F3-4194-8EB6-D9A92112D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219450"/>
            <a:ext cx="3476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ARI 0,813</a:t>
            </a:r>
          </a:p>
          <a:p xmlns:a="http://schemas.openxmlformats.org/drawingml/2006/main">
            <a:pPr algn="l">
              <a:defRPr sz="180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NMI 0,837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BF5F5E00-476F-4DB8-84F8-61B23E01D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238625"/>
            <a:ext cx="347662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Владимир Путин</a:t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Леонид Слуцкий</a:t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Алексей Нечаев</a:t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Владислав Даванков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147DA26B-9A09-4E4A-AB4C-FFA75989A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820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Справа перечислены все изменившие группу объекты. Метки новой модели сопоставлены с q=3 по максимальному пересечению составов.</a:t>
            </a:r>
          </a:p>
        </p:txBody>
      </p:sp>
    </p:spTree>
    <p:extLst>
      <p:ext uri="{BB962C8B-B14F-4D97-AF65-F5344CB8AC3E}">
        <p14:creationId xmlns:p14="http://schemas.microsoft.com/office/powerpoint/2010/main" val="68745448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A8EA1619-9C7F-4752-85FA-0DA8EB00E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Рабочая интерпретация размерности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8F27DFA4-9188-4137-803C-19588279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9EF3A547-0CCE-4F40-B4A0-1D6387AED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1082040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Сохранить q=2 как компактный базовый обзор по действующему правилу экономии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параметров; q=3 рассмотреть как наиболее ясное содержательное расширение,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особенно при k=4. Средняя отложенная log-likelihood q=3 немного лучше q=2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(−31,237 против −31,476), но разница мала, оценена лишь на трёх разбиениях и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не доказывает превосходства. q=4 полезна как дополнительная детализация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распределения власти и управленческого обоснования; её отложенная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log-likelihood не улучшается (−31,529), F1 сильно определяется одной шкалой,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F4 имеет лишь два сильных индикатора. Для кластеров показать k=3 как контроль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и k=4 как содержательно выбранную типологию обеих расширенных моделей.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Изменение q и изменение k следует обсуждать раздельно. Ни одно разбиение не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устанавливает общность истинных убеждений или электората.</a:t>
            </a:r>
          </a:p>
        </p:txBody>
      </p:sp>
    </p:spTree>
    <p:extLst>
      <p:ext uri="{BB962C8B-B14F-4D97-AF65-F5344CB8AC3E}">
        <p14:creationId xmlns:p14="http://schemas.microsoft.com/office/powerpoint/2010/main" val="94075350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D78A673C-12D2-4B8B-AC3C-183F5891A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Объекты в факторном пространстве, q=2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E0440837-9A61-4A6E-928D-5F3F88633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0630DA-1470-4907-8A39-3404E3CD019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ebb24971a74d4e"/>
          <a:stretch xmlns:a="http://schemas.openxmlformats.org/drawingml/2006/main"/>
        </p:blipFill>
        <p:spPr>
          <a:xfrm xmlns:a="http://schemas.openxmlformats.org/drawingml/2006/main">
            <a:off x="2652692" y="1285875"/>
            <a:ext cx="6886617" cy="4619625"/>
          </a:xfrm>
          <a:prstGeom xmlns:a="http://schemas.openxmlformats.org/drawingml/2006/main" prst="rect">
            <a:avLst/>
          </a:prstGeom>
        </p:spPr>
      </p:pic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DAB03D16-8BA6-45BC-9990-B82627BE5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980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F1/F2 показывают проекцию. Группы рассчитаны по всем выбранным факторам.</a:t>
            </a:r>
          </a:p>
        </p:txBody>
      </p:sp>
    </p:spTree>
    <p:extLst>
      <p:ext uri="{BB962C8B-B14F-4D97-AF65-F5344CB8AC3E}">
        <p14:creationId xmlns:p14="http://schemas.microsoft.com/office/powerpoint/2010/main" val="1238241457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F1D3A4D1-3980-4C93-87C5-E36C3BAFF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Признаки в факторном пространстве, q=2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0134678A-5227-453E-A11A-F8DC8FFF2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A5BBEE-BE1E-4F17-9625-85C5974EA7E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7dc94e4b884669"/>
          <a:stretch xmlns:a="http://schemas.openxmlformats.org/drawingml/2006/main"/>
        </p:blipFill>
        <p:spPr>
          <a:xfrm xmlns:a="http://schemas.openxmlformats.org/drawingml/2006/main">
            <a:off x="2652692" y="1285875"/>
            <a:ext cx="6886617" cy="4619625"/>
          </a:xfrm>
          <a:prstGeom xmlns:a="http://schemas.openxmlformats.org/drawingml/2006/main" prst="rect">
            <a:avLst/>
          </a:prstGeom>
        </p:spPr>
      </p:pic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35B689EA-B51A-4012-93A0-00D587778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980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Точки обозначают шкалы. Их координаты — нагрузки, а не факторные баллы объектов.</a:t>
            </a:r>
          </a:p>
        </p:txBody>
      </p:sp>
    </p:spTree>
    <p:extLst>
      <p:ext uri="{BB962C8B-B14F-4D97-AF65-F5344CB8AC3E}">
        <p14:creationId xmlns:p14="http://schemas.microsoft.com/office/powerpoint/2010/main" val="116509143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57376B04-9D8C-46D8-9324-AA30A9907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Локальное соседство t-SNE базовой модели q=2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6F746B70-A972-44DB-956F-57D56619B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27133A-A752-4F8B-BB75-E166189C473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8e35d98e7a4402"/>
          <a:stretch xmlns:a="http://schemas.openxmlformats.org/drawingml/2006/main"/>
        </p:blipFill>
        <p:spPr>
          <a:xfrm xmlns:a="http://schemas.openxmlformats.org/drawingml/2006/main">
            <a:off x="571500" y="1719221"/>
            <a:ext cx="5381625" cy="3610059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BBC69C-C0AE-4BD0-BBA0-F3074A5E5C4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248fb7655c47ca"/>
          <a:stretch xmlns:a="http://schemas.openxmlformats.org/drawingml/2006/main"/>
        </p:blipFill>
        <p:spPr>
          <a:xfrm xmlns:a="http://schemas.openxmlformats.org/drawingml/2006/main">
            <a:off x="6238875" y="1719221"/>
            <a:ext cx="5381625" cy="3610059"/>
          </a:xfrm>
          <a:prstGeom xmlns:a="http://schemas.openxmlformats.org/drawingml/2006/main" prst="rect">
            <a:avLst/>
          </a:prstGeom>
        </p:spPr>
      </p:pic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8964241D-CF99-4A58-91FD-2091A3A95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Объекты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48C699C4-2747-4AE8-8988-B929C3ACA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2954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Семантические шкалы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AFFE4C49-6D56-4A86-85CA-F368FC1AA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62625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Оси t-SNE не являются факторами. Пустоты и глобальные расстояния на этой проекции требуют осторожной интерпретации.</a:t>
            </a:r>
          </a:p>
        </p:txBody>
      </p:sp>
    </p:spTree>
    <p:extLst>
      <p:ext uri="{BB962C8B-B14F-4D97-AF65-F5344CB8AC3E}">
        <p14:creationId xmlns:p14="http://schemas.microsoft.com/office/powerpoint/2010/main" val="728884815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3351EF3D-3104-4D34-9C04-A0B77418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Сравнение числа групп базовой модели q=2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D13E9E19-E62A-4F07-B96A-F3D5C9D39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789C56-F3BB-4E00-9924-46E5D460CBDD}"/>
              </a:ext>
            </a:extLst>
          </p:cNvPr>
          <p:cNvGraphicFramePr/>
          <p:nvPr/>
        </p:nvGraphicFramePr>
        <p:xfrm>
          <a:off xmlns:a="http://schemas.openxmlformats.org/drawingml/2006/main" x="685800" y="1409700"/>
          <a:ext xmlns:a="http://schemas.openxmlformats.org/drawingml/2006/main" cx="108204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05000"/>
                <a:gridCol w="2667000"/>
                <a:gridCol w="3124200"/>
                <a:gridCol w="3124200"/>
              </a:tblGrid>
              <a:tr h="409575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Групп k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Силуэт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Размеры групп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Устойчивость ARI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</a:tr>
              <a:tr h="409575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0,446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19–44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0,766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9575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0,508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8–40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0,914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</a:tr>
              <a:tr h="409575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0,473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8–30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0,781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9575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0,486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8–21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0,948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</a:tr>
              <a:tr h="409575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0,509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4–21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0,883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9575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0,512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4–21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0,946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</a:tr>
              <a:tr h="409575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0,475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4–16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0,846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9575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0,458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4–16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0,815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</a:tr>
              <a:tr h="409575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0,458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3–12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0,863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FAB6297D-129C-4428-B1D9-B7E25E3BF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Рабочее решение: 3 групп. Устойчивость оценена на подвыборках при фиксированных факторных координатах.</a:t>
            </a:r>
          </a:p>
        </p:txBody>
      </p:sp>
    </p:spTree>
    <p:extLst>
      <p:ext uri="{BB962C8B-B14F-4D97-AF65-F5344CB8AC3E}">
        <p14:creationId xmlns:p14="http://schemas.microsoft.com/office/powerpoint/2010/main" val="1290337861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EEE58EA2-7026-41FD-87D1-8CF635886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Базовая модель q=2: почему k=3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8319BCBB-C436-4DD0-9A57-6171028A1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E2B03E17-0FBD-4618-9243-75FA8FAAA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1082040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Трёхкластерное решение выделяет три содержательно различимых профиля, каждый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из которых характеризуется уникальным сочетанием нагруженных свойств. Первый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кластер объединяет акторов, ориентированных на институциональные процедуры и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умеренную поддержку действующей власти, второй — выраженных сторонников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антивоенной риторики, критики власти и интеграции с Западом, а третий — группу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с выраженной конфронтационностью, мобилизационной риторикой и персонализацией.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Эти профили различаются не только по ключевым факторам, но и по ряду шкал с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крупными сдвигами относительно всей выборки, что позволяет говорить о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содержательной интерпретируемости каждого кластера.</a:t>
            </a:r>
          </a:p>
        </p:txBody>
      </p:sp>
    </p:spTree>
    <p:extLst>
      <p:ext uri="{BB962C8B-B14F-4D97-AF65-F5344CB8AC3E}">
        <p14:creationId xmlns:p14="http://schemas.microsoft.com/office/powerpoint/2010/main" val="209985238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C9359EB4-6D83-422B-8A3D-571A310A1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Базовая модель q=2: почему k=3 (продолжение)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E84FB37C-E92C-43B5-88AA-B5E1AFC24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76F65B69-24BE-4BA6-8FE1-F7FC06A99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1082040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При дальнейшем увеличении числа кластеров (k &gt; 3) происходит преимущественно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дробление уже выделенных профилей на более мелкие подгруппы, различия между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которыми выражены слабее и часто касаются нюансов внутри уже описанных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направлений (например, разделение умеренных и радикальных представителей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внутри одного лагеря). При этом новые кластеры зачастую оказываются малы по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размеру и менее устойчивы, а их содержательная специфика не столь отчётлива,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как у трёх основных профилей. Таким образом, k=3 выбрано как рабочий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компромисс между различимостью, интерпретируемостью и ценой дополнительного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дробления.</a:t>
            </a:r>
          </a:p>
        </p:txBody>
      </p:sp>
    </p:spTree>
    <p:extLst>
      <p:ext uri="{BB962C8B-B14F-4D97-AF65-F5344CB8AC3E}">
        <p14:creationId xmlns:p14="http://schemas.microsoft.com/office/powerpoint/2010/main" val="504074940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800C1166-E56D-466C-9521-D74FCB109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Базовая модель q=2: почему k=3 (продолжение)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6C4A12CF-DA7F-45A7-872A-E85ADA87D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99344FCF-9BE1-406D-A9F7-CB8B9E317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1082040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Численная сводка из расчёта: у k=3 силуэт 0.508; наибольший силуэт среди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проверенных вариантов — 0.512 при k=7. Медианный ARI выбранного разбиения —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1.000, минимальный по группам медианный Jaccard — 1.000. Содержательное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предпочтение не означает максимума всех численных показателей или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доказательства естественных классов. Средний ARI — 0.914, минимальный ARI —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0.360; устойчивость оценена при фиксированных факторных координатах, без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повторного сбора досье и оценивания.</a:t>
            </a:r>
          </a:p>
        </p:txBody>
      </p:sp>
    </p:spTree>
    <p:extLst>
      <p:ext uri="{BB962C8B-B14F-4D97-AF65-F5344CB8AC3E}">
        <p14:creationId xmlns:p14="http://schemas.microsoft.com/office/powerpoint/2010/main" val="1985010376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27EF6F64-85EB-4898-9664-99D7294FC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q=2 · C1 Институциональная поддержка курса и партийная централизация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AED023EE-1C35-44AF-A5A5-D5301B05A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AF80973E-987B-47B1-8979-DC72FE9A7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40 объектов (63,5% выборки)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E34EA7FF-6842-4152-A3EB-AE83F72C0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10820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Общность этой группы определяется устойчивой поддержкой действующей федеральной власти, акцентом на продолжении военных действий, институциональной работой через парламентские процедуры и партийной организацией.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962AE9C2-4F21-443F-A6B6-21D840A2A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38525"/>
            <a:ext cx="52863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Состав группы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A6D20439-4584-4081-899A-4A269D91F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14775"/>
            <a:ext cx="5286375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Михаил Дегтярёв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Нина Останина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Сергей Аксёнов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Леонид Слуцкий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Геннадий Зюганов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Владимир Путин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Дмитрий Медведев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Михаил Мишустин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9CDA62B6-0D17-4E89-8FA6-572410D8A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38525"/>
            <a:ext cx="5000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Отличия от среднего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7FA5D002-3133-4C8C-9A3D-D126018E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914775"/>
            <a:ext cx="5000625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Публичная критика действующей…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-0,64 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Публичные призывы прекратить…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-0,57 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Изменения через действующие…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+0,56 σ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4BA1F3E7-7B00-4650-9213-90AD847F6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8170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Показаны 8 участников, представители центра идут первыми. Ещё 32 объектов приведены в полном отчёте.</a:t>
            </a:r>
          </a:p>
        </p:txBody>
      </p:sp>
    </p:spTree>
    <p:extLst>
      <p:ext uri="{BB962C8B-B14F-4D97-AF65-F5344CB8AC3E}">
        <p14:creationId xmlns:p14="http://schemas.microsoft.com/office/powerpoint/2010/main" val="832273331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93475BBE-BFE9-4529-87C6-63F48D2DE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q=2 · C2 Антивоенная оппозиция и электоральная легитимность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C061966C-96B2-452F-BA20-0F4ACA079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9F7FC7A4-F7D9-447F-B532-D0A03C0A6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15 объектов (23,8% выборки)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3D0EE3D5-F67D-4EC0-94F3-0831E8A36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10820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Группа объединяет публичные образы с выраженной критикой действующей власти, антивоенной риторикой, акцентом на конкурентных выборах, поддержкой международной интеграции, универсальных прав и децентрализации.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3D7B054A-EB79-477C-B6B2-8B656F707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38525"/>
            <a:ext cx="52863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Состав группы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549FAC60-9826-4DC8-8F00-2817D31F6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14775"/>
            <a:ext cx="5286375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Михаил Ходорковский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Владимир Кара-Мурза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Леонид Гозман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Илья Яшин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Владимир Милов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Евгений Ройзман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Алексей Навальный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Григорий Явлинский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2B042BA7-EEB1-4C84-A243-90456E8F6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38525"/>
            <a:ext cx="5000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Отличия от среднего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33DC7F0B-A6F9-4380-B2EA-E9158BA25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914775"/>
            <a:ext cx="5000625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Суверенная самостоятельность и…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-1,74 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Особые интересы национальной…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-1,67 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Единая вертикаль и концентрация…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-1,61 σ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2B3BFA40-10BC-4272-9F2D-D95CA792B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8170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Показаны 8 участников, представители центра идут первыми. Ещё 7 объектов приведены в полном отчёте.</a:t>
            </a:r>
          </a:p>
        </p:txBody>
      </p:sp>
    </p:spTree>
    <p:extLst>
      <p:ext uri="{BB962C8B-B14F-4D97-AF65-F5344CB8AC3E}">
        <p14:creationId xmlns:p14="http://schemas.microsoft.com/office/powerpoint/2010/main" val="1291055381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5F383422-AF09-47CB-8316-B75589ED5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q=2 · C3 Конфронтационная мобилизация и персонализация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AE73E922-70C0-43BB-913B-5FDA4FC2A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3BB43F78-0ACD-4324-8238-03A744BBE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8 объектов (12,7% выборки)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A1A89D22-6E74-4BA2-9D21-3852FC9B8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10820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Группа характеризуется выраженной конфронтационной риторикой, мобилизационными призывами, персонализированным стилем публичности и протестной стратегией. Здесь преобладают образы, строящиеся на личном бренде, лозунговой простоте, акценте на национальной идентичности и внеинституциональных формах действия.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FEFBED9C-3AA3-4F43-BC98-2C108BD55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38525"/>
            <a:ext cx="52863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Состав группы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FDC3303-FDCC-4556-AF76-0FFA80541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14775"/>
            <a:ext cx="5286375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Эдуард Лимонов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Игорь Стрелков (Гиркин)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Владимир Жириновский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Захар Прилепин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Евгений Пригожин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Рамзан Кадыров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Илья Пономарёв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Сергей Удальцов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BFA5A8B9-CDFE-4DC6-8B79-F7B5A1837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38525"/>
            <a:ext cx="5000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Отличия от среднего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88EFE785-502E-4DB4-9534-C085CC5AE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914775"/>
            <a:ext cx="5000625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Конфронтационная полемика и…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+1,49 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Призывы к единению, дисциплине и…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+1,33 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Личный бренд и обращение от…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+1,31 σ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6D6D08E2-318F-4B8D-AA0D-B2E8E3077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8170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Показан полный состав группы, представители центра идут первыми. Основания и пограничные профили приведены в отчёте.</a:t>
            </a:r>
          </a:p>
        </p:txBody>
      </p:sp>
    </p:spTree>
    <p:extLst>
      <p:ext uri="{BB962C8B-B14F-4D97-AF65-F5344CB8AC3E}">
        <p14:creationId xmlns:p14="http://schemas.microsoft.com/office/powerpoint/2010/main" val="102760182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9F07DE3E-A178-4265-9124-AB3432793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Интерпретация базового пространства q=2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4666FEFE-16CB-4732-A5B1-46B7B7C7A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87D4A449-D900-44EE-90F6-3F63B17DA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1082040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Рассчитанное пространство публичных политических образов российских политиков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и заметных акторов за 2016–2026 годы структурировано по двум главным осям: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первая противопоставляет антивоенную, оппозиционную и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электорально-легитимистскую риторику — антизападной мобилизации, суверенитету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и поддержке административного порядка; вторая различает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институционально-коллективные и партийные стратегии — и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конфронтационно-персонализированные, протестные стили публичности.</a:t>
            </a:r>
          </a:p>
        </p:txBody>
      </p:sp>
    </p:spTree>
    <p:extLst>
      <p:ext uri="{BB962C8B-B14F-4D97-AF65-F5344CB8AC3E}">
        <p14:creationId xmlns:p14="http://schemas.microsoft.com/office/powerpoint/2010/main" val="928303611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B92F3746-9A13-45A4-AAA7-333FC0968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Интерпретация базового пространства q=2 (продолжение)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B2A7F07B-4503-412D-A8B2-1BD061A15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BEE2A3BF-1D6E-46FA-8A14-78E9E7DF4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1082040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Выделено три кластера, для которых проверена устойчивость при фиксированных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факторных координатах: группа институциональной поддержки курса и партийной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централизации, антивоенная оппозиция с акцентом на электоральную легитимность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и международную интеграцию, а также конфронтационная мобилизация с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персонализированным стилем и протестной стратегией. Основные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противопоставления проходят по линиям отношения к власти, способам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легитимации, формам публичной риторики и организационной структуре.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Модель позволяет выявить устойчивые сочетания публичных позиций, риторических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акцентов и стратегий действия, но не устанавливает причинно-следственных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связей между ними. Она не даёт оснований для выводов о личных свойствах,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электоральной поддержке или мотивах участников, а также не позволяет судить о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распространённости тех или иных позиций в обществе в целом.</a:t>
            </a:r>
          </a:p>
        </p:txBody>
      </p:sp>
    </p:spTree>
    <p:extLst>
      <p:ext uri="{BB962C8B-B14F-4D97-AF65-F5344CB8AC3E}">
        <p14:creationId xmlns:p14="http://schemas.microsoft.com/office/powerpoint/2010/main" val="195450485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A21C2468-DFD6-4373-8CF5-66F7E152B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Интерпретация базового пространства q=2 (продолжение)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83EDE6E0-B3EF-47EE-A0CB-4BF261F16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FAB7395B-C562-4730-A33B-536D2A11F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1082040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Ограничения анализа связаны с разведочным характером исследования,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приближённостью линейной факторной модели к порядковым оценкам и условностью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кластеризации. Группы могут возникать и в непрерывном пространстве, а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устойчивость кластеров не гарантирует полноты охвата всех возможных публичных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стратегий.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Интерпретация опирается только на реально выраженные и агрегированные свойства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публичных образов, без привязки к партийным ярлыкам или именам. Не все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возможные сочетания представлены в выборке, и модель не фиксирует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статистическую значимость различий или их причинность.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Пограничных профилей: 3 из 63. Их свойства могут сочетать признаки нескольких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групп.</a:t>
            </a:r>
          </a:p>
        </p:txBody>
      </p:sp>
    </p:spTree>
    <p:extLst>
      <p:ext uri="{BB962C8B-B14F-4D97-AF65-F5344CB8AC3E}">
        <p14:creationId xmlns:p14="http://schemas.microsoft.com/office/powerpoint/2010/main" val="1599630534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001E5563-0604-423A-8A52-BABEC1A15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Интерпретация базового пространства q=2 (продолжение)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FEF6EE22-D4D1-4C63-870C-B15751185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10AAA77D-37D1-4ED3-9D92-E18E538FF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1082040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Незаполненный сектор означает отсутствие такого профиля в выбранной выборке и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корпусе. Международное сравнение требует единого словаря и сопоставимого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отбора.</a:t>
            </a:r>
          </a:p>
        </p:txBody>
      </p:sp>
    </p:spTree>
    <p:extLst>
      <p:ext uri="{BB962C8B-B14F-4D97-AF65-F5344CB8AC3E}">
        <p14:creationId xmlns:p14="http://schemas.microsoft.com/office/powerpoint/2010/main" val="1319141172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19B1D273-6E45-41A1-8127-4019F5E43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Ограничения и следующая проверка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88C7F475-137A-43A1-9017-055650A20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E47F55E0-5B2B-491D-BF97-5A209F56B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668000" cy="6092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Число факторов и групп остаётся исследовательским решением. Содержательная интерпретация дополняет численные критерии.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80DC7E6D-A054-409D-8B80-3977B0F8E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244"/>
            <a:ext cx="10668000" cy="6092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Оценки LLM отражают модель публичного образа в источниках. Они требуют сравнения с независимыми человеческими оценками.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7F970AB6-E5B1-4D82-B738-8CF76915B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99638"/>
            <a:ext cx="10668000" cy="6092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Сходство партий или политиков не устанавливает общность реального электората. Частоты объектов в выборке не являются долями населения.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6250EB05-F2EA-409C-A853-F53076254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6032"/>
            <a:ext cx="10668000" cy="6092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Следующая проверка: новые объекты, иной корпус и независимые оценщики при фиксированных шкалах и параметрах проекции.</a:t>
            </a:r>
          </a:p>
        </p:txBody>
      </p:sp>
    </p:spTree>
    <p:extLst>
      <p:ext uri="{BB962C8B-B14F-4D97-AF65-F5344CB8AC3E}">
        <p14:creationId xmlns:p14="http://schemas.microsoft.com/office/powerpoint/2010/main" val="1904520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2026-10-15T07:38:02.6700000Z</dcterms:created>
  <dcterms:modified xsi:type="dcterms:W3CDTF">2026-10-15T07:38:02.6700000Z</dcterms:modified>
</coreProperties>
</file>