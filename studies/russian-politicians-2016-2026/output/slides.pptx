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f065f89bb83459c" /><Relationship Type="http://schemas.openxmlformats.org/officeDocument/2006/relationships/extended-properties" Target="/docProps/app.xml" Id="Rd2809abdbec44f53" /><Relationship Type="http://schemas.openxmlformats.org/officeDocument/2006/relationships/officeDocument" Target="/ppt/presentation.xml" Id="R679e42b67dd5493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5fe268976bc44ef"/>
  </p:sldMasterIdLst>
  <p:notesMasterIdLst>
    <p:notesMasterId xmlns:r="http://schemas.openxmlformats.org/officeDocument/2006/relationships" r:id="R264b223b8a3243c2"/>
  </p:notesMasterIdLst>
  <p:sldIdLst>
    <p:sldId xmlns:r="http://schemas.openxmlformats.org/officeDocument/2006/relationships" id="256" r:id="Ree60276d4dad4d47"/>
    <p:sldId xmlns:r="http://schemas.openxmlformats.org/officeDocument/2006/relationships" id="257" r:id="R9f4ba38584434296"/>
    <p:sldId xmlns:r="http://schemas.openxmlformats.org/officeDocument/2006/relationships" id="258" r:id="R49362f7fb7a84e64"/>
    <p:sldId xmlns:r="http://schemas.openxmlformats.org/officeDocument/2006/relationships" id="259" r:id="R4103f4d0f3e347c9"/>
    <p:sldId xmlns:r="http://schemas.openxmlformats.org/officeDocument/2006/relationships" id="260" r:id="Rb33d3f3f81524756"/>
    <p:sldId xmlns:r="http://schemas.openxmlformats.org/officeDocument/2006/relationships" id="261" r:id="R7aa20ca02a1b41f7"/>
    <p:sldId xmlns:r="http://schemas.openxmlformats.org/officeDocument/2006/relationships" id="262" r:id="R1518ce504e814a09"/>
    <p:sldId xmlns:r="http://schemas.openxmlformats.org/officeDocument/2006/relationships" id="263" r:id="Rb0d217d47767476d"/>
    <p:sldId xmlns:r="http://schemas.openxmlformats.org/officeDocument/2006/relationships" id="264" r:id="R0eaaa8e956734aab"/>
    <p:sldId xmlns:r="http://schemas.openxmlformats.org/officeDocument/2006/relationships" id="265" r:id="Rc3a2f538e05840a7"/>
    <p:sldId xmlns:r="http://schemas.openxmlformats.org/officeDocument/2006/relationships" id="266" r:id="R7769d24276664d89"/>
    <p:sldId xmlns:r="http://schemas.openxmlformats.org/officeDocument/2006/relationships" id="267" r:id="R3b2b7222a60040f3"/>
    <p:sldId xmlns:r="http://schemas.openxmlformats.org/officeDocument/2006/relationships" id="268" r:id="Rae3a0ecbbaed4982"/>
    <p:sldId xmlns:r="http://schemas.openxmlformats.org/officeDocument/2006/relationships" id="269" r:id="R29bcbefb622d4f8d"/>
    <p:sldId xmlns:r="http://schemas.openxmlformats.org/officeDocument/2006/relationships" id="270" r:id="R52491ccabd914471"/>
    <p:sldId xmlns:r="http://schemas.openxmlformats.org/officeDocument/2006/relationships" id="271" r:id="R1407d66fd9584cd2"/>
    <p:sldId xmlns:r="http://schemas.openxmlformats.org/officeDocument/2006/relationships" id="272" r:id="R55c06dabd1404535"/>
    <p:sldId xmlns:r="http://schemas.openxmlformats.org/officeDocument/2006/relationships" id="273" r:id="Rb69a678dddb544dc"/>
    <p:sldId xmlns:r="http://schemas.openxmlformats.org/officeDocument/2006/relationships" id="274" r:id="Rda007511b9b348e2"/>
    <p:sldId xmlns:r="http://schemas.openxmlformats.org/officeDocument/2006/relationships" id="275" r:id="Rf90d826d38744a90"/>
    <p:sldId xmlns:r="http://schemas.openxmlformats.org/officeDocument/2006/relationships" id="276" r:id="R9ea823036b084f0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8055d4743904eec" /><Relationship Type="http://schemas.openxmlformats.org/officeDocument/2006/relationships/slideMaster" Target="/ppt/slideMasters/slideMaster1.xml" Id="Rd5fe268976bc44ef" /><Relationship Type="http://schemas.openxmlformats.org/officeDocument/2006/relationships/notesMaster" Target="/ppt/notesMasters/notesMaster1.xml" Id="R264b223b8a3243c2" /><Relationship Type="http://schemas.openxmlformats.org/officeDocument/2006/relationships/presProps" Target="/ppt/presProps.xml" Id="R5f503bc789414456" /><Relationship Type="http://schemas.openxmlformats.org/officeDocument/2006/relationships/tableStyles" Target="/ppt/tableStyles.xml" Id="Rcc73d79e480f4349" /><Relationship Type="http://schemas.openxmlformats.org/officeDocument/2006/relationships/slide" Target="/ppt/slides/slide1.xml" Id="Ree60276d4dad4d47" /><Relationship Type="http://schemas.openxmlformats.org/officeDocument/2006/relationships/slide" Target="/ppt/slides/slide2.xml" Id="R9f4ba38584434296" /><Relationship Type="http://schemas.openxmlformats.org/officeDocument/2006/relationships/slide" Target="/ppt/slides/slide3.xml" Id="R49362f7fb7a84e64" /><Relationship Type="http://schemas.openxmlformats.org/officeDocument/2006/relationships/slide" Target="/ppt/slides/slide4.xml" Id="R4103f4d0f3e347c9" /><Relationship Type="http://schemas.openxmlformats.org/officeDocument/2006/relationships/slide" Target="/ppt/slides/slide5.xml" Id="Rb33d3f3f81524756" /><Relationship Type="http://schemas.openxmlformats.org/officeDocument/2006/relationships/slide" Target="/ppt/slides/slide6.xml" Id="R7aa20ca02a1b41f7" /><Relationship Type="http://schemas.openxmlformats.org/officeDocument/2006/relationships/slide" Target="/ppt/slides/slide7.xml" Id="R1518ce504e814a09" /><Relationship Type="http://schemas.openxmlformats.org/officeDocument/2006/relationships/slide" Target="/ppt/slides/slide8.xml" Id="Rb0d217d47767476d" /><Relationship Type="http://schemas.openxmlformats.org/officeDocument/2006/relationships/slide" Target="/ppt/slides/slide9.xml" Id="R0eaaa8e956734aab" /><Relationship Type="http://schemas.openxmlformats.org/officeDocument/2006/relationships/slide" Target="/ppt/slides/slide10.xml" Id="Rc3a2f538e05840a7" /><Relationship Type="http://schemas.openxmlformats.org/officeDocument/2006/relationships/slide" Target="/ppt/slides/slide11.xml" Id="R7769d24276664d89" /><Relationship Type="http://schemas.openxmlformats.org/officeDocument/2006/relationships/slide" Target="/ppt/slides/slide12.xml" Id="R3b2b7222a60040f3" /><Relationship Type="http://schemas.openxmlformats.org/officeDocument/2006/relationships/slide" Target="/ppt/slides/slide13.xml" Id="Rae3a0ecbbaed4982" /><Relationship Type="http://schemas.openxmlformats.org/officeDocument/2006/relationships/slide" Target="/ppt/slides/slide14.xml" Id="R29bcbefb622d4f8d" /><Relationship Type="http://schemas.openxmlformats.org/officeDocument/2006/relationships/slide" Target="/ppt/slides/slide15.xml" Id="R52491ccabd914471" /><Relationship Type="http://schemas.openxmlformats.org/officeDocument/2006/relationships/slide" Target="/ppt/slides/slide16.xml" Id="R1407d66fd9584cd2" /><Relationship Type="http://schemas.openxmlformats.org/officeDocument/2006/relationships/slide" Target="/ppt/slides/slide17.xml" Id="R55c06dabd1404535" /><Relationship Type="http://schemas.openxmlformats.org/officeDocument/2006/relationships/slide" Target="/ppt/slides/slide18.xml" Id="Rb69a678dddb544dc" /><Relationship Type="http://schemas.openxmlformats.org/officeDocument/2006/relationships/slide" Target="/ppt/slides/slide19.xml" Id="Rda007511b9b348e2" /><Relationship Type="http://schemas.openxmlformats.org/officeDocument/2006/relationships/slide" Target="/ppt/slides/slide20.xml" Id="Rf90d826d38744a90" /><Relationship Type="http://schemas.openxmlformats.org/officeDocument/2006/relationships/slide" Target="/ppt/slides/slide21.xml" Id="R9ea823036b084f0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62c945a1de8446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1b285bba68f4bda" /><Relationship Type="http://schemas.openxmlformats.org/officeDocument/2006/relationships/notesMaster" Target="/ppt/notesMasters/notesMaster1.xml" Id="R62729cf684a14e5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1dd98da1bb64c38" /><Relationship Type="http://schemas.openxmlformats.org/officeDocument/2006/relationships/notesMaster" Target="/ppt/notesMasters/notesMaster1.xml" Id="R7c712a80994140e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31d3a73deef46f6" /><Relationship Type="http://schemas.openxmlformats.org/officeDocument/2006/relationships/notesMaster" Target="/ppt/notesMasters/notesMaster1.xml" Id="Rf4094968753a4f9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b62dea03c064bd3" /><Relationship Type="http://schemas.openxmlformats.org/officeDocument/2006/relationships/notesMaster" Target="/ppt/notesMasters/notesMaster1.xml" Id="R5e6ff33cee5343b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9331f0a9be14801" /><Relationship Type="http://schemas.openxmlformats.org/officeDocument/2006/relationships/notesMaster" Target="/ppt/notesMasters/notesMaster1.xml" Id="R1abedeb487e84ba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379d50b52b443db" /><Relationship Type="http://schemas.openxmlformats.org/officeDocument/2006/relationships/notesMaster" Target="/ppt/notesMasters/notesMaster1.xml" Id="R2b5665296cfe48e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bc73ed7baf345ad" /><Relationship Type="http://schemas.openxmlformats.org/officeDocument/2006/relationships/notesMaster" Target="/ppt/notesMasters/notesMaster1.xml" Id="Rc172053b0696493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98c1e3dca114f5f" /><Relationship Type="http://schemas.openxmlformats.org/officeDocument/2006/relationships/notesMaster" Target="/ppt/notesMasters/notesMaster1.xml" Id="R54d0fa2911d1461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e74aef7d5354cd5" /><Relationship Type="http://schemas.openxmlformats.org/officeDocument/2006/relationships/notesMaster" Target="/ppt/notesMasters/notesMaster1.xml" Id="R6bc8f41f3405487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46c1177faf6458c" /><Relationship Type="http://schemas.openxmlformats.org/officeDocument/2006/relationships/notesMaster" Target="/ppt/notesMasters/notesMaster1.xml" Id="R7234e31e46ce4f7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abbaa98f7884f12" /><Relationship Type="http://schemas.openxmlformats.org/officeDocument/2006/relationships/notesMaster" Target="/ppt/notesMasters/notesMaster1.xml" Id="R805ce9e6a9a1439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2ec9f10591d4ee0" /><Relationship Type="http://schemas.openxmlformats.org/officeDocument/2006/relationships/notesMaster" Target="/ppt/notesMasters/notesMaster1.xml" Id="Ra7c8c03181f94b5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1cba82bb50845cb" /><Relationship Type="http://schemas.openxmlformats.org/officeDocument/2006/relationships/notesMaster" Target="/ppt/notesMasters/notesMaster1.xml" Id="R79bede4a4b3a46f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ede5de54e684929" /><Relationship Type="http://schemas.openxmlformats.org/officeDocument/2006/relationships/notesMaster" Target="/ppt/notesMasters/notesMaster1.xml" Id="Rf4924853abc04de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62fd250235543a9" /><Relationship Type="http://schemas.openxmlformats.org/officeDocument/2006/relationships/notesMaster" Target="/ppt/notesMasters/notesMaster1.xml" Id="Rd3982b87e572408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1ff9e7c3ea14dc8" /><Relationship Type="http://schemas.openxmlformats.org/officeDocument/2006/relationships/notesMaster" Target="/ppt/notesMasters/notesMaster1.xml" Id="R97f7a0933a4c408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62ceb512957f4e12" /><Relationship Type="http://schemas.openxmlformats.org/officeDocument/2006/relationships/notesMaster" Target="/ppt/notesMasters/notesMaster1.xml" Id="Racab1b337a3247e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114a1cc90ea1411f" /><Relationship Type="http://schemas.openxmlformats.org/officeDocument/2006/relationships/notesMaster" Target="/ppt/notesMasters/notesMaster1.xml" Id="R2f664f73ac77439e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ea8de4cddb9435d" /><Relationship Type="http://schemas.openxmlformats.org/officeDocument/2006/relationships/notesMaster" Target="/ppt/notesMasters/notesMaster1.xml" Id="R619c6e648fbd4f26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42f93492d08949f8" /><Relationship Type="http://schemas.openxmlformats.org/officeDocument/2006/relationships/notesMaster" Target="/ppt/notesMasters/notesMaster1.xml" Id="Rab4847b2de954730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914a816539334851" /><Relationship Type="http://schemas.openxmlformats.org/officeDocument/2006/relationships/notesMaster" Target="/ppt/notesMasters/notesMaster1.xml" Id="Rf3fa4e4dd98c4ce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Числа: metadata.json, scores.csv, loadings.csv и утверждённая матрица оценок.</a:t>
            </a:r>
          </a:p>
          <a:p xmlns:a="http://schemas.openxmlformats.org/drawingml/2006/main">
            <a:r>
              <a:t>Изучаемое пространство: Публичный политический образ российских политиков и иных заметных политических акторов, включая деятелей за рубежом, активных хотя бы в части периода. Не рейтинг популярности..</a:t>
            </a:r>
          </a:p>
          <a:p xmlns:a="http://schemas.openxmlformats.org/drawingml/2006/main">
            <a:r>
              <a:t>Оценщик: llm_exploratory.</a:t>
            </a:r>
          </a:p>
          <a:p xmlns:a="http://schemas.openxmlformats.org/drawingml/2006/main">
            <a:r>
              <a:t>Исходные URL:</a:t>
            </a:r>
          </a:p>
          <a:p xmlns:a="http://schemas.openxmlformats.org/drawingml/2006/main">
            <a:r>
              <a:t>https://kremlin.ru/structure/president</a:t>
            </a:r>
          </a:p>
          <a:p xmlns:a="http://schemas.openxmlformats.org/drawingml/2006/main">
            <a:r>
              <a:t>http://www.special.kremlin.ru/events/president/transcripts/67843</a:t>
            </a:r>
          </a:p>
          <a:p xmlns:a="http://schemas.openxmlformats.org/drawingml/2006/main">
            <a:r>
              <a:t>http://en.kremlin.ru/events/president/news/70315</a:t>
            </a:r>
          </a:p>
          <a:p xmlns:a="http://schemas.openxmlformats.org/drawingml/2006/main">
            <a:r>
              <a:t>http://special.kremlin.ru/events/president/transcripts/70565</a:t>
            </a:r>
          </a:p>
          <a:p xmlns:a="http://schemas.openxmlformats.org/drawingml/2006/main">
            <a:r>
              <a:t>http://special.kremlin.ru/events/president/transcripts/72994</a:t>
            </a:r>
          </a:p>
          <a:p xmlns:a="http://schemas.openxmlformats.org/drawingml/2006/main">
            <a:r>
              <a:t>http://kremlin.ru/events/president/news/73585</a:t>
            </a:r>
          </a:p>
          <a:p xmlns:a="http://schemas.openxmlformats.org/drawingml/2006/main">
            <a:r>
              <a:t>http://special.kremlin.ru/events/president/transcripts/75762</a:t>
            </a:r>
          </a:p>
          <a:p xmlns:a="http://schemas.openxmlformats.org/drawingml/2006/main">
            <a:r>
              <a:t>http://www.special.kremlin.ru/events/president/transcripts/76899</a:t>
            </a:r>
          </a:p>
          <a:p xmlns:a="http://schemas.openxmlformats.org/drawingml/2006/main">
            <a:r>
              <a:t>http://special.kremlin.ru/events/president/transcripts/80017</a:t>
            </a:r>
          </a:p>
          <a:p xmlns:a="http://schemas.openxmlformats.org/drawingml/2006/main">
            <a:r>
              <a:t>http://www.special.kremlin.ru/events/president/transcripts/72084</a:t>
            </a:r>
          </a:p>
          <a:p xmlns:a="http://schemas.openxmlformats.org/drawingml/2006/main">
            <a:r>
              <a:t>http://www.special.kremlin.ru/events/president/transcripts/80172</a:t>
            </a:r>
          </a:p>
          <a:p xmlns:a="http://schemas.openxmlformats.org/drawingml/2006/main">
            <a:r>
              <a:t>https://www.diva-portal.org/smash/get/diva2:2035197/FULLTEXT01.pdf</a:t>
            </a:r>
          </a:p>
          <a:p xmlns:a="http://schemas.openxmlformats.org/drawingml/2006/main">
            <a:r>
              <a:t>https://www.reuters.com/world/what-know-about-russias-upcoming-parliamentary-election-2026-09-15/</a:t>
            </a:r>
          </a:p>
          <a:p xmlns:a="http://schemas.openxmlformats.org/drawingml/2006/main">
            <a:r>
              <a:t>https://www.reuters.com/world/europe/how-putin-may-leverage-predictable-outcome-russias-elections-2026-09-18/</a:t>
            </a:r>
          </a:p>
          <a:p xmlns:a="http://schemas.openxmlformats.org/drawingml/2006/main">
            <a:r>
              <a:t>https://ru.wikipedia.org/wiki/Медведев,_Дмитрий_Анатольевич</a:t>
            </a:r>
          </a:p>
          <a:p xmlns:a="http://schemas.openxmlformats.org/drawingml/2006/main">
            <a:r>
              <a:t>https://tass.ru/ekonomika/3941450</a:t>
            </a:r>
          </a:p>
          <a:p xmlns:a="http://schemas.openxmlformats.org/drawingml/2006/main">
            <a:r>
              <a:t>http://archive.government.ru/docs/21653/print/</a:t>
            </a:r>
          </a:p>
          <a:p xmlns:a="http://schemas.openxmlformats.org/drawingml/2006/main">
            <a:r>
              <a:t>https://netfreedom.org.ua/ru/dmytro-anatoliiovych-medvediev-biohrafiia-posady-i-sanktsii/</a:t>
            </a:r>
          </a:p>
          <a:p xmlns:a="http://schemas.openxmlformats.org/drawingml/2006/main">
            <a:r>
              <a:t>https://verstka.media/czeli-svo-kak-kreml-menyal-ih-na-protyazhenii-tryoh-let-vojny</a:t>
            </a:r>
          </a:p>
          <a:p xmlns:a="http://schemas.openxmlformats.org/drawingml/2006/main">
            <a:r>
              <a:t>http://www.scrf.gov.ru/news/allnews/3820/</a:t>
            </a:r>
          </a:p>
          <a:p xmlns:a="http://schemas.openxmlformats.org/drawingml/2006/main">
            <a:r>
              <a:t>http://scrf.gov.ru/news/allnews/3837/</a:t>
            </a:r>
          </a:p>
          <a:p xmlns:a="http://schemas.openxmlformats.org/drawingml/2006/main">
            <a:r>
              <a:t>https://baike.baidu.com/ru/item/%D0%94%D0%BC%D0%B8%D1%82%D1%80%D0%B8%D0%B9%20%D0%90%D0%BD%D0%B0%D1%82%D0%BE%D0%BB%D1%8C%D0%B5%D0%B2%D0%B8%D1%87%20%D0%9C%D0%B5%D0%B4%D0%B2%D0%B5%D0%B4%D0%B5%D0%B2/3254451</a:t>
            </a:r>
          </a:p>
          <a:p xmlns:a="http://schemas.openxmlformats.org/drawingml/2006/main">
            <a:r>
              <a:t>https://tass.ru/politika/5889577</a:t>
            </a:r>
          </a:p>
          <a:p xmlns:a="http://schemas.openxmlformats.org/drawingml/2006/main">
            <a:r>
              <a:t>https://meduza.io/feature/2023/06/26/chto-proizoshlo-s-dmitriem-medvedevym</a:t>
            </a:r>
          </a:p>
          <a:p xmlns:a="http://schemas.openxmlformats.org/drawingml/2006/main">
            <a:r>
              <a:t>https://www.bbc.com/russian/articles/c6evw7d22lv0o</a:t>
            </a:r>
          </a:p>
          <a:p xmlns:a="http://schemas.openxmlformats.org/drawingml/2006/main">
            <a:r>
              <a:t>https://er.ru/activity/news/dmitrij-medvedev-edinaya-rossiya-ne-dopustit-razrusheniya-cennostnyh-osnov-strany</a:t>
            </a:r>
          </a:p>
          <a:p xmlns:a="http://schemas.openxmlformats.org/drawingml/2006/main">
            <a:r>
              <a:t>https://en.wikipedia.org/wiki/Media_freedom_in_Russia</a:t>
            </a:r>
          </a:p>
          <a:p xmlns:a="http://schemas.openxmlformats.org/drawingml/2006/main">
            <a:r>
              <a:t>https://government.ru/gov/persons/151/travel/?area=KHA</a:t>
            </a:r>
          </a:p>
          <a:p xmlns:a="http://schemas.openxmlformats.org/drawingml/2006/main">
            <a:r>
              <a:t>http://government.ru/gov/persons/151/biography/</a:t>
            </a:r>
          </a:p>
          <a:p xmlns:a="http://schemas.openxmlformats.org/drawingml/2006/main">
            <a:r>
              <a:t>https://www.reuters.com/world/europe/who-is-russias-mikhail-mishustin-2024-05-10/</a:t>
            </a:r>
          </a:p>
          <a:p xmlns:a="http://schemas.openxmlformats.org/drawingml/2006/main">
            <a:r>
              <a:t>https://www.kommersant.ru/doc/4220798</a:t>
            </a:r>
          </a:p>
          <a:p xmlns:a="http://schemas.openxmlformats.org/drawingml/2006/main">
            <a:r>
              <a:t>https://www.vedomosti.ru/politics/galleries/2026/03/03/1179718-nalogi-pod-kontrolem</a:t>
            </a:r>
          </a:p>
          <a:p xmlns:a="http://schemas.openxmlformats.org/drawingml/2006/main">
            <a:r>
              <a:t>http://government.ru/gov/persons/151/travel/?page=5</a:t>
            </a:r>
          </a:p>
          <a:p xmlns:a="http://schemas.openxmlformats.org/drawingml/2006/main">
            <a:r>
              <a:t>http://government.ru/news/46476/</a:t>
            </a:r>
          </a:p>
          <a:p xmlns:a="http://schemas.openxmlformats.org/drawingml/2006/main">
            <a:r>
              <a:t>http://government.ru/news/52063/</a:t>
            </a:r>
          </a:p>
          <a:p xmlns:a="http://schemas.openxmlformats.org/drawingml/2006/main">
            <a:r>
              <a:t>http://government.ru/news/52851/</a:t>
            </a:r>
          </a:p>
          <a:p xmlns:a="http://schemas.openxmlformats.org/drawingml/2006/main">
            <a:r>
              <a:t>https://nangs.org/news/society/kabmin-privlek-otdelnye-gosorgany-k-ukrepleniyu-traditsionnykh-tsennostej</a:t>
            </a:r>
          </a:p>
          <a:p xmlns:a="http://schemas.openxmlformats.org/drawingml/2006/main">
            <a:r>
              <a:t>http://government.ru/news/57315/</a:t>
            </a:r>
          </a:p>
          <a:p xmlns:a="http://schemas.openxmlformats.org/drawingml/2006/main">
            <a:r>
              <a:t>https://www.rbc.ru/person/617bf30d9a7947f92ee2d266</a:t>
            </a:r>
          </a:p>
          <a:p xmlns:a="http://schemas.openxmlformats.org/drawingml/2006/main">
            <a:r>
              <a:t>https://mid.ru/ru/press_service/video/view/1848395/</a:t>
            </a:r>
          </a:p>
          <a:p xmlns:a="http://schemas.openxmlformats.org/drawingml/2006/main">
            <a:r>
              <a:t>https://mid.ru/ru/foreign_policy/international_organizations/1932076/</a:t>
            </a:r>
          </a:p>
          <a:p xmlns:a="http://schemas.openxmlformats.org/drawingml/2006/main">
            <a:r>
              <a:t>https://mid.ru/ru/press_service/minister_speeches/1991476/</a:t>
            </a:r>
          </a:p>
          <a:p xmlns:a="http://schemas.openxmlformats.org/drawingml/2006/main">
            <a:r>
              <a:t>https://www.mid.ru/ru/press_service/vizity-ministra/1922112/</a:t>
            </a:r>
          </a:p>
          <a:p xmlns:a="http://schemas.openxmlformats.org/drawingml/2006/main">
            <a:r>
              <a:t>https://www.mid.ru/ru/foreign_policy/news/1927568/</a:t>
            </a:r>
          </a:p>
          <a:p xmlns:a="http://schemas.openxmlformats.org/drawingml/2006/main">
            <a:r>
              <a:t>https://mid.ru/ru/foreign_policy/news/1912973/</a:t>
            </a:r>
          </a:p>
          <a:p xmlns:a="http://schemas.openxmlformats.org/drawingml/2006/main">
            <a:r>
              <a:t>https://www.reuters.com/world/europe/russias-lavrov-says-moscow-committed-us-proposals-peace-rejects-europes-2026-06-15/</a:t>
            </a:r>
          </a:p>
          <a:p xmlns:a="http://schemas.openxmlformats.org/drawingml/2006/main">
            <a:r>
              <a:t>https://www.reuters.com/world/lavrov-says-russia-is-ready-resume-talks-with-ukraine-point-where-they-left-off-2026-06-23/</a:t>
            </a:r>
          </a:p>
          <a:p xmlns:a="http://schemas.openxmlformats.org/drawingml/2006/main">
            <a:r>
              <a:t>https://mid.ru/ru/press_service/video/view/1799184/</a:t>
            </a:r>
          </a:p>
          <a:p xmlns:a="http://schemas.openxmlformats.org/drawingml/2006/main">
            <a:r>
              <a:t>https://en.wikipedia.org/wiki/Sergey_Lavrov</a:t>
            </a:r>
          </a:p>
          <a:p xmlns:a="http://schemas.openxmlformats.org/drawingml/2006/main">
            <a:r>
              <a:t>https://www.garant.ru/products/ipo/prime/doc/70627660/</a:t>
            </a:r>
          </a:p>
          <a:p xmlns:a="http://schemas.openxmlformats.org/drawingml/2006/main">
            <a:r>
              <a:t>https://www.rbc.ru/person/617fc0679a794761d6170b80</a:t>
            </a:r>
          </a:p>
          <a:p xmlns:a="http://schemas.openxmlformats.org/drawingml/2006/main">
            <a:r>
              <a:t>http://www.kremlin.ru/acts/bank/50544</a:t>
            </a:r>
          </a:p>
          <a:p xmlns:a="http://schemas.openxmlformats.org/drawingml/2006/main">
            <a:r>
              <a:t>http://special.kremlin.ru/events/president/news/74019</a:t>
            </a:r>
          </a:p>
          <a:p xmlns:a="http://schemas.openxmlformats.org/drawingml/2006/main">
            <a:r>
              <a:t>https://www.interfax.ru/russia/960081</a:t>
            </a:r>
          </a:p>
          <a:p xmlns:a="http://schemas.openxmlformats.org/drawingml/2006/main">
            <a:r>
              <a:t>https://www.rbc.ru/politics/21/09/2022/632ab17c9a794781413c8582</a:t>
            </a:r>
          </a:p>
          <a:p xmlns:a="http://schemas.openxmlformats.org/drawingml/2006/main">
            <a:r>
              <a:t>https://www.bbc.com/russian/articles/c72p0jq04gjo</a:t>
            </a:r>
          </a:p>
          <a:p xmlns:a="http://schemas.openxmlformats.org/drawingml/2006/main">
            <a:r>
              <a:t>https://meduza.io/feature/2024/05/12/putin-uvolil-shoygu-s-posta-ministra-oborony-i-perevel-v-sovbez</a:t>
            </a:r>
          </a:p>
          <a:p xmlns:a="http://schemas.openxmlformats.org/drawingml/2006/main">
            <a:r>
              <a:t>https://paodkb.org/events/sergey-shoygu-naznachen-sekretarem-soveta-bezopasnosti-rf</a:t>
            </a:r>
          </a:p>
          <a:p xmlns:a="http://schemas.openxmlformats.org/drawingml/2006/main">
            <a:r>
              <a:t>https://base.garant.ru/409005084/</a:t>
            </a:r>
          </a:p>
          <a:p xmlns:a="http://schemas.openxmlformats.org/drawingml/2006/main">
            <a:r>
              <a:t>http://special.kremlin.ru/supplement/6345</a:t>
            </a:r>
          </a:p>
          <a:p xmlns:a="http://schemas.openxmlformats.org/drawingml/2006/main">
            <a:r>
              <a:t>http://en.kremlin.ru/supplement/6345</a:t>
            </a:r>
          </a:p>
          <a:p xmlns:a="http://schemas.openxmlformats.org/drawingml/2006/main">
            <a:r>
              <a:t>https://www.kp.ru/daily/27656.5/5040576/</a:t>
            </a:r>
          </a:p>
          <a:p xmlns:a="http://schemas.openxmlformats.org/drawingml/2006/main">
            <a:r>
              <a:t>https://www.fontanka.ru/2025/06/10/75574928/</a:t>
            </a:r>
          </a:p>
          <a:p xmlns:a="http://schemas.openxmlformats.org/drawingml/2006/main">
            <a:r>
              <a:t>https://tass.ru/politika/25506737</a:t>
            </a:r>
          </a:p>
          <a:p xmlns:a="http://schemas.openxmlformats.org/drawingml/2006/main">
            <a:r>
              <a:t>https://www.rbc.ru/person/6181419c9a7947df128a22f7</a:t>
            </a:r>
          </a:p>
          <a:p xmlns:a="http://schemas.openxmlformats.org/drawingml/2006/main">
            <a:r>
              <a:t>https://www.rbc.ru/economics/31/05/2021/60b3de5d9a7947f2883f7aa0</a:t>
            </a:r>
          </a:p>
          <a:p xmlns:a="http://schemas.openxmlformats.org/drawingml/2006/main">
            <a:r>
              <a:t>https://www.rbc.ru/politics/13/05/2024/6641109a9a7947ab8eebcf7f</a:t>
            </a:r>
          </a:p>
          <a:p xmlns:a="http://schemas.openxmlformats.org/drawingml/2006/main">
            <a:r>
              <a:t>https://www.rbc.ru/business/13/06/2023/6482d3389a79473805ee8978</a:t>
            </a:r>
          </a:p>
          <a:p xmlns:a="http://schemas.openxmlformats.org/drawingml/2006/main">
            <a:r>
              <a:t>https://thebell.io/kuda-vedet-ekonomiku-andrej-belousov-zagadki-dmitriya-medvedeva-i-sposoby-perezhit-sanktsii</a:t>
            </a:r>
          </a:p>
          <a:p xmlns:a="http://schemas.openxmlformats.org/drawingml/2006/main">
            <a:r>
              <a:t>https://72.ru/text/politics/2024/05/14/73575386/</a:t>
            </a:r>
          </a:p>
          <a:p xmlns:a="http://schemas.openxmlformats.org/drawingml/2006/main">
            <a:r>
              <a:t>https://tass.ru/armiya-i-opk/22683223</a:t>
            </a:r>
          </a:p>
          <a:p xmlns:a="http://schemas.openxmlformats.org/drawingml/2006/main">
            <a:r>
              <a:t>https://www.rbc.ru/society/12/12/2017/5a2f9b5a9a79473649fe0042</a:t>
            </a:r>
          </a:p>
          <a:p xmlns:a="http://schemas.openxmlformats.org/drawingml/2006/main">
            <a:r>
              <a:t>https://www.istorex.org/post/russia-december-2024-february-2025</a:t>
            </a:r>
          </a:p>
          <a:p xmlns:a="http://schemas.openxmlformats.org/drawingml/2006/main">
            <a:r>
              <a:t>https://rosinform.ru/news/andrej-belousov-osoboe-znachenie-pridayom-obespecheniyu-voennoj-bezopasnosti-soyuznogo-gosudarstva</a:t>
            </a:r>
          </a:p>
          <a:p xmlns:a="http://schemas.openxmlformats.org/drawingml/2006/main">
            <a:r>
              <a:t>https://xn--b1apnk.xn--p1ai/tpost/nsk7vo4xh1-vstrecha-s-ministrom-oboroni-rossii-i-os</a:t>
            </a:r>
          </a:p>
          <a:p xmlns:a="http://schemas.openxmlformats.org/drawingml/2006/main">
            <a:r>
              <a:t>https://www.rbc.ru/person/62d120d89a79475f0ddd8b5e</a:t>
            </a:r>
          </a:p>
          <a:p xmlns:a="http://schemas.openxmlformats.org/drawingml/2006/main">
            <a:r>
              <a:t>http://scrf.gov.ru/news/allnews/2148/</a:t>
            </a:r>
          </a:p>
          <a:p xmlns:a="http://schemas.openxmlformats.org/drawingml/2006/main">
            <a:r>
              <a:t>https://www.rbc.ru/politics/14/05/2024/6643287b9a7947a8f0b8ba78</a:t>
            </a:r>
          </a:p>
          <a:p xmlns:a="http://schemas.openxmlformats.org/drawingml/2006/main">
            <a:r>
              <a:t>https://tass.ru/info/20789699</a:t>
            </a:r>
          </a:p>
          <a:p xmlns:a="http://schemas.openxmlformats.org/drawingml/2006/main">
            <a:r>
              <a:t>https://marine.org.ru/structure/person/56/</a:t>
            </a:r>
          </a:p>
          <a:p xmlns:a="http://schemas.openxmlformats.org/drawingml/2006/main">
            <a:r>
              <a:t>https://marine.org.ru/publication/smi/16108/</a:t>
            </a:r>
          </a:p>
          <a:p xmlns:a="http://schemas.openxmlformats.org/drawingml/2006/main">
            <a:r>
              <a:t>https://www.svoboda.org/a/30676123.html</a:t>
            </a:r>
          </a:p>
          <a:p xmlns:a="http://schemas.openxmlformats.org/drawingml/2006/main">
            <a:r>
              <a:t>https://aif.ru/society/safety/kuklovodstvo_k_deystviyu_nikolay_patrushev_o_metodah_cvetnyh_revolyuciy</a:t>
            </a:r>
          </a:p>
          <a:p xmlns:a="http://schemas.openxmlformats.org/drawingml/2006/main">
            <a:r>
              <a:t>https://vkrizis.info/vlast/czennosti-razmyvaniya/</a:t>
            </a:r>
          </a:p>
          <a:p xmlns:a="http://schemas.openxmlformats.org/drawingml/2006/main">
            <a:r>
              <a:t>https://infranomica.ru/2026/05/19/selskoe-hozyajstvo-est-rezultat-budet-i-pishha/</a:t>
            </a:r>
          </a:p>
          <a:p xmlns:a="http://schemas.openxmlformats.org/drawingml/2006/main">
            <a:r>
              <a:t>https://www.rbc.ru/person/660400989a79471b36dbb514</a:t>
            </a:r>
          </a:p>
          <a:p xmlns:a="http://schemas.openxmlformats.org/drawingml/2006/main">
            <a:r>
              <a:t>http://special.kremlin.ru/catalog/persons/100/events</a:t>
            </a:r>
          </a:p>
          <a:p xmlns:a="http://schemas.openxmlformats.org/drawingml/2006/main">
            <a:r>
              <a:t>https://nac.gov.ru/view/eb008ff4-1608-4b47-b2a9-3d604c1833c2</a:t>
            </a:r>
          </a:p>
          <a:p xmlns:a="http://schemas.openxmlformats.org/drawingml/2006/main">
            <a:r>
              <a:t>http://pfo.gov.ru/press/events/113336/</a:t>
            </a:r>
          </a:p>
          <a:p xmlns:a="http://schemas.openxmlformats.org/drawingml/2006/main">
            <a:r>
              <a:t>https://www.opensanctions.org/entities/Q516824/</a:t>
            </a:r>
          </a:p>
          <a:p xmlns:a="http://schemas.openxmlformats.org/drawingml/2006/main">
            <a:r>
              <a:t>https://www.agents.media/ssha-poprobuyut-vozobnovit-peregovory-o-mire-v-ukraine-cherez-glavu-fsb-che-vedomstvo-kak-schitaetsya-svoimi-dokladami-podtolknulo-putina-k-vojne/</a:t>
            </a:r>
          </a:p>
          <a:p xmlns:a="http://schemas.openxmlformats.org/drawingml/2006/main">
            <a:r>
              <a:t>https://letters.kremlin.ru/news/receptions/by-section/assignments/by-person/260</a:t>
            </a:r>
          </a:p>
          <a:p xmlns:a="http://schemas.openxmlformats.org/drawingml/2006/main">
            <a:r>
              <a:t>https://www.kommersant.ru/doc/3612580</a:t>
            </a:r>
          </a:p>
          <a:p xmlns:a="http://schemas.openxmlformats.org/drawingml/2006/main">
            <a:r>
              <a:t>https://fbk.info/ru/investigations/kirienko-kholyi-putina</a:t>
            </a:r>
          </a:p>
          <a:p xmlns:a="http://schemas.openxmlformats.org/drawingml/2006/main">
            <a:r>
              <a:t>https://utro02.tv/2022/05/24/kolebaniya-kirienok/</a:t>
            </a:r>
          </a:p>
          <a:p xmlns:a="http://schemas.openxmlformats.org/drawingml/2006/main">
            <a:r>
              <a:t>https://meduza.io/feature/2023/12/19/on-peresidel-v-svoem-kresle-v-kremle-i-pravitelstve-obsuzhdayut-chto-sergey-kirienko-mozhet-lishitsya-dolzhnosti-v-ap-posle-vyborov-prezidenta</a:t>
            </a:r>
          </a:p>
          <a:p xmlns:a="http://schemas.openxmlformats.org/drawingml/2006/main">
            <a:r>
              <a:t>https://verstka.media/kak-rossiya-prodvigaet-svoyu-molodezhnuyu-politiku-na-okkupirovannyh-territoriyah</a:t>
            </a:r>
          </a:p>
          <a:p xmlns:a="http://schemas.openxmlformats.org/drawingml/2006/main">
            <a:r>
              <a:t>https://dnrnews.ru/society/2025/09/04/1167117.html</a:t>
            </a:r>
          </a:p>
          <a:p xmlns:a="http://schemas.openxmlformats.org/drawingml/2006/main">
            <a:r>
              <a:t>https://www.tadviser.ru/index.php/%D0%9F%D0%B5%D1%80%D1%81%D0%BE%D0%BD%D0%B0:%D0%9A%D0%B8%D1%80%D0%B8%D0%B5%D0%BD%D0%BA%D0%BE_%D0%A1%D0%B5%D1%80%D0%B3%D0%B5%D0%B9_%D0%92%D0%BB%D0%B0%D0%B4%D0%B8%D0%BB%D0%B5%D0%BD%D0%BE%D0%B2%D0%B8%D1%87</a:t>
            </a:r>
          </a:p>
          <a:p xmlns:a="http://schemas.openxmlformats.org/drawingml/2006/main">
            <a:r>
              <a:t>https://tass.ru/politika/18225741</a:t>
            </a:r>
          </a:p>
          <a:p xmlns:a="http://schemas.openxmlformats.org/drawingml/2006/main">
            <a:r>
              <a:t>https://www.kommersant.ru/doc/6187168</a:t>
            </a:r>
          </a:p>
          <a:p xmlns:a="http://schemas.openxmlformats.org/drawingml/2006/main">
            <a:r>
              <a:t>https://duma.gov.ru/news/63383/</a:t>
            </a:r>
          </a:p>
          <a:p xmlns:a="http://schemas.openxmlformats.org/drawingml/2006/main">
            <a:r>
              <a:t>http://duma.gov.ru/en/duma/persons/99100829/news/</a:t>
            </a:r>
          </a:p>
          <a:p xmlns:a="http://schemas.openxmlformats.org/drawingml/2006/main">
            <a:r>
              <a:t>http://duma.gov.ru/en/news/62248/</a:t>
            </a:r>
          </a:p>
          <a:p xmlns:a="http://schemas.openxmlformats.org/drawingml/2006/main">
            <a:r>
              <a:t>http://duma.gov.ru/en/news/61352/</a:t>
            </a:r>
          </a:p>
          <a:p xmlns:a="http://schemas.openxmlformats.org/drawingml/2006/main">
            <a:r>
              <a:t>http://duma.gov.ru/en/news/64178/</a:t>
            </a:r>
          </a:p>
          <a:p xmlns:a="http://schemas.openxmlformats.org/drawingml/2006/main">
            <a:r>
              <a:t>http://duma.gov.ru/en/news/64216</a:t>
            </a:r>
          </a:p>
          <a:p xmlns:a="http://schemas.openxmlformats.org/drawingml/2006/main">
            <a:r>
              <a:t>http://duma.gov.ru/en/news/64239</a:t>
            </a:r>
          </a:p>
          <a:p xmlns:a="http://schemas.openxmlformats.org/drawingml/2006/main">
            <a:r>
              <a:t>https://en.wikipedia.org/wiki/Vyacheslav_Volodin</a:t>
            </a:r>
          </a:p>
          <a:p xmlns:a="http://schemas.openxmlformats.org/drawingml/2006/main">
            <a:r>
              <a:t>http://duma.gov.ru/news/56060/</a:t>
            </a:r>
          </a:p>
          <a:p xmlns:a="http://schemas.openxmlformats.org/drawingml/2006/main">
            <a:r>
              <a:t>http://duma.gov.ru/news/60448/</a:t>
            </a:r>
          </a:p>
          <a:p xmlns:a="http://schemas.openxmlformats.org/drawingml/2006/main">
            <a:r>
              <a:t>http://duma.gov.ru/news/61362/</a:t>
            </a:r>
          </a:p>
          <a:p xmlns:a="http://schemas.openxmlformats.org/drawingml/2006/main">
            <a:r>
              <a:t>http://duma.gov.ru/news/61384/</a:t>
            </a:r>
          </a:p>
          <a:p xmlns:a="http://schemas.openxmlformats.org/drawingml/2006/main">
            <a:r>
              <a:t>http://duma.gov.ru/news/61874/</a:t>
            </a:r>
          </a:p>
          <a:p xmlns:a="http://schemas.openxmlformats.org/drawingml/2006/main">
            <a:r>
              <a:t>http://duma.gov.ru/news/62022/</a:t>
            </a:r>
          </a:p>
          <a:p xmlns:a="http://schemas.openxmlformats.org/drawingml/2006/main">
            <a:r>
              <a:t>http://duma.gov.ru/news/63772/</a:t>
            </a:r>
          </a:p>
          <a:p xmlns:a="http://schemas.openxmlformats.org/drawingml/2006/main">
            <a:r>
              <a:t>https://council.gov.ru/events/news/160466/</a:t>
            </a:r>
          </a:p>
          <a:p xmlns:a="http://schemas.openxmlformats.org/drawingml/2006/main">
            <a:r>
              <a:t>http://council.gov.ru/structure/persons/257/</a:t>
            </a:r>
          </a:p>
          <a:p xmlns:a="http://schemas.openxmlformats.org/drawingml/2006/main">
            <a:r>
              <a:t>https://interaffairs.ru/news/show/16199</a:t>
            </a:r>
          </a:p>
          <a:p xmlns:a="http://schemas.openxmlformats.org/drawingml/2006/main">
            <a:r>
              <a:t>https://www.rbc.ru/person/617fb5ef9a79475c6cfc4502</a:t>
            </a:r>
          </a:p>
          <a:p xmlns:a="http://schemas.openxmlformats.org/drawingml/2006/main">
            <a:r>
              <a:t>https://vksrs.com/publications/matvienko-rasskazala-o-neobkhodimosti-protivostoyat-geroizatsii-natsistov/</a:t>
            </a:r>
          </a:p>
          <a:p xmlns:a="http://schemas.openxmlformats.org/drawingml/2006/main">
            <a:r>
              <a:t>https://absatz.media/politika/158438-valentine-matvienko-77-istoriya-uspeha-put-k-vershine-i-samye-yarkie-zayavleniya</a:t>
            </a:r>
          </a:p>
          <a:p xmlns:a="http://schemas.openxmlformats.org/drawingml/2006/main">
            <a:r>
              <a:t>https://www.rbc.ru/society/14/10/2026/6acf597c9a794743e0478a15?from=short_news</a:t>
            </a:r>
          </a:p>
          <a:p xmlns:a="http://schemas.openxmlformats.org/drawingml/2006/main">
            <a:r>
              <a:t>https://senatinform.ru/news/sf_stremitsya_byt_maksimalno_otkrytym_dlya_raboty_zhurnalistov_matvienko/</a:t>
            </a:r>
          </a:p>
          <a:p xmlns:a="http://schemas.openxmlformats.org/drawingml/2006/main">
            <a:r>
              <a:t>https://eparlament.irzs.ru/Files/getFile/11853</a:t>
            </a:r>
          </a:p>
          <a:p xmlns:a="http://schemas.openxmlformats.org/drawingml/2006/main">
            <a:r>
              <a:t>http://special.council.gov.ru/activity/meetings/170703/transcript/</a:t>
            </a:r>
          </a:p>
          <a:p xmlns:a="http://schemas.openxmlformats.org/drawingml/2006/main">
            <a:r>
              <a:t>https://bookonlime.ru/lecture/12-razvitie-ekonomicheskih-otnosheniy-i-strategicheskoe-planirovanie-v-cifrovoy-ekonomike-2</a:t>
            </a:r>
          </a:p>
          <a:p xmlns:a="http://schemas.openxmlformats.org/drawingml/2006/main">
            <a:r>
              <a:t>https://ru.wikipedia.org/wiki/Песков,_Дмитрий_Сергеевич</a:t>
            </a:r>
          </a:p>
          <a:p xmlns:a="http://schemas.openxmlformats.org/drawingml/2006/main">
            <a:r>
              <a:t>https://www.reuters.com/world/europe/kremlin-says-ukraine-is-now-paying-price-its-own-attacks-russia-2026-09-28/</a:t>
            </a:r>
          </a:p>
          <a:p xmlns:a="http://schemas.openxmlformats.org/drawingml/2006/main">
            <a:r>
              <a:t>https://www.reuters.com/world/europe/kremlin-rejects-le-penbardella-rebuke-says-russia-is-no-threat-france-2026-09-21/</a:t>
            </a:r>
          </a:p>
          <a:p xmlns:a="http://schemas.openxmlformats.org/drawingml/2006/main">
            <a:r>
              <a:t>https://theins.ru/antifake/295208</a:t>
            </a:r>
          </a:p>
          <a:p xmlns:a="http://schemas.openxmlformats.org/drawingml/2006/main">
            <a:r>
              <a:t>https://expert.ru/news/v-kremle-otvetili-na-slova-donalda-trampa-o-rossiyskom-vmeshatelstve</a:t>
            </a:r>
          </a:p>
          <a:p xmlns:a="http://schemas.openxmlformats.org/drawingml/2006/main">
            <a:r>
              <a:t>https://www.dw.com/ru/dmitrij-peskov/t-18146676/page-1</a:t>
            </a:r>
          </a:p>
          <a:p xmlns:a="http://schemas.openxmlformats.org/drawingml/2006/main">
            <a:r>
              <a:t>https://www.pnp.ru/person/dmitriy--peskov/</a:t>
            </a:r>
          </a:p>
          <a:p xmlns:a="http://schemas.openxmlformats.org/drawingml/2006/main">
            <a:r>
              <a:t>https://www.rbc.ua/ukr/dossier/peskov-19032015</a:t>
            </a:r>
          </a:p>
          <a:p xmlns:a="http://schemas.openxmlformats.org/drawingml/2006/main">
            <a:r>
              <a:t>https://www.rbc.ru/politics/12/10/2026/6accae3bb18f4460834ce063</a:t>
            </a:r>
          </a:p>
          <a:p xmlns:a="http://schemas.openxmlformats.org/drawingml/2006/main">
            <a:r>
              <a:t>https://tass.ru/politika/20355193</a:t>
            </a:r>
          </a:p>
          <a:p xmlns:a="http://schemas.openxmlformats.org/drawingml/2006/main">
            <a:r>
              <a:t>https://www.m24.ru/news/06052024/689412</a:t>
            </a:r>
          </a:p>
          <a:p xmlns:a="http://schemas.openxmlformats.org/drawingml/2006/main">
            <a:r>
              <a:t>http://www.kremlin.ru/acts/bank/48502</a:t>
            </a:r>
          </a:p>
          <a:p xmlns:a="http://schemas.openxmlformats.org/drawingml/2006/main">
            <a:r>
              <a:t>https://www.m24.ru/news/11022025/769070</a:t>
            </a:r>
          </a:p>
          <a:p xmlns:a="http://schemas.openxmlformats.org/drawingml/2006/main">
            <a:r>
              <a:t>https://www.m24.ru/news/23042026/894202</a:t>
            </a:r>
          </a:p>
          <a:p xmlns:a="http://schemas.openxmlformats.org/drawingml/2006/main">
            <a:r>
              <a:t>https://cbr.ru/about_br/nabiullinaes/</a:t>
            </a:r>
          </a:p>
          <a:p xmlns:a="http://schemas.openxmlformats.org/drawingml/2006/main">
            <a:r>
              <a:t>https://cbr.ru/press/event/?id=12840</a:t>
            </a:r>
          </a:p>
          <a:p xmlns:a="http://schemas.openxmlformats.org/drawingml/2006/main">
            <a:r>
              <a:t>https://www.cbr.ru/press/event/?id=12904</a:t>
            </a:r>
          </a:p>
          <a:p xmlns:a="http://schemas.openxmlformats.org/drawingml/2006/main">
            <a:r>
              <a:t>https://cbr.ru/press/event/?id=14033</a:t>
            </a:r>
          </a:p>
          <a:p xmlns:a="http://schemas.openxmlformats.org/drawingml/2006/main">
            <a:r>
              <a:t>https://www.cbr.ru/press/event/?id=12764</a:t>
            </a:r>
          </a:p>
          <a:p xmlns:a="http://schemas.openxmlformats.org/drawingml/2006/main">
            <a:r>
              <a:t>https://kazanfirst.ru/articles/534335</a:t>
            </a:r>
          </a:p>
          <a:p xmlns:a="http://schemas.openxmlformats.org/drawingml/2006/main">
            <a:r>
              <a:t>https://www.rbc.ru/person/65e831449a79476cbfd8e5fd</a:t>
            </a:r>
          </a:p>
          <a:p xmlns:a="http://schemas.openxmlformats.org/drawingml/2006/main">
            <a:r>
              <a:t>https://www.interfax.ru/russia/955290</a:t>
            </a:r>
          </a:p>
          <a:p xmlns:a="http://schemas.openxmlformats.org/drawingml/2006/main">
            <a:r>
              <a:t>https://minfin.gov.ru/ru/press-center/?id_4=38548-intervyu_ministra_finansov_antona_siluanova_gazete_argumenty_i_fakty</a:t>
            </a:r>
          </a:p>
          <a:p xmlns:a="http://schemas.openxmlformats.org/drawingml/2006/main">
            <a:r>
              <a:t>https://minfin.gov.ru/ru/press-center/?id_4=37667-vystuplenie_antona_siluanova_na_plenarnom_zasedanii_v_gosudarstvennoi_dume</a:t>
            </a:r>
          </a:p>
          <a:p xmlns:a="http://schemas.openxmlformats.org/drawingml/2006/main">
            <a:r>
              <a:t>https://www.rbc.ru/economics/24/10/2022/63529d159a7947efb82a59eb</a:t>
            </a:r>
          </a:p>
          <a:p xmlns:a="http://schemas.openxmlformats.org/drawingml/2006/main">
            <a:r>
              <a:t>https://www.rbc.ru/newspaper/2020/02/21/5e4e83289a79474bcf9f8cf9</a:t>
            </a:r>
          </a:p>
          <a:p xmlns:a="http://schemas.openxmlformats.org/drawingml/2006/main">
            <a:r>
              <a:t>https://www.rbc.ru/economics/20/02/2020/5e4e91919a79475559478893</a:t>
            </a:r>
          </a:p>
          <a:p xmlns:a="http://schemas.openxmlformats.org/drawingml/2006/main">
            <a:r>
              <a:t>https://minfin.gov.ru/ru/press-center/?id_4=39336-anton_siluanov_predstavil_na_parlamentskikh_slushaniyakh_v_sovete_federatsii_proekt_byudzheta_na_2025-2027_gg.</a:t>
            </a:r>
          </a:p>
          <a:p xmlns:a="http://schemas.openxmlformats.org/drawingml/2006/main">
            <a:r>
              <a:t>https://www.interfax.ru/amp/1035506</a:t>
            </a:r>
          </a:p>
          <a:p xmlns:a="http://schemas.openxmlformats.org/drawingml/2006/main">
            <a:r>
              <a:t>https://tass.ru/ekonomika/28198121</a:t>
            </a:r>
          </a:p>
          <a:p xmlns:a="http://schemas.openxmlformats.org/drawingml/2006/main">
            <a:r>
              <a:t>https://www.rbc.ru/person/65b9f4369a7947ec8a7f242a</a:t>
            </a:r>
          </a:p>
          <a:p xmlns:a="http://schemas.openxmlformats.org/drawingml/2006/main">
            <a:r>
              <a:t>https://www.bfm.ru/news/435050</a:t>
            </a:r>
          </a:p>
          <a:p xmlns:a="http://schemas.openxmlformats.org/drawingml/2006/main">
            <a:r>
              <a:t>https://ru.ruwiki.ru/wiki/%D0%93%D0%BE%D0%BB%D0%B8%D0%BA%D0%BE%D0%B2%D0%B0,_%D0%A2%D0%B0%D1%82%D1%8C%D1%8F%D0%BD%D0%B0_%D0%90%D0%BB%D0%B5%D0%BA%D1%81%D0%B5%D0%B5%D0%B2%D0%BD%D0%B0</a:t>
            </a:r>
          </a:p>
          <a:p xmlns:a="http://schemas.openxmlformats.org/drawingml/2006/main">
            <a:r>
              <a:t>http://www.kremlin.ru/events/president/transcripts/deliberations%20/77439</a:t>
            </a:r>
          </a:p>
          <a:p xmlns:a="http://schemas.openxmlformats.org/drawingml/2006/main">
            <a:r>
              <a:t>https://xn--90aivcdt6dxbc.xn--p1ai/articles/news/prezident-zdravookhranenie-zanimaet-klyuchevoe-mesto-v-sotsialnoy-politike-rossii/</a:t>
            </a:r>
          </a:p>
          <a:p xmlns:a="http://schemas.openxmlformats.org/drawingml/2006/main">
            <a:r>
              <a:t>https://xn--90aivcdt6dxbc.xn--p1ai/articles/news/tatyana-golikova-edinaya-rossiya-nadezhnyy-soyuznik-i-partner-pravitelstva/</a:t>
            </a:r>
          </a:p>
          <a:p xmlns:a="http://schemas.openxmlformats.org/drawingml/2006/main">
            <a:r>
              <a:t>http://government.ru/news/58648/</a:t>
            </a:r>
          </a:p>
          <a:p xmlns:a="http://schemas.openxmlformats.org/drawingml/2006/main">
            <a:r>
              <a:t>http://government.ru/news/54912/</a:t>
            </a:r>
          </a:p>
          <a:p xmlns:a="http://schemas.openxmlformats.org/drawingml/2006/main">
            <a:r>
              <a:t>http://government.ru/news/58000/</a:t>
            </a:r>
          </a:p>
          <a:p xmlns:a="http://schemas.openxmlformats.org/drawingml/2006/main">
            <a:r>
              <a:t>https://tass.ru/politika/28141547</a:t>
            </a:r>
          </a:p>
          <a:p xmlns:a="http://schemas.openxmlformats.org/drawingml/2006/main">
            <a:r>
              <a:t>https://duma.gov.ru/media/files/smUklOtuNPyzwTneQGCfFUHHIsilAqcm.pdf</a:t>
            </a:r>
          </a:p>
          <a:p xmlns:a="http://schemas.openxmlformats.org/drawingml/2006/main">
            <a:r>
              <a:t>https://kprf.ru/dep/gosduma/activities/187187.html</a:t>
            </a:r>
          </a:p>
          <a:p xmlns:a="http://schemas.openxmlformats.org/drawingml/2006/main">
            <a:r>
              <a:t>http://msk.kprf.ru/2022/08/22/222866/</a:t>
            </a:r>
          </a:p>
          <a:p xmlns:a="http://schemas.openxmlformats.org/drawingml/2006/main">
            <a:r>
              <a:t>https://kprf.ru/party-live/cknews/235903.html</a:t>
            </a:r>
          </a:p>
          <a:p xmlns:a="http://schemas.openxmlformats.org/drawingml/2006/main">
            <a:r>
              <a:t>https://kprf.ru/dep/gosduma/activities/236198.html/print</a:t>
            </a:r>
          </a:p>
          <a:p xmlns:a="http://schemas.openxmlformats.org/drawingml/2006/main">
            <a:r>
              <a:t>https://kprf.ru/dep/gosduma/activities/239812.html</a:t>
            </a:r>
          </a:p>
          <a:p xmlns:a="http://schemas.openxmlformats.org/drawingml/2006/main">
            <a:r>
              <a:t>https://kprf-don.ru/index.php/news/facts/12501-2025-09-15-12-58-35.html</a:t>
            </a:r>
          </a:p>
          <a:p xmlns:a="http://schemas.openxmlformats.org/drawingml/2006/main">
            <a:r>
              <a:t>https://kprf.ru/dep/gosduma/activities/237529.html</a:t>
            </a:r>
          </a:p>
          <a:p xmlns:a="http://schemas.openxmlformats.org/drawingml/2006/main">
            <a:r>
              <a:t>https://novayagazeta.ru/articles/2025/09/19/putin-udivilsia-khodu-zapushchennoi-im-vesnoi-munitsipalnoi-reformy-posle-slov-ziuganova-kak-regiony-dlia-nee-lomali-cherez-koleno-a-tatarstan-otkazalsia-ee-ispolniat-news</a:t>
            </a:r>
          </a:p>
          <a:p xmlns:a="http://schemas.openxmlformats.org/drawingml/2006/main">
            <a:r>
              <a:t>https://kprf.ru/official/2025/11/15/15-noiabria-2025-oda-sostoialsia-ii-noiabrskii-plenum-tsk-kprf/473.html</a:t>
            </a:r>
          </a:p>
          <a:p xmlns:a="http://schemas.openxmlformats.org/drawingml/2006/main">
            <a:r>
              <a:t>https://www.rbc.ru/person/617bfbb79a7947fc327a3bcb</a:t>
            </a:r>
          </a:p>
          <a:p xmlns:a="http://schemas.openxmlformats.org/drawingml/2006/main">
            <a:r>
              <a:t>https://www.bbc.com/russian/features-60873381</a:t>
            </a:r>
          </a:p>
          <a:p xmlns:a="http://schemas.openxmlformats.org/drawingml/2006/main">
            <a:r>
              <a:t>https://www.svoboda.org/a/umer-lider-partii-ldpr-vladimir-zhirinovskiy-nekrolog/31770134.html</a:t>
            </a:r>
          </a:p>
          <a:p xmlns:a="http://schemas.openxmlformats.org/drawingml/2006/main">
            <a:r>
              <a:t>https://www.rbc.ru/politics/06/04/2022/624d661b9a79473f7416fe26</a:t>
            </a:r>
          </a:p>
          <a:p xmlns:a="http://schemas.openxmlformats.org/drawingml/2006/main">
            <a:r>
              <a:t>https://tass.ru/politika/3392889</a:t>
            </a:r>
          </a:p>
          <a:p xmlns:a="http://schemas.openxmlformats.org/drawingml/2006/main">
            <a:r>
              <a:t>https://www.pnp.ru/politics/2016/06/28/v-centre-predvybornoy-programmy-ldpr-russkiy-vopros.html</a:t>
            </a:r>
          </a:p>
          <a:p xmlns:a="http://schemas.openxmlformats.org/drawingml/2006/main">
            <a:r>
              <a:t>https://ldpr.ru/party/history/</a:t>
            </a:r>
          </a:p>
          <a:p xmlns:a="http://schemas.openxmlformats.org/drawingml/2006/main">
            <a:r>
              <a:t>https://govoritmoskva.ru/interviews/1023/</a:t>
            </a:r>
          </a:p>
          <a:p xmlns:a="http://schemas.openxmlformats.org/drawingml/2006/main">
            <a:r>
              <a:t>https://www.gazeta.ru/politics/2017/03/17_a_10580999.shtml</a:t>
            </a:r>
          </a:p>
          <a:p xmlns:a="http://schemas.openxmlformats.org/drawingml/2006/main">
            <a:r>
              <a:t>https://ldpr.ru/upload/iblock/c88/1d6dstdexz6aw7dnwoubeobhr3mnwa1j/a799616e688866c49f2ef6b5b8cfe5c00d45080ae85ce0e5f6d36e2e010681d9.pdf</a:t>
            </a:r>
          </a:p>
          <a:p xmlns:a="http://schemas.openxmlformats.org/drawingml/2006/main">
            <a:r>
              <a:t>https://www.kommersant.ru/doc/3579566</a:t>
            </a:r>
          </a:p>
          <a:p xmlns:a="http://schemas.openxmlformats.org/drawingml/2006/main">
            <a:r>
              <a:t>https://spb.ldpr.ru/event/243915/</a:t>
            </a:r>
          </a:p>
          <a:p xmlns:a="http://schemas.openxmlformats.org/drawingml/2006/main">
            <a:r>
              <a:t>https://kursk.ldpr.ru/event/341398</a:t>
            </a:r>
          </a:p>
          <a:p xmlns:a="http://schemas.openxmlformats.org/drawingml/2006/main">
            <a:r>
              <a:t>https://cyberleninka.ru/article/n/sravnitelnyy-analiz-predvybornyh-programm-ldpr-na-vyborah-2021-g-i-l-e-slutskogo-na-vyborah-2024-g</a:t>
            </a:r>
          </a:p>
          <a:p xmlns:a="http://schemas.openxmlformats.org/drawingml/2006/main">
            <a:r>
              <a:t>https://kcr.ldpr.ru/event/347999/</a:t>
            </a:r>
          </a:p>
          <a:p xmlns:a="http://schemas.openxmlformats.org/drawingml/2006/main">
            <a:r>
              <a:t>https://msknews77.ru/society/2025/09/25/73500.html</a:t>
            </a:r>
          </a:p>
          <a:p xmlns:a="http://schemas.openxmlformats.org/drawingml/2006/main">
            <a:r>
              <a:t>https://bagaevka-press.ru/besplatnyj-zemelnyj-uchastok-dlya-semej-inicziativa-ldpr/</a:t>
            </a:r>
          </a:p>
          <a:p xmlns:a="http://schemas.openxmlformats.org/drawingml/2006/main">
            <a:r>
              <a:t>https://ldpr.ru/event/437527/</a:t>
            </a:r>
          </a:p>
          <a:p xmlns:a="http://schemas.openxmlformats.org/drawingml/2006/main">
            <a:r>
              <a:t>https://rg62.info/2025/11/01/leonid-sluczkij-vstupilsya-za-multserial-masha-i-medved/</a:t>
            </a:r>
          </a:p>
          <a:p xmlns:a="http://schemas.openxmlformats.org/drawingml/2006/main">
            <a:r>
              <a:t>https://mironov.ru/officially</a:t>
            </a:r>
          </a:p>
          <a:p xmlns:a="http://schemas.openxmlformats.org/drawingml/2006/main">
            <a:r>
              <a:t>https://mironov.ru/bio</a:t>
            </a:r>
          </a:p>
          <a:p xmlns:a="http://schemas.openxmlformats.org/drawingml/2006/main">
            <a:r>
              <a:t>https://mironov-online.ru/category/zayavleniya/</a:t>
            </a:r>
          </a:p>
          <a:p xmlns:a="http://schemas.openxmlformats.org/drawingml/2006/main">
            <a:r>
              <a:t>https://www.rbc.ru/person/69806d279a7947baf86c32c5</a:t>
            </a:r>
          </a:p>
          <a:p xmlns:a="http://schemas.openxmlformats.org/drawingml/2006/main">
            <a:r>
              <a:t>https://spravedlivo.ru/16303010</a:t>
            </a:r>
          </a:p>
          <a:p xmlns:a="http://schemas.openxmlformats.org/drawingml/2006/main">
            <a:r>
              <a:t>http://mironov.ru/15133910</a:t>
            </a:r>
          </a:p>
          <a:p xmlns:a="http://schemas.openxmlformats.org/drawingml/2006/main">
            <a:r>
              <a:t>http://www.special.spravedlivo.ru/5_140609.html</a:t>
            </a:r>
          </a:p>
          <a:p xmlns:a="http://schemas.openxmlformats.org/drawingml/2006/main">
            <a:r>
              <a:t>https://spravedlivo.ru/14681110</a:t>
            </a:r>
          </a:p>
          <a:p xmlns:a="http://schemas.openxmlformats.org/drawingml/2006/main">
            <a:r>
              <a:t>https://radiokp.ru/podcast/dialogi-na-radio-kp/759263</a:t>
            </a:r>
          </a:p>
          <a:p xmlns:a="http://schemas.openxmlformats.org/drawingml/2006/main">
            <a:r>
              <a:t>https://mironov.ru/51339910</a:t>
            </a:r>
          </a:p>
          <a:p xmlns:a="http://schemas.openxmlformats.org/drawingml/2006/main">
            <a:r>
              <a:t>https://mironov-online.ru/news/mironov-na-ukraine-idet-bitva-za-budushhee-vsego-chelovechestva-i-pobeda-v-nej-budet-za-rossiej/</a:t>
            </a:r>
          </a:p>
          <a:p xmlns:a="http://schemas.openxmlformats.org/drawingml/2006/main">
            <a:r>
              <a:t>https://spravedlivo.ru/12544510</a:t>
            </a:r>
          </a:p>
          <a:p xmlns:a="http://schemas.openxmlformats.org/drawingml/2006/main">
            <a:r>
              <a:t>https://www.rbc.ru/person/6aa3ef199a79475758621730</a:t>
            </a:r>
          </a:p>
          <a:p xmlns:a="http://schemas.openxmlformats.org/drawingml/2006/main">
            <a:r>
              <a:t>https://www.rbc.ru/politics/24/09/2021/614da73f9a7947b5e3d9399f</a:t>
            </a:r>
          </a:p>
          <a:p xmlns:a="http://schemas.openxmlformats.org/drawingml/2006/main">
            <a:r>
              <a:t>https://amp.rbc.ru/rbcnews/base/14/08/2026/6a957dfb9a79476ae3d823ba</a:t>
            </a:r>
          </a:p>
          <a:p xmlns:a="http://schemas.openxmlformats.org/drawingml/2006/main">
            <a:r>
              <a:t>https://en.wikipedia.org/wiki/Alexey_Nechayev</a:t>
            </a:r>
          </a:p>
          <a:p xmlns:a="http://schemas.openxmlformats.org/drawingml/2006/main">
            <a:r>
              <a:t>https://www.gazeta.ru/politics/23422027/novye-lyudi-na-vyborah-2026-goda.shtml</a:t>
            </a:r>
          </a:p>
          <a:p xmlns:a="http://schemas.openxmlformats.org/drawingml/2006/main">
            <a:r>
              <a:t>https://vremya-bir.ru/2026/03/07/dvenadtsat-shagov-k-strane-v-kotoroj-hochetsya-zhit/</a:t>
            </a:r>
          </a:p>
          <a:p xmlns:a="http://schemas.openxmlformats.org/drawingml/2006/main">
            <a:r>
              <a:t>https://www.rbc.ru/politics/08/09/2026/6aa023ec9a79471e4fd55d3c</a:t>
            </a:r>
          </a:p>
          <a:p xmlns:a="http://schemas.openxmlformats.org/drawingml/2006/main">
            <a:r>
              <a:t>https://www.interfax.ru/interview/1074248</a:t>
            </a:r>
          </a:p>
          <a:p xmlns:a="http://schemas.openxmlformats.org/drawingml/2006/main">
            <a:r>
              <a:t>https://www.interfax.ru/amp/1074248</a:t>
            </a:r>
          </a:p>
          <a:p xmlns:a="http://schemas.openxmlformats.org/drawingml/2006/main">
            <a:r>
              <a:t>https://www.vedomosti.ru/politics/articles/2026/09/09/1227352-novie-lyudi-sformulirovali-programmu</a:t>
            </a:r>
          </a:p>
          <a:p xmlns:a="http://schemas.openxmlformats.org/drawingml/2006/main">
            <a:r>
              <a:t>https://dddkursk.ru/lenta/2026/07/30/129483/</a:t>
            </a:r>
          </a:p>
          <a:p xmlns:a="http://schemas.openxmlformats.org/drawingml/2006/main">
            <a:r>
              <a:t>https://volga.news/article/803292.html</a:t>
            </a:r>
          </a:p>
          <a:p xmlns:a="http://schemas.openxmlformats.org/drawingml/2006/main">
            <a:r>
              <a:t>https://ru.wikipedia.org/wiki/%D0%9D%D0%B5%D1%87%D0%B0%D0%B5%D0%B2,_%D0%90%D0%BB%D0%B5%D0%BA%D1%81%D0%B5%D0%B9_%D0%93%D0%B5%D0%BD%D0%BD%D0%B0%D0%B4%D1%8C%D0%B5%D0%B2%D0%B8%D1%87</a:t>
            </a:r>
          </a:p>
          <a:p xmlns:a="http://schemas.openxmlformats.org/drawingml/2006/main">
            <a:r>
              <a:t>https://www.davankov2024.ru/page_biography/</a:t>
            </a:r>
          </a:p>
          <a:p xmlns:a="http://schemas.openxmlformats.org/drawingml/2006/main">
            <a:r>
              <a:t>https://davankov2024.ru/program</a:t>
            </a:r>
          </a:p>
          <a:p xmlns:a="http://schemas.openxmlformats.org/drawingml/2006/main">
            <a:r>
              <a:t>http://vote.duma.gov.ru/?convocation=AAAAAAA8&amp;deputy=99113489&amp;sort=date_desc</a:t>
            </a:r>
          </a:p>
          <a:p xmlns:a="http://schemas.openxmlformats.org/drawingml/2006/main">
            <a:r>
              <a:t>https://holod.media/2024/02/14/vladislav-davankov/</a:t>
            </a:r>
          </a:p>
          <a:p xmlns:a="http://schemas.openxmlformats.org/drawingml/2006/main">
            <a:r>
              <a:t>https://davankov2024.ru/</a:t>
            </a:r>
          </a:p>
          <a:p xmlns:a="http://schemas.openxmlformats.org/drawingml/2006/main">
            <a:r>
              <a:t>https://novayagazeta.eu/articles/2024/02/15/davankov-predstavil-predvybornuiu-programmu-bez-amnistii-politzakliuchennykh-i-s-namereniem-dobitsia-mira-na-nashikh-usloviiakh-news</a:t>
            </a:r>
          </a:p>
          <a:p xmlns:a="http://schemas.openxmlformats.org/drawingml/2006/main">
            <a:r>
              <a:t>https://www.kavkaz-uzel.eu/articles/398113</a:t>
            </a:r>
          </a:p>
          <a:p xmlns:a="http://schemas.openxmlformats.org/drawingml/2006/main">
            <a:r>
              <a:t>https://echofm.online/portret-dnya/portret-dnya-vladislav-davankov-kandidat-v-prezidenty-rossii</a:t>
            </a:r>
          </a:p>
          <a:p xmlns:a="http://schemas.openxmlformats.org/drawingml/2006/main">
            <a:r>
              <a:t>https://t.me/s/davankov?before=788</a:t>
            </a:r>
          </a:p>
          <a:p xmlns:a="http://schemas.openxmlformats.org/drawingml/2006/main">
            <a:r>
              <a:t>https://zaharprilepin.ru/ru/bio/</a:t>
            </a:r>
          </a:p>
          <a:p xmlns:a="http://schemas.openxmlformats.org/drawingml/2006/main">
            <a:r>
              <a:t>https://zaharprilepin.ru/ru/video/zapisi-vistuplenij/intervju/</a:t>
            </a:r>
          </a:p>
          <a:p xmlns:a="http://schemas.openxmlformats.org/drawingml/2006/main">
            <a:r>
              <a:t>https://zaharprilepin.ru/ru/pressa/intervyu/na-harkov.html</a:t>
            </a:r>
          </a:p>
          <a:p xmlns:a="http://schemas.openxmlformats.org/drawingml/2006/main">
            <a:r>
              <a:t>https://www.kommersant.ru/doc/4141912</a:t>
            </a:r>
          </a:p>
          <a:p xmlns:a="http://schemas.openxmlformats.org/drawingml/2006/main">
            <a:r>
              <a:t>https://novayagazeta.eu/articles/2023/05/06/plokhoi-uchenik-limonova</a:t>
            </a:r>
          </a:p>
          <a:p xmlns:a="http://schemas.openxmlformats.org/drawingml/2006/main">
            <a:r>
              <a:t>https://tass.ru/politika/11761037</a:t>
            </a:r>
          </a:p>
          <a:p xmlns:a="http://schemas.openxmlformats.org/drawingml/2006/main">
            <a:r>
              <a:t>https://www.nn.ru/text/politics/2021/10/11/70186523/</a:t>
            </a:r>
          </a:p>
          <a:p xmlns:a="http://schemas.openxmlformats.org/drawingml/2006/main">
            <a:r>
              <a:t>https://www.zaks.ru/new/archive/view/267194</a:t>
            </a:r>
          </a:p>
          <a:p xmlns:a="http://schemas.openxmlformats.org/drawingml/2006/main">
            <a:r>
              <a:t>https://spravedlivo.ru/11288710</a:t>
            </a:r>
          </a:p>
          <a:p xmlns:a="http://schemas.openxmlformats.org/drawingml/2006/main">
            <a:r>
              <a:t>https://www.kommersant.ru/doc/4241515</a:t>
            </a:r>
          </a:p>
          <a:p xmlns:a="http://schemas.openxmlformats.org/drawingml/2006/main">
            <a:r>
              <a:t>https://zaharprilepin.ru/ru/pressa/intervyu/radio-komsomolskaja-pravda-10022021.html</a:t>
            </a:r>
          </a:p>
          <a:p xmlns:a="http://schemas.openxmlformats.org/drawingml/2006/main">
            <a:r>
              <a:t>https://pozneronline.ru/2024/04/36826/</a:t>
            </a:r>
          </a:p>
          <a:p xmlns:a="http://schemas.openxmlformats.org/drawingml/2006/main">
            <a:r>
              <a:t>https://www.rbc.ru/person/62a85a259a7947b9ae5d6360</a:t>
            </a:r>
          </a:p>
          <a:p xmlns:a="http://schemas.openxmlformats.org/drawingml/2006/main">
            <a:r>
              <a:t>https://tass.ru/encyclopedia/person/poklonskaya-natalya-vladimirovna</a:t>
            </a:r>
          </a:p>
          <a:p xmlns:a="http://schemas.openxmlformats.org/drawingml/2006/main">
            <a:r>
              <a:t>https://tass.ru/tag/poklonskaya-natalya-vladimirovna</a:t>
            </a:r>
          </a:p>
          <a:p xmlns:a="http://schemas.openxmlformats.org/drawingml/2006/main">
            <a:r>
              <a:t>https://www.bbc.com/russian/features-44801571</a:t>
            </a:r>
          </a:p>
          <a:p xmlns:a="http://schemas.openxmlformats.org/drawingml/2006/main">
            <a:r>
              <a:t>https://www.rbc.ru/rbcfreenews/5ba8bd499a794792294ba05d</a:t>
            </a:r>
          </a:p>
          <a:p xmlns:a="http://schemas.openxmlformats.org/drawingml/2006/main">
            <a:r>
              <a:t>https://www.dp.ru/a/2018/08/31/Poklonskaja_otreazirovala</a:t>
            </a:r>
          </a:p>
          <a:p xmlns:a="http://schemas.openxmlformats.org/drawingml/2006/main">
            <a:r>
              <a:t>https://www.themoscowtimes.com/2022/06/13/former-crimea-prosecutor-dismissed-after-anti-war-comments-a77983</a:t>
            </a:r>
          </a:p>
          <a:p xmlns:a="http://schemas.openxmlformats.org/drawingml/2006/main">
            <a:r>
              <a:t>https://www.rbc.ru/politics/30/06/2023/649dee189a79473e3fdc8906</a:t>
            </a:r>
          </a:p>
          <a:p xmlns:a="http://schemas.openxmlformats.org/drawingml/2006/main">
            <a:r>
              <a:t>http://council.gov.ru/structure/persons/1044/</a:t>
            </a:r>
          </a:p>
          <a:p xmlns:a="http://schemas.openxmlformats.org/drawingml/2006/main">
            <a:r>
              <a:t>http://council.gov.ru/services/reference/9156/</a:t>
            </a:r>
          </a:p>
          <a:p xmlns:a="http://schemas.openxmlformats.org/drawingml/2006/main">
            <a:r>
              <a:t>http://council.gov.ru/events/news/135415/</a:t>
            </a:r>
          </a:p>
          <a:p xmlns:a="http://schemas.openxmlformats.org/drawingml/2006/main">
            <a:r>
              <a:t>https://24smi.org/celebrity/1156-elena-mizulina.html</a:t>
            </a:r>
          </a:p>
          <a:p xmlns:a="http://schemas.openxmlformats.org/drawingml/2006/main">
            <a:r>
              <a:t>https://www.bfometr.ru/blog/elena-mizulina</a:t>
            </a:r>
          </a:p>
          <a:p xmlns:a="http://schemas.openxmlformats.org/drawingml/2006/main">
            <a:r>
              <a:t>https://www.rbc.ru/society/30/03/2018/5abe1b849a79470dc3826f68</a:t>
            </a:r>
          </a:p>
          <a:p xmlns:a="http://schemas.openxmlformats.org/drawingml/2006/main">
            <a:r>
              <a:t>https://uznayvse.ru/znamenitosti/biografiya-elena-mizulina.html</a:t>
            </a:r>
          </a:p>
          <a:p xmlns:a="http://schemas.openxmlformats.org/drawingml/2006/main">
            <a:r>
              <a:t>https://radiokp.ru/people/elena-mizulina</a:t>
            </a:r>
          </a:p>
          <a:p xmlns:a="http://schemas.openxmlformats.org/drawingml/2006/main">
            <a:r>
              <a:t>https://ru.wikipedia.org/wiki/%D0%9C%D0%B8%D0%B7%D1%83%D0%BB%D0%B8%D0%BD%D0%B0,_%D0%95%D0%BB%D0%B5%D0%BD%D0%B0_%D0%91%D0%BE%D1%80%D0%B8%D1%81%D0%BE%D0%B2%D0%BD%D0%B0</a:t>
            </a:r>
          </a:p>
          <a:p xmlns:a="http://schemas.openxmlformats.org/drawingml/2006/main">
            <a:r>
              <a:t>https://ru.wikipedia.org/wiki/Милонов,_Виталий_Валентинович</a:t>
            </a:r>
          </a:p>
          <a:p xmlns:a="http://schemas.openxmlformats.org/drawingml/2006/main">
            <a:r>
              <a:t>https://tass.ru/encyclopedia/person/milonov-vitaliy-valentinovich</a:t>
            </a:r>
          </a:p>
          <a:p xmlns:a="http://schemas.openxmlformats.org/drawingml/2006/main">
            <a:r>
              <a:t>https://www.pnp.ru/person/vitaliy-milonov/</a:t>
            </a:r>
          </a:p>
          <a:p xmlns:a="http://schemas.openxmlformats.org/drawingml/2006/main">
            <a:r>
              <a:t>https://www.zaks.ru/new/person/view/172</a:t>
            </a:r>
          </a:p>
          <a:p xmlns:a="http://schemas.openxmlformats.org/drawingml/2006/main">
            <a:r>
              <a:t>https://svpressa.ru/persons/vitaliy-milonov/</a:t>
            </a:r>
          </a:p>
          <a:p xmlns:a="http://schemas.openxmlformats.org/drawingml/2006/main">
            <a:r>
              <a:t>https://stuki-druki.com/authors/Milonov-Vitaliy.php</a:t>
            </a:r>
          </a:p>
          <a:p xmlns:a="http://schemas.openxmlformats.org/drawingml/2006/main">
            <a:r>
              <a:t>https://pa.inion.ru/persons/7104/</a:t>
            </a:r>
          </a:p>
          <a:p xmlns:a="http://schemas.openxmlformats.org/drawingml/2006/main">
            <a:r>
              <a:t>https://pa.inion.ru/documents/16503/</a:t>
            </a:r>
          </a:p>
          <a:p xmlns:a="http://schemas.openxmlformats.org/drawingml/2006/main">
            <a:r>
              <a:t>https://pa.inion.ru/documents/27860/</a:t>
            </a:r>
          </a:p>
          <a:p xmlns:a="http://schemas.openxmlformats.org/drawingml/2006/main">
            <a:r>
              <a:t>https://kprf.ru/personal/ostanina</a:t>
            </a:r>
          </a:p>
          <a:p xmlns:a="http://schemas.openxmlformats.org/drawingml/2006/main">
            <a:r>
              <a:t>https://pa.inion.ru/documents/25577/</a:t>
            </a:r>
          </a:p>
          <a:p xmlns:a="http://schemas.openxmlformats.org/drawingml/2006/main">
            <a:r>
              <a:t>https://kprf.ru/dep/gosduma/activities/245108.html</a:t>
            </a:r>
          </a:p>
          <a:p xmlns:a="http://schemas.openxmlformats.org/drawingml/2006/main">
            <a:r>
              <a:t>https://www.pnp.ru/social/zashhita-detskogo-byudzheta-kruzhki-sokhranit-vyplaty-iz-matkapitala-uvelichit.html</a:t>
            </a:r>
          </a:p>
          <a:p xmlns:a="http://schemas.openxmlformats.org/drawingml/2006/main">
            <a:r>
              <a:t>https://www.pnp.ru/state-duma/nina-ostanina-o-byudzhete-na-2027-2029-gody-semeynoy-ipoteke-i-matkapitale.html</a:t>
            </a:r>
          </a:p>
          <a:p xmlns:a="http://schemas.openxmlformats.org/drawingml/2006/main">
            <a:r>
              <a:t>https://uznayvse.ru/znamenitosti/biografiya-nina-ostanina.html</a:t>
            </a:r>
          </a:p>
          <a:p xmlns:a="http://schemas.openxmlformats.org/drawingml/2006/main">
            <a:r>
              <a:t>https://dumatv.ru/news/ostanina--borba-za-mirovozzrencheskii-suverenitet-stanovitsya-gosudarstvennoi-politikoi</a:t>
            </a:r>
          </a:p>
          <a:p xmlns:a="http://schemas.openxmlformats.org/drawingml/2006/main">
            <a:r>
              <a:t>https://kprf.ru/dep/gosduma/activities/242132.html</a:t>
            </a:r>
          </a:p>
          <a:p xmlns:a="http://schemas.openxmlformats.org/drawingml/2006/main">
            <a:r>
              <a:t>https://www.business-gazeta.ru/article/625616</a:t>
            </a:r>
          </a:p>
          <a:p xmlns:a="http://schemas.openxmlformats.org/drawingml/2006/main">
            <a:r>
              <a:t>https://www.kommersant.ru/doc/3235400</a:t>
            </a:r>
          </a:p>
          <a:p xmlns:a="http://schemas.openxmlformats.org/drawingml/2006/main">
            <a:r>
              <a:t>https://www.rbc.ru/person/67d838f09a7947cdef0b1a95</a:t>
            </a:r>
          </a:p>
          <a:p xmlns:a="http://schemas.openxmlformats.org/drawingml/2006/main">
            <a:r>
              <a:t>https://www.vedomosti.ru/politics/articles/2020/03/10/824795-tereshkova-predlozhila</a:t>
            </a:r>
          </a:p>
          <a:p xmlns:a="http://schemas.openxmlformats.org/drawingml/2006/main">
            <a:r>
              <a:t>http://duma.gov.ru/news/49164/</a:t>
            </a:r>
          </a:p>
          <a:p xmlns:a="http://schemas.openxmlformats.org/drawingml/2006/main">
            <a:r>
              <a:t>https://meduza.io/news/2020/03/12/delayut-vse-dlya-togo-chtoby-gadosti-delat-tereshkova-o-protivnikah-popravki-obnulyayuschey-sroki-putina</a:t>
            </a:r>
          </a:p>
          <a:p xmlns:a="http://schemas.openxmlformats.org/drawingml/2006/main">
            <a:r>
              <a:t>https://meduza.io/feature/2020/03/10/gosduma-neozhidanno-dlya-sebya-obespechila-putina-novymi-prezidentskimi-srokami</a:t>
            </a:r>
          </a:p>
          <a:p xmlns:a="http://schemas.openxmlformats.org/drawingml/2006/main">
            <a:r>
              <a:t>https://hinshtein.ru/biography/</a:t>
            </a:r>
          </a:p>
          <a:p xmlns:a="http://schemas.openxmlformats.org/drawingml/2006/main">
            <a:r>
              <a:t>https://www.vedomosti.ru/politics/articles/2024/12/06/1079852-kto-takoi-aleksandr-hinshtein</a:t>
            </a:r>
          </a:p>
          <a:p xmlns:a="http://schemas.openxmlformats.org/drawingml/2006/main">
            <a:r>
              <a:t>https://www.rbc.ru/person/6752d12a9a7947d62166795e</a:t>
            </a:r>
          </a:p>
          <a:p xmlns:a="http://schemas.openxmlformats.org/drawingml/2006/main">
            <a:r>
              <a:t>https://www.rbc.ru/politics/06/12/2024/675207239a7947e74994842e</a:t>
            </a:r>
          </a:p>
          <a:p xmlns:a="http://schemas.openxmlformats.org/drawingml/2006/main">
            <a:r>
              <a:t>https://hinshtein.ru/news/aleksandr-hinshtejn-podvyol-itogi-goda-raboty-komiteta-gosdumy-po-informpolitike-informatsionnym-tehnologiyam-i-svyazi/</a:t>
            </a:r>
          </a:p>
          <a:p xmlns:a="http://schemas.openxmlformats.org/drawingml/2006/main">
            <a:r>
              <a:t>https://hinshtein.ru/news/a-hinshtejn-itogi-raboty-za-vii-sozyv/</a:t>
            </a:r>
          </a:p>
          <a:p xmlns:a="http://schemas.openxmlformats.org/drawingml/2006/main">
            <a:r>
              <a:t>https://www.kommersant.ru/doc/4660427</a:t>
            </a:r>
          </a:p>
          <a:p xmlns:a="http://schemas.openxmlformats.org/drawingml/2006/main">
            <a:r>
              <a:t>https://www.kommersant.ru/doc/4104004</a:t>
            </a:r>
          </a:p>
          <a:p xmlns:a="http://schemas.openxmlformats.org/drawingml/2006/main">
            <a:r>
              <a:t>https://www.nvgazeta.ru/news/12383/634260/</a:t>
            </a:r>
          </a:p>
          <a:p xmlns:a="http://schemas.openxmlformats.org/drawingml/2006/main">
            <a:r>
              <a:t>https://kpravda.ru/2025/02/11/kursk-poluchit-dengi-iz-gosbyudzheta-na-restavracziyu-istoricheskoj-kreposti/</a:t>
            </a:r>
          </a:p>
          <a:p xmlns:a="http://schemas.openxmlformats.org/drawingml/2006/main">
            <a:r>
              <a:t>https://tass.ru/obschestvo/24001633</a:t>
            </a:r>
          </a:p>
          <a:p xmlns:a="http://schemas.openxmlformats.org/drawingml/2006/main">
            <a:r>
              <a:t>https://www.kommersant.ru/doc/7737032</a:t>
            </a:r>
          </a:p>
          <a:p xmlns:a="http://schemas.openxmlformats.org/drawingml/2006/main">
            <a:r>
              <a:t>https://kpravda.ru/2025/03/21/edinaya-rossiya-pomozhet-v-restavraczii-kurskih-pamyatnikov/</a:t>
            </a:r>
          </a:p>
          <a:p xmlns:a="http://schemas.openxmlformats.org/drawingml/2006/main">
            <a:r>
              <a:t>https://news-kursk.ru/society/2025/07/13/65824.html</a:t>
            </a:r>
          </a:p>
          <a:p xmlns:a="http://schemas.openxmlformats.org/drawingml/2006/main">
            <a:r>
              <a:t>https://news.ru/russia/v-kurske-budet-alleya-geroev-hinshtejn-o-muzee-i-memoriale-zhertvam-vsu</a:t>
            </a:r>
          </a:p>
          <a:p xmlns:a="http://schemas.openxmlformats.org/drawingml/2006/main">
            <a:r>
              <a:t>https://ru.wikipedia.org/wiki/Пушков,_Алексей_Константинович</a:t>
            </a:r>
          </a:p>
          <a:p xmlns:a="http://schemas.openxmlformats.org/drawingml/2006/main">
            <a:r>
              <a:t>http://council.gov.ru/structure/persons/1316/</a:t>
            </a:r>
          </a:p>
          <a:p xmlns:a="http://schemas.openxmlformats.org/drawingml/2006/main">
            <a:r>
              <a:t>http://council.gov.ru/media/files/xjE2QHRAivCH7onABehAcG7OsnrO6DYb.pdf</a:t>
            </a:r>
          </a:p>
          <a:p xmlns:a="http://schemas.openxmlformats.org/drawingml/2006/main">
            <a:r>
              <a:t>https://base.garant.ru/406310971/</a:t>
            </a:r>
          </a:p>
          <a:p xmlns:a="http://schemas.openxmlformats.org/drawingml/2006/main">
            <a:r>
              <a:t>https://russiancouncil.ru/aleksey-pushkov/</a:t>
            </a:r>
          </a:p>
          <a:p xmlns:a="http://schemas.openxmlformats.org/drawingml/2006/main">
            <a:r>
              <a:t>http://legislation.council.gov.ru/events/announce/</a:t>
            </a:r>
          </a:p>
          <a:p xmlns:a="http://schemas.openxmlformats.org/drawingml/2006/main">
            <a:r>
              <a:t>http://council.gov.ru/events/news/173810/</a:t>
            </a:r>
          </a:p>
          <a:p xmlns:a="http://schemas.openxmlformats.org/drawingml/2006/main">
            <a:r>
              <a:t>http://www.council.gov.ru/events/news/175997/</a:t>
            </a:r>
          </a:p>
          <a:p xmlns:a="http://schemas.openxmlformats.org/drawingml/2006/main">
            <a:r>
              <a:t>http://council.gov.ru/media/report/pdf/HtoXfAAzeBJ8JwN0eAduo3rejTAYhqvB.pdf</a:t>
            </a:r>
          </a:p>
          <a:p xmlns:a="http://schemas.openxmlformats.org/drawingml/2006/main">
            <a:r>
              <a:t>http://council.gov.ru/events/news/164749/</a:t>
            </a:r>
          </a:p>
          <a:p xmlns:a="http://schemas.openxmlformats.org/drawingml/2006/main">
            <a:r>
              <a:t>https://t.me/s/alexey_pushkov?before=14914</a:t>
            </a:r>
          </a:p>
          <a:p xmlns:a="http://schemas.openxmlformats.org/drawingml/2006/main">
            <a:r>
              <a:t>http://legislation.council.gov.ru/events/multimedia/video/302078/</a:t>
            </a:r>
          </a:p>
          <a:p xmlns:a="http://schemas.openxmlformats.org/drawingml/2006/main">
            <a:r>
              <a:t>http://council.gov.ru/media/report/pdf/e8Awe3U6hNouHwSvME53OSPGGWxTeVAl.pdf</a:t>
            </a:r>
          </a:p>
          <a:p xmlns:a="http://schemas.openxmlformats.org/drawingml/2006/main">
            <a:r>
              <a:t>https://www.vedomosti.ru/person/1178385-kosachev-konstantin</a:t>
            </a:r>
          </a:p>
          <a:p xmlns:a="http://schemas.openxmlformats.org/drawingml/2006/main">
            <a:r>
              <a:t>https://www.interfax.ru/interview/812963</a:t>
            </a:r>
          </a:p>
          <a:p xmlns:a="http://schemas.openxmlformats.org/drawingml/2006/main">
            <a:r>
              <a:t>https://senatinform.ru/news/yuzhnuyu_osetiyu_neobkhodimo_vyvodit_iz_iskusstvennoy_izolyatsii_schitayut_rossiyskie_senatory_/</a:t>
            </a:r>
          </a:p>
          <a:p xmlns:a="http://schemas.openxmlformats.org/drawingml/2006/main">
            <a:r>
              <a:t>https://senatinform.ru/news/kosachyev_rossiya_gotova_rabotat_s_mps_s_uchyetom_ozabochennostey_nashey_strany/</a:t>
            </a:r>
          </a:p>
          <a:p xmlns:a="http://schemas.openxmlformats.org/drawingml/2006/main">
            <a:r>
              <a:t>https://www.bfm.ru/person/61</a:t>
            </a:r>
          </a:p>
          <a:p xmlns:a="http://schemas.openxmlformats.org/drawingml/2006/main">
            <a:r>
              <a:t>https://svpressa.ru/persons/konstantin-kosachev/</a:t>
            </a:r>
          </a:p>
          <a:p xmlns:a="http://schemas.openxmlformats.org/drawingml/2006/main">
            <a:r>
              <a:t>https://www.pnp.ru/person/konstantin-kosachev/</a:t>
            </a:r>
          </a:p>
          <a:p xmlns:a="http://schemas.openxmlformats.org/drawingml/2006/main">
            <a:r>
              <a:t>https://www.pnp.ru/politics/konstantin-kosachev-dlya-ssha-voyna-s-rossiey-eto-samoubiystvo.html</a:t>
            </a:r>
          </a:p>
          <a:p xmlns:a="http://schemas.openxmlformats.org/drawingml/2006/main">
            <a:r>
              <a:t>https://www.mlg.ru/ratings/vlast/senators/10844/</a:t>
            </a:r>
          </a:p>
          <a:p xmlns:a="http://schemas.openxmlformats.org/drawingml/2006/main">
            <a:r>
              <a:t>http://council.gov.ru/events/news/173506/</a:t>
            </a:r>
          </a:p>
          <a:p xmlns:a="http://schemas.openxmlformats.org/drawingml/2006/main">
            <a:r>
              <a:t>https://t.me/s/Kosachev62</a:t>
            </a:r>
          </a:p>
          <a:p xmlns:a="http://schemas.openxmlformats.org/drawingml/2006/main">
            <a:r>
              <a:t>http://council.gov.ru/events/news/177602/</a:t>
            </a:r>
          </a:p>
          <a:p xmlns:a="http://schemas.openxmlformats.org/drawingml/2006/main">
            <a:r>
              <a:t>https://vmeste-rf.tv/programs/205/konstantin-kosachev-sotrudnichestvo-rossii-i-efiopii-itogi-vizita-delegatsii-sf/</a:t>
            </a:r>
          </a:p>
          <a:p xmlns:a="http://schemas.openxmlformats.org/drawingml/2006/main">
            <a:r>
              <a:t>https://www.rbc.ru/person/64b8e1909a79474f30e86f98</a:t>
            </a:r>
          </a:p>
          <a:p xmlns:a="http://schemas.openxmlformats.org/drawingml/2006/main">
            <a:r>
              <a:t>https://www.kommersant.ru/doc/6041063</a:t>
            </a:r>
          </a:p>
          <a:p xmlns:a="http://schemas.openxmlformats.org/drawingml/2006/main">
            <a:r>
              <a:t>https://www.mos.ru/mayor/themes/6907050/</a:t>
            </a:r>
          </a:p>
          <a:p xmlns:a="http://schemas.openxmlformats.org/drawingml/2006/main">
            <a:r>
              <a:t>https://www.mos.ru/mayor/themes/7037050/</a:t>
            </a:r>
          </a:p>
          <a:p xmlns:a="http://schemas.openxmlformats.org/drawingml/2006/main">
            <a:r>
              <a:t>https://www.mos.ru/mayor/themes/8822050/</a:t>
            </a:r>
          </a:p>
          <a:p xmlns:a="http://schemas.openxmlformats.org/drawingml/2006/main">
            <a:r>
              <a:t>http://special.kremlin.ru/catalog/persons/38/events/70467</a:t>
            </a:r>
          </a:p>
          <a:p xmlns:a="http://schemas.openxmlformats.org/drawingml/2006/main">
            <a:r>
              <a:t>https://www.mos.ru/upload/content/files/15af077500dcc5a1547bf728abf25669/15Zakong_Moskviot17_05_2017N14Odopolnitelnihgaranti.pdf</a:t>
            </a:r>
          </a:p>
          <a:p xmlns:a="http://schemas.openxmlformats.org/drawingml/2006/main">
            <a:r>
              <a:t>https://www.rbc.ru/politics/03/05/2023/645245159a794763ce66d990</a:t>
            </a:r>
          </a:p>
          <a:p xmlns:a="http://schemas.openxmlformats.org/drawingml/2006/main">
            <a:r>
              <a:t>https://www.dw.com/ru/ataka-dronov-v-moskve-i-podmoskove-cto-izvestno/a-65771767</a:t>
            </a:r>
          </a:p>
          <a:p xmlns:a="http://schemas.openxmlformats.org/drawingml/2006/main">
            <a:r>
              <a:t>https://www.rbc.ru/politics/01/08/2023/64c856ce9a79471a722e13ad</a:t>
            </a:r>
          </a:p>
          <a:p xmlns:a="http://schemas.openxmlformats.org/drawingml/2006/main">
            <a:r>
              <a:t>https://www.rbc.ru/politics/23/08/2023/64e54f299a794789ddb55c65</a:t>
            </a:r>
          </a:p>
          <a:p xmlns:a="http://schemas.openxmlformats.org/drawingml/2006/main">
            <a:r>
              <a:t>https://ru.wikipedia.org/wiki/Беглов,_Александр_Дмитриевич</a:t>
            </a:r>
          </a:p>
          <a:p xmlns:a="http://schemas.openxmlformats.org/drawingml/2006/main">
            <a:r>
              <a:t>https://www.gov.spb.ru/governor/</a:t>
            </a:r>
          </a:p>
          <a:p xmlns:a="http://schemas.openxmlformats.org/drawingml/2006/main">
            <a:r>
              <a:t>https://www.rbc.ru/politics/30/05/2019/5cf02cf09a79475ed4d2fa3f</a:t>
            </a:r>
          </a:p>
          <a:p xmlns:a="http://schemas.openxmlformats.org/drawingml/2006/main">
            <a:r>
              <a:t>https://www.themoscowtimes.com/2019/09/11/st-petersburg-re-elects-governor-beglov-after-controversial-campaign-a67240</a:t>
            </a:r>
          </a:p>
          <a:p xmlns:a="http://schemas.openxmlformats.org/drawingml/2006/main">
            <a:r>
              <a:t>https://www.gov.spb.ru/press/governor/188637/</a:t>
            </a:r>
          </a:p>
          <a:p xmlns:a="http://schemas.openxmlformats.org/drawingml/2006/main">
            <a:r>
              <a:t>https://www.gov.spb.ru/press/governor/213661/</a:t>
            </a:r>
          </a:p>
          <a:p xmlns:a="http://schemas.openxmlformats.org/drawingml/2006/main">
            <a:r>
              <a:t>https://www.gov.spb.ru/press/governor/258831/</a:t>
            </a:r>
          </a:p>
          <a:p xmlns:a="http://schemas.openxmlformats.org/drawingml/2006/main">
            <a:r>
              <a:t>https://www.gov.spb.ru/governor/interview/7333/</a:t>
            </a:r>
          </a:p>
          <a:p xmlns:a="http://schemas.openxmlformats.org/drawingml/2006/main">
            <a:r>
              <a:t>https://tass.ru/interviews/21839179</a:t>
            </a:r>
          </a:p>
          <a:p xmlns:a="http://schemas.openxmlformats.org/drawingml/2006/main">
            <a:r>
              <a:t>https://www.gov.spb.ru/press/governor/236663/</a:t>
            </a:r>
          </a:p>
          <a:p xmlns:a="http://schemas.openxmlformats.org/drawingml/2006/main">
            <a:r>
              <a:t>https://tvspb.ru/news/2022/09/21/aleksandr-beglov-ukaz-prezidenta-o-chastichnoj-mobilizaczii-byl-trudnym-no-neobhodimym-shagom</a:t>
            </a:r>
          </a:p>
          <a:p xmlns:a="http://schemas.openxmlformats.org/drawingml/2006/main">
            <a:r>
              <a:t>https://spbvedomosti.ru/news/gorod/gubernator-aleksandr-beglov-obyavil-o-zavershenii-chastichnoy-mobilizatsii/</a:t>
            </a:r>
          </a:p>
          <a:p xmlns:a="http://schemas.openxmlformats.org/drawingml/2006/main">
            <a:r>
              <a:t>https://www.gov.spb.ru/press/governor/253716/</a:t>
            </a:r>
          </a:p>
          <a:p xmlns:a="http://schemas.openxmlformats.org/drawingml/2006/main">
            <a:r>
              <a:t>https://www.gov.spb.ru/press/governor/290070/</a:t>
            </a:r>
          </a:p>
          <a:p xmlns:a="http://schemas.openxmlformats.org/drawingml/2006/main">
            <a:r>
              <a:t>https://spbdnevnik.ru/news/2022-10-06/aleksandr-beglov-rasskazal-o-prizyve-po-mobilizatsii-peterburzhtsa-s-odnoy-pochkoy</a:t>
            </a:r>
          </a:p>
          <a:p xmlns:a="http://schemas.openxmlformats.org/drawingml/2006/main">
            <a:r>
              <a:t>https://www.rbc.ru/person/62c5c0899a79470082fa57eb</a:t>
            </a:r>
          </a:p>
          <a:p xmlns:a="http://schemas.openxmlformats.org/drawingml/2006/main">
            <a:r>
              <a:t>https://www.kavkaz-uzel.eu/articles/85366</a:t>
            </a:r>
          </a:p>
          <a:p xmlns:a="http://schemas.openxmlformats.org/drawingml/2006/main">
            <a:r>
              <a:t>https://news.ru/regions/my-dolzhny-zabrat-vsyu-ukrainu-chto-kadyrov-govoril-ob-svo-rossii-putine</a:t>
            </a:r>
          </a:p>
          <a:p xmlns:a="http://schemas.openxmlformats.org/drawingml/2006/main">
            <a:r>
              <a:t>https://minval.az/k/ramzan-kadyrov</a:t>
            </a:r>
          </a:p>
          <a:p xmlns:a="http://schemas.openxmlformats.org/drawingml/2006/main">
            <a:r>
              <a:t>http://publication.pravo.gov.ru/document/2000202609160002</a:t>
            </a:r>
          </a:p>
          <a:p xmlns:a="http://schemas.openxmlformats.org/drawingml/2006/main">
            <a:r>
              <a:t>https://vestikavkaza.ru/amp/291219</a:t>
            </a:r>
          </a:p>
          <a:p xmlns:a="http://schemas.openxmlformats.org/drawingml/2006/main">
            <a:r>
              <a:t>https://tass.ru/obschestvo/25968415</a:t>
            </a:r>
          </a:p>
          <a:p xmlns:a="http://schemas.openxmlformats.org/drawingml/2006/main">
            <a:r>
              <a:t>https://www.rbc.ru/rbcfreenews/694558f89a794775c8b05d2e</a:t>
            </a:r>
          </a:p>
          <a:p xmlns:a="http://schemas.openxmlformats.org/drawingml/2006/main">
            <a:r>
              <a:t>https://rais.tatarstan.ru/biografiya.htm</a:t>
            </a:r>
          </a:p>
          <a:p xmlns:a="http://schemas.openxmlformats.org/drawingml/2006/main">
            <a:r>
              <a:t>https://rt.rbc.ru/tatarstan/freenews/68c7f77d9a79472be550408e</a:t>
            </a:r>
          </a:p>
          <a:p xmlns:a="http://schemas.openxmlformats.org/drawingml/2006/main">
            <a:r>
              <a:t>https://rt.rbc.ru/tatarstan/freenews/68c90bdc9a794783273a16b6</a:t>
            </a:r>
          </a:p>
          <a:p xmlns:a="http://schemas.openxmlformats.org/drawingml/2006/main">
            <a:r>
              <a:t>https://tass.ru/politika/25045679</a:t>
            </a:r>
          </a:p>
          <a:p xmlns:a="http://schemas.openxmlformats.org/drawingml/2006/main">
            <a:r>
              <a:t>https://tass.ru/info/25058299</a:t>
            </a:r>
          </a:p>
          <a:p xmlns:a="http://schemas.openxmlformats.org/drawingml/2006/main">
            <a:r>
              <a:t>https://tatarstan.ru/index.htm/news/2454245.htm</a:t>
            </a:r>
          </a:p>
          <a:p xmlns:a="http://schemas.openxmlformats.org/drawingml/2006/main">
            <a:r>
              <a:t>https://izbirkom.tatarstan.ru/file/pub/pub_4719790.docx</a:t>
            </a:r>
          </a:p>
          <a:p xmlns:a="http://schemas.openxmlformats.org/drawingml/2006/main">
            <a:r>
              <a:t>http://www.pfo.gov.ru/press/events/112125/</a:t>
            </a:r>
          </a:p>
          <a:p xmlns:a="http://schemas.openxmlformats.org/drawingml/2006/main">
            <a:r>
              <a:t>https://www.tatar-inform.ru/news/rustam-minnixanov-sankcii-ne-koncatsya-poka-my-ne-stanem-samodostatocnymi-5896958</a:t>
            </a:r>
          </a:p>
          <a:p xmlns:a="http://schemas.openxmlformats.org/drawingml/2006/main">
            <a:r>
              <a:t>https://tatarstan.ru/index.htm/news/1916025.htm</a:t>
            </a:r>
          </a:p>
          <a:p xmlns:a="http://schemas.openxmlformats.org/drawingml/2006/main">
            <a:r>
              <a:t>https://kitaphane.tatarstan.ru/digital.htm</a:t>
            </a:r>
          </a:p>
          <a:p xmlns:a="http://schemas.openxmlformats.org/drawingml/2006/main">
            <a:r>
              <a:t>https://kt.tatarstan.ru/index.htm/news/2266706.htm</a:t>
            </a:r>
          </a:p>
          <a:p xmlns:a="http://schemas.openxmlformats.org/drawingml/2006/main">
            <a:r>
              <a:t>https://tatarstan.ru/index.htm/news/2460505.htm</a:t>
            </a:r>
          </a:p>
          <a:p xmlns:a="http://schemas.openxmlformats.org/drawingml/2006/main">
            <a:r>
              <a:t>https://digital.tatarstan.ru/index.htm/news/2460691.htm</a:t>
            </a:r>
          </a:p>
          <a:p xmlns:a="http://schemas.openxmlformats.org/drawingml/2006/main">
            <a:r>
              <a:t>https://amp.rbc.ru/rbcnews/politics/09/07/2020/5f06bbb69a79475c40a9a094</a:t>
            </a:r>
          </a:p>
          <a:p xmlns:a="http://schemas.openxmlformats.org/drawingml/2006/main">
            <a:r>
              <a:t>https://1kas.sudrf.ru/modules.php?name=sud_delo&amp;name_op=doc&amp;number=39453936&amp;delo_id=2450001&amp;case_type=0&amp;new=2450001&amp;text_number=1&amp;srv_num=1</a:t>
            </a:r>
          </a:p>
          <a:p xmlns:a="http://schemas.openxmlformats.org/drawingml/2006/main">
            <a:r>
              <a:t>https://www.interfax.ru/russia/982916</a:t>
            </a:r>
          </a:p>
          <a:p xmlns:a="http://schemas.openxmlformats.org/drawingml/2006/main">
            <a:r>
              <a:t>https://www.svoboda.org/a/sud-ostavil-v-sile-prigovor-habarovskomu-eks-gubernatoru-sergeyu-furgalu/32686024.html</a:t>
            </a:r>
          </a:p>
          <a:p xmlns:a="http://schemas.openxmlformats.org/drawingml/2006/main">
            <a:r>
              <a:t>https://www.dw.com/ru/kommentarij-furgal-peresidit-putina/a-64670560</a:t>
            </a:r>
          </a:p>
          <a:p xmlns:a="http://schemas.openxmlformats.org/drawingml/2006/main">
            <a:r>
              <a:t>https://www.kommersant.ru/doc/3896415</a:t>
            </a:r>
          </a:p>
          <a:p xmlns:a="http://schemas.openxmlformats.org/drawingml/2006/main">
            <a:r>
              <a:t>https://todaykhv.ru/news/policy/19386/</a:t>
            </a:r>
          </a:p>
          <a:p xmlns:a="http://schemas.openxmlformats.org/drawingml/2006/main">
            <a:r>
              <a:t>https://meduza.io/feature/2018/09/19/ya-dumayu-chto-situatsiya-kak-v-primorie-u-nas-ne-povtoritsya</a:t>
            </a:r>
          </a:p>
          <a:p xmlns:a="http://schemas.openxmlformats.org/drawingml/2006/main">
            <a:r>
              <a:t>https://govoritmoskva.ru/news/174327/</a:t>
            </a:r>
          </a:p>
          <a:p xmlns:a="http://schemas.openxmlformats.org/drawingml/2006/main">
            <a:r>
              <a:t>https://todaykhv.ru/news/policy/22426/?sphrase_id=2620206</a:t>
            </a:r>
          </a:p>
          <a:p xmlns:a="http://schemas.openxmlformats.org/drawingml/2006/main">
            <a:r>
              <a:t>https://ru.wikipedia.org/wiki/%D0%A4%D1%83%D1%80%D0%B3%D0%B0%D0%BB,_%D0%A1%D0%B5%D1%80%D0%B3%D0%B5%D0%B9_%D0%98%D0%B2%D0%B0%D0%BD%D0%BE%D0%B2%D0%B8%D1%87</a:t>
            </a:r>
          </a:p>
          <a:p xmlns:a="http://schemas.openxmlformats.org/drawingml/2006/main">
            <a:r>
              <a:t>https://novayagazeta.ru/articles/2018/09/18/77870-ne-dopuschu-zdes-revolyutsii</a:t>
            </a:r>
          </a:p>
          <a:p xmlns:a="http://schemas.openxmlformats.org/drawingml/2006/main">
            <a:r>
              <a:t>https://opkhv.ru/publications/4888</a:t>
            </a:r>
          </a:p>
          <a:p xmlns:a="http://schemas.openxmlformats.org/drawingml/2006/main">
            <a:r>
              <a:t>https://meduza.io/feature/2019/08/26/partiya-vlasti-zdes-ldpr</a:t>
            </a:r>
          </a:p>
          <a:p xmlns:a="http://schemas.openxmlformats.org/drawingml/2006/main">
            <a:r>
              <a:t>https://tass.ru/obschestvo/5946495</a:t>
            </a:r>
          </a:p>
          <a:p xmlns:a="http://schemas.openxmlformats.org/drawingml/2006/main">
            <a:r>
              <a:t>https://amurmedia.ru/news/775590/</a:t>
            </a:r>
          </a:p>
          <a:p xmlns:a="http://schemas.openxmlformats.org/drawingml/2006/main">
            <a:r>
              <a:t>https://www.eastrussia.ru/material/ne-planiruyushchim-pereezzhat-sovetuyu-pomolchat/</a:t>
            </a:r>
          </a:p>
          <a:p xmlns:a="http://schemas.openxmlformats.org/drawingml/2006/main">
            <a:r>
              <a:t>https://www.dw.com/ru/v-habarovske-priznali-ekstremistskim-dvizenie-v-zasitu-furgala/a-68334442</a:t>
            </a:r>
          </a:p>
          <a:p xmlns:a="http://schemas.openxmlformats.org/drawingml/2006/main">
            <a:r>
              <a:t>https://www.rbc.ru/person/66475fec9a79475c4d9443ad</a:t>
            </a:r>
          </a:p>
          <a:p xmlns:a="http://schemas.openxmlformats.org/drawingml/2006/main">
            <a:r>
              <a:t>https://tass.ru/info/12453099</a:t>
            </a:r>
          </a:p>
          <a:p xmlns:a="http://schemas.openxmlformats.org/drawingml/2006/main">
            <a:r>
              <a:t>https://tass.ru/info/9007455</a:t>
            </a:r>
          </a:p>
          <a:p xmlns:a="http://schemas.openxmlformats.org/drawingml/2006/main">
            <a:r>
              <a:t>https://tass.ru/info/20795009</a:t>
            </a:r>
          </a:p>
          <a:p xmlns:a="http://schemas.openxmlformats.org/drawingml/2006/main">
            <a:r>
              <a:t>https://tass.ru/encyclopedia/person/degtyarev-mihail-vladimirovich</a:t>
            </a:r>
          </a:p>
          <a:p xmlns:a="http://schemas.openxmlformats.org/drawingml/2006/main">
            <a:r>
              <a:t>https://www.rbc.ru/politics/20/07/2020/5f1586289a794722b2457d61</a:t>
            </a:r>
          </a:p>
          <a:p xmlns:a="http://schemas.openxmlformats.org/drawingml/2006/main">
            <a:r>
              <a:t>https://www.minsport.gov.ru/press-center/news/intervyu-mihaila-degtyareva-gazete-kommersant/</a:t>
            </a:r>
          </a:p>
          <a:p xmlns:a="http://schemas.openxmlformats.org/drawingml/2006/main">
            <a:r>
              <a:t>https://minsport.gov.ru/press-center/news/mihail-degtyarev-nashe-mesto-za-stolom-a-ne-v-perednej/</a:t>
            </a:r>
          </a:p>
          <a:p xmlns:a="http://schemas.openxmlformats.org/drawingml/2006/main">
            <a:r>
              <a:t>https://news.ru/vlast/degtyarev-prizval-ne-doveryat-evrope-provedenie-sorevnovanij</a:t>
            </a:r>
          </a:p>
          <a:p xmlns:a="http://schemas.openxmlformats.org/drawingml/2006/main">
            <a:r>
              <a:t>https://www.interfax.ru/presscenter/622170</a:t>
            </a:r>
          </a:p>
          <a:p xmlns:a="http://schemas.openxmlformats.org/drawingml/2006/main">
            <a:r>
              <a:t>https://tass.ru/interviews/13152777</a:t>
            </a:r>
          </a:p>
          <a:p xmlns:a="http://schemas.openxmlformats.org/drawingml/2006/main">
            <a:r>
              <a:t>https://www.sports.ru/others/blogs/3302024.html</a:t>
            </a:r>
          </a:p>
          <a:p xmlns:a="http://schemas.openxmlformats.org/drawingml/2006/main">
            <a:r>
              <a:t>https://www.vremyan.ru/news/556863</a:t>
            </a:r>
          </a:p>
          <a:p xmlns:a="http://schemas.openxmlformats.org/drawingml/2006/main">
            <a:r>
              <a:t>https://kprf.ru/personal/levchenko</a:t>
            </a:r>
          </a:p>
          <a:p xmlns:a="http://schemas.openxmlformats.org/drawingml/2006/main">
            <a:r>
              <a:t>https://www.rbc.ru/politics/23/06/2020/5ef0bd949a7947b3cd3dcba6</a:t>
            </a:r>
          </a:p>
          <a:p xmlns:a="http://schemas.openxmlformats.org/drawingml/2006/main">
            <a:r>
              <a:t>https://kprf.ru/party-live/regnews/194838.html</a:t>
            </a:r>
          </a:p>
          <a:p xmlns:a="http://schemas.openxmlformats.org/drawingml/2006/main">
            <a:r>
              <a:t>https://liveangarsk.ru/news/20191214/v-slozhivsheisya</a:t>
            </a:r>
          </a:p>
          <a:p xmlns:a="http://schemas.openxmlformats.org/drawingml/2006/main">
            <a:r>
              <a:t>https://kprf.ru/dep/gosduma/activities/240271.html</a:t>
            </a:r>
          </a:p>
          <a:p xmlns:a="http://schemas.openxmlformats.org/drawingml/2006/main">
            <a:r>
              <a:t>https://kprf.ru/dep/gosduma/activities/241686.html</a:t>
            </a:r>
          </a:p>
          <a:p xmlns:a="http://schemas.openxmlformats.org/drawingml/2006/main">
            <a:r>
              <a:t>https://altairk.ru/new/policy/the_message_of_the_governor</a:t>
            </a:r>
          </a:p>
          <a:p xmlns:a="http://schemas.openxmlformats.org/drawingml/2006/main">
            <a:r>
              <a:t>https://kto-irkutsk.ru/2026/07/20/sergej-levchenko-deyatelnost-i-zayavleniya-i-ix-ocenka/</a:t>
            </a:r>
          </a:p>
          <a:p xmlns:a="http://schemas.openxmlformats.org/drawingml/2006/main">
            <a:r>
              <a:t>https://ru.wikipedia.org/wiki/%D0%9B%D0%B5%D0%B2%D1%87%D0%B5%D0%BD%D0%BA%D0%BE,_%D0%A1%D0%B5%D1%80%D0%B3%D0%B5%D0%B9_%D0%93%D0%B5%D0%BE%D1%80%D0%B3%D0%B8%D0%B5%D0%B2%D0%B8%D1%87</a:t>
            </a:r>
          </a:p>
          <a:p xmlns:a="http://schemas.openxmlformats.org/drawingml/2006/main">
            <a:r>
              <a:t>https://www.newsru.com/dossiers/10330/</a:t>
            </a:r>
          </a:p>
          <a:p xmlns:a="http://schemas.openxmlformats.org/drawingml/2006/main">
            <a:r>
              <a:t>https://www.interfax.ru/russia/714300</a:t>
            </a:r>
          </a:p>
          <a:p xmlns:a="http://schemas.openxmlformats.org/drawingml/2006/main">
            <a:r>
              <a:t>https://www.rbc.ru/politics/14/09/2020/5f5e7dfb9a79477f7753d651</a:t>
            </a:r>
          </a:p>
          <a:p xmlns:a="http://schemas.openxmlformats.org/drawingml/2006/main">
            <a:r>
              <a:t>https://www.rline.tv/podrobnosti/2019-10-06-sergey-levchenko-za-chetyre-goda-sdelano-bolshe-chem-za-predydushchie-15-let/</a:t>
            </a:r>
          </a:p>
          <a:p xmlns:a="http://schemas.openxmlformats.org/drawingml/2006/main">
            <a:r>
              <a:t>https://vs19.ru/verhovny-sovet/deputati/670-konovalov-valentin-olegovich</a:t>
            </a:r>
          </a:p>
          <a:p xmlns:a="http://schemas.openxmlformats.org/drawingml/2006/main">
            <a:r>
              <a:t>https://meduza.io/feature/2018/09/10/etu-vlast-nichego-ne-spaset</a:t>
            </a:r>
          </a:p>
          <a:p xmlns:a="http://schemas.openxmlformats.org/drawingml/2006/main">
            <a:r>
              <a:t>https://kprf.ru/party-live/regnews/188553.html</a:t>
            </a:r>
          </a:p>
          <a:p xmlns:a="http://schemas.openxmlformats.org/drawingml/2006/main">
            <a:r>
              <a:t>https://www.kommersant.ru/doc/4441936</a:t>
            </a:r>
          </a:p>
          <a:p xmlns:a="http://schemas.openxmlformats.org/drawingml/2006/main">
            <a:r>
              <a:t>http://www.youtube.com/watch?v=eO6lUkFCAqM</a:t>
            </a:r>
          </a:p>
          <a:p xmlns:a="http://schemas.openxmlformats.org/drawingml/2006/main">
            <a:r>
              <a:t>https://ru.wikipedia.org/wiki/%D0%92%D1%8B%D0%B1%D0%BE%D1%80%D1%8B_%D0%B3%D0%BB%D0%B0%D0%B2%D1%8B_%D0%A0%D0%B5%D1%81%D0%BF%D1%83%D0%B1%D0%BB%D0%B8%D0%BA%D0%B8_%D0%A5%D0%B0%D0%BA%D0%B0%D1%81%D0%B8%D1%8F_(2018)</a:t>
            </a:r>
          </a:p>
          <a:p xmlns:a="http://schemas.openxmlformats.org/drawingml/2006/main">
            <a:r>
              <a:t>https://ok.ru/group/51615057903766/topic/157744983021718</a:t>
            </a:r>
          </a:p>
          <a:p xmlns:a="http://schemas.openxmlformats.org/drawingml/2006/main">
            <a:r>
              <a:t>https://kprf.ru/party-live/cknews/245343.html</a:t>
            </a:r>
          </a:p>
          <a:p xmlns:a="http://schemas.openxmlformats.org/drawingml/2006/main">
            <a:r>
              <a:t>https://r-19.ru/news/politika/190680/</a:t>
            </a:r>
          </a:p>
          <a:p xmlns:a="http://schemas.openxmlformats.org/drawingml/2006/main">
            <a:r>
              <a:t>https://r-19.ru/news/ekonomika/193031/</a:t>
            </a:r>
          </a:p>
          <a:p xmlns:a="http://schemas.openxmlformats.org/drawingml/2006/main">
            <a:r>
              <a:t>https://19rusinfo.ru/ekonomika/118670-otchjot</a:t>
            </a:r>
          </a:p>
          <a:p xmlns:a="http://schemas.openxmlformats.org/drawingml/2006/main">
            <a:r>
              <a:t>https://iditena.ru/candidates/konovalov-valentin-olegovich/</a:t>
            </a:r>
          </a:p>
          <a:p xmlns:a="http://schemas.openxmlformats.org/drawingml/2006/main">
            <a:r>
              <a:t>https://56.kprf.ru/deyatelnost/tpost/gjjjuy1zi1-glava-hakasii-valentin-konovalov-dal-int</a:t>
            </a:r>
          </a:p>
          <a:p xmlns:a="http://schemas.openxmlformats.org/drawingml/2006/main">
            <a:r>
              <a:t>https://meduza.io/feature/2019/05/31/strana-pobedivshego-kommunista</a:t>
            </a:r>
          </a:p>
          <a:p xmlns:a="http://schemas.openxmlformats.org/drawingml/2006/main">
            <a:r>
              <a:t>https://xn--80aac0c2a.xn--p1acf/2026/08/22/vstrecha-s-uchastiem-valentina-konovalova-i-alekseya-kornienko-proshla-v-habarovske</a:t>
            </a:r>
          </a:p>
          <a:p xmlns:a="http://schemas.openxmlformats.org/drawingml/2006/main">
            <a:r>
              <a:t>https://www.vedomosti.ru/politics/characters/2026/07/06/1211370-valentin-konovalov-rossiya-na-moskve-ne-zakanchivaetsya?from=newsline</a:t>
            </a:r>
          </a:p>
          <a:p xmlns:a="http://schemas.openxmlformats.org/drawingml/2006/main">
            <a:r>
              <a:t>https://www.vedomosti.ru/person/1215197-aksenov-sergei</a:t>
            </a:r>
          </a:p>
          <a:p xmlns:a="http://schemas.openxmlformats.org/drawingml/2006/main">
            <a:r>
              <a:t>https://www.rbc.ru/person/65f020599a79475815e702c9</a:t>
            </a:r>
          </a:p>
          <a:p xmlns:a="http://schemas.openxmlformats.org/drawingml/2006/main">
            <a:r>
              <a:t>http://crimea.gov.ru/news/30_03_18_10</a:t>
            </a:r>
          </a:p>
          <a:p xmlns:a="http://schemas.openxmlformats.org/drawingml/2006/main">
            <a:r>
              <a:t>https://www.npr.org/sections/parallels/2018/01/27/581114772/putins-man-in-crimea-we-ve-returned-to-russia-forever</a:t>
            </a:r>
          </a:p>
          <a:p xmlns:a="http://schemas.openxmlformats.org/drawingml/2006/main">
            <a:r>
              <a:t>http://crimea.gov.ru/en/news/26_02_19_6</a:t>
            </a:r>
          </a:p>
          <a:p xmlns:a="http://schemas.openxmlformats.org/drawingml/2006/main">
            <a:r>
              <a:t>https://antifashist.com/item/kto-polomal-infopole-kryma-i-ne-otvechaet-na-voprosy.html</a:t>
            </a:r>
          </a:p>
          <a:p xmlns:a="http://schemas.openxmlformats.org/drawingml/2006/main">
            <a:r>
              <a:t>https://ru.krymr.com/a/news/27913548.html</a:t>
            </a:r>
          </a:p>
          <a:p xmlns:a="http://schemas.openxmlformats.org/drawingml/2006/main">
            <a:r>
              <a:t>https://simfch.ru/2022/03/02/glava-respubliki-krym-sergej-aksyonov-prizval-krymchan-k-informaczionnoj-mobilizaczii-otkrytomu-i-publichnomu-vyrazheniyu-svoej-patrioticheskoj-poziczii/</a:t>
            </a:r>
          </a:p>
          <a:p xmlns:a="http://schemas.openxmlformats.org/drawingml/2006/main">
            <a:r>
              <a:t>https://www.rbc.ru/politics/29/05/2023/64749e389a7947f3de98dff2</a:t>
            </a:r>
          </a:p>
          <a:p xmlns:a="http://schemas.openxmlformats.org/drawingml/2006/main">
            <a:r>
              <a:t>https://ru.krymr.com/a/krym-sergey-aksenov-pvo-prilety-bavovna-bezopasnost-pvo-udar/32631709.html</a:t>
            </a:r>
          </a:p>
          <a:p xmlns:a="http://schemas.openxmlformats.org/drawingml/2006/main">
            <a:r>
              <a:t>https://rostov.rbc.ru/rostov/interview/18/03/2024/65f75c4f9a7947c8b475ab94</a:t>
            </a:r>
          </a:p>
          <a:p xmlns:a="http://schemas.openxmlformats.org/drawingml/2006/main">
            <a:r>
              <a:t>https://www.kommersant.ru/doc/7715230</a:t>
            </a:r>
          </a:p>
          <a:p xmlns:a="http://schemas.openxmlformats.org/drawingml/2006/main">
            <a:r>
              <a:t>https://www.kommersant.ru/doc/5154319</a:t>
            </a:r>
          </a:p>
          <a:p xmlns:a="http://schemas.openxmlformats.org/drawingml/2006/main">
            <a:r>
              <a:t>https://www.rbc.ru/person/660290b19a7947801fe9439b</a:t>
            </a:r>
          </a:p>
          <a:p xmlns:a="http://schemas.openxmlformats.org/drawingml/2006/main">
            <a:r>
              <a:t>https://www.kommersant.ru/doc/3759211</a:t>
            </a:r>
          </a:p>
          <a:p xmlns:a="http://schemas.openxmlformats.org/drawingml/2006/main">
            <a:r>
              <a:t>https://tass.ru/info/6656656</a:t>
            </a:r>
          </a:p>
          <a:p xmlns:a="http://schemas.openxmlformats.org/drawingml/2006/main">
            <a:r>
              <a:t>https://sevastopol.er.ru/pages/otchet-gubernatora-sevastopolya-mihaila-razvozhaeva</a:t>
            </a:r>
          </a:p>
          <a:p xmlns:a="http://schemas.openxmlformats.org/drawingml/2006/main">
            <a:r>
              <a:t>http://special.kremlin.ru/catalog/persons/579/events/76271</a:t>
            </a:r>
          </a:p>
          <a:p xmlns:a="http://schemas.openxmlformats.org/drawingml/2006/main">
            <a:r>
              <a:t>https://sevastopol.su/news/chastnyy-biznes-vlozhil-v-sevastopol-250-mlrd-rubley-za-tri-goda</a:t>
            </a:r>
          </a:p>
          <a:p xmlns:a="http://schemas.openxmlformats.org/drawingml/2006/main">
            <a:r>
              <a:t>https://sevastopol.su/news/v-sevastopole-ocenili-perspektivy-mikhaila-razvozhaeva-na-sleduyuschikh-vyborakh</a:t>
            </a:r>
          </a:p>
          <a:p xmlns:a="http://schemas.openxmlformats.org/drawingml/2006/main">
            <a:r>
              <a:t>https://tass.ru/interviews/10248577</a:t>
            </a:r>
          </a:p>
          <a:p xmlns:a="http://schemas.openxmlformats.org/drawingml/2006/main">
            <a:r>
              <a:t>https://news.ru/russia/u-nas-smelye-plany-gubernator-sevastopolya-razvozzhaev-o-budushem-goroda</a:t>
            </a:r>
          </a:p>
          <a:p xmlns:a="http://schemas.openxmlformats.org/drawingml/2006/main">
            <a:r>
              <a:t>http://kremlin.ru/events/administration/80838</a:t>
            </a:r>
          </a:p>
          <a:p xmlns:a="http://schemas.openxmlformats.org/drawingml/2006/main">
            <a:r>
              <a:t>https://tass.ru/kultura/28214691</a:t>
            </a:r>
          </a:p>
          <a:p xmlns:a="http://schemas.openxmlformats.org/drawingml/2006/main">
            <a:r>
              <a:t>http://kremlin.ru/events/administration/80591</a:t>
            </a:r>
          </a:p>
          <a:p xmlns:a="http://schemas.openxmlformats.org/drawingml/2006/main">
            <a:r>
              <a:t>https://governors.ru/glava-regiona/Belgorodskaya-oblast/Gladkov-Vyacheslav-Vladimirovich</a:t>
            </a:r>
          </a:p>
          <a:p xmlns:a="http://schemas.openxmlformats.org/drawingml/2006/main">
            <a:r>
              <a:t>https://ru.wikipedia.org/wiki/%D0%93%D0%BB%D0%B0%D0%B4%D0%BA%D0%BE%D0%B2,_%D0%92%D1%8F%D1%87%D0%B5%D1%81%D0%BB%D0%B0%D0%B2_%D0%92%D0%BB%D0%B0%D0%B4%D0%B8%D0%BC%D0%B8%D1%80%D0%BE%D0%B2%D0%B8%D1%87</a:t>
            </a:r>
          </a:p>
          <a:p xmlns:a="http://schemas.openxmlformats.org/drawingml/2006/main">
            <a:r>
              <a:t>http://council.gov.ru/structure/persons/1543/</a:t>
            </a:r>
          </a:p>
          <a:p xmlns:a="http://schemas.openxmlformats.org/drawingml/2006/main">
            <a:r>
              <a:t>https://ufa.rbc.ru/person/648345539a794760fd0c17e8</a:t>
            </a:r>
          </a:p>
          <a:p xmlns:a="http://schemas.openxmlformats.org/drawingml/2006/main">
            <a:r>
              <a:t>https://www.kommersant.ru/doc/8571119</a:t>
            </a:r>
          </a:p>
          <a:p xmlns:a="http://schemas.openxmlformats.org/drawingml/2006/main">
            <a:r>
              <a:t>https://www.kommersant.ru/doc/8655079</a:t>
            </a:r>
          </a:p>
          <a:p xmlns:a="http://schemas.openxmlformats.org/drawingml/2006/main">
            <a:r>
              <a:t>https://tass.ru/info/27861241</a:t>
            </a:r>
          </a:p>
          <a:p xmlns:a="http://schemas.openxmlformats.org/drawingml/2006/main">
            <a:r>
              <a:t>https://meduza.io/feature/2023/06/08/emu-by-vse-eto-razgresti</a:t>
            </a:r>
          </a:p>
          <a:p xmlns:a="http://schemas.openxmlformats.org/drawingml/2006/main">
            <a:r>
              <a:t>http://www.kremlin.ru/events/president/transcripts/66288</a:t>
            </a:r>
          </a:p>
          <a:p xmlns:a="http://schemas.openxmlformats.org/drawingml/2006/main">
            <a:r>
              <a:t>https://www.belpressa.ru/politics/vlast/62665.html</a:t>
            </a:r>
          </a:p>
          <a:p xmlns:a="http://schemas.openxmlformats.org/drawingml/2006/main">
            <a:r>
              <a:t>https://www.belpressa.ru/politics/vlast/71368.html</a:t>
            </a:r>
          </a:p>
          <a:p xmlns:a="http://schemas.openxmlformats.org/drawingml/2006/main">
            <a:r>
              <a:t>https://www.belnovosti.ru/politika/gubernator/127077.html</a:t>
            </a:r>
          </a:p>
          <a:p xmlns:a="http://schemas.openxmlformats.org/drawingml/2006/main">
            <a:r>
              <a:t>https://chr.plus.rbc.ru/news/694b9fb67a8aa90f9c2ce17d</a:t>
            </a:r>
          </a:p>
          <a:p xmlns:a="http://schemas.openxmlformats.org/drawingml/2006/main">
            <a:r>
              <a:t>https://www.belpressa.ru/society/bezopasnost/43348.html</a:t>
            </a:r>
          </a:p>
          <a:p xmlns:a="http://schemas.openxmlformats.org/drawingml/2006/main">
            <a:r>
              <a:t>https://www.rbc.ru/politics/07/03/2023/640758bf9a7947f6af99d464</a:t>
            </a:r>
          </a:p>
          <a:p xmlns:a="http://schemas.openxmlformats.org/drawingml/2006/main">
            <a:r>
              <a:t>https://www.rbc.ru/politics/24/05/2023/646d22029a794797c4bac4bf</a:t>
            </a:r>
          </a:p>
          <a:p xmlns:a="http://schemas.openxmlformats.org/drawingml/2006/main">
            <a:r>
              <a:t>https://www.bbc.com/russian/articles/c70dkd0pvrlo</a:t>
            </a:r>
          </a:p>
          <a:p xmlns:a="http://schemas.openxmlformats.org/drawingml/2006/main">
            <a:r>
              <a:t>https://www.go31.ru/news/proisshestviya/kak-nikto-drugoy-ponimaem-chto-takoe-agressiya-so-storony-ukrainy-gladkov-o-proryve-granitsy-v-kursk/</a:t>
            </a:r>
          </a:p>
          <a:p xmlns:a="http://schemas.openxmlformats.org/drawingml/2006/main">
            <a:r>
              <a:t>https://echofm.online/portret-dnya/portret-dnya-vyacheslav-gladkov-gubernator-belgorodskoj-oblasti-prognozy-o-sudbe-kotorogo-raznyatsya-ot-posta-posla-v-abhazii-do-ugolovnogo-dela</a:t>
            </a:r>
          </a:p>
          <a:p xmlns:a="http://schemas.openxmlformats.org/drawingml/2006/main">
            <a:r>
              <a:t>https://www.kommersant.ru/doc/3917861</a:t>
            </a:r>
          </a:p>
          <a:p xmlns:a="http://schemas.openxmlformats.org/drawingml/2006/main">
            <a:r>
              <a:t>https://minstroyrf.gov.ru/press/okolo-40-kontsessionnykh-soglasheniy-v-rossii-deystvuet-v-sfere-zhkkh/</a:t>
            </a:r>
          </a:p>
          <a:p xmlns:a="http://schemas.openxmlformats.org/drawingml/2006/main">
            <a:r>
              <a:t>https://newsroom24.ru/murmansk/news/politics/2026/news_323931/</a:t>
            </a:r>
          </a:p>
          <a:p xmlns:a="http://schemas.openxmlformats.org/drawingml/2006/main">
            <a:r>
              <a:t>https://murmansk.ru/52053</a:t>
            </a:r>
          </a:p>
          <a:p xmlns:a="http://schemas.openxmlformats.org/drawingml/2006/main">
            <a:r>
              <a:t>https://51.ru/text/gorod/2026/01/22/76228112/</a:t>
            </a:r>
          </a:p>
          <a:p xmlns:a="http://schemas.openxmlformats.org/drawingml/2006/main">
            <a:r>
              <a:t>https://www.murman.ru/news/2026/05/02/2334/</a:t>
            </a:r>
          </a:p>
          <a:p xmlns:a="http://schemas.openxmlformats.org/drawingml/2006/main">
            <a:r>
              <a:t>https://murman.ru/news/2026/09/06/2141/</a:t>
            </a:r>
          </a:p>
          <a:p xmlns:a="http://schemas.openxmlformats.org/drawingml/2006/main">
            <a:r>
              <a:t>https://www.murman.ru/news/2026/09/13/2242/</a:t>
            </a:r>
          </a:p>
          <a:p xmlns:a="http://schemas.openxmlformats.org/drawingml/2006/main">
            <a:r>
              <a:t>https://ru.wikipedia.org/wiki/%D0%A7%D0%B8%D0%B1%D0%B8%D1%81,_%D0%90%D0%BD%D0%B4%D1%80%D0%B5%D0%B9_%D0%92%D0%BB%D0%B0%D0%B4%D0%B8%D0%BC%D0%B8%D1%80%D0%BE%D0%B2%D0%B8%D1%87</a:t>
            </a:r>
          </a:p>
          <a:p xmlns:a="http://schemas.openxmlformats.org/drawingml/2006/main">
            <a:r>
              <a:t>https://tass.ru/obschestvo/23491353</a:t>
            </a:r>
          </a:p>
          <a:p xmlns:a="http://schemas.openxmlformats.org/drawingml/2006/main">
            <a:r>
              <a:t>https://www.murman.ru/news/2026/09/03/2243/</a:t>
            </a:r>
          </a:p>
          <a:p xmlns:a="http://schemas.openxmlformats.org/drawingml/2006/main">
            <a:r>
              <a:t>https://msp.citymurmansk.ru/news/2026/09/03/0930/</a:t>
            </a:r>
          </a:p>
          <a:p xmlns:a="http://schemas.openxmlformats.org/drawingml/2006/main">
            <a:r>
              <a:t>http://kremlin.ru/events/president/letters/80916</a:t>
            </a:r>
          </a:p>
          <a:p xmlns:a="http://schemas.openxmlformats.org/drawingml/2006/main">
            <a:r>
              <a:t>https://www.murmansk.kp.ru/daily/277813.4/5300258/</a:t>
            </a:r>
          </a:p>
          <a:p xmlns:a="http://schemas.openxmlformats.org/drawingml/2006/main">
            <a:r>
              <a:t>https://www.fontanka.ru/2021/07/27/70046798/</a:t>
            </a:r>
          </a:p>
          <a:p xmlns:a="http://schemas.openxmlformats.org/drawingml/2006/main">
            <a:r>
              <a:t>https://www.kommersant.ru/doc/4639758</a:t>
            </a:r>
          </a:p>
          <a:p xmlns:a="http://schemas.openxmlformats.org/drawingml/2006/main">
            <a:r>
              <a:t>https://www.bbc.com/russian/news-55614829</a:t>
            </a:r>
          </a:p>
          <a:p xmlns:a="http://schemas.openxmlformats.org/drawingml/2006/main">
            <a:r>
              <a:t>https://newpeople.ru/Deputy/sardana-avksenteva</a:t>
            </a:r>
          </a:p>
          <a:p xmlns:a="http://schemas.openxmlformats.org/drawingml/2006/main">
            <a:r>
              <a:t>https://www.pnp.ru/economics/kontrol-za-koncessionnymi-soglasheniyami-predlozhili-usilit.html</a:t>
            </a:r>
          </a:p>
          <a:p xmlns:a="http://schemas.openxmlformats.org/drawingml/2006/main">
            <a:r>
              <a:t>https://www.ng.ru/politics/2024-12-05/1_9150_right.html</a:t>
            </a:r>
          </a:p>
          <a:p xmlns:a="http://schemas.openxmlformats.org/drawingml/2006/main">
            <a:r>
              <a:t>https://news.ru/society/v-novyh-lyudyah-rasskazali-o-glavnyh-zadachah-partii-pered-vyborami</a:t>
            </a:r>
          </a:p>
          <a:p xmlns:a="http://schemas.openxmlformats.org/drawingml/2006/main">
            <a:r>
              <a:t>https://www.kommersant.ru/doc/8939397</a:t>
            </a:r>
          </a:p>
          <a:p xmlns:a="http://schemas.openxmlformats.org/drawingml/2006/main">
            <a:r>
              <a:t>https://tass.ru/info/5220823</a:t>
            </a:r>
          </a:p>
          <a:p xmlns:a="http://schemas.openxmlformats.org/drawingml/2006/main">
            <a:r>
              <a:t>https://tass.ru/info/15547711</a:t>
            </a:r>
          </a:p>
          <a:p xmlns:a="http://schemas.openxmlformats.org/drawingml/2006/main">
            <a:r>
              <a:t>https://www.bbc.com/russian/features-62661643</a:t>
            </a:r>
          </a:p>
          <a:p xmlns:a="http://schemas.openxmlformats.org/drawingml/2006/main">
            <a:r>
              <a:t>https://www.kommersant.ru/doc/3298219</a:t>
            </a:r>
          </a:p>
          <a:p xmlns:a="http://schemas.openxmlformats.org/drawingml/2006/main">
            <a:r>
              <a:t>https://www.svoboda.org/a/31217129.html</a:t>
            </a:r>
          </a:p>
          <a:p xmlns:a="http://schemas.openxmlformats.org/drawingml/2006/main">
            <a:r>
              <a:t>https://www.interfax.ru/russia/902059</a:t>
            </a:r>
          </a:p>
          <a:p xmlns:a="http://schemas.openxmlformats.org/drawingml/2006/main">
            <a:r>
              <a:t>https://www.bfm.ru/news/525620</a:t>
            </a:r>
          </a:p>
          <a:p xmlns:a="http://schemas.openxmlformats.org/drawingml/2006/main">
            <a:r>
              <a:t>https://novayagazeta.ru/articles/2023/03/16/do-urovnia-myshei-media</a:t>
            </a:r>
          </a:p>
          <a:p xmlns:a="http://schemas.openxmlformats.org/drawingml/2006/main">
            <a:r>
              <a:t>https://tjournal.ru/71076</a:t>
            </a:r>
          </a:p>
          <a:p xmlns:a="http://schemas.openxmlformats.org/drawingml/2006/main">
            <a:r>
              <a:t>https://www.nakanune.ru/articles/111648/</a:t>
            </a:r>
          </a:p>
          <a:p xmlns:a="http://schemas.openxmlformats.org/drawingml/2006/main">
            <a:r>
              <a:t>https://adcmemorial.org/statyi/kolonki/neprotivlenie-rasizmu/</a:t>
            </a:r>
          </a:p>
          <a:p xmlns:a="http://schemas.openxmlformats.org/drawingml/2006/main">
            <a:r>
              <a:t>https://www.svoboda.org/a/royzman-i-drugie-zhiteli-ekaterinburga/31997151.html</a:t>
            </a:r>
          </a:p>
          <a:p xmlns:a="http://schemas.openxmlformats.org/drawingml/2006/main">
            <a:r>
              <a:t>https://www.e1.ru/text/politics/2022/02/24/70466417/</a:t>
            </a:r>
          </a:p>
          <a:p xmlns:a="http://schemas.openxmlformats.org/drawingml/2006/main">
            <a:r>
              <a:t>https://www.dw.com/ru/kommentarij-evgenij-rojzman-i-sila-pravdy/a-62917754</a:t>
            </a:r>
          </a:p>
          <a:p xmlns:a="http://schemas.openxmlformats.org/drawingml/2006/main">
            <a:r>
              <a:t>https://meduza.io/paragraph/2022/08/26/priehali-moskvichi-i-dumali-chto-zdes-duraki-sobralis</a:t>
            </a:r>
          </a:p>
          <a:p xmlns:a="http://schemas.openxmlformats.org/drawingml/2006/main">
            <a:r>
              <a:t>https://znamlit.ru/publication.php?id=7379</a:t>
            </a:r>
          </a:p>
          <a:p xmlns:a="http://schemas.openxmlformats.org/drawingml/2006/main">
            <a:r>
              <a:t>https://tass.ru/interviews/6080499</a:t>
            </a:r>
          </a:p>
          <a:p xmlns:a="http://schemas.openxmlformats.org/drawingml/2006/main">
            <a:r>
              <a:t>https://45.ru/text/politics/2024/09/09/73952072/</a:t>
            </a:r>
          </a:p>
          <a:p xmlns:a="http://schemas.openxmlformats.org/drawingml/2006/main">
            <a:r>
              <a:t>http://special.kremlin.ru/events/president/news/70638</a:t>
            </a:r>
          </a:p>
          <a:p xmlns:a="http://schemas.openxmlformats.org/drawingml/2006/main">
            <a:r>
              <a:t>https://ura.news/news/1053132902</a:t>
            </a:r>
          </a:p>
          <a:p xmlns:a="http://schemas.openxmlformats.org/drawingml/2006/main">
            <a:r>
              <a:t>https://ura.news/articles/1036276564</a:t>
            </a:r>
          </a:p>
          <a:p xmlns:a="http://schemas.openxmlformats.org/drawingml/2006/main">
            <a:r>
              <a:t>https://tass.ru/novosti-regionov/28187431</a:t>
            </a:r>
          </a:p>
          <a:p xmlns:a="http://schemas.openxmlformats.org/drawingml/2006/main">
            <a:r>
              <a:t>https://fedpress.ru/person/1753607</a:t>
            </a:r>
          </a:p>
          <a:p xmlns:a="http://schemas.openxmlformats.org/drawingml/2006/main">
            <a:r>
              <a:t>https://eburg.mk.ru/social/2026/10/14/zhiteley-zauralya-predupredili-o-lozhnykh-videorolikakh-s-gubernatorom.html</a:t>
            </a:r>
          </a:p>
          <a:p xmlns:a="http://schemas.openxmlformats.org/drawingml/2006/main">
            <a:r>
              <a:t>https://regnum.ru/news/3530808</a:t>
            </a:r>
          </a:p>
          <a:p xmlns:a="http://schemas.openxmlformats.org/drawingml/2006/main">
            <a:r>
              <a:t>https://kurganvera.ru/news/vrns/mitropolit-daniil-i-vadim-shumkov-vozglavili-delegatsiyu-kurganskoy-oblasti-na-vsemirnom-russkom-sob/</a:t>
            </a:r>
          </a:p>
          <a:p xmlns:a="http://schemas.openxmlformats.org/drawingml/2006/main">
            <a:r>
              <a:t>https://45.ru/text/politics/2026/06/26/76499700/</a:t>
            </a:r>
          </a:p>
          <a:p xmlns:a="http://schemas.openxmlformats.org/drawingml/2006/main">
            <a:r>
              <a:t>https://niva-kurtamysh.com/news/obshchestvo/vystuplenie-gubernatora-kurganskoy-oblasti-vadima-shumkova</a:t>
            </a:r>
          </a:p>
          <a:p xmlns:a="http://schemas.openxmlformats.org/drawingml/2006/main">
            <a:r>
              <a:t>https://t.me/s/kurganskayaobl?before=42616</a:t>
            </a:r>
          </a:p>
          <a:p xmlns:a="http://schemas.openxmlformats.org/drawingml/2006/main">
            <a:r>
              <a:t>https://www.bbc.com/russian/news-54368577</a:t>
            </a:r>
          </a:p>
          <a:p xmlns:a="http://schemas.openxmlformats.org/drawingml/2006/main">
            <a:r>
              <a:t>https://www.bbc.com/russian/articles/cp0769dp15eo</a:t>
            </a:r>
          </a:p>
          <a:p xmlns:a="http://schemas.openxmlformats.org/drawingml/2006/main">
            <a:r>
              <a:t>https://navalny.com/materials/blogpost-6017</a:t>
            </a:r>
          </a:p>
          <a:p xmlns:a="http://schemas.openxmlformats.org/drawingml/2006/main">
            <a:r>
              <a:t>https://www.bbc.com/russian/news-58563592</a:t>
            </a:r>
          </a:p>
          <a:p xmlns:a="http://schemas.openxmlformats.org/drawingml/2006/main">
            <a:r>
              <a:t>https://navalny.com/materials/blogpost-6544</a:t>
            </a:r>
          </a:p>
          <a:p xmlns:a="http://schemas.openxmlformats.org/drawingml/2006/main">
            <a:r>
              <a:t>https://www.bbc.com/russian/news-58270043</a:t>
            </a:r>
          </a:p>
          <a:p xmlns:a="http://schemas.openxmlformats.org/drawingml/2006/main">
            <a:r>
              <a:t>https://www.bbc.com/russian/articles/cvg3p9l1e5ro</a:t>
            </a:r>
          </a:p>
          <a:p xmlns:a="http://schemas.openxmlformats.org/drawingml/2006/main">
            <a:r>
              <a:t>https://www.bbc.com/russian/features-54435835</a:t>
            </a:r>
          </a:p>
          <a:p xmlns:a="http://schemas.openxmlformats.org/drawingml/2006/main">
            <a:r>
              <a:t>https://2018.navalny.com/platform/7/</a:t>
            </a:r>
          </a:p>
          <a:p xmlns:a="http://schemas.openxmlformats.org/drawingml/2006/main">
            <a:r>
              <a:t>https://2018.navalny.com/platform/3/</a:t>
            </a:r>
          </a:p>
          <a:p xmlns:a="http://schemas.openxmlformats.org/drawingml/2006/main">
            <a:r>
              <a:t>https://2018.navalny.com/platform/10/</a:t>
            </a:r>
          </a:p>
          <a:p xmlns:a="http://schemas.openxmlformats.org/drawingml/2006/main">
            <a:r>
              <a:t>https://2018.navalny.com/platform/9/</a:t>
            </a:r>
          </a:p>
          <a:p xmlns:a="http://schemas.openxmlformats.org/drawingml/2006/main">
            <a:r>
              <a:t>https://navalny.com/editorials/aleksey-navalnyy-protiv-voyny</a:t>
            </a:r>
          </a:p>
          <a:p xmlns:a="http://schemas.openxmlformats.org/drawingml/2006/main">
            <a:r>
              <a:t>https://navalny.com/?p=149</a:t>
            </a:r>
          </a:p>
          <a:p xmlns:a="http://schemas.openxmlformats.org/drawingml/2006/main">
            <a:r>
              <a:t>https://www.interfax.ru/russia/876151</a:t>
            </a:r>
          </a:p>
          <a:p xmlns:a="http://schemas.openxmlformats.org/drawingml/2006/main">
            <a:r>
              <a:t>https://www.dw.com/ru/srok-ne-za-fejk-a-za-politiku-reakcii-v-frg-i-rf-na-prigovor-asinu/a-64049957</a:t>
            </a:r>
          </a:p>
          <a:p xmlns:a="http://schemas.openxmlformats.org/drawingml/2006/main">
            <a:r>
              <a:t>https://www.lemonde.fr/en/international/article/2025/05/27/russian-opposition-figure-ilya-yashin-if-ukraine-is-handed-over-to-putin-it-will-be-a-tragedy-and-the-prologue-to-a-global-confrontation_6741728_4.html</a:t>
            </a:r>
          </a:p>
          <a:p xmlns:a="http://schemas.openxmlformats.org/drawingml/2006/main">
            <a:r>
              <a:t>https://www.bbc.com/russian/articles/crgl69w9472o</a:t>
            </a:r>
          </a:p>
          <a:p xmlns:a="http://schemas.openxmlformats.org/drawingml/2006/main">
            <a:r>
              <a:t>https://www.svoboda.org/a/yashin-court/32165539.html</a:t>
            </a:r>
          </a:p>
          <a:p xmlns:a="http://schemas.openxmlformats.org/drawingml/2006/main">
            <a:r>
              <a:t>https://www.dw.com/ru/ila-asin-putin-predvoditel-sil-mrakobesia/a-69923731</a:t>
            </a:r>
          </a:p>
          <a:p xmlns:a="http://schemas.openxmlformats.org/drawingml/2006/main">
            <a:r>
              <a:t>https://novayagazeta.eu/articles/2025/08/01/my-ne-mozhem-trebovat-no-mozhem-obiasniat</a:t>
            </a:r>
          </a:p>
          <a:p xmlns:a="http://schemas.openxmlformats.org/drawingml/2006/main">
            <a:r>
              <a:t>https://meduza.io/feature/2019/07/20/to-chto-putin-ne-smog-sdelat-za-20-let-sobyanin-sdelal-za-mesyats</a:t>
            </a:r>
          </a:p>
          <a:p xmlns:a="http://schemas.openxmlformats.org/drawingml/2006/main">
            <a:r>
              <a:t>https://novayagazeta.eu/articles/2024/11/18/pochuvstvovat-sebia-ne-odinokimi</a:t>
            </a:r>
          </a:p>
          <a:p xmlns:a="http://schemas.openxmlformats.org/drawingml/2006/main">
            <a:r>
              <a:t>https://www.svoboda.org/a/voyna-putin-i-politzaklyuchennye-iljya-yashin-o-svoih-planah/33177839.html</a:t>
            </a:r>
          </a:p>
          <a:p xmlns:a="http://schemas.openxmlformats.org/drawingml/2006/main">
            <a:r>
              <a:t>https://www.dw.com/ru/asin-sejcas-nevozmozno-obedinit-rossijskuu-oppoziciu-da-i-ne-nuzno/a-70291088</a:t>
            </a:r>
          </a:p>
          <a:p xmlns:a="http://schemas.openxmlformats.org/drawingml/2006/main">
            <a:r>
              <a:t>https://www.dw.com/ru/vladimir-karamurza/t-37465233</a:t>
            </a:r>
          </a:p>
          <a:p xmlns:a="http://schemas.openxmlformats.org/drawingml/2006/main">
            <a:r>
              <a:t>https://ovd.info/persons/kara-murza-vladimir-vladimirovich</a:t>
            </a:r>
          </a:p>
          <a:p xmlns:a="http://schemas.openxmlformats.org/drawingml/2006/main">
            <a:r>
              <a:t>https://ovd.info/2024/08/03/kogo-rossiya-vydala-v-ramkakh-obmena-zaklyuchennymi-s-zapadom-istorii-osvobozhdennykh</a:t>
            </a:r>
          </a:p>
          <a:p xmlns:a="http://schemas.openxmlformats.org/drawingml/2006/main">
            <a:r>
              <a:t>https://www.svoboda.org/a/kara-murza-obmen/33059121.html</a:t>
            </a:r>
          </a:p>
          <a:p xmlns:a="http://schemas.openxmlformats.org/drawingml/2006/main">
            <a:r>
              <a:t>https://novayagazeta.ru/articles/2024/08/16/prezident-baiden-prinial-osvobozhdennogo-v-rezultate-obmena-politzakliuchennogo-vladimira-kara-murzu-s-semei-v-belom-dome-news</a:t>
            </a:r>
          </a:p>
          <a:p xmlns:a="http://schemas.openxmlformats.org/drawingml/2006/main">
            <a:r>
              <a:t>https://genevasummit.org/speech/vladimir-kara-murza-speaks-at-2018-geneva-summit-main-event/</a:t>
            </a:r>
          </a:p>
          <a:p xmlns:a="http://schemas.openxmlformats.org/drawingml/2006/main">
            <a:r>
              <a:t>https://humanrights.ca/event-series/presidents-lecture-series</a:t>
            </a:r>
          </a:p>
          <a:p xmlns:a="http://schemas.openxmlformats.org/drawingml/2006/main">
            <a:r>
              <a:t>https://www.radiofrance.fr/franceinter/podcasts/l-info-de-france-inter/la-democratie-doit-etre-protegee-chaque-minute-de-chaque-jour-declare-l-opposant-russe-vladimir-kara-mourza-8105094</a:t>
            </a:r>
          </a:p>
          <a:p xmlns:a="http://schemas.openxmlformats.org/drawingml/2006/main">
            <a:r>
              <a:t>https://georgetownvoice.com/2025/10/08/dissident-in-residence-vladimir-kara-murza-applies-past-lessons-to-present-day-in-recent-event-discussing-democracy/</a:t>
            </a:r>
          </a:p>
          <a:p xmlns:a="http://schemas.openxmlformats.org/drawingml/2006/main">
            <a:r>
              <a:t>https://www.oscepa.org/en/documents/winter-meetings/2025-vienna/speeches-36/5176-vladimir-kara-murza-address-to-the-osce-pa-winter-meeting-in-vienna-21-february-2025/file</a:t>
            </a:r>
          </a:p>
          <a:p xmlns:a="http://schemas.openxmlformats.org/drawingml/2006/main">
            <a:r>
              <a:t>https://hrf.org/wp-content/uploads/2024/10/VKM-%E2%80%93-Statement-of-Facts-and-Levinson-Analysis.pdf</a:t>
            </a:r>
          </a:p>
          <a:p xmlns:a="http://schemas.openxmlformats.org/drawingml/2006/main">
            <a:r>
              <a:t>https://www.govinfo.gov/content/pkg/CREC-2024-06-11/html/CREC-2024-06-11-pt1-PgH3699.htm</a:t>
            </a:r>
          </a:p>
          <a:p xmlns:a="http://schemas.openxmlformats.org/drawingml/2006/main">
            <a:r>
              <a:t>https://antiwarcommittee.info/en/statement-on-the-persecution-of-vladimir-kara-murza/</a:t>
            </a:r>
          </a:p>
          <a:p xmlns:a="http://schemas.openxmlformats.org/drawingml/2006/main">
            <a:r>
              <a:t>https://www.norway.no/en/missions/osce/norway-and-the-osce/statements/statements-with--norwegian-alignment-2024/joint-statement-on-vladimir-kara-murza/</a:t>
            </a:r>
          </a:p>
          <a:p xmlns:a="http://schemas.openxmlformats.org/drawingml/2006/main">
            <a:r>
              <a:t>https://www.aljazeera.com/news/2025/4/23/kremlin-critic-decried-for-racist-rant-on-minorities-fighting-for-russia</a:t>
            </a:r>
          </a:p>
          <a:p xmlns:a="http://schemas.openxmlformats.org/drawingml/2006/main">
            <a:r>
              <a:t>https://www.rmc.edu/news/former-political-prisoner-vladimir-kara-murza-offers-vision-of-hope-for-russian-democracy/</a:t>
            </a:r>
          </a:p>
          <a:p xmlns:a="http://schemas.openxmlformats.org/drawingml/2006/main">
            <a:r>
              <a:t>https://2018.yavlinsky.ru/campaign/</a:t>
            </a:r>
          </a:p>
          <a:p xmlns:a="http://schemas.openxmlformats.org/drawingml/2006/main">
            <a:r>
              <a:t>http://2018.yavlinsky.ru/programm/</a:t>
            </a:r>
          </a:p>
          <a:p xmlns:a="http://schemas.openxmlformats.org/drawingml/2006/main">
            <a:r>
              <a:t>https://campaign2018.yavlinsky.ru/</a:t>
            </a:r>
          </a:p>
          <a:p xmlns:a="http://schemas.openxmlformats.org/drawingml/2006/main">
            <a:r>
              <a:t>https://www.yavlinsky.ru/position/war/</a:t>
            </a:r>
          </a:p>
          <a:p xmlns:a="http://schemas.openxmlformats.org/drawingml/2006/main">
            <a:r>
              <a:t>https://www.yavlinsky.ru/position/cease-fire/</a:t>
            </a:r>
          </a:p>
          <a:p xmlns:a="http://schemas.openxmlformats.org/drawingml/2006/main">
            <a:r>
              <a:t>https://www.yavlinsky.ru/article_tax/ukraina/</a:t>
            </a:r>
          </a:p>
          <a:p xmlns:a="http://schemas.openxmlformats.org/drawingml/2006/main">
            <a:r>
              <a:t>https://www.yavlinsky.ru/biografiya/</a:t>
            </a:r>
          </a:p>
          <a:p xmlns:a="http://schemas.openxmlformats.org/drawingml/2006/main">
            <a:r>
              <a:t>https://www.yabloko.ru/publikatsii/2018/02/15_0</a:t>
            </a:r>
          </a:p>
          <a:p xmlns:a="http://schemas.openxmlformats.org/drawingml/2006/main">
            <a:r>
              <a:t>https://www.yabloko.ru/publikatsii/2018/06/19</a:t>
            </a:r>
          </a:p>
          <a:p xmlns:a="http://schemas.openxmlformats.org/drawingml/2006/main">
            <a:r>
              <a:t>https://www.yavlinsky.ru/article/eto-referendum/</a:t>
            </a:r>
          </a:p>
          <a:p xmlns:a="http://schemas.openxmlformats.org/drawingml/2006/main">
            <a:r>
              <a:t>https://www.svoboda.org/a/27801792.html</a:t>
            </a:r>
          </a:p>
          <a:p xmlns:a="http://schemas.openxmlformats.org/drawingml/2006/main">
            <a:r>
              <a:t>https://www.svoboda.org/a/29294829.html</a:t>
            </a:r>
          </a:p>
          <a:p xmlns:a="http://schemas.openxmlformats.org/drawingml/2006/main">
            <a:r>
              <a:t>https://www.yavlinsky.ru/article/intervyu-g-yavlinskogo-zhertvy-budut-proryva-net/</a:t>
            </a:r>
          </a:p>
          <a:p xmlns:a="http://schemas.openxmlformats.org/drawingml/2006/main">
            <a:r>
              <a:t>https://www.yavlinsky.ru/article/my-budem-idti-do-kontsa/</a:t>
            </a:r>
          </a:p>
          <a:p xmlns:a="http://schemas.openxmlformats.org/drawingml/2006/main">
            <a:r>
              <a:t>https://www.yavlinsky.ru/article/prezidentskie-vybory-1996-30-let-spustya/</a:t>
            </a:r>
          </a:p>
          <a:p xmlns:a="http://schemas.openxmlformats.org/drawingml/2006/main">
            <a:r>
              <a:t>https://www.forbes.ru/interview/45575-reformatory-prihodyat-k-vlasti-grigorii-yavlinskii</a:t>
            </a:r>
          </a:p>
          <a:p xmlns:a="http://schemas.openxmlformats.org/drawingml/2006/main">
            <a:r>
              <a:t>https://www.bbc.com/russian/articles/cy8ee2wngd8o</a:t>
            </a:r>
          </a:p>
          <a:p xmlns:a="http://schemas.openxmlformats.org/drawingml/2006/main">
            <a:r>
              <a:t>https://www.yabloko.ru/regnews/Pskov/2019/01/21-0</a:t>
            </a:r>
          </a:p>
          <a:p xmlns:a="http://schemas.openxmlformats.org/drawingml/2006/main">
            <a:r>
              <a:t>https://www.yabloko.ru/publikatsii/2019/06/14</a:t>
            </a:r>
          </a:p>
          <a:p xmlns:a="http://schemas.openxmlformats.org/drawingml/2006/main">
            <a:r>
              <a:t>https://zona.media/article/2019/02/27/pskov</a:t>
            </a:r>
          </a:p>
          <a:p xmlns:a="http://schemas.openxmlformats.org/drawingml/2006/main">
            <a:r>
              <a:t>https://spektr.press/ya-otvechayu-za-vse-mnoj-skazannoe-no-ne-otvechayu-za-izvraschenie-skazannogo-lev-shlosberg-o-travle-i-setkah-telegram-kanalov-odnokletochnyh-politikah-reshivshih-pobedit-putina-rukami-u/</a:t>
            </a:r>
          </a:p>
          <a:p xmlns:a="http://schemas.openxmlformats.org/drawingml/2006/main">
            <a:r>
              <a:t>https://www.yabloko.ru/Persons/shlosberg.html</a:t>
            </a:r>
          </a:p>
          <a:p xmlns:a="http://schemas.openxmlformats.org/drawingml/2006/main">
            <a:r>
              <a:t>https://pln-pskov.ru/politics/314872.html</a:t>
            </a:r>
          </a:p>
          <a:p xmlns:a="http://schemas.openxmlformats.org/drawingml/2006/main">
            <a:r>
              <a:t>https://www.yabloko.ru/publikatsii/2022/02/18-0</a:t>
            </a:r>
          </a:p>
          <a:p xmlns:a="http://schemas.openxmlformats.org/drawingml/2006/main">
            <a:r>
              <a:t>https://ru.krymr.com/a/rossiya-putin-voyna-repressii-lev-shlosberg-intervyu/31806389.html</a:t>
            </a:r>
          </a:p>
          <a:p xmlns:a="http://schemas.openxmlformats.org/drawingml/2006/main">
            <a:r>
              <a:t>https://www.currenttime.tv/a/politika-vlastey-chtoby-lyudi-perestali-govorit-o-spetsialnoy-voennoy-operatsii-lev-shlosberg-o-dele-protiv-nego-i-nikolaya-kuzmina/31807396.html</a:t>
            </a:r>
          </a:p>
          <a:p xmlns:a="http://schemas.openxmlformats.org/drawingml/2006/main">
            <a:r>
              <a:t>https://zona.media/article/2026/08/14/schlosberg</a:t>
            </a:r>
          </a:p>
          <a:p xmlns:a="http://schemas.openxmlformats.org/drawingml/2006/main">
            <a:r>
              <a:t>https://www.svoboda.org/a/lishniy-zalozhnik-vot-chto-im-vazhno-arest-lva-shlosberga/33615624.html</a:t>
            </a:r>
          </a:p>
          <a:p xmlns:a="http://schemas.openxmlformats.org/drawingml/2006/main">
            <a:r>
              <a:t>https://novayagazeta.eu/articles/2026/08/17/ostavshiisia</a:t>
            </a:r>
          </a:p>
          <a:p xmlns:a="http://schemas.openxmlformats.org/drawingml/2006/main">
            <a:r>
              <a:t>https://www.yabloko.ru/content/vishnevskii_boris_lazarevich</a:t>
            </a:r>
          </a:p>
          <a:p xmlns:a="http://schemas.openxmlformats.org/drawingml/2006/main">
            <a:r>
              <a:t>https://www.dp.ru/a/2018/06/18/Aktivnaja_storona_konflikt</a:t>
            </a:r>
          </a:p>
          <a:p xmlns:a="http://schemas.openxmlformats.org/drawingml/2006/main">
            <a:r>
              <a:t>https://www.bbc.com/russian/features-58481940</a:t>
            </a:r>
          </a:p>
          <a:p xmlns:a="http://schemas.openxmlformats.org/drawingml/2006/main">
            <a:r>
              <a:t>https://www.dp.ru/a/2023/01/16/Deputat_Peterburga_Vishnev</a:t>
            </a:r>
          </a:p>
          <a:p xmlns:a="http://schemas.openxmlformats.org/drawingml/2006/main">
            <a:r>
              <a:t>https://echofm.online/portret-dnya/portret-dnya-boris-vishnevskij-peterburgskij-politik</a:t>
            </a:r>
          </a:p>
          <a:p xmlns:a="http://schemas.openxmlformats.org/drawingml/2006/main">
            <a:r>
              <a:t>https://spb.yabloko.ru/people/vishnevskij-boris-lazarevich/</a:t>
            </a:r>
          </a:p>
          <a:p xmlns:a="http://schemas.openxmlformats.org/drawingml/2006/main">
            <a:r>
              <a:t>https://www.dp.ru/a/2026/08/26/bitva-nachalas-gde-v-peterburge</a:t>
            </a:r>
          </a:p>
          <a:p xmlns:a="http://schemas.openxmlformats.org/drawingml/2006/main">
            <a:r>
              <a:t>https://www.yabloko.ru/regnews/Spb/2022/02/21</a:t>
            </a:r>
          </a:p>
          <a:p xmlns:a="http://schemas.openxmlformats.org/drawingml/2006/main">
            <a:r>
              <a:t>https://www.yabloko.ru/cat-news/2021/08/06-0</a:t>
            </a:r>
          </a:p>
          <a:p xmlns:a="http://schemas.openxmlformats.org/drawingml/2006/main">
            <a:r>
              <a:t>https://www.rbc.ru/spb_sz/16/01/2023/63c53d9c9a7947d9bef4b853</a:t>
            </a:r>
          </a:p>
          <a:p xmlns:a="http://schemas.openxmlformats.org/drawingml/2006/main">
            <a:r>
              <a:t>https://www.rbc.ru/politics/06/05/2024/6638a8609a79472c01075a2c</a:t>
            </a:r>
          </a:p>
          <a:p xmlns:a="http://schemas.openxmlformats.org/drawingml/2006/main">
            <a:r>
              <a:t>https://www.svoboda.org/a/politika-dmitriya-gudkova-deportirovali-iz-gruzii-v-kiev/31679697.html</a:t>
            </a:r>
          </a:p>
          <a:p xmlns:a="http://schemas.openxmlformats.org/drawingml/2006/main">
            <a:r>
              <a:t>https://ru.krymr.com/a/dmitriy-gudkov-ob-otyezde-iz-rossii/31295079.html</a:t>
            </a:r>
          </a:p>
          <a:p xmlns:a="http://schemas.openxmlformats.org/drawingml/2006/main">
            <a:r>
              <a:t>https://daily.afisha.ru/news/114366-syn-politika-dmitriya-gudkova-pokonchil-s-soboy-v-emigracii/amp/</a:t>
            </a:r>
          </a:p>
          <a:p xmlns:a="http://schemas.openxmlformats.org/drawingml/2006/main">
            <a:r>
              <a:t>https://life.ru/t/dmitriygudkov</a:t>
            </a:r>
          </a:p>
          <a:p xmlns:a="http://schemas.openxmlformats.org/drawingml/2006/main">
            <a:r>
              <a:t>https://uk.wikipedia.org/wiki/%D0%93%D1%83%D0%B4%D0%BA%D0%BE%D0%B2_%D0%94%D0%BC%D0%B8%D1%82%D1%80%D1%96%D0%B9_%D0%93%D0%B5%D0%BD%D0%B0%D0%B4%D1%96%D0%B9%D0%BE%D0%B2%D0%B8%D1%87</a:t>
            </a:r>
          </a:p>
          <a:p xmlns:a="http://schemas.openxmlformats.org/drawingml/2006/main">
            <a:r>
              <a:t>https://mt.gazeta.ru/blog/43692366076/Syin-byivshego-deputata-Gosdumyi-Dmitriya-Gudkova-pokonchil-s-so?utm_referrer=mirtesen.ru</a:t>
            </a:r>
          </a:p>
          <a:p xmlns:a="http://schemas.openxmlformats.org/drawingml/2006/main">
            <a:r>
              <a:t>https://www.bbc.com/russian/news-57381443</a:t>
            </a:r>
          </a:p>
          <a:p xmlns:a="http://schemas.openxmlformats.org/drawingml/2006/main">
            <a:r>
              <a:t>https://www.themoscowtimes.com/2021/06/06/kremlin-critic-dmitry-gudkov-flees-to-ukraine-a74123</a:t>
            </a:r>
          </a:p>
          <a:p xmlns:a="http://schemas.openxmlformats.org/drawingml/2006/main">
            <a:r>
              <a:t>https://www.yabloko.ru/publikatsii/2016/09/15</a:t>
            </a:r>
          </a:p>
          <a:p xmlns:a="http://schemas.openxmlformats.org/drawingml/2006/main">
            <a:r>
              <a:t>https://novayagazeta.ru/articles/2018/03/21/75886-ya-privyk-lyudyam-verit</a:t>
            </a:r>
          </a:p>
          <a:p xmlns:a="http://schemas.openxmlformats.org/drawingml/2006/main">
            <a:r>
              <a:t>https://www.rbc.ru/politics/15/03/2018/5aaa98049a7947d12d63f1e1</a:t>
            </a:r>
          </a:p>
          <a:p xmlns:a="http://schemas.openxmlformats.org/drawingml/2006/main">
            <a:r>
              <a:t>https://rus.team/people/gudkov-dmitrij-gennadevich</a:t>
            </a:r>
          </a:p>
          <a:p xmlns:a="http://schemas.openxmlformats.org/drawingml/2006/main">
            <a:r>
              <a:t>https://www.azattyqasia.org/a/chto-proiskhodit-v-donbasse-/31863310/lbl0lbi299676.html</a:t>
            </a:r>
          </a:p>
          <a:p xmlns:a="http://schemas.openxmlformats.org/drawingml/2006/main">
            <a:r>
              <a:t>https://www.dw.com/ru/dmitrij-gudkov-putin-na-storone-partii-vojny-no-pri-etom-on-trus-21092022/video-63193199</a:t>
            </a:r>
          </a:p>
          <a:p xmlns:a="http://schemas.openxmlformats.org/drawingml/2006/main">
            <a:r>
              <a:t>https://ru.wikinews.org/wiki/%D0%9A%D0%B0%D1%82%D0%B5%D0%B3%D0%BE%D1%80%D0%B8%D1%8F:%D0%93%D0%B5%D0%BD%D0%BD%D0%B0%D0%B4%D0%B8%D0%B9_%D0%93%D1%83%D0%B4%D0%BA%D0%BE%D0%B2</a:t>
            </a:r>
          </a:p>
          <a:p xmlns:a="http://schemas.openxmlformats.org/drawingml/2006/main">
            <a:r>
              <a:t>https://en.wikipedia.org/wiki/Gennady_Gudkov</a:t>
            </a:r>
          </a:p>
          <a:p xmlns:a="http://schemas.openxmlformats.org/drawingml/2006/main">
            <a:r>
              <a:t>https://x.com/gudkov_g</a:t>
            </a:r>
          </a:p>
          <a:p xmlns:a="http://schemas.openxmlformats.org/drawingml/2006/main">
            <a:r>
              <a:t>https://www.dw.com/ru/chto-dmitrij-gudkov-nameren-delat-v-ukraine-i-vernetsja-li-v-rossiju/a-57830619</a:t>
            </a:r>
          </a:p>
          <a:p xmlns:a="http://schemas.openxmlformats.org/drawingml/2006/main">
            <a:r>
              <a:t>https://ru.wikipedia.org/wiki/%D0%93%D1%83%D0%B4%D0%BA%D0%BE%D0%B2,_%D0%93%D0%B5%D0%BD%D0%BD%D0%B0%D0%B4%D0%B8%D0%B9_%D0%92%D0%BB%D0%B0%D0%B4%D0%B8%D0%BC%D0%B8%D1%80%D0%BE%D0%B2%D0%B8%D1%87</a:t>
            </a:r>
          </a:p>
          <a:p xmlns:a="http://schemas.openxmlformats.org/drawingml/2006/main">
            <a:r>
              <a:t>https://ru.wikipedia.org/wiki/%D0%93%D1%83%D0%B4%D0%BA%D0%BE%D0%B2,_%D0%94%D0%BC%D0%B8%D1%82%D1%80%D0%B8%D0%B9_%D0%93%D0%B5%D0%BD%D0%BD%D0%B0%D0%B4%D1%8C%D0%B5%D0%B2%D0%B8%D1%87</a:t>
            </a:r>
          </a:p>
          <a:p xmlns:a="http://schemas.openxmlformats.org/drawingml/2006/main">
            <a:r>
              <a:t>https://utro02.tv/2022/10/31/navstrechu-sezdu-gennadij-gudkov-o-vyborah-obedinenii-oppoziczii-i-razdelenii-vlasti/</a:t>
            </a:r>
          </a:p>
          <a:p xmlns:a="http://schemas.openxmlformats.org/drawingml/2006/main">
            <a:r>
              <a:t>https://www.unian.net/war/rossiyskiy-oppozicioner-gudkov-putin-nachinaet-ponimat-chto-nastupaet-zh-pa-12031263.html</a:t>
            </a:r>
          </a:p>
          <a:p xmlns:a="http://schemas.openxmlformats.org/drawingml/2006/main">
            <a:r>
              <a:t>https://bntnews.bg/genadiy-gudkov-86846tag.html</a:t>
            </a:r>
          </a:p>
          <a:p xmlns:a="http://schemas.openxmlformats.org/drawingml/2006/main">
            <a:r>
              <a:t>https://tass.ru/encyclopedia/person/gudkov-dmitriy-gennadevich</a:t>
            </a:r>
          </a:p>
          <a:p xmlns:a="http://schemas.openxmlformats.org/drawingml/2006/main">
            <a:r>
              <a:t>https://www.kasparov.com/garry-kasparov-on-putin-and-the-virus-of-imperialism-wsj-free-expression-april-11-2022/</a:t>
            </a:r>
          </a:p>
          <a:p xmlns:a="http://schemas.openxmlformats.org/drawingml/2006/main">
            <a:r>
              <a:t>https://www.ilmessaggero.it/en/garry_kasparov_from_chess_champion_to_kremlin_critic-9797261.html</a:t>
            </a:r>
          </a:p>
          <a:p xmlns:a="http://schemas.openxmlformats.org/drawingml/2006/main">
            <a:r>
              <a:t>https://www.kasparov.com/category/russia/</a:t>
            </a:r>
          </a:p>
          <a:p xmlns:a="http://schemas.openxmlformats.org/drawingml/2006/main">
            <a:r>
              <a:t>https://www.kasparov.com/category/politics/</a:t>
            </a:r>
          </a:p>
          <a:p xmlns:a="http://schemas.openxmlformats.org/drawingml/2006/main">
            <a:r>
              <a:t>https://en.wikipedia.org/wiki/Political_views_of_Garry_Kasparov</a:t>
            </a:r>
          </a:p>
          <a:p xmlns:a="http://schemas.openxmlformats.org/drawingml/2006/main">
            <a:r>
              <a:t>https://www.dw.com/ru/kasparov-v-intervu-dw-vse-cto-delal-delaet-i-budet-delat-tramp-pomogaet-putinu/a-79633734</a:t>
            </a:r>
          </a:p>
          <a:p xmlns:a="http://schemas.openxmlformats.org/drawingml/2006/main">
            <a:r>
              <a:t>https://www.kasparov.com/</a:t>
            </a:r>
          </a:p>
          <a:p xmlns:a="http://schemas.openxmlformats.org/drawingml/2006/main">
            <a:r>
              <a:t>https://www.kasparov.com/a-conversation-with-garry-kasparov-thought-economics-with-vikas-shas-may-21-2017/</a:t>
            </a:r>
          </a:p>
          <a:p xmlns:a="http://schemas.openxmlformats.org/drawingml/2006/main">
            <a:r>
              <a:t>https://www.kasparov.com/new-yorker-interview-the-chess-grandmaster-and-political-activist-on-putin-trump-and-how-we-are-living-again-through-the-eighteen-fifties/</a:t>
            </a:r>
          </a:p>
          <a:p xmlns:a="http://schemas.openxmlformats.org/drawingml/2006/main">
            <a:r>
              <a:t>https://www.cnbc.com/2017/02/13/the-full-interview-with-former-world-chess-champion-garry-kasparov-on-trump-putin.html</a:t>
            </a:r>
          </a:p>
          <a:p xmlns:a="http://schemas.openxmlformats.org/drawingml/2006/main">
            <a:r>
              <a:t>https://www.reuters.com/world/europe/kasparov-calls-world-powers-throw-russia-back-into-stone-age-2022-03-03/</a:t>
            </a:r>
          </a:p>
          <a:p xmlns:a="http://schemas.openxmlformats.org/drawingml/2006/main">
            <a:r>
              <a:t>https://khodorkovsky.com/open-russia-manifesto/</a:t>
            </a:r>
          </a:p>
          <a:p xmlns:a="http://schemas.openxmlformats.org/drawingml/2006/main">
            <a:r>
              <a:t>https://khodorkovsky.com/programmes/initiatives/openrussia/</a:t>
            </a:r>
          </a:p>
          <a:p xmlns:a="http://schemas.openxmlformats.org/drawingml/2006/main">
            <a:r>
              <a:t>https://khodorkovsky.com/page/65/?m</a:t>
            </a:r>
          </a:p>
          <a:p xmlns:a="http://schemas.openxmlformats.org/drawingml/2006/main">
            <a:r>
              <a:t>https://khodorkovsky.com/page/80/?m</a:t>
            </a:r>
          </a:p>
          <a:p xmlns:a="http://schemas.openxmlformats.org/drawingml/2006/main">
            <a:r>
              <a:t>https://angliya.com/publication/mihail-hodorkovskiy-ne-priznayu-razdelenie-lyudey-na-osnovanii-politicheskih-vzglyadov/</a:t>
            </a:r>
          </a:p>
          <a:p xmlns:a="http://schemas.openxmlformats.org/drawingml/2006/main">
            <a:r>
              <a:t>https://www.dw.com/ru/mihail-hodorkovski-bojus-jeta-vojna-ne-budet-poslednej/a-61314556</a:t>
            </a:r>
          </a:p>
          <a:p xmlns:a="http://schemas.openxmlformats.org/drawingml/2006/main">
            <a:r>
              <a:t>https://ru.euronews.com/2022/06/21/ru-khodorkovsky-interview</a:t>
            </a:r>
          </a:p>
          <a:p xmlns:a="http://schemas.openxmlformats.org/drawingml/2006/main">
            <a:r>
              <a:t>https://ru.euronews.com/2022/06/23/mikhail-khodorkovsky</a:t>
            </a:r>
          </a:p>
          <a:p xmlns:a="http://schemas.openxmlformats.org/drawingml/2006/main">
            <a:r>
              <a:t>https://poligonmedia.io/mihail-hodorkovskij-putin-ne-pobedil/</a:t>
            </a:r>
          </a:p>
          <a:p xmlns:a="http://schemas.openxmlformats.org/drawingml/2006/main">
            <a:r>
              <a:t>https://www.pap.pl/ru/russian/news/khodorkovskiy-u-putina-est-prichiny-vesti-peregovory-o-prekraschenii-voyny-na-ukraine</a:t>
            </a:r>
          </a:p>
          <a:p xmlns:a="http://schemas.openxmlformats.org/drawingml/2006/main">
            <a:r>
              <a:t>https://milov.org/cat/debates</a:t>
            </a:r>
          </a:p>
          <a:p xmlns:a="http://schemas.openxmlformats.org/drawingml/2006/main">
            <a:r>
              <a:t>https://milov.org/entry/4188</a:t>
            </a:r>
          </a:p>
          <a:p xmlns:a="http://schemas.openxmlformats.org/drawingml/2006/main">
            <a:r>
              <a:t>https://milov.org/cat/international</a:t>
            </a:r>
          </a:p>
          <a:p xmlns:a="http://schemas.openxmlformats.org/drawingml/2006/main">
            <a:r>
              <a:t>https://tvrain.tv/teleshow/amerikanskie_gonki/tramp_vynashivaet_ideju_primiritsja_s_putinym-453802/</a:t>
            </a:r>
          </a:p>
          <a:p xmlns:a="http://schemas.openxmlformats.org/drawingml/2006/main">
            <a:r>
              <a:t>https://www.currenttime.tv/a/vladimir-milov-interview/31505887.html</a:t>
            </a:r>
          </a:p>
          <a:p xmlns:a="http://schemas.openxmlformats.org/drawingml/2006/main">
            <a:r>
              <a:t>https://ovd.info/express-news/2021/07/27/roskomnadzor-potreboval-ot-youtube-zablokirovat-kanaly-troikh-soratnikov</a:t>
            </a:r>
          </a:p>
          <a:p xmlns:a="http://schemas.openxmlformats.org/drawingml/2006/main">
            <a:r>
              <a:t>https://www.dw.com/ru/sud-v-moskve-prigovoril-vladimira-milova-k-8-godam-kolonii/a-67415717</a:t>
            </a:r>
          </a:p>
          <a:p xmlns:a="http://schemas.openxmlformats.org/drawingml/2006/main">
            <a:r>
              <a:t>https://ru.wikipedia.org/wiki/%D0%9C%D0%B8%D0%BB%D0%BE%D0%B2,_%D0%92%D0%BB%D0%B0%D0%B4%D0%B8%D0%BC%D0%B8%D1%80_%D0%A1%D1%82%D0%B0%D0%BD%D0%B8%D1%81%D0%BB%D0%B0%D0%B2%D0%BE%D0%B2%D0%B8%D1%87</a:t>
            </a:r>
          </a:p>
          <a:p xmlns:a="http://schemas.openxmlformats.org/drawingml/2006/main">
            <a:r>
              <a:t>https://gordonua.com/news/worldnews/milov-merkel-molodec-poteryala-vsego-7-8-v-polzu-svezhey-antiimmigrantskoy-partii-na-fone-migrantskogo-krizisa-208758.html</a:t>
            </a:r>
          </a:p>
          <a:p xmlns:a="http://schemas.openxmlformats.org/drawingml/2006/main">
            <a:r>
              <a:t>https://echofm.online/programs/hochu-skazat/hochu-skazat-larina-69</a:t>
            </a:r>
          </a:p>
          <a:p xmlns:a="http://schemas.openxmlformats.org/drawingml/2006/main">
            <a:r>
              <a:t>https://www.hoover.org/plus/research/russian-opposition-and-ukraine-conversation-vladimir-milov</a:t>
            </a:r>
          </a:p>
          <a:p xmlns:a="http://schemas.openxmlformats.org/drawingml/2006/main">
            <a:r>
              <a:t>https://www.golosameriki.com/a/washington-dialogue-russian-opposition-conference/7648250.html</a:t>
            </a:r>
          </a:p>
          <a:p xmlns:a="http://schemas.openxmlformats.org/drawingml/2006/main">
            <a:r>
              <a:t>https://glavred.info/chat/1337-vladimir-milov.html</a:t>
            </a:r>
          </a:p>
          <a:p xmlns:a="http://schemas.openxmlformats.org/drawingml/2006/main">
            <a:r>
              <a:t>https://www.interfax.ru/moscow/669378</a:t>
            </a:r>
          </a:p>
          <a:p xmlns:a="http://schemas.openxmlformats.org/drawingml/2006/main">
            <a:r>
              <a:t>https://tass.ru/politika/6670439</a:t>
            </a:r>
          </a:p>
          <a:p xmlns:a="http://schemas.openxmlformats.org/drawingml/2006/main">
            <a:r>
              <a:t>https://www.rbc.ru/politics/16/07/2019/5d2c8b3b9a794799a7c7d413</a:t>
            </a:r>
          </a:p>
          <a:p xmlns:a="http://schemas.openxmlformats.org/drawingml/2006/main">
            <a:r>
              <a:t>https://www.bbc.com/russian/news-56269079</a:t>
            </a:r>
          </a:p>
          <a:p xmlns:a="http://schemas.openxmlformats.org/drawingml/2006/main">
            <a:r>
              <a:t>https://ovd.info/express-news/2020/12/28/s-yurista-fbk-kotoraya-provela-pochti-dvoe-sutok-v-ivs-pytalis-vzyat</a:t>
            </a:r>
          </a:p>
          <a:p xmlns:a="http://schemas.openxmlformats.org/drawingml/2006/main">
            <a:r>
              <a:t>https://ovd.info/express-news/2021/02/26/prokuratura-utverdila-obvinenie-sobol-po-delu-o-proniknovenii-v-kvartiru</a:t>
            </a:r>
          </a:p>
          <a:p xmlns:a="http://schemas.openxmlformats.org/drawingml/2006/main">
            <a:r>
              <a:t>https://ovd.info/express-news/2020/12/29/protiv-alekseya-navalnogo-vozbudili-ugolovnoe-delo-o-moshennichestve-iz-za</a:t>
            </a:r>
          </a:p>
          <a:p xmlns:a="http://schemas.openxmlformats.org/drawingml/2006/main">
            <a:r>
              <a:t>https://www.currenttime.tv/a/sobol/31723600.html</a:t>
            </a:r>
          </a:p>
          <a:p xmlns:a="http://schemas.openxmlformats.org/drawingml/2006/main">
            <a:r>
              <a:t>https://www.currenttime.tv/interview/episodes/2022/2/26</a:t>
            </a:r>
          </a:p>
          <a:p xmlns:a="http://schemas.openxmlformats.org/drawingml/2006/main">
            <a:r>
              <a:t>https://ochevidcy.com/putin-budet-vorovat-do-groba/</a:t>
            </a:r>
          </a:p>
          <a:p xmlns:a="http://schemas.openxmlformats.org/drawingml/2006/main">
            <a:r>
              <a:t>https://www.svoboda.org/a/32881433.html</a:t>
            </a:r>
          </a:p>
          <a:p xmlns:a="http://schemas.openxmlformats.org/drawingml/2006/main">
            <a:r>
              <a:t>https://echofm.online/programs/idyom-po-zvyozdam/idyom-po-zvezdam-s-lyubovyu-sobol</a:t>
            </a:r>
          </a:p>
          <a:p xmlns:a="http://schemas.openxmlformats.org/drawingml/2006/main">
            <a:r>
              <a:t>https://x.com/SobolLubov</a:t>
            </a:r>
          </a:p>
          <a:p xmlns:a="http://schemas.openxmlformats.org/drawingml/2006/main">
            <a:r>
              <a:t>https://stuki-druki.com/authors/sobol-lubov.php</a:t>
            </a:r>
          </a:p>
          <a:p xmlns:a="http://schemas.openxmlformats.org/drawingml/2006/main">
            <a:r>
              <a:t>https://www.interfax.ru/elections2018/593143</a:t>
            </a:r>
          </a:p>
          <a:p xmlns:a="http://schemas.openxmlformats.org/drawingml/2006/main">
            <a:r>
              <a:t>https://elections2018.tass.ru/candidate/sobchak</a:t>
            </a:r>
          </a:p>
          <a:p xmlns:a="http://schemas.openxmlformats.org/drawingml/2006/main">
            <a:r>
              <a:t>https://www.interfax.ru/elections2018/604186</a:t>
            </a:r>
          </a:p>
          <a:p xmlns:a="http://schemas.openxmlformats.org/drawingml/2006/main">
            <a:r>
              <a:t>https://www.interfax.ru/elections2018/604908</a:t>
            </a:r>
          </a:p>
          <a:p xmlns:a="http://schemas.openxmlformats.org/drawingml/2006/main">
            <a:r>
              <a:t>https://www.consultant.ru/law/hotdocs/53066.html</a:t>
            </a:r>
          </a:p>
          <a:p xmlns:a="http://schemas.openxmlformats.org/drawingml/2006/main">
            <a:r>
              <a:t>https://www.rbc.ru/newspaper/2018/03/20/5aae9ca49a794739b02918a0</a:t>
            </a:r>
          </a:p>
          <a:p xmlns:a="http://schemas.openxmlformats.org/drawingml/2006/main">
            <a:r>
              <a:t>https://www.interfax.ru/elections2018/604136</a:t>
            </a:r>
          </a:p>
          <a:p xmlns:a="http://schemas.openxmlformats.org/drawingml/2006/main">
            <a:r>
              <a:t>https://www.interfax.ru/elections2018/604190</a:t>
            </a:r>
          </a:p>
          <a:p xmlns:a="http://schemas.openxmlformats.org/drawingml/2006/main">
            <a:r>
              <a:t>https://www.rbc.ru/economics/25/12/2017/5a4025f19a79472e3f5f4ad9?from=right_column_materials_3</a:t>
            </a:r>
          </a:p>
          <a:p xmlns:a="http://schemas.openxmlformats.org/drawingml/2006/main">
            <a:r>
              <a:t>https://news.ru/show-business/otezd-iz-rf-vybory-svo-v-chem-priznalas-kseniya-sobchak-v-novom-intervyu</a:t>
            </a:r>
          </a:p>
          <a:p xmlns:a="http://schemas.openxmlformats.org/drawingml/2006/main">
            <a:r>
              <a:t>https://rtvi.com/news/sobchak-otvetila-na-vopros-putin-ili-zelenskij/</a:t>
            </a:r>
          </a:p>
          <a:p xmlns:a="http://schemas.openxmlformats.org/drawingml/2006/main">
            <a:r>
              <a:t>https://informator.ua/ru/kompromissy-iz-rf-legitimnost-zelenskogo-i-gotovnost-pozhat-ruku-putinu-o-chem-govoril-arestovich-v-intervyu-sobchak</a:t>
            </a:r>
          </a:p>
          <a:p xmlns:a="http://schemas.openxmlformats.org/drawingml/2006/main">
            <a:r>
              <a:t>https://rassvet-party.info/</a:t>
            </a:r>
          </a:p>
          <a:p xmlns:a="http://schemas.openxmlformats.org/drawingml/2006/main">
            <a:r>
              <a:t>https://en.wikipedia.org/wiki/Yekaterina_Duntsova</a:t>
            </a:r>
          </a:p>
          <a:p xmlns:a="http://schemas.openxmlformats.org/drawingml/2006/main">
            <a:r>
              <a:t>https://www.dw.com/ru/cto-nuzno-znat-o-ekaterine-duncovoj-kotoraa-hocet-stat-prezidentom-rf/a-67832425</a:t>
            </a:r>
          </a:p>
          <a:p xmlns:a="http://schemas.openxmlformats.org/drawingml/2006/main">
            <a:r>
              <a:t>https://baj.media/ru/ya-gotova-idti-do-konca-zhurnalistka-iz-rossiyskoy-provincii-reshila-stat-prezidentom-i-2/</a:t>
            </a:r>
          </a:p>
          <a:p xmlns:a="http://schemas.openxmlformats.org/drawingml/2006/main">
            <a:r>
              <a:t>https://echofm.online/portret-dnya/portret-dnya-ekaterina-dunczova-reshivshaya-vydvinutsya-kandidatom-v-prezidenty-rossii-zhurnalistka-iz-rzheva</a:t>
            </a:r>
          </a:p>
          <a:p xmlns:a="http://schemas.openxmlformats.org/drawingml/2006/main">
            <a:r>
              <a:t>https://novayagazeta.eu/articles/2024/03/15/zlost-i-nenavist-vsem-nadoeli</a:t>
            </a:r>
          </a:p>
          <a:p xmlns:a="http://schemas.openxmlformats.org/drawingml/2006/main">
            <a:r>
              <a:t>https://altapress.ru/politika/story/kto-takaya-ekaterina-duntsova-kotoraya-sobiraetsya-stat-poslednim-prezidentom-rossii-i-kto-eshche-hochet-ballotirovatsya-336526</a:t>
            </a:r>
          </a:p>
          <a:p xmlns:a="http://schemas.openxmlformats.org/drawingml/2006/main">
            <a:r>
              <a:t>https://cherta.media/interview/ekaterina-duncova-kandidat-v-prezidenty/</a:t>
            </a:r>
          </a:p>
          <a:p xmlns:a="http://schemas.openxmlformats.org/drawingml/2006/main">
            <a:r>
              <a:t>https://novayagazeta.eu/articles/2023/12/05/zachem-ia-budu-stoiat-na-barrikadakh-esli-mogu-zanimatsia-realnymi-delami</a:t>
            </a:r>
          </a:p>
          <a:p xmlns:a="http://schemas.openxmlformats.org/drawingml/2006/main">
            <a:r>
              <a:t>https://holod.media/2023/12/20/ekaterina-duntsova-view/</a:t>
            </a:r>
          </a:p>
          <a:p xmlns:a="http://schemas.openxmlformats.org/drawingml/2006/main">
            <a:r>
              <a:t>https://www.dw.com/ru/ekaterina-duncova-o-sozdanii-partii-rassvet-my-mezdu-dvuh-ognej/a-68992724</a:t>
            </a:r>
          </a:p>
          <a:p xmlns:a="http://schemas.openxmlformats.org/drawingml/2006/main">
            <a:r>
              <a:t>https://rassvet-party.info/static/program.pdf</a:t>
            </a:r>
          </a:p>
          <a:p xmlns:a="http://schemas.openxmlformats.org/drawingml/2006/main">
            <a:r>
              <a:t>https://www.currenttime.tv/a/ekaterina-duntsova-o-sozdanii-partii-i-svoem-zaderzhanii/32775510.html</a:t>
            </a:r>
          </a:p>
          <a:p xmlns:a="http://schemas.openxmlformats.org/drawingml/2006/main">
            <a:r>
              <a:t>https://duntsovainitiative.1c-umi.ru/galereya/</a:t>
            </a:r>
          </a:p>
          <a:p xmlns:a="http://schemas.openxmlformats.org/drawingml/2006/main">
            <a:r>
              <a:t>https://rassvet-party.info/static/manifest.pdf</a:t>
            </a:r>
          </a:p>
          <a:p xmlns:a="http://schemas.openxmlformats.org/drawingml/2006/main">
            <a:r>
              <a:t>https://www.rbc.ru/person/65afb4a99a79470e434da73d</a:t>
            </a:r>
          </a:p>
          <a:p xmlns:a="http://schemas.openxmlformats.org/drawingml/2006/main">
            <a:r>
              <a:t>https://www.bbc.com/russian/articles/c84npr0wxx9o</a:t>
            </a:r>
          </a:p>
          <a:p xmlns:a="http://schemas.openxmlformats.org/drawingml/2006/main">
            <a:r>
              <a:t>https://www.rbc.ru/politics/08/02/2024/65c3749b9a79479ef5fe7934</a:t>
            </a:r>
          </a:p>
          <a:p xmlns:a="http://schemas.openxmlformats.org/drawingml/2006/main">
            <a:r>
              <a:t>https://www.business-gazeta.ru/article/622600</a:t>
            </a:r>
          </a:p>
          <a:p xmlns:a="http://schemas.openxmlformats.org/drawingml/2006/main">
            <a:r>
              <a:t>https://semnasem.org/articles/2024/02/02/poslednij-sredi-antivoennyh-kto-takoj-boris-nadezhdin-kotoryj-vse-eshe-nadeetsya-stat-prezidentom</a:t>
            </a:r>
          </a:p>
          <a:p xmlns:a="http://schemas.openxmlformats.org/drawingml/2006/main">
            <a:r>
              <a:t>https://novayagazeta.eu/articles/2024/02/03/17-marta-nachalo-kontsa-epokhi-putina</a:t>
            </a:r>
          </a:p>
          <a:p xmlns:a="http://schemas.openxmlformats.org/drawingml/2006/main">
            <a:r>
              <a:t>https://www.youtube.com/watch?v=mGMdgxBCdns</a:t>
            </a:r>
          </a:p>
          <a:p xmlns:a="http://schemas.openxmlformats.org/drawingml/2006/main">
            <a:r>
              <a:t>https://www.dw.com/ru/boris-nadezdin-moj-rejting-rastet-na-5-v-nedelu/a-68154251</a:t>
            </a:r>
          </a:p>
          <a:p xmlns:a="http://schemas.openxmlformats.org/drawingml/2006/main">
            <a:r>
              <a:t>https://ovd.info/express-news/2026/07/17/u-menya-dva-puti-lenina-ili-navalnogo-chto-nuzhno-znat-o-borise-nadezhdine</a:t>
            </a:r>
          </a:p>
          <a:p xmlns:a="http://schemas.openxmlformats.org/drawingml/2006/main">
            <a:r>
              <a:t>https://www.rbc.ru/person/65afb4a99a79470e434da73d?ysclid=mrt22n99to603501119</a:t>
            </a:r>
          </a:p>
          <a:p xmlns:a="http://schemas.openxmlformats.org/drawingml/2006/main">
            <a:r>
              <a:t>https://www.youtube.com/watch?v=UNytg_H_1pY</a:t>
            </a:r>
          </a:p>
          <a:p xmlns:a="http://schemas.openxmlformats.org/drawingml/2006/main">
            <a:r>
              <a:t>https://www.youtube.com/watch?v=DwTC5bilf_8</a:t>
            </a:r>
          </a:p>
          <a:p xmlns:a="http://schemas.openxmlformats.org/drawingml/2006/main">
            <a:r>
              <a:t>https://www.youtube.com/watch?v=sG4_THnT9W0</a:t>
            </a:r>
          </a:p>
          <a:p xmlns:a="http://schemas.openxmlformats.org/drawingml/2006/main">
            <a:r>
              <a:t>https://www.rbc.ru/rbcfreenews/6586cdf49a79479c3cd3d4b3</a:t>
            </a:r>
          </a:p>
          <a:p xmlns:a="http://schemas.openxmlformats.org/drawingml/2006/main">
            <a:r>
              <a:t>https://kprf.ru/activity/elections/223485.html/print</a:t>
            </a:r>
          </a:p>
          <a:p xmlns:a="http://schemas.openxmlformats.org/drawingml/2006/main">
            <a:r>
              <a:t>http://msk.kprf.ru/2024/01/24/247473/</a:t>
            </a:r>
          </a:p>
          <a:p xmlns:a="http://schemas.openxmlformats.org/drawingml/2006/main">
            <a:r>
              <a:t>https://www.dw.com/ru/vybory-prezidenta-rossii-2024/a-68528003</a:t>
            </a:r>
          </a:p>
          <a:p xmlns:a="http://schemas.openxmlformats.org/drawingml/2006/main">
            <a:r>
              <a:t>https://ru.wikipedia.org/wiki/%D0%A5%D0%B0%D1%80%D0%B8%D1%82%D0%BE%D0%BD%D0%BE%D0%B2,_%D0%9D%D0%B8%D0%BA%D0%BE%D0%BB%D0%B0%D0%B9_%D0%9C%D0%B8%D1%85%D0%B0%D0%B9%D0%BB%D0%BE%D0%B2%D0%B8%D1%87</a:t>
            </a:r>
          </a:p>
          <a:p xmlns:a="http://schemas.openxmlformats.org/drawingml/2006/main">
            <a:r>
              <a:t>https://kprf.ru/party-live/cknews/225170.html</a:t>
            </a:r>
          </a:p>
          <a:p xmlns:a="http://schemas.openxmlformats.org/drawingml/2006/main">
            <a:r>
              <a:t>https://kprf.ru/dep/gosduma/activities/232802.html</a:t>
            </a:r>
          </a:p>
          <a:p xmlns:a="http://schemas.openxmlformats.org/drawingml/2006/main">
            <a:r>
              <a:t>https://kprf35.com/2024/02/17/32710/</a:t>
            </a:r>
          </a:p>
          <a:p xmlns:a="http://schemas.openxmlformats.org/drawingml/2006/main">
            <a:r>
              <a:t>https://www.pkokprf.ru/news/view/35448</a:t>
            </a:r>
          </a:p>
          <a:p xmlns:a="http://schemas.openxmlformats.org/drawingml/2006/main">
            <a:r>
              <a:t>https://altkprf.ru/upload/iblock/eea/jiv0wm7hzk6gq4qdxw0r5wvp7zwb6luk.pdf</a:t>
            </a:r>
          </a:p>
          <a:p xmlns:a="http://schemas.openxmlformats.org/drawingml/2006/main">
            <a:r>
              <a:t>https://kprf.ru/activity/army/224789.html</a:t>
            </a:r>
          </a:p>
          <a:p xmlns:a="http://schemas.openxmlformats.org/drawingml/2006/main">
            <a:r>
              <a:t>https://gazeta-pravda.ru/issue/24-31517-711-marta-2024-goda-/alternativa-polupravde/</a:t>
            </a:r>
          </a:p>
          <a:p xmlns:a="http://schemas.openxmlformats.org/drawingml/2006/main">
            <a:r>
              <a:t>https://spbpalata.ru/?p=13755</a:t>
            </a:r>
          </a:p>
          <a:p xmlns:a="http://schemas.openxmlformats.org/drawingml/2006/main">
            <a:r>
              <a:t>https://kprf.ru/activity/elections/171941.html</a:t>
            </a:r>
          </a:p>
          <a:p xmlns:a="http://schemas.openxmlformats.org/drawingml/2006/main">
            <a:r>
              <a:t>https://kprf.ru/party-live/cknews/171994.html</a:t>
            </a:r>
          </a:p>
          <a:p xmlns:a="http://schemas.openxmlformats.org/drawingml/2006/main">
            <a:r>
              <a:t>https://elections2018.tass.ru/candidate/grudinin</a:t>
            </a:r>
          </a:p>
          <a:p xmlns:a="http://schemas.openxmlformats.org/drawingml/2006/main">
            <a:r>
              <a:t>https://www.bbc.com/russian/features-43105617</a:t>
            </a:r>
          </a:p>
          <a:p xmlns:a="http://schemas.openxmlformats.org/drawingml/2006/main">
            <a:r>
              <a:t>https://www.rbc.ru/politics/24/07/2021/60fbe35b9a794716f25253a0</a:t>
            </a:r>
          </a:p>
          <a:p xmlns:a="http://schemas.openxmlformats.org/drawingml/2006/main">
            <a:r>
              <a:t>https://kprf.ru/dep/reg/204410.html</a:t>
            </a:r>
          </a:p>
          <a:p xmlns:a="http://schemas.openxmlformats.org/drawingml/2006/main">
            <a:r>
              <a:t>https://msk.kprf.ru/2021/09/16/168273/</a:t>
            </a:r>
          </a:p>
          <a:p xmlns:a="http://schemas.openxmlformats.org/drawingml/2006/main">
            <a:r>
              <a:t>https://svpressa.ru/persons/pavel-grudinin/</a:t>
            </a:r>
          </a:p>
          <a:p xmlns:a="http://schemas.openxmlformats.org/drawingml/2006/main">
            <a:r>
              <a:t>https://carnegieendowment.org/ru/russia-eurasia/posts/2018/02/kuda-privedut-ekonomiku-rossii-20-shagov-grudinina</a:t>
            </a:r>
          </a:p>
          <a:p xmlns:a="http://schemas.openxmlformats.org/drawingml/2006/main">
            <a:r>
              <a:t>https://www.kompas-rf.ru/2018/01/2980/</a:t>
            </a:r>
          </a:p>
          <a:p xmlns:a="http://schemas.openxmlformats.org/drawingml/2006/main">
            <a:r>
              <a:t>https://www.svoboda.org/a/30073365.html</a:t>
            </a:r>
          </a:p>
          <a:p xmlns:a="http://schemas.openxmlformats.org/drawingml/2006/main">
            <a:r>
              <a:t>https://kandidativprezidenti.ru/programma-grudinina-2018/</a:t>
            </a:r>
          </a:p>
          <a:p xmlns:a="http://schemas.openxmlformats.org/drawingml/2006/main">
            <a:r>
              <a:t>https://mbk-news.appspot.com/suzhet/za-lenina-i-protiv-ege/</a:t>
            </a:r>
          </a:p>
          <a:p xmlns:a="http://schemas.openxmlformats.org/drawingml/2006/main">
            <a:r>
              <a:t>https://www.amnesty.org/ru/latest/research/2021/06/zayavlenie-rossijskaya-federacziya-obvinitelnyj-prigovor-nikolayu-platoshkinu-dolzhen-byt-otmenyon/</a:t>
            </a:r>
          </a:p>
          <a:p xmlns:a="http://schemas.openxmlformats.org/drawingml/2006/main">
            <a:r>
              <a:t>https://zona.media/article/2021/05/20/nikolay-nikolaevitch</a:t>
            </a:r>
          </a:p>
          <a:p xmlns:a="http://schemas.openxmlformats.org/drawingml/2006/main">
            <a:r>
              <a:t>https://novayagazeta.ru/articles/2020/06/05/85705-sotsialisticheskiy-prizyv</a:t>
            </a:r>
          </a:p>
          <a:p xmlns:a="http://schemas.openxmlformats.org/drawingml/2006/main">
            <a:r>
              <a:t>https://www.revda-info.ru/2020/08/26/v-revde-poyavilos-otdelenie-dvizheniya-za-novyj-sotsializm-ego-lider-sejchas-pod-arestom</a:t>
            </a:r>
          </a:p>
          <a:p xmlns:a="http://schemas.openxmlformats.org/drawingml/2006/main">
            <a:r>
              <a:t>https://new-socialism.org/o-dvizhenii/programma/</a:t>
            </a:r>
          </a:p>
          <a:p xmlns:a="http://schemas.openxmlformats.org/drawingml/2006/main">
            <a:r>
              <a:t>https://new-socialism.org/o-dvizhenii/lider/</a:t>
            </a:r>
          </a:p>
          <a:p xmlns:a="http://schemas.openxmlformats.org/drawingml/2006/main">
            <a:r>
              <a:t>https://www.themoscowtimes.com/2024/01/19/ilya-ponomaryov-we-have-to-capture-the-kremlin-there-is-no-other-way-a83772</a:t>
            </a:r>
          </a:p>
          <a:p xmlns:a="http://schemas.openxmlformats.org/drawingml/2006/main">
            <a:r>
              <a:t>https://www.dw.com/ru/cto-izvestno-o-rossijskih-podrazdeleniah-v-sostave-vsu/a-63915634</a:t>
            </a:r>
          </a:p>
          <a:p xmlns:a="http://schemas.openxmlformats.org/drawingml/2006/main">
            <a:r>
              <a:t>https://www.svoboda.org/a/32321226.html</a:t>
            </a:r>
          </a:p>
          <a:p xmlns:a="http://schemas.openxmlformats.org/drawingml/2006/main">
            <a:r>
              <a:t>https://hromadske.ua/ru/posts/nasha-cel-moskva-my-dolzhny-sbrosit-putina-rossijskie-partizany-mif-ili-pravda</a:t>
            </a:r>
          </a:p>
          <a:p xmlns:a="http://schemas.openxmlformats.org/drawingml/2006/main">
            <a:r>
              <a:t>https://epravda.com.ua/rus/publications/2018/06/11/637572/</a:t>
            </a:r>
          </a:p>
          <a:p xmlns:a="http://schemas.openxmlformats.org/drawingml/2006/main">
            <a:r>
              <a:t>https://pointmedia.io/story/672b355fdc48800406e0f515</a:t>
            </a:r>
          </a:p>
          <a:p xmlns:a="http://schemas.openxmlformats.org/drawingml/2006/main">
            <a:r>
              <a:t>https://ru.wikipedia.org/wiki/%D0%9B%D0%B5%D0%B3%D0%B8%D0%BE%D0%BD_%C2%AB%D0%A1%D0%B2%D0%BE%D0%B1%D0%BE%D0%B4%D0%B0_%D0%A0%D0%BE%D1%81%D1%81%D0%B8%D0%B8%C2%BB</a:t>
            </a:r>
          </a:p>
          <a:p xmlns:a="http://schemas.openxmlformats.org/drawingml/2006/main">
            <a:r>
              <a:t>https://ru.wikipedia.org/wiki/%D0%9F%D0%BE%D0%BD%D0%BE%D0%BC%D0%B0%D1%80%D1%91%D0%B2,_%D0%98%D0%BB%D1%8C%D1%8F_%D0%92%D0%BB%D0%B0%D0%B4%D0%B8%D0%BC%D0%B8%D1%80%D0%BE%D0%B2%D0%B8%D1%87</a:t>
            </a:r>
          </a:p>
          <a:p xmlns:a="http://schemas.openxmlformats.org/drawingml/2006/main">
            <a:r>
              <a:t>https://russophob.ru/person/ponomarev_ilya_vladimirovich</a:t>
            </a:r>
          </a:p>
          <a:p xmlns:a="http://schemas.openxmlformats.org/drawingml/2006/main">
            <a:r>
              <a:t>https://www.svoboda.org/a/32063164.html</a:t>
            </a:r>
          </a:p>
          <a:p xmlns:a="http://schemas.openxmlformats.org/drawingml/2006/main">
            <a:r>
              <a:t>https://www.kpbs.org/news/news/international/2023/03/26/a-scrappy-newscast-in-kyiv-aimed-at-russians-counters-putins-propaganda-machine</a:t>
            </a:r>
          </a:p>
          <a:p xmlns:a="http://schemas.openxmlformats.org/drawingml/2006/main">
            <a:r>
              <a:t>https://ovd.info/express-news/2022/10/02/politik-leonid-gozman-uekhal-iz-rossii-posle-dvukh-administrativnykh</a:t>
            </a:r>
          </a:p>
          <a:p xmlns:a="http://schemas.openxmlformats.org/drawingml/2006/main">
            <a:r>
              <a:t>https://ovd.info/express-news/2022/08/30/politika-leonida-gozmana-arestovali-na-15-sutok-iz-za-posta-v-feysbuke</a:t>
            </a:r>
          </a:p>
          <a:p xmlns:a="http://schemas.openxmlformats.org/drawingml/2006/main">
            <a:r>
              <a:t>https://www.rbc.ru/politics/15/07/2022/62d1b3f39a7947299cdeb6a4</a:t>
            </a:r>
          </a:p>
          <a:p xmlns:a="http://schemas.openxmlformats.org/drawingml/2006/main">
            <a:r>
              <a:t>https://novayagazeta.eu/articles/2022/07/15/sk-doprosil-politika-leonida-gozmana-kak-podozrevaemogo-po-delu-o-neuvedomlenii-o-vtorom-grazhdanstve-news</a:t>
            </a:r>
          </a:p>
          <a:p xmlns:a="http://schemas.openxmlformats.org/drawingml/2006/main">
            <a:r>
              <a:t>https://www.rbc.ru/politics/15/02/2024/65cdc9e09a7947a2995026fa</a:t>
            </a:r>
          </a:p>
          <a:p xmlns:a="http://schemas.openxmlformats.org/drawingml/2006/main">
            <a:r>
              <a:t>https://ovd.info/express-news/2025/01/22/leonida-gozmana-i-rovshana-askerova-vnesli-v-reestr-terroristov-i</a:t>
            </a:r>
          </a:p>
          <a:p xmlns:a="http://schemas.openxmlformats.org/drawingml/2006/main">
            <a:r>
              <a:t>https://www.rbc.ru/opinion-authors/gozman</a:t>
            </a:r>
          </a:p>
          <a:p xmlns:a="http://schemas.openxmlformats.org/drawingml/2006/main">
            <a:r>
              <a:t>https://novayagazeta.eu/articles/2022/07/25/ovd-info-v-moskve-zaderzhali-politika-leonida-gozmana-news</a:t>
            </a:r>
          </a:p>
          <a:p xmlns:a="http://schemas.openxmlformats.org/drawingml/2006/main">
            <a:r>
              <a:t>https://gefter.ru/archive/23487</a:t>
            </a:r>
          </a:p>
          <a:p xmlns:a="http://schemas.openxmlformats.org/drawingml/2006/main">
            <a:r>
              <a:t>https://www.svoboda.org/a/31147156.html</a:t>
            </a:r>
          </a:p>
          <a:p xmlns:a="http://schemas.openxmlformats.org/drawingml/2006/main">
            <a:r>
              <a:t>https://uatv.ua/gozman-putin-zagnal-rossiyu-v-ugol-sleduyushhij-shag-repressii/</a:t>
            </a:r>
          </a:p>
          <a:p xmlns:a="http://schemas.openxmlformats.org/drawingml/2006/main">
            <a:r>
              <a:t>https://echofm.online/programs/hochu-skazat/hochu-skazat-odin-protiv-vseh-kak-ne-dat-strahu-pobedit-sebya</a:t>
            </a:r>
          </a:p>
          <a:p xmlns:a="http://schemas.openxmlformats.org/drawingml/2006/main">
            <a:r>
              <a:t>https://www.svoboda.org/a/leonid-gozman-russkih-lyudey-neljzya-mazatj-odnoy-chernoy-kraskoy-/32732625.html</a:t>
            </a:r>
          </a:p>
          <a:p xmlns:a="http://schemas.openxmlformats.org/drawingml/2006/main">
            <a:r>
              <a:t>https://novayagazeta.eu/articles/2022/07/18/prepiatstvovat-prosveshcheniiu-liudei-vlast-budet-pulemiotami</a:t>
            </a:r>
          </a:p>
          <a:p xmlns:a="http://schemas.openxmlformats.org/drawingml/2006/main">
            <a:r>
              <a:t>https://www.svoboda.org/a/29652429.html</a:t>
            </a:r>
          </a:p>
          <a:p xmlns:a="http://schemas.openxmlformats.org/drawingml/2006/main">
            <a:r>
              <a:t>https://novayagazeta.eu/articles/2022/04/26/nesobliudenie-rezhima</a:t>
            </a:r>
          </a:p>
          <a:p xmlns:a="http://schemas.openxmlformats.org/drawingml/2006/main">
            <a:r>
              <a:t>https://novayagazeta.eu/articles/2022/07/21/zapiski-ugolovnika</a:t>
            </a:r>
          </a:p>
          <a:p xmlns:a="http://schemas.openxmlformats.org/drawingml/2006/main">
            <a:r>
              <a:t>https://novayagazeta.ru/authors/2349</a:t>
            </a:r>
          </a:p>
          <a:p xmlns:a="http://schemas.openxmlformats.org/drawingml/2006/main">
            <a:r>
              <a:t>https://www.rbc.ru/politics/10/08/2017/598c8d6d9a79474cff05cbab</a:t>
            </a:r>
          </a:p>
          <a:p xmlns:a="http://schemas.openxmlformats.org/drawingml/2006/main">
            <a:r>
              <a:t>https://www.bbc.com/russian/news-40853405</a:t>
            </a:r>
          </a:p>
          <a:p xmlns:a="http://schemas.openxmlformats.org/drawingml/2006/main">
            <a:r>
              <a:t>https://www.rbc.ru/politics/10/08/2017/598c0a8e9a7947569574ba10?from=right_column_materials_1</a:t>
            </a:r>
          </a:p>
          <a:p xmlns:a="http://schemas.openxmlformats.org/drawingml/2006/main">
            <a:r>
              <a:t>https://www.vedomosti.ru/politics/articles/2017/08/10/728820-udaltsov</a:t>
            </a:r>
          </a:p>
          <a:p xmlns:a="http://schemas.openxmlformats.org/drawingml/2006/main">
            <a:r>
              <a:t>https://www.interfax.ru/elections2018/598382</a:t>
            </a:r>
          </a:p>
          <a:p xmlns:a="http://schemas.openxmlformats.org/drawingml/2006/main">
            <a:r>
              <a:t>https://sotaproject.com/article/sergeia-udaltsova-opiat-pytaiutsia-posadit-khotia-on-vsego-lish-prosit-putina-postroit-sotsializm</a:t>
            </a:r>
          </a:p>
          <a:p xmlns:a="http://schemas.openxmlformats.org/drawingml/2006/main">
            <a:r>
              <a:t>https://www.gazeta.ru/tags/person/sergei_udaltsov.shtml</a:t>
            </a:r>
          </a:p>
          <a:p xmlns:a="http://schemas.openxmlformats.org/drawingml/2006/main">
            <a:r>
              <a:t>https://www.kommersant.ru/doc/8317316</a:t>
            </a:r>
          </a:p>
          <a:p xmlns:a="http://schemas.openxmlformats.org/drawingml/2006/main">
            <a:r>
              <a:t>https://www.kommersant.ru/doc/8972418</a:t>
            </a:r>
          </a:p>
          <a:p xmlns:a="http://schemas.openxmlformats.org/drawingml/2006/main">
            <a:r>
              <a:t>https://holod.media/2023/09/12/udaltsov-interview/</a:t>
            </a:r>
          </a:p>
          <a:p xmlns:a="http://schemas.openxmlformats.org/drawingml/2006/main">
            <a:r>
              <a:t>https://meduza.io/feature/2024/01/11/sergey-udaltsov-zaderzhan-po-obvineniyu-v-opravdanii-terrorizma</a:t>
            </a:r>
          </a:p>
          <a:p xmlns:a="http://schemas.openxmlformats.org/drawingml/2006/main">
            <a:r>
              <a:t>https://ref-book.sova-center.ru/index.php/%D0%94%D1%80%D1%83%D0%B3%D0%B0%D1%8F_%D0%A0%D0%BE%D1%81%D1%81%D0%B8%D1%8F,_%D0%BF%D0%B0%D1%80%D1%82%D0%B8%D1%8F</a:t>
            </a:r>
          </a:p>
          <a:p xmlns:a="http://schemas.openxmlformats.org/drawingml/2006/main">
            <a:r>
              <a:t>https://www.rbc.ru/society/17/03/2020/5e71048d9a79473925ab81a7</a:t>
            </a:r>
          </a:p>
          <a:p xmlns:a="http://schemas.openxmlformats.org/drawingml/2006/main">
            <a:r>
              <a:t>https://rt.rbc.ru/society/18/03/2020/5e71acc49a794773553f824e</a:t>
            </a:r>
          </a:p>
          <a:p xmlns:a="http://schemas.openxmlformats.org/drawingml/2006/main">
            <a:r>
              <a:t>https://www.bostonglobe.com/metro/obituaries/2020/03/18/russian-author-political-activist-eduard-limonov-dies/jnjHywBRjVTTgnlsqI12vN/story.html</a:t>
            </a:r>
          </a:p>
          <a:p xmlns:a="http://schemas.openxmlformats.org/drawingml/2006/main">
            <a:r>
              <a:t>https://nsn.fm/society/poslednee-intervu-pisatelya-i-politika-eduarda-limonova</a:t>
            </a:r>
          </a:p>
          <a:p xmlns:a="http://schemas.openxmlformats.org/drawingml/2006/main">
            <a:r>
              <a:t>http://www.grso.ru/person/limonov-eduard.html</a:t>
            </a:r>
          </a:p>
          <a:p xmlns:a="http://schemas.openxmlformats.org/drawingml/2006/main">
            <a:r>
              <a:t>https://ru.wikipedia.org/wiki/%D0%94%D1%80%D1%83%D0%B3%D0%B0%D1%8F_%D0%A0%D0%BE%D1%81%D1%81%D0%B8%D1%8F_%D0%AD._%D0%92._%D0%9B%D0%B8%D0%BC%D0%BE%D0%BD%D0%BE%D0%B2%D0%B0</a:t>
            </a:r>
          </a:p>
          <a:p xmlns:a="http://schemas.openxmlformats.org/drawingml/2006/main">
            <a:r>
              <a:t>https://novayagazeta.ru/articles/2017/03/12/71752-puteshestvie-natsbolov-k-putinu-i-obratno</a:t>
            </a:r>
          </a:p>
          <a:p xmlns:a="http://schemas.openxmlformats.org/drawingml/2006/main">
            <a:r>
              <a:t>https://mediabrest.by/news/lyudi/umer-eduard-limonov-chem-zapomnilsya-pisatel</a:t>
            </a:r>
          </a:p>
          <a:p xmlns:a="http://schemas.openxmlformats.org/drawingml/2006/main">
            <a:r>
              <a:t>https://www.limonow.de/read/EL_2013-2018_T.html</a:t>
            </a:r>
          </a:p>
          <a:p xmlns:a="http://schemas.openxmlformats.org/drawingml/2006/main">
            <a:r>
              <a:t>https://www.infpol.ru/203662-ot-ubezhdennogo-antisovetchika-do-kolumnista-rt/</a:t>
            </a:r>
          </a:p>
          <a:p xmlns:a="http://schemas.openxmlformats.org/drawingml/2006/main">
            <a:r>
              <a:t>https://www.bbc.com/russian/articles/c2eg90d7gg9o</a:t>
            </a:r>
          </a:p>
          <a:p xmlns:a="http://schemas.openxmlformats.org/drawingml/2006/main">
            <a:r>
              <a:t>https://www.dw.com/ru/mosgorsud-prigovoril-igora-girkina-strelkova-k-4-godam-kolonii/a-68080937</a:t>
            </a:r>
          </a:p>
          <a:p xmlns:a="http://schemas.openxmlformats.org/drawingml/2006/main">
            <a:r>
              <a:t>https://www.fontanka.ru/2023/07/21/72520253</a:t>
            </a:r>
          </a:p>
          <a:p xmlns:a="http://schemas.openxmlformats.org/drawingml/2006/main">
            <a:r>
              <a:t>https://www.svoboda.org/a/strelkov-iz-sizo-opasayusj-amnistii-kak-u-prigozhina-/32722083.html</a:t>
            </a:r>
          </a:p>
          <a:p xmlns:a="http://schemas.openxmlformats.org/drawingml/2006/main">
            <a:r>
              <a:t>https://ru.themoscowtimes.com/2023/12/07/girkin-zayavil-chto-opasaetsya-povtorit-sudbu-prigozhina-a115592</a:t>
            </a:r>
          </a:p>
          <a:p xmlns:a="http://schemas.openxmlformats.org/drawingml/2006/main">
            <a:r>
              <a:t>https://ru.krymr.com/a/boing-mn17-10-let-podozrevayemyye-obvinyayemyye-vinovnyye/33040170.html</a:t>
            </a:r>
          </a:p>
          <a:p xmlns:a="http://schemas.openxmlformats.org/drawingml/2006/main">
            <a:r>
              <a:t>https://charter97.org/ru/news/2023/7/22/556802/</a:t>
            </a:r>
          </a:p>
          <a:p xmlns:a="http://schemas.openxmlformats.org/drawingml/2006/main">
            <a:r>
              <a:t>https://t.me/s/pgubarev?after=622</a:t>
            </a:r>
          </a:p>
          <a:p xmlns:a="http://schemas.openxmlformats.org/drawingml/2006/main">
            <a:r>
              <a:t>https://rabkor.ru/columns/debates/2023/05/23/angry_patriots_of_an_imaginary_country/</a:t>
            </a:r>
          </a:p>
          <a:p xmlns:a="http://schemas.openxmlformats.org/drawingml/2006/main">
            <a:r>
              <a:t>https://www.bbc.com/news/world-60947877</a:t>
            </a:r>
          </a:p>
          <a:p xmlns:a="http://schemas.openxmlformats.org/drawingml/2006/main">
            <a:r>
              <a:t>https://www.reuters.com/world/europe/russian-mercenary-boss-courts-putin-with-ukrainian-battlefield-success-2023-01-13/</a:t>
            </a:r>
          </a:p>
          <a:p xmlns:a="http://schemas.openxmlformats.org/drawingml/2006/main">
            <a:r>
              <a:t>https://www.reuters.com/world/europe/russias-wagner-mercenaries-halt-prisoner-recruitment-campaign-founder-prigozhin-2023-02-09/</a:t>
            </a:r>
          </a:p>
          <a:p xmlns:a="http://schemas.openxmlformats.org/drawingml/2006/main">
            <a:r>
              <a:t>https://www.reuters.com/investigates/special-report/ukraine-crisis-russia-wagner/</a:t>
            </a:r>
          </a:p>
          <a:p xmlns:a="http://schemas.openxmlformats.org/drawingml/2006/main">
            <a:r>
              <a:t>https://www.reuters.com/world/europe/russias-wagner-chief-prigozhin-says-ukraine-counteroffensive-already-under-way-2023-05-03/</a:t>
            </a:r>
          </a:p>
          <a:p xmlns:a="http://schemas.openxmlformats.org/drawingml/2006/main">
            <a:r>
              <a:t>https://www.bbc.com/russian/media-66023357</a:t>
            </a:r>
          </a:p>
          <a:p xmlns:a="http://schemas.openxmlformats.org/drawingml/2006/main">
            <a:r>
              <a:t>https://www.reuters.com/world/europe/russias-prigozhin-his-own-words-mutiny-2023-06-26/</a:t>
            </a:r>
          </a:p>
          <a:p xmlns:a="http://schemas.openxmlformats.org/drawingml/2006/main">
            <a:r>
              <a:t>https://x.com/Reuters/status/1632709213641113601</a:t>
            </a:r>
          </a:p>
          <a:p xmlns:a="http://schemas.openxmlformats.org/drawingml/2006/main">
            <a:r>
              <a:t>https://www.reuters.com/world/europe/russian-mercenary-boss-says-moscows-war-ukraine-based-lies-2023-06-23/</a:t>
            </a:r>
          </a:p>
          <a:p xmlns:a="http://schemas.openxmlformats.org/drawingml/2006/main">
            <a:r>
              <a:t>https://www.rbc.ru/spb_sz/02/10/2026/6abfb91afd4c7ff957d9cbe8</a:t>
            </a:r>
          </a:p>
          <a:p xmlns:a="http://schemas.openxmlformats.org/drawingml/2006/main">
            <a:r>
              <a:t>https://www.zaks.ru/new/person/view/639</a:t>
            </a:r>
          </a:p>
          <a:p xmlns:a="http://schemas.openxmlformats.org/drawingml/2006/main">
            <a:r>
              <a:t>https://www.zaks.ru/new/archive/view/219520</a:t>
            </a:r>
          </a:p>
          <a:p xmlns:a="http://schemas.openxmlformats.org/drawingml/2006/main">
            <a:r>
              <a:t>https://tvspb.ru/news/2016/09/27/novyij-sostav-parlamenta-kto-zajmet-kresla-v-zakonodatelnom-sobranii-vi-sozyiva</a:t>
            </a:r>
          </a:p>
          <a:p xmlns:a="http://schemas.openxmlformats.org/drawingml/2006/main">
            <a:r>
              <a:t>https://tass.ru/politika/20994233</a:t>
            </a:r>
          </a:p>
          <a:p xmlns:a="http://schemas.openxmlformats.org/drawingml/2006/main">
            <a:r>
              <a:t>https://www.zaks.ru/new/archive/view/265712</a:t>
            </a:r>
          </a:p>
          <a:p xmlns:a="http://schemas.openxmlformats.org/drawingml/2006/main">
            <a:r>
              <a:t>https://www.zaks.ru/new/archive/view/269374</a:t>
            </a:r>
          </a:p>
          <a:p xmlns:a="http://schemas.openxmlformats.org/drawingml/2006/main">
            <a:r>
              <a:t>https://www.dp.ru/a/2026/10/02/oksana-dmitrieva-proigrala</a:t>
            </a:r>
          </a:p>
          <a:p xmlns:a="http://schemas.openxmlformats.org/drawingml/2006/main">
            <a:r>
              <a:t>https://ru.wikipedia.org/wiki/%D0%9F%D0%B0%D1%80%D1%82%D0%B8%D1%8F_%D1%80%D0%BE%D1%81%D1%82%D0%B0</a:t>
            </a:r>
          </a:p>
          <a:p xmlns:a="http://schemas.openxmlformats.org/drawingml/2006/main">
            <a:r>
              <a:t>https://dmitrieva.org/category/gosduma/zakonoproekty/</a:t>
            </a:r>
          </a:p>
          <a:p xmlns:a="http://schemas.openxmlformats.org/drawingml/2006/main">
            <a:r>
              <a:t>https://t.me/s/oxdmitrieva?before=1072</a:t>
            </a:r>
          </a:p>
          <a:p xmlns:a="http://schemas.openxmlformats.org/drawingml/2006/main">
            <a:r>
              <a:t>http://api.duma.gov.ru/api/transcriptFull/2023-09-28</a:t>
            </a:r>
          </a:p>
          <a:p xmlns:a="http://schemas.openxmlformats.org/drawingml/2006/main">
            <a:r>
              <a:t>https://www.fontanka.ru/2026/09/04/76623983/</a:t>
            </a:r>
          </a:p>
          <a:p xmlns:a="http://schemas.openxmlformats.org/drawingml/2006/main">
            <a:r>
              <a:t>https://www.vedomosti.ru/politics/articles/2026/03/10/1181644-deputat-semi-sozivov-oksana-dmitrieva-snova-poidet-v-gosdumu</a:t>
            </a:r>
          </a:p>
          <a:p xmlns:a="http://schemas.openxmlformats.org/drawingml/2006/main">
            <a:r>
              <a:t>https://www.kommersant.ru/doc/8497588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"recommended_q": 2,</a:t>
            </a:r>
          </a:p>
          <a:p xmlns:a="http://schemas.openxmlformats.org/drawingml/2006/main">
            <a:r>
              <a:t>  "best_mean_heldout_q": 3,</a:t>
            </a:r>
          </a:p>
          <a:p xmlns:a="http://schemas.openxmlformats.org/drawingml/2006/main">
            <a:r>
              <a:t>  "parsimony_tolerance_log_likelihood": 1,</a:t>
            </a:r>
          </a:p>
          <a:p xmlns:a="http://schemas.openxmlformats.org/drawingml/2006/main">
            <a:r>
              <a:t>  "rule": "Among converged candidates with at least two |loading|&gt;=0.35 descriptors per factor, select the smallest q within max(1, SD_best/sqrt(3)) of the best three-split mean held-out likelihood; fall back to all candidates if none meet the loading criterion. This is an exploratory heuristic, not an inferential one-SE test.",</a:t>
            </a:r>
          </a:p>
          <a:p xmlns:a="http://schemas.openxmlformats.org/drawingml/2006/main">
            <a:r>
              <a:t>  "parallel_pca": {</a:t>
            </a:r>
          </a:p>
          <a:p xmlns:a="http://schemas.openxmlformats.org/drawingml/2006/main">
            <a:r>
              <a:t>    "retained_components": 2,</a:t>
            </a:r>
          </a:p>
          <a:p xmlns:a="http://schemas.openxmlformats.org/drawingml/2006/main">
            <a:r>
              <a:t>    "permutations": 500,</a:t>
            </a:r>
          </a:p>
          <a:p xmlns:a="http://schemas.openxmlformats.org/drawingml/2006/main">
            <a:r>
              <a:t>    "quantile": 0.95,</a:t>
            </a:r>
          </a:p>
          <a:p xmlns:a="http://schemas.openxmlformats.org/drawingml/2006/main">
            <a:r>
              <a:t>    "observed_eigenvalues": [</a:t>
            </a:r>
          </a:p>
          <a:p xmlns:a="http://schemas.openxmlformats.org/drawingml/2006/main">
            <a:r>
              <a:t>      5.7670476377222,</a:t>
            </a:r>
          </a:p>
          <a:p xmlns:a="http://schemas.openxmlformats.org/drawingml/2006/main">
            <a:r>
              <a:t>      3.157202488362151,</a:t>
            </a:r>
          </a:p>
          <a:p xmlns:a="http://schemas.openxmlformats.org/drawingml/2006/main">
            <a:r>
              <a:t>      1.599311939261355,</a:t>
            </a:r>
          </a:p>
          <a:p xmlns:a="http://schemas.openxmlformats.org/drawingml/2006/main">
            <a:r>
              <a:t>      1.4426459379408845,</a:t>
            </a:r>
          </a:p>
          <a:p xmlns:a="http://schemas.openxmlformats.org/drawingml/2006/main">
            <a:r>
              <a:t>      1.0081875847935187,</a:t>
            </a:r>
          </a:p>
          <a:p xmlns:a="http://schemas.openxmlformats.org/drawingml/2006/main">
            <a:r>
              <a:t>      0.7945435758460176,</a:t>
            </a:r>
          </a:p>
          <a:p xmlns:a="http://schemas.openxmlformats.org/drawingml/2006/main">
            <a:r>
              <a:t>      0.7153352061815987,</a:t>
            </a:r>
          </a:p>
          <a:p xmlns:a="http://schemas.openxmlformats.org/drawingml/2006/main">
            <a:r>
              <a:t>      0.5148773559982952,</a:t>
            </a:r>
          </a:p>
          <a:p xmlns:a="http://schemas.openxmlformats.org/drawingml/2006/main">
            <a:r>
              <a:t>      0.4313912234969934,</a:t>
            </a:r>
          </a:p>
          <a:p xmlns:a="http://schemas.openxmlformats.org/drawingml/2006/main">
            <a:r>
              <a:t>      0.3920933500360671,</a:t>
            </a:r>
          </a:p>
          <a:p xmlns:a="http://schemas.openxmlformats.org/drawingml/2006/main">
            <a:r>
              <a:t>      0.35092528572502457,</a:t>
            </a:r>
          </a:p>
          <a:p xmlns:a="http://schemas.openxmlformats.org/drawingml/2006/main">
            <a:r>
              <a:t>      0.3047727124555794,</a:t>
            </a:r>
          </a:p>
          <a:p xmlns:a="http://schemas.openxmlformats.org/drawingml/2006/main">
            <a:r>
              <a:t>      0.2319906567592523,</a:t>
            </a:r>
          </a:p>
          <a:p xmlns:a="http://schemas.openxmlformats.org/drawingml/2006/main">
            <a:r>
              <a:t>      0.20600747819041113,</a:t>
            </a:r>
          </a:p>
          <a:p xmlns:a="http://schemas.openxmlformats.org/drawingml/2006/main">
            <a:r>
              <a:t>      0.15777358084652246,</a:t>
            </a:r>
          </a:p>
          <a:p xmlns:a="http://schemas.openxmlformats.org/drawingml/2006/main">
            <a:r>
              <a:t>      0.13110599577314522,</a:t>
            </a:r>
          </a:p>
          <a:p xmlns:a="http://schemas.openxmlformats.org/drawingml/2006/main">
            <a:r>
              <a:t>      0.06898153899808578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"reference_eigenvalues": [</a:t>
            </a:r>
          </a:p>
          <a:p xmlns:a="http://schemas.openxmlformats.org/drawingml/2006/main">
            <a:r>
              <a:t>      2.312529737510498,</a:t>
            </a:r>
          </a:p>
          <a:p xmlns:a="http://schemas.openxmlformats.org/drawingml/2006/main">
            <a:r>
              <a:t>      1.9766281823841598,</a:t>
            </a:r>
          </a:p>
          <a:p xmlns:a="http://schemas.openxmlformats.org/drawingml/2006/main">
            <a:r>
              <a:t>      1.7658699343623483,</a:t>
            </a:r>
          </a:p>
          <a:p xmlns:a="http://schemas.openxmlformats.org/drawingml/2006/main">
            <a:r>
              <a:t>      1.6002363397737815,</a:t>
            </a:r>
          </a:p>
          <a:p xmlns:a="http://schemas.openxmlformats.org/drawingml/2006/main">
            <a:r>
              <a:t>      1.4621308609577788,</a:t>
            </a:r>
          </a:p>
          <a:p xmlns:a="http://schemas.openxmlformats.org/drawingml/2006/main">
            <a:r>
              <a:t>      1.3378310483822224,</a:t>
            </a:r>
          </a:p>
          <a:p xmlns:a="http://schemas.openxmlformats.org/drawingml/2006/main">
            <a:r>
              <a:t>      1.2188257307553638,</a:t>
            </a:r>
          </a:p>
          <a:p xmlns:a="http://schemas.openxmlformats.org/drawingml/2006/main">
            <a:r>
              <a:t>      1.1127883406061252,</a:t>
            </a:r>
          </a:p>
          <a:p xmlns:a="http://schemas.openxmlformats.org/drawingml/2006/main">
            <a:r>
              <a:t>      1.0177401241754143,</a:t>
            </a:r>
          </a:p>
          <a:p xmlns:a="http://schemas.openxmlformats.org/drawingml/2006/main">
            <a:r>
              <a:t>      0.9175947943581116,</a:t>
            </a:r>
          </a:p>
          <a:p xmlns:a="http://schemas.openxmlformats.org/drawingml/2006/main">
            <a:r>
              <a:t>      0.8257397441698842,</a:t>
            </a:r>
          </a:p>
          <a:p xmlns:a="http://schemas.openxmlformats.org/drawingml/2006/main">
            <a:r>
              <a:t>      0.7484474815741502,</a:t>
            </a:r>
          </a:p>
          <a:p xmlns:a="http://schemas.openxmlformats.org/drawingml/2006/main">
            <a:r>
              <a:t>      0.6744202795639208,</a:t>
            </a:r>
          </a:p>
          <a:p xmlns:a="http://schemas.openxmlformats.org/drawingml/2006/main">
            <a:r>
              <a:t>      0.5923590506829365,</a:t>
            </a:r>
          </a:p>
          <a:p xmlns:a="http://schemas.openxmlformats.org/drawingml/2006/main">
            <a:r>
              <a:t>      0.5190407368533313,</a:t>
            </a:r>
          </a:p>
          <a:p xmlns:a="http://schemas.openxmlformats.org/drawingml/2006/main">
            <a:r>
              <a:t>      0.44537448830854953,</a:t>
            </a:r>
          </a:p>
          <a:p xmlns:a="http://schemas.openxmlformats.org/drawingml/2006/main">
            <a:r>
              <a:t>      0.35932660502585373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"scope": "PCA component permutation diagnostic, not common-factor retention; not a hard lower/upper bound on FA q"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"rank": 17,</a:t>
            </a:r>
          </a:p>
          <a:p xmlns:a="http://schemas.openxmlformats.org/drawingml/2006/main">
            <a:r>
              <a:t>  "selection_is_exploratory": true,</a:t>
            </a:r>
          </a:p>
          <a:p xmlns:a="http://schemas.openxmlformats.org/drawingml/2006/main">
            <a:r>
              <a:t>  "used_q": 2,</a:t>
            </a:r>
          </a:p>
          <a:p xmlns:a="http://schemas.openxmlformats.org/drawingml/2006/main">
            <a:r>
              <a:t>  "overridden": false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Числа: metadata.json, scores.csv, loadings.csv и утверждённая матрица оценок.</a:t>
            </a:r>
          </a:p>
          <a:p xmlns:a="http://schemas.openxmlformats.org/drawingml/2006/main">
            <a:r>
              <a:t>Изучаемое пространство: Публичный политический образ российских политиков и иных заметных политических акторов, включая деятелей за рубежом, активных хотя бы в части периода. Не рейтинг популярности..</a:t>
            </a:r>
          </a:p>
          <a:p xmlns:a="http://schemas.openxmlformats.org/drawingml/2006/main">
            <a:r>
              <a:t>Оценщик: llm_exploratory.</a:t>
            </a:r>
          </a:p>
          <a:p xmlns:a="http://schemas.openxmlformats.org/drawingml/2006/main">
            <a:r>
              <a:t>Исходные URL:</a:t>
            </a:r>
          </a:p>
          <a:p xmlns:a="http://schemas.openxmlformats.org/drawingml/2006/main">
            <a:r>
              <a:t>https://kremlin.ru/structure/president</a:t>
            </a:r>
          </a:p>
          <a:p xmlns:a="http://schemas.openxmlformats.org/drawingml/2006/main">
            <a:r>
              <a:t>http://www.special.kremlin.ru/events/president/transcripts/67843</a:t>
            </a:r>
          </a:p>
          <a:p xmlns:a="http://schemas.openxmlformats.org/drawingml/2006/main">
            <a:r>
              <a:t>http://en.kremlin.ru/events/president/news/70315</a:t>
            </a:r>
          </a:p>
          <a:p xmlns:a="http://schemas.openxmlformats.org/drawingml/2006/main">
            <a:r>
              <a:t>http://special.kremlin.ru/events/president/transcripts/70565</a:t>
            </a:r>
          </a:p>
          <a:p xmlns:a="http://schemas.openxmlformats.org/drawingml/2006/main">
            <a:r>
              <a:t>http://special.kremlin.ru/events/president/transcripts/72994</a:t>
            </a:r>
          </a:p>
          <a:p xmlns:a="http://schemas.openxmlformats.org/drawingml/2006/main">
            <a:r>
              <a:t>http://kremlin.ru/events/president/news/73585</a:t>
            </a:r>
          </a:p>
          <a:p xmlns:a="http://schemas.openxmlformats.org/drawingml/2006/main">
            <a:r>
              <a:t>http://special.kremlin.ru/events/president/transcripts/75762</a:t>
            </a:r>
          </a:p>
          <a:p xmlns:a="http://schemas.openxmlformats.org/drawingml/2006/main">
            <a:r>
              <a:t>http://www.special.kremlin.ru/events/president/transcripts/76899</a:t>
            </a:r>
          </a:p>
          <a:p xmlns:a="http://schemas.openxmlformats.org/drawingml/2006/main">
            <a:r>
              <a:t>http://special.kremlin.ru/events/president/transcripts/80017</a:t>
            </a:r>
          </a:p>
          <a:p xmlns:a="http://schemas.openxmlformats.org/drawingml/2006/main">
            <a:r>
              <a:t>http://www.special.kremlin.ru/events/president/transcripts/72084</a:t>
            </a:r>
          </a:p>
          <a:p xmlns:a="http://schemas.openxmlformats.org/drawingml/2006/main">
            <a:r>
              <a:t>http://www.special.kremlin.ru/events/president/transcripts/80172</a:t>
            </a:r>
          </a:p>
          <a:p xmlns:a="http://schemas.openxmlformats.org/drawingml/2006/main">
            <a:r>
              <a:t>https://www.diva-portal.org/smash/get/diva2:2035197/FULLTEXT01.pdf</a:t>
            </a:r>
          </a:p>
          <a:p xmlns:a="http://schemas.openxmlformats.org/drawingml/2006/main">
            <a:r>
              <a:t>https://www.reuters.com/world/what-know-about-russias-upcoming-parliamentary-election-2026-09-15/</a:t>
            </a:r>
          </a:p>
          <a:p xmlns:a="http://schemas.openxmlformats.org/drawingml/2006/main">
            <a:r>
              <a:t>https://www.reuters.com/world/europe/how-putin-may-leverage-predictable-outcome-russias-elections-2026-09-18/</a:t>
            </a:r>
          </a:p>
          <a:p xmlns:a="http://schemas.openxmlformats.org/drawingml/2006/main">
            <a:r>
              <a:t>https://ru.wikipedia.org/wiki/Медведев,_Дмитрий_Анатольевич</a:t>
            </a:r>
          </a:p>
          <a:p xmlns:a="http://schemas.openxmlformats.org/drawingml/2006/main">
            <a:r>
              <a:t>https://tass.ru/ekonomika/3941450</a:t>
            </a:r>
          </a:p>
          <a:p xmlns:a="http://schemas.openxmlformats.org/drawingml/2006/main">
            <a:r>
              <a:t>http://archive.government.ru/docs/21653/print/</a:t>
            </a:r>
          </a:p>
          <a:p xmlns:a="http://schemas.openxmlformats.org/drawingml/2006/main">
            <a:r>
              <a:t>https://netfreedom.org.ua/ru/dmytro-anatoliiovych-medvediev-biohrafiia-posady-i-sanktsii/</a:t>
            </a:r>
          </a:p>
          <a:p xmlns:a="http://schemas.openxmlformats.org/drawingml/2006/main">
            <a:r>
              <a:t>https://verstka.media/czeli-svo-kak-kreml-menyal-ih-na-protyazhenii-tryoh-let-vojny</a:t>
            </a:r>
          </a:p>
          <a:p xmlns:a="http://schemas.openxmlformats.org/drawingml/2006/main">
            <a:r>
              <a:t>http://www.scrf.gov.ru/news/allnews/3820/</a:t>
            </a:r>
          </a:p>
          <a:p xmlns:a="http://schemas.openxmlformats.org/drawingml/2006/main">
            <a:r>
              <a:t>http://scrf.gov.ru/news/allnews/3837/</a:t>
            </a:r>
          </a:p>
          <a:p xmlns:a="http://schemas.openxmlformats.org/drawingml/2006/main">
            <a:r>
              <a:t>https://baike.baidu.com/ru/item/%D0%94%D0%BC%D0%B8%D1%82%D1%80%D0%B8%D0%B9%20%D0%90%D0%BD%D0%B0%D1%82%D0%BE%D0%BB%D1%8C%D0%B5%D0%B2%D0%B8%D1%87%20%D0%9C%D0%B5%D0%B4%D0%B2%D0%B5%D0%B4%D0%B5%D0%B2/3254451</a:t>
            </a:r>
          </a:p>
          <a:p xmlns:a="http://schemas.openxmlformats.org/drawingml/2006/main">
            <a:r>
              <a:t>https://tass.ru/politika/5889577</a:t>
            </a:r>
          </a:p>
          <a:p xmlns:a="http://schemas.openxmlformats.org/drawingml/2006/main">
            <a:r>
              <a:t>https://meduza.io/feature/2023/06/26/chto-proizoshlo-s-dmitriem-medvedevym</a:t>
            </a:r>
          </a:p>
          <a:p xmlns:a="http://schemas.openxmlformats.org/drawingml/2006/main">
            <a:r>
              <a:t>https://www.bbc.com/russian/articles/c6evw7d22lv0o</a:t>
            </a:r>
          </a:p>
          <a:p xmlns:a="http://schemas.openxmlformats.org/drawingml/2006/main">
            <a:r>
              <a:t>https://er.ru/activity/news/dmitrij-medvedev-edinaya-rossiya-ne-dopustit-razrusheniya-cennostnyh-osnov-strany</a:t>
            </a:r>
          </a:p>
          <a:p xmlns:a="http://schemas.openxmlformats.org/drawingml/2006/main">
            <a:r>
              <a:t>https://en.wikipedia.org/wiki/Media_freedom_in_Russia</a:t>
            </a:r>
          </a:p>
          <a:p xmlns:a="http://schemas.openxmlformats.org/drawingml/2006/main">
            <a:r>
              <a:t>https://government.ru/gov/persons/151/travel/?area=KHA</a:t>
            </a:r>
          </a:p>
          <a:p xmlns:a="http://schemas.openxmlformats.org/drawingml/2006/main">
            <a:r>
              <a:t>http://government.ru/gov/persons/151/biography/</a:t>
            </a:r>
          </a:p>
          <a:p xmlns:a="http://schemas.openxmlformats.org/drawingml/2006/main">
            <a:r>
              <a:t>https://www.reuters.com/world/europe/who-is-russias-mikhail-mishustin-2024-05-10/</a:t>
            </a:r>
          </a:p>
          <a:p xmlns:a="http://schemas.openxmlformats.org/drawingml/2006/main">
            <a:r>
              <a:t>https://www.kommersant.ru/doc/4220798</a:t>
            </a:r>
          </a:p>
          <a:p xmlns:a="http://schemas.openxmlformats.org/drawingml/2006/main">
            <a:r>
              <a:t>https://www.vedomosti.ru/politics/galleries/2026/03/03/1179718-nalogi-pod-kontrolem</a:t>
            </a:r>
          </a:p>
          <a:p xmlns:a="http://schemas.openxmlformats.org/drawingml/2006/main">
            <a:r>
              <a:t>http://government.ru/gov/persons/151/travel/?page=5</a:t>
            </a:r>
          </a:p>
          <a:p xmlns:a="http://schemas.openxmlformats.org/drawingml/2006/main">
            <a:r>
              <a:t>http://government.ru/news/46476/</a:t>
            </a:r>
          </a:p>
          <a:p xmlns:a="http://schemas.openxmlformats.org/drawingml/2006/main">
            <a:r>
              <a:t>http://government.ru/news/52063/</a:t>
            </a:r>
          </a:p>
          <a:p xmlns:a="http://schemas.openxmlformats.org/drawingml/2006/main">
            <a:r>
              <a:t>http://government.ru/news/52851/</a:t>
            </a:r>
          </a:p>
          <a:p xmlns:a="http://schemas.openxmlformats.org/drawingml/2006/main">
            <a:r>
              <a:t>https://nangs.org/news/society/kabmin-privlek-otdelnye-gosorgany-k-ukrepleniyu-traditsionnykh-tsennostej</a:t>
            </a:r>
          </a:p>
          <a:p xmlns:a="http://schemas.openxmlformats.org/drawingml/2006/main">
            <a:r>
              <a:t>http://government.ru/news/57315/</a:t>
            </a:r>
          </a:p>
          <a:p xmlns:a="http://schemas.openxmlformats.org/drawingml/2006/main">
            <a:r>
              <a:t>https://www.rbc.ru/person/617bf30d9a7947f92ee2d266</a:t>
            </a:r>
          </a:p>
          <a:p xmlns:a="http://schemas.openxmlformats.org/drawingml/2006/main">
            <a:r>
              <a:t>https://mid.ru/ru/press_service/video/view/1848395/</a:t>
            </a:r>
          </a:p>
          <a:p xmlns:a="http://schemas.openxmlformats.org/drawingml/2006/main">
            <a:r>
              <a:t>https://mid.ru/ru/foreign_policy/international_organizations/1932076/</a:t>
            </a:r>
          </a:p>
          <a:p xmlns:a="http://schemas.openxmlformats.org/drawingml/2006/main">
            <a:r>
              <a:t>https://mid.ru/ru/press_service/minister_speeches/1991476/</a:t>
            </a:r>
          </a:p>
          <a:p xmlns:a="http://schemas.openxmlformats.org/drawingml/2006/main">
            <a:r>
              <a:t>https://www.mid.ru/ru/press_service/vizity-ministra/1922112/</a:t>
            </a:r>
          </a:p>
          <a:p xmlns:a="http://schemas.openxmlformats.org/drawingml/2006/main">
            <a:r>
              <a:t>https://www.mid.ru/ru/foreign_policy/news/1927568/</a:t>
            </a:r>
          </a:p>
          <a:p xmlns:a="http://schemas.openxmlformats.org/drawingml/2006/main">
            <a:r>
              <a:t>https://mid.ru/ru/foreign_policy/news/1912973/</a:t>
            </a:r>
          </a:p>
          <a:p xmlns:a="http://schemas.openxmlformats.org/drawingml/2006/main">
            <a:r>
              <a:t>https://www.reuters.com/world/europe/russias-lavrov-says-moscow-committed-us-proposals-peace-rejects-europes-2026-06-15/</a:t>
            </a:r>
          </a:p>
          <a:p xmlns:a="http://schemas.openxmlformats.org/drawingml/2006/main">
            <a:r>
              <a:t>https://www.reuters.com/world/lavrov-says-russia-is-ready-resume-talks-with-ukraine-point-where-they-left-off-2026-06-23/</a:t>
            </a:r>
          </a:p>
          <a:p xmlns:a="http://schemas.openxmlformats.org/drawingml/2006/main">
            <a:r>
              <a:t>https://mid.ru/ru/press_service/video/view/1799184/</a:t>
            </a:r>
          </a:p>
          <a:p xmlns:a="http://schemas.openxmlformats.org/drawingml/2006/main">
            <a:r>
              <a:t>https://en.wikipedia.org/wiki/Sergey_Lavrov</a:t>
            </a:r>
          </a:p>
          <a:p xmlns:a="http://schemas.openxmlformats.org/drawingml/2006/main">
            <a:r>
              <a:t>https://www.garant.ru/products/ipo/prime/doc/70627660/</a:t>
            </a:r>
          </a:p>
          <a:p xmlns:a="http://schemas.openxmlformats.org/drawingml/2006/main">
            <a:r>
              <a:t>https://www.rbc.ru/person/617fc0679a794761d6170b80</a:t>
            </a:r>
          </a:p>
          <a:p xmlns:a="http://schemas.openxmlformats.org/drawingml/2006/main">
            <a:r>
              <a:t>http://www.kremlin.ru/acts/bank/50544</a:t>
            </a:r>
          </a:p>
          <a:p xmlns:a="http://schemas.openxmlformats.org/drawingml/2006/main">
            <a:r>
              <a:t>http://special.kremlin.ru/events/president/news/74019</a:t>
            </a:r>
          </a:p>
          <a:p xmlns:a="http://schemas.openxmlformats.org/drawingml/2006/main">
            <a:r>
              <a:t>https://www.interfax.ru/russia/960081</a:t>
            </a:r>
          </a:p>
          <a:p xmlns:a="http://schemas.openxmlformats.org/drawingml/2006/main">
            <a:r>
              <a:t>https://www.rbc.ru/politics/21/09/2022/632ab17c9a794781413c8582</a:t>
            </a:r>
          </a:p>
          <a:p xmlns:a="http://schemas.openxmlformats.org/drawingml/2006/main">
            <a:r>
              <a:t>https://www.bbc.com/russian/articles/c72p0jq04gjo</a:t>
            </a:r>
          </a:p>
          <a:p xmlns:a="http://schemas.openxmlformats.org/drawingml/2006/main">
            <a:r>
              <a:t>https://meduza.io/feature/2024/05/12/putin-uvolil-shoygu-s-posta-ministra-oborony-i-perevel-v-sovbez</a:t>
            </a:r>
          </a:p>
          <a:p xmlns:a="http://schemas.openxmlformats.org/drawingml/2006/main">
            <a:r>
              <a:t>https://paodkb.org/events/sergey-shoygu-naznachen-sekretarem-soveta-bezopasnosti-rf</a:t>
            </a:r>
          </a:p>
          <a:p xmlns:a="http://schemas.openxmlformats.org/drawingml/2006/main">
            <a:r>
              <a:t>https://base.garant.ru/409005084/</a:t>
            </a:r>
          </a:p>
          <a:p xmlns:a="http://schemas.openxmlformats.org/drawingml/2006/main">
            <a:r>
              <a:t>http://special.kremlin.ru/supplement/6345</a:t>
            </a:r>
          </a:p>
          <a:p xmlns:a="http://schemas.openxmlformats.org/drawingml/2006/main">
            <a:r>
              <a:t>http://en.kremlin.ru/supplement/6345</a:t>
            </a:r>
          </a:p>
          <a:p xmlns:a="http://schemas.openxmlformats.org/drawingml/2006/main">
            <a:r>
              <a:t>https://www.kp.ru/daily/27656.5/5040576/</a:t>
            </a:r>
          </a:p>
          <a:p xmlns:a="http://schemas.openxmlformats.org/drawingml/2006/main">
            <a:r>
              <a:t>https://www.fontanka.ru/2025/06/10/75574928/</a:t>
            </a:r>
          </a:p>
          <a:p xmlns:a="http://schemas.openxmlformats.org/drawingml/2006/main">
            <a:r>
              <a:t>https://tass.ru/politika/25506737</a:t>
            </a:r>
          </a:p>
          <a:p xmlns:a="http://schemas.openxmlformats.org/drawingml/2006/main">
            <a:r>
              <a:t>https://www.rbc.ru/person/6181419c9a7947df128a22f7</a:t>
            </a:r>
          </a:p>
          <a:p xmlns:a="http://schemas.openxmlformats.org/drawingml/2006/main">
            <a:r>
              <a:t>https://www.rbc.ru/economics/31/05/2021/60b3de5d9a7947f2883f7aa0</a:t>
            </a:r>
          </a:p>
          <a:p xmlns:a="http://schemas.openxmlformats.org/drawingml/2006/main">
            <a:r>
              <a:t>https://www.rbc.ru/politics/13/05/2024/6641109a9a7947ab8eebcf7f</a:t>
            </a:r>
          </a:p>
          <a:p xmlns:a="http://schemas.openxmlformats.org/drawingml/2006/main">
            <a:r>
              <a:t>https://www.rbc.ru/business/13/06/2023/6482d3389a79473805ee8978</a:t>
            </a:r>
          </a:p>
          <a:p xmlns:a="http://schemas.openxmlformats.org/drawingml/2006/main">
            <a:r>
              <a:t>https://thebell.io/kuda-vedet-ekonomiku-andrej-belousov-zagadki-dmitriya-medvedeva-i-sposoby-perezhit-sanktsii</a:t>
            </a:r>
          </a:p>
          <a:p xmlns:a="http://schemas.openxmlformats.org/drawingml/2006/main">
            <a:r>
              <a:t>https://72.ru/text/politics/2024/05/14/73575386/</a:t>
            </a:r>
          </a:p>
          <a:p xmlns:a="http://schemas.openxmlformats.org/drawingml/2006/main">
            <a:r>
              <a:t>https://tass.ru/armiya-i-opk/22683223</a:t>
            </a:r>
          </a:p>
          <a:p xmlns:a="http://schemas.openxmlformats.org/drawingml/2006/main">
            <a:r>
              <a:t>https://www.rbc.ru/society/12/12/2017/5a2f9b5a9a79473649fe0042</a:t>
            </a:r>
          </a:p>
          <a:p xmlns:a="http://schemas.openxmlformats.org/drawingml/2006/main">
            <a:r>
              <a:t>https://www.istorex.org/post/russia-december-2024-february-2025</a:t>
            </a:r>
          </a:p>
          <a:p xmlns:a="http://schemas.openxmlformats.org/drawingml/2006/main">
            <a:r>
              <a:t>https://rosinform.ru/news/andrej-belousov-osoboe-znachenie-pridayom-obespecheniyu-voennoj-bezopasnosti-soyuznogo-gosudarstva</a:t>
            </a:r>
          </a:p>
          <a:p xmlns:a="http://schemas.openxmlformats.org/drawingml/2006/main">
            <a:r>
              <a:t>https://xn--b1apnk.xn--p1ai/tpost/nsk7vo4xh1-vstrecha-s-ministrom-oboroni-rossii-i-os</a:t>
            </a:r>
          </a:p>
          <a:p xmlns:a="http://schemas.openxmlformats.org/drawingml/2006/main">
            <a:r>
              <a:t>https://www.rbc.ru/person/62d120d89a79475f0ddd8b5e</a:t>
            </a:r>
          </a:p>
          <a:p xmlns:a="http://schemas.openxmlformats.org/drawingml/2006/main">
            <a:r>
              <a:t>http://scrf.gov.ru/news/allnews/2148/</a:t>
            </a:r>
          </a:p>
          <a:p xmlns:a="http://schemas.openxmlformats.org/drawingml/2006/main">
            <a:r>
              <a:t>https://www.rbc.ru/politics/14/05/2024/6643287b9a7947a8f0b8ba78</a:t>
            </a:r>
          </a:p>
          <a:p xmlns:a="http://schemas.openxmlformats.org/drawingml/2006/main">
            <a:r>
              <a:t>https://tass.ru/info/20789699</a:t>
            </a:r>
          </a:p>
          <a:p xmlns:a="http://schemas.openxmlformats.org/drawingml/2006/main">
            <a:r>
              <a:t>https://marine.org.ru/structure/person/56/</a:t>
            </a:r>
          </a:p>
          <a:p xmlns:a="http://schemas.openxmlformats.org/drawingml/2006/main">
            <a:r>
              <a:t>https://marine.org.ru/publication/smi/16108/</a:t>
            </a:r>
          </a:p>
          <a:p xmlns:a="http://schemas.openxmlformats.org/drawingml/2006/main">
            <a:r>
              <a:t>https://www.svoboda.org/a/30676123.html</a:t>
            </a:r>
          </a:p>
          <a:p xmlns:a="http://schemas.openxmlformats.org/drawingml/2006/main">
            <a:r>
              <a:t>https://aif.ru/society/safety/kuklovodstvo_k_deystviyu_nikolay_patrushev_o_metodah_cvetnyh_revolyuciy</a:t>
            </a:r>
          </a:p>
          <a:p xmlns:a="http://schemas.openxmlformats.org/drawingml/2006/main">
            <a:r>
              <a:t>https://vkrizis.info/vlast/czennosti-razmyvaniya/</a:t>
            </a:r>
          </a:p>
          <a:p xmlns:a="http://schemas.openxmlformats.org/drawingml/2006/main">
            <a:r>
              <a:t>https://infranomica.ru/2026/05/19/selskoe-hozyajstvo-est-rezultat-budet-i-pishha/</a:t>
            </a:r>
          </a:p>
          <a:p xmlns:a="http://schemas.openxmlformats.org/drawingml/2006/main">
            <a:r>
              <a:t>https://www.rbc.ru/person/660400989a79471b36dbb514</a:t>
            </a:r>
          </a:p>
          <a:p xmlns:a="http://schemas.openxmlformats.org/drawingml/2006/main">
            <a:r>
              <a:t>http://special.kremlin.ru/catalog/persons/100/events</a:t>
            </a:r>
          </a:p>
          <a:p xmlns:a="http://schemas.openxmlformats.org/drawingml/2006/main">
            <a:r>
              <a:t>https://nac.gov.ru/view/eb008ff4-1608-4b47-b2a9-3d604c1833c2</a:t>
            </a:r>
          </a:p>
          <a:p xmlns:a="http://schemas.openxmlformats.org/drawingml/2006/main">
            <a:r>
              <a:t>http://pfo.gov.ru/press/events/113336/</a:t>
            </a:r>
          </a:p>
          <a:p xmlns:a="http://schemas.openxmlformats.org/drawingml/2006/main">
            <a:r>
              <a:t>https://www.opensanctions.org/entities/Q516824/</a:t>
            </a:r>
          </a:p>
          <a:p xmlns:a="http://schemas.openxmlformats.org/drawingml/2006/main">
            <a:r>
              <a:t>https://www.agents.media/ssha-poprobuyut-vozobnovit-peregovory-o-mire-v-ukraine-cherez-glavu-fsb-che-vedomstvo-kak-schitaetsya-svoimi-dokladami-podtolknulo-putina-k-vojne/</a:t>
            </a:r>
          </a:p>
          <a:p xmlns:a="http://schemas.openxmlformats.org/drawingml/2006/main">
            <a:r>
              <a:t>https://letters.kremlin.ru/news/receptions/by-section/assignments/by-person/260</a:t>
            </a:r>
          </a:p>
          <a:p xmlns:a="http://schemas.openxmlformats.org/drawingml/2006/main">
            <a:r>
              <a:t>https://www.kommersant.ru/doc/3612580</a:t>
            </a:r>
          </a:p>
          <a:p xmlns:a="http://schemas.openxmlformats.org/drawingml/2006/main">
            <a:r>
              <a:t>https://fbk.info/ru/investigations/kirienko-kholyi-putina</a:t>
            </a:r>
          </a:p>
          <a:p xmlns:a="http://schemas.openxmlformats.org/drawingml/2006/main">
            <a:r>
              <a:t>https://utro02.tv/2022/05/24/kolebaniya-kirienok/</a:t>
            </a:r>
          </a:p>
          <a:p xmlns:a="http://schemas.openxmlformats.org/drawingml/2006/main">
            <a:r>
              <a:t>https://meduza.io/feature/2023/12/19/on-peresidel-v-svoem-kresle-v-kremle-i-pravitelstve-obsuzhdayut-chto-sergey-kirienko-mozhet-lishitsya-dolzhnosti-v-ap-posle-vyborov-prezidenta</a:t>
            </a:r>
          </a:p>
          <a:p xmlns:a="http://schemas.openxmlformats.org/drawingml/2006/main">
            <a:r>
              <a:t>https://verstka.media/kak-rossiya-prodvigaet-svoyu-molodezhnuyu-politiku-na-okkupirovannyh-territoriyah</a:t>
            </a:r>
          </a:p>
          <a:p xmlns:a="http://schemas.openxmlformats.org/drawingml/2006/main">
            <a:r>
              <a:t>https://dnrnews.ru/society/2025/09/04/1167117.html</a:t>
            </a:r>
          </a:p>
          <a:p xmlns:a="http://schemas.openxmlformats.org/drawingml/2006/main">
            <a:r>
              <a:t>https://www.tadviser.ru/index.php/%D0%9F%D0%B5%D1%80%D1%81%D0%BE%D0%BD%D0%B0:%D0%9A%D0%B8%D1%80%D0%B8%D0%B5%D0%BD%D0%BA%D0%BE_%D0%A1%D0%B5%D1%80%D0%B3%D0%B5%D0%B9_%D0%92%D0%BB%D0%B0%D0%B4%D0%B8%D0%BB%D0%B5%D0%BD%D0%BE%D0%B2%D0%B8%D1%87</a:t>
            </a:r>
          </a:p>
          <a:p xmlns:a="http://schemas.openxmlformats.org/drawingml/2006/main">
            <a:r>
              <a:t>https://tass.ru/politika/18225741</a:t>
            </a:r>
          </a:p>
          <a:p xmlns:a="http://schemas.openxmlformats.org/drawingml/2006/main">
            <a:r>
              <a:t>https://www.kommersant.ru/doc/6187168</a:t>
            </a:r>
          </a:p>
          <a:p xmlns:a="http://schemas.openxmlformats.org/drawingml/2006/main">
            <a:r>
              <a:t>https://duma.gov.ru/news/63383/</a:t>
            </a:r>
          </a:p>
          <a:p xmlns:a="http://schemas.openxmlformats.org/drawingml/2006/main">
            <a:r>
              <a:t>http://duma.gov.ru/en/duma/persons/99100829/news/</a:t>
            </a:r>
          </a:p>
          <a:p xmlns:a="http://schemas.openxmlformats.org/drawingml/2006/main">
            <a:r>
              <a:t>http://duma.gov.ru/en/news/62248/</a:t>
            </a:r>
          </a:p>
          <a:p xmlns:a="http://schemas.openxmlformats.org/drawingml/2006/main">
            <a:r>
              <a:t>http://duma.gov.ru/en/news/61352/</a:t>
            </a:r>
          </a:p>
          <a:p xmlns:a="http://schemas.openxmlformats.org/drawingml/2006/main">
            <a:r>
              <a:t>http://duma.gov.ru/en/news/64178/</a:t>
            </a:r>
          </a:p>
          <a:p xmlns:a="http://schemas.openxmlformats.org/drawingml/2006/main">
            <a:r>
              <a:t>http://duma.gov.ru/en/news/64216</a:t>
            </a:r>
          </a:p>
          <a:p xmlns:a="http://schemas.openxmlformats.org/drawingml/2006/main">
            <a:r>
              <a:t>http://duma.gov.ru/en/news/64239</a:t>
            </a:r>
          </a:p>
          <a:p xmlns:a="http://schemas.openxmlformats.org/drawingml/2006/main">
            <a:r>
              <a:t>https://en.wikipedia.org/wiki/Vyacheslav_Volodin</a:t>
            </a:r>
          </a:p>
          <a:p xmlns:a="http://schemas.openxmlformats.org/drawingml/2006/main">
            <a:r>
              <a:t>http://duma.gov.ru/news/56060/</a:t>
            </a:r>
          </a:p>
          <a:p xmlns:a="http://schemas.openxmlformats.org/drawingml/2006/main">
            <a:r>
              <a:t>http://duma.gov.ru/news/60448/</a:t>
            </a:r>
          </a:p>
          <a:p xmlns:a="http://schemas.openxmlformats.org/drawingml/2006/main">
            <a:r>
              <a:t>http://duma.gov.ru/news/61362/</a:t>
            </a:r>
          </a:p>
          <a:p xmlns:a="http://schemas.openxmlformats.org/drawingml/2006/main">
            <a:r>
              <a:t>http://duma.gov.ru/news/61384/</a:t>
            </a:r>
          </a:p>
          <a:p xmlns:a="http://schemas.openxmlformats.org/drawingml/2006/main">
            <a:r>
              <a:t>http://duma.gov.ru/news/61874/</a:t>
            </a:r>
          </a:p>
          <a:p xmlns:a="http://schemas.openxmlformats.org/drawingml/2006/main">
            <a:r>
              <a:t>http://duma.gov.ru/news/62022/</a:t>
            </a:r>
          </a:p>
          <a:p xmlns:a="http://schemas.openxmlformats.org/drawingml/2006/main">
            <a:r>
              <a:t>http://duma.gov.ru/news/63772/</a:t>
            </a:r>
          </a:p>
          <a:p xmlns:a="http://schemas.openxmlformats.org/drawingml/2006/main">
            <a:r>
              <a:t>https://council.gov.ru/events/news/160466/</a:t>
            </a:r>
          </a:p>
          <a:p xmlns:a="http://schemas.openxmlformats.org/drawingml/2006/main">
            <a:r>
              <a:t>http://council.gov.ru/structure/persons/257/</a:t>
            </a:r>
          </a:p>
          <a:p xmlns:a="http://schemas.openxmlformats.org/drawingml/2006/main">
            <a:r>
              <a:t>https://interaffairs.ru/news/show/16199</a:t>
            </a:r>
          </a:p>
          <a:p xmlns:a="http://schemas.openxmlformats.org/drawingml/2006/main">
            <a:r>
              <a:t>https://www.rbc.ru/person/617fb5ef9a79475c6cfc4502</a:t>
            </a:r>
          </a:p>
          <a:p xmlns:a="http://schemas.openxmlformats.org/drawingml/2006/main">
            <a:r>
              <a:t>https://vksrs.com/publications/matvienko-rasskazala-o-neobkhodimosti-protivostoyat-geroizatsii-natsistov/</a:t>
            </a:r>
          </a:p>
          <a:p xmlns:a="http://schemas.openxmlformats.org/drawingml/2006/main">
            <a:r>
              <a:t>https://absatz.media/politika/158438-valentine-matvienko-77-istoriya-uspeha-put-k-vershine-i-samye-yarkie-zayavleniya</a:t>
            </a:r>
          </a:p>
          <a:p xmlns:a="http://schemas.openxmlformats.org/drawingml/2006/main">
            <a:r>
              <a:t>https://www.rbc.ru/society/14/10/2026/6acf597c9a794743e0478a15?from=short_news</a:t>
            </a:r>
          </a:p>
          <a:p xmlns:a="http://schemas.openxmlformats.org/drawingml/2006/main">
            <a:r>
              <a:t>https://senatinform.ru/news/sf_stremitsya_byt_maksimalno_otkrytym_dlya_raboty_zhurnalistov_matvienko/</a:t>
            </a:r>
          </a:p>
          <a:p xmlns:a="http://schemas.openxmlformats.org/drawingml/2006/main">
            <a:r>
              <a:t>https://eparlament.irzs.ru/Files/getFile/11853</a:t>
            </a:r>
          </a:p>
          <a:p xmlns:a="http://schemas.openxmlformats.org/drawingml/2006/main">
            <a:r>
              <a:t>http://special.council.gov.ru/activity/meetings/170703/transcript/</a:t>
            </a:r>
          </a:p>
          <a:p xmlns:a="http://schemas.openxmlformats.org/drawingml/2006/main">
            <a:r>
              <a:t>https://bookonlime.ru/lecture/12-razvitie-ekonomicheskih-otnosheniy-i-strategicheskoe-planirovanie-v-cifrovoy-ekonomike-2</a:t>
            </a:r>
          </a:p>
          <a:p xmlns:a="http://schemas.openxmlformats.org/drawingml/2006/main">
            <a:r>
              <a:t>https://ru.wikipedia.org/wiki/Песков,_Дмитрий_Сергеевич</a:t>
            </a:r>
          </a:p>
          <a:p xmlns:a="http://schemas.openxmlformats.org/drawingml/2006/main">
            <a:r>
              <a:t>https://www.reuters.com/world/europe/kremlin-says-ukraine-is-now-paying-price-its-own-attacks-russia-2026-09-28/</a:t>
            </a:r>
          </a:p>
          <a:p xmlns:a="http://schemas.openxmlformats.org/drawingml/2006/main">
            <a:r>
              <a:t>https://www.reuters.com/world/europe/kremlin-rejects-le-penbardella-rebuke-says-russia-is-no-threat-france-2026-09-21/</a:t>
            </a:r>
          </a:p>
          <a:p xmlns:a="http://schemas.openxmlformats.org/drawingml/2006/main">
            <a:r>
              <a:t>https://theins.ru/antifake/295208</a:t>
            </a:r>
          </a:p>
          <a:p xmlns:a="http://schemas.openxmlformats.org/drawingml/2006/main">
            <a:r>
              <a:t>https://expert.ru/news/v-kremle-otvetili-na-slova-donalda-trampa-o-rossiyskom-vmeshatelstve</a:t>
            </a:r>
          </a:p>
          <a:p xmlns:a="http://schemas.openxmlformats.org/drawingml/2006/main">
            <a:r>
              <a:t>https://www.dw.com/ru/dmitrij-peskov/t-18146676/page-1</a:t>
            </a:r>
          </a:p>
          <a:p xmlns:a="http://schemas.openxmlformats.org/drawingml/2006/main">
            <a:r>
              <a:t>https://www.pnp.ru/person/dmitriy--peskov/</a:t>
            </a:r>
          </a:p>
          <a:p xmlns:a="http://schemas.openxmlformats.org/drawingml/2006/main">
            <a:r>
              <a:t>https://www.rbc.ua/ukr/dossier/peskov-19032015</a:t>
            </a:r>
          </a:p>
          <a:p xmlns:a="http://schemas.openxmlformats.org/drawingml/2006/main">
            <a:r>
              <a:t>https://www.rbc.ru/politics/12/10/2026/6accae3bb18f4460834ce063</a:t>
            </a:r>
          </a:p>
          <a:p xmlns:a="http://schemas.openxmlformats.org/drawingml/2006/main">
            <a:r>
              <a:t>https://tass.ru/politika/20355193</a:t>
            </a:r>
          </a:p>
          <a:p xmlns:a="http://schemas.openxmlformats.org/drawingml/2006/main">
            <a:r>
              <a:t>https://www.m24.ru/news/06052024/689412</a:t>
            </a:r>
          </a:p>
          <a:p xmlns:a="http://schemas.openxmlformats.org/drawingml/2006/main">
            <a:r>
              <a:t>http://www.kremlin.ru/acts/bank/48502</a:t>
            </a:r>
          </a:p>
          <a:p xmlns:a="http://schemas.openxmlformats.org/drawingml/2006/main">
            <a:r>
              <a:t>https://www.m24.ru/news/11022025/769070</a:t>
            </a:r>
          </a:p>
          <a:p xmlns:a="http://schemas.openxmlformats.org/drawingml/2006/main">
            <a:r>
              <a:t>https://www.m24.ru/news/23042026/894202</a:t>
            </a:r>
          </a:p>
          <a:p xmlns:a="http://schemas.openxmlformats.org/drawingml/2006/main">
            <a:r>
              <a:t>https://cbr.ru/about_br/nabiullinaes/</a:t>
            </a:r>
          </a:p>
          <a:p xmlns:a="http://schemas.openxmlformats.org/drawingml/2006/main">
            <a:r>
              <a:t>https://cbr.ru/press/event/?id=12840</a:t>
            </a:r>
          </a:p>
          <a:p xmlns:a="http://schemas.openxmlformats.org/drawingml/2006/main">
            <a:r>
              <a:t>https://www.cbr.ru/press/event/?id=12904</a:t>
            </a:r>
          </a:p>
          <a:p xmlns:a="http://schemas.openxmlformats.org/drawingml/2006/main">
            <a:r>
              <a:t>https://cbr.ru/press/event/?id=14033</a:t>
            </a:r>
          </a:p>
          <a:p xmlns:a="http://schemas.openxmlformats.org/drawingml/2006/main">
            <a:r>
              <a:t>https://www.cbr.ru/press/event/?id=12764</a:t>
            </a:r>
          </a:p>
          <a:p xmlns:a="http://schemas.openxmlformats.org/drawingml/2006/main">
            <a:r>
              <a:t>https://kazanfirst.ru/articles/534335</a:t>
            </a:r>
          </a:p>
          <a:p xmlns:a="http://schemas.openxmlformats.org/drawingml/2006/main">
            <a:r>
              <a:t>https://www.rbc.ru/person/65e831449a79476cbfd8e5fd</a:t>
            </a:r>
          </a:p>
          <a:p xmlns:a="http://schemas.openxmlformats.org/drawingml/2006/main">
            <a:r>
              <a:t>https://www.interfax.ru/russia/955290</a:t>
            </a:r>
          </a:p>
          <a:p xmlns:a="http://schemas.openxmlformats.org/drawingml/2006/main">
            <a:r>
              <a:t>https://minfin.gov.ru/ru/press-center/?id_4=38548-intervyu_ministra_finansov_antona_siluanova_gazete_argumenty_i_fakty</a:t>
            </a:r>
          </a:p>
          <a:p xmlns:a="http://schemas.openxmlformats.org/drawingml/2006/main">
            <a:r>
              <a:t>https://minfin.gov.ru/ru/press-center/?id_4=37667-vystuplenie_antona_siluanova_na_plenarnom_zasedanii_v_gosudarstvennoi_dume</a:t>
            </a:r>
          </a:p>
          <a:p xmlns:a="http://schemas.openxmlformats.org/drawingml/2006/main">
            <a:r>
              <a:t>https://www.rbc.ru/economics/24/10/2022/63529d159a7947efb82a59eb</a:t>
            </a:r>
          </a:p>
          <a:p xmlns:a="http://schemas.openxmlformats.org/drawingml/2006/main">
            <a:r>
              <a:t>https://www.rbc.ru/newspaper/2020/02/21/5e4e83289a79474bcf9f8cf9</a:t>
            </a:r>
          </a:p>
          <a:p xmlns:a="http://schemas.openxmlformats.org/drawingml/2006/main">
            <a:r>
              <a:t>https://www.rbc.ru/economics/20/02/2020/5e4e91919a79475559478893</a:t>
            </a:r>
          </a:p>
          <a:p xmlns:a="http://schemas.openxmlformats.org/drawingml/2006/main">
            <a:r>
              <a:t>https://minfin.gov.ru/ru/press-center/?id_4=39336-anton_siluanov_predstavil_na_parlamentskikh_slushaniyakh_v_sovete_federatsii_proekt_byudzheta_na_2025-2027_gg.</a:t>
            </a:r>
          </a:p>
          <a:p xmlns:a="http://schemas.openxmlformats.org/drawingml/2006/main">
            <a:r>
              <a:t>https://www.interfax.ru/amp/1035506</a:t>
            </a:r>
          </a:p>
          <a:p xmlns:a="http://schemas.openxmlformats.org/drawingml/2006/main">
            <a:r>
              <a:t>https://tass.ru/ekonomika/28198121</a:t>
            </a:r>
          </a:p>
          <a:p xmlns:a="http://schemas.openxmlformats.org/drawingml/2006/main">
            <a:r>
              <a:t>https://www.rbc.ru/person/65b9f4369a7947ec8a7f242a</a:t>
            </a:r>
          </a:p>
          <a:p xmlns:a="http://schemas.openxmlformats.org/drawingml/2006/main">
            <a:r>
              <a:t>https://www.bfm.ru/news/435050</a:t>
            </a:r>
          </a:p>
          <a:p xmlns:a="http://schemas.openxmlformats.org/drawingml/2006/main">
            <a:r>
              <a:t>https://ru.ruwiki.ru/wiki/%D0%93%D0%BE%D0%BB%D0%B8%D0%BA%D0%BE%D0%B2%D0%B0,_%D0%A2%D0%B0%D1%82%D1%8C%D1%8F%D0%BD%D0%B0_%D0%90%D0%BB%D0%B5%D0%BA%D1%81%D0%B5%D0%B5%D0%B2%D0%BD%D0%B0</a:t>
            </a:r>
          </a:p>
          <a:p xmlns:a="http://schemas.openxmlformats.org/drawingml/2006/main">
            <a:r>
              <a:t>http://www.kremlin.ru/events/president/transcripts/deliberations%20/77439</a:t>
            </a:r>
          </a:p>
          <a:p xmlns:a="http://schemas.openxmlformats.org/drawingml/2006/main">
            <a:r>
              <a:t>https://xn--90aivcdt6dxbc.xn--p1ai/articles/news/prezident-zdravookhranenie-zanimaet-klyuchevoe-mesto-v-sotsialnoy-politike-rossii/</a:t>
            </a:r>
          </a:p>
          <a:p xmlns:a="http://schemas.openxmlformats.org/drawingml/2006/main">
            <a:r>
              <a:t>https://xn--90aivcdt6dxbc.xn--p1ai/articles/news/tatyana-golikova-edinaya-rossiya-nadezhnyy-soyuznik-i-partner-pravitelstva/</a:t>
            </a:r>
          </a:p>
          <a:p xmlns:a="http://schemas.openxmlformats.org/drawingml/2006/main">
            <a:r>
              <a:t>http://government.ru/news/58648/</a:t>
            </a:r>
          </a:p>
          <a:p xmlns:a="http://schemas.openxmlformats.org/drawingml/2006/main">
            <a:r>
              <a:t>http://government.ru/news/54912/</a:t>
            </a:r>
          </a:p>
          <a:p xmlns:a="http://schemas.openxmlformats.org/drawingml/2006/main">
            <a:r>
              <a:t>http://government.ru/news/58000/</a:t>
            </a:r>
          </a:p>
          <a:p xmlns:a="http://schemas.openxmlformats.org/drawingml/2006/main">
            <a:r>
              <a:t>https://tass.ru/politika/28141547</a:t>
            </a:r>
          </a:p>
          <a:p xmlns:a="http://schemas.openxmlformats.org/drawingml/2006/main">
            <a:r>
              <a:t>https://duma.gov.ru/media/files/smUklOtuNPyzwTneQGCfFUHHIsilAqcm.pdf</a:t>
            </a:r>
          </a:p>
          <a:p xmlns:a="http://schemas.openxmlformats.org/drawingml/2006/main">
            <a:r>
              <a:t>https://kprf.ru/dep/gosduma/activities/187187.html</a:t>
            </a:r>
          </a:p>
          <a:p xmlns:a="http://schemas.openxmlformats.org/drawingml/2006/main">
            <a:r>
              <a:t>http://msk.kprf.ru/2022/08/22/222866/</a:t>
            </a:r>
          </a:p>
          <a:p xmlns:a="http://schemas.openxmlformats.org/drawingml/2006/main">
            <a:r>
              <a:t>https://kprf.ru/party-live/cknews/235903.html</a:t>
            </a:r>
          </a:p>
          <a:p xmlns:a="http://schemas.openxmlformats.org/drawingml/2006/main">
            <a:r>
              <a:t>https://kprf.ru/dep/gosduma/activities/236198.html/print</a:t>
            </a:r>
          </a:p>
          <a:p xmlns:a="http://schemas.openxmlformats.org/drawingml/2006/main">
            <a:r>
              <a:t>https://kprf.ru/dep/gosduma/activities/239812.html</a:t>
            </a:r>
          </a:p>
          <a:p xmlns:a="http://schemas.openxmlformats.org/drawingml/2006/main">
            <a:r>
              <a:t>https://kprf-don.ru/index.php/news/facts/12501-2025-09-15-12-58-35.html</a:t>
            </a:r>
          </a:p>
          <a:p xmlns:a="http://schemas.openxmlformats.org/drawingml/2006/main">
            <a:r>
              <a:t>https://kprf.ru/dep/gosduma/activities/237529.html</a:t>
            </a:r>
          </a:p>
          <a:p xmlns:a="http://schemas.openxmlformats.org/drawingml/2006/main">
            <a:r>
              <a:t>https://novayagazeta.ru/articles/2025/09/19/putin-udivilsia-khodu-zapushchennoi-im-vesnoi-munitsipalnoi-reformy-posle-slov-ziuganova-kak-regiony-dlia-nee-lomali-cherez-koleno-a-tatarstan-otkazalsia-ee-ispolniat-news</a:t>
            </a:r>
          </a:p>
          <a:p xmlns:a="http://schemas.openxmlformats.org/drawingml/2006/main">
            <a:r>
              <a:t>https://kprf.ru/official/2025/11/15/15-noiabria-2025-oda-sostoialsia-ii-noiabrskii-plenum-tsk-kprf/473.html</a:t>
            </a:r>
          </a:p>
          <a:p xmlns:a="http://schemas.openxmlformats.org/drawingml/2006/main">
            <a:r>
              <a:t>https://www.rbc.ru/person/617bfbb79a7947fc327a3bcb</a:t>
            </a:r>
          </a:p>
          <a:p xmlns:a="http://schemas.openxmlformats.org/drawingml/2006/main">
            <a:r>
              <a:t>https://www.bbc.com/russian/features-60873381</a:t>
            </a:r>
          </a:p>
          <a:p xmlns:a="http://schemas.openxmlformats.org/drawingml/2006/main">
            <a:r>
              <a:t>https://www.svoboda.org/a/umer-lider-partii-ldpr-vladimir-zhirinovskiy-nekrolog/31770134.html</a:t>
            </a:r>
          </a:p>
          <a:p xmlns:a="http://schemas.openxmlformats.org/drawingml/2006/main">
            <a:r>
              <a:t>https://www.rbc.ru/politics/06/04/2022/624d661b9a79473f7416fe26</a:t>
            </a:r>
          </a:p>
          <a:p xmlns:a="http://schemas.openxmlformats.org/drawingml/2006/main">
            <a:r>
              <a:t>https://tass.ru/politika/3392889</a:t>
            </a:r>
          </a:p>
          <a:p xmlns:a="http://schemas.openxmlformats.org/drawingml/2006/main">
            <a:r>
              <a:t>https://www.pnp.ru/politics/2016/06/28/v-centre-predvybornoy-programmy-ldpr-russkiy-vopros.html</a:t>
            </a:r>
          </a:p>
          <a:p xmlns:a="http://schemas.openxmlformats.org/drawingml/2006/main">
            <a:r>
              <a:t>https://ldpr.ru/party/history/</a:t>
            </a:r>
          </a:p>
          <a:p xmlns:a="http://schemas.openxmlformats.org/drawingml/2006/main">
            <a:r>
              <a:t>https://govoritmoskva.ru/interviews/1023/</a:t>
            </a:r>
          </a:p>
          <a:p xmlns:a="http://schemas.openxmlformats.org/drawingml/2006/main">
            <a:r>
              <a:t>https://www.gazeta.ru/politics/2017/03/17_a_10580999.shtml</a:t>
            </a:r>
          </a:p>
          <a:p xmlns:a="http://schemas.openxmlformats.org/drawingml/2006/main">
            <a:r>
              <a:t>https://ldpr.ru/upload/iblock/c88/1d6dstdexz6aw7dnwoubeobhr3mnwa1j/a799616e688866c49f2ef6b5b8cfe5c00d45080ae85ce0e5f6d36e2e010681d9.pdf</a:t>
            </a:r>
          </a:p>
          <a:p xmlns:a="http://schemas.openxmlformats.org/drawingml/2006/main">
            <a:r>
              <a:t>https://www.kommersant.ru/doc/3579566</a:t>
            </a:r>
          </a:p>
          <a:p xmlns:a="http://schemas.openxmlformats.org/drawingml/2006/main">
            <a:r>
              <a:t>https://spb.ldpr.ru/event/243915/</a:t>
            </a:r>
          </a:p>
          <a:p xmlns:a="http://schemas.openxmlformats.org/drawingml/2006/main">
            <a:r>
              <a:t>https://kursk.ldpr.ru/event/341398</a:t>
            </a:r>
          </a:p>
          <a:p xmlns:a="http://schemas.openxmlformats.org/drawingml/2006/main">
            <a:r>
              <a:t>https://cyberleninka.ru/article/n/sravnitelnyy-analiz-predvybornyh-programm-ldpr-na-vyborah-2021-g-i-l-e-slutskogo-na-vyborah-2024-g</a:t>
            </a:r>
          </a:p>
          <a:p xmlns:a="http://schemas.openxmlformats.org/drawingml/2006/main">
            <a:r>
              <a:t>https://kcr.ldpr.ru/event/347999/</a:t>
            </a:r>
          </a:p>
          <a:p xmlns:a="http://schemas.openxmlformats.org/drawingml/2006/main">
            <a:r>
              <a:t>https://msknews77.ru/society/2025/09/25/73500.html</a:t>
            </a:r>
          </a:p>
          <a:p xmlns:a="http://schemas.openxmlformats.org/drawingml/2006/main">
            <a:r>
              <a:t>https://bagaevka-press.ru/besplatnyj-zemelnyj-uchastok-dlya-semej-inicziativa-ldpr/</a:t>
            </a:r>
          </a:p>
          <a:p xmlns:a="http://schemas.openxmlformats.org/drawingml/2006/main">
            <a:r>
              <a:t>https://ldpr.ru/event/437527/</a:t>
            </a:r>
          </a:p>
          <a:p xmlns:a="http://schemas.openxmlformats.org/drawingml/2006/main">
            <a:r>
              <a:t>https://rg62.info/2025/11/01/leonid-sluczkij-vstupilsya-za-multserial-masha-i-medved/</a:t>
            </a:r>
          </a:p>
          <a:p xmlns:a="http://schemas.openxmlformats.org/drawingml/2006/main">
            <a:r>
              <a:t>https://mironov.ru/officially</a:t>
            </a:r>
          </a:p>
          <a:p xmlns:a="http://schemas.openxmlformats.org/drawingml/2006/main">
            <a:r>
              <a:t>https://mironov.ru/bio</a:t>
            </a:r>
          </a:p>
          <a:p xmlns:a="http://schemas.openxmlformats.org/drawingml/2006/main">
            <a:r>
              <a:t>https://mironov-online.ru/category/zayavleniya/</a:t>
            </a:r>
          </a:p>
          <a:p xmlns:a="http://schemas.openxmlformats.org/drawingml/2006/main">
            <a:r>
              <a:t>https://www.rbc.ru/person/69806d279a7947baf86c32c5</a:t>
            </a:r>
          </a:p>
          <a:p xmlns:a="http://schemas.openxmlformats.org/drawingml/2006/main">
            <a:r>
              <a:t>https://spravedlivo.ru/16303010</a:t>
            </a:r>
          </a:p>
          <a:p xmlns:a="http://schemas.openxmlformats.org/drawingml/2006/main">
            <a:r>
              <a:t>http://mironov.ru/15133910</a:t>
            </a:r>
          </a:p>
          <a:p xmlns:a="http://schemas.openxmlformats.org/drawingml/2006/main">
            <a:r>
              <a:t>http://www.special.spravedlivo.ru/5_140609.html</a:t>
            </a:r>
          </a:p>
          <a:p xmlns:a="http://schemas.openxmlformats.org/drawingml/2006/main">
            <a:r>
              <a:t>https://spravedlivo.ru/14681110</a:t>
            </a:r>
          </a:p>
          <a:p xmlns:a="http://schemas.openxmlformats.org/drawingml/2006/main">
            <a:r>
              <a:t>https://radiokp.ru/podcast/dialogi-na-radio-kp/759263</a:t>
            </a:r>
          </a:p>
          <a:p xmlns:a="http://schemas.openxmlformats.org/drawingml/2006/main">
            <a:r>
              <a:t>https://mironov.ru/51339910</a:t>
            </a:r>
          </a:p>
          <a:p xmlns:a="http://schemas.openxmlformats.org/drawingml/2006/main">
            <a:r>
              <a:t>https://mironov-online.ru/news/mironov-na-ukraine-idet-bitva-za-budushhee-vsego-chelovechestva-i-pobeda-v-nej-budet-za-rossiej/</a:t>
            </a:r>
          </a:p>
          <a:p xmlns:a="http://schemas.openxmlformats.org/drawingml/2006/main">
            <a:r>
              <a:t>https://spravedlivo.ru/12544510</a:t>
            </a:r>
          </a:p>
          <a:p xmlns:a="http://schemas.openxmlformats.org/drawingml/2006/main">
            <a:r>
              <a:t>https://www.rbc.ru/person/6aa3ef199a79475758621730</a:t>
            </a:r>
          </a:p>
          <a:p xmlns:a="http://schemas.openxmlformats.org/drawingml/2006/main">
            <a:r>
              <a:t>https://www.rbc.ru/politics/24/09/2021/614da73f9a7947b5e3d9399f</a:t>
            </a:r>
          </a:p>
          <a:p xmlns:a="http://schemas.openxmlformats.org/drawingml/2006/main">
            <a:r>
              <a:t>https://amp.rbc.ru/rbcnews/base/14/08/2026/6a957dfb9a79476ae3d823ba</a:t>
            </a:r>
          </a:p>
          <a:p xmlns:a="http://schemas.openxmlformats.org/drawingml/2006/main">
            <a:r>
              <a:t>https://en.wikipedia.org/wiki/Alexey_Nechayev</a:t>
            </a:r>
          </a:p>
          <a:p xmlns:a="http://schemas.openxmlformats.org/drawingml/2006/main">
            <a:r>
              <a:t>https://www.gazeta.ru/politics/23422027/novye-lyudi-na-vyborah-2026-goda.shtml</a:t>
            </a:r>
          </a:p>
          <a:p xmlns:a="http://schemas.openxmlformats.org/drawingml/2006/main">
            <a:r>
              <a:t>https://vremya-bir.ru/2026/03/07/dvenadtsat-shagov-k-strane-v-kotoroj-hochetsya-zhit/</a:t>
            </a:r>
          </a:p>
          <a:p xmlns:a="http://schemas.openxmlformats.org/drawingml/2006/main">
            <a:r>
              <a:t>https://www.rbc.ru/politics/08/09/2026/6aa023ec9a79471e4fd55d3c</a:t>
            </a:r>
          </a:p>
          <a:p xmlns:a="http://schemas.openxmlformats.org/drawingml/2006/main">
            <a:r>
              <a:t>https://www.interfax.ru/interview/1074248</a:t>
            </a:r>
          </a:p>
          <a:p xmlns:a="http://schemas.openxmlformats.org/drawingml/2006/main">
            <a:r>
              <a:t>https://www.interfax.ru/amp/1074248</a:t>
            </a:r>
          </a:p>
          <a:p xmlns:a="http://schemas.openxmlformats.org/drawingml/2006/main">
            <a:r>
              <a:t>https://www.vedomosti.ru/politics/articles/2026/09/09/1227352-novie-lyudi-sformulirovali-programmu</a:t>
            </a:r>
          </a:p>
          <a:p xmlns:a="http://schemas.openxmlformats.org/drawingml/2006/main">
            <a:r>
              <a:t>https://dddkursk.ru/lenta/2026/07/30/129483/</a:t>
            </a:r>
          </a:p>
          <a:p xmlns:a="http://schemas.openxmlformats.org/drawingml/2006/main">
            <a:r>
              <a:t>https://volga.news/article/803292.html</a:t>
            </a:r>
          </a:p>
          <a:p xmlns:a="http://schemas.openxmlformats.org/drawingml/2006/main">
            <a:r>
              <a:t>https://ru.wikipedia.org/wiki/%D0%9D%D0%B5%D1%87%D0%B0%D0%B5%D0%B2,_%D0%90%D0%BB%D0%B5%D0%BA%D1%81%D0%B5%D0%B9_%D0%93%D0%B5%D0%BD%D0%BD%D0%B0%D0%B4%D1%8C%D0%B5%D0%B2%D0%B8%D1%87</a:t>
            </a:r>
          </a:p>
          <a:p xmlns:a="http://schemas.openxmlformats.org/drawingml/2006/main">
            <a:r>
              <a:t>https://www.davankov2024.ru/page_biography/</a:t>
            </a:r>
          </a:p>
          <a:p xmlns:a="http://schemas.openxmlformats.org/drawingml/2006/main">
            <a:r>
              <a:t>https://davankov2024.ru/program</a:t>
            </a:r>
          </a:p>
          <a:p xmlns:a="http://schemas.openxmlformats.org/drawingml/2006/main">
            <a:r>
              <a:t>http://vote.duma.gov.ru/?convocation=AAAAAAA8&amp;deputy=99113489&amp;sort=date_desc</a:t>
            </a:r>
          </a:p>
          <a:p xmlns:a="http://schemas.openxmlformats.org/drawingml/2006/main">
            <a:r>
              <a:t>https://holod.media/2024/02/14/vladislav-davankov/</a:t>
            </a:r>
          </a:p>
          <a:p xmlns:a="http://schemas.openxmlformats.org/drawingml/2006/main">
            <a:r>
              <a:t>https://davankov2024.ru/</a:t>
            </a:r>
          </a:p>
          <a:p xmlns:a="http://schemas.openxmlformats.org/drawingml/2006/main">
            <a:r>
              <a:t>https://novayagazeta.eu/articles/2024/02/15/davankov-predstavil-predvybornuiu-programmu-bez-amnistii-politzakliuchennykh-i-s-namereniem-dobitsia-mira-na-nashikh-usloviiakh-news</a:t>
            </a:r>
          </a:p>
          <a:p xmlns:a="http://schemas.openxmlformats.org/drawingml/2006/main">
            <a:r>
              <a:t>https://www.kavkaz-uzel.eu/articles/398113</a:t>
            </a:r>
          </a:p>
          <a:p xmlns:a="http://schemas.openxmlformats.org/drawingml/2006/main">
            <a:r>
              <a:t>https://echofm.online/portret-dnya/portret-dnya-vladislav-davankov-kandidat-v-prezidenty-rossii</a:t>
            </a:r>
          </a:p>
          <a:p xmlns:a="http://schemas.openxmlformats.org/drawingml/2006/main">
            <a:r>
              <a:t>https://t.me/s/davankov?before=788</a:t>
            </a:r>
          </a:p>
          <a:p xmlns:a="http://schemas.openxmlformats.org/drawingml/2006/main">
            <a:r>
              <a:t>https://zaharprilepin.ru/ru/bio/</a:t>
            </a:r>
          </a:p>
          <a:p xmlns:a="http://schemas.openxmlformats.org/drawingml/2006/main">
            <a:r>
              <a:t>https://zaharprilepin.ru/ru/video/zapisi-vistuplenij/intervju/</a:t>
            </a:r>
          </a:p>
          <a:p xmlns:a="http://schemas.openxmlformats.org/drawingml/2006/main">
            <a:r>
              <a:t>https://zaharprilepin.ru/ru/pressa/intervyu/na-harkov.html</a:t>
            </a:r>
          </a:p>
          <a:p xmlns:a="http://schemas.openxmlformats.org/drawingml/2006/main">
            <a:r>
              <a:t>https://www.kommersant.ru/doc/4141912</a:t>
            </a:r>
          </a:p>
          <a:p xmlns:a="http://schemas.openxmlformats.org/drawingml/2006/main">
            <a:r>
              <a:t>https://novayagazeta.eu/articles/2023/05/06/plokhoi-uchenik-limonova</a:t>
            </a:r>
          </a:p>
          <a:p xmlns:a="http://schemas.openxmlformats.org/drawingml/2006/main">
            <a:r>
              <a:t>https://tass.ru/politika/11761037</a:t>
            </a:r>
          </a:p>
          <a:p xmlns:a="http://schemas.openxmlformats.org/drawingml/2006/main">
            <a:r>
              <a:t>https://www.nn.ru/text/politics/2021/10/11/70186523/</a:t>
            </a:r>
          </a:p>
          <a:p xmlns:a="http://schemas.openxmlformats.org/drawingml/2006/main">
            <a:r>
              <a:t>https://www.zaks.ru/new/archive/view/267194</a:t>
            </a:r>
          </a:p>
          <a:p xmlns:a="http://schemas.openxmlformats.org/drawingml/2006/main">
            <a:r>
              <a:t>https://spravedlivo.ru/11288710</a:t>
            </a:r>
          </a:p>
          <a:p xmlns:a="http://schemas.openxmlformats.org/drawingml/2006/main">
            <a:r>
              <a:t>https://www.kommersant.ru/doc/4241515</a:t>
            </a:r>
          </a:p>
          <a:p xmlns:a="http://schemas.openxmlformats.org/drawingml/2006/main">
            <a:r>
              <a:t>https://zaharprilepin.ru/ru/pressa/intervyu/radio-komsomolskaja-pravda-10022021.html</a:t>
            </a:r>
          </a:p>
          <a:p xmlns:a="http://schemas.openxmlformats.org/drawingml/2006/main">
            <a:r>
              <a:t>https://pozneronline.ru/2024/04/36826/</a:t>
            </a:r>
          </a:p>
          <a:p xmlns:a="http://schemas.openxmlformats.org/drawingml/2006/main">
            <a:r>
              <a:t>https://www.rbc.ru/person/62a85a259a7947b9ae5d6360</a:t>
            </a:r>
          </a:p>
          <a:p xmlns:a="http://schemas.openxmlformats.org/drawingml/2006/main">
            <a:r>
              <a:t>https://tass.ru/encyclopedia/person/poklonskaya-natalya-vladimirovna</a:t>
            </a:r>
          </a:p>
          <a:p xmlns:a="http://schemas.openxmlformats.org/drawingml/2006/main">
            <a:r>
              <a:t>https://tass.ru/tag/poklonskaya-natalya-vladimirovna</a:t>
            </a:r>
          </a:p>
          <a:p xmlns:a="http://schemas.openxmlformats.org/drawingml/2006/main">
            <a:r>
              <a:t>https://www.bbc.com/russian/features-44801571</a:t>
            </a:r>
          </a:p>
          <a:p xmlns:a="http://schemas.openxmlformats.org/drawingml/2006/main">
            <a:r>
              <a:t>https://www.rbc.ru/rbcfreenews/5ba8bd499a794792294ba05d</a:t>
            </a:r>
          </a:p>
          <a:p xmlns:a="http://schemas.openxmlformats.org/drawingml/2006/main">
            <a:r>
              <a:t>https://www.dp.ru/a/2018/08/31/Poklonskaja_otreazirovala</a:t>
            </a:r>
          </a:p>
          <a:p xmlns:a="http://schemas.openxmlformats.org/drawingml/2006/main">
            <a:r>
              <a:t>https://www.themoscowtimes.com/2022/06/13/former-crimea-prosecutor-dismissed-after-anti-war-comments-a77983</a:t>
            </a:r>
          </a:p>
          <a:p xmlns:a="http://schemas.openxmlformats.org/drawingml/2006/main">
            <a:r>
              <a:t>https://www.rbc.ru/politics/30/06/2023/649dee189a79473e3fdc8906</a:t>
            </a:r>
          </a:p>
          <a:p xmlns:a="http://schemas.openxmlformats.org/drawingml/2006/main">
            <a:r>
              <a:t>http://council.gov.ru/structure/persons/1044/</a:t>
            </a:r>
          </a:p>
          <a:p xmlns:a="http://schemas.openxmlformats.org/drawingml/2006/main">
            <a:r>
              <a:t>http://council.gov.ru/services/reference/9156/</a:t>
            </a:r>
          </a:p>
          <a:p xmlns:a="http://schemas.openxmlformats.org/drawingml/2006/main">
            <a:r>
              <a:t>http://council.gov.ru/events/news/135415/</a:t>
            </a:r>
          </a:p>
          <a:p xmlns:a="http://schemas.openxmlformats.org/drawingml/2006/main">
            <a:r>
              <a:t>https://24smi.org/celebrity/1156-elena-mizulina.html</a:t>
            </a:r>
          </a:p>
          <a:p xmlns:a="http://schemas.openxmlformats.org/drawingml/2006/main">
            <a:r>
              <a:t>https://www.bfometr.ru/blog/elena-mizulina</a:t>
            </a:r>
          </a:p>
          <a:p xmlns:a="http://schemas.openxmlformats.org/drawingml/2006/main">
            <a:r>
              <a:t>https://www.rbc.ru/society/30/03/2018/5abe1b849a79470dc3826f68</a:t>
            </a:r>
          </a:p>
          <a:p xmlns:a="http://schemas.openxmlformats.org/drawingml/2006/main">
            <a:r>
              <a:t>https://uznayvse.ru/znamenitosti/biografiya-elena-mizulina.html</a:t>
            </a:r>
          </a:p>
          <a:p xmlns:a="http://schemas.openxmlformats.org/drawingml/2006/main">
            <a:r>
              <a:t>https://radiokp.ru/people/elena-mizulina</a:t>
            </a:r>
          </a:p>
          <a:p xmlns:a="http://schemas.openxmlformats.org/drawingml/2006/main">
            <a:r>
              <a:t>https://ru.wikipedia.org/wiki/%D0%9C%D0%B8%D0%B7%D1%83%D0%BB%D0%B8%D0%BD%D0%B0,_%D0%95%D0%BB%D0%B5%D0%BD%D0%B0_%D0%91%D0%BE%D1%80%D0%B8%D1%81%D0%BE%D0%B2%D0%BD%D0%B0</a:t>
            </a:r>
          </a:p>
          <a:p xmlns:a="http://schemas.openxmlformats.org/drawingml/2006/main">
            <a:r>
              <a:t>https://ru.wikipedia.org/wiki/Милонов,_Виталий_Валентинович</a:t>
            </a:r>
          </a:p>
          <a:p xmlns:a="http://schemas.openxmlformats.org/drawingml/2006/main">
            <a:r>
              <a:t>https://tass.ru/encyclopedia/person/milonov-vitaliy-valentinovich</a:t>
            </a:r>
          </a:p>
          <a:p xmlns:a="http://schemas.openxmlformats.org/drawingml/2006/main">
            <a:r>
              <a:t>https://www.pnp.ru/person/vitaliy-milonov/</a:t>
            </a:r>
          </a:p>
          <a:p xmlns:a="http://schemas.openxmlformats.org/drawingml/2006/main">
            <a:r>
              <a:t>https://www.zaks.ru/new/person/view/172</a:t>
            </a:r>
          </a:p>
          <a:p xmlns:a="http://schemas.openxmlformats.org/drawingml/2006/main">
            <a:r>
              <a:t>https://svpressa.ru/persons/vitaliy-milonov/</a:t>
            </a:r>
          </a:p>
          <a:p xmlns:a="http://schemas.openxmlformats.org/drawingml/2006/main">
            <a:r>
              <a:t>https://stuki-druki.com/authors/Milonov-Vitaliy.php</a:t>
            </a:r>
          </a:p>
          <a:p xmlns:a="http://schemas.openxmlformats.org/drawingml/2006/main">
            <a:r>
              <a:t>https://pa.inion.ru/persons/7104/</a:t>
            </a:r>
          </a:p>
          <a:p xmlns:a="http://schemas.openxmlformats.org/drawingml/2006/main">
            <a:r>
              <a:t>https://pa.inion.ru/documents/16503/</a:t>
            </a:r>
          </a:p>
          <a:p xmlns:a="http://schemas.openxmlformats.org/drawingml/2006/main">
            <a:r>
              <a:t>https://pa.inion.ru/documents/27860/</a:t>
            </a:r>
          </a:p>
          <a:p xmlns:a="http://schemas.openxmlformats.org/drawingml/2006/main">
            <a:r>
              <a:t>https://kprf.ru/personal/ostanina</a:t>
            </a:r>
          </a:p>
          <a:p xmlns:a="http://schemas.openxmlformats.org/drawingml/2006/main">
            <a:r>
              <a:t>https://pa.inion.ru/documents/25577/</a:t>
            </a:r>
          </a:p>
          <a:p xmlns:a="http://schemas.openxmlformats.org/drawingml/2006/main">
            <a:r>
              <a:t>https://kprf.ru/dep/gosduma/activities/245108.html</a:t>
            </a:r>
          </a:p>
          <a:p xmlns:a="http://schemas.openxmlformats.org/drawingml/2006/main">
            <a:r>
              <a:t>https://www.pnp.ru/social/zashhita-detskogo-byudzheta-kruzhki-sokhranit-vyplaty-iz-matkapitala-uvelichit.html</a:t>
            </a:r>
          </a:p>
          <a:p xmlns:a="http://schemas.openxmlformats.org/drawingml/2006/main">
            <a:r>
              <a:t>https://www.pnp.ru/state-duma/nina-ostanina-o-byudzhete-na-2027-2029-gody-semeynoy-ipoteke-i-matkapitale.html</a:t>
            </a:r>
          </a:p>
          <a:p xmlns:a="http://schemas.openxmlformats.org/drawingml/2006/main">
            <a:r>
              <a:t>https://uznayvse.ru/znamenitosti/biografiya-nina-ostanina.html</a:t>
            </a:r>
          </a:p>
          <a:p xmlns:a="http://schemas.openxmlformats.org/drawingml/2006/main">
            <a:r>
              <a:t>https://dumatv.ru/news/ostanina--borba-za-mirovozzrencheskii-suverenitet-stanovitsya-gosudarstvennoi-politikoi</a:t>
            </a:r>
          </a:p>
          <a:p xmlns:a="http://schemas.openxmlformats.org/drawingml/2006/main">
            <a:r>
              <a:t>https://kprf.ru/dep/gosduma/activities/242132.html</a:t>
            </a:r>
          </a:p>
          <a:p xmlns:a="http://schemas.openxmlformats.org/drawingml/2006/main">
            <a:r>
              <a:t>https://www.business-gazeta.ru/article/625616</a:t>
            </a:r>
          </a:p>
          <a:p xmlns:a="http://schemas.openxmlformats.org/drawingml/2006/main">
            <a:r>
              <a:t>https://www.kommersant.ru/doc/3235400</a:t>
            </a:r>
          </a:p>
          <a:p xmlns:a="http://schemas.openxmlformats.org/drawingml/2006/main">
            <a:r>
              <a:t>https://www.rbc.ru/person/67d838f09a7947cdef0b1a95</a:t>
            </a:r>
          </a:p>
          <a:p xmlns:a="http://schemas.openxmlformats.org/drawingml/2006/main">
            <a:r>
              <a:t>https://www.vedomosti.ru/politics/articles/2020/03/10/824795-tereshkova-predlozhila</a:t>
            </a:r>
          </a:p>
          <a:p xmlns:a="http://schemas.openxmlformats.org/drawingml/2006/main">
            <a:r>
              <a:t>http://duma.gov.ru/news/49164/</a:t>
            </a:r>
          </a:p>
          <a:p xmlns:a="http://schemas.openxmlformats.org/drawingml/2006/main">
            <a:r>
              <a:t>https://meduza.io/news/2020/03/12/delayut-vse-dlya-togo-chtoby-gadosti-delat-tereshkova-o-protivnikah-popravki-obnulyayuschey-sroki-putina</a:t>
            </a:r>
          </a:p>
          <a:p xmlns:a="http://schemas.openxmlformats.org/drawingml/2006/main">
            <a:r>
              <a:t>https://meduza.io/feature/2020/03/10/gosduma-neozhidanno-dlya-sebya-obespechila-putina-novymi-prezidentskimi-srokami</a:t>
            </a:r>
          </a:p>
          <a:p xmlns:a="http://schemas.openxmlformats.org/drawingml/2006/main">
            <a:r>
              <a:t>https://hinshtein.ru/biography/</a:t>
            </a:r>
          </a:p>
          <a:p xmlns:a="http://schemas.openxmlformats.org/drawingml/2006/main">
            <a:r>
              <a:t>https://www.vedomosti.ru/politics/articles/2024/12/06/1079852-kto-takoi-aleksandr-hinshtein</a:t>
            </a:r>
          </a:p>
          <a:p xmlns:a="http://schemas.openxmlformats.org/drawingml/2006/main">
            <a:r>
              <a:t>https://www.rbc.ru/person/6752d12a9a7947d62166795e</a:t>
            </a:r>
          </a:p>
          <a:p xmlns:a="http://schemas.openxmlformats.org/drawingml/2006/main">
            <a:r>
              <a:t>https://www.rbc.ru/politics/06/12/2024/675207239a7947e74994842e</a:t>
            </a:r>
          </a:p>
          <a:p xmlns:a="http://schemas.openxmlformats.org/drawingml/2006/main">
            <a:r>
              <a:t>https://hinshtein.ru/news/aleksandr-hinshtejn-podvyol-itogi-goda-raboty-komiteta-gosdumy-po-informpolitike-informatsionnym-tehnologiyam-i-svyazi/</a:t>
            </a:r>
          </a:p>
          <a:p xmlns:a="http://schemas.openxmlformats.org/drawingml/2006/main">
            <a:r>
              <a:t>https://hinshtein.ru/news/a-hinshtejn-itogi-raboty-za-vii-sozyv/</a:t>
            </a:r>
          </a:p>
          <a:p xmlns:a="http://schemas.openxmlformats.org/drawingml/2006/main">
            <a:r>
              <a:t>https://www.kommersant.ru/doc/4660427</a:t>
            </a:r>
          </a:p>
          <a:p xmlns:a="http://schemas.openxmlformats.org/drawingml/2006/main">
            <a:r>
              <a:t>https://www.kommersant.ru/doc/4104004</a:t>
            </a:r>
          </a:p>
          <a:p xmlns:a="http://schemas.openxmlformats.org/drawingml/2006/main">
            <a:r>
              <a:t>https://www.nvgazeta.ru/news/12383/634260/</a:t>
            </a:r>
          </a:p>
          <a:p xmlns:a="http://schemas.openxmlformats.org/drawingml/2006/main">
            <a:r>
              <a:t>https://kpravda.ru/2025/02/11/kursk-poluchit-dengi-iz-gosbyudzheta-na-restavracziyu-istoricheskoj-kreposti/</a:t>
            </a:r>
          </a:p>
          <a:p xmlns:a="http://schemas.openxmlformats.org/drawingml/2006/main">
            <a:r>
              <a:t>https://tass.ru/obschestvo/24001633</a:t>
            </a:r>
          </a:p>
          <a:p xmlns:a="http://schemas.openxmlformats.org/drawingml/2006/main">
            <a:r>
              <a:t>https://www.kommersant.ru/doc/7737032</a:t>
            </a:r>
          </a:p>
          <a:p xmlns:a="http://schemas.openxmlformats.org/drawingml/2006/main">
            <a:r>
              <a:t>https://kpravda.ru/2025/03/21/edinaya-rossiya-pomozhet-v-restavraczii-kurskih-pamyatnikov/</a:t>
            </a:r>
          </a:p>
          <a:p xmlns:a="http://schemas.openxmlformats.org/drawingml/2006/main">
            <a:r>
              <a:t>https://news-kursk.ru/society/2025/07/13/65824.html</a:t>
            </a:r>
          </a:p>
          <a:p xmlns:a="http://schemas.openxmlformats.org/drawingml/2006/main">
            <a:r>
              <a:t>https://news.ru/russia/v-kurske-budet-alleya-geroev-hinshtejn-o-muzee-i-memoriale-zhertvam-vsu</a:t>
            </a:r>
          </a:p>
          <a:p xmlns:a="http://schemas.openxmlformats.org/drawingml/2006/main">
            <a:r>
              <a:t>https://ru.wikipedia.org/wiki/Пушков,_Алексей_Константинович</a:t>
            </a:r>
          </a:p>
          <a:p xmlns:a="http://schemas.openxmlformats.org/drawingml/2006/main">
            <a:r>
              <a:t>http://council.gov.ru/structure/persons/1316/</a:t>
            </a:r>
          </a:p>
          <a:p xmlns:a="http://schemas.openxmlformats.org/drawingml/2006/main">
            <a:r>
              <a:t>http://council.gov.ru/media/files/xjE2QHRAivCH7onABehAcG7OsnrO6DYb.pdf</a:t>
            </a:r>
          </a:p>
          <a:p xmlns:a="http://schemas.openxmlformats.org/drawingml/2006/main">
            <a:r>
              <a:t>https://base.garant.ru/406310971/</a:t>
            </a:r>
          </a:p>
          <a:p xmlns:a="http://schemas.openxmlformats.org/drawingml/2006/main">
            <a:r>
              <a:t>https://russiancouncil.ru/aleksey-pushkov/</a:t>
            </a:r>
          </a:p>
          <a:p xmlns:a="http://schemas.openxmlformats.org/drawingml/2006/main">
            <a:r>
              <a:t>http://legislation.council.gov.ru/events/announce/</a:t>
            </a:r>
          </a:p>
          <a:p xmlns:a="http://schemas.openxmlformats.org/drawingml/2006/main">
            <a:r>
              <a:t>http://council.gov.ru/events/news/173810/</a:t>
            </a:r>
          </a:p>
          <a:p xmlns:a="http://schemas.openxmlformats.org/drawingml/2006/main">
            <a:r>
              <a:t>http://www.council.gov.ru/events/news/175997/</a:t>
            </a:r>
          </a:p>
          <a:p xmlns:a="http://schemas.openxmlformats.org/drawingml/2006/main">
            <a:r>
              <a:t>http://council.gov.ru/media/report/pdf/HtoXfAAzeBJ8JwN0eAduo3rejTAYhqvB.pdf</a:t>
            </a:r>
          </a:p>
          <a:p xmlns:a="http://schemas.openxmlformats.org/drawingml/2006/main">
            <a:r>
              <a:t>http://council.gov.ru/events/news/164749/</a:t>
            </a:r>
          </a:p>
          <a:p xmlns:a="http://schemas.openxmlformats.org/drawingml/2006/main">
            <a:r>
              <a:t>https://t.me/s/alexey_pushkov?before=14914</a:t>
            </a:r>
          </a:p>
          <a:p xmlns:a="http://schemas.openxmlformats.org/drawingml/2006/main">
            <a:r>
              <a:t>http://legislation.council.gov.ru/events/multimedia/video/302078/</a:t>
            </a:r>
          </a:p>
          <a:p xmlns:a="http://schemas.openxmlformats.org/drawingml/2006/main">
            <a:r>
              <a:t>http://council.gov.ru/media/report/pdf/e8Awe3U6hNouHwSvME53OSPGGWxTeVAl.pdf</a:t>
            </a:r>
          </a:p>
          <a:p xmlns:a="http://schemas.openxmlformats.org/drawingml/2006/main">
            <a:r>
              <a:t>https://www.vedomosti.ru/person/1178385-kosachev-konstantin</a:t>
            </a:r>
          </a:p>
          <a:p xmlns:a="http://schemas.openxmlformats.org/drawingml/2006/main">
            <a:r>
              <a:t>https://www.interfax.ru/interview/812963</a:t>
            </a:r>
          </a:p>
          <a:p xmlns:a="http://schemas.openxmlformats.org/drawingml/2006/main">
            <a:r>
              <a:t>https://senatinform.ru/news/yuzhnuyu_osetiyu_neobkhodimo_vyvodit_iz_iskusstvennoy_izolyatsii_schitayut_rossiyskie_senatory_/</a:t>
            </a:r>
          </a:p>
          <a:p xmlns:a="http://schemas.openxmlformats.org/drawingml/2006/main">
            <a:r>
              <a:t>https://senatinform.ru/news/kosachyev_rossiya_gotova_rabotat_s_mps_s_uchyetom_ozabochennostey_nashey_strany/</a:t>
            </a:r>
          </a:p>
          <a:p xmlns:a="http://schemas.openxmlformats.org/drawingml/2006/main">
            <a:r>
              <a:t>https://www.bfm.ru/person/61</a:t>
            </a:r>
          </a:p>
          <a:p xmlns:a="http://schemas.openxmlformats.org/drawingml/2006/main">
            <a:r>
              <a:t>https://svpressa.ru/persons/konstantin-kosachev/</a:t>
            </a:r>
          </a:p>
          <a:p xmlns:a="http://schemas.openxmlformats.org/drawingml/2006/main">
            <a:r>
              <a:t>https://www.pnp.ru/person/konstantin-kosachev/</a:t>
            </a:r>
          </a:p>
          <a:p xmlns:a="http://schemas.openxmlformats.org/drawingml/2006/main">
            <a:r>
              <a:t>https://www.pnp.ru/politics/konstantin-kosachev-dlya-ssha-voyna-s-rossiey-eto-samoubiystvo.html</a:t>
            </a:r>
          </a:p>
          <a:p xmlns:a="http://schemas.openxmlformats.org/drawingml/2006/main">
            <a:r>
              <a:t>https://www.mlg.ru/ratings/vlast/senators/10844/</a:t>
            </a:r>
          </a:p>
          <a:p xmlns:a="http://schemas.openxmlformats.org/drawingml/2006/main">
            <a:r>
              <a:t>http://council.gov.ru/events/news/173506/</a:t>
            </a:r>
          </a:p>
          <a:p xmlns:a="http://schemas.openxmlformats.org/drawingml/2006/main">
            <a:r>
              <a:t>https://t.me/s/Kosachev62</a:t>
            </a:r>
          </a:p>
          <a:p xmlns:a="http://schemas.openxmlformats.org/drawingml/2006/main">
            <a:r>
              <a:t>http://council.gov.ru/events/news/177602/</a:t>
            </a:r>
          </a:p>
          <a:p xmlns:a="http://schemas.openxmlformats.org/drawingml/2006/main">
            <a:r>
              <a:t>https://vmeste-rf.tv/programs/205/konstantin-kosachev-sotrudnichestvo-rossii-i-efiopii-itogi-vizita-delegatsii-sf/</a:t>
            </a:r>
          </a:p>
          <a:p xmlns:a="http://schemas.openxmlformats.org/drawingml/2006/main">
            <a:r>
              <a:t>https://www.rbc.ru/person/64b8e1909a79474f30e86f98</a:t>
            </a:r>
          </a:p>
          <a:p xmlns:a="http://schemas.openxmlformats.org/drawingml/2006/main">
            <a:r>
              <a:t>https://www.kommersant.ru/doc/6041063</a:t>
            </a:r>
          </a:p>
          <a:p xmlns:a="http://schemas.openxmlformats.org/drawingml/2006/main">
            <a:r>
              <a:t>https://www.mos.ru/mayor/themes/6907050/</a:t>
            </a:r>
          </a:p>
          <a:p xmlns:a="http://schemas.openxmlformats.org/drawingml/2006/main">
            <a:r>
              <a:t>https://www.mos.ru/mayor/themes/7037050/</a:t>
            </a:r>
          </a:p>
          <a:p xmlns:a="http://schemas.openxmlformats.org/drawingml/2006/main">
            <a:r>
              <a:t>https://www.mos.ru/mayor/themes/8822050/</a:t>
            </a:r>
          </a:p>
          <a:p xmlns:a="http://schemas.openxmlformats.org/drawingml/2006/main">
            <a:r>
              <a:t>http://special.kremlin.ru/catalog/persons/38/events/70467</a:t>
            </a:r>
          </a:p>
          <a:p xmlns:a="http://schemas.openxmlformats.org/drawingml/2006/main">
            <a:r>
              <a:t>https://www.mos.ru/upload/content/files/15af077500dcc5a1547bf728abf25669/15Zakong_Moskviot17_05_2017N14Odopolnitelnihgaranti.pdf</a:t>
            </a:r>
          </a:p>
          <a:p xmlns:a="http://schemas.openxmlformats.org/drawingml/2006/main">
            <a:r>
              <a:t>https://www.rbc.ru/politics/03/05/2023/645245159a794763ce66d990</a:t>
            </a:r>
          </a:p>
          <a:p xmlns:a="http://schemas.openxmlformats.org/drawingml/2006/main">
            <a:r>
              <a:t>https://www.dw.com/ru/ataka-dronov-v-moskve-i-podmoskove-cto-izvestno/a-65771767</a:t>
            </a:r>
          </a:p>
          <a:p xmlns:a="http://schemas.openxmlformats.org/drawingml/2006/main">
            <a:r>
              <a:t>https://www.rbc.ru/politics/01/08/2023/64c856ce9a79471a722e13ad</a:t>
            </a:r>
          </a:p>
          <a:p xmlns:a="http://schemas.openxmlformats.org/drawingml/2006/main">
            <a:r>
              <a:t>https://www.rbc.ru/politics/23/08/2023/64e54f299a794789ddb55c65</a:t>
            </a:r>
          </a:p>
          <a:p xmlns:a="http://schemas.openxmlformats.org/drawingml/2006/main">
            <a:r>
              <a:t>https://ru.wikipedia.org/wiki/Беглов,_Александр_Дмитриевич</a:t>
            </a:r>
          </a:p>
          <a:p xmlns:a="http://schemas.openxmlformats.org/drawingml/2006/main">
            <a:r>
              <a:t>https://www.gov.spb.ru/governor/</a:t>
            </a:r>
          </a:p>
          <a:p xmlns:a="http://schemas.openxmlformats.org/drawingml/2006/main">
            <a:r>
              <a:t>https://www.rbc.ru/politics/30/05/2019/5cf02cf09a79475ed4d2fa3f</a:t>
            </a:r>
          </a:p>
          <a:p xmlns:a="http://schemas.openxmlformats.org/drawingml/2006/main">
            <a:r>
              <a:t>https://www.themoscowtimes.com/2019/09/11/st-petersburg-re-elects-governor-beglov-after-controversial-campaign-a67240</a:t>
            </a:r>
          </a:p>
          <a:p xmlns:a="http://schemas.openxmlformats.org/drawingml/2006/main">
            <a:r>
              <a:t>https://www.gov.spb.ru/press/governor/188637/</a:t>
            </a:r>
          </a:p>
          <a:p xmlns:a="http://schemas.openxmlformats.org/drawingml/2006/main">
            <a:r>
              <a:t>https://www.gov.spb.ru/press/governor/213661/</a:t>
            </a:r>
          </a:p>
          <a:p xmlns:a="http://schemas.openxmlformats.org/drawingml/2006/main">
            <a:r>
              <a:t>https://www.gov.spb.ru/press/governor/258831/</a:t>
            </a:r>
          </a:p>
          <a:p xmlns:a="http://schemas.openxmlformats.org/drawingml/2006/main">
            <a:r>
              <a:t>https://www.gov.spb.ru/governor/interview/7333/</a:t>
            </a:r>
          </a:p>
          <a:p xmlns:a="http://schemas.openxmlformats.org/drawingml/2006/main">
            <a:r>
              <a:t>https://tass.ru/interviews/21839179</a:t>
            </a:r>
          </a:p>
          <a:p xmlns:a="http://schemas.openxmlformats.org/drawingml/2006/main">
            <a:r>
              <a:t>https://www.gov.spb.ru/press/governor/236663/</a:t>
            </a:r>
          </a:p>
          <a:p xmlns:a="http://schemas.openxmlformats.org/drawingml/2006/main">
            <a:r>
              <a:t>https://tvspb.ru/news/2022/09/21/aleksandr-beglov-ukaz-prezidenta-o-chastichnoj-mobilizaczii-byl-trudnym-no-neobhodimym-shagom</a:t>
            </a:r>
          </a:p>
          <a:p xmlns:a="http://schemas.openxmlformats.org/drawingml/2006/main">
            <a:r>
              <a:t>https://spbvedomosti.ru/news/gorod/gubernator-aleksandr-beglov-obyavil-o-zavershenii-chastichnoy-mobilizatsii/</a:t>
            </a:r>
          </a:p>
          <a:p xmlns:a="http://schemas.openxmlformats.org/drawingml/2006/main">
            <a:r>
              <a:t>https://www.gov.spb.ru/press/governor/253716/</a:t>
            </a:r>
          </a:p>
          <a:p xmlns:a="http://schemas.openxmlformats.org/drawingml/2006/main">
            <a:r>
              <a:t>https://www.gov.spb.ru/press/governor/290070/</a:t>
            </a:r>
          </a:p>
          <a:p xmlns:a="http://schemas.openxmlformats.org/drawingml/2006/main">
            <a:r>
              <a:t>https://spbdnevnik.ru/news/2022-10-06/aleksandr-beglov-rasskazal-o-prizyve-po-mobilizatsii-peterburzhtsa-s-odnoy-pochkoy</a:t>
            </a:r>
          </a:p>
          <a:p xmlns:a="http://schemas.openxmlformats.org/drawingml/2006/main">
            <a:r>
              <a:t>https://www.rbc.ru/person/62c5c0899a79470082fa57eb</a:t>
            </a:r>
          </a:p>
          <a:p xmlns:a="http://schemas.openxmlformats.org/drawingml/2006/main">
            <a:r>
              <a:t>https://www.kavkaz-uzel.eu/articles/85366</a:t>
            </a:r>
          </a:p>
          <a:p xmlns:a="http://schemas.openxmlformats.org/drawingml/2006/main">
            <a:r>
              <a:t>https://news.ru/regions/my-dolzhny-zabrat-vsyu-ukrainu-chto-kadyrov-govoril-ob-svo-rossii-putine</a:t>
            </a:r>
          </a:p>
          <a:p xmlns:a="http://schemas.openxmlformats.org/drawingml/2006/main">
            <a:r>
              <a:t>https://minval.az/k/ramzan-kadyrov</a:t>
            </a:r>
          </a:p>
          <a:p xmlns:a="http://schemas.openxmlformats.org/drawingml/2006/main">
            <a:r>
              <a:t>http://publication.pravo.gov.ru/document/2000202609160002</a:t>
            </a:r>
          </a:p>
          <a:p xmlns:a="http://schemas.openxmlformats.org/drawingml/2006/main">
            <a:r>
              <a:t>https://vestikavkaza.ru/amp/291219</a:t>
            </a:r>
          </a:p>
          <a:p xmlns:a="http://schemas.openxmlformats.org/drawingml/2006/main">
            <a:r>
              <a:t>https://tass.ru/obschestvo/25968415</a:t>
            </a:r>
          </a:p>
          <a:p xmlns:a="http://schemas.openxmlformats.org/drawingml/2006/main">
            <a:r>
              <a:t>https://www.rbc.ru/rbcfreenews/694558f89a794775c8b05d2e</a:t>
            </a:r>
          </a:p>
          <a:p xmlns:a="http://schemas.openxmlformats.org/drawingml/2006/main">
            <a:r>
              <a:t>https://rais.tatarstan.ru/biografiya.htm</a:t>
            </a:r>
          </a:p>
          <a:p xmlns:a="http://schemas.openxmlformats.org/drawingml/2006/main">
            <a:r>
              <a:t>https://rt.rbc.ru/tatarstan/freenews/68c7f77d9a79472be550408e</a:t>
            </a:r>
          </a:p>
          <a:p xmlns:a="http://schemas.openxmlformats.org/drawingml/2006/main">
            <a:r>
              <a:t>https://rt.rbc.ru/tatarstan/freenews/68c90bdc9a794783273a16b6</a:t>
            </a:r>
          </a:p>
          <a:p xmlns:a="http://schemas.openxmlformats.org/drawingml/2006/main">
            <a:r>
              <a:t>https://tass.ru/politika/25045679</a:t>
            </a:r>
          </a:p>
          <a:p xmlns:a="http://schemas.openxmlformats.org/drawingml/2006/main">
            <a:r>
              <a:t>https://tass.ru/info/25058299</a:t>
            </a:r>
          </a:p>
          <a:p xmlns:a="http://schemas.openxmlformats.org/drawingml/2006/main">
            <a:r>
              <a:t>https://tatarstan.ru/index.htm/news/2454245.htm</a:t>
            </a:r>
          </a:p>
          <a:p xmlns:a="http://schemas.openxmlformats.org/drawingml/2006/main">
            <a:r>
              <a:t>https://izbirkom.tatarstan.ru/file/pub/pub_4719790.docx</a:t>
            </a:r>
          </a:p>
          <a:p xmlns:a="http://schemas.openxmlformats.org/drawingml/2006/main">
            <a:r>
              <a:t>http://www.pfo.gov.ru/press/events/112125/</a:t>
            </a:r>
          </a:p>
          <a:p xmlns:a="http://schemas.openxmlformats.org/drawingml/2006/main">
            <a:r>
              <a:t>https://www.tatar-inform.ru/news/rustam-minnixanov-sankcii-ne-koncatsya-poka-my-ne-stanem-samodostatocnymi-5896958</a:t>
            </a:r>
          </a:p>
          <a:p xmlns:a="http://schemas.openxmlformats.org/drawingml/2006/main">
            <a:r>
              <a:t>https://tatarstan.ru/index.htm/news/1916025.htm</a:t>
            </a:r>
          </a:p>
          <a:p xmlns:a="http://schemas.openxmlformats.org/drawingml/2006/main">
            <a:r>
              <a:t>https://kitaphane.tatarstan.ru/digital.htm</a:t>
            </a:r>
          </a:p>
          <a:p xmlns:a="http://schemas.openxmlformats.org/drawingml/2006/main">
            <a:r>
              <a:t>https://kt.tatarstan.ru/index.htm/news/2266706.htm</a:t>
            </a:r>
          </a:p>
          <a:p xmlns:a="http://schemas.openxmlformats.org/drawingml/2006/main">
            <a:r>
              <a:t>https://tatarstan.ru/index.htm/news/2460505.htm</a:t>
            </a:r>
          </a:p>
          <a:p xmlns:a="http://schemas.openxmlformats.org/drawingml/2006/main">
            <a:r>
              <a:t>https://digital.tatarstan.ru/index.htm/news/2460691.htm</a:t>
            </a:r>
          </a:p>
          <a:p xmlns:a="http://schemas.openxmlformats.org/drawingml/2006/main">
            <a:r>
              <a:t>https://amp.rbc.ru/rbcnews/politics/09/07/2020/5f06bbb69a79475c40a9a094</a:t>
            </a:r>
          </a:p>
          <a:p xmlns:a="http://schemas.openxmlformats.org/drawingml/2006/main">
            <a:r>
              <a:t>https://1kas.sudrf.ru/modules.php?name=sud_delo&amp;name_op=doc&amp;number=39453936&amp;delo_id=2450001&amp;case_type=0&amp;new=2450001&amp;text_number=1&amp;srv_num=1</a:t>
            </a:r>
          </a:p>
          <a:p xmlns:a="http://schemas.openxmlformats.org/drawingml/2006/main">
            <a:r>
              <a:t>https://www.interfax.ru/russia/982916</a:t>
            </a:r>
          </a:p>
          <a:p xmlns:a="http://schemas.openxmlformats.org/drawingml/2006/main">
            <a:r>
              <a:t>https://www.svoboda.org/a/sud-ostavil-v-sile-prigovor-habarovskomu-eks-gubernatoru-sergeyu-furgalu/32686024.html</a:t>
            </a:r>
          </a:p>
          <a:p xmlns:a="http://schemas.openxmlformats.org/drawingml/2006/main">
            <a:r>
              <a:t>https://www.dw.com/ru/kommentarij-furgal-peresidit-putina/a-64670560</a:t>
            </a:r>
          </a:p>
          <a:p xmlns:a="http://schemas.openxmlformats.org/drawingml/2006/main">
            <a:r>
              <a:t>https://www.kommersant.ru/doc/3896415</a:t>
            </a:r>
          </a:p>
          <a:p xmlns:a="http://schemas.openxmlformats.org/drawingml/2006/main">
            <a:r>
              <a:t>https://todaykhv.ru/news/policy/19386/</a:t>
            </a:r>
          </a:p>
          <a:p xmlns:a="http://schemas.openxmlformats.org/drawingml/2006/main">
            <a:r>
              <a:t>https://meduza.io/feature/2018/09/19/ya-dumayu-chto-situatsiya-kak-v-primorie-u-nas-ne-povtoritsya</a:t>
            </a:r>
          </a:p>
          <a:p xmlns:a="http://schemas.openxmlformats.org/drawingml/2006/main">
            <a:r>
              <a:t>https://govoritmoskva.ru/news/174327/</a:t>
            </a:r>
          </a:p>
          <a:p xmlns:a="http://schemas.openxmlformats.org/drawingml/2006/main">
            <a:r>
              <a:t>https://todaykhv.ru/news/policy/22426/?sphrase_id=2620206</a:t>
            </a:r>
          </a:p>
          <a:p xmlns:a="http://schemas.openxmlformats.org/drawingml/2006/main">
            <a:r>
              <a:t>https://ru.wikipedia.org/wiki/%D0%A4%D1%83%D1%80%D0%B3%D0%B0%D0%BB,_%D0%A1%D0%B5%D1%80%D0%B3%D0%B5%D0%B9_%D0%98%D0%B2%D0%B0%D0%BD%D0%BE%D0%B2%D0%B8%D1%87</a:t>
            </a:r>
          </a:p>
          <a:p xmlns:a="http://schemas.openxmlformats.org/drawingml/2006/main">
            <a:r>
              <a:t>https://novayagazeta.ru/articles/2018/09/18/77870-ne-dopuschu-zdes-revolyutsii</a:t>
            </a:r>
          </a:p>
          <a:p xmlns:a="http://schemas.openxmlformats.org/drawingml/2006/main">
            <a:r>
              <a:t>https://opkhv.ru/publications/4888</a:t>
            </a:r>
          </a:p>
          <a:p xmlns:a="http://schemas.openxmlformats.org/drawingml/2006/main">
            <a:r>
              <a:t>https://meduza.io/feature/2019/08/26/partiya-vlasti-zdes-ldpr</a:t>
            </a:r>
          </a:p>
          <a:p xmlns:a="http://schemas.openxmlformats.org/drawingml/2006/main">
            <a:r>
              <a:t>https://tass.ru/obschestvo/5946495</a:t>
            </a:r>
          </a:p>
          <a:p xmlns:a="http://schemas.openxmlformats.org/drawingml/2006/main">
            <a:r>
              <a:t>https://amurmedia.ru/news/775590/</a:t>
            </a:r>
          </a:p>
          <a:p xmlns:a="http://schemas.openxmlformats.org/drawingml/2006/main">
            <a:r>
              <a:t>https://www.eastrussia.ru/material/ne-planiruyushchim-pereezzhat-sovetuyu-pomolchat/</a:t>
            </a:r>
          </a:p>
          <a:p xmlns:a="http://schemas.openxmlformats.org/drawingml/2006/main">
            <a:r>
              <a:t>https://www.dw.com/ru/v-habarovske-priznali-ekstremistskim-dvizenie-v-zasitu-furgala/a-68334442</a:t>
            </a:r>
          </a:p>
          <a:p xmlns:a="http://schemas.openxmlformats.org/drawingml/2006/main">
            <a:r>
              <a:t>https://www.rbc.ru/person/66475fec9a79475c4d9443ad</a:t>
            </a:r>
          </a:p>
          <a:p xmlns:a="http://schemas.openxmlformats.org/drawingml/2006/main">
            <a:r>
              <a:t>https://tass.ru/info/12453099</a:t>
            </a:r>
          </a:p>
          <a:p xmlns:a="http://schemas.openxmlformats.org/drawingml/2006/main">
            <a:r>
              <a:t>https://tass.ru/info/9007455</a:t>
            </a:r>
          </a:p>
          <a:p xmlns:a="http://schemas.openxmlformats.org/drawingml/2006/main">
            <a:r>
              <a:t>https://tass.ru/info/20795009</a:t>
            </a:r>
          </a:p>
          <a:p xmlns:a="http://schemas.openxmlformats.org/drawingml/2006/main">
            <a:r>
              <a:t>https://tass.ru/encyclopedia/person/degtyarev-mihail-vladimirovich</a:t>
            </a:r>
          </a:p>
          <a:p xmlns:a="http://schemas.openxmlformats.org/drawingml/2006/main">
            <a:r>
              <a:t>https://www.rbc.ru/politics/20/07/2020/5f1586289a794722b2457d61</a:t>
            </a:r>
          </a:p>
          <a:p xmlns:a="http://schemas.openxmlformats.org/drawingml/2006/main">
            <a:r>
              <a:t>https://www.minsport.gov.ru/press-center/news/intervyu-mihaila-degtyareva-gazete-kommersant/</a:t>
            </a:r>
          </a:p>
          <a:p xmlns:a="http://schemas.openxmlformats.org/drawingml/2006/main">
            <a:r>
              <a:t>https://minsport.gov.ru/press-center/news/mihail-degtyarev-nashe-mesto-za-stolom-a-ne-v-perednej/</a:t>
            </a:r>
          </a:p>
          <a:p xmlns:a="http://schemas.openxmlformats.org/drawingml/2006/main">
            <a:r>
              <a:t>https://news.ru/vlast/degtyarev-prizval-ne-doveryat-evrope-provedenie-sorevnovanij</a:t>
            </a:r>
          </a:p>
          <a:p xmlns:a="http://schemas.openxmlformats.org/drawingml/2006/main">
            <a:r>
              <a:t>https://www.interfax.ru/presscenter/622170</a:t>
            </a:r>
          </a:p>
          <a:p xmlns:a="http://schemas.openxmlformats.org/drawingml/2006/main">
            <a:r>
              <a:t>https://tass.ru/interviews/13152777</a:t>
            </a:r>
          </a:p>
          <a:p xmlns:a="http://schemas.openxmlformats.org/drawingml/2006/main">
            <a:r>
              <a:t>https://www.sports.ru/others/blogs/3302024.html</a:t>
            </a:r>
          </a:p>
          <a:p xmlns:a="http://schemas.openxmlformats.org/drawingml/2006/main">
            <a:r>
              <a:t>https://www.vremyan.ru/news/556863</a:t>
            </a:r>
          </a:p>
          <a:p xmlns:a="http://schemas.openxmlformats.org/drawingml/2006/main">
            <a:r>
              <a:t>https://kprf.ru/personal/levchenko</a:t>
            </a:r>
          </a:p>
          <a:p xmlns:a="http://schemas.openxmlformats.org/drawingml/2006/main">
            <a:r>
              <a:t>https://www.rbc.ru/politics/23/06/2020/5ef0bd949a7947b3cd3dcba6</a:t>
            </a:r>
          </a:p>
          <a:p xmlns:a="http://schemas.openxmlformats.org/drawingml/2006/main">
            <a:r>
              <a:t>https://kprf.ru/party-live/regnews/194838.html</a:t>
            </a:r>
          </a:p>
          <a:p xmlns:a="http://schemas.openxmlformats.org/drawingml/2006/main">
            <a:r>
              <a:t>https://liveangarsk.ru/news/20191214/v-slozhivsheisya</a:t>
            </a:r>
          </a:p>
          <a:p xmlns:a="http://schemas.openxmlformats.org/drawingml/2006/main">
            <a:r>
              <a:t>https://kprf.ru/dep/gosduma/activities/240271.html</a:t>
            </a:r>
          </a:p>
          <a:p xmlns:a="http://schemas.openxmlformats.org/drawingml/2006/main">
            <a:r>
              <a:t>https://kprf.ru/dep/gosduma/activities/241686.html</a:t>
            </a:r>
          </a:p>
          <a:p xmlns:a="http://schemas.openxmlformats.org/drawingml/2006/main">
            <a:r>
              <a:t>https://altairk.ru/new/policy/the_message_of_the_governor</a:t>
            </a:r>
          </a:p>
          <a:p xmlns:a="http://schemas.openxmlformats.org/drawingml/2006/main">
            <a:r>
              <a:t>https://kto-irkutsk.ru/2026/07/20/sergej-levchenko-deyatelnost-i-zayavleniya-i-ix-ocenka/</a:t>
            </a:r>
          </a:p>
          <a:p xmlns:a="http://schemas.openxmlformats.org/drawingml/2006/main">
            <a:r>
              <a:t>https://ru.wikipedia.org/wiki/%D0%9B%D0%B5%D0%B2%D1%87%D0%B5%D0%BD%D0%BA%D0%BE,_%D0%A1%D0%B5%D1%80%D0%B3%D0%B5%D0%B9_%D0%93%D0%B5%D0%BE%D1%80%D0%B3%D0%B8%D0%B5%D0%B2%D0%B8%D1%87</a:t>
            </a:r>
          </a:p>
          <a:p xmlns:a="http://schemas.openxmlformats.org/drawingml/2006/main">
            <a:r>
              <a:t>https://www.newsru.com/dossiers/10330/</a:t>
            </a:r>
          </a:p>
          <a:p xmlns:a="http://schemas.openxmlformats.org/drawingml/2006/main">
            <a:r>
              <a:t>https://www.interfax.ru/russia/714300</a:t>
            </a:r>
          </a:p>
          <a:p xmlns:a="http://schemas.openxmlformats.org/drawingml/2006/main">
            <a:r>
              <a:t>https://www.rbc.ru/politics/14/09/2020/5f5e7dfb9a79477f7753d651</a:t>
            </a:r>
          </a:p>
          <a:p xmlns:a="http://schemas.openxmlformats.org/drawingml/2006/main">
            <a:r>
              <a:t>https://www.rline.tv/podrobnosti/2019-10-06-sergey-levchenko-za-chetyre-goda-sdelano-bolshe-chem-za-predydushchie-15-let/</a:t>
            </a:r>
          </a:p>
          <a:p xmlns:a="http://schemas.openxmlformats.org/drawingml/2006/main">
            <a:r>
              <a:t>https://vs19.ru/verhovny-sovet/deputati/670-konovalov-valentin-olegovich</a:t>
            </a:r>
          </a:p>
          <a:p xmlns:a="http://schemas.openxmlformats.org/drawingml/2006/main">
            <a:r>
              <a:t>https://meduza.io/feature/2018/09/10/etu-vlast-nichego-ne-spaset</a:t>
            </a:r>
          </a:p>
          <a:p xmlns:a="http://schemas.openxmlformats.org/drawingml/2006/main">
            <a:r>
              <a:t>https://kprf.ru/party-live/regnews/188553.html</a:t>
            </a:r>
          </a:p>
          <a:p xmlns:a="http://schemas.openxmlformats.org/drawingml/2006/main">
            <a:r>
              <a:t>https://www.kommersant.ru/doc/4441936</a:t>
            </a:r>
          </a:p>
          <a:p xmlns:a="http://schemas.openxmlformats.org/drawingml/2006/main">
            <a:r>
              <a:t>http://www.youtube.com/watch?v=eO6lUkFCAqM</a:t>
            </a:r>
          </a:p>
          <a:p xmlns:a="http://schemas.openxmlformats.org/drawingml/2006/main">
            <a:r>
              <a:t>https://ru.wikipedia.org/wiki/%D0%92%D1%8B%D0%B1%D0%BE%D1%80%D1%8B_%D0%B3%D0%BB%D0%B0%D0%B2%D1%8B_%D0%A0%D0%B5%D1%81%D0%BF%D1%83%D0%B1%D0%BB%D0%B8%D0%BA%D0%B8_%D0%A5%D0%B0%D0%BA%D0%B0%D1%81%D0%B8%D1%8F_(2018)</a:t>
            </a:r>
          </a:p>
          <a:p xmlns:a="http://schemas.openxmlformats.org/drawingml/2006/main">
            <a:r>
              <a:t>https://ok.ru/group/51615057903766/topic/157744983021718</a:t>
            </a:r>
          </a:p>
          <a:p xmlns:a="http://schemas.openxmlformats.org/drawingml/2006/main">
            <a:r>
              <a:t>https://kprf.ru/party-live/cknews/245343.html</a:t>
            </a:r>
          </a:p>
          <a:p xmlns:a="http://schemas.openxmlformats.org/drawingml/2006/main">
            <a:r>
              <a:t>https://r-19.ru/news/politika/190680/</a:t>
            </a:r>
          </a:p>
          <a:p xmlns:a="http://schemas.openxmlformats.org/drawingml/2006/main">
            <a:r>
              <a:t>https://r-19.ru/news/ekonomika/193031/</a:t>
            </a:r>
          </a:p>
          <a:p xmlns:a="http://schemas.openxmlformats.org/drawingml/2006/main">
            <a:r>
              <a:t>https://19rusinfo.ru/ekonomika/118670-otchjot</a:t>
            </a:r>
          </a:p>
          <a:p xmlns:a="http://schemas.openxmlformats.org/drawingml/2006/main">
            <a:r>
              <a:t>https://iditena.ru/candidates/konovalov-valentin-olegovich/</a:t>
            </a:r>
          </a:p>
          <a:p xmlns:a="http://schemas.openxmlformats.org/drawingml/2006/main">
            <a:r>
              <a:t>https://56.kprf.ru/deyatelnost/tpost/gjjjuy1zi1-glava-hakasii-valentin-konovalov-dal-int</a:t>
            </a:r>
          </a:p>
          <a:p xmlns:a="http://schemas.openxmlformats.org/drawingml/2006/main">
            <a:r>
              <a:t>https://meduza.io/feature/2019/05/31/strana-pobedivshego-kommunista</a:t>
            </a:r>
          </a:p>
          <a:p xmlns:a="http://schemas.openxmlformats.org/drawingml/2006/main">
            <a:r>
              <a:t>https://xn--80aac0c2a.xn--p1acf/2026/08/22/vstrecha-s-uchastiem-valentina-konovalova-i-alekseya-kornienko-proshla-v-habarovske</a:t>
            </a:r>
          </a:p>
          <a:p xmlns:a="http://schemas.openxmlformats.org/drawingml/2006/main">
            <a:r>
              <a:t>https://www.vedomosti.ru/politics/characters/2026/07/06/1211370-valentin-konovalov-rossiya-na-moskve-ne-zakanchivaetsya?from=newsline</a:t>
            </a:r>
          </a:p>
          <a:p xmlns:a="http://schemas.openxmlformats.org/drawingml/2006/main">
            <a:r>
              <a:t>https://www.vedomosti.ru/person/1215197-aksenov-sergei</a:t>
            </a:r>
          </a:p>
          <a:p xmlns:a="http://schemas.openxmlformats.org/drawingml/2006/main">
            <a:r>
              <a:t>https://www.rbc.ru/person/65f020599a79475815e702c9</a:t>
            </a:r>
          </a:p>
          <a:p xmlns:a="http://schemas.openxmlformats.org/drawingml/2006/main">
            <a:r>
              <a:t>http://crimea.gov.ru/news/30_03_18_10</a:t>
            </a:r>
          </a:p>
          <a:p xmlns:a="http://schemas.openxmlformats.org/drawingml/2006/main">
            <a:r>
              <a:t>https://www.npr.org/sections/parallels/2018/01/27/581114772/putins-man-in-crimea-we-ve-returned-to-russia-forever</a:t>
            </a:r>
          </a:p>
          <a:p xmlns:a="http://schemas.openxmlformats.org/drawingml/2006/main">
            <a:r>
              <a:t>http://crimea.gov.ru/en/news/26_02_19_6</a:t>
            </a:r>
          </a:p>
          <a:p xmlns:a="http://schemas.openxmlformats.org/drawingml/2006/main">
            <a:r>
              <a:t>https://antifashist.com/item/kto-polomal-infopole-kryma-i-ne-otvechaet-na-voprosy.html</a:t>
            </a:r>
          </a:p>
          <a:p xmlns:a="http://schemas.openxmlformats.org/drawingml/2006/main">
            <a:r>
              <a:t>https://ru.krymr.com/a/news/27913548.html</a:t>
            </a:r>
          </a:p>
          <a:p xmlns:a="http://schemas.openxmlformats.org/drawingml/2006/main">
            <a:r>
              <a:t>https://simfch.ru/2022/03/02/glava-respubliki-krym-sergej-aksyonov-prizval-krymchan-k-informaczionnoj-mobilizaczii-otkrytomu-i-publichnomu-vyrazheniyu-svoej-patrioticheskoj-poziczii/</a:t>
            </a:r>
          </a:p>
          <a:p xmlns:a="http://schemas.openxmlformats.org/drawingml/2006/main">
            <a:r>
              <a:t>https://www.rbc.ru/politics/29/05/2023/64749e389a7947f3de98dff2</a:t>
            </a:r>
          </a:p>
          <a:p xmlns:a="http://schemas.openxmlformats.org/drawingml/2006/main">
            <a:r>
              <a:t>https://ru.krymr.com/a/krym-sergey-aksenov-pvo-prilety-bavovna-bezopasnost-pvo-udar/32631709.html</a:t>
            </a:r>
          </a:p>
          <a:p xmlns:a="http://schemas.openxmlformats.org/drawingml/2006/main">
            <a:r>
              <a:t>https://rostov.rbc.ru/rostov/interview/18/03/2024/65f75c4f9a7947c8b475ab94</a:t>
            </a:r>
          </a:p>
          <a:p xmlns:a="http://schemas.openxmlformats.org/drawingml/2006/main">
            <a:r>
              <a:t>https://www.kommersant.ru/doc/7715230</a:t>
            </a:r>
          </a:p>
          <a:p xmlns:a="http://schemas.openxmlformats.org/drawingml/2006/main">
            <a:r>
              <a:t>https://www.kommersant.ru/doc/5154319</a:t>
            </a:r>
          </a:p>
          <a:p xmlns:a="http://schemas.openxmlformats.org/drawingml/2006/main">
            <a:r>
              <a:t>https://www.rbc.ru/person/660290b19a7947801fe9439b</a:t>
            </a:r>
          </a:p>
          <a:p xmlns:a="http://schemas.openxmlformats.org/drawingml/2006/main">
            <a:r>
              <a:t>https://www.kommersant.ru/doc/3759211</a:t>
            </a:r>
          </a:p>
          <a:p xmlns:a="http://schemas.openxmlformats.org/drawingml/2006/main">
            <a:r>
              <a:t>https://tass.ru/info/6656656</a:t>
            </a:r>
          </a:p>
          <a:p xmlns:a="http://schemas.openxmlformats.org/drawingml/2006/main">
            <a:r>
              <a:t>https://sevastopol.er.ru/pages/otchet-gubernatora-sevastopolya-mihaila-razvozhaeva</a:t>
            </a:r>
          </a:p>
          <a:p xmlns:a="http://schemas.openxmlformats.org/drawingml/2006/main">
            <a:r>
              <a:t>http://special.kremlin.ru/catalog/persons/579/events/76271</a:t>
            </a:r>
          </a:p>
          <a:p xmlns:a="http://schemas.openxmlformats.org/drawingml/2006/main">
            <a:r>
              <a:t>https://sevastopol.su/news/chastnyy-biznes-vlozhil-v-sevastopol-250-mlrd-rubley-za-tri-goda</a:t>
            </a:r>
          </a:p>
          <a:p xmlns:a="http://schemas.openxmlformats.org/drawingml/2006/main">
            <a:r>
              <a:t>https://sevastopol.su/news/v-sevastopole-ocenili-perspektivy-mikhaila-razvozhaeva-na-sleduyuschikh-vyborakh</a:t>
            </a:r>
          </a:p>
          <a:p xmlns:a="http://schemas.openxmlformats.org/drawingml/2006/main">
            <a:r>
              <a:t>https://tass.ru/interviews/10248577</a:t>
            </a:r>
          </a:p>
          <a:p xmlns:a="http://schemas.openxmlformats.org/drawingml/2006/main">
            <a:r>
              <a:t>https://news.ru/russia/u-nas-smelye-plany-gubernator-sevastopolya-razvozzhaev-o-budushem-goroda</a:t>
            </a:r>
          </a:p>
          <a:p xmlns:a="http://schemas.openxmlformats.org/drawingml/2006/main">
            <a:r>
              <a:t>http://kremlin.ru/events/administration/80838</a:t>
            </a:r>
          </a:p>
          <a:p xmlns:a="http://schemas.openxmlformats.org/drawingml/2006/main">
            <a:r>
              <a:t>https://tass.ru/kultura/28214691</a:t>
            </a:r>
          </a:p>
          <a:p xmlns:a="http://schemas.openxmlformats.org/drawingml/2006/main">
            <a:r>
              <a:t>http://kremlin.ru/events/administration/80591</a:t>
            </a:r>
          </a:p>
          <a:p xmlns:a="http://schemas.openxmlformats.org/drawingml/2006/main">
            <a:r>
              <a:t>https://governors.ru/glava-regiona/Belgorodskaya-oblast/Gladkov-Vyacheslav-Vladimirovich</a:t>
            </a:r>
          </a:p>
          <a:p xmlns:a="http://schemas.openxmlformats.org/drawingml/2006/main">
            <a:r>
              <a:t>https://ru.wikipedia.org/wiki/%D0%93%D0%BB%D0%B0%D0%B4%D0%BA%D0%BE%D0%B2,_%D0%92%D1%8F%D1%87%D0%B5%D1%81%D0%BB%D0%B0%D0%B2_%D0%92%D0%BB%D0%B0%D0%B4%D0%B8%D0%BC%D0%B8%D1%80%D0%BE%D0%B2%D0%B8%D1%87</a:t>
            </a:r>
          </a:p>
          <a:p xmlns:a="http://schemas.openxmlformats.org/drawingml/2006/main">
            <a:r>
              <a:t>http://council.gov.ru/structure/persons/1543/</a:t>
            </a:r>
          </a:p>
          <a:p xmlns:a="http://schemas.openxmlformats.org/drawingml/2006/main">
            <a:r>
              <a:t>https://ufa.rbc.ru/person/648345539a794760fd0c17e8</a:t>
            </a:r>
          </a:p>
          <a:p xmlns:a="http://schemas.openxmlformats.org/drawingml/2006/main">
            <a:r>
              <a:t>https://www.kommersant.ru/doc/8571119</a:t>
            </a:r>
          </a:p>
          <a:p xmlns:a="http://schemas.openxmlformats.org/drawingml/2006/main">
            <a:r>
              <a:t>https://www.kommersant.ru/doc/8655079</a:t>
            </a:r>
          </a:p>
          <a:p xmlns:a="http://schemas.openxmlformats.org/drawingml/2006/main">
            <a:r>
              <a:t>https://tass.ru/info/27861241</a:t>
            </a:r>
          </a:p>
          <a:p xmlns:a="http://schemas.openxmlformats.org/drawingml/2006/main">
            <a:r>
              <a:t>https://meduza.io/feature/2023/06/08/emu-by-vse-eto-razgresti</a:t>
            </a:r>
          </a:p>
          <a:p xmlns:a="http://schemas.openxmlformats.org/drawingml/2006/main">
            <a:r>
              <a:t>http://www.kremlin.ru/events/president/transcripts/66288</a:t>
            </a:r>
          </a:p>
          <a:p xmlns:a="http://schemas.openxmlformats.org/drawingml/2006/main">
            <a:r>
              <a:t>https://www.belpressa.ru/politics/vlast/62665.html</a:t>
            </a:r>
          </a:p>
          <a:p xmlns:a="http://schemas.openxmlformats.org/drawingml/2006/main">
            <a:r>
              <a:t>https://www.belpressa.ru/politics/vlast/71368.html</a:t>
            </a:r>
          </a:p>
          <a:p xmlns:a="http://schemas.openxmlformats.org/drawingml/2006/main">
            <a:r>
              <a:t>https://www.belnovosti.ru/politika/gubernator/127077.html</a:t>
            </a:r>
          </a:p>
          <a:p xmlns:a="http://schemas.openxmlformats.org/drawingml/2006/main">
            <a:r>
              <a:t>https://chr.plus.rbc.ru/news/694b9fb67a8aa90f9c2ce17d</a:t>
            </a:r>
          </a:p>
          <a:p xmlns:a="http://schemas.openxmlformats.org/drawingml/2006/main">
            <a:r>
              <a:t>https://www.belpressa.ru/society/bezopasnost/43348.html</a:t>
            </a:r>
          </a:p>
          <a:p xmlns:a="http://schemas.openxmlformats.org/drawingml/2006/main">
            <a:r>
              <a:t>https://www.rbc.ru/politics/07/03/2023/640758bf9a7947f6af99d464</a:t>
            </a:r>
          </a:p>
          <a:p xmlns:a="http://schemas.openxmlformats.org/drawingml/2006/main">
            <a:r>
              <a:t>https://www.rbc.ru/politics/24/05/2023/646d22029a794797c4bac4bf</a:t>
            </a:r>
          </a:p>
          <a:p xmlns:a="http://schemas.openxmlformats.org/drawingml/2006/main">
            <a:r>
              <a:t>https://www.bbc.com/russian/articles/c70dkd0pvrlo</a:t>
            </a:r>
          </a:p>
          <a:p xmlns:a="http://schemas.openxmlformats.org/drawingml/2006/main">
            <a:r>
              <a:t>https://www.go31.ru/news/proisshestviya/kak-nikto-drugoy-ponimaem-chto-takoe-agressiya-so-storony-ukrainy-gladkov-o-proryve-granitsy-v-kursk/</a:t>
            </a:r>
          </a:p>
          <a:p xmlns:a="http://schemas.openxmlformats.org/drawingml/2006/main">
            <a:r>
              <a:t>https://echofm.online/portret-dnya/portret-dnya-vyacheslav-gladkov-gubernator-belgorodskoj-oblasti-prognozy-o-sudbe-kotorogo-raznyatsya-ot-posta-posla-v-abhazii-do-ugolovnogo-dela</a:t>
            </a:r>
          </a:p>
          <a:p xmlns:a="http://schemas.openxmlformats.org/drawingml/2006/main">
            <a:r>
              <a:t>https://www.kommersant.ru/doc/3917861</a:t>
            </a:r>
          </a:p>
          <a:p xmlns:a="http://schemas.openxmlformats.org/drawingml/2006/main">
            <a:r>
              <a:t>https://minstroyrf.gov.ru/press/okolo-40-kontsessionnykh-soglasheniy-v-rossii-deystvuet-v-sfere-zhkkh/</a:t>
            </a:r>
          </a:p>
          <a:p xmlns:a="http://schemas.openxmlformats.org/drawingml/2006/main">
            <a:r>
              <a:t>https://newsroom24.ru/murmansk/news/politics/2026/news_323931/</a:t>
            </a:r>
          </a:p>
          <a:p xmlns:a="http://schemas.openxmlformats.org/drawingml/2006/main">
            <a:r>
              <a:t>https://murmansk.ru/52053</a:t>
            </a:r>
          </a:p>
          <a:p xmlns:a="http://schemas.openxmlformats.org/drawingml/2006/main">
            <a:r>
              <a:t>https://51.ru/text/gorod/2026/01/22/76228112/</a:t>
            </a:r>
          </a:p>
          <a:p xmlns:a="http://schemas.openxmlformats.org/drawingml/2006/main">
            <a:r>
              <a:t>https://www.murman.ru/news/2026/05/02/2334/</a:t>
            </a:r>
          </a:p>
          <a:p xmlns:a="http://schemas.openxmlformats.org/drawingml/2006/main">
            <a:r>
              <a:t>https://murman.ru/news/2026/09/06/2141/</a:t>
            </a:r>
          </a:p>
          <a:p xmlns:a="http://schemas.openxmlformats.org/drawingml/2006/main">
            <a:r>
              <a:t>https://www.murman.ru/news/2026/09/13/2242/</a:t>
            </a:r>
          </a:p>
          <a:p xmlns:a="http://schemas.openxmlformats.org/drawingml/2006/main">
            <a:r>
              <a:t>https://ru.wikipedia.org/wiki/%D0%A7%D0%B8%D0%B1%D0%B8%D1%81,_%D0%90%D0%BD%D0%B4%D1%80%D0%B5%D0%B9_%D0%92%D0%BB%D0%B0%D0%B4%D0%B8%D0%BC%D0%B8%D1%80%D0%BE%D0%B2%D0%B8%D1%87</a:t>
            </a:r>
          </a:p>
          <a:p xmlns:a="http://schemas.openxmlformats.org/drawingml/2006/main">
            <a:r>
              <a:t>https://tass.ru/obschestvo/23491353</a:t>
            </a:r>
          </a:p>
          <a:p xmlns:a="http://schemas.openxmlformats.org/drawingml/2006/main">
            <a:r>
              <a:t>https://www.murman.ru/news/2026/09/03/2243/</a:t>
            </a:r>
          </a:p>
          <a:p xmlns:a="http://schemas.openxmlformats.org/drawingml/2006/main">
            <a:r>
              <a:t>https://msp.citymurmansk.ru/news/2026/09/03/0930/</a:t>
            </a:r>
          </a:p>
          <a:p xmlns:a="http://schemas.openxmlformats.org/drawingml/2006/main">
            <a:r>
              <a:t>http://kremlin.ru/events/president/letters/80916</a:t>
            </a:r>
          </a:p>
          <a:p xmlns:a="http://schemas.openxmlformats.org/drawingml/2006/main">
            <a:r>
              <a:t>https://www.murmansk.kp.ru/daily/277813.4/5300258/</a:t>
            </a:r>
          </a:p>
          <a:p xmlns:a="http://schemas.openxmlformats.org/drawingml/2006/main">
            <a:r>
              <a:t>https://www.fontanka.ru/2021/07/27/70046798/</a:t>
            </a:r>
          </a:p>
          <a:p xmlns:a="http://schemas.openxmlformats.org/drawingml/2006/main">
            <a:r>
              <a:t>https://www.kommersant.ru/doc/4639758</a:t>
            </a:r>
          </a:p>
          <a:p xmlns:a="http://schemas.openxmlformats.org/drawingml/2006/main">
            <a:r>
              <a:t>https://www.bbc.com/russian/news-55614829</a:t>
            </a:r>
          </a:p>
          <a:p xmlns:a="http://schemas.openxmlformats.org/drawingml/2006/main">
            <a:r>
              <a:t>https://newpeople.ru/Deputy/sardana-avksenteva</a:t>
            </a:r>
          </a:p>
          <a:p xmlns:a="http://schemas.openxmlformats.org/drawingml/2006/main">
            <a:r>
              <a:t>https://www.pnp.ru/economics/kontrol-za-koncessionnymi-soglasheniyami-predlozhili-usilit.html</a:t>
            </a:r>
          </a:p>
          <a:p xmlns:a="http://schemas.openxmlformats.org/drawingml/2006/main">
            <a:r>
              <a:t>https://www.ng.ru/politics/2024-12-05/1_9150_right.html</a:t>
            </a:r>
          </a:p>
          <a:p xmlns:a="http://schemas.openxmlformats.org/drawingml/2006/main">
            <a:r>
              <a:t>https://news.ru/society/v-novyh-lyudyah-rasskazali-o-glavnyh-zadachah-partii-pered-vyborami</a:t>
            </a:r>
          </a:p>
          <a:p xmlns:a="http://schemas.openxmlformats.org/drawingml/2006/main">
            <a:r>
              <a:t>https://www.kommersant.ru/doc/8939397</a:t>
            </a:r>
          </a:p>
          <a:p xmlns:a="http://schemas.openxmlformats.org/drawingml/2006/main">
            <a:r>
              <a:t>https://tass.ru/info/5220823</a:t>
            </a:r>
          </a:p>
          <a:p xmlns:a="http://schemas.openxmlformats.org/drawingml/2006/main">
            <a:r>
              <a:t>https://tass.ru/info/15547711</a:t>
            </a:r>
          </a:p>
          <a:p xmlns:a="http://schemas.openxmlformats.org/drawingml/2006/main">
            <a:r>
              <a:t>https://www.bbc.com/russian/features-62661643</a:t>
            </a:r>
          </a:p>
          <a:p xmlns:a="http://schemas.openxmlformats.org/drawingml/2006/main">
            <a:r>
              <a:t>https://www.kommersant.ru/doc/3298219</a:t>
            </a:r>
          </a:p>
          <a:p xmlns:a="http://schemas.openxmlformats.org/drawingml/2006/main">
            <a:r>
              <a:t>https://www.svoboda.org/a/31217129.html</a:t>
            </a:r>
          </a:p>
          <a:p xmlns:a="http://schemas.openxmlformats.org/drawingml/2006/main">
            <a:r>
              <a:t>https://www.interfax.ru/russia/902059</a:t>
            </a:r>
          </a:p>
          <a:p xmlns:a="http://schemas.openxmlformats.org/drawingml/2006/main">
            <a:r>
              <a:t>https://www.bfm.ru/news/525620</a:t>
            </a:r>
          </a:p>
          <a:p xmlns:a="http://schemas.openxmlformats.org/drawingml/2006/main">
            <a:r>
              <a:t>https://novayagazeta.ru/articles/2023/03/16/do-urovnia-myshei-media</a:t>
            </a:r>
          </a:p>
          <a:p xmlns:a="http://schemas.openxmlformats.org/drawingml/2006/main">
            <a:r>
              <a:t>https://tjournal.ru/71076</a:t>
            </a:r>
          </a:p>
          <a:p xmlns:a="http://schemas.openxmlformats.org/drawingml/2006/main">
            <a:r>
              <a:t>https://www.nakanune.ru/articles/111648/</a:t>
            </a:r>
          </a:p>
          <a:p xmlns:a="http://schemas.openxmlformats.org/drawingml/2006/main">
            <a:r>
              <a:t>https://adcmemorial.org/statyi/kolonki/neprotivlenie-rasizmu/</a:t>
            </a:r>
          </a:p>
          <a:p xmlns:a="http://schemas.openxmlformats.org/drawingml/2006/main">
            <a:r>
              <a:t>https://www.svoboda.org/a/royzman-i-drugie-zhiteli-ekaterinburga/31997151.html</a:t>
            </a:r>
          </a:p>
          <a:p xmlns:a="http://schemas.openxmlformats.org/drawingml/2006/main">
            <a:r>
              <a:t>https://www.e1.ru/text/politics/2022/02/24/70466417/</a:t>
            </a:r>
          </a:p>
          <a:p xmlns:a="http://schemas.openxmlformats.org/drawingml/2006/main">
            <a:r>
              <a:t>https://www.dw.com/ru/kommentarij-evgenij-rojzman-i-sila-pravdy/a-62917754</a:t>
            </a:r>
          </a:p>
          <a:p xmlns:a="http://schemas.openxmlformats.org/drawingml/2006/main">
            <a:r>
              <a:t>https://meduza.io/paragraph/2022/08/26/priehali-moskvichi-i-dumali-chto-zdes-duraki-sobralis</a:t>
            </a:r>
          </a:p>
          <a:p xmlns:a="http://schemas.openxmlformats.org/drawingml/2006/main">
            <a:r>
              <a:t>https://znamlit.ru/publication.php?id=7379</a:t>
            </a:r>
          </a:p>
          <a:p xmlns:a="http://schemas.openxmlformats.org/drawingml/2006/main">
            <a:r>
              <a:t>https://tass.ru/interviews/6080499</a:t>
            </a:r>
          </a:p>
          <a:p xmlns:a="http://schemas.openxmlformats.org/drawingml/2006/main">
            <a:r>
              <a:t>https://45.ru/text/politics/2024/09/09/73952072/</a:t>
            </a:r>
          </a:p>
          <a:p xmlns:a="http://schemas.openxmlformats.org/drawingml/2006/main">
            <a:r>
              <a:t>http://special.kremlin.ru/events/president/news/70638</a:t>
            </a:r>
          </a:p>
          <a:p xmlns:a="http://schemas.openxmlformats.org/drawingml/2006/main">
            <a:r>
              <a:t>https://ura.news/news/1053132902</a:t>
            </a:r>
          </a:p>
          <a:p xmlns:a="http://schemas.openxmlformats.org/drawingml/2006/main">
            <a:r>
              <a:t>https://ura.news/articles/1036276564</a:t>
            </a:r>
          </a:p>
          <a:p xmlns:a="http://schemas.openxmlformats.org/drawingml/2006/main">
            <a:r>
              <a:t>https://tass.ru/novosti-regionov/28187431</a:t>
            </a:r>
          </a:p>
          <a:p xmlns:a="http://schemas.openxmlformats.org/drawingml/2006/main">
            <a:r>
              <a:t>https://fedpress.ru/person/1753607</a:t>
            </a:r>
          </a:p>
          <a:p xmlns:a="http://schemas.openxmlformats.org/drawingml/2006/main">
            <a:r>
              <a:t>https://eburg.mk.ru/social/2026/10/14/zhiteley-zauralya-predupredili-o-lozhnykh-videorolikakh-s-gubernatorom.html</a:t>
            </a:r>
          </a:p>
          <a:p xmlns:a="http://schemas.openxmlformats.org/drawingml/2006/main">
            <a:r>
              <a:t>https://regnum.ru/news/3530808</a:t>
            </a:r>
          </a:p>
          <a:p xmlns:a="http://schemas.openxmlformats.org/drawingml/2006/main">
            <a:r>
              <a:t>https://kurganvera.ru/news/vrns/mitropolit-daniil-i-vadim-shumkov-vozglavili-delegatsiyu-kurganskoy-oblasti-na-vsemirnom-russkom-sob/</a:t>
            </a:r>
          </a:p>
          <a:p xmlns:a="http://schemas.openxmlformats.org/drawingml/2006/main">
            <a:r>
              <a:t>https://45.ru/text/politics/2026/06/26/76499700/</a:t>
            </a:r>
          </a:p>
          <a:p xmlns:a="http://schemas.openxmlformats.org/drawingml/2006/main">
            <a:r>
              <a:t>https://niva-kurtamysh.com/news/obshchestvo/vystuplenie-gubernatora-kurganskoy-oblasti-vadima-shumkova</a:t>
            </a:r>
          </a:p>
          <a:p xmlns:a="http://schemas.openxmlformats.org/drawingml/2006/main">
            <a:r>
              <a:t>https://t.me/s/kurganskayaobl?before=42616</a:t>
            </a:r>
          </a:p>
          <a:p xmlns:a="http://schemas.openxmlformats.org/drawingml/2006/main">
            <a:r>
              <a:t>https://www.bbc.com/russian/news-54368577</a:t>
            </a:r>
          </a:p>
          <a:p xmlns:a="http://schemas.openxmlformats.org/drawingml/2006/main">
            <a:r>
              <a:t>https://www.bbc.com/russian/articles/cp0769dp15eo</a:t>
            </a:r>
          </a:p>
          <a:p xmlns:a="http://schemas.openxmlformats.org/drawingml/2006/main">
            <a:r>
              <a:t>https://navalny.com/materials/blogpost-6017</a:t>
            </a:r>
          </a:p>
          <a:p xmlns:a="http://schemas.openxmlformats.org/drawingml/2006/main">
            <a:r>
              <a:t>https://www.bbc.com/russian/news-58563592</a:t>
            </a:r>
          </a:p>
          <a:p xmlns:a="http://schemas.openxmlformats.org/drawingml/2006/main">
            <a:r>
              <a:t>https://navalny.com/materials/blogpost-6544</a:t>
            </a:r>
          </a:p>
          <a:p xmlns:a="http://schemas.openxmlformats.org/drawingml/2006/main">
            <a:r>
              <a:t>https://www.bbc.com/russian/news-58270043</a:t>
            </a:r>
          </a:p>
          <a:p xmlns:a="http://schemas.openxmlformats.org/drawingml/2006/main">
            <a:r>
              <a:t>https://www.bbc.com/russian/articles/cvg3p9l1e5ro</a:t>
            </a:r>
          </a:p>
          <a:p xmlns:a="http://schemas.openxmlformats.org/drawingml/2006/main">
            <a:r>
              <a:t>https://www.bbc.com/russian/features-54435835</a:t>
            </a:r>
          </a:p>
          <a:p xmlns:a="http://schemas.openxmlformats.org/drawingml/2006/main">
            <a:r>
              <a:t>https://2018.navalny.com/platform/7/</a:t>
            </a:r>
          </a:p>
          <a:p xmlns:a="http://schemas.openxmlformats.org/drawingml/2006/main">
            <a:r>
              <a:t>https://2018.navalny.com/platform/3/</a:t>
            </a:r>
          </a:p>
          <a:p xmlns:a="http://schemas.openxmlformats.org/drawingml/2006/main">
            <a:r>
              <a:t>https://2018.navalny.com/platform/10/</a:t>
            </a:r>
          </a:p>
          <a:p xmlns:a="http://schemas.openxmlformats.org/drawingml/2006/main">
            <a:r>
              <a:t>https://2018.navalny.com/platform/9/</a:t>
            </a:r>
          </a:p>
          <a:p xmlns:a="http://schemas.openxmlformats.org/drawingml/2006/main">
            <a:r>
              <a:t>https://navalny.com/editorials/aleksey-navalnyy-protiv-voyny</a:t>
            </a:r>
          </a:p>
          <a:p xmlns:a="http://schemas.openxmlformats.org/drawingml/2006/main">
            <a:r>
              <a:t>https://navalny.com/?p=149</a:t>
            </a:r>
          </a:p>
          <a:p xmlns:a="http://schemas.openxmlformats.org/drawingml/2006/main">
            <a:r>
              <a:t>https://www.interfax.ru/russia/876151</a:t>
            </a:r>
          </a:p>
          <a:p xmlns:a="http://schemas.openxmlformats.org/drawingml/2006/main">
            <a:r>
              <a:t>https://www.dw.com/ru/srok-ne-za-fejk-a-za-politiku-reakcii-v-frg-i-rf-na-prigovor-asinu/a-64049957</a:t>
            </a:r>
          </a:p>
          <a:p xmlns:a="http://schemas.openxmlformats.org/drawingml/2006/main">
            <a:r>
              <a:t>https://www.lemonde.fr/en/international/article/2025/05/27/russian-opposition-figure-ilya-yashin-if-ukraine-is-handed-over-to-putin-it-will-be-a-tragedy-and-the-prologue-to-a-global-confrontation_6741728_4.html</a:t>
            </a:r>
          </a:p>
          <a:p xmlns:a="http://schemas.openxmlformats.org/drawingml/2006/main">
            <a:r>
              <a:t>https://www.bbc.com/russian/articles/crgl69w9472o</a:t>
            </a:r>
          </a:p>
          <a:p xmlns:a="http://schemas.openxmlformats.org/drawingml/2006/main">
            <a:r>
              <a:t>https://www.svoboda.org/a/yashin-court/32165539.html</a:t>
            </a:r>
          </a:p>
          <a:p xmlns:a="http://schemas.openxmlformats.org/drawingml/2006/main">
            <a:r>
              <a:t>https://www.dw.com/ru/ila-asin-putin-predvoditel-sil-mrakobesia/a-69923731</a:t>
            </a:r>
          </a:p>
          <a:p xmlns:a="http://schemas.openxmlformats.org/drawingml/2006/main">
            <a:r>
              <a:t>https://novayagazeta.eu/articles/2025/08/01/my-ne-mozhem-trebovat-no-mozhem-obiasniat</a:t>
            </a:r>
          </a:p>
          <a:p xmlns:a="http://schemas.openxmlformats.org/drawingml/2006/main">
            <a:r>
              <a:t>https://meduza.io/feature/2019/07/20/to-chto-putin-ne-smog-sdelat-za-20-let-sobyanin-sdelal-za-mesyats</a:t>
            </a:r>
          </a:p>
          <a:p xmlns:a="http://schemas.openxmlformats.org/drawingml/2006/main">
            <a:r>
              <a:t>https://novayagazeta.eu/articles/2024/11/18/pochuvstvovat-sebia-ne-odinokimi</a:t>
            </a:r>
          </a:p>
          <a:p xmlns:a="http://schemas.openxmlformats.org/drawingml/2006/main">
            <a:r>
              <a:t>https://www.svoboda.org/a/voyna-putin-i-politzaklyuchennye-iljya-yashin-o-svoih-planah/33177839.html</a:t>
            </a:r>
          </a:p>
          <a:p xmlns:a="http://schemas.openxmlformats.org/drawingml/2006/main">
            <a:r>
              <a:t>https://www.dw.com/ru/asin-sejcas-nevozmozno-obedinit-rossijskuu-oppoziciu-da-i-ne-nuzno/a-70291088</a:t>
            </a:r>
          </a:p>
          <a:p xmlns:a="http://schemas.openxmlformats.org/drawingml/2006/main">
            <a:r>
              <a:t>https://www.dw.com/ru/vladimir-karamurza/t-37465233</a:t>
            </a:r>
          </a:p>
          <a:p xmlns:a="http://schemas.openxmlformats.org/drawingml/2006/main">
            <a:r>
              <a:t>https://ovd.info/persons/kara-murza-vladimir-vladimirovich</a:t>
            </a:r>
          </a:p>
          <a:p xmlns:a="http://schemas.openxmlformats.org/drawingml/2006/main">
            <a:r>
              <a:t>https://ovd.info/2024/08/03/kogo-rossiya-vydala-v-ramkakh-obmena-zaklyuchennymi-s-zapadom-istorii-osvobozhdennykh</a:t>
            </a:r>
          </a:p>
          <a:p xmlns:a="http://schemas.openxmlformats.org/drawingml/2006/main">
            <a:r>
              <a:t>https://www.svoboda.org/a/kara-murza-obmen/33059121.html</a:t>
            </a:r>
          </a:p>
          <a:p xmlns:a="http://schemas.openxmlformats.org/drawingml/2006/main">
            <a:r>
              <a:t>https://novayagazeta.ru/articles/2024/08/16/prezident-baiden-prinial-osvobozhdennogo-v-rezultate-obmena-politzakliuchennogo-vladimira-kara-murzu-s-semei-v-belom-dome-news</a:t>
            </a:r>
          </a:p>
          <a:p xmlns:a="http://schemas.openxmlformats.org/drawingml/2006/main">
            <a:r>
              <a:t>https://genevasummit.org/speech/vladimir-kara-murza-speaks-at-2018-geneva-summit-main-event/</a:t>
            </a:r>
          </a:p>
          <a:p xmlns:a="http://schemas.openxmlformats.org/drawingml/2006/main">
            <a:r>
              <a:t>https://humanrights.ca/event-series/presidents-lecture-series</a:t>
            </a:r>
          </a:p>
          <a:p xmlns:a="http://schemas.openxmlformats.org/drawingml/2006/main">
            <a:r>
              <a:t>https://www.radiofrance.fr/franceinter/podcasts/l-info-de-france-inter/la-democratie-doit-etre-protegee-chaque-minute-de-chaque-jour-declare-l-opposant-russe-vladimir-kara-mourza-8105094</a:t>
            </a:r>
          </a:p>
          <a:p xmlns:a="http://schemas.openxmlformats.org/drawingml/2006/main">
            <a:r>
              <a:t>https://georgetownvoice.com/2025/10/08/dissident-in-residence-vladimir-kara-murza-applies-past-lessons-to-present-day-in-recent-event-discussing-democracy/</a:t>
            </a:r>
          </a:p>
          <a:p xmlns:a="http://schemas.openxmlformats.org/drawingml/2006/main">
            <a:r>
              <a:t>https://www.oscepa.org/en/documents/winter-meetings/2025-vienna/speeches-36/5176-vladimir-kara-murza-address-to-the-osce-pa-winter-meeting-in-vienna-21-february-2025/file</a:t>
            </a:r>
          </a:p>
          <a:p xmlns:a="http://schemas.openxmlformats.org/drawingml/2006/main">
            <a:r>
              <a:t>https://hrf.org/wp-content/uploads/2024/10/VKM-%E2%80%93-Statement-of-Facts-and-Levinson-Analysis.pdf</a:t>
            </a:r>
          </a:p>
          <a:p xmlns:a="http://schemas.openxmlformats.org/drawingml/2006/main">
            <a:r>
              <a:t>https://www.govinfo.gov/content/pkg/CREC-2024-06-11/html/CREC-2024-06-11-pt1-PgH3699.htm</a:t>
            </a:r>
          </a:p>
          <a:p xmlns:a="http://schemas.openxmlformats.org/drawingml/2006/main">
            <a:r>
              <a:t>https://antiwarcommittee.info/en/statement-on-the-persecution-of-vladimir-kara-murza/</a:t>
            </a:r>
          </a:p>
          <a:p xmlns:a="http://schemas.openxmlformats.org/drawingml/2006/main">
            <a:r>
              <a:t>https://www.norway.no/en/missions/osce/norway-and-the-osce/statements/statements-with--norwegian-alignment-2024/joint-statement-on-vladimir-kara-murza/</a:t>
            </a:r>
          </a:p>
          <a:p xmlns:a="http://schemas.openxmlformats.org/drawingml/2006/main">
            <a:r>
              <a:t>https://www.aljazeera.com/news/2025/4/23/kremlin-critic-decried-for-racist-rant-on-minorities-fighting-for-russia</a:t>
            </a:r>
          </a:p>
          <a:p xmlns:a="http://schemas.openxmlformats.org/drawingml/2006/main">
            <a:r>
              <a:t>https://www.rmc.edu/news/former-political-prisoner-vladimir-kara-murza-offers-vision-of-hope-for-russian-democracy/</a:t>
            </a:r>
          </a:p>
          <a:p xmlns:a="http://schemas.openxmlformats.org/drawingml/2006/main">
            <a:r>
              <a:t>https://2018.yavlinsky.ru/campaign/</a:t>
            </a:r>
          </a:p>
          <a:p xmlns:a="http://schemas.openxmlformats.org/drawingml/2006/main">
            <a:r>
              <a:t>http://2018.yavlinsky.ru/programm/</a:t>
            </a:r>
          </a:p>
          <a:p xmlns:a="http://schemas.openxmlformats.org/drawingml/2006/main">
            <a:r>
              <a:t>https://campaign2018.yavlinsky.ru/</a:t>
            </a:r>
          </a:p>
          <a:p xmlns:a="http://schemas.openxmlformats.org/drawingml/2006/main">
            <a:r>
              <a:t>https://www.yavlinsky.ru/position/war/</a:t>
            </a:r>
          </a:p>
          <a:p xmlns:a="http://schemas.openxmlformats.org/drawingml/2006/main">
            <a:r>
              <a:t>https://www.yavlinsky.ru/position/cease-fire/</a:t>
            </a:r>
          </a:p>
          <a:p xmlns:a="http://schemas.openxmlformats.org/drawingml/2006/main">
            <a:r>
              <a:t>https://www.yavlinsky.ru/article_tax/ukraina/</a:t>
            </a:r>
          </a:p>
          <a:p xmlns:a="http://schemas.openxmlformats.org/drawingml/2006/main">
            <a:r>
              <a:t>https://www.yavlinsky.ru/biografiya/</a:t>
            </a:r>
          </a:p>
          <a:p xmlns:a="http://schemas.openxmlformats.org/drawingml/2006/main">
            <a:r>
              <a:t>https://www.yabloko.ru/publikatsii/2018/02/15_0</a:t>
            </a:r>
          </a:p>
          <a:p xmlns:a="http://schemas.openxmlformats.org/drawingml/2006/main">
            <a:r>
              <a:t>https://www.yabloko.ru/publikatsii/2018/06/19</a:t>
            </a:r>
          </a:p>
          <a:p xmlns:a="http://schemas.openxmlformats.org/drawingml/2006/main">
            <a:r>
              <a:t>https://www.yavlinsky.ru/article/eto-referendum/</a:t>
            </a:r>
          </a:p>
          <a:p xmlns:a="http://schemas.openxmlformats.org/drawingml/2006/main">
            <a:r>
              <a:t>https://www.svoboda.org/a/27801792.html</a:t>
            </a:r>
          </a:p>
          <a:p xmlns:a="http://schemas.openxmlformats.org/drawingml/2006/main">
            <a:r>
              <a:t>https://www.svoboda.org/a/29294829.html</a:t>
            </a:r>
          </a:p>
          <a:p xmlns:a="http://schemas.openxmlformats.org/drawingml/2006/main">
            <a:r>
              <a:t>https://www.yavlinsky.ru/article/intervyu-g-yavlinskogo-zhertvy-budut-proryva-net/</a:t>
            </a:r>
          </a:p>
          <a:p xmlns:a="http://schemas.openxmlformats.org/drawingml/2006/main">
            <a:r>
              <a:t>https://www.yavlinsky.ru/article/my-budem-idti-do-kontsa/</a:t>
            </a:r>
          </a:p>
          <a:p xmlns:a="http://schemas.openxmlformats.org/drawingml/2006/main">
            <a:r>
              <a:t>https://www.yavlinsky.ru/article/prezidentskie-vybory-1996-30-let-spustya/</a:t>
            </a:r>
          </a:p>
          <a:p xmlns:a="http://schemas.openxmlformats.org/drawingml/2006/main">
            <a:r>
              <a:t>https://www.forbes.ru/interview/45575-reformatory-prihodyat-k-vlasti-grigorii-yavlinskii</a:t>
            </a:r>
          </a:p>
          <a:p xmlns:a="http://schemas.openxmlformats.org/drawingml/2006/main">
            <a:r>
              <a:t>https://www.bbc.com/russian/articles/cy8ee2wngd8o</a:t>
            </a:r>
          </a:p>
          <a:p xmlns:a="http://schemas.openxmlformats.org/drawingml/2006/main">
            <a:r>
              <a:t>https://www.yabloko.ru/regnews/Pskov/2019/01/21-0</a:t>
            </a:r>
          </a:p>
          <a:p xmlns:a="http://schemas.openxmlformats.org/drawingml/2006/main">
            <a:r>
              <a:t>https://www.yabloko.ru/publikatsii/2019/06/14</a:t>
            </a:r>
          </a:p>
          <a:p xmlns:a="http://schemas.openxmlformats.org/drawingml/2006/main">
            <a:r>
              <a:t>https://zona.media/article/2019/02/27/pskov</a:t>
            </a:r>
          </a:p>
          <a:p xmlns:a="http://schemas.openxmlformats.org/drawingml/2006/main">
            <a:r>
              <a:t>https://spektr.press/ya-otvechayu-za-vse-mnoj-skazannoe-no-ne-otvechayu-za-izvraschenie-skazannogo-lev-shlosberg-o-travle-i-setkah-telegram-kanalov-odnokletochnyh-politikah-reshivshih-pobedit-putina-rukami-u/</a:t>
            </a:r>
          </a:p>
          <a:p xmlns:a="http://schemas.openxmlformats.org/drawingml/2006/main">
            <a:r>
              <a:t>https://www.yabloko.ru/Persons/shlosberg.html</a:t>
            </a:r>
          </a:p>
          <a:p xmlns:a="http://schemas.openxmlformats.org/drawingml/2006/main">
            <a:r>
              <a:t>https://pln-pskov.ru/politics/314872.html</a:t>
            </a:r>
          </a:p>
          <a:p xmlns:a="http://schemas.openxmlformats.org/drawingml/2006/main">
            <a:r>
              <a:t>https://www.yabloko.ru/publikatsii/2022/02/18-0</a:t>
            </a:r>
          </a:p>
          <a:p xmlns:a="http://schemas.openxmlformats.org/drawingml/2006/main">
            <a:r>
              <a:t>https://ru.krymr.com/a/rossiya-putin-voyna-repressii-lev-shlosberg-intervyu/31806389.html</a:t>
            </a:r>
          </a:p>
          <a:p xmlns:a="http://schemas.openxmlformats.org/drawingml/2006/main">
            <a:r>
              <a:t>https://www.currenttime.tv/a/politika-vlastey-chtoby-lyudi-perestali-govorit-o-spetsialnoy-voennoy-operatsii-lev-shlosberg-o-dele-protiv-nego-i-nikolaya-kuzmina/31807396.html</a:t>
            </a:r>
          </a:p>
          <a:p xmlns:a="http://schemas.openxmlformats.org/drawingml/2006/main">
            <a:r>
              <a:t>https://zona.media/article/2026/08/14/schlosberg</a:t>
            </a:r>
          </a:p>
          <a:p xmlns:a="http://schemas.openxmlformats.org/drawingml/2006/main">
            <a:r>
              <a:t>https://www.svoboda.org/a/lishniy-zalozhnik-vot-chto-im-vazhno-arest-lva-shlosberga/33615624.html</a:t>
            </a:r>
          </a:p>
          <a:p xmlns:a="http://schemas.openxmlformats.org/drawingml/2006/main">
            <a:r>
              <a:t>https://novayagazeta.eu/articles/2026/08/17/ostavshiisia</a:t>
            </a:r>
          </a:p>
          <a:p xmlns:a="http://schemas.openxmlformats.org/drawingml/2006/main">
            <a:r>
              <a:t>https://www.yabloko.ru/content/vishnevskii_boris_lazarevich</a:t>
            </a:r>
          </a:p>
          <a:p xmlns:a="http://schemas.openxmlformats.org/drawingml/2006/main">
            <a:r>
              <a:t>https://www.dp.ru/a/2018/06/18/Aktivnaja_storona_konflikt</a:t>
            </a:r>
          </a:p>
          <a:p xmlns:a="http://schemas.openxmlformats.org/drawingml/2006/main">
            <a:r>
              <a:t>https://www.bbc.com/russian/features-58481940</a:t>
            </a:r>
          </a:p>
          <a:p xmlns:a="http://schemas.openxmlformats.org/drawingml/2006/main">
            <a:r>
              <a:t>https://www.dp.ru/a/2023/01/16/Deputat_Peterburga_Vishnev</a:t>
            </a:r>
          </a:p>
          <a:p xmlns:a="http://schemas.openxmlformats.org/drawingml/2006/main">
            <a:r>
              <a:t>https://echofm.online/portret-dnya/portret-dnya-boris-vishnevskij-peterburgskij-politik</a:t>
            </a:r>
          </a:p>
          <a:p xmlns:a="http://schemas.openxmlformats.org/drawingml/2006/main">
            <a:r>
              <a:t>https://spb.yabloko.ru/people/vishnevskij-boris-lazarevich/</a:t>
            </a:r>
          </a:p>
          <a:p xmlns:a="http://schemas.openxmlformats.org/drawingml/2006/main">
            <a:r>
              <a:t>https://www.dp.ru/a/2026/08/26/bitva-nachalas-gde-v-peterburge</a:t>
            </a:r>
          </a:p>
          <a:p xmlns:a="http://schemas.openxmlformats.org/drawingml/2006/main">
            <a:r>
              <a:t>https://www.yabloko.ru/regnews/Spb/2022/02/21</a:t>
            </a:r>
          </a:p>
          <a:p xmlns:a="http://schemas.openxmlformats.org/drawingml/2006/main">
            <a:r>
              <a:t>https://www.yabloko.ru/cat-news/2021/08/06-0</a:t>
            </a:r>
          </a:p>
          <a:p xmlns:a="http://schemas.openxmlformats.org/drawingml/2006/main">
            <a:r>
              <a:t>https://www.rbc.ru/spb_sz/16/01/2023/63c53d9c9a7947d9bef4b853</a:t>
            </a:r>
          </a:p>
          <a:p xmlns:a="http://schemas.openxmlformats.org/drawingml/2006/main">
            <a:r>
              <a:t>https://www.rbc.ru/politics/06/05/2024/6638a8609a79472c01075a2c</a:t>
            </a:r>
          </a:p>
          <a:p xmlns:a="http://schemas.openxmlformats.org/drawingml/2006/main">
            <a:r>
              <a:t>https://www.svoboda.org/a/politika-dmitriya-gudkova-deportirovali-iz-gruzii-v-kiev/31679697.html</a:t>
            </a:r>
          </a:p>
          <a:p xmlns:a="http://schemas.openxmlformats.org/drawingml/2006/main">
            <a:r>
              <a:t>https://ru.krymr.com/a/dmitriy-gudkov-ob-otyezde-iz-rossii/31295079.html</a:t>
            </a:r>
          </a:p>
          <a:p xmlns:a="http://schemas.openxmlformats.org/drawingml/2006/main">
            <a:r>
              <a:t>https://daily.afisha.ru/news/114366-syn-politika-dmitriya-gudkova-pokonchil-s-soboy-v-emigracii/amp/</a:t>
            </a:r>
          </a:p>
          <a:p xmlns:a="http://schemas.openxmlformats.org/drawingml/2006/main">
            <a:r>
              <a:t>https://life.ru/t/dmitriygudkov</a:t>
            </a:r>
          </a:p>
          <a:p xmlns:a="http://schemas.openxmlformats.org/drawingml/2006/main">
            <a:r>
              <a:t>https://uk.wikipedia.org/wiki/%D0%93%D1%83%D0%B4%D0%BA%D0%BE%D0%B2_%D0%94%D0%BC%D0%B8%D1%82%D1%80%D1%96%D0%B9_%D0%93%D0%B5%D0%BD%D0%B0%D0%B4%D1%96%D0%B9%D0%BE%D0%B2%D0%B8%D1%87</a:t>
            </a:r>
          </a:p>
          <a:p xmlns:a="http://schemas.openxmlformats.org/drawingml/2006/main">
            <a:r>
              <a:t>https://mt.gazeta.ru/blog/43692366076/Syin-byivshego-deputata-Gosdumyi-Dmitriya-Gudkova-pokonchil-s-so?utm_referrer=mirtesen.ru</a:t>
            </a:r>
          </a:p>
          <a:p xmlns:a="http://schemas.openxmlformats.org/drawingml/2006/main">
            <a:r>
              <a:t>https://www.bbc.com/russian/news-57381443</a:t>
            </a:r>
          </a:p>
          <a:p xmlns:a="http://schemas.openxmlformats.org/drawingml/2006/main">
            <a:r>
              <a:t>https://www.themoscowtimes.com/2021/06/06/kremlin-critic-dmitry-gudkov-flees-to-ukraine-a74123</a:t>
            </a:r>
          </a:p>
          <a:p xmlns:a="http://schemas.openxmlformats.org/drawingml/2006/main">
            <a:r>
              <a:t>https://www.yabloko.ru/publikatsii/2016/09/15</a:t>
            </a:r>
          </a:p>
          <a:p xmlns:a="http://schemas.openxmlformats.org/drawingml/2006/main">
            <a:r>
              <a:t>https://novayagazeta.ru/articles/2018/03/21/75886-ya-privyk-lyudyam-verit</a:t>
            </a:r>
          </a:p>
          <a:p xmlns:a="http://schemas.openxmlformats.org/drawingml/2006/main">
            <a:r>
              <a:t>https://www.rbc.ru/politics/15/03/2018/5aaa98049a7947d12d63f1e1</a:t>
            </a:r>
          </a:p>
          <a:p xmlns:a="http://schemas.openxmlformats.org/drawingml/2006/main">
            <a:r>
              <a:t>https://rus.team/people/gudkov-dmitrij-gennadevich</a:t>
            </a:r>
          </a:p>
          <a:p xmlns:a="http://schemas.openxmlformats.org/drawingml/2006/main">
            <a:r>
              <a:t>https://www.azattyqasia.org/a/chto-proiskhodit-v-donbasse-/31863310/lbl0lbi299676.html</a:t>
            </a:r>
          </a:p>
          <a:p xmlns:a="http://schemas.openxmlformats.org/drawingml/2006/main">
            <a:r>
              <a:t>https://www.dw.com/ru/dmitrij-gudkov-putin-na-storone-partii-vojny-no-pri-etom-on-trus-21092022/video-63193199</a:t>
            </a:r>
          </a:p>
          <a:p xmlns:a="http://schemas.openxmlformats.org/drawingml/2006/main">
            <a:r>
              <a:t>https://ru.wikinews.org/wiki/%D0%9A%D0%B0%D1%82%D0%B5%D0%B3%D0%BE%D1%80%D0%B8%D1%8F:%D0%93%D0%B5%D0%BD%D0%BD%D0%B0%D0%B4%D0%B8%D0%B9_%D0%93%D1%83%D0%B4%D0%BA%D0%BE%D0%B2</a:t>
            </a:r>
          </a:p>
          <a:p xmlns:a="http://schemas.openxmlformats.org/drawingml/2006/main">
            <a:r>
              <a:t>https://en.wikipedia.org/wiki/Gennady_Gudkov</a:t>
            </a:r>
          </a:p>
          <a:p xmlns:a="http://schemas.openxmlformats.org/drawingml/2006/main">
            <a:r>
              <a:t>https://x.com/gudkov_g</a:t>
            </a:r>
          </a:p>
          <a:p xmlns:a="http://schemas.openxmlformats.org/drawingml/2006/main">
            <a:r>
              <a:t>https://www.dw.com/ru/chto-dmitrij-gudkov-nameren-delat-v-ukraine-i-vernetsja-li-v-rossiju/a-57830619</a:t>
            </a:r>
          </a:p>
          <a:p xmlns:a="http://schemas.openxmlformats.org/drawingml/2006/main">
            <a:r>
              <a:t>https://ru.wikipedia.org/wiki/%D0%93%D1%83%D0%B4%D0%BA%D0%BE%D0%B2,_%D0%93%D0%B5%D0%BD%D0%BD%D0%B0%D0%B4%D0%B8%D0%B9_%D0%92%D0%BB%D0%B0%D0%B4%D0%B8%D0%BC%D0%B8%D1%80%D0%BE%D0%B2%D0%B8%D1%87</a:t>
            </a:r>
          </a:p>
          <a:p xmlns:a="http://schemas.openxmlformats.org/drawingml/2006/main">
            <a:r>
              <a:t>https://ru.wikipedia.org/wiki/%D0%93%D1%83%D0%B4%D0%BA%D0%BE%D0%B2,_%D0%94%D0%BC%D0%B8%D1%82%D1%80%D0%B8%D0%B9_%D0%93%D0%B5%D0%BD%D0%BD%D0%B0%D0%B4%D1%8C%D0%B5%D0%B2%D0%B8%D1%87</a:t>
            </a:r>
          </a:p>
          <a:p xmlns:a="http://schemas.openxmlformats.org/drawingml/2006/main">
            <a:r>
              <a:t>https://utro02.tv/2022/10/31/navstrechu-sezdu-gennadij-gudkov-o-vyborah-obedinenii-oppoziczii-i-razdelenii-vlasti/</a:t>
            </a:r>
          </a:p>
          <a:p xmlns:a="http://schemas.openxmlformats.org/drawingml/2006/main">
            <a:r>
              <a:t>https://www.unian.net/war/rossiyskiy-oppozicioner-gudkov-putin-nachinaet-ponimat-chto-nastupaet-zh-pa-12031263.html</a:t>
            </a:r>
          </a:p>
          <a:p xmlns:a="http://schemas.openxmlformats.org/drawingml/2006/main">
            <a:r>
              <a:t>https://bntnews.bg/genadiy-gudkov-86846tag.html</a:t>
            </a:r>
          </a:p>
          <a:p xmlns:a="http://schemas.openxmlformats.org/drawingml/2006/main">
            <a:r>
              <a:t>https://tass.ru/encyclopedia/person/gudkov-dmitriy-gennadevich</a:t>
            </a:r>
          </a:p>
          <a:p xmlns:a="http://schemas.openxmlformats.org/drawingml/2006/main">
            <a:r>
              <a:t>https://www.kasparov.com/garry-kasparov-on-putin-and-the-virus-of-imperialism-wsj-free-expression-april-11-2022/</a:t>
            </a:r>
          </a:p>
          <a:p xmlns:a="http://schemas.openxmlformats.org/drawingml/2006/main">
            <a:r>
              <a:t>https://www.ilmessaggero.it/en/garry_kasparov_from_chess_champion_to_kremlin_critic-9797261.html</a:t>
            </a:r>
          </a:p>
          <a:p xmlns:a="http://schemas.openxmlformats.org/drawingml/2006/main">
            <a:r>
              <a:t>https://www.kasparov.com/category/russia/</a:t>
            </a:r>
          </a:p>
          <a:p xmlns:a="http://schemas.openxmlformats.org/drawingml/2006/main">
            <a:r>
              <a:t>https://www.kasparov.com/category/politics/</a:t>
            </a:r>
          </a:p>
          <a:p xmlns:a="http://schemas.openxmlformats.org/drawingml/2006/main">
            <a:r>
              <a:t>https://en.wikipedia.org/wiki/Political_views_of_Garry_Kasparov</a:t>
            </a:r>
          </a:p>
          <a:p xmlns:a="http://schemas.openxmlformats.org/drawingml/2006/main">
            <a:r>
              <a:t>https://www.dw.com/ru/kasparov-v-intervu-dw-vse-cto-delal-delaet-i-budet-delat-tramp-pomogaet-putinu/a-79633734</a:t>
            </a:r>
          </a:p>
          <a:p xmlns:a="http://schemas.openxmlformats.org/drawingml/2006/main">
            <a:r>
              <a:t>https://www.kasparov.com/</a:t>
            </a:r>
          </a:p>
          <a:p xmlns:a="http://schemas.openxmlformats.org/drawingml/2006/main">
            <a:r>
              <a:t>https://www.kasparov.com/a-conversation-with-garry-kasparov-thought-economics-with-vikas-shas-may-21-2017/</a:t>
            </a:r>
          </a:p>
          <a:p xmlns:a="http://schemas.openxmlformats.org/drawingml/2006/main">
            <a:r>
              <a:t>https://www.kasparov.com/new-yorker-interview-the-chess-grandmaster-and-political-activist-on-putin-trump-and-how-we-are-living-again-through-the-eighteen-fifties/</a:t>
            </a:r>
          </a:p>
          <a:p xmlns:a="http://schemas.openxmlformats.org/drawingml/2006/main">
            <a:r>
              <a:t>https://www.cnbc.com/2017/02/13/the-full-interview-with-former-world-chess-champion-garry-kasparov-on-trump-putin.html</a:t>
            </a:r>
          </a:p>
          <a:p xmlns:a="http://schemas.openxmlformats.org/drawingml/2006/main">
            <a:r>
              <a:t>https://www.reuters.com/world/europe/kasparov-calls-world-powers-throw-russia-back-into-stone-age-2022-03-03/</a:t>
            </a:r>
          </a:p>
          <a:p xmlns:a="http://schemas.openxmlformats.org/drawingml/2006/main">
            <a:r>
              <a:t>https://khodorkovsky.com/open-russia-manifesto/</a:t>
            </a:r>
          </a:p>
          <a:p xmlns:a="http://schemas.openxmlformats.org/drawingml/2006/main">
            <a:r>
              <a:t>https://khodorkovsky.com/programmes/initiatives/openrussia/</a:t>
            </a:r>
          </a:p>
          <a:p xmlns:a="http://schemas.openxmlformats.org/drawingml/2006/main">
            <a:r>
              <a:t>https://khodorkovsky.com/page/65/?m</a:t>
            </a:r>
          </a:p>
          <a:p xmlns:a="http://schemas.openxmlformats.org/drawingml/2006/main">
            <a:r>
              <a:t>https://khodorkovsky.com/page/80/?m</a:t>
            </a:r>
          </a:p>
          <a:p xmlns:a="http://schemas.openxmlformats.org/drawingml/2006/main">
            <a:r>
              <a:t>https://angliya.com/publication/mihail-hodorkovskiy-ne-priznayu-razdelenie-lyudey-na-osnovanii-politicheskih-vzglyadov/</a:t>
            </a:r>
          </a:p>
          <a:p xmlns:a="http://schemas.openxmlformats.org/drawingml/2006/main">
            <a:r>
              <a:t>https://www.dw.com/ru/mihail-hodorkovski-bojus-jeta-vojna-ne-budet-poslednej/a-61314556</a:t>
            </a:r>
          </a:p>
          <a:p xmlns:a="http://schemas.openxmlformats.org/drawingml/2006/main">
            <a:r>
              <a:t>https://ru.euronews.com/2022/06/21/ru-khodorkovsky-interview</a:t>
            </a:r>
          </a:p>
          <a:p xmlns:a="http://schemas.openxmlformats.org/drawingml/2006/main">
            <a:r>
              <a:t>https://ru.euronews.com/2022/06/23/mikhail-khodorkovsky</a:t>
            </a:r>
          </a:p>
          <a:p xmlns:a="http://schemas.openxmlformats.org/drawingml/2006/main">
            <a:r>
              <a:t>https://poligonmedia.io/mihail-hodorkovskij-putin-ne-pobedil/</a:t>
            </a:r>
          </a:p>
          <a:p xmlns:a="http://schemas.openxmlformats.org/drawingml/2006/main">
            <a:r>
              <a:t>https://www.pap.pl/ru/russian/news/khodorkovskiy-u-putina-est-prichiny-vesti-peregovory-o-prekraschenii-voyny-na-ukraine</a:t>
            </a:r>
          </a:p>
          <a:p xmlns:a="http://schemas.openxmlformats.org/drawingml/2006/main">
            <a:r>
              <a:t>https://milov.org/cat/debates</a:t>
            </a:r>
          </a:p>
          <a:p xmlns:a="http://schemas.openxmlformats.org/drawingml/2006/main">
            <a:r>
              <a:t>https://milov.org/entry/4188</a:t>
            </a:r>
          </a:p>
          <a:p xmlns:a="http://schemas.openxmlformats.org/drawingml/2006/main">
            <a:r>
              <a:t>https://milov.org/cat/international</a:t>
            </a:r>
          </a:p>
          <a:p xmlns:a="http://schemas.openxmlformats.org/drawingml/2006/main">
            <a:r>
              <a:t>https://tvrain.tv/teleshow/amerikanskie_gonki/tramp_vynashivaet_ideju_primiritsja_s_putinym-453802/</a:t>
            </a:r>
          </a:p>
          <a:p xmlns:a="http://schemas.openxmlformats.org/drawingml/2006/main">
            <a:r>
              <a:t>https://www.currenttime.tv/a/vladimir-milov-interview/31505887.html</a:t>
            </a:r>
          </a:p>
          <a:p xmlns:a="http://schemas.openxmlformats.org/drawingml/2006/main">
            <a:r>
              <a:t>https://ovd.info/express-news/2021/07/27/roskomnadzor-potreboval-ot-youtube-zablokirovat-kanaly-troikh-soratnikov</a:t>
            </a:r>
          </a:p>
          <a:p xmlns:a="http://schemas.openxmlformats.org/drawingml/2006/main">
            <a:r>
              <a:t>https://www.dw.com/ru/sud-v-moskve-prigovoril-vladimira-milova-k-8-godam-kolonii/a-67415717</a:t>
            </a:r>
          </a:p>
          <a:p xmlns:a="http://schemas.openxmlformats.org/drawingml/2006/main">
            <a:r>
              <a:t>https://ru.wikipedia.org/wiki/%D0%9C%D0%B8%D0%BB%D0%BE%D0%B2,_%D0%92%D0%BB%D0%B0%D0%B4%D0%B8%D0%BC%D0%B8%D1%80_%D0%A1%D1%82%D0%B0%D0%BD%D0%B8%D1%81%D0%BB%D0%B0%D0%B2%D0%BE%D0%B2%D0%B8%D1%87</a:t>
            </a:r>
          </a:p>
          <a:p xmlns:a="http://schemas.openxmlformats.org/drawingml/2006/main">
            <a:r>
              <a:t>https://gordonua.com/news/worldnews/milov-merkel-molodec-poteryala-vsego-7-8-v-polzu-svezhey-antiimmigrantskoy-partii-na-fone-migrantskogo-krizisa-208758.html</a:t>
            </a:r>
          </a:p>
          <a:p xmlns:a="http://schemas.openxmlformats.org/drawingml/2006/main">
            <a:r>
              <a:t>https://echofm.online/programs/hochu-skazat/hochu-skazat-larina-69</a:t>
            </a:r>
          </a:p>
          <a:p xmlns:a="http://schemas.openxmlformats.org/drawingml/2006/main">
            <a:r>
              <a:t>https://www.hoover.org/plus/research/russian-opposition-and-ukraine-conversation-vladimir-milov</a:t>
            </a:r>
          </a:p>
          <a:p xmlns:a="http://schemas.openxmlformats.org/drawingml/2006/main">
            <a:r>
              <a:t>https://www.golosameriki.com/a/washington-dialogue-russian-opposition-conference/7648250.html</a:t>
            </a:r>
          </a:p>
          <a:p xmlns:a="http://schemas.openxmlformats.org/drawingml/2006/main">
            <a:r>
              <a:t>https://glavred.info/chat/1337-vladimir-milov.html</a:t>
            </a:r>
          </a:p>
          <a:p xmlns:a="http://schemas.openxmlformats.org/drawingml/2006/main">
            <a:r>
              <a:t>https://www.interfax.ru/moscow/669378</a:t>
            </a:r>
          </a:p>
          <a:p xmlns:a="http://schemas.openxmlformats.org/drawingml/2006/main">
            <a:r>
              <a:t>https://tass.ru/politika/6670439</a:t>
            </a:r>
          </a:p>
          <a:p xmlns:a="http://schemas.openxmlformats.org/drawingml/2006/main">
            <a:r>
              <a:t>https://www.rbc.ru/politics/16/07/2019/5d2c8b3b9a794799a7c7d413</a:t>
            </a:r>
          </a:p>
          <a:p xmlns:a="http://schemas.openxmlformats.org/drawingml/2006/main">
            <a:r>
              <a:t>https://www.bbc.com/russian/news-56269079</a:t>
            </a:r>
          </a:p>
          <a:p xmlns:a="http://schemas.openxmlformats.org/drawingml/2006/main">
            <a:r>
              <a:t>https://ovd.info/express-news/2020/12/28/s-yurista-fbk-kotoraya-provela-pochti-dvoe-sutok-v-ivs-pytalis-vzyat</a:t>
            </a:r>
          </a:p>
          <a:p xmlns:a="http://schemas.openxmlformats.org/drawingml/2006/main">
            <a:r>
              <a:t>https://ovd.info/express-news/2021/02/26/prokuratura-utverdila-obvinenie-sobol-po-delu-o-proniknovenii-v-kvartiru</a:t>
            </a:r>
          </a:p>
          <a:p xmlns:a="http://schemas.openxmlformats.org/drawingml/2006/main">
            <a:r>
              <a:t>https://ovd.info/express-news/2020/12/29/protiv-alekseya-navalnogo-vozbudili-ugolovnoe-delo-o-moshennichestve-iz-za</a:t>
            </a:r>
          </a:p>
          <a:p xmlns:a="http://schemas.openxmlformats.org/drawingml/2006/main">
            <a:r>
              <a:t>https://www.currenttime.tv/a/sobol/31723600.html</a:t>
            </a:r>
          </a:p>
          <a:p xmlns:a="http://schemas.openxmlformats.org/drawingml/2006/main">
            <a:r>
              <a:t>https://www.currenttime.tv/interview/episodes/2022/2/26</a:t>
            </a:r>
          </a:p>
          <a:p xmlns:a="http://schemas.openxmlformats.org/drawingml/2006/main">
            <a:r>
              <a:t>https://ochevidcy.com/putin-budet-vorovat-do-groba/</a:t>
            </a:r>
          </a:p>
          <a:p xmlns:a="http://schemas.openxmlformats.org/drawingml/2006/main">
            <a:r>
              <a:t>https://www.svoboda.org/a/32881433.html</a:t>
            </a:r>
          </a:p>
          <a:p xmlns:a="http://schemas.openxmlformats.org/drawingml/2006/main">
            <a:r>
              <a:t>https://echofm.online/programs/idyom-po-zvyozdam/idyom-po-zvezdam-s-lyubovyu-sobol</a:t>
            </a:r>
          </a:p>
          <a:p xmlns:a="http://schemas.openxmlformats.org/drawingml/2006/main">
            <a:r>
              <a:t>https://x.com/SobolLubov</a:t>
            </a:r>
          </a:p>
          <a:p xmlns:a="http://schemas.openxmlformats.org/drawingml/2006/main">
            <a:r>
              <a:t>https://stuki-druki.com/authors/sobol-lubov.php</a:t>
            </a:r>
          </a:p>
          <a:p xmlns:a="http://schemas.openxmlformats.org/drawingml/2006/main">
            <a:r>
              <a:t>https://www.interfax.ru/elections2018/593143</a:t>
            </a:r>
          </a:p>
          <a:p xmlns:a="http://schemas.openxmlformats.org/drawingml/2006/main">
            <a:r>
              <a:t>https://elections2018.tass.ru/candidate/sobchak</a:t>
            </a:r>
          </a:p>
          <a:p xmlns:a="http://schemas.openxmlformats.org/drawingml/2006/main">
            <a:r>
              <a:t>https://www.interfax.ru/elections2018/604186</a:t>
            </a:r>
          </a:p>
          <a:p xmlns:a="http://schemas.openxmlformats.org/drawingml/2006/main">
            <a:r>
              <a:t>https://www.interfax.ru/elections2018/604908</a:t>
            </a:r>
          </a:p>
          <a:p xmlns:a="http://schemas.openxmlformats.org/drawingml/2006/main">
            <a:r>
              <a:t>https://www.consultant.ru/law/hotdocs/53066.html</a:t>
            </a:r>
          </a:p>
          <a:p xmlns:a="http://schemas.openxmlformats.org/drawingml/2006/main">
            <a:r>
              <a:t>https://www.rbc.ru/newspaper/2018/03/20/5aae9ca49a794739b02918a0</a:t>
            </a:r>
          </a:p>
          <a:p xmlns:a="http://schemas.openxmlformats.org/drawingml/2006/main">
            <a:r>
              <a:t>https://www.interfax.ru/elections2018/604136</a:t>
            </a:r>
          </a:p>
          <a:p xmlns:a="http://schemas.openxmlformats.org/drawingml/2006/main">
            <a:r>
              <a:t>https://www.interfax.ru/elections2018/604190</a:t>
            </a:r>
          </a:p>
          <a:p xmlns:a="http://schemas.openxmlformats.org/drawingml/2006/main">
            <a:r>
              <a:t>https://www.rbc.ru/economics/25/12/2017/5a4025f19a79472e3f5f4ad9?from=right_column_materials_3</a:t>
            </a:r>
          </a:p>
          <a:p xmlns:a="http://schemas.openxmlformats.org/drawingml/2006/main">
            <a:r>
              <a:t>https://news.ru/show-business/otezd-iz-rf-vybory-svo-v-chem-priznalas-kseniya-sobchak-v-novom-intervyu</a:t>
            </a:r>
          </a:p>
          <a:p xmlns:a="http://schemas.openxmlformats.org/drawingml/2006/main">
            <a:r>
              <a:t>https://rtvi.com/news/sobchak-otvetila-na-vopros-putin-ili-zelenskij/</a:t>
            </a:r>
          </a:p>
          <a:p xmlns:a="http://schemas.openxmlformats.org/drawingml/2006/main">
            <a:r>
              <a:t>https://informator.ua/ru/kompromissy-iz-rf-legitimnost-zelenskogo-i-gotovnost-pozhat-ruku-putinu-o-chem-govoril-arestovich-v-intervyu-sobchak</a:t>
            </a:r>
          </a:p>
          <a:p xmlns:a="http://schemas.openxmlformats.org/drawingml/2006/main">
            <a:r>
              <a:t>https://rassvet-party.info/</a:t>
            </a:r>
          </a:p>
          <a:p xmlns:a="http://schemas.openxmlformats.org/drawingml/2006/main">
            <a:r>
              <a:t>https://en.wikipedia.org/wiki/Yekaterina_Duntsova</a:t>
            </a:r>
          </a:p>
          <a:p xmlns:a="http://schemas.openxmlformats.org/drawingml/2006/main">
            <a:r>
              <a:t>https://www.dw.com/ru/cto-nuzno-znat-o-ekaterine-duncovoj-kotoraa-hocet-stat-prezidentom-rf/a-67832425</a:t>
            </a:r>
          </a:p>
          <a:p xmlns:a="http://schemas.openxmlformats.org/drawingml/2006/main">
            <a:r>
              <a:t>https://baj.media/ru/ya-gotova-idti-do-konca-zhurnalistka-iz-rossiyskoy-provincii-reshila-stat-prezidentom-i-2/</a:t>
            </a:r>
          </a:p>
          <a:p xmlns:a="http://schemas.openxmlformats.org/drawingml/2006/main">
            <a:r>
              <a:t>https://echofm.online/portret-dnya/portret-dnya-ekaterina-dunczova-reshivshaya-vydvinutsya-kandidatom-v-prezidenty-rossii-zhurnalistka-iz-rzheva</a:t>
            </a:r>
          </a:p>
          <a:p xmlns:a="http://schemas.openxmlformats.org/drawingml/2006/main">
            <a:r>
              <a:t>https://novayagazeta.eu/articles/2024/03/15/zlost-i-nenavist-vsem-nadoeli</a:t>
            </a:r>
          </a:p>
          <a:p xmlns:a="http://schemas.openxmlformats.org/drawingml/2006/main">
            <a:r>
              <a:t>https://altapress.ru/politika/story/kto-takaya-ekaterina-duntsova-kotoraya-sobiraetsya-stat-poslednim-prezidentom-rossii-i-kto-eshche-hochet-ballotirovatsya-336526</a:t>
            </a:r>
          </a:p>
          <a:p xmlns:a="http://schemas.openxmlformats.org/drawingml/2006/main">
            <a:r>
              <a:t>https://cherta.media/interview/ekaterina-duncova-kandidat-v-prezidenty/</a:t>
            </a:r>
          </a:p>
          <a:p xmlns:a="http://schemas.openxmlformats.org/drawingml/2006/main">
            <a:r>
              <a:t>https://novayagazeta.eu/articles/2023/12/05/zachem-ia-budu-stoiat-na-barrikadakh-esli-mogu-zanimatsia-realnymi-delami</a:t>
            </a:r>
          </a:p>
          <a:p xmlns:a="http://schemas.openxmlformats.org/drawingml/2006/main">
            <a:r>
              <a:t>https://holod.media/2023/12/20/ekaterina-duntsova-view/</a:t>
            </a:r>
          </a:p>
          <a:p xmlns:a="http://schemas.openxmlformats.org/drawingml/2006/main">
            <a:r>
              <a:t>https://www.dw.com/ru/ekaterina-duncova-o-sozdanii-partii-rassvet-my-mezdu-dvuh-ognej/a-68992724</a:t>
            </a:r>
          </a:p>
          <a:p xmlns:a="http://schemas.openxmlformats.org/drawingml/2006/main">
            <a:r>
              <a:t>https://rassvet-party.info/static/program.pdf</a:t>
            </a:r>
          </a:p>
          <a:p xmlns:a="http://schemas.openxmlformats.org/drawingml/2006/main">
            <a:r>
              <a:t>https://www.currenttime.tv/a/ekaterina-duntsova-o-sozdanii-partii-i-svoem-zaderzhanii/32775510.html</a:t>
            </a:r>
          </a:p>
          <a:p xmlns:a="http://schemas.openxmlformats.org/drawingml/2006/main">
            <a:r>
              <a:t>https://duntsovainitiative.1c-umi.ru/galereya/</a:t>
            </a:r>
          </a:p>
          <a:p xmlns:a="http://schemas.openxmlformats.org/drawingml/2006/main">
            <a:r>
              <a:t>https://rassvet-party.info/static/manifest.pdf</a:t>
            </a:r>
          </a:p>
          <a:p xmlns:a="http://schemas.openxmlformats.org/drawingml/2006/main">
            <a:r>
              <a:t>https://www.rbc.ru/person/65afb4a99a79470e434da73d</a:t>
            </a:r>
          </a:p>
          <a:p xmlns:a="http://schemas.openxmlformats.org/drawingml/2006/main">
            <a:r>
              <a:t>https://www.bbc.com/russian/articles/c84npr0wxx9o</a:t>
            </a:r>
          </a:p>
          <a:p xmlns:a="http://schemas.openxmlformats.org/drawingml/2006/main">
            <a:r>
              <a:t>https://www.rbc.ru/politics/08/02/2024/65c3749b9a79479ef5fe7934</a:t>
            </a:r>
          </a:p>
          <a:p xmlns:a="http://schemas.openxmlformats.org/drawingml/2006/main">
            <a:r>
              <a:t>https://www.business-gazeta.ru/article/622600</a:t>
            </a:r>
          </a:p>
          <a:p xmlns:a="http://schemas.openxmlformats.org/drawingml/2006/main">
            <a:r>
              <a:t>https://semnasem.org/articles/2024/02/02/poslednij-sredi-antivoennyh-kto-takoj-boris-nadezhdin-kotoryj-vse-eshe-nadeetsya-stat-prezidentom</a:t>
            </a:r>
          </a:p>
          <a:p xmlns:a="http://schemas.openxmlformats.org/drawingml/2006/main">
            <a:r>
              <a:t>https://novayagazeta.eu/articles/2024/02/03/17-marta-nachalo-kontsa-epokhi-putina</a:t>
            </a:r>
          </a:p>
          <a:p xmlns:a="http://schemas.openxmlformats.org/drawingml/2006/main">
            <a:r>
              <a:t>https://www.youtube.com/watch?v=mGMdgxBCdns</a:t>
            </a:r>
          </a:p>
          <a:p xmlns:a="http://schemas.openxmlformats.org/drawingml/2006/main">
            <a:r>
              <a:t>https://www.dw.com/ru/boris-nadezdin-moj-rejting-rastet-na-5-v-nedelu/a-68154251</a:t>
            </a:r>
          </a:p>
          <a:p xmlns:a="http://schemas.openxmlformats.org/drawingml/2006/main">
            <a:r>
              <a:t>https://ovd.info/express-news/2026/07/17/u-menya-dva-puti-lenina-ili-navalnogo-chto-nuzhno-znat-o-borise-nadezhdine</a:t>
            </a:r>
          </a:p>
          <a:p xmlns:a="http://schemas.openxmlformats.org/drawingml/2006/main">
            <a:r>
              <a:t>https://www.rbc.ru/person/65afb4a99a79470e434da73d?ysclid=mrt22n99to603501119</a:t>
            </a:r>
          </a:p>
          <a:p xmlns:a="http://schemas.openxmlformats.org/drawingml/2006/main">
            <a:r>
              <a:t>https://www.youtube.com/watch?v=UNytg_H_1pY</a:t>
            </a:r>
          </a:p>
          <a:p xmlns:a="http://schemas.openxmlformats.org/drawingml/2006/main">
            <a:r>
              <a:t>https://www.youtube.com/watch?v=DwTC5bilf_8</a:t>
            </a:r>
          </a:p>
          <a:p xmlns:a="http://schemas.openxmlformats.org/drawingml/2006/main">
            <a:r>
              <a:t>https://www.youtube.com/watch?v=sG4_THnT9W0</a:t>
            </a:r>
          </a:p>
          <a:p xmlns:a="http://schemas.openxmlformats.org/drawingml/2006/main">
            <a:r>
              <a:t>https://www.rbc.ru/rbcfreenews/6586cdf49a79479c3cd3d4b3</a:t>
            </a:r>
          </a:p>
          <a:p xmlns:a="http://schemas.openxmlformats.org/drawingml/2006/main">
            <a:r>
              <a:t>https://kprf.ru/activity/elections/223485.html/print</a:t>
            </a:r>
          </a:p>
          <a:p xmlns:a="http://schemas.openxmlformats.org/drawingml/2006/main">
            <a:r>
              <a:t>http://msk.kprf.ru/2024/01/24/247473/</a:t>
            </a:r>
          </a:p>
          <a:p xmlns:a="http://schemas.openxmlformats.org/drawingml/2006/main">
            <a:r>
              <a:t>https://www.dw.com/ru/vybory-prezidenta-rossii-2024/a-68528003</a:t>
            </a:r>
          </a:p>
          <a:p xmlns:a="http://schemas.openxmlformats.org/drawingml/2006/main">
            <a:r>
              <a:t>https://ru.wikipedia.org/wiki/%D0%A5%D0%B0%D1%80%D0%B8%D1%82%D0%BE%D0%BD%D0%BE%D0%B2,_%D0%9D%D0%B8%D0%BA%D0%BE%D0%BB%D0%B0%D0%B9_%D0%9C%D0%B8%D1%85%D0%B0%D0%B9%D0%BB%D0%BE%D0%B2%D0%B8%D1%87</a:t>
            </a:r>
          </a:p>
          <a:p xmlns:a="http://schemas.openxmlformats.org/drawingml/2006/main">
            <a:r>
              <a:t>https://kprf.ru/party-live/cknews/225170.html</a:t>
            </a:r>
          </a:p>
          <a:p xmlns:a="http://schemas.openxmlformats.org/drawingml/2006/main">
            <a:r>
              <a:t>https://kprf.ru/dep/gosduma/activities/232802.html</a:t>
            </a:r>
          </a:p>
          <a:p xmlns:a="http://schemas.openxmlformats.org/drawingml/2006/main">
            <a:r>
              <a:t>https://kprf35.com/2024/02/17/32710/</a:t>
            </a:r>
          </a:p>
          <a:p xmlns:a="http://schemas.openxmlformats.org/drawingml/2006/main">
            <a:r>
              <a:t>https://www.pkokprf.ru/news/view/35448</a:t>
            </a:r>
          </a:p>
          <a:p xmlns:a="http://schemas.openxmlformats.org/drawingml/2006/main">
            <a:r>
              <a:t>https://altkprf.ru/upload/iblock/eea/jiv0wm7hzk6gq4qdxw0r5wvp7zwb6luk.pdf</a:t>
            </a:r>
          </a:p>
          <a:p xmlns:a="http://schemas.openxmlformats.org/drawingml/2006/main">
            <a:r>
              <a:t>https://kprf.ru/activity/army/224789.html</a:t>
            </a:r>
          </a:p>
          <a:p xmlns:a="http://schemas.openxmlformats.org/drawingml/2006/main">
            <a:r>
              <a:t>https://gazeta-pravda.ru/issue/24-31517-711-marta-2024-goda-/alternativa-polupravde/</a:t>
            </a:r>
          </a:p>
          <a:p xmlns:a="http://schemas.openxmlformats.org/drawingml/2006/main">
            <a:r>
              <a:t>https://spbpalata.ru/?p=13755</a:t>
            </a:r>
          </a:p>
          <a:p xmlns:a="http://schemas.openxmlformats.org/drawingml/2006/main">
            <a:r>
              <a:t>https://kprf.ru/activity/elections/171941.html</a:t>
            </a:r>
          </a:p>
          <a:p xmlns:a="http://schemas.openxmlformats.org/drawingml/2006/main">
            <a:r>
              <a:t>https://kprf.ru/party-live/cknews/171994.html</a:t>
            </a:r>
          </a:p>
          <a:p xmlns:a="http://schemas.openxmlformats.org/drawingml/2006/main">
            <a:r>
              <a:t>https://elections2018.tass.ru/candidate/grudinin</a:t>
            </a:r>
          </a:p>
          <a:p xmlns:a="http://schemas.openxmlformats.org/drawingml/2006/main">
            <a:r>
              <a:t>https://www.bbc.com/russian/features-43105617</a:t>
            </a:r>
          </a:p>
          <a:p xmlns:a="http://schemas.openxmlformats.org/drawingml/2006/main">
            <a:r>
              <a:t>https://www.rbc.ru/politics/24/07/2021/60fbe35b9a794716f25253a0</a:t>
            </a:r>
          </a:p>
          <a:p xmlns:a="http://schemas.openxmlformats.org/drawingml/2006/main">
            <a:r>
              <a:t>https://kprf.ru/dep/reg/204410.html</a:t>
            </a:r>
          </a:p>
          <a:p xmlns:a="http://schemas.openxmlformats.org/drawingml/2006/main">
            <a:r>
              <a:t>https://msk.kprf.ru/2021/09/16/168273/</a:t>
            </a:r>
          </a:p>
          <a:p xmlns:a="http://schemas.openxmlformats.org/drawingml/2006/main">
            <a:r>
              <a:t>https://svpressa.ru/persons/pavel-grudinin/</a:t>
            </a:r>
          </a:p>
          <a:p xmlns:a="http://schemas.openxmlformats.org/drawingml/2006/main">
            <a:r>
              <a:t>https://carnegieendowment.org/ru/russia-eurasia/posts/2018/02/kuda-privedut-ekonomiku-rossii-20-shagov-grudinina</a:t>
            </a:r>
          </a:p>
          <a:p xmlns:a="http://schemas.openxmlformats.org/drawingml/2006/main">
            <a:r>
              <a:t>https://www.kompas-rf.ru/2018/01/2980/</a:t>
            </a:r>
          </a:p>
          <a:p xmlns:a="http://schemas.openxmlformats.org/drawingml/2006/main">
            <a:r>
              <a:t>https://www.svoboda.org/a/30073365.html</a:t>
            </a:r>
          </a:p>
          <a:p xmlns:a="http://schemas.openxmlformats.org/drawingml/2006/main">
            <a:r>
              <a:t>https://kandidativprezidenti.ru/programma-grudinina-2018/</a:t>
            </a:r>
          </a:p>
          <a:p xmlns:a="http://schemas.openxmlformats.org/drawingml/2006/main">
            <a:r>
              <a:t>https://mbk-news.appspot.com/suzhet/za-lenina-i-protiv-ege/</a:t>
            </a:r>
          </a:p>
          <a:p xmlns:a="http://schemas.openxmlformats.org/drawingml/2006/main">
            <a:r>
              <a:t>https://www.amnesty.org/ru/latest/research/2021/06/zayavlenie-rossijskaya-federacziya-obvinitelnyj-prigovor-nikolayu-platoshkinu-dolzhen-byt-otmenyon/</a:t>
            </a:r>
          </a:p>
          <a:p xmlns:a="http://schemas.openxmlformats.org/drawingml/2006/main">
            <a:r>
              <a:t>https://zona.media/article/2021/05/20/nikolay-nikolaevitch</a:t>
            </a:r>
          </a:p>
          <a:p xmlns:a="http://schemas.openxmlformats.org/drawingml/2006/main">
            <a:r>
              <a:t>https://novayagazeta.ru/articles/2020/06/05/85705-sotsialisticheskiy-prizyv</a:t>
            </a:r>
          </a:p>
          <a:p xmlns:a="http://schemas.openxmlformats.org/drawingml/2006/main">
            <a:r>
              <a:t>https://www.revda-info.ru/2020/08/26/v-revde-poyavilos-otdelenie-dvizheniya-za-novyj-sotsializm-ego-lider-sejchas-pod-arestom</a:t>
            </a:r>
          </a:p>
          <a:p xmlns:a="http://schemas.openxmlformats.org/drawingml/2006/main">
            <a:r>
              <a:t>https://new-socialism.org/o-dvizhenii/programma/</a:t>
            </a:r>
          </a:p>
          <a:p xmlns:a="http://schemas.openxmlformats.org/drawingml/2006/main">
            <a:r>
              <a:t>https://new-socialism.org/o-dvizhenii/lider/</a:t>
            </a:r>
          </a:p>
          <a:p xmlns:a="http://schemas.openxmlformats.org/drawingml/2006/main">
            <a:r>
              <a:t>https://www.themoscowtimes.com/2024/01/19/ilya-ponomaryov-we-have-to-capture-the-kremlin-there-is-no-other-way-a83772</a:t>
            </a:r>
          </a:p>
          <a:p xmlns:a="http://schemas.openxmlformats.org/drawingml/2006/main">
            <a:r>
              <a:t>https://www.dw.com/ru/cto-izvestno-o-rossijskih-podrazdeleniah-v-sostave-vsu/a-63915634</a:t>
            </a:r>
          </a:p>
          <a:p xmlns:a="http://schemas.openxmlformats.org/drawingml/2006/main">
            <a:r>
              <a:t>https://www.svoboda.org/a/32321226.html</a:t>
            </a:r>
          </a:p>
          <a:p xmlns:a="http://schemas.openxmlformats.org/drawingml/2006/main">
            <a:r>
              <a:t>https://hromadske.ua/ru/posts/nasha-cel-moskva-my-dolzhny-sbrosit-putina-rossijskie-partizany-mif-ili-pravda</a:t>
            </a:r>
          </a:p>
          <a:p xmlns:a="http://schemas.openxmlformats.org/drawingml/2006/main">
            <a:r>
              <a:t>https://epravda.com.ua/rus/publications/2018/06/11/637572/</a:t>
            </a:r>
          </a:p>
          <a:p xmlns:a="http://schemas.openxmlformats.org/drawingml/2006/main">
            <a:r>
              <a:t>https://pointmedia.io/story/672b355fdc48800406e0f515</a:t>
            </a:r>
          </a:p>
          <a:p xmlns:a="http://schemas.openxmlformats.org/drawingml/2006/main">
            <a:r>
              <a:t>https://ru.wikipedia.org/wiki/%D0%9B%D0%B5%D0%B3%D0%B8%D0%BE%D0%BD_%C2%AB%D0%A1%D0%B2%D0%BE%D0%B1%D0%BE%D0%B4%D0%B0_%D0%A0%D0%BE%D1%81%D1%81%D0%B8%D0%B8%C2%BB</a:t>
            </a:r>
          </a:p>
          <a:p xmlns:a="http://schemas.openxmlformats.org/drawingml/2006/main">
            <a:r>
              <a:t>https://ru.wikipedia.org/wiki/%D0%9F%D0%BE%D0%BD%D0%BE%D0%BC%D0%B0%D1%80%D1%91%D0%B2,_%D0%98%D0%BB%D1%8C%D1%8F_%D0%92%D0%BB%D0%B0%D0%B4%D0%B8%D0%BC%D0%B8%D1%80%D0%BE%D0%B2%D0%B8%D1%87</a:t>
            </a:r>
          </a:p>
          <a:p xmlns:a="http://schemas.openxmlformats.org/drawingml/2006/main">
            <a:r>
              <a:t>https://russophob.ru/person/ponomarev_ilya_vladimirovich</a:t>
            </a:r>
          </a:p>
          <a:p xmlns:a="http://schemas.openxmlformats.org/drawingml/2006/main">
            <a:r>
              <a:t>https://www.svoboda.org/a/32063164.html</a:t>
            </a:r>
          </a:p>
          <a:p xmlns:a="http://schemas.openxmlformats.org/drawingml/2006/main">
            <a:r>
              <a:t>https://www.kpbs.org/news/news/international/2023/03/26/a-scrappy-newscast-in-kyiv-aimed-at-russians-counters-putins-propaganda-machine</a:t>
            </a:r>
          </a:p>
          <a:p xmlns:a="http://schemas.openxmlformats.org/drawingml/2006/main">
            <a:r>
              <a:t>https://ovd.info/express-news/2022/10/02/politik-leonid-gozman-uekhal-iz-rossii-posle-dvukh-administrativnykh</a:t>
            </a:r>
          </a:p>
          <a:p xmlns:a="http://schemas.openxmlformats.org/drawingml/2006/main">
            <a:r>
              <a:t>https://ovd.info/express-news/2022/08/30/politika-leonida-gozmana-arestovali-na-15-sutok-iz-za-posta-v-feysbuke</a:t>
            </a:r>
          </a:p>
          <a:p xmlns:a="http://schemas.openxmlformats.org/drawingml/2006/main">
            <a:r>
              <a:t>https://www.rbc.ru/politics/15/07/2022/62d1b3f39a7947299cdeb6a4</a:t>
            </a:r>
          </a:p>
          <a:p xmlns:a="http://schemas.openxmlformats.org/drawingml/2006/main">
            <a:r>
              <a:t>https://novayagazeta.eu/articles/2022/07/15/sk-doprosil-politika-leonida-gozmana-kak-podozrevaemogo-po-delu-o-neuvedomlenii-o-vtorom-grazhdanstve-news</a:t>
            </a:r>
          </a:p>
          <a:p xmlns:a="http://schemas.openxmlformats.org/drawingml/2006/main">
            <a:r>
              <a:t>https://www.rbc.ru/politics/15/02/2024/65cdc9e09a7947a2995026fa</a:t>
            </a:r>
          </a:p>
          <a:p xmlns:a="http://schemas.openxmlformats.org/drawingml/2006/main">
            <a:r>
              <a:t>https://ovd.info/express-news/2025/01/22/leonida-gozmana-i-rovshana-askerova-vnesli-v-reestr-terroristov-i</a:t>
            </a:r>
          </a:p>
          <a:p xmlns:a="http://schemas.openxmlformats.org/drawingml/2006/main">
            <a:r>
              <a:t>https://www.rbc.ru/opinion-authors/gozman</a:t>
            </a:r>
          </a:p>
          <a:p xmlns:a="http://schemas.openxmlformats.org/drawingml/2006/main">
            <a:r>
              <a:t>https://novayagazeta.eu/articles/2022/07/25/ovd-info-v-moskve-zaderzhali-politika-leonida-gozmana-news</a:t>
            </a:r>
          </a:p>
          <a:p xmlns:a="http://schemas.openxmlformats.org/drawingml/2006/main">
            <a:r>
              <a:t>https://gefter.ru/archive/23487</a:t>
            </a:r>
          </a:p>
          <a:p xmlns:a="http://schemas.openxmlformats.org/drawingml/2006/main">
            <a:r>
              <a:t>https://www.svoboda.org/a/31147156.html</a:t>
            </a:r>
          </a:p>
          <a:p xmlns:a="http://schemas.openxmlformats.org/drawingml/2006/main">
            <a:r>
              <a:t>https://uatv.ua/gozman-putin-zagnal-rossiyu-v-ugol-sleduyushhij-shag-repressii/</a:t>
            </a:r>
          </a:p>
          <a:p xmlns:a="http://schemas.openxmlformats.org/drawingml/2006/main">
            <a:r>
              <a:t>https://echofm.online/programs/hochu-skazat/hochu-skazat-odin-protiv-vseh-kak-ne-dat-strahu-pobedit-sebya</a:t>
            </a:r>
          </a:p>
          <a:p xmlns:a="http://schemas.openxmlformats.org/drawingml/2006/main">
            <a:r>
              <a:t>https://www.svoboda.org/a/leonid-gozman-russkih-lyudey-neljzya-mazatj-odnoy-chernoy-kraskoy-/32732625.html</a:t>
            </a:r>
          </a:p>
          <a:p xmlns:a="http://schemas.openxmlformats.org/drawingml/2006/main">
            <a:r>
              <a:t>https://novayagazeta.eu/articles/2022/07/18/prepiatstvovat-prosveshcheniiu-liudei-vlast-budet-pulemiotami</a:t>
            </a:r>
          </a:p>
          <a:p xmlns:a="http://schemas.openxmlformats.org/drawingml/2006/main">
            <a:r>
              <a:t>https://www.svoboda.org/a/29652429.html</a:t>
            </a:r>
          </a:p>
          <a:p xmlns:a="http://schemas.openxmlformats.org/drawingml/2006/main">
            <a:r>
              <a:t>https://novayagazeta.eu/articles/2022/04/26/nesobliudenie-rezhima</a:t>
            </a:r>
          </a:p>
          <a:p xmlns:a="http://schemas.openxmlformats.org/drawingml/2006/main">
            <a:r>
              <a:t>https://novayagazeta.eu/articles/2022/07/21/zapiski-ugolovnika</a:t>
            </a:r>
          </a:p>
          <a:p xmlns:a="http://schemas.openxmlformats.org/drawingml/2006/main">
            <a:r>
              <a:t>https://novayagazeta.ru/authors/2349</a:t>
            </a:r>
          </a:p>
          <a:p xmlns:a="http://schemas.openxmlformats.org/drawingml/2006/main">
            <a:r>
              <a:t>https://www.rbc.ru/politics/10/08/2017/598c8d6d9a79474cff05cbab</a:t>
            </a:r>
          </a:p>
          <a:p xmlns:a="http://schemas.openxmlformats.org/drawingml/2006/main">
            <a:r>
              <a:t>https://www.bbc.com/russian/news-40853405</a:t>
            </a:r>
          </a:p>
          <a:p xmlns:a="http://schemas.openxmlformats.org/drawingml/2006/main">
            <a:r>
              <a:t>https://www.rbc.ru/politics/10/08/2017/598c0a8e9a7947569574ba10?from=right_column_materials_1</a:t>
            </a:r>
          </a:p>
          <a:p xmlns:a="http://schemas.openxmlformats.org/drawingml/2006/main">
            <a:r>
              <a:t>https://www.vedomosti.ru/politics/articles/2017/08/10/728820-udaltsov</a:t>
            </a:r>
          </a:p>
          <a:p xmlns:a="http://schemas.openxmlformats.org/drawingml/2006/main">
            <a:r>
              <a:t>https://www.interfax.ru/elections2018/598382</a:t>
            </a:r>
          </a:p>
          <a:p xmlns:a="http://schemas.openxmlformats.org/drawingml/2006/main">
            <a:r>
              <a:t>https://sotaproject.com/article/sergeia-udaltsova-opiat-pytaiutsia-posadit-khotia-on-vsego-lish-prosit-putina-postroit-sotsializm</a:t>
            </a:r>
          </a:p>
          <a:p xmlns:a="http://schemas.openxmlformats.org/drawingml/2006/main">
            <a:r>
              <a:t>https://www.gazeta.ru/tags/person/sergei_udaltsov.shtml</a:t>
            </a:r>
          </a:p>
          <a:p xmlns:a="http://schemas.openxmlformats.org/drawingml/2006/main">
            <a:r>
              <a:t>https://www.kommersant.ru/doc/8317316</a:t>
            </a:r>
          </a:p>
          <a:p xmlns:a="http://schemas.openxmlformats.org/drawingml/2006/main">
            <a:r>
              <a:t>https://www.kommersant.ru/doc/8972418</a:t>
            </a:r>
          </a:p>
          <a:p xmlns:a="http://schemas.openxmlformats.org/drawingml/2006/main">
            <a:r>
              <a:t>https://holod.media/2023/09/12/udaltsov-interview/</a:t>
            </a:r>
          </a:p>
          <a:p xmlns:a="http://schemas.openxmlformats.org/drawingml/2006/main">
            <a:r>
              <a:t>https://meduza.io/feature/2024/01/11/sergey-udaltsov-zaderzhan-po-obvineniyu-v-opravdanii-terrorizma</a:t>
            </a:r>
          </a:p>
          <a:p xmlns:a="http://schemas.openxmlformats.org/drawingml/2006/main">
            <a:r>
              <a:t>https://ref-book.sova-center.ru/index.php/%D0%94%D1%80%D1%83%D0%B3%D0%B0%D1%8F_%D0%A0%D0%BE%D1%81%D1%81%D0%B8%D1%8F,_%D0%BF%D0%B0%D1%80%D1%82%D0%B8%D1%8F</a:t>
            </a:r>
          </a:p>
          <a:p xmlns:a="http://schemas.openxmlformats.org/drawingml/2006/main">
            <a:r>
              <a:t>https://www.rbc.ru/society/17/03/2020/5e71048d9a79473925ab81a7</a:t>
            </a:r>
          </a:p>
          <a:p xmlns:a="http://schemas.openxmlformats.org/drawingml/2006/main">
            <a:r>
              <a:t>https://rt.rbc.ru/society/18/03/2020/5e71acc49a794773553f824e</a:t>
            </a:r>
          </a:p>
          <a:p xmlns:a="http://schemas.openxmlformats.org/drawingml/2006/main">
            <a:r>
              <a:t>https://www.bostonglobe.com/metro/obituaries/2020/03/18/russian-author-political-activist-eduard-limonov-dies/jnjHywBRjVTTgnlsqI12vN/story.html</a:t>
            </a:r>
          </a:p>
          <a:p xmlns:a="http://schemas.openxmlformats.org/drawingml/2006/main">
            <a:r>
              <a:t>https://nsn.fm/society/poslednee-intervu-pisatelya-i-politika-eduarda-limonova</a:t>
            </a:r>
          </a:p>
          <a:p xmlns:a="http://schemas.openxmlformats.org/drawingml/2006/main">
            <a:r>
              <a:t>http://www.grso.ru/person/limonov-eduard.html</a:t>
            </a:r>
          </a:p>
          <a:p xmlns:a="http://schemas.openxmlformats.org/drawingml/2006/main">
            <a:r>
              <a:t>https://ru.wikipedia.org/wiki/%D0%94%D1%80%D1%83%D0%B3%D0%B0%D1%8F_%D0%A0%D0%BE%D1%81%D1%81%D0%B8%D1%8F_%D0%AD._%D0%92._%D0%9B%D0%B8%D0%BC%D0%BE%D0%BD%D0%BE%D0%B2%D0%B0</a:t>
            </a:r>
          </a:p>
          <a:p xmlns:a="http://schemas.openxmlformats.org/drawingml/2006/main">
            <a:r>
              <a:t>https://novayagazeta.ru/articles/2017/03/12/71752-puteshestvie-natsbolov-k-putinu-i-obratno</a:t>
            </a:r>
          </a:p>
          <a:p xmlns:a="http://schemas.openxmlformats.org/drawingml/2006/main">
            <a:r>
              <a:t>https://mediabrest.by/news/lyudi/umer-eduard-limonov-chem-zapomnilsya-pisatel</a:t>
            </a:r>
          </a:p>
          <a:p xmlns:a="http://schemas.openxmlformats.org/drawingml/2006/main">
            <a:r>
              <a:t>https://www.limonow.de/read/EL_2013-2018_T.html</a:t>
            </a:r>
          </a:p>
          <a:p xmlns:a="http://schemas.openxmlformats.org/drawingml/2006/main">
            <a:r>
              <a:t>https://www.infpol.ru/203662-ot-ubezhdennogo-antisovetchika-do-kolumnista-rt/</a:t>
            </a:r>
          </a:p>
          <a:p xmlns:a="http://schemas.openxmlformats.org/drawingml/2006/main">
            <a:r>
              <a:t>https://www.bbc.com/russian/articles/c2eg90d7gg9o</a:t>
            </a:r>
          </a:p>
          <a:p xmlns:a="http://schemas.openxmlformats.org/drawingml/2006/main">
            <a:r>
              <a:t>https://www.dw.com/ru/mosgorsud-prigovoril-igora-girkina-strelkova-k-4-godam-kolonii/a-68080937</a:t>
            </a:r>
          </a:p>
          <a:p xmlns:a="http://schemas.openxmlformats.org/drawingml/2006/main">
            <a:r>
              <a:t>https://www.fontanka.ru/2023/07/21/72520253</a:t>
            </a:r>
          </a:p>
          <a:p xmlns:a="http://schemas.openxmlformats.org/drawingml/2006/main">
            <a:r>
              <a:t>https://www.svoboda.org/a/strelkov-iz-sizo-opasayusj-amnistii-kak-u-prigozhina-/32722083.html</a:t>
            </a:r>
          </a:p>
          <a:p xmlns:a="http://schemas.openxmlformats.org/drawingml/2006/main">
            <a:r>
              <a:t>https://ru.themoscowtimes.com/2023/12/07/girkin-zayavil-chto-opasaetsya-povtorit-sudbu-prigozhina-a115592</a:t>
            </a:r>
          </a:p>
          <a:p xmlns:a="http://schemas.openxmlformats.org/drawingml/2006/main">
            <a:r>
              <a:t>https://ru.krymr.com/a/boing-mn17-10-let-podozrevayemyye-obvinyayemyye-vinovnyye/33040170.html</a:t>
            </a:r>
          </a:p>
          <a:p xmlns:a="http://schemas.openxmlformats.org/drawingml/2006/main">
            <a:r>
              <a:t>https://charter97.org/ru/news/2023/7/22/556802/</a:t>
            </a:r>
          </a:p>
          <a:p xmlns:a="http://schemas.openxmlformats.org/drawingml/2006/main">
            <a:r>
              <a:t>https://t.me/s/pgubarev?after=622</a:t>
            </a:r>
          </a:p>
          <a:p xmlns:a="http://schemas.openxmlformats.org/drawingml/2006/main">
            <a:r>
              <a:t>https://rabkor.ru/columns/debates/2023/05/23/angry_patriots_of_an_imaginary_country/</a:t>
            </a:r>
          </a:p>
          <a:p xmlns:a="http://schemas.openxmlformats.org/drawingml/2006/main">
            <a:r>
              <a:t>https://www.bbc.com/news/world-60947877</a:t>
            </a:r>
          </a:p>
          <a:p xmlns:a="http://schemas.openxmlformats.org/drawingml/2006/main">
            <a:r>
              <a:t>https://www.reuters.com/world/europe/russian-mercenary-boss-courts-putin-with-ukrainian-battlefield-success-2023-01-13/</a:t>
            </a:r>
          </a:p>
          <a:p xmlns:a="http://schemas.openxmlformats.org/drawingml/2006/main">
            <a:r>
              <a:t>https://www.reuters.com/world/europe/russias-wagner-mercenaries-halt-prisoner-recruitment-campaign-founder-prigozhin-2023-02-09/</a:t>
            </a:r>
          </a:p>
          <a:p xmlns:a="http://schemas.openxmlformats.org/drawingml/2006/main">
            <a:r>
              <a:t>https://www.reuters.com/investigates/special-report/ukraine-crisis-russia-wagner/</a:t>
            </a:r>
          </a:p>
          <a:p xmlns:a="http://schemas.openxmlformats.org/drawingml/2006/main">
            <a:r>
              <a:t>https://www.reuters.com/world/europe/russias-wagner-chief-prigozhin-says-ukraine-counteroffensive-already-under-way-2023-05-03/</a:t>
            </a:r>
          </a:p>
          <a:p xmlns:a="http://schemas.openxmlformats.org/drawingml/2006/main">
            <a:r>
              <a:t>https://www.bbc.com/russian/media-66023357</a:t>
            </a:r>
          </a:p>
          <a:p xmlns:a="http://schemas.openxmlformats.org/drawingml/2006/main">
            <a:r>
              <a:t>https://www.reuters.com/world/europe/russias-prigozhin-his-own-words-mutiny-2023-06-26/</a:t>
            </a:r>
          </a:p>
          <a:p xmlns:a="http://schemas.openxmlformats.org/drawingml/2006/main">
            <a:r>
              <a:t>https://x.com/Reuters/status/1632709213641113601</a:t>
            </a:r>
          </a:p>
          <a:p xmlns:a="http://schemas.openxmlformats.org/drawingml/2006/main">
            <a:r>
              <a:t>https://www.reuters.com/world/europe/russian-mercenary-boss-says-moscows-war-ukraine-based-lies-2023-06-23/</a:t>
            </a:r>
          </a:p>
          <a:p xmlns:a="http://schemas.openxmlformats.org/drawingml/2006/main">
            <a:r>
              <a:t>https://www.rbc.ru/spb_sz/02/10/2026/6abfb91afd4c7ff957d9cbe8</a:t>
            </a:r>
          </a:p>
          <a:p xmlns:a="http://schemas.openxmlformats.org/drawingml/2006/main">
            <a:r>
              <a:t>https://www.zaks.ru/new/person/view/639</a:t>
            </a:r>
          </a:p>
          <a:p xmlns:a="http://schemas.openxmlformats.org/drawingml/2006/main">
            <a:r>
              <a:t>https://www.zaks.ru/new/archive/view/219520</a:t>
            </a:r>
          </a:p>
          <a:p xmlns:a="http://schemas.openxmlformats.org/drawingml/2006/main">
            <a:r>
              <a:t>https://tvspb.ru/news/2016/09/27/novyij-sostav-parlamenta-kto-zajmet-kresla-v-zakonodatelnom-sobranii-vi-sozyiva</a:t>
            </a:r>
          </a:p>
          <a:p xmlns:a="http://schemas.openxmlformats.org/drawingml/2006/main">
            <a:r>
              <a:t>https://tass.ru/politika/20994233</a:t>
            </a:r>
          </a:p>
          <a:p xmlns:a="http://schemas.openxmlformats.org/drawingml/2006/main">
            <a:r>
              <a:t>https://www.zaks.ru/new/archive/view/265712</a:t>
            </a:r>
          </a:p>
          <a:p xmlns:a="http://schemas.openxmlformats.org/drawingml/2006/main">
            <a:r>
              <a:t>https://www.zaks.ru/new/archive/view/269374</a:t>
            </a:r>
          </a:p>
          <a:p xmlns:a="http://schemas.openxmlformats.org/drawingml/2006/main">
            <a:r>
              <a:t>https://www.dp.ru/a/2026/10/02/oksana-dmitrieva-proigrala</a:t>
            </a:r>
          </a:p>
          <a:p xmlns:a="http://schemas.openxmlformats.org/drawingml/2006/main">
            <a:r>
              <a:t>https://ru.wikipedia.org/wiki/%D0%9F%D0%B0%D1%80%D1%82%D0%B8%D1%8F_%D1%80%D0%BE%D1%81%D1%82%D0%B0</a:t>
            </a:r>
          </a:p>
          <a:p xmlns:a="http://schemas.openxmlformats.org/drawingml/2006/main">
            <a:r>
              <a:t>https://dmitrieva.org/category/gosduma/zakonoproekty/</a:t>
            </a:r>
          </a:p>
          <a:p xmlns:a="http://schemas.openxmlformats.org/drawingml/2006/main">
            <a:r>
              <a:t>https://t.me/s/oxdmitrieva?before=1072</a:t>
            </a:r>
          </a:p>
          <a:p xmlns:a="http://schemas.openxmlformats.org/drawingml/2006/main">
            <a:r>
              <a:t>http://api.duma.gov.ru/api/transcriptFull/2023-09-28</a:t>
            </a:r>
          </a:p>
          <a:p xmlns:a="http://schemas.openxmlformats.org/drawingml/2006/main">
            <a:r>
              <a:t>https://www.fontanka.ru/2026/09/04/76623983/</a:t>
            </a:r>
          </a:p>
          <a:p xmlns:a="http://schemas.openxmlformats.org/drawingml/2006/main">
            <a:r>
              <a:t>https://www.vedomosti.ru/politics/articles/2026/03/10/1181644-deputat-semi-sozivov-oksana-dmitrieva-snova-poidet-v-gosdumu</a:t>
            </a:r>
          </a:p>
          <a:p xmlns:a="http://schemas.openxmlformats.org/drawingml/2006/main">
            <a:r>
              <a:t>https://www.kommersant.ru/doc/8497588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</a:t>
            </a:r>
          </a:p>
          <a:p xmlns:a="http://schemas.openxmlformats.org/drawingml/2006/main">
            <a:r>
              <a:t>  {</a:t>
            </a:r>
          </a:p>
          <a:p xmlns:a="http://schemas.openxmlformats.org/drawingml/2006/main">
            <a:r>
              <a:t>    "id": "security-sovereignty",</a:t>
            </a:r>
          </a:p>
          <a:p xmlns:a="http://schemas.openxmlformats.org/drawingml/2006/main">
            <a:r>
              <a:t>    "name": "Суверенная самостоятельность — международная интеграция",</a:t>
            </a:r>
          </a:p>
          <a:p xmlns:a="http://schemas.openxmlformats.org/drawingml/2006/main">
            <a:r>
              <a:t>    "positive": "Суверенная самостоятельность и защита от внешнего влияния",</a:t>
            </a:r>
          </a:p>
          <a:p xmlns:a="http://schemas.openxmlformats.org/drawingml/2006/main">
            <a:r>
              <a:t>    "negative": "Международная интеграция и взаимозависимость",</a:t>
            </a:r>
          </a:p>
          <a:p xmlns:a="http://schemas.openxmlformats.org/drawingml/2006/main">
            <a:r>
              <a:t>    "definition": "Публичные аргументы о самостоятельности государства либо о выгодах участия в международных институтах и совместных правилах.",</a:t>
            </a:r>
          </a:p>
          <a:p xmlns:a="http://schemas.openxmlformats.org/drawingml/2006/main">
            <a:r>
              <a:t>    "domain": "Программные акценты",</a:t>
            </a:r>
          </a:p>
          <a:p xmlns:a="http://schemas.openxmlformats.org/drawingml/2006/main">
            <a:r>
              <a:t>    "aliases": [</a:t>
            </a:r>
          </a:p>
          <a:p xmlns:a="http://schemas.openxmlformats.org/drawingml/2006/main">
            <a:r>
              <a:t>      "Безопасность и суверенитет",</a:t>
            </a:r>
          </a:p>
          <a:p xmlns:a="http://schemas.openxmlformats.org/drawingml/2006/main">
            <a:r>
              <a:t>      "суверенитет",</a:t>
            </a:r>
          </a:p>
          <a:p xmlns:a="http://schemas.openxmlformats.org/drawingml/2006/main">
            <a:r>
              <a:t>      "безопасность",</a:t>
            </a:r>
          </a:p>
          <a:p xmlns:a="http://schemas.openxmlformats.org/drawingml/2006/main">
            <a:r>
              <a:t>      "антизападная риторика"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"source_scale_ids": [</a:t>
            </a:r>
          </a:p>
          <a:p xmlns:a="http://schemas.openxmlformats.org/drawingml/2006/main">
            <a:r>
              <a:t>      "security-sovereignty"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"source_object_ids": [</a:t>
            </a:r>
          </a:p>
          <a:p xmlns:a="http://schemas.openxmlformats.org/drawingml/2006/main">
            <a:r>
              <a:t>      "alexander-bortnikov",</a:t>
            </a:r>
          </a:p>
          <a:p xmlns:a="http://schemas.openxmlformats.org/drawingml/2006/main">
            <a:r>
              <a:t>      "dmitry-peskov",</a:t>
            </a:r>
          </a:p>
          <a:p xmlns:a="http://schemas.openxmlformats.org/drawingml/2006/main">
            <a:r>
              <a:t>      "nikolay-patrushev",</a:t>
            </a:r>
          </a:p>
          <a:p xmlns:a="http://schemas.openxmlformats.org/drawingml/2006/main">
            <a:r>
              <a:t>      "sergey-lavrov",</a:t>
            </a:r>
          </a:p>
          <a:p xmlns:a="http://schemas.openxmlformats.org/drawingml/2006/main">
            <a:r>
              <a:t>      "sergey-shoigu",</a:t>
            </a:r>
          </a:p>
          <a:p xmlns:a="http://schemas.openxmlformats.org/drawingml/2006/main">
            <a:r>
              <a:t>      "valentina-matviyenko",</a:t>
            </a:r>
          </a:p>
          <a:p xmlns:a="http://schemas.openxmlformats.org/drawingml/2006/main">
            <a:r>
              <a:t>      "vladimir-putin"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"descriptor_object_count": 7,</a:t>
            </a:r>
          </a:p>
          <a:p xmlns:a="http://schemas.openxmlformats.org/drawingml/2006/main">
            <a:r>
              <a:t>    "frequency_note": "Число объектов в исходном предложении словаря, а не оценка выраженности и не частота в репрезентативном корпусе.",</a:t>
            </a:r>
          </a:p>
          <a:p xmlns:a="http://schemas.openxmlformats.org/drawingml/2006/main">
            <a:r>
              <a:t>    "anchors": {</a:t>
            </a:r>
          </a:p>
          <a:p xmlns:a="http://schemas.openxmlformats.org/drawingml/2006/main">
            <a:r>
              <a:t>      "0": "Полюс не выражен при достаточном объёме относящихся к теме сведений",</a:t>
            </a:r>
          </a:p>
          <a:p xmlns:a="http://schemas.openxmlformats.org/drawingml/2006/main">
            <a:r>
              <a:t>      "1": "Единичное слабое проявление",</a:t>
            </a:r>
          </a:p>
          <a:p xmlns:a="http://schemas.openxmlformats.org/drawingml/2006/main">
            <a:r>
              <a:t>      "3": "Устойчиво заметный публичный акцент",</a:t>
            </a:r>
          </a:p>
          <a:p xmlns:a="http://schemas.openxmlformats.org/drawingml/2006/main">
            <a:r>
              <a:t>      "5": "Определяющий акцент публичного образа"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{</a:t>
            </a:r>
          </a:p>
          <a:p xmlns:a="http://schemas.openxmlformats.org/drawingml/2006/main">
            <a:r>
              <a:t>    "id": "historical-memory",</a:t>
            </a:r>
          </a:p>
          <a:p xmlns:a="http://schemas.openxmlformats.org/drawingml/2006/main">
            <a:r>
              <a:t>    "name": "Историческая преемственность — преобразование будущего",</a:t>
            </a:r>
          </a:p>
          <a:p xmlns:a="http://schemas.openxmlformats.org/drawingml/2006/main">
            <a:r>
              <a:t>    "positive": "Историческая преемственность и восстановление традиций",</a:t>
            </a:r>
          </a:p>
          <a:p xmlns:a="http://schemas.openxmlformats.org/drawingml/2006/main">
            <a:r>
              <a:t>    "negative": "Обновление и разрыв с устаревшим порядком",</a:t>
            </a:r>
          </a:p>
          <a:p xmlns:a="http://schemas.openxmlformats.org/drawingml/2006/main">
            <a:r>
              <a:t>    "definition": "Обоснование политики наследием и образцами прошлого либо необходимостью преобразовать существующий порядок ради нового будущего. Упоминание истории само по себе не равно традиционализму.",</a:t>
            </a:r>
          </a:p>
          <a:p xmlns:a="http://schemas.openxmlformats.org/drawingml/2006/main">
            <a:r>
              <a:t>    "domain": "Программные акценты",</a:t>
            </a:r>
          </a:p>
          <a:p xmlns:a="http://schemas.openxmlformats.org/drawingml/2006/main">
            <a:r>
              <a:t>    "aliases": [</a:t>
            </a:r>
          </a:p>
          <a:p xmlns:a="http://schemas.openxmlformats.org/drawingml/2006/main">
            <a:r>
              <a:t>      "Апелляция к исторической памяти",</a:t>
            </a:r>
          </a:p>
          <a:p xmlns:a="http://schemas.openxmlformats.org/drawingml/2006/main">
            <a:r>
              <a:t>      "историческая память",</a:t>
            </a:r>
          </a:p>
          <a:p xmlns:a="http://schemas.openxmlformats.org/drawingml/2006/main">
            <a:r>
              <a:t>      "героизация прошлого"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"source_scale_ids": [</a:t>
            </a:r>
          </a:p>
          <a:p xmlns:a="http://schemas.openxmlformats.org/drawingml/2006/main">
            <a:r>
              <a:t>      "historical-memory"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"source_object_ids": [</a:t>
            </a:r>
          </a:p>
          <a:p xmlns:a="http://schemas.openxmlformats.org/drawingml/2006/main">
            <a:r>
              <a:t>      "valentina-matviyenko",</a:t>
            </a:r>
          </a:p>
          <a:p xmlns:a="http://schemas.openxmlformats.org/drawingml/2006/main">
            <a:r>
              <a:t>      "vladimir-putin"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"descriptor_object_count": 2,</a:t>
            </a:r>
          </a:p>
          <a:p xmlns:a="http://schemas.openxmlformats.org/drawingml/2006/main">
            <a:r>
              <a:t>    "frequency_note": "Число объектов в исходном предложении словаря, а не оценка выраженности и не частота в репрезентативном корпусе.",</a:t>
            </a:r>
          </a:p>
          <a:p xmlns:a="http://schemas.openxmlformats.org/drawingml/2006/main">
            <a:r>
              <a:t>    "anchors": {</a:t>
            </a:r>
          </a:p>
          <a:p xmlns:a="http://schemas.openxmlformats.org/drawingml/2006/main">
            <a:r>
              <a:t>      "0": "Полюс не выражен при достаточном объёме относящихся к теме сведений",</a:t>
            </a:r>
          </a:p>
          <a:p xmlns:a="http://schemas.openxmlformats.org/drawingml/2006/main">
            <a:r>
              <a:t>      "1": "Единичное слабое проявление",</a:t>
            </a:r>
          </a:p>
          <a:p xmlns:a="http://schemas.openxmlformats.org/drawingml/2006/main">
            <a:r>
              <a:t>      "3": "Устойчиво заметный публичный акцент",</a:t>
            </a:r>
          </a:p>
          <a:p xmlns:a="http://schemas.openxmlformats.org/drawingml/2006/main">
            <a:r>
              <a:t>      "5": "Определяющий акцент публичного образа"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{</a:t>
            </a:r>
          </a:p>
          <a:p xmlns:a="http://schemas.openxmlformats.org/drawingml/2006/main">
            <a:r>
              <a:t>    "id": "technocratic-management",</a:t>
            </a:r>
          </a:p>
          <a:p xmlns:a="http://schemas.openxmlformats.org/drawingml/2006/main">
            <a:r>
              <a:t>    "name": "Практические результаты — идеологические принципы",</a:t>
            </a:r>
          </a:p>
          <a:p xmlns:a="http://schemas.openxmlformats.org/drawingml/2006/main">
            <a:r>
              <a:t>    "positive": "Измеримые результаты и управленческая эффективность",</a:t>
            </a:r>
          </a:p>
          <a:p xmlns:a="http://schemas.openxmlformats.org/drawingml/2006/main">
            <a:r>
              <a:t>    "negative": "Идеологические принципы и символические цели",</a:t>
            </a:r>
          </a:p>
          <a:p xmlns:a="http://schemas.openxmlformats.org/drawingml/2006/main">
            <a:r>
              <a:t>    "definition": "Чем публично обосновываются решения: показателями и решением конкретных задач либо верностью доктрине и символическим целям. Не оценка реальной компетентности.",</a:t>
            </a:r>
          </a:p>
          <a:p xmlns:a="http://schemas.openxmlformats.org/drawingml/2006/main">
            <a:r>
              <a:t>    "domain": "Публичная аргументация",</a:t>
            </a:r>
          </a:p>
          <a:p xmlns:a="http://schemas.openxmlformats.org/drawingml/2006/main">
            <a:r>
              <a:t>    "aliases": [</a:t>
            </a:r>
          </a:p>
          <a:p xmlns:a="http://schemas.openxmlformats.org/drawingml/2006/main">
            <a:r>
              <a:t>      "Технократичность и управленческая эффективность",</a:t>
            </a:r>
          </a:p>
          <a:p xmlns:a="http://schemas.openxmlformats.org/drawingml/2006/main">
            <a:r>
              <a:t>      "технократизм",</a:t>
            </a:r>
          </a:p>
          <a:p xmlns:a="http://schemas.openxmlformats.org/drawingml/2006/main">
            <a:r>
              <a:t>      "управленческая эффективность",</a:t>
            </a:r>
          </a:p>
          <a:p xmlns:a="http://schemas.openxmlformats.org/drawingml/2006/main">
            <a:r>
              <a:t>      "Административный прагматизм",</a:t>
            </a:r>
          </a:p>
          <a:p xmlns:a="http://schemas.openxmlformats.org/drawingml/2006/main">
            <a:r>
              <a:t>      "прагматизм",</a:t>
            </a:r>
          </a:p>
          <a:p xmlns:a="http://schemas.openxmlformats.org/drawingml/2006/main">
            <a:r>
              <a:t>      "управленческий стиль"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"source_scale_ids": [</a:t>
            </a:r>
          </a:p>
          <a:p xmlns:a="http://schemas.openxmlformats.org/drawingml/2006/main">
            <a:r>
              <a:t>      "technocratic-management",</a:t>
            </a:r>
          </a:p>
          <a:p xmlns:a="http://schemas.openxmlformats.org/drawingml/2006/main">
            <a:r>
              <a:t>      "administrative-pragmatism"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"source_object_ids": [</a:t>
            </a:r>
          </a:p>
          <a:p xmlns:a="http://schemas.openxmlformats.org/drawingml/2006/main">
            <a:r>
              <a:t>      "andrey-belousov",</a:t>
            </a:r>
          </a:p>
          <a:p xmlns:a="http://schemas.openxmlformats.org/drawingml/2006/main">
            <a:r>
              <a:t>      "anton-siluanov",</a:t>
            </a:r>
          </a:p>
          <a:p xmlns:a="http://schemas.openxmlformats.org/drawingml/2006/main">
            <a:r>
              <a:t>      "elvira-nabiullina",</a:t>
            </a:r>
          </a:p>
          <a:p xmlns:a="http://schemas.openxmlformats.org/drawingml/2006/main">
            <a:r>
              <a:t>      "mikhail-mishustin",</a:t>
            </a:r>
          </a:p>
          <a:p xmlns:a="http://schemas.openxmlformats.org/drawingml/2006/main">
            <a:r>
              <a:t>      "sardana-avksentyeva",</a:t>
            </a:r>
          </a:p>
          <a:p xmlns:a="http://schemas.openxmlformats.org/drawingml/2006/main">
            <a:r>
              <a:t>      "sergey-levchenko",</a:t>
            </a:r>
          </a:p>
          <a:p xmlns:a="http://schemas.openxmlformats.org/drawingml/2006/main">
            <a:r>
              <a:t>      "vadim-shumkov"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"descriptor_object_count": 7,</a:t>
            </a:r>
          </a:p>
          <a:p xmlns:a="http://schemas.openxmlformats.org/drawingml/2006/main">
            <a:r>
              <a:t>    "frequency_note": "Число объектов в исходном предложении словаря, а не оценка выраженности и не частота в репрезентативном корпусе.",</a:t>
            </a:r>
          </a:p>
          <a:p xmlns:a="http://schemas.openxmlformats.org/drawingml/2006/main">
            <a:r>
              <a:t>    "anchors": {</a:t>
            </a:r>
          </a:p>
          <a:p xmlns:a="http://schemas.openxmlformats.org/drawingml/2006/main">
            <a:r>
              <a:t>      "0": "Полюс не выражен при достаточном объёме относящихся к теме сведений",</a:t>
            </a:r>
          </a:p>
          <a:p xmlns:a="http://schemas.openxmlformats.org/drawingml/2006/main">
            <a:r>
              <a:t>      "1": "Единичное слабое проявление",</a:t>
            </a:r>
          </a:p>
          <a:p xmlns:a="http://schemas.openxmlformats.org/drawingml/2006/main">
            <a:r>
              <a:t>      "3": "Устойчиво заметный публичный акцент",</a:t>
            </a:r>
          </a:p>
          <a:p xmlns:a="http://schemas.openxmlformats.org/drawingml/2006/main">
            <a:r>
              <a:t>      "5": "Определяющий акцент публичного образа"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{</a:t>
            </a:r>
          </a:p>
          <a:p xmlns:a="http://schemas.openxmlformats.org/drawingml/2006/main">
            <a:r>
              <a:t>    "id": "parliamentary-institutional",</a:t>
            </a:r>
          </a:p>
          <a:p xmlns:a="http://schemas.openxmlformats.org/drawingml/2006/main">
            <a:r>
              <a:t>    "name": "Институциональная работа — протестное действие",</a:t>
            </a:r>
          </a:p>
          <a:p xmlns:a="http://schemas.openxmlformats.org/drawingml/2006/main">
            <a:r>
              <a:t>    "positive": "Изменения через действующие правовые и парламентские процедуры",</a:t>
            </a:r>
          </a:p>
          <a:p xmlns:a="http://schemas.openxmlformats.org/drawingml/2006/main">
            <a:r>
              <a:t>    "negative": "Изменения через внеинституциональное протестное давление",</a:t>
            </a:r>
          </a:p>
          <a:p xmlns:a="http://schemas.openxmlformats.org/drawingml/2006/main">
            <a:r>
              <a:t>    "definition": "Публично предлагаемая стратегия политического действия. Участие в парламенте как биографический факт не определяет оценку автоматически.",</a:t>
            </a:r>
          </a:p>
          <a:p xmlns:a="http://schemas.openxmlformats.org/drawingml/2006/main">
            <a:r>
              <a:t>    "domain": "Политическая стратегия",</a:t>
            </a:r>
          </a:p>
          <a:p xmlns:a="http://schemas.openxmlformats.org/drawingml/2006/main">
            <a:r>
              <a:t>    "aliases": [</a:t>
            </a:r>
          </a:p>
          <a:p xmlns:a="http://schemas.openxmlformats.org/drawingml/2006/main">
            <a:r>
              <a:t>      "Институциональная парламентская роль",</a:t>
            </a:r>
          </a:p>
          <a:p xmlns:a="http://schemas.openxmlformats.org/drawingml/2006/main">
            <a:r>
              <a:t>      "парламентская институциональность",</a:t>
            </a:r>
          </a:p>
          <a:p xmlns:a="http://schemas.openxmlformats.org/drawingml/2006/main">
            <a:r>
              <a:t>      "законодательная работа"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"source_scale_ids": [</a:t>
            </a:r>
          </a:p>
          <a:p xmlns:a="http://schemas.openxmlformats.org/drawingml/2006/main">
            <a:r>
              <a:t>      "parliamentary-institutional"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"source_object_ids": [</a:t>
            </a:r>
          </a:p>
          <a:p xmlns:a="http://schemas.openxmlformats.org/drawingml/2006/main">
            <a:r>
              <a:t>      "gennady-zyuganov",</a:t>
            </a:r>
          </a:p>
          <a:p xmlns:a="http://schemas.openxmlformats.org/drawingml/2006/main">
            <a:r>
              <a:t>      "leonid-slutsky",</a:t>
            </a:r>
          </a:p>
          <a:p xmlns:a="http://schemas.openxmlformats.org/drawingml/2006/main">
            <a:r>
              <a:t>      "sergey-mironov",</a:t>
            </a:r>
          </a:p>
          <a:p xmlns:a="http://schemas.openxmlformats.org/drawingml/2006/main">
            <a:r>
              <a:t>      "valentina-matviyenko",</a:t>
            </a:r>
          </a:p>
          <a:p xmlns:a="http://schemas.openxmlformats.org/drawingml/2006/main">
            <a:r>
              <a:t>      "vyacheslav-volodin"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"descriptor_object_count": 5,</a:t>
            </a:r>
          </a:p>
          <a:p xmlns:a="http://schemas.openxmlformats.org/drawingml/2006/main">
            <a:r>
              <a:t>    "frequency_note": "Число объектов в исходном предложении словаря, а не оценка выраженности и не частота в репрезентативном корпусе.",</a:t>
            </a:r>
          </a:p>
          <a:p xmlns:a="http://schemas.openxmlformats.org/drawingml/2006/main">
            <a:r>
              <a:t>    "anchors": {</a:t>
            </a:r>
          </a:p>
          <a:p xmlns:a="http://schemas.openxmlformats.org/drawingml/2006/main">
            <a:r>
              <a:t>      "0": "Полюс не выражен при достаточном объёме относящихся к теме сведений",</a:t>
            </a:r>
          </a:p>
          <a:p xmlns:a="http://schemas.openxmlformats.org/drawingml/2006/main">
            <a:r>
              <a:t>      "1": "Единичное слабое проявление",</a:t>
            </a:r>
          </a:p>
          <a:p xmlns:a="http://schemas.openxmlformats.org/drawingml/2006/main">
            <a:r>
              <a:t>      "3": "Устойчиво заметный публичный акцент",</a:t>
            </a:r>
          </a:p>
          <a:p xmlns:a="http://schemas.openxmlformats.org/drawingml/2006/main">
            <a:r>
              <a:t>      "5": "Определяющий акцент публичного образа"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{</a:t>
            </a:r>
          </a:p>
          <a:p xmlns:a="http://schemas.openxmlformats.org/drawingml/2006/main">
            <a:r>
              <a:t>    "id": "oppositionality",</a:t>
            </a:r>
          </a:p>
          <a:p xmlns:a="http://schemas.openxmlformats.org/drawingml/2006/main">
            <a:r>
              <a:t>    "name": "Критика действующей власти — поддержка её курса",</a:t>
            </a:r>
          </a:p>
          <a:p xmlns:a="http://schemas.openxmlformats.org/drawingml/2006/main">
            <a:r>
              <a:t>    "positive": "Публичная критика действующей федеральной власти",</a:t>
            </a:r>
          </a:p>
          <a:p xmlns:a="http://schemas.openxmlformats.org/drawingml/2006/main">
            <a:r>
              <a:t>    "negative": "Публичная поддержка курса действующей федеральной власти",</a:t>
            </a:r>
          </a:p>
          <a:p xmlns:a="http://schemas.openxmlformats.org/drawingml/2006/main">
            <a:r>
              <a:t>    "definition": "Явные заявления о политическом курсе и персональной ответственности федерального руководства в рассматриваемый период. Критика отдельных исполнителей не тождественна оппозиции курсу.",</a:t>
            </a:r>
          </a:p>
          <a:p xmlns:a="http://schemas.openxmlformats.org/drawingml/2006/main">
            <a:r>
              <a:t>    "domain": "Политическая стратегия",</a:t>
            </a:r>
          </a:p>
          <a:p xmlns:a="http://schemas.openxmlformats.org/drawingml/2006/main">
            <a:r>
              <a:t>    "aliases": [</a:t>
            </a:r>
          </a:p>
          <a:p xmlns:a="http://schemas.openxmlformats.org/drawingml/2006/main">
            <a:r>
              <a:t>      "Оппозиционность и критика власти",</a:t>
            </a:r>
          </a:p>
          <a:p xmlns:a="http://schemas.openxmlformats.org/drawingml/2006/main">
            <a:r>
              <a:t>      "оппозиционность",</a:t>
            </a:r>
          </a:p>
          <a:p xmlns:a="http://schemas.openxmlformats.org/drawingml/2006/main">
            <a:r>
              <a:t>      "критика власти"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"source_scale_ids": [</a:t>
            </a:r>
          </a:p>
          <a:p xmlns:a="http://schemas.openxmlformats.org/drawingml/2006/main">
            <a:r>
              <a:t>      "oppositionality"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"source_object_ids": [</a:t>
            </a:r>
          </a:p>
          <a:p xmlns:a="http://schemas.openxmlformats.org/drawingml/2006/main">
            <a:r>
              <a:t>      "alexey-navalny",</a:t>
            </a:r>
          </a:p>
          <a:p xmlns:a="http://schemas.openxmlformats.org/drawingml/2006/main">
            <a:r>
              <a:t>      "boris-vishnevsky",</a:t>
            </a:r>
          </a:p>
          <a:p xmlns:a="http://schemas.openxmlformats.org/drawingml/2006/main">
            <a:r>
              <a:t>      "dmitry-gudkov",</a:t>
            </a:r>
          </a:p>
          <a:p xmlns:a="http://schemas.openxmlformats.org/drawingml/2006/main">
            <a:r>
              <a:t>      "garry-kasparov",</a:t>
            </a:r>
          </a:p>
          <a:p xmlns:a="http://schemas.openxmlformats.org/drawingml/2006/main">
            <a:r>
              <a:t>      "gennady-gudkov",</a:t>
            </a:r>
          </a:p>
          <a:p xmlns:a="http://schemas.openxmlformats.org/drawingml/2006/main">
            <a:r>
              <a:t>      "grigory-yavlinsky",</a:t>
            </a:r>
          </a:p>
          <a:p xmlns:a="http://schemas.openxmlformats.org/drawingml/2006/main">
            <a:r>
              <a:t>      "ilya-yashin",</a:t>
            </a:r>
          </a:p>
          <a:p xmlns:a="http://schemas.openxmlformats.org/drawingml/2006/main">
            <a:r>
              <a:t>      "lev-shlosberg",</a:t>
            </a:r>
          </a:p>
          <a:p xmlns:a="http://schemas.openxmlformats.org/drawingml/2006/main">
            <a:r>
              <a:t>      "lyubov-sobol",</a:t>
            </a:r>
          </a:p>
          <a:p xmlns:a="http://schemas.openxmlformats.org/drawingml/2006/main">
            <a:r>
              <a:t>      "mikhail-khodorkovsky",</a:t>
            </a:r>
          </a:p>
          <a:p xmlns:a="http://schemas.openxmlformats.org/drawingml/2006/main">
            <a:r>
              <a:t>      "vladimir-kara-murza",</a:t>
            </a:r>
          </a:p>
          <a:p xmlns:a="http://schemas.openxmlformats.org/drawingml/2006/main">
            <a:r>
              <a:t>      "vladimir-milov"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"descriptor_object_count": 12,</a:t>
            </a:r>
          </a:p>
          <a:p xmlns:a="http://schemas.openxmlformats.org/drawingml/2006/main">
            <a:r>
              <a:t>    "frequency_note": "Число объектов в исходном предложении словаря, а не оценка выраженности и не частота в репрезентативном корпусе.",</a:t>
            </a:r>
          </a:p>
          <a:p xmlns:a="http://schemas.openxmlformats.org/drawingml/2006/main">
            <a:r>
              <a:t>    "anchors": {</a:t>
            </a:r>
          </a:p>
          <a:p xmlns:a="http://schemas.openxmlformats.org/drawingml/2006/main">
            <a:r>
              <a:t>      "0": "Полюс не выражен при достаточном объёме относящихся к теме сведений",</a:t>
            </a:r>
          </a:p>
          <a:p xmlns:a="http://schemas.openxmlformats.org/drawingml/2006/main">
            <a:r>
              <a:t>      "1": "Единичное слабое проявление",</a:t>
            </a:r>
          </a:p>
          <a:p xmlns:a="http://schemas.openxmlformats.org/drawingml/2006/main">
            <a:r>
              <a:t>      "3": "Устойчиво заметный публичный акцент",</a:t>
            </a:r>
          </a:p>
          <a:p xmlns:a="http://schemas.openxmlformats.org/drawingml/2006/main">
            <a:r>
              <a:t>      "5": "Определяющий акцент публичного образа"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{</a:t>
            </a:r>
          </a:p>
          <a:p xmlns:a="http://schemas.openxmlformats.org/drawingml/2006/main">
            <a:r>
              <a:t>    "id": "social-policy",</a:t>
            </a:r>
          </a:p>
          <a:p xmlns:a="http://schemas.openxmlformats.org/drawingml/2006/main">
            <a:r>
              <a:t>    "name": "Социальное перераспределение — личная экономическая ответственность",</a:t>
            </a:r>
          </a:p>
          <a:p xmlns:a="http://schemas.openxmlformats.org/drawingml/2006/main">
            <a:r>
              <a:t>    "positive": "Государственные социальные гарантии и перераспределение",</a:t>
            </a:r>
          </a:p>
          <a:p xmlns:a="http://schemas.openxmlformats.org/drawingml/2006/main">
            <a:r>
              <a:t>    "negative": "Личная ответственность и частные механизмы социальной поддержки",</a:t>
            </a:r>
          </a:p>
          <a:p xmlns:a="http://schemas.openxmlformats.org/drawingml/2006/main">
            <a:r>
              <a:t>    "definition": "Предлагаемый способ решения социальных проблем: расширение государственных гарантий либо преимущественно личная, семейная и частная инициатива. Оба полюса требуют явных позиций.",</a:t>
            </a:r>
          </a:p>
          <a:p xmlns:a="http://schemas.openxmlformats.org/drawingml/2006/main">
            <a:r>
              <a:t>    "domain": "Программные акценты",</a:t>
            </a:r>
          </a:p>
          <a:p xmlns:a="http://schemas.openxmlformats.org/drawingml/2006/main">
            <a:r>
              <a:t>    "aliases": [</a:t>
            </a:r>
          </a:p>
          <a:p xmlns:a="http://schemas.openxmlformats.org/drawingml/2006/main">
            <a:r>
              <a:t>      "Социальная политика и защита",</a:t>
            </a:r>
          </a:p>
          <a:p xmlns:a="http://schemas.openxmlformats.org/drawingml/2006/main">
            <a:r>
              <a:t>      "социальная политика",</a:t>
            </a:r>
          </a:p>
          <a:p xmlns:a="http://schemas.openxmlformats.org/drawingml/2006/main">
            <a:r>
              <a:t>      "социальная защита"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"source_scale_ids": [</a:t>
            </a:r>
          </a:p>
          <a:p xmlns:a="http://schemas.openxmlformats.org/drawingml/2006/main">
            <a:r>
              <a:t>      "social-policy"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"source_object_ids": [</a:t>
            </a:r>
          </a:p>
          <a:p xmlns:a="http://schemas.openxmlformats.org/drawingml/2006/main">
            <a:r>
              <a:t>      "elena-mizulina",</a:t>
            </a:r>
          </a:p>
          <a:p xmlns:a="http://schemas.openxmlformats.org/drawingml/2006/main">
            <a:r>
              <a:t>      "nina-ostanina",</a:t>
            </a:r>
          </a:p>
          <a:p xmlns:a="http://schemas.openxmlformats.org/drawingml/2006/main">
            <a:r>
              <a:t>      "tatyana-golikova",</a:t>
            </a:r>
          </a:p>
          <a:p xmlns:a="http://schemas.openxmlformats.org/drawingml/2006/main">
            <a:r>
              <a:t>      "vitaly-milonov"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"descriptor_object_count": 4,</a:t>
            </a:r>
          </a:p>
          <a:p xmlns:a="http://schemas.openxmlformats.org/drawingml/2006/main">
            <a:r>
              <a:t>    "frequency_note": "Число объектов в исходном предложении словаря, а не оценка выраженности и не частота в репрезентативном корпусе.",</a:t>
            </a:r>
          </a:p>
          <a:p xmlns:a="http://schemas.openxmlformats.org/drawingml/2006/main">
            <a:r>
              <a:t>    "anchors": {</a:t>
            </a:r>
          </a:p>
          <a:p xmlns:a="http://schemas.openxmlformats.org/drawingml/2006/main">
            <a:r>
              <a:t>      "0": "Полюс не выражен при достаточном объёме относящихся к теме сведений",</a:t>
            </a:r>
          </a:p>
          <a:p xmlns:a="http://schemas.openxmlformats.org/drawingml/2006/main">
            <a:r>
              <a:t>      "1": "Единичное слабое проявление",</a:t>
            </a:r>
          </a:p>
          <a:p xmlns:a="http://schemas.openxmlformats.org/drawingml/2006/main">
            <a:r>
              <a:t>      "3": "Устойчиво заметный публичный акцент",</a:t>
            </a:r>
          </a:p>
          <a:p xmlns:a="http://schemas.openxmlformats.org/drawingml/2006/main">
            <a:r>
              <a:t>      "5": "Определяющий акцент публичного образа"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{</a:t>
            </a:r>
          </a:p>
          <a:p xmlns:a="http://schemas.openxmlformats.org/drawingml/2006/main">
            <a:r>
              <a:t>    "id": "federal-loyalty",</a:t>
            </a:r>
          </a:p>
          <a:p xmlns:a="http://schemas.openxmlformats.org/drawingml/2006/main">
            <a:r>
              <a:t>    "name": "Централизация — децентрализация",</a:t>
            </a:r>
          </a:p>
          <a:p xmlns:a="http://schemas.openxmlformats.org/drawingml/2006/main">
            <a:r>
              <a:t>    "positive": "Единая вертикаль и концентрация полномочий в центре",</a:t>
            </a:r>
          </a:p>
          <a:p xmlns:a="http://schemas.openxmlformats.org/drawingml/2006/main">
            <a:r>
              <a:t>    "negative": "Региональная и муниципальная автономия, распределение полномочий",</a:t>
            </a:r>
          </a:p>
          <a:p xmlns:a="http://schemas.openxmlformats.org/drawingml/2006/main">
            <a:r>
              <a:t>    "definition": "Публичные предложения о распределении власти, бюджетов и самостоятельности территорий. Региональная должность и лояльность конкретному лицу не заменяют программную позицию.",</a:t>
            </a:r>
          </a:p>
          <a:p xmlns:a="http://schemas.openxmlformats.org/drawingml/2006/main">
            <a:r>
              <a:t>    "domain": "Программные акценты",</a:t>
            </a:r>
          </a:p>
          <a:p xmlns:a="http://schemas.openxmlformats.org/drawingml/2006/main">
            <a:r>
              <a:t>    "aliases": [</a:t>
            </a:r>
          </a:p>
          <a:p xmlns:a="http://schemas.openxmlformats.org/drawingml/2006/main">
            <a:r>
              <a:t>      "Лояльность федеральному центру",</a:t>
            </a:r>
          </a:p>
          <a:p xmlns:a="http://schemas.openxmlformats.org/drawingml/2006/main">
            <a:r>
              <a:t>      "лояльность центру",</a:t>
            </a:r>
          </a:p>
          <a:p xmlns:a="http://schemas.openxmlformats.org/drawingml/2006/main">
            <a:r>
              <a:t>      "федеральная вертикаль",</a:t>
            </a:r>
          </a:p>
          <a:p xmlns:a="http://schemas.openxmlformats.org/drawingml/2006/main">
            <a:r>
              <a:t>      "Региональная идентичность и локальная повестка",</a:t>
            </a:r>
          </a:p>
          <a:p xmlns:a="http://schemas.openxmlformats.org/drawingml/2006/main">
            <a:r>
              <a:t>      "региональная идентичность",</a:t>
            </a:r>
          </a:p>
          <a:p xmlns:a="http://schemas.openxmlformats.org/drawingml/2006/main">
            <a:r>
              <a:t>      "локальная повестка"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"source_scale_ids": [</a:t>
            </a:r>
          </a:p>
          <a:p xmlns:a="http://schemas.openxmlformats.org/drawingml/2006/main">
            <a:r>
              <a:t>      "federal-loyalty",</a:t>
            </a:r>
          </a:p>
          <a:p xmlns:a="http://schemas.openxmlformats.org/drawingml/2006/main">
            <a:r>
              <a:t>      "regional-identity"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"source_object_ids": [</a:t>
            </a:r>
          </a:p>
          <a:p xmlns:a="http://schemas.openxmlformats.org/drawingml/2006/main">
            <a:r>
              <a:t>      "alexander-beglov",</a:t>
            </a:r>
          </a:p>
          <a:p xmlns:a="http://schemas.openxmlformats.org/drawingml/2006/main">
            <a:r>
              <a:t>      "andrey-chibis",</a:t>
            </a:r>
          </a:p>
          <a:p xmlns:a="http://schemas.openxmlformats.org/drawingml/2006/main">
            <a:r>
              <a:t>      "mikhail-razvozhayev",</a:t>
            </a:r>
          </a:p>
          <a:p xmlns:a="http://schemas.openxmlformats.org/drawingml/2006/main">
            <a:r>
              <a:t>      "ramzan-kadyrov",</a:t>
            </a:r>
          </a:p>
          <a:p xmlns:a="http://schemas.openxmlformats.org/drawingml/2006/main">
            <a:r>
              <a:t>      "rustam-minnikhanov",</a:t>
            </a:r>
          </a:p>
          <a:p xmlns:a="http://schemas.openxmlformats.org/drawingml/2006/main">
            <a:r>
              <a:t>      "sardana-avksentyeva",</a:t>
            </a:r>
          </a:p>
          <a:p xmlns:a="http://schemas.openxmlformats.org/drawingml/2006/main">
            <a:r>
              <a:t>      "sergey-aksyonov",</a:t>
            </a:r>
          </a:p>
          <a:p xmlns:a="http://schemas.openxmlformats.org/drawingml/2006/main">
            <a:r>
              <a:t>      "sergey-sobyanin",</a:t>
            </a:r>
          </a:p>
          <a:p xmlns:a="http://schemas.openxmlformats.org/drawingml/2006/main">
            <a:r>
              <a:t>      "vyacheslav-gladkov"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"descriptor_object_count": 9,</a:t>
            </a:r>
          </a:p>
          <a:p xmlns:a="http://schemas.openxmlformats.org/drawingml/2006/main">
            <a:r>
              <a:t>    "frequency_note": "Число объектов в исходном предложении словаря, а не оценка выраженности и не частота в репрезентативном корпусе.",</a:t>
            </a:r>
          </a:p>
          <a:p xmlns:a="http://schemas.openxmlformats.org/drawingml/2006/main">
            <a:r>
              <a:t>    "anchors": {</a:t>
            </a:r>
          </a:p>
          <a:p xmlns:a="http://schemas.openxmlformats.org/drawingml/2006/main">
            <a:r>
              <a:t>      "0": "Полюс не выражен при достаточном объёме относящихся к теме сведений",</a:t>
            </a:r>
          </a:p>
          <a:p xmlns:a="http://schemas.openxmlformats.org/drawingml/2006/main">
            <a:r>
              <a:t>      "1": "Единичное слабое проявление",</a:t>
            </a:r>
          </a:p>
          <a:p xmlns:a="http://schemas.openxmlformats.org/drawingml/2006/main">
            <a:r>
              <a:t>      "3": "Устойчиво заметный публичный акцент",</a:t>
            </a:r>
          </a:p>
          <a:p xmlns:a="http://schemas.openxmlformats.org/drawingml/2006/main">
            <a:r>
              <a:t>      "5": "Определяющий акцент публичного образа"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{</a:t>
            </a:r>
          </a:p>
          <a:p xmlns:a="http://schemas.openxmlformats.org/drawingml/2006/main">
            <a:r>
              <a:t>    "id": "mobilization-rhetoric",</a:t>
            </a:r>
          </a:p>
          <a:p xmlns:a="http://schemas.openxmlformats.org/drawingml/2006/main">
            <a:r>
              <a:t>    "name": "Мобилизационный призыв — обсуждение и убеждение",</a:t>
            </a:r>
          </a:p>
          <a:p xmlns:a="http://schemas.openxmlformats.org/drawingml/2006/main">
            <a:r>
              <a:t>    "positive": "Призывы к единению, дисциплине и чрезвычайной мобилизации",</a:t>
            </a:r>
          </a:p>
          <a:p xmlns:a="http://schemas.openxmlformats.org/drawingml/2006/main">
            <a:r>
              <a:t>    "negative": "Призывы к открытому обсуждению, сомнению и убеждению",</a:t>
            </a:r>
          </a:p>
          <a:p xmlns:a="http://schemas.openxmlformats.org/drawingml/2006/main">
            <a:r>
              <a:t>    "definition": "Способ вовлечения аудитории: сплочение вокруг общего вызова либо обсуждение альтернатив. Не оценка поддержки войны и не оценка эмоциональности личности.",</a:t>
            </a:r>
          </a:p>
          <a:p xmlns:a="http://schemas.openxmlformats.org/drawingml/2006/main">
            <a:r>
              <a:t>    "domain": "Публичная аргументация",</a:t>
            </a:r>
          </a:p>
          <a:p xmlns:a="http://schemas.openxmlformats.org/drawingml/2006/main">
            <a:r>
              <a:t>    "aliases": [</a:t>
            </a:r>
          </a:p>
          <a:p xmlns:a="http://schemas.openxmlformats.org/drawingml/2006/main">
            <a:r>
              <a:t>      "Мобилизационная риторика",</a:t>
            </a:r>
          </a:p>
          <a:p xmlns:a="http://schemas.openxmlformats.org/drawingml/2006/main">
            <a:r>
              <a:t>      "мобилизация",</a:t>
            </a:r>
          </a:p>
          <a:p xmlns:a="http://schemas.openxmlformats.org/drawingml/2006/main">
            <a:r>
              <a:t>      "патриотическая риторика"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"source_scale_ids": [</a:t>
            </a:r>
          </a:p>
          <a:p xmlns:a="http://schemas.openxmlformats.org/drawingml/2006/main">
            <a:r>
              <a:t>      "mobilization-rhetoric"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"source_object_ids": [</a:t>
            </a:r>
          </a:p>
          <a:p xmlns:a="http://schemas.openxmlformats.org/drawingml/2006/main">
            <a:r>
              <a:t>      "ramzan-kadyrov",</a:t>
            </a:r>
          </a:p>
          <a:p xmlns:a="http://schemas.openxmlformats.org/drawingml/2006/main">
            <a:r>
              <a:t>      "sergey-shoigu",</a:t>
            </a:r>
          </a:p>
          <a:p xmlns:a="http://schemas.openxmlformats.org/drawingml/2006/main">
            <a:r>
              <a:t>      "vladimir-putin",</a:t>
            </a:r>
          </a:p>
          <a:p xmlns:a="http://schemas.openxmlformats.org/drawingml/2006/main">
            <a:r>
              <a:t>      "zakhar-prilepin"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"descriptor_object_count": 4,</a:t>
            </a:r>
          </a:p>
          <a:p xmlns:a="http://schemas.openxmlformats.org/drawingml/2006/main">
            <a:r>
              <a:t>    "frequency_note": "Число объектов в исходном предложении словаря, а не оценка выраженности и не частота в репрезентативном корпусе.",</a:t>
            </a:r>
          </a:p>
          <a:p xmlns:a="http://schemas.openxmlformats.org/drawingml/2006/main">
            <a:r>
              <a:t>    "anchors": {</a:t>
            </a:r>
          </a:p>
          <a:p xmlns:a="http://schemas.openxmlformats.org/drawingml/2006/main">
            <a:r>
              <a:t>      "0": "Полюс не выражен при достаточном объёме относящихся к теме сведений",</a:t>
            </a:r>
          </a:p>
          <a:p xmlns:a="http://schemas.openxmlformats.org/drawingml/2006/main">
            <a:r>
              <a:t>      "1": "Единичное слабое проявление",</a:t>
            </a:r>
          </a:p>
          <a:p xmlns:a="http://schemas.openxmlformats.org/drawingml/2006/main">
            <a:r>
              <a:t>      "3": "Устойчиво заметный публичный акцент",</a:t>
            </a:r>
          </a:p>
          <a:p xmlns:a="http://schemas.openxmlformats.org/drawingml/2006/main">
            <a:r>
              <a:t>      "5": "Определяющий акцент публичного образа"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{</a:t>
            </a:r>
          </a:p>
          <a:p xmlns:a="http://schemas.openxmlformats.org/drawingml/2006/main">
            <a:r>
              <a:t>    "id": "conflictuality",</a:t>
            </a:r>
          </a:p>
          <a:p xmlns:a="http://schemas.openxmlformats.org/drawingml/2006/main">
            <a:r>
              <a:t>    "name": "Конфронтация — компромисс",</a:t>
            </a:r>
          </a:p>
          <a:p xmlns:a="http://schemas.openxmlformats.org/drawingml/2006/main">
            <a:r>
              <a:t>    "positive": "Конфронтационная полемика и жёсткое противопоставление оппонентам",</a:t>
            </a:r>
          </a:p>
          <a:p xmlns:a="http://schemas.openxmlformats.org/drawingml/2006/main">
            <a:r>
              <a:t>    "negative": "Компромиссная и согласительная риторика",</a:t>
            </a:r>
          </a:p>
          <a:p xmlns:a="http://schemas.openxmlformats.org/drawingml/2006/main">
            <a:r>
              <a:t>    "definition": "Наблюдаемые способы публичного обращения с политическими разногласиями. Оценивать высказывания и стратегии, без выводов о характере человека.",</a:t>
            </a:r>
          </a:p>
          <a:p xmlns:a="http://schemas.openxmlformats.org/drawingml/2006/main">
            <a:r>
              <a:t>    "domain": "Публичная аргументация",</a:t>
            </a:r>
          </a:p>
          <a:p xmlns:a="http://schemas.openxmlformats.org/drawingml/2006/main">
            <a:r>
              <a:t>    "aliases": [</a:t>
            </a:r>
          </a:p>
          <a:p xmlns:a="http://schemas.openxmlformats.org/drawingml/2006/main">
            <a:r>
              <a:t>      "Конфликтность и полемичность",</a:t>
            </a:r>
          </a:p>
          <a:p xmlns:a="http://schemas.openxmlformats.org/drawingml/2006/main">
            <a:r>
              <a:t>      "конфликтность",</a:t>
            </a:r>
          </a:p>
          <a:p xmlns:a="http://schemas.openxmlformats.org/drawingml/2006/main">
            <a:r>
              <a:t>      "полемичность"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"source_scale_ids": [</a:t>
            </a:r>
          </a:p>
          <a:p xmlns:a="http://schemas.openxmlformats.org/drawingml/2006/main">
            <a:r>
              <a:t>      "conflictuality"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"source_object_ids": [</a:t>
            </a:r>
          </a:p>
          <a:p xmlns:a="http://schemas.openxmlformats.org/drawingml/2006/main">
            <a:r>
              <a:t>      "igor-strelkov",</a:t>
            </a:r>
          </a:p>
          <a:p xmlns:a="http://schemas.openxmlformats.org/drawingml/2006/main">
            <a:r>
              <a:t>      "leonid-slutsky",</a:t>
            </a:r>
          </a:p>
          <a:p xmlns:a="http://schemas.openxmlformats.org/drawingml/2006/main">
            <a:r>
              <a:t>      "vladimir-zhirinovsky",</a:t>
            </a:r>
          </a:p>
          <a:p xmlns:a="http://schemas.openxmlformats.org/drawingml/2006/main">
            <a:r>
              <a:t>      "yevgeny-prigozhin"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"descriptor_object_count": 4,</a:t>
            </a:r>
          </a:p>
          <a:p xmlns:a="http://schemas.openxmlformats.org/drawingml/2006/main">
            <a:r>
              <a:t>    "frequency_note": "Число объектов в исходном предложении словаря, а не оценка выраженности и не частота в репрезентативном корпусе.",</a:t>
            </a:r>
          </a:p>
          <a:p xmlns:a="http://schemas.openxmlformats.org/drawingml/2006/main">
            <a:r>
              <a:t>    "anchors": {</a:t>
            </a:r>
          </a:p>
          <a:p xmlns:a="http://schemas.openxmlformats.org/drawingml/2006/main">
            <a:r>
              <a:t>      "0": "Полюс не выражен при достаточном объёме относящихся к теме сведений",</a:t>
            </a:r>
          </a:p>
          <a:p xmlns:a="http://schemas.openxmlformats.org/drawingml/2006/main">
            <a:r>
              <a:t>      "1": "Единичное слабое проявление",</a:t>
            </a:r>
          </a:p>
          <a:p xmlns:a="http://schemas.openxmlformats.org/drawingml/2006/main">
            <a:r>
              <a:t>      "3": "Устойчиво заметный публичный акцент",</a:t>
            </a:r>
          </a:p>
          <a:p xmlns:a="http://schemas.openxmlformats.org/drawingml/2006/main">
            <a:r>
              <a:t>      "5": "Определяющий акцент публичного образа"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{</a:t>
            </a:r>
          </a:p>
          <a:p xmlns:a="http://schemas.openxmlformats.org/drawingml/2006/main">
            <a:r>
              <a:t>    "id": "media-personalization",</a:t>
            </a:r>
          </a:p>
          <a:p xmlns:a="http://schemas.openxmlformats.org/drawingml/2006/main">
            <a:r>
              <a:t>    "name": "Персональный бренд — коллективный институт",</a:t>
            </a:r>
          </a:p>
          <a:p xmlns:a="http://schemas.openxmlformats.org/drawingml/2006/main">
            <a:r>
              <a:t>    "positive": "Личный бренд и обращение от собственного имени",</a:t>
            </a:r>
          </a:p>
          <a:p xmlns:a="http://schemas.openxmlformats.org/drawingml/2006/main">
            <a:r>
              <a:t>    "negative": "Коллективное представительство и институциональное авторство",</a:t>
            </a:r>
          </a:p>
          <a:p xmlns:a="http://schemas.openxmlformats.org/drawingml/2006/main">
            <a:r>
              <a:t>    "definition": "Кто представлен субъектом публичного действия: конкретный лидер либо команда, организация и процедура. Наличие соцсетей или должности само по себе не задаёт полюс.",</a:t>
            </a:r>
          </a:p>
          <a:p xmlns:a="http://schemas.openxmlformats.org/drawingml/2006/main">
            <a:r>
              <a:t>    "domain": "Политическая стратегия",</a:t>
            </a:r>
          </a:p>
          <a:p xmlns:a="http://schemas.openxmlformats.org/drawingml/2006/main">
            <a:r>
              <a:t>    "aliases": [</a:t>
            </a:r>
          </a:p>
          <a:p xmlns:a="http://schemas.openxmlformats.org/drawingml/2006/main">
            <a:r>
              <a:t>      "Медийная и персонализированная публичность",</a:t>
            </a:r>
          </a:p>
          <a:p xmlns:a="http://schemas.openxmlformats.org/drawingml/2006/main">
            <a:r>
              <a:t>      "медийность",</a:t>
            </a:r>
          </a:p>
          <a:p xmlns:a="http://schemas.openxmlformats.org/drawingml/2006/main">
            <a:r>
              <a:t>      "персонализация"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"source_scale_ids": [</a:t>
            </a:r>
          </a:p>
          <a:p xmlns:a="http://schemas.openxmlformats.org/drawingml/2006/main">
            <a:r>
              <a:t>      "media-personalization"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"source_object_ids": [</a:t>
            </a:r>
          </a:p>
          <a:p xmlns:a="http://schemas.openxmlformats.org/drawingml/2006/main">
            <a:r>
              <a:t>      "alexey-navalny",</a:t>
            </a:r>
          </a:p>
          <a:p xmlns:a="http://schemas.openxmlformats.org/drawingml/2006/main">
            <a:r>
              <a:t>      "ksenia-sobchak",</a:t>
            </a:r>
          </a:p>
          <a:p xmlns:a="http://schemas.openxmlformats.org/drawingml/2006/main">
            <a:r>
              <a:t>      "ramzan-kadyrov",</a:t>
            </a:r>
          </a:p>
          <a:p xmlns:a="http://schemas.openxmlformats.org/drawingml/2006/main">
            <a:r>
              <a:t>      "yevgeny-prigozhin"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"descriptor_object_count": 4,</a:t>
            </a:r>
          </a:p>
          <a:p xmlns:a="http://schemas.openxmlformats.org/drawingml/2006/main">
            <a:r>
              <a:t>    "frequency_note": "Число объектов в исходном предложении словаря, а не оценка выраженности и не частота в репрезентативном корпусе.",</a:t>
            </a:r>
          </a:p>
          <a:p xmlns:a="http://schemas.openxmlformats.org/drawingml/2006/main">
            <a:r>
              <a:t>    "anchors": {</a:t>
            </a:r>
          </a:p>
          <a:p xmlns:a="http://schemas.openxmlformats.org/drawingml/2006/main">
            <a:r>
              <a:t>      "0": "Полюс не выражен при достаточном объёме относящихся к теме сведений",</a:t>
            </a:r>
          </a:p>
          <a:p xmlns:a="http://schemas.openxmlformats.org/drawingml/2006/main">
            <a:r>
              <a:t>      "1": "Единичное слабое проявление",</a:t>
            </a:r>
          </a:p>
          <a:p xmlns:a="http://schemas.openxmlformats.org/drawingml/2006/main">
            <a:r>
              <a:t>      "3": "Устойчиво заметный публичный акцент",</a:t>
            </a:r>
          </a:p>
          <a:p xmlns:a="http://schemas.openxmlformats.org/drawingml/2006/main">
            <a:r>
              <a:t>      "5": "Определяющий акцент публичного образа"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{</a:t>
            </a:r>
          </a:p>
          <a:p xmlns:a="http://schemas.openxmlformats.org/drawingml/2006/main">
            <a:r>
              <a:t>    "id": "antiwesternism",</a:t>
            </a:r>
          </a:p>
          <a:p xmlns:a="http://schemas.openxmlformats.org/drawingml/2006/main">
            <a:r>
              <a:t>    "name": "Противостояние Западу — сближение с Западом",</a:t>
            </a:r>
          </a:p>
          <a:p xmlns:a="http://schemas.openxmlformats.org/drawingml/2006/main">
            <a:r>
              <a:t>    "positive": "Противостояние западным государствам и институтам",</a:t>
            </a:r>
          </a:p>
          <a:p xmlns:a="http://schemas.openxmlformats.org/drawingml/2006/main">
            <a:r>
              <a:t>    "negative": "Сотрудничество и политическое сближение с западными государствами",</a:t>
            </a:r>
          </a:p>
          <a:p xmlns:a="http://schemas.openxmlformats.org/drawingml/2006/main">
            <a:r>
              <a:t>    "definition": "Явные позиции по отношениям с западными странами в указанный период. Молчание по теме не означает сотрудничества; критика отдельного решения не равна общему антагонизму.",</a:t>
            </a:r>
          </a:p>
          <a:p xmlns:a="http://schemas.openxmlformats.org/drawingml/2006/main">
            <a:r>
              <a:t>    "domain": "Программные акценты",</a:t>
            </a:r>
          </a:p>
          <a:p xmlns:a="http://schemas.openxmlformats.org/drawingml/2006/main">
            <a:r>
              <a:t>    "aliases": [</a:t>
            </a:r>
          </a:p>
          <a:p xmlns:a="http://schemas.openxmlformats.org/drawingml/2006/main">
            <a:r>
              <a:t>      "Антизападная риторика",</a:t>
            </a:r>
          </a:p>
          <a:p xmlns:a="http://schemas.openxmlformats.org/drawingml/2006/main">
            <a:r>
              <a:t>      "антизападность",</a:t>
            </a:r>
          </a:p>
          <a:p xmlns:a="http://schemas.openxmlformats.org/drawingml/2006/main">
            <a:r>
              <a:t>      "критика Запада"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"source_scale_ids": [</a:t>
            </a:r>
          </a:p>
          <a:p xmlns:a="http://schemas.openxmlformats.org/drawingml/2006/main">
            <a:r>
              <a:t>      "antiwesternism"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"source_object_ids": [</a:t>
            </a:r>
          </a:p>
          <a:p xmlns:a="http://schemas.openxmlformats.org/drawingml/2006/main">
            <a:r>
              <a:t>      "nikolay-patrushev",</a:t>
            </a:r>
          </a:p>
          <a:p xmlns:a="http://schemas.openxmlformats.org/drawingml/2006/main">
            <a:r>
              <a:t>      "sergey-lavrov",</a:t>
            </a:r>
          </a:p>
          <a:p xmlns:a="http://schemas.openxmlformats.org/drawingml/2006/main">
            <a:r>
              <a:t>      "vladimir-putin",</a:t>
            </a:r>
          </a:p>
          <a:p xmlns:a="http://schemas.openxmlformats.org/drawingml/2006/main">
            <a:r>
              <a:t>      "vyacheslav-volodin"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"descriptor_object_count": 4,</a:t>
            </a:r>
          </a:p>
          <a:p xmlns:a="http://schemas.openxmlformats.org/drawingml/2006/main">
            <a:r>
              <a:t>    "frequency_note": "Число объектов в исходном предложении словаря, а не оценка выраженности и не частота в репрезентативном корпусе.",</a:t>
            </a:r>
          </a:p>
          <a:p xmlns:a="http://schemas.openxmlformats.org/drawingml/2006/main">
            <a:r>
              <a:t>    "anchors": {</a:t>
            </a:r>
          </a:p>
          <a:p xmlns:a="http://schemas.openxmlformats.org/drawingml/2006/main">
            <a:r>
              <a:t>      "0": "Полюс не выражен при достаточном объёме относящихся к теме сведений",</a:t>
            </a:r>
          </a:p>
          <a:p xmlns:a="http://schemas.openxmlformats.org/drawingml/2006/main">
            <a:r>
              <a:t>      "1": "Единичное слабое проявление",</a:t>
            </a:r>
          </a:p>
          <a:p xmlns:a="http://schemas.openxmlformats.org/drawingml/2006/main">
            <a:r>
              <a:t>      "3": "Устойчиво заметный публичный акцент",</a:t>
            </a:r>
          </a:p>
          <a:p xmlns:a="http://schemas.openxmlformats.org/drawingml/2006/main">
            <a:r>
              <a:t>      "5": "Определяющий акцент публичного образа"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{</a:t>
            </a:r>
          </a:p>
          <a:p xmlns:a="http://schemas.openxmlformats.org/drawingml/2006/main">
            <a:r>
              <a:t>    "id": "party-leadership",</a:t>
            </a:r>
          </a:p>
          <a:p xmlns:a="http://schemas.openxmlformats.org/drawingml/2006/main">
            <a:r>
              <a:t>    "name": "Партийная организация — независимая инициатива",</a:t>
            </a:r>
          </a:p>
          <a:p xmlns:a="http://schemas.openxmlformats.org/drawingml/2006/main">
            <a:r>
              <a:t>    "positive": "Партия как основной инструмент политического действия",</a:t>
            </a:r>
          </a:p>
          <a:p xmlns:a="http://schemas.openxmlformats.org/drawingml/2006/main">
            <a:r>
              <a:t>    "negative": "Независимые от партий гражданские и персональные инициативы",</a:t>
            </a:r>
          </a:p>
          <a:p xmlns:a="http://schemas.openxmlformats.org/drawingml/2006/main">
            <a:r>
              <a:t>    "definition": "Публично продвигаемая организационная стратегия и способ мобилизации сторонников. Членство в партии само по себе не определяет публичную стратегию.",</a:t>
            </a:r>
          </a:p>
          <a:p xmlns:a="http://schemas.openxmlformats.org/drawingml/2006/main">
            <a:r>
              <a:t>    "domain": "Политическая стратегия",</a:t>
            </a:r>
          </a:p>
          <a:p xmlns:a="http://schemas.openxmlformats.org/drawingml/2006/main">
            <a:r>
              <a:t>    "aliases": [</a:t>
            </a:r>
          </a:p>
          <a:p xmlns:a="http://schemas.openxmlformats.org/drawingml/2006/main">
            <a:r>
              <a:t>      "Партийное лидерство и мобилизация",</a:t>
            </a:r>
          </a:p>
          <a:p xmlns:a="http://schemas.openxmlformats.org/drawingml/2006/main">
            <a:r>
              <a:t>      "партийное лидерство",</a:t>
            </a:r>
          </a:p>
          <a:p xmlns:a="http://schemas.openxmlformats.org/drawingml/2006/main">
            <a:r>
              <a:t>      "партийная мобилизация"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"source_scale_ids": [</a:t>
            </a:r>
          </a:p>
          <a:p xmlns:a="http://schemas.openxmlformats.org/drawingml/2006/main">
            <a:r>
              <a:t>      "party-leadership"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"source_object_ids": [</a:t>
            </a:r>
          </a:p>
          <a:p xmlns:a="http://schemas.openxmlformats.org/drawingml/2006/main">
            <a:r>
              <a:t>      "gennady-zyuganov",</a:t>
            </a:r>
          </a:p>
          <a:p xmlns:a="http://schemas.openxmlformats.org/drawingml/2006/main">
            <a:r>
              <a:t>      "leonid-slutsky",</a:t>
            </a:r>
          </a:p>
          <a:p xmlns:a="http://schemas.openxmlformats.org/drawingml/2006/main">
            <a:r>
              <a:t>      "sergey-mironov",</a:t>
            </a:r>
          </a:p>
          <a:p xmlns:a="http://schemas.openxmlformats.org/drawingml/2006/main">
            <a:r>
              <a:t>      "vladimir-zhirinovsky"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"descriptor_object_count": 4,</a:t>
            </a:r>
          </a:p>
          <a:p xmlns:a="http://schemas.openxmlformats.org/drawingml/2006/main">
            <a:r>
              <a:t>    "frequency_note": "Число объектов в исходном предложении словаря, а не оценка выраженности и не частота в репрезентативном корпусе.",</a:t>
            </a:r>
          </a:p>
          <a:p xmlns:a="http://schemas.openxmlformats.org/drawingml/2006/main">
            <a:r>
              <a:t>    "anchors": {</a:t>
            </a:r>
          </a:p>
          <a:p xmlns:a="http://schemas.openxmlformats.org/drawingml/2006/main">
            <a:r>
              <a:t>      "0": "Полюс не выражен при достаточном объёме относящихся к теме сведений",</a:t>
            </a:r>
          </a:p>
          <a:p xmlns:a="http://schemas.openxmlformats.org/drawingml/2006/main">
            <a:r>
              <a:t>      "1": "Единичное слабое проявление",</a:t>
            </a:r>
          </a:p>
          <a:p xmlns:a="http://schemas.openxmlformats.org/drawingml/2006/main">
            <a:r>
              <a:t>      "3": "Устойчиво заметный публичный акцент",</a:t>
            </a:r>
          </a:p>
          <a:p xmlns:a="http://schemas.openxmlformats.org/drawingml/2006/main">
            <a:r>
              <a:t>      "5": "Определяющий акцент публичного образа"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{</a:t>
            </a:r>
          </a:p>
          <a:p xmlns:a="http://schemas.openxmlformats.org/drawingml/2006/main">
            <a:r>
              <a:t>    "id": "public-transparency",</a:t>
            </a:r>
          </a:p>
          <a:p xmlns:a="http://schemas.openxmlformats.org/drawingml/2006/main">
            <a:r>
              <a:t>    "name": "Открытость решений — закрытость решений",</a:t>
            </a:r>
          </a:p>
          <a:p xmlns:a="http://schemas.openxmlformats.org/drawingml/2006/main">
            <a:r>
              <a:t>    "positive": "Прозрачность решений, раскрытие информации и общественный контроль",</a:t>
            </a:r>
          </a:p>
          <a:p xmlns:a="http://schemas.openxmlformats.org/drawingml/2006/main">
            <a:r>
              <a:t>    "negative": "Конфиденциальность решений и ограничение внешнего контроля",</a:t>
            </a:r>
          </a:p>
          <a:p xmlns:a="http://schemas.openxmlformats.org/drawingml/2006/main">
            <a:r>
              <a:t>    "definition": "Явные заявления и публичные действия относительно доступности сведений о принятии решений и их независимой проверке. Отсутствие антикоррупционных лозунгов не доказывает закрытость, а оценка не означает обвинения в коррупции.",</a:t>
            </a:r>
          </a:p>
          <a:p xmlns:a="http://schemas.openxmlformats.org/drawingml/2006/main">
            <a:r>
              <a:t>    "domain": "Программные акценты",</a:t>
            </a:r>
          </a:p>
          <a:p xmlns:a="http://schemas.openxmlformats.org/drawingml/2006/main">
            <a:r>
              <a:t>    "aliases": [</a:t>
            </a:r>
          </a:p>
          <a:p xmlns:a="http://schemas.openxmlformats.org/drawingml/2006/main">
            <a:r>
              <a:t>      "Антикоррупционная риторика",</a:t>
            </a:r>
          </a:p>
          <a:p xmlns:a="http://schemas.openxmlformats.org/drawingml/2006/main">
            <a:r>
              <a:t>      "антикоррупция",</a:t>
            </a:r>
          </a:p>
          <a:p xmlns:a="http://schemas.openxmlformats.org/drawingml/2006/main">
            <a:r>
              <a:t>      "прозрачность"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"source_scale_ids": [</a:t>
            </a:r>
          </a:p>
          <a:p xmlns:a="http://schemas.openxmlformats.org/drawingml/2006/main">
            <a:r>
              <a:t>      "anti-corruption"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"source_object_ids": [</a:t>
            </a:r>
          </a:p>
          <a:p xmlns:a="http://schemas.openxmlformats.org/drawingml/2006/main">
            <a:r>
              <a:t>      "alexey-navalny",</a:t>
            </a:r>
          </a:p>
          <a:p xmlns:a="http://schemas.openxmlformats.org/drawingml/2006/main">
            <a:r>
              <a:t>      "natalya-poklonskaya",</a:t>
            </a:r>
          </a:p>
          <a:p xmlns:a="http://schemas.openxmlformats.org/drawingml/2006/main">
            <a:r>
              <a:t>      "sardana-avksentyeva"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"descriptor_object_count": 3,</a:t>
            </a:r>
          </a:p>
          <a:p xmlns:a="http://schemas.openxmlformats.org/drawingml/2006/main">
            <a:r>
              <a:t>    "frequency_note": "Число объектов в исходном предложении словаря, а не оценка выраженности и не частота в репрезентативном корпусе.",</a:t>
            </a:r>
          </a:p>
          <a:p xmlns:a="http://schemas.openxmlformats.org/drawingml/2006/main">
            <a:r>
              <a:t>    "anchors": {</a:t>
            </a:r>
          </a:p>
          <a:p xmlns:a="http://schemas.openxmlformats.org/drawingml/2006/main">
            <a:r>
              <a:t>      "0": "Полюс не выражен при достаточном объёме относящихся к теме сведений",</a:t>
            </a:r>
          </a:p>
          <a:p xmlns:a="http://schemas.openxmlformats.org/drawingml/2006/main">
            <a:r>
              <a:t>      "1": "Единичное слабое проявление",</a:t>
            </a:r>
          </a:p>
          <a:p xmlns:a="http://schemas.openxmlformats.org/drawingml/2006/main">
            <a:r>
              <a:t>      "3": "Устойчиво заметный публичный акцент",</a:t>
            </a:r>
          </a:p>
          <a:p xmlns:a="http://schemas.openxmlformats.org/drawingml/2006/main">
            <a:r>
              <a:t>      "5": "Определяющий акцент публичного образа"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{</a:t>
            </a:r>
          </a:p>
          <a:p xmlns:a="http://schemas.openxmlformats.org/drawingml/2006/main">
            <a:r>
              <a:t>    "id": "family-values",</a:t>
            </a:r>
          </a:p>
          <a:p xmlns:a="http://schemas.openxmlformats.org/drawingml/2006/main">
            <a:r>
              <a:t>    "name": "Традиционные нормы — индивидуальное самоопределение",</a:t>
            </a:r>
          </a:p>
          <a:p xmlns:a="http://schemas.openxmlformats.org/drawingml/2006/main">
            <a:r>
              <a:t>    "positive": "Сохранение традиционных семейных и моральных норм",</a:t>
            </a:r>
          </a:p>
          <a:p xmlns:a="http://schemas.openxmlformats.org/drawingml/2006/main">
            <a:r>
              <a:t>    "negative": "Свобода личного выбора и плюрализм семейных и моральных норм",</a:t>
            </a:r>
          </a:p>
          <a:p xmlns:a="http://schemas.openxmlformats.org/drawingml/2006/main">
            <a:r>
              <a:t>    "definition": "Программные позиции о допустимых формах частной жизни и роли государства в закреплении норм. Поддержка детей сама по себе не является признаком консерватизма.",</a:t>
            </a:r>
          </a:p>
          <a:p xmlns:a="http://schemas.openxmlformats.org/drawingml/2006/main">
            <a:r>
              <a:t>    "domain": "Программные акценты",</a:t>
            </a:r>
          </a:p>
          <a:p xmlns:a="http://schemas.openxmlformats.org/drawingml/2006/main">
            <a:r>
              <a:t>    "aliases": [</a:t>
            </a:r>
          </a:p>
          <a:p xmlns:a="http://schemas.openxmlformats.org/drawingml/2006/main">
            <a:r>
              <a:t>      "Семейные и традиционные ценности",</a:t>
            </a:r>
          </a:p>
          <a:p xmlns:a="http://schemas.openxmlformats.org/drawingml/2006/main">
            <a:r>
              <a:t>      "семейные ценности",</a:t>
            </a:r>
          </a:p>
          <a:p xmlns:a="http://schemas.openxmlformats.org/drawingml/2006/main">
            <a:r>
              <a:t>      "традиционные ценности"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"source_scale_ids": [</a:t>
            </a:r>
          </a:p>
          <a:p xmlns:a="http://schemas.openxmlformats.org/drawingml/2006/main">
            <a:r>
              <a:t>      "family-values"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"source_object_ids": [</a:t>
            </a:r>
          </a:p>
          <a:p xmlns:a="http://schemas.openxmlformats.org/drawingml/2006/main">
            <a:r>
              <a:t>      "elena-mizulina",</a:t>
            </a:r>
          </a:p>
          <a:p xmlns:a="http://schemas.openxmlformats.org/drawingml/2006/main">
            <a:r>
              <a:t>      "nina-ostanina",</a:t>
            </a:r>
          </a:p>
          <a:p xmlns:a="http://schemas.openxmlformats.org/drawingml/2006/main">
            <a:r>
              <a:t>      "vitaly-milonov"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"descriptor_object_count": 3,</a:t>
            </a:r>
          </a:p>
          <a:p xmlns:a="http://schemas.openxmlformats.org/drawingml/2006/main">
            <a:r>
              <a:t>    "frequency_note": "Число объектов в исходном предложении словаря, а не оценка выраженности и не частота в репрезентативном корпусе.",</a:t>
            </a:r>
          </a:p>
          <a:p xmlns:a="http://schemas.openxmlformats.org/drawingml/2006/main">
            <a:r>
              <a:t>    "anchors": {</a:t>
            </a:r>
          </a:p>
          <a:p xmlns:a="http://schemas.openxmlformats.org/drawingml/2006/main">
            <a:r>
              <a:t>      "0": "Полюс не выражен при достаточном объёме относящихся к теме сведений",</a:t>
            </a:r>
          </a:p>
          <a:p xmlns:a="http://schemas.openxmlformats.org/drawingml/2006/main">
            <a:r>
              <a:t>      "1": "Единичное слабое проявление",</a:t>
            </a:r>
          </a:p>
          <a:p xmlns:a="http://schemas.openxmlformats.org/drawingml/2006/main">
            <a:r>
              <a:t>      "3": "Устойчиво заметный публичный акцент",</a:t>
            </a:r>
          </a:p>
          <a:p xmlns:a="http://schemas.openxmlformats.org/drawingml/2006/main">
            <a:r>
              <a:t>      "5": "Определяющий акцент публичного образа"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{</a:t>
            </a:r>
          </a:p>
          <a:p xmlns:a="http://schemas.openxmlformats.org/drawingml/2006/main">
            <a:r>
              <a:t>    "id": "international-activity",</a:t>
            </a:r>
          </a:p>
          <a:p xmlns:a="http://schemas.openxmlformats.org/drawingml/2006/main">
            <a:r>
              <a:t>    "name": "Внешняя повестка — внутренняя повестка",</a:t>
            </a:r>
          </a:p>
          <a:p xmlns:a="http://schemas.openxmlformats.org/drawingml/2006/main">
            <a:r>
              <a:t>    "positive": "Приоритет международной и внешнеполитической повестки",</a:t>
            </a:r>
          </a:p>
          <a:p xmlns:a="http://schemas.openxmlformats.org/drawingml/2006/main">
            <a:r>
              <a:t>    "negative": "Приоритет внутренних общественных и хозяйственных задач",</a:t>
            </a:r>
          </a:p>
          <a:p xmlns:a="http://schemas.openxmlformats.org/drawingml/2006/main">
            <a:r>
              <a:t>    "definition": "Относительные акценты публичной повестки в доступных материалах. Должность дипломата или губернатора не является самостоятельным основанием оценки.",</a:t>
            </a:r>
          </a:p>
          <a:p xmlns:a="http://schemas.openxmlformats.org/drawingml/2006/main">
            <a:r>
              <a:t>    "domain": "Программные акценты",</a:t>
            </a:r>
          </a:p>
          <a:p xmlns:a="http://schemas.openxmlformats.org/drawingml/2006/main">
            <a:r>
              <a:t>    "aliases": [</a:t>
            </a:r>
          </a:p>
          <a:p xmlns:a="http://schemas.openxmlformats.org/drawingml/2006/main">
            <a:r>
              <a:t>      "Международная активность и дипломатия",</a:t>
            </a:r>
          </a:p>
          <a:p xmlns:a="http://schemas.openxmlformats.org/drawingml/2006/main">
            <a:r>
              <a:t>      "международная активность",</a:t>
            </a:r>
          </a:p>
          <a:p xmlns:a="http://schemas.openxmlformats.org/drawingml/2006/main">
            <a:r>
              <a:t>      "дипломатия",</a:t>
            </a:r>
          </a:p>
          <a:p xmlns:a="http://schemas.openxmlformats.org/drawingml/2006/main">
            <a:r>
              <a:t>      "Городское развитие и инфраструктура",</a:t>
            </a:r>
          </a:p>
          <a:p xmlns:a="http://schemas.openxmlformats.org/drawingml/2006/main">
            <a:r>
              <a:t>      "городское развитие",</a:t>
            </a:r>
          </a:p>
          <a:p xmlns:a="http://schemas.openxmlformats.org/drawingml/2006/main">
            <a:r>
              <a:t>      "инфраструктура"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"source_scale_ids": [</a:t>
            </a:r>
          </a:p>
          <a:p xmlns:a="http://schemas.openxmlformats.org/drawingml/2006/main">
            <a:r>
              <a:t>      "international-activity",</a:t>
            </a:r>
          </a:p>
          <a:p xmlns:a="http://schemas.openxmlformats.org/drawingml/2006/main">
            <a:r>
              <a:t>      "urban-development"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"source_object_ids": [</a:t>
            </a:r>
          </a:p>
          <a:p xmlns:a="http://schemas.openxmlformats.org/drawingml/2006/main">
            <a:r>
              <a:t>      "alexander-beglov",</a:t>
            </a:r>
          </a:p>
          <a:p xmlns:a="http://schemas.openxmlformats.org/drawingml/2006/main">
            <a:r>
              <a:t>      "alexey-pushkov",</a:t>
            </a:r>
          </a:p>
          <a:p xmlns:a="http://schemas.openxmlformats.org/drawingml/2006/main">
            <a:r>
              <a:t>      "konstantin-kosachev",</a:t>
            </a:r>
          </a:p>
          <a:p xmlns:a="http://schemas.openxmlformats.org/drawingml/2006/main">
            <a:r>
              <a:t>      "sergey-lavrov",</a:t>
            </a:r>
          </a:p>
          <a:p xmlns:a="http://schemas.openxmlformats.org/drawingml/2006/main">
            <a:r>
              <a:t>      "sergey-mironov",</a:t>
            </a:r>
          </a:p>
          <a:p xmlns:a="http://schemas.openxmlformats.org/drawingml/2006/main">
            <a:r>
              <a:t>      "sergey-sobyanin"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"descriptor_object_count": 6,</a:t>
            </a:r>
          </a:p>
          <a:p xmlns:a="http://schemas.openxmlformats.org/drawingml/2006/main">
            <a:r>
              <a:t>    "frequency_note": "Число объектов в исходном предложении словаря, а не оценка выраженности и не частота в репрезентативном корпусе.",</a:t>
            </a:r>
          </a:p>
          <a:p xmlns:a="http://schemas.openxmlformats.org/drawingml/2006/main">
            <a:r>
              <a:t>    "anchors": {</a:t>
            </a:r>
          </a:p>
          <a:p xmlns:a="http://schemas.openxmlformats.org/drawingml/2006/main">
            <a:r>
              <a:t>      "0": "Полюс не выражен при достаточном объёме относящихся к теме сведений",</a:t>
            </a:r>
          </a:p>
          <a:p xmlns:a="http://schemas.openxmlformats.org/drawingml/2006/main">
            <a:r>
              <a:t>      "1": "Единичное слабое проявление",</a:t>
            </a:r>
          </a:p>
          <a:p xmlns:a="http://schemas.openxmlformats.org/drawingml/2006/main">
            <a:r>
              <a:t>      "3": "Устойчиво заметный публичный акцент",</a:t>
            </a:r>
          </a:p>
          <a:p xmlns:a="http://schemas.openxmlformats.org/drawingml/2006/main">
            <a:r>
              <a:t>      "5": "Определяющий акцент публичного образа"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{</a:t>
            </a:r>
          </a:p>
          <a:p xmlns:a="http://schemas.openxmlformats.org/drawingml/2006/main">
            <a:r>
              <a:t>    "id": "antiwar-rhetoric",</a:t>
            </a:r>
          </a:p>
          <a:p xmlns:a="http://schemas.openxmlformats.org/drawingml/2006/main">
            <a:r>
              <a:t>    "name": "Прекращение военных действий — их продолжение",</a:t>
            </a:r>
          </a:p>
          <a:p xmlns:a="http://schemas.openxmlformats.org/drawingml/2006/main">
            <a:r>
              <a:t>    "positive": "Публичные призывы прекратить военные действия и перейти к миру",</a:t>
            </a:r>
          </a:p>
          <a:p xmlns:a="http://schemas.openxmlformats.org/drawingml/2006/main">
            <a:r>
              <a:t>    "negative": "Публичная поддержка продолжения военных действий ради заявленных целей",</a:t>
            </a:r>
          </a:p>
          <a:p xmlns:a="http://schemas.openxmlformats.org/drawingml/2006/main">
            <a:r>
              <a:t>    "definition": "Явные позиции относительно применения военной силы в конкретных конфликтах рассматриваемого периода; учитывать даты и условия заявлений. Молчание не означает поддержки, мирная риторика не означает принятия любых условий.",</a:t>
            </a:r>
          </a:p>
          <a:p xmlns:a="http://schemas.openxmlformats.org/drawingml/2006/main">
            <a:r>
              <a:t>    "domain": "Программные акценты",</a:t>
            </a:r>
          </a:p>
          <a:p xmlns:a="http://schemas.openxmlformats.org/drawingml/2006/main">
            <a:r>
              <a:t>    "aliases": [</a:t>
            </a:r>
          </a:p>
          <a:p xmlns:a="http://schemas.openxmlformats.org/drawingml/2006/main">
            <a:r>
              <a:t>      "Антивоенная риторика",</a:t>
            </a:r>
          </a:p>
          <a:p xmlns:a="http://schemas.openxmlformats.org/drawingml/2006/main">
            <a:r>
              <a:t>      "антивоенная позиция",</a:t>
            </a:r>
          </a:p>
          <a:p xmlns:a="http://schemas.openxmlformats.org/drawingml/2006/main">
            <a:r>
              <a:t>      "пацифизм"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"source_scale_ids": [</a:t>
            </a:r>
          </a:p>
          <a:p xmlns:a="http://schemas.openxmlformats.org/drawingml/2006/main">
            <a:r>
              <a:t>      "antiwar-rhetoric"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"source_object_ids": [</a:t>
            </a:r>
          </a:p>
          <a:p xmlns:a="http://schemas.openxmlformats.org/drawingml/2006/main">
            <a:r>
              <a:t>      "boris-nadezhdin",</a:t>
            </a:r>
          </a:p>
          <a:p xmlns:a="http://schemas.openxmlformats.org/drawingml/2006/main">
            <a:r>
              <a:t>      "grigory-yavlinsky",</a:t>
            </a:r>
          </a:p>
          <a:p xmlns:a="http://schemas.openxmlformats.org/drawingml/2006/main">
            <a:r>
              <a:t>      "ilya-yashin",</a:t>
            </a:r>
          </a:p>
          <a:p xmlns:a="http://schemas.openxmlformats.org/drawingml/2006/main">
            <a:r>
              <a:t>      "lev-shlosberg",</a:t>
            </a:r>
          </a:p>
          <a:p xmlns:a="http://schemas.openxmlformats.org/drawingml/2006/main">
            <a:r>
              <a:t>      "vladimir-kara-murza"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"descriptor_object_count": 5,</a:t>
            </a:r>
          </a:p>
          <a:p xmlns:a="http://schemas.openxmlformats.org/drawingml/2006/main">
            <a:r>
              <a:t>    "frequency_note": "Число объектов в исходном предложении словаря, а не оценка выраженности и не частота в репрезентативном корпусе.",</a:t>
            </a:r>
          </a:p>
          <a:p xmlns:a="http://schemas.openxmlformats.org/drawingml/2006/main">
            <a:r>
              <a:t>    "anchors": {</a:t>
            </a:r>
          </a:p>
          <a:p xmlns:a="http://schemas.openxmlformats.org/drawingml/2006/main">
            <a:r>
              <a:t>      "0": "Полюс не выражен при достаточном объёме относящихся к теме сведений",</a:t>
            </a:r>
          </a:p>
          <a:p xmlns:a="http://schemas.openxmlformats.org/drawingml/2006/main">
            <a:r>
              <a:t>      "1": "Единичное слабое проявление",</a:t>
            </a:r>
          </a:p>
          <a:p xmlns:a="http://schemas.openxmlformats.org/drawingml/2006/main">
            <a:r>
              <a:t>      "3": "Устойчиво заметный публичный акцент",</a:t>
            </a:r>
          </a:p>
          <a:p xmlns:a="http://schemas.openxmlformats.org/drawingml/2006/main">
            <a:r>
              <a:t>      "5": "Определяющий акцент публичного образа"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{</a:t>
            </a:r>
          </a:p>
          <a:p xmlns:a="http://schemas.openxmlformats.org/drawingml/2006/main">
            <a:r>
              <a:t>    "id": "electoral-legitimacy",</a:t>
            </a:r>
          </a:p>
          <a:p xmlns:a="http://schemas.openxmlformats.org/drawingml/2006/main">
            <a:r>
              <a:t>    "name": "Электоральный мандат — административный мандат",</a:t>
            </a:r>
          </a:p>
          <a:p xmlns:a="http://schemas.openxmlformats.org/drawingml/2006/main">
            <a:r>
              <a:t>    "positive": "Конкурентные выборы и воля избирателей как источник полномочий",</a:t>
            </a:r>
          </a:p>
          <a:p xmlns:a="http://schemas.openxmlformats.org/drawingml/2006/main">
            <a:r>
              <a:t>    "negative": "Назначение, государственная иерархия и управленческая преемственность как источник полномочий",</a:t>
            </a:r>
          </a:p>
          <a:p xmlns:a="http://schemas.openxmlformats.org/drawingml/2006/main">
            <a:r>
              <a:t>    "definition": "Публичное обоснование права принимать политические решения. Сам факт избрания или назначения не заменяет анализа аргументации.",</a:t>
            </a:r>
          </a:p>
          <a:p xmlns:a="http://schemas.openxmlformats.org/drawingml/2006/main">
            <a:r>
              <a:t>    "domain": "Политическая стратегия",</a:t>
            </a:r>
          </a:p>
          <a:p xmlns:a="http://schemas.openxmlformats.org/drawingml/2006/main">
            <a:r>
              <a:t>    "aliases": [</a:t>
            </a:r>
          </a:p>
          <a:p xmlns:a="http://schemas.openxmlformats.org/drawingml/2006/main">
            <a:r>
              <a:t>      "Электоральная легитимация",</a:t>
            </a:r>
          </a:p>
          <a:p xmlns:a="http://schemas.openxmlformats.org/drawingml/2006/main">
            <a:r>
              <a:t>      "электоральная легитимность",</a:t>
            </a:r>
          </a:p>
          <a:p xmlns:a="http://schemas.openxmlformats.org/drawingml/2006/main">
            <a:r>
              <a:t>      "выборная поддержка"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"source_scale_ids": [</a:t>
            </a:r>
          </a:p>
          <a:p xmlns:a="http://schemas.openxmlformats.org/drawingml/2006/main">
            <a:r>
              <a:t>      "electoral-legitimacy"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"source_object_ids": [</a:t>
            </a:r>
          </a:p>
          <a:p xmlns:a="http://schemas.openxmlformats.org/drawingml/2006/main">
            <a:r>
              <a:t>      "boris-nadezhdin",</a:t>
            </a:r>
          </a:p>
          <a:p xmlns:a="http://schemas.openxmlformats.org/drawingml/2006/main">
            <a:r>
              <a:t>      "valentin-konovalov",</a:t>
            </a:r>
          </a:p>
          <a:p xmlns:a="http://schemas.openxmlformats.org/drawingml/2006/main">
            <a:r>
              <a:t>      "yekaterina-duntsova"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"descriptor_object_count": 3,</a:t>
            </a:r>
          </a:p>
          <a:p xmlns:a="http://schemas.openxmlformats.org/drawingml/2006/main">
            <a:r>
              <a:t>    "frequency_note": "Число объектов в исходном предложении словаря, а не оценка выраженности и не частота в репрезентативном корпусе.",</a:t>
            </a:r>
          </a:p>
          <a:p xmlns:a="http://schemas.openxmlformats.org/drawingml/2006/main">
            <a:r>
              <a:t>    "anchors": {</a:t>
            </a:r>
          </a:p>
          <a:p xmlns:a="http://schemas.openxmlformats.org/drawingml/2006/main">
            <a:r>
              <a:t>      "0": "Полюс не выражен при достаточном объёме относящихся к теме сведений",</a:t>
            </a:r>
          </a:p>
          <a:p xmlns:a="http://schemas.openxmlformats.org/drawingml/2006/main">
            <a:r>
              <a:t>      "1": "Единичное слабое проявление",</a:t>
            </a:r>
          </a:p>
          <a:p xmlns:a="http://schemas.openxmlformats.org/drawingml/2006/main">
            <a:r>
              <a:t>      "3": "Устойчиво заметный публичный акцент",</a:t>
            </a:r>
          </a:p>
          <a:p xmlns:a="http://schemas.openxmlformats.org/drawingml/2006/main">
            <a:r>
              <a:t>      "5": "Определяющий акцент публичного образа"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{</a:t>
            </a:r>
          </a:p>
          <a:p xmlns:a="http://schemas.openxmlformats.org/drawingml/2006/main">
            <a:r>
              <a:t>    "id": "economic-ownership",</a:t>
            </a:r>
          </a:p>
          <a:p xmlns:a="http://schemas.openxmlformats.org/drawingml/2006/main">
            <a:r>
              <a:t>    "name": "Государственная экономика — частная экономика",</a:t>
            </a:r>
          </a:p>
          <a:p xmlns:a="http://schemas.openxmlformats.org/drawingml/2006/main">
            <a:r>
              <a:t>    "positive": "Государственная собственность, планирование и ограничение крупного частного капитала",</a:t>
            </a:r>
          </a:p>
          <a:p xmlns:a="http://schemas.openxmlformats.org/drawingml/2006/main">
            <a:r>
              <a:t>    "negative": "Частная собственность, рыночная конкуренция и свобода предпринимательства",</a:t>
            </a:r>
          </a:p>
          <a:p xmlns:a="http://schemas.openxmlformats.org/drawingml/2006/main">
            <a:r>
              <a:t>    "definition": "Предлагаемая роль государства и частного капитала в экономике. Критика отдельных предпринимателей не равна антикапитализму; социальные выплаты сами по себе не определяют этот полюс.",</a:t>
            </a:r>
          </a:p>
          <a:p xmlns:a="http://schemas.openxmlformats.org/drawingml/2006/main">
            <a:r>
              <a:t>    "domain": "Программные акценты",</a:t>
            </a:r>
          </a:p>
          <a:p xmlns:a="http://schemas.openxmlformats.org/drawingml/2006/main">
            <a:r>
              <a:t>    "aliases": [</a:t>
            </a:r>
          </a:p>
          <a:p xmlns:a="http://schemas.openxmlformats.org/drawingml/2006/main">
            <a:r>
              <a:t>      "Антиолигархическая и антикапиталистическая риторика",</a:t>
            </a:r>
          </a:p>
          <a:p xmlns:a="http://schemas.openxmlformats.org/drawingml/2006/main">
            <a:r>
              <a:t>      "антиолигархия",</a:t>
            </a:r>
          </a:p>
          <a:p xmlns:a="http://schemas.openxmlformats.org/drawingml/2006/main">
            <a:r>
              <a:t>      "антикапитализм"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"source_scale_ids": [</a:t>
            </a:r>
          </a:p>
          <a:p xmlns:a="http://schemas.openxmlformats.org/drawingml/2006/main">
            <a:r>
              <a:t>      "anti-oligarchic"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"source_object_ids": [</a:t>
            </a:r>
          </a:p>
          <a:p xmlns:a="http://schemas.openxmlformats.org/drawingml/2006/main">
            <a:r>
              <a:t>      "gennady-zyuganov",</a:t>
            </a:r>
          </a:p>
          <a:p xmlns:a="http://schemas.openxmlformats.org/drawingml/2006/main">
            <a:r>
              <a:t>      "nikolay-platoshkin",</a:t>
            </a:r>
          </a:p>
          <a:p xmlns:a="http://schemas.openxmlformats.org/drawingml/2006/main">
            <a:r>
              <a:t>      "sergey-udaltsov"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"descriptor_object_count": 3,</a:t>
            </a:r>
          </a:p>
          <a:p xmlns:a="http://schemas.openxmlformats.org/drawingml/2006/main">
            <a:r>
              <a:t>    "frequency_note": "Число объектов в исходном предложении словаря, а не оценка выраженности и не частота в репрезентативном корпусе.",</a:t>
            </a:r>
          </a:p>
          <a:p xmlns:a="http://schemas.openxmlformats.org/drawingml/2006/main">
            <a:r>
              <a:t>    "anchors": {</a:t>
            </a:r>
          </a:p>
          <a:p xmlns:a="http://schemas.openxmlformats.org/drawingml/2006/main">
            <a:r>
              <a:t>      "0": "Полюс не выражен при достаточном объёме относящихся к теме сведений",</a:t>
            </a:r>
          </a:p>
          <a:p xmlns:a="http://schemas.openxmlformats.org/drawingml/2006/main">
            <a:r>
              <a:t>      "1": "Единичное слабое проявление",</a:t>
            </a:r>
          </a:p>
          <a:p xmlns:a="http://schemas.openxmlformats.org/drawingml/2006/main">
            <a:r>
              <a:t>      "3": "Устойчиво заметный публичный акцент",</a:t>
            </a:r>
          </a:p>
          <a:p xmlns:a="http://schemas.openxmlformats.org/drawingml/2006/main">
            <a:r>
              <a:t>      "5": "Определяющий акцент публичного образа"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{</a:t>
            </a:r>
          </a:p>
          <a:p xmlns:a="http://schemas.openxmlformats.org/drawingml/2006/main">
            <a:r>
              <a:t>    "id": "economic-modernization",</a:t>
            </a:r>
          </a:p>
          <a:p xmlns:a="http://schemas.openxmlformats.org/drawingml/2006/main">
            <a:r>
              <a:t>    "name": "Технологическое обновление — сохранение освоенных моделей",</a:t>
            </a:r>
          </a:p>
          <a:p xmlns:a="http://schemas.openxmlformats.org/drawingml/2006/main">
            <a:r>
              <a:t>    "positive": "Ускоренное технологическое обновление и цифровая трансформация",</a:t>
            </a:r>
          </a:p>
          <a:p xmlns:a="http://schemas.openxmlformats.org/drawingml/2006/main">
            <a:r>
              <a:t>    "negative": "Сохранение проверенных технологий и сложившихся хозяйственных практик",</a:t>
            </a:r>
          </a:p>
          <a:p xmlns:a="http://schemas.openxmlformats.org/drawingml/2006/main">
            <a:r>
              <a:t>    "definition": "Явные предложения о темпе и характере технологических изменений. Отсутствие цифровой темы не означает неприятия инноваций; реальная успешность проектов не оценивается.",</a:t>
            </a:r>
          </a:p>
          <a:p xmlns:a="http://schemas.openxmlformats.org/drawingml/2006/main">
            <a:r>
              <a:t>    "domain": "Программные акценты",</a:t>
            </a:r>
          </a:p>
          <a:p xmlns:a="http://schemas.openxmlformats.org/drawingml/2006/main">
            <a:r>
              <a:t>    "aliases": [</a:t>
            </a:r>
          </a:p>
          <a:p xmlns:a="http://schemas.openxmlformats.org/drawingml/2006/main">
            <a:r>
              <a:t>      "Экономическая модернизация и инновации",</a:t>
            </a:r>
          </a:p>
          <a:p xmlns:a="http://schemas.openxmlformats.org/drawingml/2006/main">
            <a:r>
              <a:t>      "экономическая модернизация",</a:t>
            </a:r>
          </a:p>
          <a:p xmlns:a="http://schemas.openxmlformats.org/drawingml/2006/main">
            <a:r>
              <a:t>      "инновации",</a:t>
            </a:r>
          </a:p>
          <a:p xmlns:a="http://schemas.openxmlformats.org/drawingml/2006/main">
            <a:r>
              <a:t>      "Цифровизация и инновационные технологии",</a:t>
            </a:r>
          </a:p>
          <a:p xmlns:a="http://schemas.openxmlformats.org/drawingml/2006/main">
            <a:r>
              <a:t>      "цифровизация",</a:t>
            </a:r>
          </a:p>
          <a:p xmlns:a="http://schemas.openxmlformats.org/drawingml/2006/main">
            <a:r>
              <a:t>      "технологии"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"source_scale_ids": [</a:t>
            </a:r>
          </a:p>
          <a:p xmlns:a="http://schemas.openxmlformats.org/drawingml/2006/main">
            <a:r>
              <a:t>      "economic-modernization",</a:t>
            </a:r>
          </a:p>
          <a:p xmlns:a="http://schemas.openxmlformats.org/drawingml/2006/main">
            <a:r>
              <a:t>      "digitalization"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"source_object_ids": [</a:t>
            </a:r>
          </a:p>
          <a:p xmlns:a="http://schemas.openxmlformats.org/drawingml/2006/main">
            <a:r>
              <a:t>      "alexey-nechayev",</a:t>
            </a:r>
          </a:p>
          <a:p xmlns:a="http://schemas.openxmlformats.org/drawingml/2006/main">
            <a:r>
              <a:t>      "andrey-belousov",</a:t>
            </a:r>
          </a:p>
          <a:p xmlns:a="http://schemas.openxmlformats.org/drawingml/2006/main">
            <a:r>
              <a:t>      "mikhail-mishustin"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"descriptor_object_count": 3,</a:t>
            </a:r>
          </a:p>
          <a:p xmlns:a="http://schemas.openxmlformats.org/drawingml/2006/main">
            <a:r>
              <a:t>    "frequency_note": "Число объектов в исходном предложении словаря, а не оценка выраженности и не частота в репрезентативном корпусе.",</a:t>
            </a:r>
          </a:p>
          <a:p xmlns:a="http://schemas.openxmlformats.org/drawingml/2006/main">
            <a:r>
              <a:t>    "anchors": {</a:t>
            </a:r>
          </a:p>
          <a:p xmlns:a="http://schemas.openxmlformats.org/drawingml/2006/main">
            <a:r>
              <a:t>      "0": "Полюс не выражен при достаточном объёме относящихся к теме сведений",</a:t>
            </a:r>
          </a:p>
          <a:p xmlns:a="http://schemas.openxmlformats.org/drawingml/2006/main">
            <a:r>
              <a:t>      "1": "Единичное слабое проявление",</a:t>
            </a:r>
          </a:p>
          <a:p xmlns:a="http://schemas.openxmlformats.org/drawingml/2006/main">
            <a:r>
              <a:t>      "3": "Устойчиво заметный публичный акцент",</a:t>
            </a:r>
          </a:p>
          <a:p xmlns:a="http://schemas.openxmlformats.org/drawingml/2006/main">
            <a:r>
              <a:t>      "5": "Определяющий акцент публичного образа"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{</a:t>
            </a:r>
          </a:p>
          <a:p xmlns:a="http://schemas.openxmlformats.org/drawingml/2006/main">
            <a:r>
              <a:t>    "id": "media-control",</a:t>
            </a:r>
          </a:p>
          <a:p xmlns:a="http://schemas.openxmlformats.org/drawingml/2006/main">
            <a:r>
              <a:t>    "name": "Регулирование информации — свобода выражения",</a:t>
            </a:r>
          </a:p>
          <a:p xmlns:a="http://schemas.openxmlformats.org/drawingml/2006/main">
            <a:r>
              <a:t>    "positive": "Расширение государственного контроля за распространением информации",</a:t>
            </a:r>
          </a:p>
          <a:p xmlns:a="http://schemas.openxmlformats.org/drawingml/2006/main">
            <a:r>
              <a:t>    "negative": "Защита свободы выражения и самостоятельности СМИ",</a:t>
            </a:r>
          </a:p>
          <a:p xmlns:a="http://schemas.openxmlformats.org/drawingml/2006/main">
            <a:r>
              <a:t>    "definition": "Публичные позиции о цензуре, информационных ограничениях, редакционной независимости и цифровом регулировании. Отсутствие высказываний не задаёт полюс.",</a:t>
            </a:r>
          </a:p>
          <a:p xmlns:a="http://schemas.openxmlformats.org/drawingml/2006/main">
            <a:r>
              <a:t>    "domain": "Программные акценты",</a:t>
            </a:r>
          </a:p>
          <a:p xmlns:a="http://schemas.openxmlformats.org/drawingml/2006/main">
            <a:r>
              <a:t>    "aliases": [</a:t>
            </a:r>
          </a:p>
          <a:p xmlns:a="http://schemas.openxmlformats.org/drawingml/2006/main">
            <a:r>
              <a:t>      "Контроль над информационным пространством",</a:t>
            </a:r>
          </a:p>
          <a:p xmlns:a="http://schemas.openxmlformats.org/drawingml/2006/main">
            <a:r>
              <a:t>      "информационный контроль",</a:t>
            </a:r>
          </a:p>
          <a:p xmlns:a="http://schemas.openxmlformats.org/drawingml/2006/main">
            <a:r>
              <a:t>      "регулирование СМИ"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"source_scale_ids": [</a:t>
            </a:r>
          </a:p>
          <a:p xmlns:a="http://schemas.openxmlformats.org/drawingml/2006/main">
            <a:r>
              <a:t>      "media-control"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"source_object_ids": [</a:t>
            </a:r>
          </a:p>
          <a:p xmlns:a="http://schemas.openxmlformats.org/drawingml/2006/main">
            <a:r>
              <a:t>      "alexander-khinshtein",</a:t>
            </a:r>
          </a:p>
          <a:p xmlns:a="http://schemas.openxmlformats.org/drawingml/2006/main">
            <a:r>
              <a:t>      "alexey-pushkov"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"descriptor_object_count": 2,</a:t>
            </a:r>
          </a:p>
          <a:p xmlns:a="http://schemas.openxmlformats.org/drawingml/2006/main">
            <a:r>
              <a:t>    "frequency_note": "Число объектов в исходном предложении словаря, а не оценка выраженности и не частота в репрезентативном корпусе.",</a:t>
            </a:r>
          </a:p>
          <a:p xmlns:a="http://schemas.openxmlformats.org/drawingml/2006/main">
            <a:r>
              <a:t>    "anchors": {</a:t>
            </a:r>
          </a:p>
          <a:p xmlns:a="http://schemas.openxmlformats.org/drawingml/2006/main">
            <a:r>
              <a:t>      "0": "Полюс не выражен при достаточном объёме относящихся к теме сведений",</a:t>
            </a:r>
          </a:p>
          <a:p xmlns:a="http://schemas.openxmlformats.org/drawingml/2006/main">
            <a:r>
              <a:t>      "1": "Единичное слабое проявление",</a:t>
            </a:r>
          </a:p>
          <a:p xmlns:a="http://schemas.openxmlformats.org/drawingml/2006/main">
            <a:r>
              <a:t>      "3": "Устойчиво заметный публичный акцент",</a:t>
            </a:r>
          </a:p>
          <a:p xmlns:a="http://schemas.openxmlformats.org/drawingml/2006/main">
            <a:r>
              <a:t>      "5": "Определяющий акцент публичного образа"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{</a:t>
            </a:r>
          </a:p>
          <a:p xmlns:a="http://schemas.openxmlformats.org/drawingml/2006/main">
            <a:r>
              <a:t>    "id": "territorial-policy",</a:t>
            </a:r>
          </a:p>
          <a:p xmlns:a="http://schemas.openxmlformats.org/drawingml/2006/main">
            <a:r>
              <a:t>    "name": "Сохранение границ — территориальный пересмотр",</a:t>
            </a:r>
          </a:p>
          <a:p xmlns:a="http://schemas.openxmlformats.org/drawingml/2006/main">
            <a:r>
              <a:t>    "positive": "Сохранение международно признанных границ и отказ от территориальной экспансии",</a:t>
            </a:r>
          </a:p>
          <a:p xmlns:a="http://schemas.openxmlformats.org/drawingml/2006/main">
            <a:r>
              <a:t>    "negative": "Пересмотр границ и территориальное расширение государства",</a:t>
            </a:r>
          </a:p>
          <a:p xmlns:a="http://schemas.openxmlformats.org/drawingml/2006/main">
            <a:r>
              <a:t>    "definition": "Прямые заявления о территориальном устройстве и применении силы для его изменения. Не выводить позицию из национальной символики или общего патриотического языка.",</a:t>
            </a:r>
          </a:p>
          <a:p xmlns:a="http://schemas.openxmlformats.org/drawingml/2006/main">
            <a:r>
              <a:t>    "domain": "Программные акценты",</a:t>
            </a:r>
          </a:p>
          <a:p xmlns:a="http://schemas.openxmlformats.org/drawingml/2006/main">
            <a:r>
              <a:t>    "aliases": [</a:t>
            </a:r>
          </a:p>
          <a:p xmlns:a="http://schemas.openxmlformats.org/drawingml/2006/main">
            <a:r>
              <a:t>      "Антиимперская и антиэкспансионистская риторика",</a:t>
            </a:r>
          </a:p>
          <a:p xmlns:a="http://schemas.openxmlformats.org/drawingml/2006/main">
            <a:r>
              <a:t>      "антиимпериализм",</a:t>
            </a:r>
          </a:p>
          <a:p xmlns:a="http://schemas.openxmlformats.org/drawingml/2006/main">
            <a:r>
              <a:t>      "антиэкспансионизм"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"source_scale_ids": [</a:t>
            </a:r>
          </a:p>
          <a:p xmlns:a="http://schemas.openxmlformats.org/drawingml/2006/main">
            <a:r>
              <a:t>      "anti-imperialism"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"source_object_ids": [</a:t>
            </a:r>
          </a:p>
          <a:p xmlns:a="http://schemas.openxmlformats.org/drawingml/2006/main">
            <a:r>
              <a:t>      "garry-kasparov",</a:t>
            </a:r>
          </a:p>
          <a:p xmlns:a="http://schemas.openxmlformats.org/drawingml/2006/main">
            <a:r>
              <a:t>      "grigory-yavlinsky",</a:t>
            </a:r>
          </a:p>
          <a:p xmlns:a="http://schemas.openxmlformats.org/drawingml/2006/main">
            <a:r>
              <a:t>      "lev-shlosberg"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"descriptor_object_count": 3,</a:t>
            </a:r>
          </a:p>
          <a:p xmlns:a="http://schemas.openxmlformats.org/drawingml/2006/main">
            <a:r>
              <a:t>    "frequency_note": "Число объектов в исходном предложении словаря, а не оценка выраженности и не частота в репрезентативном корпусе.",</a:t>
            </a:r>
          </a:p>
          <a:p xmlns:a="http://schemas.openxmlformats.org/drawingml/2006/main">
            <a:r>
              <a:t>    "anchors": {</a:t>
            </a:r>
          </a:p>
          <a:p xmlns:a="http://schemas.openxmlformats.org/drawingml/2006/main">
            <a:r>
              <a:t>      "0": "Полюс не выражен при достаточном объёме относящихся к теме сведений",</a:t>
            </a:r>
          </a:p>
          <a:p xmlns:a="http://schemas.openxmlformats.org/drawingml/2006/main">
            <a:r>
              <a:t>      "1": "Единичное слабое проявление",</a:t>
            </a:r>
          </a:p>
          <a:p xmlns:a="http://schemas.openxmlformats.org/drawingml/2006/main">
            <a:r>
              <a:t>      "3": "Устойчиво заметный публичный акцент",</a:t>
            </a:r>
          </a:p>
          <a:p xmlns:a="http://schemas.openxmlformats.org/drawingml/2006/main">
            <a:r>
              <a:t>      "5": "Определяющий акцент публичного образа"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{</a:t>
            </a:r>
          </a:p>
          <a:p xmlns:a="http://schemas.openxmlformats.org/drawingml/2006/main">
            <a:r>
              <a:t>    "id": "rhetorical-simplicity",</a:t>
            </a:r>
          </a:p>
          <a:p xmlns:a="http://schemas.openxmlformats.org/drawingml/2006/main">
            <a:r>
              <a:t>    "name": "Лозунговая простота — развёрнутая аргументация",</a:t>
            </a:r>
          </a:p>
          <a:p xmlns:a="http://schemas.openxmlformats.org/drawingml/2006/main">
            <a:r>
              <a:t>    "positive": "Краткие лозунги и обещания простых быстрых решений",</a:t>
            </a:r>
          </a:p>
          <a:p xmlns:a="http://schemas.openxmlformats.org/drawingml/2006/main">
            <a:r>
              <a:t>    "negative": "Развёрнутое объяснение механизмов, ограничений и альтернатив",</a:t>
            </a:r>
          </a:p>
          <a:p xmlns:a="http://schemas.openxmlformats.org/drawingml/2006/main">
            <a:r>
              <a:t>    "definition": "Наблюдаемая форма публичной аргументации. Простота языка не считается ложью, экспертная лексика не считается доказательством компетентности.",</a:t>
            </a:r>
          </a:p>
          <a:p xmlns:a="http://schemas.openxmlformats.org/drawingml/2006/main">
            <a:r>
              <a:t>    "domain": "Публичная аргументация",</a:t>
            </a:r>
          </a:p>
          <a:p xmlns:a="http://schemas.openxmlformats.org/drawingml/2006/main">
            <a:r>
              <a:t>    "aliases": [</a:t>
            </a:r>
          </a:p>
          <a:p xmlns:a="http://schemas.openxmlformats.org/drawingml/2006/main">
            <a:r>
              <a:t>      "Популистская риторика",</a:t>
            </a:r>
          </a:p>
          <a:p xmlns:a="http://schemas.openxmlformats.org/drawingml/2006/main">
            <a:r>
              <a:t>      "популизм"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"source_scale_ids": [</a:t>
            </a:r>
          </a:p>
          <a:p xmlns:a="http://schemas.openxmlformats.org/drawingml/2006/main">
            <a:r>
              <a:t>      "populism"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"source_object_ids": [</a:t>
            </a:r>
          </a:p>
          <a:p xmlns:a="http://schemas.openxmlformats.org/drawingml/2006/main">
            <a:r>
              <a:t>      "sardana-avksentyeva",</a:t>
            </a:r>
          </a:p>
          <a:p xmlns:a="http://schemas.openxmlformats.org/drawingml/2006/main">
            <a:r>
              <a:t>      "sergey-mironov",</a:t>
            </a:r>
          </a:p>
          <a:p xmlns:a="http://schemas.openxmlformats.org/drawingml/2006/main">
            <a:r>
              <a:t>      "vladimir-zhirinovsky"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"descriptor_object_count": 3,</a:t>
            </a:r>
          </a:p>
          <a:p xmlns:a="http://schemas.openxmlformats.org/drawingml/2006/main">
            <a:r>
              <a:t>    "frequency_note": "Число объектов в исходном предложении словаря, а не оценка выраженности и не частота в репрезентативном корпусе.",</a:t>
            </a:r>
          </a:p>
          <a:p xmlns:a="http://schemas.openxmlformats.org/drawingml/2006/main">
            <a:r>
              <a:t>    "anchors": {</a:t>
            </a:r>
          </a:p>
          <a:p xmlns:a="http://schemas.openxmlformats.org/drawingml/2006/main">
            <a:r>
              <a:t>      "0": "Полюс не выражен при достаточном объёме относящихся к теме сведений",</a:t>
            </a:r>
          </a:p>
          <a:p xmlns:a="http://schemas.openxmlformats.org/drawingml/2006/main">
            <a:r>
              <a:t>      "1": "Единичное слабое проявление",</a:t>
            </a:r>
          </a:p>
          <a:p xmlns:a="http://schemas.openxmlformats.org/drawingml/2006/main">
            <a:r>
              <a:t>      "3": "Устойчиво заметный публичный акцент",</a:t>
            </a:r>
          </a:p>
          <a:p xmlns:a="http://schemas.openxmlformats.org/drawingml/2006/main">
            <a:r>
              <a:t>      "5": "Определяющий акцент публичного образа"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{</a:t>
            </a:r>
          </a:p>
          <a:p xmlns:a="http://schemas.openxmlformats.org/drawingml/2006/main">
            <a:r>
              <a:t>    "id": "anti-bureaucracy",</a:t>
            </a:r>
          </a:p>
          <a:p xmlns:a="http://schemas.openxmlformats.org/drawingml/2006/main">
            <a:r>
              <a:t>    "name": "Дерегулирование — административное регулирование",</a:t>
            </a:r>
          </a:p>
          <a:p xmlns:a="http://schemas.openxmlformats.org/drawingml/2006/main">
            <a:r>
              <a:t>    "positive": "Сокращение разрешительных процедур и административного аппарата",</a:t>
            </a:r>
          </a:p>
          <a:p xmlns:a="http://schemas.openxmlformats.org/drawingml/2006/main">
            <a:r>
              <a:t>    "negative": "Расширение административного регулирования и государственного надзора",</a:t>
            </a:r>
          </a:p>
          <a:p xmlns:a="http://schemas.openxmlformats.org/drawingml/2006/main">
            <a:r>
              <a:t>    "definition": "Предложения о правилах, разрешениях, контроле и объёме бюрократических полномочий. Отсутствие критики чиновников не означает поддержки расширения аппарата.",</a:t>
            </a:r>
          </a:p>
          <a:p xmlns:a="http://schemas.openxmlformats.org/drawingml/2006/main">
            <a:r>
              <a:t>    "domain": "Программные акценты",</a:t>
            </a:r>
          </a:p>
          <a:p xmlns:a="http://schemas.openxmlformats.org/drawingml/2006/main">
            <a:r>
              <a:t>    "aliases": [</a:t>
            </a:r>
          </a:p>
          <a:p xmlns:a="http://schemas.openxmlformats.org/drawingml/2006/main">
            <a:r>
              <a:t>      "Антибюрократическая риторика",</a:t>
            </a:r>
          </a:p>
          <a:p xmlns:a="http://schemas.openxmlformats.org/drawingml/2006/main">
            <a:r>
              <a:t>      "антибюрократия"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"source_scale_ids": [</a:t>
            </a:r>
          </a:p>
          <a:p xmlns:a="http://schemas.openxmlformats.org/drawingml/2006/main">
            <a:r>
              <a:t>      "anti-bureaucracy"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"source_object_ids": [</a:t>
            </a:r>
          </a:p>
          <a:p xmlns:a="http://schemas.openxmlformats.org/drawingml/2006/main">
            <a:r>
              <a:t>      "sardana-avksentyeva",</a:t>
            </a:r>
          </a:p>
          <a:p xmlns:a="http://schemas.openxmlformats.org/drawingml/2006/main">
            <a:r>
              <a:t>      "yevgeny-prigozhin"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"descriptor_object_count": 2,</a:t>
            </a:r>
          </a:p>
          <a:p xmlns:a="http://schemas.openxmlformats.org/drawingml/2006/main">
            <a:r>
              <a:t>    "frequency_note": "Число объектов в исходном предложении словаря, а не оценка выраженности и не частота в репрезентативном корпусе.",</a:t>
            </a:r>
          </a:p>
          <a:p xmlns:a="http://schemas.openxmlformats.org/drawingml/2006/main">
            <a:r>
              <a:t>    "anchors": {</a:t>
            </a:r>
          </a:p>
          <a:p xmlns:a="http://schemas.openxmlformats.org/drawingml/2006/main">
            <a:r>
              <a:t>      "0": "Полюс не выражен при достаточном объёме относящихся к теме сведений",</a:t>
            </a:r>
          </a:p>
          <a:p xmlns:a="http://schemas.openxmlformats.org/drawingml/2006/main">
            <a:r>
              <a:t>      "1": "Единичное слабое проявление",</a:t>
            </a:r>
          </a:p>
          <a:p xmlns:a="http://schemas.openxmlformats.org/drawingml/2006/main">
            <a:r>
              <a:t>      "3": "Устойчиво заметный публичный акцент",</a:t>
            </a:r>
          </a:p>
          <a:p xmlns:a="http://schemas.openxmlformats.org/drawingml/2006/main">
            <a:r>
              <a:t>      "5": "Определяющий акцент публичного образа"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{</a:t>
            </a:r>
          </a:p>
          <a:p xmlns:a="http://schemas.openxmlformats.org/drawingml/2006/main">
            <a:r>
              <a:t>    "id": "national-patriotism",</a:t>
            </a:r>
          </a:p>
          <a:p xmlns:a="http://schemas.openxmlformats.org/drawingml/2006/main">
            <a:r>
              <a:t>    "name": "Национальная общность — универсальные права",</a:t>
            </a:r>
          </a:p>
          <a:p xmlns:a="http://schemas.openxmlformats.org/drawingml/2006/main">
            <a:r>
              <a:t>    "positive": "Особые интересы национальной общности и защита культурной идентичности",</a:t>
            </a:r>
          </a:p>
          <a:p xmlns:a="http://schemas.openxmlformats.org/drawingml/2006/main">
            <a:r>
              <a:t>    "negative": "Универсальные права и равное отношение независимо от национальной принадлежности",</a:t>
            </a:r>
          </a:p>
          <a:p xmlns:a="http://schemas.openxmlformats.org/drawingml/2006/main">
            <a:r>
              <a:t>    "definition": "Явные основания политической солидарности и распределения приоритетов. Любовь к стране и универсальные права могут сочетаться; этническая принадлежность человека не оценивается.",</a:t>
            </a:r>
          </a:p>
          <a:p xmlns:a="http://schemas.openxmlformats.org/drawingml/2006/main">
            <a:r>
              <a:t>    "domain": "Программные акценты",</a:t>
            </a:r>
          </a:p>
          <a:p xmlns:a="http://schemas.openxmlformats.org/drawingml/2006/main">
            <a:r>
              <a:t>    "aliases": [</a:t>
            </a:r>
          </a:p>
          <a:p xmlns:a="http://schemas.openxmlformats.org/drawingml/2006/main">
            <a:r>
              <a:t>      "Национально-патриотическая риторика",</a:t>
            </a:r>
          </a:p>
          <a:p xmlns:a="http://schemas.openxmlformats.org/drawingml/2006/main">
            <a:r>
              <a:t>      "патриотизм",</a:t>
            </a:r>
          </a:p>
          <a:p xmlns:a="http://schemas.openxmlformats.org/drawingml/2006/main">
            <a:r>
              <a:t>      "национальная идентичность"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"source_scale_ids": [</a:t>
            </a:r>
          </a:p>
          <a:p xmlns:a="http://schemas.openxmlformats.org/drawingml/2006/main">
            <a:r>
              <a:t>      "national-patriotism"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"source_object_ids": [</a:t>
            </a:r>
          </a:p>
          <a:p xmlns:a="http://schemas.openxmlformats.org/drawingml/2006/main">
            <a:r>
              <a:t>      "eduard-limonov",</a:t>
            </a:r>
          </a:p>
          <a:p xmlns:a="http://schemas.openxmlformats.org/drawingml/2006/main">
            <a:r>
              <a:t>      "igor-strelkov",</a:t>
            </a:r>
          </a:p>
          <a:p xmlns:a="http://schemas.openxmlformats.org/drawingml/2006/main">
            <a:r>
              <a:t>      "vladimir-zhirinovsky"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"descriptor_object_count": 3,</a:t>
            </a:r>
          </a:p>
          <a:p xmlns:a="http://schemas.openxmlformats.org/drawingml/2006/main">
            <a:r>
              <a:t>    "frequency_note": "Число объектов в исходном предложении словаря, а не оценка выраженности и не частота в репрезентативном корпусе.",</a:t>
            </a:r>
          </a:p>
          <a:p xmlns:a="http://schemas.openxmlformats.org/drawingml/2006/main">
            <a:r>
              <a:t>    "anchors": {</a:t>
            </a:r>
          </a:p>
          <a:p xmlns:a="http://schemas.openxmlformats.org/drawingml/2006/main">
            <a:r>
              <a:t>      "0": "Полюс не выражен при достаточном объёме относящихся к теме сведений",</a:t>
            </a:r>
          </a:p>
          <a:p xmlns:a="http://schemas.openxmlformats.org/drawingml/2006/main">
            <a:r>
              <a:t>      "1": "Единичное слабое проявление",</a:t>
            </a:r>
          </a:p>
          <a:p xmlns:a="http://schemas.openxmlformats.org/drawingml/2006/main">
            <a:r>
              <a:t>      "3": "Устойчиво заметный публичный акцент",</a:t>
            </a:r>
          </a:p>
          <a:p xmlns:a="http://schemas.openxmlformats.org/drawingml/2006/main">
            <a:r>
              <a:t>      "5": "Определяющий акцент публичного образа"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{</a:t>
            </a:r>
          </a:p>
          <a:p xmlns:a="http://schemas.openxmlformats.org/drawingml/2006/main">
            <a:r>
              <a:t>    "id": "coalitionality",</a:t>
            </a:r>
          </a:p>
          <a:p xmlns:a="http://schemas.openxmlformats.org/drawingml/2006/main">
            <a:r>
              <a:t>    "name": "Коалиционное сотрудничество — самостоятельная конкуренция",</a:t>
            </a:r>
          </a:p>
          <a:p xmlns:a="http://schemas.openxmlformats.org/drawingml/2006/main">
            <a:r>
              <a:t>    "positive": "Коалиции, совместные инициативы и объединение разных политических сил",</a:t>
            </a:r>
          </a:p>
          <a:p xmlns:a="http://schemas.openxmlformats.org/drawingml/2006/main">
            <a:r>
              <a:t>    "negative": "Самостоятельная конкуренция и сохранение организационной обособленности",</a:t>
            </a:r>
          </a:p>
          <a:p xmlns:a="http://schemas.openxmlformats.org/drawingml/2006/main">
            <a:r>
              <a:t>    "definition": "Наблюдаемая публичная стратегия отношений с другими политическими организациями. Отсутствие сведений о коалициях не считается намеренной изоляцией.",</a:t>
            </a:r>
          </a:p>
          <a:p xmlns:a="http://schemas.openxmlformats.org/drawingml/2006/main">
            <a:r>
              <a:t>    "domain": "Политическая стратегия",</a:t>
            </a:r>
          </a:p>
          <a:p xmlns:a="http://schemas.openxmlformats.org/drawingml/2006/main">
            <a:r>
              <a:t>    "aliases": [</a:t>
            </a:r>
          </a:p>
          <a:p xmlns:a="http://schemas.openxmlformats.org/drawingml/2006/main">
            <a:r>
              <a:t>      "Коалиционность и объединительная стратегия",</a:t>
            </a:r>
          </a:p>
          <a:p xmlns:a="http://schemas.openxmlformats.org/drawingml/2006/main">
            <a:r>
              <a:t>      "коалиционность",</a:t>
            </a:r>
          </a:p>
          <a:p xmlns:a="http://schemas.openxmlformats.org/drawingml/2006/main">
            <a:r>
              <a:t>      "объединительная стратегия"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"source_scale_ids": [</a:t>
            </a:r>
          </a:p>
          <a:p xmlns:a="http://schemas.openxmlformats.org/drawingml/2006/main">
            <a:r>
              <a:t>      "coalitionality"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"source_object_ids": [</a:t>
            </a:r>
          </a:p>
          <a:p xmlns:a="http://schemas.openxmlformats.org/drawingml/2006/main">
            <a:r>
              <a:t>      "dmitry-gudkov",</a:t>
            </a:r>
          </a:p>
          <a:p xmlns:a="http://schemas.openxmlformats.org/drawingml/2006/main">
            <a:r>
              <a:t>      "garry-kasparov",</a:t>
            </a:r>
          </a:p>
          <a:p xmlns:a="http://schemas.openxmlformats.org/drawingml/2006/main">
            <a:r>
              <a:t>      "gennady-gudkov",</a:t>
            </a:r>
          </a:p>
          <a:p xmlns:a="http://schemas.openxmlformats.org/drawingml/2006/main">
            <a:r>
              <a:t>      "sergey-udaltsov"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"descriptor_object_count": 4,</a:t>
            </a:r>
          </a:p>
          <a:p xmlns:a="http://schemas.openxmlformats.org/drawingml/2006/main">
            <a:r>
              <a:t>    "frequency_note": "Число объектов в исходном предложении словаря, а не оценка выраженности и не частота в репрезентативном корпусе.",</a:t>
            </a:r>
          </a:p>
          <a:p xmlns:a="http://schemas.openxmlformats.org/drawingml/2006/main">
            <a:r>
              <a:t>    "anchors": {</a:t>
            </a:r>
          </a:p>
          <a:p xmlns:a="http://schemas.openxmlformats.org/drawingml/2006/main">
            <a:r>
              <a:t>      "0": "Полюс не выражен при достаточном объёме относящихся к теме сведений",</a:t>
            </a:r>
          </a:p>
          <a:p xmlns:a="http://schemas.openxmlformats.org/drawingml/2006/main">
            <a:r>
              <a:t>      "1": "Единичное слабое проявление",</a:t>
            </a:r>
          </a:p>
          <a:p xmlns:a="http://schemas.openxmlformats.org/drawingml/2006/main">
            <a:r>
              <a:t>      "3": "Устойчиво заметный публичный акцент",</a:t>
            </a:r>
          </a:p>
          <a:p xmlns:a="http://schemas.openxmlformats.org/drawingml/2006/main">
            <a:r>
              <a:t>      "5": "Определяющий акцент публичного образа"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{</a:t>
            </a:r>
          </a:p>
          <a:p xmlns:a="http://schemas.openxmlformats.org/drawingml/2006/main">
            <a:r>
              <a:t>    "id": "civil-liberties",</a:t>
            </a:r>
          </a:p>
          <a:p xmlns:a="http://schemas.openxmlformats.org/drawingml/2006/main">
            <a:r>
              <a:t>    "name": "Гражданские свободы — ограничения ради порядка",</a:t>
            </a:r>
          </a:p>
          <a:p xmlns:a="http://schemas.openxmlformats.org/drawingml/2006/main">
            <a:r>
              <a:t>    "positive": "Защита гражданских свобод, правовых гарантий и прав обвиняемых",</a:t>
            </a:r>
          </a:p>
          <a:p xmlns:a="http://schemas.openxmlformats.org/drawingml/2006/main">
            <a:r>
              <a:t>    "negative": "Расширение принудительных ограничений ради порядка и безопасности",</a:t>
            </a:r>
          </a:p>
          <a:p xmlns:a="http://schemas.openxmlformats.org/drawingml/2006/main">
            <a:r>
              <a:t>    "definition": "Явные позиции по политическому принуждению, протестам, уголовно-правовым гарантиям и правам человека. Молчание не означает одобрения преследований; не давать правовую оценку отдельным делам без оснований.",</a:t>
            </a:r>
          </a:p>
          <a:p xmlns:a="http://schemas.openxmlformats.org/drawingml/2006/main">
            <a:r>
              <a:t>    "domain": "Программные акценты",</a:t>
            </a:r>
          </a:p>
          <a:p xmlns:a="http://schemas.openxmlformats.org/drawingml/2006/main">
            <a:r>
              <a:t>    "aliases": [</a:t>
            </a:r>
          </a:p>
          <a:p xmlns:a="http://schemas.openxmlformats.org/drawingml/2006/main">
            <a:r>
              <a:t>      "Антирепрессивная риторика",</a:t>
            </a:r>
          </a:p>
          <a:p xmlns:a="http://schemas.openxmlformats.org/drawingml/2006/main">
            <a:r>
              <a:t>      "антипреследование",</a:t>
            </a:r>
          </a:p>
          <a:p xmlns:a="http://schemas.openxmlformats.org/drawingml/2006/main">
            <a:r>
              <a:t>      "защита прав человека"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"source_scale_ids": [</a:t>
            </a:r>
          </a:p>
          <a:p xmlns:a="http://schemas.openxmlformats.org/drawingml/2006/main">
            <a:r>
              <a:t>      "anti-repression"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"source_object_ids": [</a:t>
            </a:r>
          </a:p>
          <a:p xmlns:a="http://schemas.openxmlformats.org/drawingml/2006/main">
            <a:r>
              <a:t>      "leonid-gozman",</a:t>
            </a:r>
          </a:p>
          <a:p xmlns:a="http://schemas.openxmlformats.org/drawingml/2006/main">
            <a:r>
              <a:t>      "vladimir-kara-murza"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"descriptor_object_count": 2,</a:t>
            </a:r>
          </a:p>
          <a:p xmlns:a="http://schemas.openxmlformats.org/drawingml/2006/main">
            <a:r>
              <a:t>    "frequency_note": "Число объектов в исходном предложении словаря, а не оценка выраженности и не частота в репрезентативном корпусе.",</a:t>
            </a:r>
          </a:p>
          <a:p xmlns:a="http://schemas.openxmlformats.org/drawingml/2006/main">
            <a:r>
              <a:t>    "anchors": {</a:t>
            </a:r>
          </a:p>
          <a:p xmlns:a="http://schemas.openxmlformats.org/drawingml/2006/main">
            <a:r>
              <a:t>      "0": "Полюс не выражен при достаточном объёме относящихся к теме сведений",</a:t>
            </a:r>
          </a:p>
          <a:p xmlns:a="http://schemas.openxmlformats.org/drawingml/2006/main">
            <a:r>
              <a:t>      "1": "Единичное слабое проявление",</a:t>
            </a:r>
          </a:p>
          <a:p xmlns:a="http://schemas.openxmlformats.org/drawingml/2006/main">
            <a:r>
              <a:t>      "3": "Устойчиво заметный публичный акцент",</a:t>
            </a:r>
          </a:p>
          <a:p xmlns:a="http://schemas.openxmlformats.org/drawingml/2006/main">
            <a:r>
              <a:t>      "5": "Определяющий акцент публичного образа"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Числа: metadata.json, scores.csv, loadings.csv и утверждённая матрица оценок.</a:t>
            </a:r>
          </a:p>
          <a:p xmlns:a="http://schemas.openxmlformats.org/drawingml/2006/main">
            <a:r>
              <a:t>Изучаемое пространство: Публичный политический образ российских политиков и иных заметных политических акторов, включая деятелей за рубежом, активных хотя бы в части периода. Не рейтинг популярности..</a:t>
            </a:r>
          </a:p>
          <a:p xmlns:a="http://schemas.openxmlformats.org/drawingml/2006/main">
            <a:r>
              <a:t>Оценщик: llm_exploratory.</a:t>
            </a:r>
          </a:p>
          <a:p xmlns:a="http://schemas.openxmlformats.org/drawingml/2006/main">
            <a:r>
              <a:t>Исходные URL:</a:t>
            </a:r>
          </a:p>
          <a:p xmlns:a="http://schemas.openxmlformats.org/drawingml/2006/main">
            <a:r>
              <a:t>https://kremlin.ru/structure/president</a:t>
            </a:r>
          </a:p>
          <a:p xmlns:a="http://schemas.openxmlformats.org/drawingml/2006/main">
            <a:r>
              <a:t>http://www.special.kremlin.ru/events/president/transcripts/67843</a:t>
            </a:r>
          </a:p>
          <a:p xmlns:a="http://schemas.openxmlformats.org/drawingml/2006/main">
            <a:r>
              <a:t>http://en.kremlin.ru/events/president/news/70315</a:t>
            </a:r>
          </a:p>
          <a:p xmlns:a="http://schemas.openxmlformats.org/drawingml/2006/main">
            <a:r>
              <a:t>http://special.kremlin.ru/events/president/transcripts/70565</a:t>
            </a:r>
          </a:p>
          <a:p xmlns:a="http://schemas.openxmlformats.org/drawingml/2006/main">
            <a:r>
              <a:t>http://special.kremlin.ru/events/president/transcripts/72994</a:t>
            </a:r>
          </a:p>
          <a:p xmlns:a="http://schemas.openxmlformats.org/drawingml/2006/main">
            <a:r>
              <a:t>http://kremlin.ru/events/president/news/73585</a:t>
            </a:r>
          </a:p>
          <a:p xmlns:a="http://schemas.openxmlformats.org/drawingml/2006/main">
            <a:r>
              <a:t>http://special.kremlin.ru/events/president/transcripts/75762</a:t>
            </a:r>
          </a:p>
          <a:p xmlns:a="http://schemas.openxmlformats.org/drawingml/2006/main">
            <a:r>
              <a:t>http://www.special.kremlin.ru/events/president/transcripts/76899</a:t>
            </a:r>
          </a:p>
          <a:p xmlns:a="http://schemas.openxmlformats.org/drawingml/2006/main">
            <a:r>
              <a:t>http://special.kremlin.ru/events/president/transcripts/80017</a:t>
            </a:r>
          </a:p>
          <a:p xmlns:a="http://schemas.openxmlformats.org/drawingml/2006/main">
            <a:r>
              <a:t>http://www.special.kremlin.ru/events/president/transcripts/72084</a:t>
            </a:r>
          </a:p>
          <a:p xmlns:a="http://schemas.openxmlformats.org/drawingml/2006/main">
            <a:r>
              <a:t>http://www.special.kremlin.ru/events/president/transcripts/80172</a:t>
            </a:r>
          </a:p>
          <a:p xmlns:a="http://schemas.openxmlformats.org/drawingml/2006/main">
            <a:r>
              <a:t>https://www.diva-portal.org/smash/get/diva2:2035197/FULLTEXT01.pdf</a:t>
            </a:r>
          </a:p>
          <a:p xmlns:a="http://schemas.openxmlformats.org/drawingml/2006/main">
            <a:r>
              <a:t>https://www.reuters.com/world/what-know-about-russias-upcoming-parliamentary-election-2026-09-15/</a:t>
            </a:r>
          </a:p>
          <a:p xmlns:a="http://schemas.openxmlformats.org/drawingml/2006/main">
            <a:r>
              <a:t>https://www.reuters.com/world/europe/how-putin-may-leverage-predictable-outcome-russias-elections-2026-09-18/</a:t>
            </a:r>
          </a:p>
          <a:p xmlns:a="http://schemas.openxmlformats.org/drawingml/2006/main">
            <a:r>
              <a:t>https://ru.wikipedia.org/wiki/Медведев,_Дмитрий_Анатольевич</a:t>
            </a:r>
          </a:p>
          <a:p xmlns:a="http://schemas.openxmlformats.org/drawingml/2006/main">
            <a:r>
              <a:t>https://tass.ru/ekonomika/3941450</a:t>
            </a:r>
          </a:p>
          <a:p xmlns:a="http://schemas.openxmlformats.org/drawingml/2006/main">
            <a:r>
              <a:t>http://archive.government.ru/docs/21653/print/</a:t>
            </a:r>
          </a:p>
          <a:p xmlns:a="http://schemas.openxmlformats.org/drawingml/2006/main">
            <a:r>
              <a:t>https://netfreedom.org.ua/ru/dmytro-anatoliiovych-medvediev-biohrafiia-posady-i-sanktsii/</a:t>
            </a:r>
          </a:p>
          <a:p xmlns:a="http://schemas.openxmlformats.org/drawingml/2006/main">
            <a:r>
              <a:t>https://verstka.media/czeli-svo-kak-kreml-menyal-ih-na-protyazhenii-tryoh-let-vojny</a:t>
            </a:r>
          </a:p>
          <a:p xmlns:a="http://schemas.openxmlformats.org/drawingml/2006/main">
            <a:r>
              <a:t>http://www.scrf.gov.ru/news/allnews/3820/</a:t>
            </a:r>
          </a:p>
          <a:p xmlns:a="http://schemas.openxmlformats.org/drawingml/2006/main">
            <a:r>
              <a:t>http://scrf.gov.ru/news/allnews/3837/</a:t>
            </a:r>
          </a:p>
          <a:p xmlns:a="http://schemas.openxmlformats.org/drawingml/2006/main">
            <a:r>
              <a:t>https://baike.baidu.com/ru/item/%D0%94%D0%BC%D0%B8%D1%82%D1%80%D0%B8%D0%B9%20%D0%90%D0%BD%D0%B0%D1%82%D0%BE%D0%BB%D1%8C%D0%B5%D0%B2%D0%B8%D1%87%20%D0%9C%D0%B5%D0%B4%D0%B2%D0%B5%D0%B4%D0%B5%D0%B2/3254451</a:t>
            </a:r>
          </a:p>
          <a:p xmlns:a="http://schemas.openxmlformats.org/drawingml/2006/main">
            <a:r>
              <a:t>https://tass.ru/politika/5889577</a:t>
            </a:r>
          </a:p>
          <a:p xmlns:a="http://schemas.openxmlformats.org/drawingml/2006/main">
            <a:r>
              <a:t>https://meduza.io/feature/2023/06/26/chto-proizoshlo-s-dmitriem-medvedevym</a:t>
            </a:r>
          </a:p>
          <a:p xmlns:a="http://schemas.openxmlformats.org/drawingml/2006/main">
            <a:r>
              <a:t>https://www.bbc.com/russian/articles/c6evw7d22lv0o</a:t>
            </a:r>
          </a:p>
          <a:p xmlns:a="http://schemas.openxmlformats.org/drawingml/2006/main">
            <a:r>
              <a:t>https://er.ru/activity/news/dmitrij-medvedev-edinaya-rossiya-ne-dopustit-razrusheniya-cennostnyh-osnov-strany</a:t>
            </a:r>
          </a:p>
          <a:p xmlns:a="http://schemas.openxmlformats.org/drawingml/2006/main">
            <a:r>
              <a:t>https://en.wikipedia.org/wiki/Media_freedom_in_Russia</a:t>
            </a:r>
          </a:p>
          <a:p xmlns:a="http://schemas.openxmlformats.org/drawingml/2006/main">
            <a:r>
              <a:t>https://government.ru/gov/persons/151/travel/?area=KHA</a:t>
            </a:r>
          </a:p>
          <a:p xmlns:a="http://schemas.openxmlformats.org/drawingml/2006/main">
            <a:r>
              <a:t>http://government.ru/gov/persons/151/biography/</a:t>
            </a:r>
          </a:p>
          <a:p xmlns:a="http://schemas.openxmlformats.org/drawingml/2006/main">
            <a:r>
              <a:t>https://www.reuters.com/world/europe/who-is-russias-mikhail-mishustin-2024-05-10/</a:t>
            </a:r>
          </a:p>
          <a:p xmlns:a="http://schemas.openxmlformats.org/drawingml/2006/main">
            <a:r>
              <a:t>https://www.kommersant.ru/doc/4220798</a:t>
            </a:r>
          </a:p>
          <a:p xmlns:a="http://schemas.openxmlformats.org/drawingml/2006/main">
            <a:r>
              <a:t>https://www.vedomosti.ru/politics/galleries/2026/03/03/1179718-nalogi-pod-kontrolem</a:t>
            </a:r>
          </a:p>
          <a:p xmlns:a="http://schemas.openxmlformats.org/drawingml/2006/main">
            <a:r>
              <a:t>http://government.ru/gov/persons/151/travel/?page=5</a:t>
            </a:r>
          </a:p>
          <a:p xmlns:a="http://schemas.openxmlformats.org/drawingml/2006/main">
            <a:r>
              <a:t>http://government.ru/news/46476/</a:t>
            </a:r>
          </a:p>
          <a:p xmlns:a="http://schemas.openxmlformats.org/drawingml/2006/main">
            <a:r>
              <a:t>http://government.ru/news/52063/</a:t>
            </a:r>
          </a:p>
          <a:p xmlns:a="http://schemas.openxmlformats.org/drawingml/2006/main">
            <a:r>
              <a:t>http://government.ru/news/52851/</a:t>
            </a:r>
          </a:p>
          <a:p xmlns:a="http://schemas.openxmlformats.org/drawingml/2006/main">
            <a:r>
              <a:t>https://nangs.org/news/society/kabmin-privlek-otdelnye-gosorgany-k-ukrepleniyu-traditsionnykh-tsennostej</a:t>
            </a:r>
          </a:p>
          <a:p xmlns:a="http://schemas.openxmlformats.org/drawingml/2006/main">
            <a:r>
              <a:t>http://government.ru/news/57315/</a:t>
            </a:r>
          </a:p>
          <a:p xmlns:a="http://schemas.openxmlformats.org/drawingml/2006/main">
            <a:r>
              <a:t>https://www.rbc.ru/person/617bf30d9a7947f92ee2d266</a:t>
            </a:r>
          </a:p>
          <a:p xmlns:a="http://schemas.openxmlformats.org/drawingml/2006/main">
            <a:r>
              <a:t>https://mid.ru/ru/press_service/video/view/1848395/</a:t>
            </a:r>
          </a:p>
          <a:p xmlns:a="http://schemas.openxmlformats.org/drawingml/2006/main">
            <a:r>
              <a:t>https://mid.ru/ru/foreign_policy/international_organizations/1932076/</a:t>
            </a:r>
          </a:p>
          <a:p xmlns:a="http://schemas.openxmlformats.org/drawingml/2006/main">
            <a:r>
              <a:t>https://mid.ru/ru/press_service/minister_speeches/1991476/</a:t>
            </a:r>
          </a:p>
          <a:p xmlns:a="http://schemas.openxmlformats.org/drawingml/2006/main">
            <a:r>
              <a:t>https://www.mid.ru/ru/press_service/vizity-ministra/1922112/</a:t>
            </a:r>
          </a:p>
          <a:p xmlns:a="http://schemas.openxmlformats.org/drawingml/2006/main">
            <a:r>
              <a:t>https://www.mid.ru/ru/foreign_policy/news/1927568/</a:t>
            </a:r>
          </a:p>
          <a:p xmlns:a="http://schemas.openxmlformats.org/drawingml/2006/main">
            <a:r>
              <a:t>https://mid.ru/ru/foreign_policy/news/1912973/</a:t>
            </a:r>
          </a:p>
          <a:p xmlns:a="http://schemas.openxmlformats.org/drawingml/2006/main">
            <a:r>
              <a:t>https://www.reuters.com/world/europe/russias-lavrov-says-moscow-committed-us-proposals-peace-rejects-europes-2026-06-15/</a:t>
            </a:r>
          </a:p>
          <a:p xmlns:a="http://schemas.openxmlformats.org/drawingml/2006/main">
            <a:r>
              <a:t>https://www.reuters.com/world/lavrov-says-russia-is-ready-resume-talks-with-ukraine-point-where-they-left-off-2026-06-23/</a:t>
            </a:r>
          </a:p>
          <a:p xmlns:a="http://schemas.openxmlformats.org/drawingml/2006/main">
            <a:r>
              <a:t>https://mid.ru/ru/press_service/video/view/1799184/</a:t>
            </a:r>
          </a:p>
          <a:p xmlns:a="http://schemas.openxmlformats.org/drawingml/2006/main">
            <a:r>
              <a:t>https://en.wikipedia.org/wiki/Sergey_Lavrov</a:t>
            </a:r>
          </a:p>
          <a:p xmlns:a="http://schemas.openxmlformats.org/drawingml/2006/main">
            <a:r>
              <a:t>https://www.garant.ru/products/ipo/prime/doc/70627660/</a:t>
            </a:r>
          </a:p>
          <a:p xmlns:a="http://schemas.openxmlformats.org/drawingml/2006/main">
            <a:r>
              <a:t>https://www.rbc.ru/person/617fc0679a794761d6170b80</a:t>
            </a:r>
          </a:p>
          <a:p xmlns:a="http://schemas.openxmlformats.org/drawingml/2006/main">
            <a:r>
              <a:t>http://www.kremlin.ru/acts/bank/50544</a:t>
            </a:r>
          </a:p>
          <a:p xmlns:a="http://schemas.openxmlformats.org/drawingml/2006/main">
            <a:r>
              <a:t>http://special.kremlin.ru/events/president/news/74019</a:t>
            </a:r>
          </a:p>
          <a:p xmlns:a="http://schemas.openxmlformats.org/drawingml/2006/main">
            <a:r>
              <a:t>https://www.interfax.ru/russia/960081</a:t>
            </a:r>
          </a:p>
          <a:p xmlns:a="http://schemas.openxmlformats.org/drawingml/2006/main">
            <a:r>
              <a:t>https://www.rbc.ru/politics/21/09/2022/632ab17c9a794781413c8582</a:t>
            </a:r>
          </a:p>
          <a:p xmlns:a="http://schemas.openxmlformats.org/drawingml/2006/main">
            <a:r>
              <a:t>https://www.bbc.com/russian/articles/c72p0jq04gjo</a:t>
            </a:r>
          </a:p>
          <a:p xmlns:a="http://schemas.openxmlformats.org/drawingml/2006/main">
            <a:r>
              <a:t>https://meduza.io/feature/2024/05/12/putin-uvolil-shoygu-s-posta-ministra-oborony-i-perevel-v-sovbez</a:t>
            </a:r>
          </a:p>
          <a:p xmlns:a="http://schemas.openxmlformats.org/drawingml/2006/main">
            <a:r>
              <a:t>https://paodkb.org/events/sergey-shoygu-naznachen-sekretarem-soveta-bezopasnosti-rf</a:t>
            </a:r>
          </a:p>
          <a:p xmlns:a="http://schemas.openxmlformats.org/drawingml/2006/main">
            <a:r>
              <a:t>https://base.garant.ru/409005084/</a:t>
            </a:r>
          </a:p>
          <a:p xmlns:a="http://schemas.openxmlformats.org/drawingml/2006/main">
            <a:r>
              <a:t>http://special.kremlin.ru/supplement/6345</a:t>
            </a:r>
          </a:p>
          <a:p xmlns:a="http://schemas.openxmlformats.org/drawingml/2006/main">
            <a:r>
              <a:t>http://en.kremlin.ru/supplement/6345</a:t>
            </a:r>
          </a:p>
          <a:p xmlns:a="http://schemas.openxmlformats.org/drawingml/2006/main">
            <a:r>
              <a:t>https://www.kp.ru/daily/27656.5/5040576/</a:t>
            </a:r>
          </a:p>
          <a:p xmlns:a="http://schemas.openxmlformats.org/drawingml/2006/main">
            <a:r>
              <a:t>https://www.fontanka.ru/2025/06/10/75574928/</a:t>
            </a:r>
          </a:p>
          <a:p xmlns:a="http://schemas.openxmlformats.org/drawingml/2006/main">
            <a:r>
              <a:t>https://tass.ru/politika/25506737</a:t>
            </a:r>
          </a:p>
          <a:p xmlns:a="http://schemas.openxmlformats.org/drawingml/2006/main">
            <a:r>
              <a:t>https://www.rbc.ru/person/6181419c9a7947df128a22f7</a:t>
            </a:r>
          </a:p>
          <a:p xmlns:a="http://schemas.openxmlformats.org/drawingml/2006/main">
            <a:r>
              <a:t>https://www.rbc.ru/economics/31/05/2021/60b3de5d9a7947f2883f7aa0</a:t>
            </a:r>
          </a:p>
          <a:p xmlns:a="http://schemas.openxmlformats.org/drawingml/2006/main">
            <a:r>
              <a:t>https://www.rbc.ru/politics/13/05/2024/6641109a9a7947ab8eebcf7f</a:t>
            </a:r>
          </a:p>
          <a:p xmlns:a="http://schemas.openxmlformats.org/drawingml/2006/main">
            <a:r>
              <a:t>https://www.rbc.ru/business/13/06/2023/6482d3389a79473805ee8978</a:t>
            </a:r>
          </a:p>
          <a:p xmlns:a="http://schemas.openxmlformats.org/drawingml/2006/main">
            <a:r>
              <a:t>https://thebell.io/kuda-vedet-ekonomiku-andrej-belousov-zagadki-dmitriya-medvedeva-i-sposoby-perezhit-sanktsii</a:t>
            </a:r>
          </a:p>
          <a:p xmlns:a="http://schemas.openxmlformats.org/drawingml/2006/main">
            <a:r>
              <a:t>https://72.ru/text/politics/2024/05/14/73575386/</a:t>
            </a:r>
          </a:p>
          <a:p xmlns:a="http://schemas.openxmlformats.org/drawingml/2006/main">
            <a:r>
              <a:t>https://tass.ru/armiya-i-opk/22683223</a:t>
            </a:r>
          </a:p>
          <a:p xmlns:a="http://schemas.openxmlformats.org/drawingml/2006/main">
            <a:r>
              <a:t>https://www.rbc.ru/society/12/12/2017/5a2f9b5a9a79473649fe0042</a:t>
            </a:r>
          </a:p>
          <a:p xmlns:a="http://schemas.openxmlformats.org/drawingml/2006/main">
            <a:r>
              <a:t>https://www.istorex.org/post/russia-december-2024-february-2025</a:t>
            </a:r>
          </a:p>
          <a:p xmlns:a="http://schemas.openxmlformats.org/drawingml/2006/main">
            <a:r>
              <a:t>https://rosinform.ru/news/andrej-belousov-osoboe-znachenie-pridayom-obespecheniyu-voennoj-bezopasnosti-soyuznogo-gosudarstva</a:t>
            </a:r>
          </a:p>
          <a:p xmlns:a="http://schemas.openxmlformats.org/drawingml/2006/main">
            <a:r>
              <a:t>https://xn--b1apnk.xn--p1ai/tpost/nsk7vo4xh1-vstrecha-s-ministrom-oboroni-rossii-i-os</a:t>
            </a:r>
          </a:p>
          <a:p xmlns:a="http://schemas.openxmlformats.org/drawingml/2006/main">
            <a:r>
              <a:t>https://www.rbc.ru/person/62d120d89a79475f0ddd8b5e</a:t>
            </a:r>
          </a:p>
          <a:p xmlns:a="http://schemas.openxmlformats.org/drawingml/2006/main">
            <a:r>
              <a:t>http://scrf.gov.ru/news/allnews/2148/</a:t>
            </a:r>
          </a:p>
          <a:p xmlns:a="http://schemas.openxmlformats.org/drawingml/2006/main">
            <a:r>
              <a:t>https://www.rbc.ru/politics/14/05/2024/6643287b9a7947a8f0b8ba78</a:t>
            </a:r>
          </a:p>
          <a:p xmlns:a="http://schemas.openxmlformats.org/drawingml/2006/main">
            <a:r>
              <a:t>https://tass.ru/info/20789699</a:t>
            </a:r>
          </a:p>
          <a:p xmlns:a="http://schemas.openxmlformats.org/drawingml/2006/main">
            <a:r>
              <a:t>https://marine.org.ru/structure/person/56/</a:t>
            </a:r>
          </a:p>
          <a:p xmlns:a="http://schemas.openxmlformats.org/drawingml/2006/main">
            <a:r>
              <a:t>https://marine.org.ru/publication/smi/16108/</a:t>
            </a:r>
          </a:p>
          <a:p xmlns:a="http://schemas.openxmlformats.org/drawingml/2006/main">
            <a:r>
              <a:t>https://www.svoboda.org/a/30676123.html</a:t>
            </a:r>
          </a:p>
          <a:p xmlns:a="http://schemas.openxmlformats.org/drawingml/2006/main">
            <a:r>
              <a:t>https://aif.ru/society/safety/kuklovodstvo_k_deystviyu_nikolay_patrushev_o_metodah_cvetnyh_revolyuciy</a:t>
            </a:r>
          </a:p>
          <a:p xmlns:a="http://schemas.openxmlformats.org/drawingml/2006/main">
            <a:r>
              <a:t>https://vkrizis.info/vlast/czennosti-razmyvaniya/</a:t>
            </a:r>
          </a:p>
          <a:p xmlns:a="http://schemas.openxmlformats.org/drawingml/2006/main">
            <a:r>
              <a:t>https://infranomica.ru/2026/05/19/selskoe-hozyajstvo-est-rezultat-budet-i-pishha/</a:t>
            </a:r>
          </a:p>
          <a:p xmlns:a="http://schemas.openxmlformats.org/drawingml/2006/main">
            <a:r>
              <a:t>https://www.rbc.ru/person/660400989a79471b36dbb514</a:t>
            </a:r>
          </a:p>
          <a:p xmlns:a="http://schemas.openxmlformats.org/drawingml/2006/main">
            <a:r>
              <a:t>http://special.kremlin.ru/catalog/persons/100/events</a:t>
            </a:r>
          </a:p>
          <a:p xmlns:a="http://schemas.openxmlformats.org/drawingml/2006/main">
            <a:r>
              <a:t>https://nac.gov.ru/view/eb008ff4-1608-4b47-b2a9-3d604c1833c2</a:t>
            </a:r>
          </a:p>
          <a:p xmlns:a="http://schemas.openxmlformats.org/drawingml/2006/main">
            <a:r>
              <a:t>http://pfo.gov.ru/press/events/113336/</a:t>
            </a:r>
          </a:p>
          <a:p xmlns:a="http://schemas.openxmlformats.org/drawingml/2006/main">
            <a:r>
              <a:t>https://www.opensanctions.org/entities/Q516824/</a:t>
            </a:r>
          </a:p>
          <a:p xmlns:a="http://schemas.openxmlformats.org/drawingml/2006/main">
            <a:r>
              <a:t>https://www.agents.media/ssha-poprobuyut-vozobnovit-peregovory-o-mire-v-ukraine-cherez-glavu-fsb-che-vedomstvo-kak-schitaetsya-svoimi-dokladami-podtolknulo-putina-k-vojne/</a:t>
            </a:r>
          </a:p>
          <a:p xmlns:a="http://schemas.openxmlformats.org/drawingml/2006/main">
            <a:r>
              <a:t>https://letters.kremlin.ru/news/receptions/by-section/assignments/by-person/260</a:t>
            </a:r>
          </a:p>
          <a:p xmlns:a="http://schemas.openxmlformats.org/drawingml/2006/main">
            <a:r>
              <a:t>https://www.kommersant.ru/doc/3612580</a:t>
            </a:r>
          </a:p>
          <a:p xmlns:a="http://schemas.openxmlformats.org/drawingml/2006/main">
            <a:r>
              <a:t>https://fbk.info/ru/investigations/kirienko-kholyi-putina</a:t>
            </a:r>
          </a:p>
          <a:p xmlns:a="http://schemas.openxmlformats.org/drawingml/2006/main">
            <a:r>
              <a:t>https://utro02.tv/2022/05/24/kolebaniya-kirienok/</a:t>
            </a:r>
          </a:p>
          <a:p xmlns:a="http://schemas.openxmlformats.org/drawingml/2006/main">
            <a:r>
              <a:t>https://meduza.io/feature/2023/12/19/on-peresidel-v-svoem-kresle-v-kremle-i-pravitelstve-obsuzhdayut-chto-sergey-kirienko-mozhet-lishitsya-dolzhnosti-v-ap-posle-vyborov-prezidenta</a:t>
            </a:r>
          </a:p>
          <a:p xmlns:a="http://schemas.openxmlformats.org/drawingml/2006/main">
            <a:r>
              <a:t>https://verstka.media/kak-rossiya-prodvigaet-svoyu-molodezhnuyu-politiku-na-okkupirovannyh-territoriyah</a:t>
            </a:r>
          </a:p>
          <a:p xmlns:a="http://schemas.openxmlformats.org/drawingml/2006/main">
            <a:r>
              <a:t>https://dnrnews.ru/society/2025/09/04/1167117.html</a:t>
            </a:r>
          </a:p>
          <a:p xmlns:a="http://schemas.openxmlformats.org/drawingml/2006/main">
            <a:r>
              <a:t>https://www.tadviser.ru/index.php/%D0%9F%D0%B5%D1%80%D1%81%D0%BE%D0%BD%D0%B0:%D0%9A%D0%B8%D1%80%D0%B8%D0%B5%D0%BD%D0%BA%D0%BE_%D0%A1%D0%B5%D1%80%D0%B3%D0%B5%D0%B9_%D0%92%D0%BB%D0%B0%D0%B4%D0%B8%D0%BB%D0%B5%D0%BD%D0%BE%D0%B2%D0%B8%D1%87</a:t>
            </a:r>
          </a:p>
          <a:p xmlns:a="http://schemas.openxmlformats.org/drawingml/2006/main">
            <a:r>
              <a:t>https://tass.ru/politika/18225741</a:t>
            </a:r>
          </a:p>
          <a:p xmlns:a="http://schemas.openxmlformats.org/drawingml/2006/main">
            <a:r>
              <a:t>https://www.kommersant.ru/doc/6187168</a:t>
            </a:r>
          </a:p>
          <a:p xmlns:a="http://schemas.openxmlformats.org/drawingml/2006/main">
            <a:r>
              <a:t>https://duma.gov.ru/news/63383/</a:t>
            </a:r>
          </a:p>
          <a:p xmlns:a="http://schemas.openxmlformats.org/drawingml/2006/main">
            <a:r>
              <a:t>http://duma.gov.ru/en/duma/persons/99100829/news/</a:t>
            </a:r>
          </a:p>
          <a:p xmlns:a="http://schemas.openxmlformats.org/drawingml/2006/main">
            <a:r>
              <a:t>http://duma.gov.ru/en/news/62248/</a:t>
            </a:r>
          </a:p>
          <a:p xmlns:a="http://schemas.openxmlformats.org/drawingml/2006/main">
            <a:r>
              <a:t>http://duma.gov.ru/en/news/61352/</a:t>
            </a:r>
          </a:p>
          <a:p xmlns:a="http://schemas.openxmlformats.org/drawingml/2006/main">
            <a:r>
              <a:t>http://duma.gov.ru/en/news/64178/</a:t>
            </a:r>
          </a:p>
          <a:p xmlns:a="http://schemas.openxmlformats.org/drawingml/2006/main">
            <a:r>
              <a:t>http://duma.gov.ru/en/news/64216</a:t>
            </a:r>
          </a:p>
          <a:p xmlns:a="http://schemas.openxmlformats.org/drawingml/2006/main">
            <a:r>
              <a:t>http://duma.gov.ru/en/news/64239</a:t>
            </a:r>
          </a:p>
          <a:p xmlns:a="http://schemas.openxmlformats.org/drawingml/2006/main">
            <a:r>
              <a:t>https://en.wikipedia.org/wiki/Vyacheslav_Volodin</a:t>
            </a:r>
          </a:p>
          <a:p xmlns:a="http://schemas.openxmlformats.org/drawingml/2006/main">
            <a:r>
              <a:t>http://duma.gov.ru/news/56060/</a:t>
            </a:r>
          </a:p>
          <a:p xmlns:a="http://schemas.openxmlformats.org/drawingml/2006/main">
            <a:r>
              <a:t>http://duma.gov.ru/news/60448/</a:t>
            </a:r>
          </a:p>
          <a:p xmlns:a="http://schemas.openxmlformats.org/drawingml/2006/main">
            <a:r>
              <a:t>http://duma.gov.ru/news/61362/</a:t>
            </a:r>
          </a:p>
          <a:p xmlns:a="http://schemas.openxmlformats.org/drawingml/2006/main">
            <a:r>
              <a:t>http://duma.gov.ru/news/61384/</a:t>
            </a:r>
          </a:p>
          <a:p xmlns:a="http://schemas.openxmlformats.org/drawingml/2006/main">
            <a:r>
              <a:t>http://duma.gov.ru/news/61874/</a:t>
            </a:r>
          </a:p>
          <a:p xmlns:a="http://schemas.openxmlformats.org/drawingml/2006/main">
            <a:r>
              <a:t>http://duma.gov.ru/news/62022/</a:t>
            </a:r>
          </a:p>
          <a:p xmlns:a="http://schemas.openxmlformats.org/drawingml/2006/main">
            <a:r>
              <a:t>http://duma.gov.ru/news/63772/</a:t>
            </a:r>
          </a:p>
          <a:p xmlns:a="http://schemas.openxmlformats.org/drawingml/2006/main">
            <a:r>
              <a:t>https://council.gov.ru/events/news/160466/</a:t>
            </a:r>
          </a:p>
          <a:p xmlns:a="http://schemas.openxmlformats.org/drawingml/2006/main">
            <a:r>
              <a:t>http://council.gov.ru/structure/persons/257/</a:t>
            </a:r>
          </a:p>
          <a:p xmlns:a="http://schemas.openxmlformats.org/drawingml/2006/main">
            <a:r>
              <a:t>https://interaffairs.ru/news/show/16199</a:t>
            </a:r>
          </a:p>
          <a:p xmlns:a="http://schemas.openxmlformats.org/drawingml/2006/main">
            <a:r>
              <a:t>https://www.rbc.ru/person/617fb5ef9a79475c6cfc4502</a:t>
            </a:r>
          </a:p>
          <a:p xmlns:a="http://schemas.openxmlformats.org/drawingml/2006/main">
            <a:r>
              <a:t>https://vksrs.com/publications/matvienko-rasskazala-o-neobkhodimosti-protivostoyat-geroizatsii-natsistov/</a:t>
            </a:r>
          </a:p>
          <a:p xmlns:a="http://schemas.openxmlformats.org/drawingml/2006/main">
            <a:r>
              <a:t>https://absatz.media/politika/158438-valentine-matvienko-77-istoriya-uspeha-put-k-vershine-i-samye-yarkie-zayavleniya</a:t>
            </a:r>
          </a:p>
          <a:p xmlns:a="http://schemas.openxmlformats.org/drawingml/2006/main">
            <a:r>
              <a:t>https://www.rbc.ru/society/14/10/2026/6acf597c9a794743e0478a15?from=short_news</a:t>
            </a:r>
          </a:p>
          <a:p xmlns:a="http://schemas.openxmlformats.org/drawingml/2006/main">
            <a:r>
              <a:t>https://senatinform.ru/news/sf_stremitsya_byt_maksimalno_otkrytym_dlya_raboty_zhurnalistov_matvienko/</a:t>
            </a:r>
          </a:p>
          <a:p xmlns:a="http://schemas.openxmlformats.org/drawingml/2006/main">
            <a:r>
              <a:t>https://eparlament.irzs.ru/Files/getFile/11853</a:t>
            </a:r>
          </a:p>
          <a:p xmlns:a="http://schemas.openxmlformats.org/drawingml/2006/main">
            <a:r>
              <a:t>http://special.council.gov.ru/activity/meetings/170703/transcript/</a:t>
            </a:r>
          </a:p>
          <a:p xmlns:a="http://schemas.openxmlformats.org/drawingml/2006/main">
            <a:r>
              <a:t>https://bookonlime.ru/lecture/12-razvitie-ekonomicheskih-otnosheniy-i-strategicheskoe-planirovanie-v-cifrovoy-ekonomike-2</a:t>
            </a:r>
          </a:p>
          <a:p xmlns:a="http://schemas.openxmlformats.org/drawingml/2006/main">
            <a:r>
              <a:t>https://ru.wikipedia.org/wiki/Песков,_Дмитрий_Сергеевич</a:t>
            </a:r>
          </a:p>
          <a:p xmlns:a="http://schemas.openxmlformats.org/drawingml/2006/main">
            <a:r>
              <a:t>https://www.reuters.com/world/europe/kremlin-says-ukraine-is-now-paying-price-its-own-attacks-russia-2026-09-28/</a:t>
            </a:r>
          </a:p>
          <a:p xmlns:a="http://schemas.openxmlformats.org/drawingml/2006/main">
            <a:r>
              <a:t>https://www.reuters.com/world/europe/kremlin-rejects-le-penbardella-rebuke-says-russia-is-no-threat-france-2026-09-21/</a:t>
            </a:r>
          </a:p>
          <a:p xmlns:a="http://schemas.openxmlformats.org/drawingml/2006/main">
            <a:r>
              <a:t>https://theins.ru/antifake/295208</a:t>
            </a:r>
          </a:p>
          <a:p xmlns:a="http://schemas.openxmlformats.org/drawingml/2006/main">
            <a:r>
              <a:t>https://expert.ru/news/v-kremle-otvetili-na-slova-donalda-trampa-o-rossiyskom-vmeshatelstve</a:t>
            </a:r>
          </a:p>
          <a:p xmlns:a="http://schemas.openxmlformats.org/drawingml/2006/main">
            <a:r>
              <a:t>https://www.dw.com/ru/dmitrij-peskov/t-18146676/page-1</a:t>
            </a:r>
          </a:p>
          <a:p xmlns:a="http://schemas.openxmlformats.org/drawingml/2006/main">
            <a:r>
              <a:t>https://www.pnp.ru/person/dmitriy--peskov/</a:t>
            </a:r>
          </a:p>
          <a:p xmlns:a="http://schemas.openxmlformats.org/drawingml/2006/main">
            <a:r>
              <a:t>https://www.rbc.ua/ukr/dossier/peskov-19032015</a:t>
            </a:r>
          </a:p>
          <a:p xmlns:a="http://schemas.openxmlformats.org/drawingml/2006/main">
            <a:r>
              <a:t>https://www.rbc.ru/politics/12/10/2026/6accae3bb18f4460834ce063</a:t>
            </a:r>
          </a:p>
          <a:p xmlns:a="http://schemas.openxmlformats.org/drawingml/2006/main">
            <a:r>
              <a:t>https://tass.ru/politika/20355193</a:t>
            </a:r>
          </a:p>
          <a:p xmlns:a="http://schemas.openxmlformats.org/drawingml/2006/main">
            <a:r>
              <a:t>https://www.m24.ru/news/06052024/689412</a:t>
            </a:r>
          </a:p>
          <a:p xmlns:a="http://schemas.openxmlformats.org/drawingml/2006/main">
            <a:r>
              <a:t>http://www.kremlin.ru/acts/bank/48502</a:t>
            </a:r>
          </a:p>
          <a:p xmlns:a="http://schemas.openxmlformats.org/drawingml/2006/main">
            <a:r>
              <a:t>https://www.m24.ru/news/11022025/769070</a:t>
            </a:r>
          </a:p>
          <a:p xmlns:a="http://schemas.openxmlformats.org/drawingml/2006/main">
            <a:r>
              <a:t>https://www.m24.ru/news/23042026/894202</a:t>
            </a:r>
          </a:p>
          <a:p xmlns:a="http://schemas.openxmlformats.org/drawingml/2006/main">
            <a:r>
              <a:t>https://cbr.ru/about_br/nabiullinaes/</a:t>
            </a:r>
          </a:p>
          <a:p xmlns:a="http://schemas.openxmlformats.org/drawingml/2006/main">
            <a:r>
              <a:t>https://cbr.ru/press/event/?id=12840</a:t>
            </a:r>
          </a:p>
          <a:p xmlns:a="http://schemas.openxmlformats.org/drawingml/2006/main">
            <a:r>
              <a:t>https://www.cbr.ru/press/event/?id=12904</a:t>
            </a:r>
          </a:p>
          <a:p xmlns:a="http://schemas.openxmlformats.org/drawingml/2006/main">
            <a:r>
              <a:t>https://cbr.ru/press/event/?id=14033</a:t>
            </a:r>
          </a:p>
          <a:p xmlns:a="http://schemas.openxmlformats.org/drawingml/2006/main">
            <a:r>
              <a:t>https://www.cbr.ru/press/event/?id=12764</a:t>
            </a:r>
          </a:p>
          <a:p xmlns:a="http://schemas.openxmlformats.org/drawingml/2006/main">
            <a:r>
              <a:t>https://kazanfirst.ru/articles/534335</a:t>
            </a:r>
          </a:p>
          <a:p xmlns:a="http://schemas.openxmlformats.org/drawingml/2006/main">
            <a:r>
              <a:t>https://www.rbc.ru/person/65e831449a79476cbfd8e5fd</a:t>
            </a:r>
          </a:p>
          <a:p xmlns:a="http://schemas.openxmlformats.org/drawingml/2006/main">
            <a:r>
              <a:t>https://www.interfax.ru/russia/955290</a:t>
            </a:r>
          </a:p>
          <a:p xmlns:a="http://schemas.openxmlformats.org/drawingml/2006/main">
            <a:r>
              <a:t>https://minfin.gov.ru/ru/press-center/?id_4=38548-intervyu_ministra_finansov_antona_siluanova_gazete_argumenty_i_fakty</a:t>
            </a:r>
          </a:p>
          <a:p xmlns:a="http://schemas.openxmlformats.org/drawingml/2006/main">
            <a:r>
              <a:t>https://minfin.gov.ru/ru/press-center/?id_4=37667-vystuplenie_antona_siluanova_na_plenarnom_zasedanii_v_gosudarstvennoi_dume</a:t>
            </a:r>
          </a:p>
          <a:p xmlns:a="http://schemas.openxmlformats.org/drawingml/2006/main">
            <a:r>
              <a:t>https://www.rbc.ru/economics/24/10/2022/63529d159a7947efb82a59eb</a:t>
            </a:r>
          </a:p>
          <a:p xmlns:a="http://schemas.openxmlformats.org/drawingml/2006/main">
            <a:r>
              <a:t>https://www.rbc.ru/newspaper/2020/02/21/5e4e83289a79474bcf9f8cf9</a:t>
            </a:r>
          </a:p>
          <a:p xmlns:a="http://schemas.openxmlformats.org/drawingml/2006/main">
            <a:r>
              <a:t>https://www.rbc.ru/economics/20/02/2020/5e4e91919a79475559478893</a:t>
            </a:r>
          </a:p>
          <a:p xmlns:a="http://schemas.openxmlformats.org/drawingml/2006/main">
            <a:r>
              <a:t>https://minfin.gov.ru/ru/press-center/?id_4=39336-anton_siluanov_predstavil_na_parlamentskikh_slushaniyakh_v_sovete_federatsii_proekt_byudzheta_na_2025-2027_gg.</a:t>
            </a:r>
          </a:p>
          <a:p xmlns:a="http://schemas.openxmlformats.org/drawingml/2006/main">
            <a:r>
              <a:t>https://www.interfax.ru/amp/1035506</a:t>
            </a:r>
          </a:p>
          <a:p xmlns:a="http://schemas.openxmlformats.org/drawingml/2006/main">
            <a:r>
              <a:t>https://tass.ru/ekonomika/28198121</a:t>
            </a:r>
          </a:p>
          <a:p xmlns:a="http://schemas.openxmlformats.org/drawingml/2006/main">
            <a:r>
              <a:t>https://www.rbc.ru/person/65b9f4369a7947ec8a7f242a</a:t>
            </a:r>
          </a:p>
          <a:p xmlns:a="http://schemas.openxmlformats.org/drawingml/2006/main">
            <a:r>
              <a:t>https://www.bfm.ru/news/435050</a:t>
            </a:r>
          </a:p>
          <a:p xmlns:a="http://schemas.openxmlformats.org/drawingml/2006/main">
            <a:r>
              <a:t>https://ru.ruwiki.ru/wiki/%D0%93%D0%BE%D0%BB%D0%B8%D0%BA%D0%BE%D0%B2%D0%B0,_%D0%A2%D0%B0%D1%82%D1%8C%D1%8F%D0%BD%D0%B0_%D0%90%D0%BB%D0%B5%D0%BA%D1%81%D0%B5%D0%B5%D0%B2%D0%BD%D0%B0</a:t>
            </a:r>
          </a:p>
          <a:p xmlns:a="http://schemas.openxmlformats.org/drawingml/2006/main">
            <a:r>
              <a:t>http://www.kremlin.ru/events/president/transcripts/deliberations%20/77439</a:t>
            </a:r>
          </a:p>
          <a:p xmlns:a="http://schemas.openxmlformats.org/drawingml/2006/main">
            <a:r>
              <a:t>https://xn--90aivcdt6dxbc.xn--p1ai/articles/news/prezident-zdravookhranenie-zanimaet-klyuchevoe-mesto-v-sotsialnoy-politike-rossii/</a:t>
            </a:r>
          </a:p>
          <a:p xmlns:a="http://schemas.openxmlformats.org/drawingml/2006/main">
            <a:r>
              <a:t>https://xn--90aivcdt6dxbc.xn--p1ai/articles/news/tatyana-golikova-edinaya-rossiya-nadezhnyy-soyuznik-i-partner-pravitelstva/</a:t>
            </a:r>
          </a:p>
          <a:p xmlns:a="http://schemas.openxmlformats.org/drawingml/2006/main">
            <a:r>
              <a:t>http://government.ru/news/58648/</a:t>
            </a:r>
          </a:p>
          <a:p xmlns:a="http://schemas.openxmlformats.org/drawingml/2006/main">
            <a:r>
              <a:t>http://government.ru/news/54912/</a:t>
            </a:r>
          </a:p>
          <a:p xmlns:a="http://schemas.openxmlformats.org/drawingml/2006/main">
            <a:r>
              <a:t>http://government.ru/news/58000/</a:t>
            </a:r>
          </a:p>
          <a:p xmlns:a="http://schemas.openxmlformats.org/drawingml/2006/main">
            <a:r>
              <a:t>https://tass.ru/politika/28141547</a:t>
            </a:r>
          </a:p>
          <a:p xmlns:a="http://schemas.openxmlformats.org/drawingml/2006/main">
            <a:r>
              <a:t>https://duma.gov.ru/media/files/smUklOtuNPyzwTneQGCfFUHHIsilAqcm.pdf</a:t>
            </a:r>
          </a:p>
          <a:p xmlns:a="http://schemas.openxmlformats.org/drawingml/2006/main">
            <a:r>
              <a:t>https://kprf.ru/dep/gosduma/activities/187187.html</a:t>
            </a:r>
          </a:p>
          <a:p xmlns:a="http://schemas.openxmlformats.org/drawingml/2006/main">
            <a:r>
              <a:t>http://msk.kprf.ru/2022/08/22/222866/</a:t>
            </a:r>
          </a:p>
          <a:p xmlns:a="http://schemas.openxmlformats.org/drawingml/2006/main">
            <a:r>
              <a:t>https://kprf.ru/party-live/cknews/235903.html</a:t>
            </a:r>
          </a:p>
          <a:p xmlns:a="http://schemas.openxmlformats.org/drawingml/2006/main">
            <a:r>
              <a:t>https://kprf.ru/dep/gosduma/activities/236198.html/print</a:t>
            </a:r>
          </a:p>
          <a:p xmlns:a="http://schemas.openxmlformats.org/drawingml/2006/main">
            <a:r>
              <a:t>https://kprf.ru/dep/gosduma/activities/239812.html</a:t>
            </a:r>
          </a:p>
          <a:p xmlns:a="http://schemas.openxmlformats.org/drawingml/2006/main">
            <a:r>
              <a:t>https://kprf-don.ru/index.php/news/facts/12501-2025-09-15-12-58-35.html</a:t>
            </a:r>
          </a:p>
          <a:p xmlns:a="http://schemas.openxmlformats.org/drawingml/2006/main">
            <a:r>
              <a:t>https://kprf.ru/dep/gosduma/activities/237529.html</a:t>
            </a:r>
          </a:p>
          <a:p xmlns:a="http://schemas.openxmlformats.org/drawingml/2006/main">
            <a:r>
              <a:t>https://novayagazeta.ru/articles/2025/09/19/putin-udivilsia-khodu-zapushchennoi-im-vesnoi-munitsipalnoi-reformy-posle-slov-ziuganova-kak-regiony-dlia-nee-lomali-cherez-koleno-a-tatarstan-otkazalsia-ee-ispolniat-news</a:t>
            </a:r>
          </a:p>
          <a:p xmlns:a="http://schemas.openxmlformats.org/drawingml/2006/main">
            <a:r>
              <a:t>https://kprf.ru/official/2025/11/15/15-noiabria-2025-oda-sostoialsia-ii-noiabrskii-plenum-tsk-kprf/473.html</a:t>
            </a:r>
          </a:p>
          <a:p xmlns:a="http://schemas.openxmlformats.org/drawingml/2006/main">
            <a:r>
              <a:t>https://www.rbc.ru/person/617bfbb79a7947fc327a3bcb</a:t>
            </a:r>
          </a:p>
          <a:p xmlns:a="http://schemas.openxmlformats.org/drawingml/2006/main">
            <a:r>
              <a:t>https://www.bbc.com/russian/features-60873381</a:t>
            </a:r>
          </a:p>
          <a:p xmlns:a="http://schemas.openxmlformats.org/drawingml/2006/main">
            <a:r>
              <a:t>https://www.svoboda.org/a/umer-lider-partii-ldpr-vladimir-zhirinovskiy-nekrolog/31770134.html</a:t>
            </a:r>
          </a:p>
          <a:p xmlns:a="http://schemas.openxmlformats.org/drawingml/2006/main">
            <a:r>
              <a:t>https://www.rbc.ru/politics/06/04/2022/624d661b9a79473f7416fe26</a:t>
            </a:r>
          </a:p>
          <a:p xmlns:a="http://schemas.openxmlformats.org/drawingml/2006/main">
            <a:r>
              <a:t>https://tass.ru/politika/3392889</a:t>
            </a:r>
          </a:p>
          <a:p xmlns:a="http://schemas.openxmlformats.org/drawingml/2006/main">
            <a:r>
              <a:t>https://www.pnp.ru/politics/2016/06/28/v-centre-predvybornoy-programmy-ldpr-russkiy-vopros.html</a:t>
            </a:r>
          </a:p>
          <a:p xmlns:a="http://schemas.openxmlformats.org/drawingml/2006/main">
            <a:r>
              <a:t>https://ldpr.ru/party/history/</a:t>
            </a:r>
          </a:p>
          <a:p xmlns:a="http://schemas.openxmlformats.org/drawingml/2006/main">
            <a:r>
              <a:t>https://govoritmoskva.ru/interviews/1023/</a:t>
            </a:r>
          </a:p>
          <a:p xmlns:a="http://schemas.openxmlformats.org/drawingml/2006/main">
            <a:r>
              <a:t>https://www.gazeta.ru/politics/2017/03/17_a_10580999.shtml</a:t>
            </a:r>
          </a:p>
          <a:p xmlns:a="http://schemas.openxmlformats.org/drawingml/2006/main">
            <a:r>
              <a:t>https://ldpr.ru/upload/iblock/c88/1d6dstdexz6aw7dnwoubeobhr3mnwa1j/a799616e688866c49f2ef6b5b8cfe5c00d45080ae85ce0e5f6d36e2e010681d9.pdf</a:t>
            </a:r>
          </a:p>
          <a:p xmlns:a="http://schemas.openxmlformats.org/drawingml/2006/main">
            <a:r>
              <a:t>https://www.kommersant.ru/doc/3579566</a:t>
            </a:r>
          </a:p>
          <a:p xmlns:a="http://schemas.openxmlformats.org/drawingml/2006/main">
            <a:r>
              <a:t>https://spb.ldpr.ru/event/243915/</a:t>
            </a:r>
          </a:p>
          <a:p xmlns:a="http://schemas.openxmlformats.org/drawingml/2006/main">
            <a:r>
              <a:t>https://kursk.ldpr.ru/event/341398</a:t>
            </a:r>
          </a:p>
          <a:p xmlns:a="http://schemas.openxmlformats.org/drawingml/2006/main">
            <a:r>
              <a:t>https://cyberleninka.ru/article/n/sravnitelnyy-analiz-predvybornyh-programm-ldpr-na-vyborah-2021-g-i-l-e-slutskogo-na-vyborah-2024-g</a:t>
            </a:r>
          </a:p>
          <a:p xmlns:a="http://schemas.openxmlformats.org/drawingml/2006/main">
            <a:r>
              <a:t>https://kcr.ldpr.ru/event/347999/</a:t>
            </a:r>
          </a:p>
          <a:p xmlns:a="http://schemas.openxmlformats.org/drawingml/2006/main">
            <a:r>
              <a:t>https://msknews77.ru/society/2025/09/25/73500.html</a:t>
            </a:r>
          </a:p>
          <a:p xmlns:a="http://schemas.openxmlformats.org/drawingml/2006/main">
            <a:r>
              <a:t>https://bagaevka-press.ru/besplatnyj-zemelnyj-uchastok-dlya-semej-inicziativa-ldpr/</a:t>
            </a:r>
          </a:p>
          <a:p xmlns:a="http://schemas.openxmlformats.org/drawingml/2006/main">
            <a:r>
              <a:t>https://ldpr.ru/event/437527/</a:t>
            </a:r>
          </a:p>
          <a:p xmlns:a="http://schemas.openxmlformats.org/drawingml/2006/main">
            <a:r>
              <a:t>https://rg62.info/2025/11/01/leonid-sluczkij-vstupilsya-za-multserial-masha-i-medved/</a:t>
            </a:r>
          </a:p>
          <a:p xmlns:a="http://schemas.openxmlformats.org/drawingml/2006/main">
            <a:r>
              <a:t>https://mironov.ru/officially</a:t>
            </a:r>
          </a:p>
          <a:p xmlns:a="http://schemas.openxmlformats.org/drawingml/2006/main">
            <a:r>
              <a:t>https://mironov.ru/bio</a:t>
            </a:r>
          </a:p>
          <a:p xmlns:a="http://schemas.openxmlformats.org/drawingml/2006/main">
            <a:r>
              <a:t>https://mironov-online.ru/category/zayavleniya/</a:t>
            </a:r>
          </a:p>
          <a:p xmlns:a="http://schemas.openxmlformats.org/drawingml/2006/main">
            <a:r>
              <a:t>https://www.rbc.ru/person/69806d279a7947baf86c32c5</a:t>
            </a:r>
          </a:p>
          <a:p xmlns:a="http://schemas.openxmlformats.org/drawingml/2006/main">
            <a:r>
              <a:t>https://spravedlivo.ru/16303010</a:t>
            </a:r>
          </a:p>
          <a:p xmlns:a="http://schemas.openxmlformats.org/drawingml/2006/main">
            <a:r>
              <a:t>http://mironov.ru/15133910</a:t>
            </a:r>
          </a:p>
          <a:p xmlns:a="http://schemas.openxmlformats.org/drawingml/2006/main">
            <a:r>
              <a:t>http://www.special.spravedlivo.ru/5_140609.html</a:t>
            </a:r>
          </a:p>
          <a:p xmlns:a="http://schemas.openxmlformats.org/drawingml/2006/main">
            <a:r>
              <a:t>https://spravedlivo.ru/14681110</a:t>
            </a:r>
          </a:p>
          <a:p xmlns:a="http://schemas.openxmlformats.org/drawingml/2006/main">
            <a:r>
              <a:t>https://radiokp.ru/podcast/dialogi-na-radio-kp/759263</a:t>
            </a:r>
          </a:p>
          <a:p xmlns:a="http://schemas.openxmlformats.org/drawingml/2006/main">
            <a:r>
              <a:t>https://mironov.ru/51339910</a:t>
            </a:r>
          </a:p>
          <a:p xmlns:a="http://schemas.openxmlformats.org/drawingml/2006/main">
            <a:r>
              <a:t>https://mironov-online.ru/news/mironov-na-ukraine-idet-bitva-za-budushhee-vsego-chelovechestva-i-pobeda-v-nej-budet-za-rossiej/</a:t>
            </a:r>
          </a:p>
          <a:p xmlns:a="http://schemas.openxmlformats.org/drawingml/2006/main">
            <a:r>
              <a:t>https://spravedlivo.ru/12544510</a:t>
            </a:r>
          </a:p>
          <a:p xmlns:a="http://schemas.openxmlformats.org/drawingml/2006/main">
            <a:r>
              <a:t>https://www.rbc.ru/person/6aa3ef199a79475758621730</a:t>
            </a:r>
          </a:p>
          <a:p xmlns:a="http://schemas.openxmlformats.org/drawingml/2006/main">
            <a:r>
              <a:t>https://www.rbc.ru/politics/24/09/2021/614da73f9a7947b5e3d9399f</a:t>
            </a:r>
          </a:p>
          <a:p xmlns:a="http://schemas.openxmlformats.org/drawingml/2006/main">
            <a:r>
              <a:t>https://amp.rbc.ru/rbcnews/base/14/08/2026/6a957dfb9a79476ae3d823ba</a:t>
            </a:r>
          </a:p>
          <a:p xmlns:a="http://schemas.openxmlformats.org/drawingml/2006/main">
            <a:r>
              <a:t>https://en.wikipedia.org/wiki/Alexey_Nechayev</a:t>
            </a:r>
          </a:p>
          <a:p xmlns:a="http://schemas.openxmlformats.org/drawingml/2006/main">
            <a:r>
              <a:t>https://www.gazeta.ru/politics/23422027/novye-lyudi-na-vyborah-2026-goda.shtml</a:t>
            </a:r>
          </a:p>
          <a:p xmlns:a="http://schemas.openxmlformats.org/drawingml/2006/main">
            <a:r>
              <a:t>https://vremya-bir.ru/2026/03/07/dvenadtsat-shagov-k-strane-v-kotoroj-hochetsya-zhit/</a:t>
            </a:r>
          </a:p>
          <a:p xmlns:a="http://schemas.openxmlformats.org/drawingml/2006/main">
            <a:r>
              <a:t>https://www.rbc.ru/politics/08/09/2026/6aa023ec9a79471e4fd55d3c</a:t>
            </a:r>
          </a:p>
          <a:p xmlns:a="http://schemas.openxmlformats.org/drawingml/2006/main">
            <a:r>
              <a:t>https://www.interfax.ru/interview/1074248</a:t>
            </a:r>
          </a:p>
          <a:p xmlns:a="http://schemas.openxmlformats.org/drawingml/2006/main">
            <a:r>
              <a:t>https://www.interfax.ru/amp/1074248</a:t>
            </a:r>
          </a:p>
          <a:p xmlns:a="http://schemas.openxmlformats.org/drawingml/2006/main">
            <a:r>
              <a:t>https://www.vedomosti.ru/politics/articles/2026/09/09/1227352-novie-lyudi-sformulirovali-programmu</a:t>
            </a:r>
          </a:p>
          <a:p xmlns:a="http://schemas.openxmlformats.org/drawingml/2006/main">
            <a:r>
              <a:t>https://dddkursk.ru/lenta/2026/07/30/129483/</a:t>
            </a:r>
          </a:p>
          <a:p xmlns:a="http://schemas.openxmlformats.org/drawingml/2006/main">
            <a:r>
              <a:t>https://volga.news/article/803292.html</a:t>
            </a:r>
          </a:p>
          <a:p xmlns:a="http://schemas.openxmlformats.org/drawingml/2006/main">
            <a:r>
              <a:t>https://ru.wikipedia.org/wiki/%D0%9D%D0%B5%D1%87%D0%B0%D0%B5%D0%B2,_%D0%90%D0%BB%D0%B5%D0%BA%D1%81%D0%B5%D0%B9_%D0%93%D0%B5%D0%BD%D0%BD%D0%B0%D0%B4%D1%8C%D0%B5%D0%B2%D0%B8%D1%87</a:t>
            </a:r>
          </a:p>
          <a:p xmlns:a="http://schemas.openxmlformats.org/drawingml/2006/main">
            <a:r>
              <a:t>https://www.davankov2024.ru/page_biography/</a:t>
            </a:r>
          </a:p>
          <a:p xmlns:a="http://schemas.openxmlformats.org/drawingml/2006/main">
            <a:r>
              <a:t>https://davankov2024.ru/program</a:t>
            </a:r>
          </a:p>
          <a:p xmlns:a="http://schemas.openxmlformats.org/drawingml/2006/main">
            <a:r>
              <a:t>http://vote.duma.gov.ru/?convocation=AAAAAAA8&amp;deputy=99113489&amp;sort=date_desc</a:t>
            </a:r>
          </a:p>
          <a:p xmlns:a="http://schemas.openxmlformats.org/drawingml/2006/main">
            <a:r>
              <a:t>https://holod.media/2024/02/14/vladislav-davankov/</a:t>
            </a:r>
          </a:p>
          <a:p xmlns:a="http://schemas.openxmlformats.org/drawingml/2006/main">
            <a:r>
              <a:t>https://davankov2024.ru/</a:t>
            </a:r>
          </a:p>
          <a:p xmlns:a="http://schemas.openxmlformats.org/drawingml/2006/main">
            <a:r>
              <a:t>https://novayagazeta.eu/articles/2024/02/15/davankov-predstavil-predvybornuiu-programmu-bez-amnistii-politzakliuchennykh-i-s-namereniem-dobitsia-mira-na-nashikh-usloviiakh-news</a:t>
            </a:r>
          </a:p>
          <a:p xmlns:a="http://schemas.openxmlformats.org/drawingml/2006/main">
            <a:r>
              <a:t>https://www.kavkaz-uzel.eu/articles/398113</a:t>
            </a:r>
          </a:p>
          <a:p xmlns:a="http://schemas.openxmlformats.org/drawingml/2006/main">
            <a:r>
              <a:t>https://echofm.online/portret-dnya/portret-dnya-vladislav-davankov-kandidat-v-prezidenty-rossii</a:t>
            </a:r>
          </a:p>
          <a:p xmlns:a="http://schemas.openxmlformats.org/drawingml/2006/main">
            <a:r>
              <a:t>https://t.me/s/davankov?before=788</a:t>
            </a:r>
          </a:p>
          <a:p xmlns:a="http://schemas.openxmlformats.org/drawingml/2006/main">
            <a:r>
              <a:t>https://zaharprilepin.ru/ru/bio/</a:t>
            </a:r>
          </a:p>
          <a:p xmlns:a="http://schemas.openxmlformats.org/drawingml/2006/main">
            <a:r>
              <a:t>https://zaharprilepin.ru/ru/video/zapisi-vistuplenij/intervju/</a:t>
            </a:r>
          </a:p>
          <a:p xmlns:a="http://schemas.openxmlformats.org/drawingml/2006/main">
            <a:r>
              <a:t>https://zaharprilepin.ru/ru/pressa/intervyu/na-harkov.html</a:t>
            </a:r>
          </a:p>
          <a:p xmlns:a="http://schemas.openxmlformats.org/drawingml/2006/main">
            <a:r>
              <a:t>https://www.kommersant.ru/doc/4141912</a:t>
            </a:r>
          </a:p>
          <a:p xmlns:a="http://schemas.openxmlformats.org/drawingml/2006/main">
            <a:r>
              <a:t>https://novayagazeta.eu/articles/2023/05/06/plokhoi-uchenik-limonova</a:t>
            </a:r>
          </a:p>
          <a:p xmlns:a="http://schemas.openxmlformats.org/drawingml/2006/main">
            <a:r>
              <a:t>https://tass.ru/politika/11761037</a:t>
            </a:r>
          </a:p>
          <a:p xmlns:a="http://schemas.openxmlformats.org/drawingml/2006/main">
            <a:r>
              <a:t>https://www.nn.ru/text/politics/2021/10/11/70186523/</a:t>
            </a:r>
          </a:p>
          <a:p xmlns:a="http://schemas.openxmlformats.org/drawingml/2006/main">
            <a:r>
              <a:t>https://www.zaks.ru/new/archive/view/267194</a:t>
            </a:r>
          </a:p>
          <a:p xmlns:a="http://schemas.openxmlformats.org/drawingml/2006/main">
            <a:r>
              <a:t>https://spravedlivo.ru/11288710</a:t>
            </a:r>
          </a:p>
          <a:p xmlns:a="http://schemas.openxmlformats.org/drawingml/2006/main">
            <a:r>
              <a:t>https://www.kommersant.ru/doc/4241515</a:t>
            </a:r>
          </a:p>
          <a:p xmlns:a="http://schemas.openxmlformats.org/drawingml/2006/main">
            <a:r>
              <a:t>https://zaharprilepin.ru/ru/pressa/intervyu/radio-komsomolskaja-pravda-10022021.html</a:t>
            </a:r>
          </a:p>
          <a:p xmlns:a="http://schemas.openxmlformats.org/drawingml/2006/main">
            <a:r>
              <a:t>https://pozneronline.ru/2024/04/36826/</a:t>
            </a:r>
          </a:p>
          <a:p xmlns:a="http://schemas.openxmlformats.org/drawingml/2006/main">
            <a:r>
              <a:t>https://www.rbc.ru/person/62a85a259a7947b9ae5d6360</a:t>
            </a:r>
          </a:p>
          <a:p xmlns:a="http://schemas.openxmlformats.org/drawingml/2006/main">
            <a:r>
              <a:t>https://tass.ru/encyclopedia/person/poklonskaya-natalya-vladimirovna</a:t>
            </a:r>
          </a:p>
          <a:p xmlns:a="http://schemas.openxmlformats.org/drawingml/2006/main">
            <a:r>
              <a:t>https://tass.ru/tag/poklonskaya-natalya-vladimirovna</a:t>
            </a:r>
          </a:p>
          <a:p xmlns:a="http://schemas.openxmlformats.org/drawingml/2006/main">
            <a:r>
              <a:t>https://www.bbc.com/russian/features-44801571</a:t>
            </a:r>
          </a:p>
          <a:p xmlns:a="http://schemas.openxmlformats.org/drawingml/2006/main">
            <a:r>
              <a:t>https://www.rbc.ru/rbcfreenews/5ba8bd499a794792294ba05d</a:t>
            </a:r>
          </a:p>
          <a:p xmlns:a="http://schemas.openxmlformats.org/drawingml/2006/main">
            <a:r>
              <a:t>https://www.dp.ru/a/2018/08/31/Poklonskaja_otreazirovala</a:t>
            </a:r>
          </a:p>
          <a:p xmlns:a="http://schemas.openxmlformats.org/drawingml/2006/main">
            <a:r>
              <a:t>https://www.themoscowtimes.com/2022/06/13/former-crimea-prosecutor-dismissed-after-anti-war-comments-a77983</a:t>
            </a:r>
          </a:p>
          <a:p xmlns:a="http://schemas.openxmlformats.org/drawingml/2006/main">
            <a:r>
              <a:t>https://www.rbc.ru/politics/30/06/2023/649dee189a79473e3fdc8906</a:t>
            </a:r>
          </a:p>
          <a:p xmlns:a="http://schemas.openxmlformats.org/drawingml/2006/main">
            <a:r>
              <a:t>http://council.gov.ru/structure/persons/1044/</a:t>
            </a:r>
          </a:p>
          <a:p xmlns:a="http://schemas.openxmlformats.org/drawingml/2006/main">
            <a:r>
              <a:t>http://council.gov.ru/services/reference/9156/</a:t>
            </a:r>
          </a:p>
          <a:p xmlns:a="http://schemas.openxmlformats.org/drawingml/2006/main">
            <a:r>
              <a:t>http://council.gov.ru/events/news/135415/</a:t>
            </a:r>
          </a:p>
          <a:p xmlns:a="http://schemas.openxmlformats.org/drawingml/2006/main">
            <a:r>
              <a:t>https://24smi.org/celebrity/1156-elena-mizulina.html</a:t>
            </a:r>
          </a:p>
          <a:p xmlns:a="http://schemas.openxmlformats.org/drawingml/2006/main">
            <a:r>
              <a:t>https://www.bfometr.ru/blog/elena-mizulina</a:t>
            </a:r>
          </a:p>
          <a:p xmlns:a="http://schemas.openxmlformats.org/drawingml/2006/main">
            <a:r>
              <a:t>https://www.rbc.ru/society/30/03/2018/5abe1b849a79470dc3826f68</a:t>
            </a:r>
          </a:p>
          <a:p xmlns:a="http://schemas.openxmlformats.org/drawingml/2006/main">
            <a:r>
              <a:t>https://uznayvse.ru/znamenitosti/biografiya-elena-mizulina.html</a:t>
            </a:r>
          </a:p>
          <a:p xmlns:a="http://schemas.openxmlformats.org/drawingml/2006/main">
            <a:r>
              <a:t>https://radiokp.ru/people/elena-mizulina</a:t>
            </a:r>
          </a:p>
          <a:p xmlns:a="http://schemas.openxmlformats.org/drawingml/2006/main">
            <a:r>
              <a:t>https://ru.wikipedia.org/wiki/%D0%9C%D0%B8%D0%B7%D1%83%D0%BB%D0%B8%D0%BD%D0%B0,_%D0%95%D0%BB%D0%B5%D0%BD%D0%B0_%D0%91%D0%BE%D1%80%D0%B8%D1%81%D0%BE%D0%B2%D0%BD%D0%B0</a:t>
            </a:r>
          </a:p>
          <a:p xmlns:a="http://schemas.openxmlformats.org/drawingml/2006/main">
            <a:r>
              <a:t>https://ru.wikipedia.org/wiki/Милонов,_Виталий_Валентинович</a:t>
            </a:r>
          </a:p>
          <a:p xmlns:a="http://schemas.openxmlformats.org/drawingml/2006/main">
            <a:r>
              <a:t>https://tass.ru/encyclopedia/person/milonov-vitaliy-valentinovich</a:t>
            </a:r>
          </a:p>
          <a:p xmlns:a="http://schemas.openxmlformats.org/drawingml/2006/main">
            <a:r>
              <a:t>https://www.pnp.ru/person/vitaliy-milonov/</a:t>
            </a:r>
          </a:p>
          <a:p xmlns:a="http://schemas.openxmlformats.org/drawingml/2006/main">
            <a:r>
              <a:t>https://www.zaks.ru/new/person/view/172</a:t>
            </a:r>
          </a:p>
          <a:p xmlns:a="http://schemas.openxmlformats.org/drawingml/2006/main">
            <a:r>
              <a:t>https://svpressa.ru/persons/vitaliy-milonov/</a:t>
            </a:r>
          </a:p>
          <a:p xmlns:a="http://schemas.openxmlformats.org/drawingml/2006/main">
            <a:r>
              <a:t>https://stuki-druki.com/authors/Milonov-Vitaliy.php</a:t>
            </a:r>
          </a:p>
          <a:p xmlns:a="http://schemas.openxmlformats.org/drawingml/2006/main">
            <a:r>
              <a:t>https://pa.inion.ru/persons/7104/</a:t>
            </a:r>
          </a:p>
          <a:p xmlns:a="http://schemas.openxmlformats.org/drawingml/2006/main">
            <a:r>
              <a:t>https://pa.inion.ru/documents/16503/</a:t>
            </a:r>
          </a:p>
          <a:p xmlns:a="http://schemas.openxmlformats.org/drawingml/2006/main">
            <a:r>
              <a:t>https://pa.inion.ru/documents/27860/</a:t>
            </a:r>
          </a:p>
          <a:p xmlns:a="http://schemas.openxmlformats.org/drawingml/2006/main">
            <a:r>
              <a:t>https://kprf.ru/personal/ostanina</a:t>
            </a:r>
          </a:p>
          <a:p xmlns:a="http://schemas.openxmlformats.org/drawingml/2006/main">
            <a:r>
              <a:t>https://pa.inion.ru/documents/25577/</a:t>
            </a:r>
          </a:p>
          <a:p xmlns:a="http://schemas.openxmlformats.org/drawingml/2006/main">
            <a:r>
              <a:t>https://kprf.ru/dep/gosduma/activities/245108.html</a:t>
            </a:r>
          </a:p>
          <a:p xmlns:a="http://schemas.openxmlformats.org/drawingml/2006/main">
            <a:r>
              <a:t>https://www.pnp.ru/social/zashhita-detskogo-byudzheta-kruzhki-sokhranit-vyplaty-iz-matkapitala-uvelichit.html</a:t>
            </a:r>
          </a:p>
          <a:p xmlns:a="http://schemas.openxmlformats.org/drawingml/2006/main">
            <a:r>
              <a:t>https://www.pnp.ru/state-duma/nina-ostanina-o-byudzhete-na-2027-2029-gody-semeynoy-ipoteke-i-matkapitale.html</a:t>
            </a:r>
          </a:p>
          <a:p xmlns:a="http://schemas.openxmlformats.org/drawingml/2006/main">
            <a:r>
              <a:t>https://uznayvse.ru/znamenitosti/biografiya-nina-ostanina.html</a:t>
            </a:r>
          </a:p>
          <a:p xmlns:a="http://schemas.openxmlformats.org/drawingml/2006/main">
            <a:r>
              <a:t>https://dumatv.ru/news/ostanina--borba-za-mirovozzrencheskii-suverenitet-stanovitsya-gosudarstvennoi-politikoi</a:t>
            </a:r>
          </a:p>
          <a:p xmlns:a="http://schemas.openxmlformats.org/drawingml/2006/main">
            <a:r>
              <a:t>https://kprf.ru/dep/gosduma/activities/242132.html</a:t>
            </a:r>
          </a:p>
          <a:p xmlns:a="http://schemas.openxmlformats.org/drawingml/2006/main">
            <a:r>
              <a:t>https://www.business-gazeta.ru/article/625616</a:t>
            </a:r>
          </a:p>
          <a:p xmlns:a="http://schemas.openxmlformats.org/drawingml/2006/main">
            <a:r>
              <a:t>https://www.kommersant.ru/doc/3235400</a:t>
            </a:r>
          </a:p>
          <a:p xmlns:a="http://schemas.openxmlformats.org/drawingml/2006/main">
            <a:r>
              <a:t>https://www.rbc.ru/person/67d838f09a7947cdef0b1a95</a:t>
            </a:r>
          </a:p>
          <a:p xmlns:a="http://schemas.openxmlformats.org/drawingml/2006/main">
            <a:r>
              <a:t>https://www.vedomosti.ru/politics/articles/2020/03/10/824795-tereshkova-predlozhila</a:t>
            </a:r>
          </a:p>
          <a:p xmlns:a="http://schemas.openxmlformats.org/drawingml/2006/main">
            <a:r>
              <a:t>http://duma.gov.ru/news/49164/</a:t>
            </a:r>
          </a:p>
          <a:p xmlns:a="http://schemas.openxmlformats.org/drawingml/2006/main">
            <a:r>
              <a:t>https://meduza.io/news/2020/03/12/delayut-vse-dlya-togo-chtoby-gadosti-delat-tereshkova-o-protivnikah-popravki-obnulyayuschey-sroki-putina</a:t>
            </a:r>
          </a:p>
          <a:p xmlns:a="http://schemas.openxmlformats.org/drawingml/2006/main">
            <a:r>
              <a:t>https://meduza.io/feature/2020/03/10/gosduma-neozhidanno-dlya-sebya-obespechila-putina-novymi-prezidentskimi-srokami</a:t>
            </a:r>
          </a:p>
          <a:p xmlns:a="http://schemas.openxmlformats.org/drawingml/2006/main">
            <a:r>
              <a:t>https://hinshtein.ru/biography/</a:t>
            </a:r>
          </a:p>
          <a:p xmlns:a="http://schemas.openxmlformats.org/drawingml/2006/main">
            <a:r>
              <a:t>https://www.vedomosti.ru/politics/articles/2024/12/06/1079852-kto-takoi-aleksandr-hinshtein</a:t>
            </a:r>
          </a:p>
          <a:p xmlns:a="http://schemas.openxmlformats.org/drawingml/2006/main">
            <a:r>
              <a:t>https://www.rbc.ru/person/6752d12a9a7947d62166795e</a:t>
            </a:r>
          </a:p>
          <a:p xmlns:a="http://schemas.openxmlformats.org/drawingml/2006/main">
            <a:r>
              <a:t>https://www.rbc.ru/politics/06/12/2024/675207239a7947e74994842e</a:t>
            </a:r>
          </a:p>
          <a:p xmlns:a="http://schemas.openxmlformats.org/drawingml/2006/main">
            <a:r>
              <a:t>https://hinshtein.ru/news/aleksandr-hinshtejn-podvyol-itogi-goda-raboty-komiteta-gosdumy-po-informpolitike-informatsionnym-tehnologiyam-i-svyazi/</a:t>
            </a:r>
          </a:p>
          <a:p xmlns:a="http://schemas.openxmlformats.org/drawingml/2006/main">
            <a:r>
              <a:t>https://hinshtein.ru/news/a-hinshtejn-itogi-raboty-za-vii-sozyv/</a:t>
            </a:r>
          </a:p>
          <a:p xmlns:a="http://schemas.openxmlformats.org/drawingml/2006/main">
            <a:r>
              <a:t>https://www.kommersant.ru/doc/4660427</a:t>
            </a:r>
          </a:p>
          <a:p xmlns:a="http://schemas.openxmlformats.org/drawingml/2006/main">
            <a:r>
              <a:t>https://www.kommersant.ru/doc/4104004</a:t>
            </a:r>
          </a:p>
          <a:p xmlns:a="http://schemas.openxmlformats.org/drawingml/2006/main">
            <a:r>
              <a:t>https://www.nvgazeta.ru/news/12383/634260/</a:t>
            </a:r>
          </a:p>
          <a:p xmlns:a="http://schemas.openxmlformats.org/drawingml/2006/main">
            <a:r>
              <a:t>https://kpravda.ru/2025/02/11/kursk-poluchit-dengi-iz-gosbyudzheta-na-restavracziyu-istoricheskoj-kreposti/</a:t>
            </a:r>
          </a:p>
          <a:p xmlns:a="http://schemas.openxmlformats.org/drawingml/2006/main">
            <a:r>
              <a:t>https://tass.ru/obschestvo/24001633</a:t>
            </a:r>
          </a:p>
          <a:p xmlns:a="http://schemas.openxmlformats.org/drawingml/2006/main">
            <a:r>
              <a:t>https://www.kommersant.ru/doc/7737032</a:t>
            </a:r>
          </a:p>
          <a:p xmlns:a="http://schemas.openxmlformats.org/drawingml/2006/main">
            <a:r>
              <a:t>https://kpravda.ru/2025/03/21/edinaya-rossiya-pomozhet-v-restavraczii-kurskih-pamyatnikov/</a:t>
            </a:r>
          </a:p>
          <a:p xmlns:a="http://schemas.openxmlformats.org/drawingml/2006/main">
            <a:r>
              <a:t>https://news-kursk.ru/society/2025/07/13/65824.html</a:t>
            </a:r>
          </a:p>
          <a:p xmlns:a="http://schemas.openxmlformats.org/drawingml/2006/main">
            <a:r>
              <a:t>https://news.ru/russia/v-kurske-budet-alleya-geroev-hinshtejn-o-muzee-i-memoriale-zhertvam-vsu</a:t>
            </a:r>
          </a:p>
          <a:p xmlns:a="http://schemas.openxmlformats.org/drawingml/2006/main">
            <a:r>
              <a:t>https://ru.wikipedia.org/wiki/Пушков,_Алексей_Константинович</a:t>
            </a:r>
          </a:p>
          <a:p xmlns:a="http://schemas.openxmlformats.org/drawingml/2006/main">
            <a:r>
              <a:t>http://council.gov.ru/structure/persons/1316/</a:t>
            </a:r>
          </a:p>
          <a:p xmlns:a="http://schemas.openxmlformats.org/drawingml/2006/main">
            <a:r>
              <a:t>http://council.gov.ru/media/files/xjE2QHRAivCH7onABehAcG7OsnrO6DYb.pdf</a:t>
            </a:r>
          </a:p>
          <a:p xmlns:a="http://schemas.openxmlformats.org/drawingml/2006/main">
            <a:r>
              <a:t>https://base.garant.ru/406310971/</a:t>
            </a:r>
          </a:p>
          <a:p xmlns:a="http://schemas.openxmlformats.org/drawingml/2006/main">
            <a:r>
              <a:t>https://russiancouncil.ru/aleksey-pushkov/</a:t>
            </a:r>
          </a:p>
          <a:p xmlns:a="http://schemas.openxmlformats.org/drawingml/2006/main">
            <a:r>
              <a:t>http://legislation.council.gov.ru/events/announce/</a:t>
            </a:r>
          </a:p>
          <a:p xmlns:a="http://schemas.openxmlformats.org/drawingml/2006/main">
            <a:r>
              <a:t>http://council.gov.ru/events/news/173810/</a:t>
            </a:r>
          </a:p>
          <a:p xmlns:a="http://schemas.openxmlformats.org/drawingml/2006/main">
            <a:r>
              <a:t>http://www.council.gov.ru/events/news/175997/</a:t>
            </a:r>
          </a:p>
          <a:p xmlns:a="http://schemas.openxmlformats.org/drawingml/2006/main">
            <a:r>
              <a:t>http://council.gov.ru/media/report/pdf/HtoXfAAzeBJ8JwN0eAduo3rejTAYhqvB.pdf</a:t>
            </a:r>
          </a:p>
          <a:p xmlns:a="http://schemas.openxmlformats.org/drawingml/2006/main">
            <a:r>
              <a:t>http://council.gov.ru/events/news/164749/</a:t>
            </a:r>
          </a:p>
          <a:p xmlns:a="http://schemas.openxmlformats.org/drawingml/2006/main">
            <a:r>
              <a:t>https://t.me/s/alexey_pushkov?before=14914</a:t>
            </a:r>
          </a:p>
          <a:p xmlns:a="http://schemas.openxmlformats.org/drawingml/2006/main">
            <a:r>
              <a:t>http://legislation.council.gov.ru/events/multimedia/video/302078/</a:t>
            </a:r>
          </a:p>
          <a:p xmlns:a="http://schemas.openxmlformats.org/drawingml/2006/main">
            <a:r>
              <a:t>http://council.gov.ru/media/report/pdf/e8Awe3U6hNouHwSvME53OSPGGWxTeVAl.pdf</a:t>
            </a:r>
          </a:p>
          <a:p xmlns:a="http://schemas.openxmlformats.org/drawingml/2006/main">
            <a:r>
              <a:t>https://www.vedomosti.ru/person/1178385-kosachev-konstantin</a:t>
            </a:r>
          </a:p>
          <a:p xmlns:a="http://schemas.openxmlformats.org/drawingml/2006/main">
            <a:r>
              <a:t>https://www.interfax.ru/interview/812963</a:t>
            </a:r>
          </a:p>
          <a:p xmlns:a="http://schemas.openxmlformats.org/drawingml/2006/main">
            <a:r>
              <a:t>https://senatinform.ru/news/yuzhnuyu_osetiyu_neobkhodimo_vyvodit_iz_iskusstvennoy_izolyatsii_schitayut_rossiyskie_senatory_/</a:t>
            </a:r>
          </a:p>
          <a:p xmlns:a="http://schemas.openxmlformats.org/drawingml/2006/main">
            <a:r>
              <a:t>https://senatinform.ru/news/kosachyev_rossiya_gotova_rabotat_s_mps_s_uchyetom_ozabochennostey_nashey_strany/</a:t>
            </a:r>
          </a:p>
          <a:p xmlns:a="http://schemas.openxmlformats.org/drawingml/2006/main">
            <a:r>
              <a:t>https://www.bfm.ru/person/61</a:t>
            </a:r>
          </a:p>
          <a:p xmlns:a="http://schemas.openxmlformats.org/drawingml/2006/main">
            <a:r>
              <a:t>https://svpressa.ru/persons/konstantin-kosachev/</a:t>
            </a:r>
          </a:p>
          <a:p xmlns:a="http://schemas.openxmlformats.org/drawingml/2006/main">
            <a:r>
              <a:t>https://www.pnp.ru/person/konstantin-kosachev/</a:t>
            </a:r>
          </a:p>
          <a:p xmlns:a="http://schemas.openxmlformats.org/drawingml/2006/main">
            <a:r>
              <a:t>https://www.pnp.ru/politics/konstantin-kosachev-dlya-ssha-voyna-s-rossiey-eto-samoubiystvo.html</a:t>
            </a:r>
          </a:p>
          <a:p xmlns:a="http://schemas.openxmlformats.org/drawingml/2006/main">
            <a:r>
              <a:t>https://www.mlg.ru/ratings/vlast/senators/10844/</a:t>
            </a:r>
          </a:p>
          <a:p xmlns:a="http://schemas.openxmlformats.org/drawingml/2006/main">
            <a:r>
              <a:t>http://council.gov.ru/events/news/173506/</a:t>
            </a:r>
          </a:p>
          <a:p xmlns:a="http://schemas.openxmlformats.org/drawingml/2006/main">
            <a:r>
              <a:t>https://t.me/s/Kosachev62</a:t>
            </a:r>
          </a:p>
          <a:p xmlns:a="http://schemas.openxmlformats.org/drawingml/2006/main">
            <a:r>
              <a:t>http://council.gov.ru/events/news/177602/</a:t>
            </a:r>
          </a:p>
          <a:p xmlns:a="http://schemas.openxmlformats.org/drawingml/2006/main">
            <a:r>
              <a:t>https://vmeste-rf.tv/programs/205/konstantin-kosachev-sotrudnichestvo-rossii-i-efiopii-itogi-vizita-delegatsii-sf/</a:t>
            </a:r>
          </a:p>
          <a:p xmlns:a="http://schemas.openxmlformats.org/drawingml/2006/main">
            <a:r>
              <a:t>https://www.rbc.ru/person/64b8e1909a79474f30e86f98</a:t>
            </a:r>
          </a:p>
          <a:p xmlns:a="http://schemas.openxmlformats.org/drawingml/2006/main">
            <a:r>
              <a:t>https://www.kommersant.ru/doc/6041063</a:t>
            </a:r>
          </a:p>
          <a:p xmlns:a="http://schemas.openxmlformats.org/drawingml/2006/main">
            <a:r>
              <a:t>https://www.mos.ru/mayor/themes/6907050/</a:t>
            </a:r>
          </a:p>
          <a:p xmlns:a="http://schemas.openxmlformats.org/drawingml/2006/main">
            <a:r>
              <a:t>https://www.mos.ru/mayor/themes/7037050/</a:t>
            </a:r>
          </a:p>
          <a:p xmlns:a="http://schemas.openxmlformats.org/drawingml/2006/main">
            <a:r>
              <a:t>https://www.mos.ru/mayor/themes/8822050/</a:t>
            </a:r>
          </a:p>
          <a:p xmlns:a="http://schemas.openxmlformats.org/drawingml/2006/main">
            <a:r>
              <a:t>http://special.kremlin.ru/catalog/persons/38/events/70467</a:t>
            </a:r>
          </a:p>
          <a:p xmlns:a="http://schemas.openxmlformats.org/drawingml/2006/main">
            <a:r>
              <a:t>https://www.mos.ru/upload/content/files/15af077500dcc5a1547bf728abf25669/15Zakong_Moskviot17_05_2017N14Odopolnitelnihgaranti.pdf</a:t>
            </a:r>
          </a:p>
          <a:p xmlns:a="http://schemas.openxmlformats.org/drawingml/2006/main">
            <a:r>
              <a:t>https://www.rbc.ru/politics/03/05/2023/645245159a794763ce66d990</a:t>
            </a:r>
          </a:p>
          <a:p xmlns:a="http://schemas.openxmlformats.org/drawingml/2006/main">
            <a:r>
              <a:t>https://www.dw.com/ru/ataka-dronov-v-moskve-i-podmoskove-cto-izvestno/a-65771767</a:t>
            </a:r>
          </a:p>
          <a:p xmlns:a="http://schemas.openxmlformats.org/drawingml/2006/main">
            <a:r>
              <a:t>https://www.rbc.ru/politics/01/08/2023/64c856ce9a79471a722e13ad</a:t>
            </a:r>
          </a:p>
          <a:p xmlns:a="http://schemas.openxmlformats.org/drawingml/2006/main">
            <a:r>
              <a:t>https://www.rbc.ru/politics/23/08/2023/64e54f299a794789ddb55c65</a:t>
            </a:r>
          </a:p>
          <a:p xmlns:a="http://schemas.openxmlformats.org/drawingml/2006/main">
            <a:r>
              <a:t>https://ru.wikipedia.org/wiki/Беглов,_Александр_Дмитриевич</a:t>
            </a:r>
          </a:p>
          <a:p xmlns:a="http://schemas.openxmlformats.org/drawingml/2006/main">
            <a:r>
              <a:t>https://www.gov.spb.ru/governor/</a:t>
            </a:r>
          </a:p>
          <a:p xmlns:a="http://schemas.openxmlformats.org/drawingml/2006/main">
            <a:r>
              <a:t>https://www.rbc.ru/politics/30/05/2019/5cf02cf09a79475ed4d2fa3f</a:t>
            </a:r>
          </a:p>
          <a:p xmlns:a="http://schemas.openxmlformats.org/drawingml/2006/main">
            <a:r>
              <a:t>https://www.themoscowtimes.com/2019/09/11/st-petersburg-re-elects-governor-beglov-after-controversial-campaign-a67240</a:t>
            </a:r>
          </a:p>
          <a:p xmlns:a="http://schemas.openxmlformats.org/drawingml/2006/main">
            <a:r>
              <a:t>https://www.gov.spb.ru/press/governor/188637/</a:t>
            </a:r>
          </a:p>
          <a:p xmlns:a="http://schemas.openxmlformats.org/drawingml/2006/main">
            <a:r>
              <a:t>https://www.gov.spb.ru/press/governor/213661/</a:t>
            </a:r>
          </a:p>
          <a:p xmlns:a="http://schemas.openxmlformats.org/drawingml/2006/main">
            <a:r>
              <a:t>https://www.gov.spb.ru/press/governor/258831/</a:t>
            </a:r>
          </a:p>
          <a:p xmlns:a="http://schemas.openxmlformats.org/drawingml/2006/main">
            <a:r>
              <a:t>https://www.gov.spb.ru/governor/interview/7333/</a:t>
            </a:r>
          </a:p>
          <a:p xmlns:a="http://schemas.openxmlformats.org/drawingml/2006/main">
            <a:r>
              <a:t>https://tass.ru/interviews/21839179</a:t>
            </a:r>
          </a:p>
          <a:p xmlns:a="http://schemas.openxmlformats.org/drawingml/2006/main">
            <a:r>
              <a:t>https://www.gov.spb.ru/press/governor/236663/</a:t>
            </a:r>
          </a:p>
          <a:p xmlns:a="http://schemas.openxmlformats.org/drawingml/2006/main">
            <a:r>
              <a:t>https://tvspb.ru/news/2022/09/21/aleksandr-beglov-ukaz-prezidenta-o-chastichnoj-mobilizaczii-byl-trudnym-no-neobhodimym-shagom</a:t>
            </a:r>
          </a:p>
          <a:p xmlns:a="http://schemas.openxmlformats.org/drawingml/2006/main">
            <a:r>
              <a:t>https://spbvedomosti.ru/news/gorod/gubernator-aleksandr-beglov-obyavil-o-zavershenii-chastichnoy-mobilizatsii/</a:t>
            </a:r>
          </a:p>
          <a:p xmlns:a="http://schemas.openxmlformats.org/drawingml/2006/main">
            <a:r>
              <a:t>https://www.gov.spb.ru/press/governor/253716/</a:t>
            </a:r>
          </a:p>
          <a:p xmlns:a="http://schemas.openxmlformats.org/drawingml/2006/main">
            <a:r>
              <a:t>https://www.gov.spb.ru/press/governor/290070/</a:t>
            </a:r>
          </a:p>
          <a:p xmlns:a="http://schemas.openxmlformats.org/drawingml/2006/main">
            <a:r>
              <a:t>https://spbdnevnik.ru/news/2022-10-06/aleksandr-beglov-rasskazal-o-prizyve-po-mobilizatsii-peterburzhtsa-s-odnoy-pochkoy</a:t>
            </a:r>
          </a:p>
          <a:p xmlns:a="http://schemas.openxmlformats.org/drawingml/2006/main">
            <a:r>
              <a:t>https://www.rbc.ru/person/62c5c0899a79470082fa57eb</a:t>
            </a:r>
          </a:p>
          <a:p xmlns:a="http://schemas.openxmlformats.org/drawingml/2006/main">
            <a:r>
              <a:t>https://www.kavkaz-uzel.eu/articles/85366</a:t>
            </a:r>
          </a:p>
          <a:p xmlns:a="http://schemas.openxmlformats.org/drawingml/2006/main">
            <a:r>
              <a:t>https://news.ru/regions/my-dolzhny-zabrat-vsyu-ukrainu-chto-kadyrov-govoril-ob-svo-rossii-putine</a:t>
            </a:r>
          </a:p>
          <a:p xmlns:a="http://schemas.openxmlformats.org/drawingml/2006/main">
            <a:r>
              <a:t>https://minval.az/k/ramzan-kadyrov</a:t>
            </a:r>
          </a:p>
          <a:p xmlns:a="http://schemas.openxmlformats.org/drawingml/2006/main">
            <a:r>
              <a:t>http://publication.pravo.gov.ru/document/2000202609160002</a:t>
            </a:r>
          </a:p>
          <a:p xmlns:a="http://schemas.openxmlformats.org/drawingml/2006/main">
            <a:r>
              <a:t>https://vestikavkaza.ru/amp/291219</a:t>
            </a:r>
          </a:p>
          <a:p xmlns:a="http://schemas.openxmlformats.org/drawingml/2006/main">
            <a:r>
              <a:t>https://tass.ru/obschestvo/25968415</a:t>
            </a:r>
          </a:p>
          <a:p xmlns:a="http://schemas.openxmlformats.org/drawingml/2006/main">
            <a:r>
              <a:t>https://www.rbc.ru/rbcfreenews/694558f89a794775c8b05d2e</a:t>
            </a:r>
          </a:p>
          <a:p xmlns:a="http://schemas.openxmlformats.org/drawingml/2006/main">
            <a:r>
              <a:t>https://rais.tatarstan.ru/biografiya.htm</a:t>
            </a:r>
          </a:p>
          <a:p xmlns:a="http://schemas.openxmlformats.org/drawingml/2006/main">
            <a:r>
              <a:t>https://rt.rbc.ru/tatarstan/freenews/68c7f77d9a79472be550408e</a:t>
            </a:r>
          </a:p>
          <a:p xmlns:a="http://schemas.openxmlformats.org/drawingml/2006/main">
            <a:r>
              <a:t>https://rt.rbc.ru/tatarstan/freenews/68c90bdc9a794783273a16b6</a:t>
            </a:r>
          </a:p>
          <a:p xmlns:a="http://schemas.openxmlformats.org/drawingml/2006/main">
            <a:r>
              <a:t>https://tass.ru/politika/25045679</a:t>
            </a:r>
          </a:p>
          <a:p xmlns:a="http://schemas.openxmlformats.org/drawingml/2006/main">
            <a:r>
              <a:t>https://tass.ru/info/25058299</a:t>
            </a:r>
          </a:p>
          <a:p xmlns:a="http://schemas.openxmlformats.org/drawingml/2006/main">
            <a:r>
              <a:t>https://tatarstan.ru/index.htm/news/2454245.htm</a:t>
            </a:r>
          </a:p>
          <a:p xmlns:a="http://schemas.openxmlformats.org/drawingml/2006/main">
            <a:r>
              <a:t>https://izbirkom.tatarstan.ru/file/pub/pub_4719790.docx</a:t>
            </a:r>
          </a:p>
          <a:p xmlns:a="http://schemas.openxmlformats.org/drawingml/2006/main">
            <a:r>
              <a:t>http://www.pfo.gov.ru/press/events/112125/</a:t>
            </a:r>
          </a:p>
          <a:p xmlns:a="http://schemas.openxmlformats.org/drawingml/2006/main">
            <a:r>
              <a:t>https://www.tatar-inform.ru/news/rustam-minnixanov-sankcii-ne-koncatsya-poka-my-ne-stanem-samodostatocnymi-5896958</a:t>
            </a:r>
          </a:p>
          <a:p xmlns:a="http://schemas.openxmlformats.org/drawingml/2006/main">
            <a:r>
              <a:t>https://tatarstan.ru/index.htm/news/1916025.htm</a:t>
            </a:r>
          </a:p>
          <a:p xmlns:a="http://schemas.openxmlformats.org/drawingml/2006/main">
            <a:r>
              <a:t>https://kitaphane.tatarstan.ru/digital.htm</a:t>
            </a:r>
          </a:p>
          <a:p xmlns:a="http://schemas.openxmlformats.org/drawingml/2006/main">
            <a:r>
              <a:t>https://kt.tatarstan.ru/index.htm/news/2266706.htm</a:t>
            </a:r>
          </a:p>
          <a:p xmlns:a="http://schemas.openxmlformats.org/drawingml/2006/main">
            <a:r>
              <a:t>https://tatarstan.ru/index.htm/news/2460505.htm</a:t>
            </a:r>
          </a:p>
          <a:p xmlns:a="http://schemas.openxmlformats.org/drawingml/2006/main">
            <a:r>
              <a:t>https://digital.tatarstan.ru/index.htm/news/2460691.htm</a:t>
            </a:r>
          </a:p>
          <a:p xmlns:a="http://schemas.openxmlformats.org/drawingml/2006/main">
            <a:r>
              <a:t>https://amp.rbc.ru/rbcnews/politics/09/07/2020/5f06bbb69a79475c40a9a094</a:t>
            </a:r>
          </a:p>
          <a:p xmlns:a="http://schemas.openxmlformats.org/drawingml/2006/main">
            <a:r>
              <a:t>https://1kas.sudrf.ru/modules.php?name=sud_delo&amp;name_op=doc&amp;number=39453936&amp;delo_id=2450001&amp;case_type=0&amp;new=2450001&amp;text_number=1&amp;srv_num=1</a:t>
            </a:r>
          </a:p>
          <a:p xmlns:a="http://schemas.openxmlformats.org/drawingml/2006/main">
            <a:r>
              <a:t>https://www.interfax.ru/russia/982916</a:t>
            </a:r>
          </a:p>
          <a:p xmlns:a="http://schemas.openxmlformats.org/drawingml/2006/main">
            <a:r>
              <a:t>https://www.svoboda.org/a/sud-ostavil-v-sile-prigovor-habarovskomu-eks-gubernatoru-sergeyu-furgalu/32686024.html</a:t>
            </a:r>
          </a:p>
          <a:p xmlns:a="http://schemas.openxmlformats.org/drawingml/2006/main">
            <a:r>
              <a:t>https://www.dw.com/ru/kommentarij-furgal-peresidit-putina/a-64670560</a:t>
            </a:r>
          </a:p>
          <a:p xmlns:a="http://schemas.openxmlformats.org/drawingml/2006/main">
            <a:r>
              <a:t>https://www.kommersant.ru/doc/3896415</a:t>
            </a:r>
          </a:p>
          <a:p xmlns:a="http://schemas.openxmlformats.org/drawingml/2006/main">
            <a:r>
              <a:t>https://todaykhv.ru/news/policy/19386/</a:t>
            </a:r>
          </a:p>
          <a:p xmlns:a="http://schemas.openxmlformats.org/drawingml/2006/main">
            <a:r>
              <a:t>https://meduza.io/feature/2018/09/19/ya-dumayu-chto-situatsiya-kak-v-primorie-u-nas-ne-povtoritsya</a:t>
            </a:r>
          </a:p>
          <a:p xmlns:a="http://schemas.openxmlformats.org/drawingml/2006/main">
            <a:r>
              <a:t>https://govoritmoskva.ru/news/174327/</a:t>
            </a:r>
          </a:p>
          <a:p xmlns:a="http://schemas.openxmlformats.org/drawingml/2006/main">
            <a:r>
              <a:t>https://todaykhv.ru/news/policy/22426/?sphrase_id=2620206</a:t>
            </a:r>
          </a:p>
          <a:p xmlns:a="http://schemas.openxmlformats.org/drawingml/2006/main">
            <a:r>
              <a:t>https://ru.wikipedia.org/wiki/%D0%A4%D1%83%D1%80%D0%B3%D0%B0%D0%BB,_%D0%A1%D0%B5%D1%80%D0%B3%D0%B5%D0%B9_%D0%98%D0%B2%D0%B0%D0%BD%D0%BE%D0%B2%D0%B8%D1%87</a:t>
            </a:r>
          </a:p>
          <a:p xmlns:a="http://schemas.openxmlformats.org/drawingml/2006/main">
            <a:r>
              <a:t>https://novayagazeta.ru/articles/2018/09/18/77870-ne-dopuschu-zdes-revolyutsii</a:t>
            </a:r>
          </a:p>
          <a:p xmlns:a="http://schemas.openxmlformats.org/drawingml/2006/main">
            <a:r>
              <a:t>https://opkhv.ru/publications/4888</a:t>
            </a:r>
          </a:p>
          <a:p xmlns:a="http://schemas.openxmlformats.org/drawingml/2006/main">
            <a:r>
              <a:t>https://meduza.io/feature/2019/08/26/partiya-vlasti-zdes-ldpr</a:t>
            </a:r>
          </a:p>
          <a:p xmlns:a="http://schemas.openxmlformats.org/drawingml/2006/main">
            <a:r>
              <a:t>https://tass.ru/obschestvo/5946495</a:t>
            </a:r>
          </a:p>
          <a:p xmlns:a="http://schemas.openxmlformats.org/drawingml/2006/main">
            <a:r>
              <a:t>https://amurmedia.ru/news/775590/</a:t>
            </a:r>
          </a:p>
          <a:p xmlns:a="http://schemas.openxmlformats.org/drawingml/2006/main">
            <a:r>
              <a:t>https://www.eastrussia.ru/material/ne-planiruyushchim-pereezzhat-sovetuyu-pomolchat/</a:t>
            </a:r>
          </a:p>
          <a:p xmlns:a="http://schemas.openxmlformats.org/drawingml/2006/main">
            <a:r>
              <a:t>https://www.dw.com/ru/v-habarovske-priznali-ekstremistskim-dvizenie-v-zasitu-furgala/a-68334442</a:t>
            </a:r>
          </a:p>
          <a:p xmlns:a="http://schemas.openxmlformats.org/drawingml/2006/main">
            <a:r>
              <a:t>https://www.rbc.ru/person/66475fec9a79475c4d9443ad</a:t>
            </a:r>
          </a:p>
          <a:p xmlns:a="http://schemas.openxmlformats.org/drawingml/2006/main">
            <a:r>
              <a:t>https://tass.ru/info/12453099</a:t>
            </a:r>
          </a:p>
          <a:p xmlns:a="http://schemas.openxmlformats.org/drawingml/2006/main">
            <a:r>
              <a:t>https://tass.ru/info/9007455</a:t>
            </a:r>
          </a:p>
          <a:p xmlns:a="http://schemas.openxmlformats.org/drawingml/2006/main">
            <a:r>
              <a:t>https://tass.ru/info/20795009</a:t>
            </a:r>
          </a:p>
          <a:p xmlns:a="http://schemas.openxmlformats.org/drawingml/2006/main">
            <a:r>
              <a:t>https://tass.ru/encyclopedia/person/degtyarev-mihail-vladimirovich</a:t>
            </a:r>
          </a:p>
          <a:p xmlns:a="http://schemas.openxmlformats.org/drawingml/2006/main">
            <a:r>
              <a:t>https://www.rbc.ru/politics/20/07/2020/5f1586289a794722b2457d61</a:t>
            </a:r>
          </a:p>
          <a:p xmlns:a="http://schemas.openxmlformats.org/drawingml/2006/main">
            <a:r>
              <a:t>https://www.minsport.gov.ru/press-center/news/intervyu-mihaila-degtyareva-gazete-kommersant/</a:t>
            </a:r>
          </a:p>
          <a:p xmlns:a="http://schemas.openxmlformats.org/drawingml/2006/main">
            <a:r>
              <a:t>https://minsport.gov.ru/press-center/news/mihail-degtyarev-nashe-mesto-za-stolom-a-ne-v-perednej/</a:t>
            </a:r>
          </a:p>
          <a:p xmlns:a="http://schemas.openxmlformats.org/drawingml/2006/main">
            <a:r>
              <a:t>https://news.ru/vlast/degtyarev-prizval-ne-doveryat-evrope-provedenie-sorevnovanij</a:t>
            </a:r>
          </a:p>
          <a:p xmlns:a="http://schemas.openxmlformats.org/drawingml/2006/main">
            <a:r>
              <a:t>https://www.interfax.ru/presscenter/622170</a:t>
            </a:r>
          </a:p>
          <a:p xmlns:a="http://schemas.openxmlformats.org/drawingml/2006/main">
            <a:r>
              <a:t>https://tass.ru/interviews/13152777</a:t>
            </a:r>
          </a:p>
          <a:p xmlns:a="http://schemas.openxmlformats.org/drawingml/2006/main">
            <a:r>
              <a:t>https://www.sports.ru/others/blogs/3302024.html</a:t>
            </a:r>
          </a:p>
          <a:p xmlns:a="http://schemas.openxmlformats.org/drawingml/2006/main">
            <a:r>
              <a:t>https://www.vremyan.ru/news/556863</a:t>
            </a:r>
          </a:p>
          <a:p xmlns:a="http://schemas.openxmlformats.org/drawingml/2006/main">
            <a:r>
              <a:t>https://kprf.ru/personal/levchenko</a:t>
            </a:r>
          </a:p>
          <a:p xmlns:a="http://schemas.openxmlformats.org/drawingml/2006/main">
            <a:r>
              <a:t>https://www.rbc.ru/politics/23/06/2020/5ef0bd949a7947b3cd3dcba6</a:t>
            </a:r>
          </a:p>
          <a:p xmlns:a="http://schemas.openxmlformats.org/drawingml/2006/main">
            <a:r>
              <a:t>https://kprf.ru/party-live/regnews/194838.html</a:t>
            </a:r>
          </a:p>
          <a:p xmlns:a="http://schemas.openxmlformats.org/drawingml/2006/main">
            <a:r>
              <a:t>https://liveangarsk.ru/news/20191214/v-slozhivsheisya</a:t>
            </a:r>
          </a:p>
          <a:p xmlns:a="http://schemas.openxmlformats.org/drawingml/2006/main">
            <a:r>
              <a:t>https://kprf.ru/dep/gosduma/activities/240271.html</a:t>
            </a:r>
          </a:p>
          <a:p xmlns:a="http://schemas.openxmlformats.org/drawingml/2006/main">
            <a:r>
              <a:t>https://kprf.ru/dep/gosduma/activities/241686.html</a:t>
            </a:r>
          </a:p>
          <a:p xmlns:a="http://schemas.openxmlformats.org/drawingml/2006/main">
            <a:r>
              <a:t>https://altairk.ru/new/policy/the_message_of_the_governor</a:t>
            </a:r>
          </a:p>
          <a:p xmlns:a="http://schemas.openxmlformats.org/drawingml/2006/main">
            <a:r>
              <a:t>https://kto-irkutsk.ru/2026/07/20/sergej-levchenko-deyatelnost-i-zayavleniya-i-ix-ocenka/</a:t>
            </a:r>
          </a:p>
          <a:p xmlns:a="http://schemas.openxmlformats.org/drawingml/2006/main">
            <a:r>
              <a:t>https://ru.wikipedia.org/wiki/%D0%9B%D0%B5%D0%B2%D1%87%D0%B5%D0%BD%D0%BA%D0%BE,_%D0%A1%D0%B5%D1%80%D0%B3%D0%B5%D0%B9_%D0%93%D0%B5%D0%BE%D1%80%D0%B3%D0%B8%D0%B5%D0%B2%D0%B8%D1%87</a:t>
            </a:r>
          </a:p>
          <a:p xmlns:a="http://schemas.openxmlformats.org/drawingml/2006/main">
            <a:r>
              <a:t>https://www.newsru.com/dossiers/10330/</a:t>
            </a:r>
          </a:p>
          <a:p xmlns:a="http://schemas.openxmlformats.org/drawingml/2006/main">
            <a:r>
              <a:t>https://www.interfax.ru/russia/714300</a:t>
            </a:r>
          </a:p>
          <a:p xmlns:a="http://schemas.openxmlformats.org/drawingml/2006/main">
            <a:r>
              <a:t>https://www.rbc.ru/politics/14/09/2020/5f5e7dfb9a79477f7753d651</a:t>
            </a:r>
          </a:p>
          <a:p xmlns:a="http://schemas.openxmlformats.org/drawingml/2006/main">
            <a:r>
              <a:t>https://www.rline.tv/podrobnosti/2019-10-06-sergey-levchenko-za-chetyre-goda-sdelano-bolshe-chem-za-predydushchie-15-let/</a:t>
            </a:r>
          </a:p>
          <a:p xmlns:a="http://schemas.openxmlformats.org/drawingml/2006/main">
            <a:r>
              <a:t>https://vs19.ru/verhovny-sovet/deputati/670-konovalov-valentin-olegovich</a:t>
            </a:r>
          </a:p>
          <a:p xmlns:a="http://schemas.openxmlformats.org/drawingml/2006/main">
            <a:r>
              <a:t>https://meduza.io/feature/2018/09/10/etu-vlast-nichego-ne-spaset</a:t>
            </a:r>
          </a:p>
          <a:p xmlns:a="http://schemas.openxmlformats.org/drawingml/2006/main">
            <a:r>
              <a:t>https://kprf.ru/party-live/regnews/188553.html</a:t>
            </a:r>
          </a:p>
          <a:p xmlns:a="http://schemas.openxmlformats.org/drawingml/2006/main">
            <a:r>
              <a:t>https://www.kommersant.ru/doc/4441936</a:t>
            </a:r>
          </a:p>
          <a:p xmlns:a="http://schemas.openxmlformats.org/drawingml/2006/main">
            <a:r>
              <a:t>http://www.youtube.com/watch?v=eO6lUkFCAqM</a:t>
            </a:r>
          </a:p>
          <a:p xmlns:a="http://schemas.openxmlformats.org/drawingml/2006/main">
            <a:r>
              <a:t>https://ru.wikipedia.org/wiki/%D0%92%D1%8B%D0%B1%D0%BE%D1%80%D1%8B_%D0%B3%D0%BB%D0%B0%D0%B2%D1%8B_%D0%A0%D0%B5%D1%81%D0%BF%D1%83%D0%B1%D0%BB%D0%B8%D0%BA%D0%B8_%D0%A5%D0%B0%D0%BA%D0%B0%D1%81%D0%B8%D1%8F_(2018)</a:t>
            </a:r>
          </a:p>
          <a:p xmlns:a="http://schemas.openxmlformats.org/drawingml/2006/main">
            <a:r>
              <a:t>https://ok.ru/group/51615057903766/topic/157744983021718</a:t>
            </a:r>
          </a:p>
          <a:p xmlns:a="http://schemas.openxmlformats.org/drawingml/2006/main">
            <a:r>
              <a:t>https://kprf.ru/party-live/cknews/245343.html</a:t>
            </a:r>
          </a:p>
          <a:p xmlns:a="http://schemas.openxmlformats.org/drawingml/2006/main">
            <a:r>
              <a:t>https://r-19.ru/news/politika/190680/</a:t>
            </a:r>
          </a:p>
          <a:p xmlns:a="http://schemas.openxmlformats.org/drawingml/2006/main">
            <a:r>
              <a:t>https://r-19.ru/news/ekonomika/193031/</a:t>
            </a:r>
          </a:p>
          <a:p xmlns:a="http://schemas.openxmlformats.org/drawingml/2006/main">
            <a:r>
              <a:t>https://19rusinfo.ru/ekonomika/118670-otchjot</a:t>
            </a:r>
          </a:p>
          <a:p xmlns:a="http://schemas.openxmlformats.org/drawingml/2006/main">
            <a:r>
              <a:t>https://iditena.ru/candidates/konovalov-valentin-olegovich/</a:t>
            </a:r>
          </a:p>
          <a:p xmlns:a="http://schemas.openxmlformats.org/drawingml/2006/main">
            <a:r>
              <a:t>https://56.kprf.ru/deyatelnost/tpost/gjjjuy1zi1-glava-hakasii-valentin-konovalov-dal-int</a:t>
            </a:r>
          </a:p>
          <a:p xmlns:a="http://schemas.openxmlformats.org/drawingml/2006/main">
            <a:r>
              <a:t>https://meduza.io/feature/2019/05/31/strana-pobedivshego-kommunista</a:t>
            </a:r>
          </a:p>
          <a:p xmlns:a="http://schemas.openxmlformats.org/drawingml/2006/main">
            <a:r>
              <a:t>https://xn--80aac0c2a.xn--p1acf/2026/08/22/vstrecha-s-uchastiem-valentina-konovalova-i-alekseya-kornienko-proshla-v-habarovske</a:t>
            </a:r>
          </a:p>
          <a:p xmlns:a="http://schemas.openxmlformats.org/drawingml/2006/main">
            <a:r>
              <a:t>https://www.vedomosti.ru/politics/characters/2026/07/06/1211370-valentin-konovalov-rossiya-na-moskve-ne-zakanchivaetsya?from=newsline</a:t>
            </a:r>
          </a:p>
          <a:p xmlns:a="http://schemas.openxmlformats.org/drawingml/2006/main">
            <a:r>
              <a:t>https://www.vedomosti.ru/person/1215197-aksenov-sergei</a:t>
            </a:r>
          </a:p>
          <a:p xmlns:a="http://schemas.openxmlformats.org/drawingml/2006/main">
            <a:r>
              <a:t>https://www.rbc.ru/person/65f020599a79475815e702c9</a:t>
            </a:r>
          </a:p>
          <a:p xmlns:a="http://schemas.openxmlformats.org/drawingml/2006/main">
            <a:r>
              <a:t>http://crimea.gov.ru/news/30_03_18_10</a:t>
            </a:r>
          </a:p>
          <a:p xmlns:a="http://schemas.openxmlformats.org/drawingml/2006/main">
            <a:r>
              <a:t>https://www.npr.org/sections/parallels/2018/01/27/581114772/putins-man-in-crimea-we-ve-returned-to-russia-forever</a:t>
            </a:r>
          </a:p>
          <a:p xmlns:a="http://schemas.openxmlformats.org/drawingml/2006/main">
            <a:r>
              <a:t>http://crimea.gov.ru/en/news/26_02_19_6</a:t>
            </a:r>
          </a:p>
          <a:p xmlns:a="http://schemas.openxmlformats.org/drawingml/2006/main">
            <a:r>
              <a:t>https://antifashist.com/item/kto-polomal-infopole-kryma-i-ne-otvechaet-na-voprosy.html</a:t>
            </a:r>
          </a:p>
          <a:p xmlns:a="http://schemas.openxmlformats.org/drawingml/2006/main">
            <a:r>
              <a:t>https://ru.krymr.com/a/news/27913548.html</a:t>
            </a:r>
          </a:p>
          <a:p xmlns:a="http://schemas.openxmlformats.org/drawingml/2006/main">
            <a:r>
              <a:t>https://simfch.ru/2022/03/02/glava-respubliki-krym-sergej-aksyonov-prizval-krymchan-k-informaczionnoj-mobilizaczii-otkrytomu-i-publichnomu-vyrazheniyu-svoej-patrioticheskoj-poziczii/</a:t>
            </a:r>
          </a:p>
          <a:p xmlns:a="http://schemas.openxmlformats.org/drawingml/2006/main">
            <a:r>
              <a:t>https://www.rbc.ru/politics/29/05/2023/64749e389a7947f3de98dff2</a:t>
            </a:r>
          </a:p>
          <a:p xmlns:a="http://schemas.openxmlformats.org/drawingml/2006/main">
            <a:r>
              <a:t>https://ru.krymr.com/a/krym-sergey-aksenov-pvo-prilety-bavovna-bezopasnost-pvo-udar/32631709.html</a:t>
            </a:r>
          </a:p>
          <a:p xmlns:a="http://schemas.openxmlformats.org/drawingml/2006/main">
            <a:r>
              <a:t>https://rostov.rbc.ru/rostov/interview/18/03/2024/65f75c4f9a7947c8b475ab94</a:t>
            </a:r>
          </a:p>
          <a:p xmlns:a="http://schemas.openxmlformats.org/drawingml/2006/main">
            <a:r>
              <a:t>https://www.kommersant.ru/doc/7715230</a:t>
            </a:r>
          </a:p>
          <a:p xmlns:a="http://schemas.openxmlformats.org/drawingml/2006/main">
            <a:r>
              <a:t>https://www.kommersant.ru/doc/5154319</a:t>
            </a:r>
          </a:p>
          <a:p xmlns:a="http://schemas.openxmlformats.org/drawingml/2006/main">
            <a:r>
              <a:t>https://www.rbc.ru/person/660290b19a7947801fe9439b</a:t>
            </a:r>
          </a:p>
          <a:p xmlns:a="http://schemas.openxmlformats.org/drawingml/2006/main">
            <a:r>
              <a:t>https://www.kommersant.ru/doc/3759211</a:t>
            </a:r>
          </a:p>
          <a:p xmlns:a="http://schemas.openxmlformats.org/drawingml/2006/main">
            <a:r>
              <a:t>https://tass.ru/info/6656656</a:t>
            </a:r>
          </a:p>
          <a:p xmlns:a="http://schemas.openxmlformats.org/drawingml/2006/main">
            <a:r>
              <a:t>https://sevastopol.er.ru/pages/otchet-gubernatora-sevastopolya-mihaila-razvozhaeva</a:t>
            </a:r>
          </a:p>
          <a:p xmlns:a="http://schemas.openxmlformats.org/drawingml/2006/main">
            <a:r>
              <a:t>http://special.kremlin.ru/catalog/persons/579/events/76271</a:t>
            </a:r>
          </a:p>
          <a:p xmlns:a="http://schemas.openxmlformats.org/drawingml/2006/main">
            <a:r>
              <a:t>https://sevastopol.su/news/chastnyy-biznes-vlozhil-v-sevastopol-250-mlrd-rubley-za-tri-goda</a:t>
            </a:r>
          </a:p>
          <a:p xmlns:a="http://schemas.openxmlformats.org/drawingml/2006/main">
            <a:r>
              <a:t>https://sevastopol.su/news/v-sevastopole-ocenili-perspektivy-mikhaila-razvozhaeva-na-sleduyuschikh-vyborakh</a:t>
            </a:r>
          </a:p>
          <a:p xmlns:a="http://schemas.openxmlformats.org/drawingml/2006/main">
            <a:r>
              <a:t>https://tass.ru/interviews/10248577</a:t>
            </a:r>
          </a:p>
          <a:p xmlns:a="http://schemas.openxmlformats.org/drawingml/2006/main">
            <a:r>
              <a:t>https://news.ru/russia/u-nas-smelye-plany-gubernator-sevastopolya-razvozzhaev-o-budushem-goroda</a:t>
            </a:r>
          </a:p>
          <a:p xmlns:a="http://schemas.openxmlformats.org/drawingml/2006/main">
            <a:r>
              <a:t>http://kremlin.ru/events/administration/80838</a:t>
            </a:r>
          </a:p>
          <a:p xmlns:a="http://schemas.openxmlformats.org/drawingml/2006/main">
            <a:r>
              <a:t>https://tass.ru/kultura/28214691</a:t>
            </a:r>
          </a:p>
          <a:p xmlns:a="http://schemas.openxmlformats.org/drawingml/2006/main">
            <a:r>
              <a:t>http://kremlin.ru/events/administration/80591</a:t>
            </a:r>
          </a:p>
          <a:p xmlns:a="http://schemas.openxmlformats.org/drawingml/2006/main">
            <a:r>
              <a:t>https://governors.ru/glava-regiona/Belgorodskaya-oblast/Gladkov-Vyacheslav-Vladimirovich</a:t>
            </a:r>
          </a:p>
          <a:p xmlns:a="http://schemas.openxmlformats.org/drawingml/2006/main">
            <a:r>
              <a:t>https://ru.wikipedia.org/wiki/%D0%93%D0%BB%D0%B0%D0%B4%D0%BA%D0%BE%D0%B2,_%D0%92%D1%8F%D1%87%D0%B5%D1%81%D0%BB%D0%B0%D0%B2_%D0%92%D0%BB%D0%B0%D0%B4%D0%B8%D0%BC%D0%B8%D1%80%D0%BE%D0%B2%D0%B8%D1%87</a:t>
            </a:r>
          </a:p>
          <a:p xmlns:a="http://schemas.openxmlformats.org/drawingml/2006/main">
            <a:r>
              <a:t>http://council.gov.ru/structure/persons/1543/</a:t>
            </a:r>
          </a:p>
          <a:p xmlns:a="http://schemas.openxmlformats.org/drawingml/2006/main">
            <a:r>
              <a:t>https://ufa.rbc.ru/person/648345539a794760fd0c17e8</a:t>
            </a:r>
          </a:p>
          <a:p xmlns:a="http://schemas.openxmlformats.org/drawingml/2006/main">
            <a:r>
              <a:t>https://www.kommersant.ru/doc/8571119</a:t>
            </a:r>
          </a:p>
          <a:p xmlns:a="http://schemas.openxmlformats.org/drawingml/2006/main">
            <a:r>
              <a:t>https://www.kommersant.ru/doc/8655079</a:t>
            </a:r>
          </a:p>
          <a:p xmlns:a="http://schemas.openxmlformats.org/drawingml/2006/main">
            <a:r>
              <a:t>https://tass.ru/info/27861241</a:t>
            </a:r>
          </a:p>
          <a:p xmlns:a="http://schemas.openxmlformats.org/drawingml/2006/main">
            <a:r>
              <a:t>https://meduza.io/feature/2023/06/08/emu-by-vse-eto-razgresti</a:t>
            </a:r>
          </a:p>
          <a:p xmlns:a="http://schemas.openxmlformats.org/drawingml/2006/main">
            <a:r>
              <a:t>http://www.kremlin.ru/events/president/transcripts/66288</a:t>
            </a:r>
          </a:p>
          <a:p xmlns:a="http://schemas.openxmlformats.org/drawingml/2006/main">
            <a:r>
              <a:t>https://www.belpressa.ru/politics/vlast/62665.html</a:t>
            </a:r>
          </a:p>
          <a:p xmlns:a="http://schemas.openxmlformats.org/drawingml/2006/main">
            <a:r>
              <a:t>https://www.belpressa.ru/politics/vlast/71368.html</a:t>
            </a:r>
          </a:p>
          <a:p xmlns:a="http://schemas.openxmlformats.org/drawingml/2006/main">
            <a:r>
              <a:t>https://www.belnovosti.ru/politika/gubernator/127077.html</a:t>
            </a:r>
          </a:p>
          <a:p xmlns:a="http://schemas.openxmlformats.org/drawingml/2006/main">
            <a:r>
              <a:t>https://chr.plus.rbc.ru/news/694b9fb67a8aa90f9c2ce17d</a:t>
            </a:r>
          </a:p>
          <a:p xmlns:a="http://schemas.openxmlformats.org/drawingml/2006/main">
            <a:r>
              <a:t>https://www.belpressa.ru/society/bezopasnost/43348.html</a:t>
            </a:r>
          </a:p>
          <a:p xmlns:a="http://schemas.openxmlformats.org/drawingml/2006/main">
            <a:r>
              <a:t>https://www.rbc.ru/politics/07/03/2023/640758bf9a7947f6af99d464</a:t>
            </a:r>
          </a:p>
          <a:p xmlns:a="http://schemas.openxmlformats.org/drawingml/2006/main">
            <a:r>
              <a:t>https://www.rbc.ru/politics/24/05/2023/646d22029a794797c4bac4bf</a:t>
            </a:r>
          </a:p>
          <a:p xmlns:a="http://schemas.openxmlformats.org/drawingml/2006/main">
            <a:r>
              <a:t>https://www.bbc.com/russian/articles/c70dkd0pvrlo</a:t>
            </a:r>
          </a:p>
          <a:p xmlns:a="http://schemas.openxmlformats.org/drawingml/2006/main">
            <a:r>
              <a:t>https://www.go31.ru/news/proisshestviya/kak-nikto-drugoy-ponimaem-chto-takoe-agressiya-so-storony-ukrainy-gladkov-o-proryve-granitsy-v-kursk/</a:t>
            </a:r>
          </a:p>
          <a:p xmlns:a="http://schemas.openxmlformats.org/drawingml/2006/main">
            <a:r>
              <a:t>https://echofm.online/portret-dnya/portret-dnya-vyacheslav-gladkov-gubernator-belgorodskoj-oblasti-prognozy-o-sudbe-kotorogo-raznyatsya-ot-posta-posla-v-abhazii-do-ugolovnogo-dela</a:t>
            </a:r>
          </a:p>
          <a:p xmlns:a="http://schemas.openxmlformats.org/drawingml/2006/main">
            <a:r>
              <a:t>https://www.kommersant.ru/doc/3917861</a:t>
            </a:r>
          </a:p>
          <a:p xmlns:a="http://schemas.openxmlformats.org/drawingml/2006/main">
            <a:r>
              <a:t>https://minstroyrf.gov.ru/press/okolo-40-kontsessionnykh-soglasheniy-v-rossii-deystvuet-v-sfere-zhkkh/</a:t>
            </a:r>
          </a:p>
          <a:p xmlns:a="http://schemas.openxmlformats.org/drawingml/2006/main">
            <a:r>
              <a:t>https://newsroom24.ru/murmansk/news/politics/2026/news_323931/</a:t>
            </a:r>
          </a:p>
          <a:p xmlns:a="http://schemas.openxmlformats.org/drawingml/2006/main">
            <a:r>
              <a:t>https://murmansk.ru/52053</a:t>
            </a:r>
          </a:p>
          <a:p xmlns:a="http://schemas.openxmlformats.org/drawingml/2006/main">
            <a:r>
              <a:t>https://51.ru/text/gorod/2026/01/22/76228112/</a:t>
            </a:r>
          </a:p>
          <a:p xmlns:a="http://schemas.openxmlformats.org/drawingml/2006/main">
            <a:r>
              <a:t>https://www.murman.ru/news/2026/05/02/2334/</a:t>
            </a:r>
          </a:p>
          <a:p xmlns:a="http://schemas.openxmlformats.org/drawingml/2006/main">
            <a:r>
              <a:t>https://murman.ru/news/2026/09/06/2141/</a:t>
            </a:r>
          </a:p>
          <a:p xmlns:a="http://schemas.openxmlformats.org/drawingml/2006/main">
            <a:r>
              <a:t>https://www.murman.ru/news/2026/09/13/2242/</a:t>
            </a:r>
          </a:p>
          <a:p xmlns:a="http://schemas.openxmlformats.org/drawingml/2006/main">
            <a:r>
              <a:t>https://ru.wikipedia.org/wiki/%D0%A7%D0%B8%D0%B1%D0%B8%D1%81,_%D0%90%D0%BD%D0%B4%D1%80%D0%B5%D0%B9_%D0%92%D0%BB%D0%B0%D0%B4%D0%B8%D0%BC%D0%B8%D1%80%D0%BE%D0%B2%D0%B8%D1%87</a:t>
            </a:r>
          </a:p>
          <a:p xmlns:a="http://schemas.openxmlformats.org/drawingml/2006/main">
            <a:r>
              <a:t>https://tass.ru/obschestvo/23491353</a:t>
            </a:r>
          </a:p>
          <a:p xmlns:a="http://schemas.openxmlformats.org/drawingml/2006/main">
            <a:r>
              <a:t>https://www.murman.ru/news/2026/09/03/2243/</a:t>
            </a:r>
          </a:p>
          <a:p xmlns:a="http://schemas.openxmlformats.org/drawingml/2006/main">
            <a:r>
              <a:t>https://msp.citymurmansk.ru/news/2026/09/03/0930/</a:t>
            </a:r>
          </a:p>
          <a:p xmlns:a="http://schemas.openxmlformats.org/drawingml/2006/main">
            <a:r>
              <a:t>http://kremlin.ru/events/president/letters/80916</a:t>
            </a:r>
          </a:p>
          <a:p xmlns:a="http://schemas.openxmlformats.org/drawingml/2006/main">
            <a:r>
              <a:t>https://www.murmansk.kp.ru/daily/277813.4/5300258/</a:t>
            </a:r>
          </a:p>
          <a:p xmlns:a="http://schemas.openxmlformats.org/drawingml/2006/main">
            <a:r>
              <a:t>https://www.fontanka.ru/2021/07/27/70046798/</a:t>
            </a:r>
          </a:p>
          <a:p xmlns:a="http://schemas.openxmlformats.org/drawingml/2006/main">
            <a:r>
              <a:t>https://www.kommersant.ru/doc/4639758</a:t>
            </a:r>
          </a:p>
          <a:p xmlns:a="http://schemas.openxmlformats.org/drawingml/2006/main">
            <a:r>
              <a:t>https://www.bbc.com/russian/news-55614829</a:t>
            </a:r>
          </a:p>
          <a:p xmlns:a="http://schemas.openxmlformats.org/drawingml/2006/main">
            <a:r>
              <a:t>https://newpeople.ru/Deputy/sardana-avksenteva</a:t>
            </a:r>
          </a:p>
          <a:p xmlns:a="http://schemas.openxmlformats.org/drawingml/2006/main">
            <a:r>
              <a:t>https://www.pnp.ru/economics/kontrol-za-koncessionnymi-soglasheniyami-predlozhili-usilit.html</a:t>
            </a:r>
          </a:p>
          <a:p xmlns:a="http://schemas.openxmlformats.org/drawingml/2006/main">
            <a:r>
              <a:t>https://www.ng.ru/politics/2024-12-05/1_9150_right.html</a:t>
            </a:r>
          </a:p>
          <a:p xmlns:a="http://schemas.openxmlformats.org/drawingml/2006/main">
            <a:r>
              <a:t>https://news.ru/society/v-novyh-lyudyah-rasskazali-o-glavnyh-zadachah-partii-pered-vyborami</a:t>
            </a:r>
          </a:p>
          <a:p xmlns:a="http://schemas.openxmlformats.org/drawingml/2006/main">
            <a:r>
              <a:t>https://www.kommersant.ru/doc/8939397</a:t>
            </a:r>
          </a:p>
          <a:p xmlns:a="http://schemas.openxmlformats.org/drawingml/2006/main">
            <a:r>
              <a:t>https://tass.ru/info/5220823</a:t>
            </a:r>
          </a:p>
          <a:p xmlns:a="http://schemas.openxmlformats.org/drawingml/2006/main">
            <a:r>
              <a:t>https://tass.ru/info/15547711</a:t>
            </a:r>
          </a:p>
          <a:p xmlns:a="http://schemas.openxmlformats.org/drawingml/2006/main">
            <a:r>
              <a:t>https://www.bbc.com/russian/features-62661643</a:t>
            </a:r>
          </a:p>
          <a:p xmlns:a="http://schemas.openxmlformats.org/drawingml/2006/main">
            <a:r>
              <a:t>https://www.kommersant.ru/doc/3298219</a:t>
            </a:r>
          </a:p>
          <a:p xmlns:a="http://schemas.openxmlformats.org/drawingml/2006/main">
            <a:r>
              <a:t>https://www.svoboda.org/a/31217129.html</a:t>
            </a:r>
          </a:p>
          <a:p xmlns:a="http://schemas.openxmlformats.org/drawingml/2006/main">
            <a:r>
              <a:t>https://www.interfax.ru/russia/902059</a:t>
            </a:r>
          </a:p>
          <a:p xmlns:a="http://schemas.openxmlformats.org/drawingml/2006/main">
            <a:r>
              <a:t>https://www.bfm.ru/news/525620</a:t>
            </a:r>
          </a:p>
          <a:p xmlns:a="http://schemas.openxmlformats.org/drawingml/2006/main">
            <a:r>
              <a:t>https://novayagazeta.ru/articles/2023/03/16/do-urovnia-myshei-media</a:t>
            </a:r>
          </a:p>
          <a:p xmlns:a="http://schemas.openxmlformats.org/drawingml/2006/main">
            <a:r>
              <a:t>https://tjournal.ru/71076</a:t>
            </a:r>
          </a:p>
          <a:p xmlns:a="http://schemas.openxmlformats.org/drawingml/2006/main">
            <a:r>
              <a:t>https://www.nakanune.ru/articles/111648/</a:t>
            </a:r>
          </a:p>
          <a:p xmlns:a="http://schemas.openxmlformats.org/drawingml/2006/main">
            <a:r>
              <a:t>https://adcmemorial.org/statyi/kolonki/neprotivlenie-rasizmu/</a:t>
            </a:r>
          </a:p>
          <a:p xmlns:a="http://schemas.openxmlformats.org/drawingml/2006/main">
            <a:r>
              <a:t>https://www.svoboda.org/a/royzman-i-drugie-zhiteli-ekaterinburga/31997151.html</a:t>
            </a:r>
          </a:p>
          <a:p xmlns:a="http://schemas.openxmlformats.org/drawingml/2006/main">
            <a:r>
              <a:t>https://www.e1.ru/text/politics/2022/02/24/70466417/</a:t>
            </a:r>
          </a:p>
          <a:p xmlns:a="http://schemas.openxmlformats.org/drawingml/2006/main">
            <a:r>
              <a:t>https://www.dw.com/ru/kommentarij-evgenij-rojzman-i-sila-pravdy/a-62917754</a:t>
            </a:r>
          </a:p>
          <a:p xmlns:a="http://schemas.openxmlformats.org/drawingml/2006/main">
            <a:r>
              <a:t>https://meduza.io/paragraph/2022/08/26/priehali-moskvichi-i-dumali-chto-zdes-duraki-sobralis</a:t>
            </a:r>
          </a:p>
          <a:p xmlns:a="http://schemas.openxmlformats.org/drawingml/2006/main">
            <a:r>
              <a:t>https://znamlit.ru/publication.php?id=7379</a:t>
            </a:r>
          </a:p>
          <a:p xmlns:a="http://schemas.openxmlformats.org/drawingml/2006/main">
            <a:r>
              <a:t>https://tass.ru/interviews/6080499</a:t>
            </a:r>
          </a:p>
          <a:p xmlns:a="http://schemas.openxmlformats.org/drawingml/2006/main">
            <a:r>
              <a:t>https://45.ru/text/politics/2024/09/09/73952072/</a:t>
            </a:r>
          </a:p>
          <a:p xmlns:a="http://schemas.openxmlformats.org/drawingml/2006/main">
            <a:r>
              <a:t>http://special.kremlin.ru/events/president/news/70638</a:t>
            </a:r>
          </a:p>
          <a:p xmlns:a="http://schemas.openxmlformats.org/drawingml/2006/main">
            <a:r>
              <a:t>https://ura.news/news/1053132902</a:t>
            </a:r>
          </a:p>
          <a:p xmlns:a="http://schemas.openxmlformats.org/drawingml/2006/main">
            <a:r>
              <a:t>https://ura.news/articles/1036276564</a:t>
            </a:r>
          </a:p>
          <a:p xmlns:a="http://schemas.openxmlformats.org/drawingml/2006/main">
            <a:r>
              <a:t>https://tass.ru/novosti-regionov/28187431</a:t>
            </a:r>
          </a:p>
          <a:p xmlns:a="http://schemas.openxmlformats.org/drawingml/2006/main">
            <a:r>
              <a:t>https://fedpress.ru/person/1753607</a:t>
            </a:r>
          </a:p>
          <a:p xmlns:a="http://schemas.openxmlformats.org/drawingml/2006/main">
            <a:r>
              <a:t>https://eburg.mk.ru/social/2026/10/14/zhiteley-zauralya-predupredili-o-lozhnykh-videorolikakh-s-gubernatorom.html</a:t>
            </a:r>
          </a:p>
          <a:p xmlns:a="http://schemas.openxmlformats.org/drawingml/2006/main">
            <a:r>
              <a:t>https://regnum.ru/news/3530808</a:t>
            </a:r>
          </a:p>
          <a:p xmlns:a="http://schemas.openxmlformats.org/drawingml/2006/main">
            <a:r>
              <a:t>https://kurganvera.ru/news/vrns/mitropolit-daniil-i-vadim-shumkov-vozglavili-delegatsiyu-kurganskoy-oblasti-na-vsemirnom-russkom-sob/</a:t>
            </a:r>
          </a:p>
          <a:p xmlns:a="http://schemas.openxmlformats.org/drawingml/2006/main">
            <a:r>
              <a:t>https://45.ru/text/politics/2026/06/26/76499700/</a:t>
            </a:r>
          </a:p>
          <a:p xmlns:a="http://schemas.openxmlformats.org/drawingml/2006/main">
            <a:r>
              <a:t>https://niva-kurtamysh.com/news/obshchestvo/vystuplenie-gubernatora-kurganskoy-oblasti-vadima-shumkova</a:t>
            </a:r>
          </a:p>
          <a:p xmlns:a="http://schemas.openxmlformats.org/drawingml/2006/main">
            <a:r>
              <a:t>https://t.me/s/kurganskayaobl?before=42616</a:t>
            </a:r>
          </a:p>
          <a:p xmlns:a="http://schemas.openxmlformats.org/drawingml/2006/main">
            <a:r>
              <a:t>https://www.bbc.com/russian/news-54368577</a:t>
            </a:r>
          </a:p>
          <a:p xmlns:a="http://schemas.openxmlformats.org/drawingml/2006/main">
            <a:r>
              <a:t>https://www.bbc.com/russian/articles/cp0769dp15eo</a:t>
            </a:r>
          </a:p>
          <a:p xmlns:a="http://schemas.openxmlformats.org/drawingml/2006/main">
            <a:r>
              <a:t>https://navalny.com/materials/blogpost-6017</a:t>
            </a:r>
          </a:p>
          <a:p xmlns:a="http://schemas.openxmlformats.org/drawingml/2006/main">
            <a:r>
              <a:t>https://www.bbc.com/russian/news-58563592</a:t>
            </a:r>
          </a:p>
          <a:p xmlns:a="http://schemas.openxmlformats.org/drawingml/2006/main">
            <a:r>
              <a:t>https://navalny.com/materials/blogpost-6544</a:t>
            </a:r>
          </a:p>
          <a:p xmlns:a="http://schemas.openxmlformats.org/drawingml/2006/main">
            <a:r>
              <a:t>https://www.bbc.com/russian/news-58270043</a:t>
            </a:r>
          </a:p>
          <a:p xmlns:a="http://schemas.openxmlformats.org/drawingml/2006/main">
            <a:r>
              <a:t>https://www.bbc.com/russian/articles/cvg3p9l1e5ro</a:t>
            </a:r>
          </a:p>
          <a:p xmlns:a="http://schemas.openxmlformats.org/drawingml/2006/main">
            <a:r>
              <a:t>https://www.bbc.com/russian/features-54435835</a:t>
            </a:r>
          </a:p>
          <a:p xmlns:a="http://schemas.openxmlformats.org/drawingml/2006/main">
            <a:r>
              <a:t>https://2018.navalny.com/platform/7/</a:t>
            </a:r>
          </a:p>
          <a:p xmlns:a="http://schemas.openxmlformats.org/drawingml/2006/main">
            <a:r>
              <a:t>https://2018.navalny.com/platform/3/</a:t>
            </a:r>
          </a:p>
          <a:p xmlns:a="http://schemas.openxmlformats.org/drawingml/2006/main">
            <a:r>
              <a:t>https://2018.navalny.com/platform/10/</a:t>
            </a:r>
          </a:p>
          <a:p xmlns:a="http://schemas.openxmlformats.org/drawingml/2006/main">
            <a:r>
              <a:t>https://2018.navalny.com/platform/9/</a:t>
            </a:r>
          </a:p>
          <a:p xmlns:a="http://schemas.openxmlformats.org/drawingml/2006/main">
            <a:r>
              <a:t>https://navalny.com/editorials/aleksey-navalnyy-protiv-voyny</a:t>
            </a:r>
          </a:p>
          <a:p xmlns:a="http://schemas.openxmlformats.org/drawingml/2006/main">
            <a:r>
              <a:t>https://navalny.com/?p=149</a:t>
            </a:r>
          </a:p>
          <a:p xmlns:a="http://schemas.openxmlformats.org/drawingml/2006/main">
            <a:r>
              <a:t>https://www.interfax.ru/russia/876151</a:t>
            </a:r>
          </a:p>
          <a:p xmlns:a="http://schemas.openxmlformats.org/drawingml/2006/main">
            <a:r>
              <a:t>https://www.dw.com/ru/srok-ne-za-fejk-a-za-politiku-reakcii-v-frg-i-rf-na-prigovor-asinu/a-64049957</a:t>
            </a:r>
          </a:p>
          <a:p xmlns:a="http://schemas.openxmlformats.org/drawingml/2006/main">
            <a:r>
              <a:t>https://www.lemonde.fr/en/international/article/2025/05/27/russian-opposition-figure-ilya-yashin-if-ukraine-is-handed-over-to-putin-it-will-be-a-tragedy-and-the-prologue-to-a-global-confrontation_6741728_4.html</a:t>
            </a:r>
          </a:p>
          <a:p xmlns:a="http://schemas.openxmlformats.org/drawingml/2006/main">
            <a:r>
              <a:t>https://www.bbc.com/russian/articles/crgl69w9472o</a:t>
            </a:r>
          </a:p>
          <a:p xmlns:a="http://schemas.openxmlformats.org/drawingml/2006/main">
            <a:r>
              <a:t>https://www.svoboda.org/a/yashin-court/32165539.html</a:t>
            </a:r>
          </a:p>
          <a:p xmlns:a="http://schemas.openxmlformats.org/drawingml/2006/main">
            <a:r>
              <a:t>https://www.dw.com/ru/ila-asin-putin-predvoditel-sil-mrakobesia/a-69923731</a:t>
            </a:r>
          </a:p>
          <a:p xmlns:a="http://schemas.openxmlformats.org/drawingml/2006/main">
            <a:r>
              <a:t>https://novayagazeta.eu/articles/2025/08/01/my-ne-mozhem-trebovat-no-mozhem-obiasniat</a:t>
            </a:r>
          </a:p>
          <a:p xmlns:a="http://schemas.openxmlformats.org/drawingml/2006/main">
            <a:r>
              <a:t>https://meduza.io/feature/2019/07/20/to-chto-putin-ne-smog-sdelat-za-20-let-sobyanin-sdelal-za-mesyats</a:t>
            </a:r>
          </a:p>
          <a:p xmlns:a="http://schemas.openxmlformats.org/drawingml/2006/main">
            <a:r>
              <a:t>https://novayagazeta.eu/articles/2024/11/18/pochuvstvovat-sebia-ne-odinokimi</a:t>
            </a:r>
          </a:p>
          <a:p xmlns:a="http://schemas.openxmlformats.org/drawingml/2006/main">
            <a:r>
              <a:t>https://www.svoboda.org/a/voyna-putin-i-politzaklyuchennye-iljya-yashin-o-svoih-planah/33177839.html</a:t>
            </a:r>
          </a:p>
          <a:p xmlns:a="http://schemas.openxmlformats.org/drawingml/2006/main">
            <a:r>
              <a:t>https://www.dw.com/ru/asin-sejcas-nevozmozno-obedinit-rossijskuu-oppoziciu-da-i-ne-nuzno/a-70291088</a:t>
            </a:r>
          </a:p>
          <a:p xmlns:a="http://schemas.openxmlformats.org/drawingml/2006/main">
            <a:r>
              <a:t>https://www.dw.com/ru/vladimir-karamurza/t-37465233</a:t>
            </a:r>
          </a:p>
          <a:p xmlns:a="http://schemas.openxmlformats.org/drawingml/2006/main">
            <a:r>
              <a:t>https://ovd.info/persons/kara-murza-vladimir-vladimirovich</a:t>
            </a:r>
          </a:p>
          <a:p xmlns:a="http://schemas.openxmlformats.org/drawingml/2006/main">
            <a:r>
              <a:t>https://ovd.info/2024/08/03/kogo-rossiya-vydala-v-ramkakh-obmena-zaklyuchennymi-s-zapadom-istorii-osvobozhdennykh</a:t>
            </a:r>
          </a:p>
          <a:p xmlns:a="http://schemas.openxmlformats.org/drawingml/2006/main">
            <a:r>
              <a:t>https://www.svoboda.org/a/kara-murza-obmen/33059121.html</a:t>
            </a:r>
          </a:p>
          <a:p xmlns:a="http://schemas.openxmlformats.org/drawingml/2006/main">
            <a:r>
              <a:t>https://novayagazeta.ru/articles/2024/08/16/prezident-baiden-prinial-osvobozhdennogo-v-rezultate-obmena-politzakliuchennogo-vladimira-kara-murzu-s-semei-v-belom-dome-news</a:t>
            </a:r>
          </a:p>
          <a:p xmlns:a="http://schemas.openxmlformats.org/drawingml/2006/main">
            <a:r>
              <a:t>https://genevasummit.org/speech/vladimir-kara-murza-speaks-at-2018-geneva-summit-main-event/</a:t>
            </a:r>
          </a:p>
          <a:p xmlns:a="http://schemas.openxmlformats.org/drawingml/2006/main">
            <a:r>
              <a:t>https://humanrights.ca/event-series/presidents-lecture-series</a:t>
            </a:r>
          </a:p>
          <a:p xmlns:a="http://schemas.openxmlformats.org/drawingml/2006/main">
            <a:r>
              <a:t>https://www.radiofrance.fr/franceinter/podcasts/l-info-de-france-inter/la-democratie-doit-etre-protegee-chaque-minute-de-chaque-jour-declare-l-opposant-russe-vladimir-kara-mourza-8105094</a:t>
            </a:r>
          </a:p>
          <a:p xmlns:a="http://schemas.openxmlformats.org/drawingml/2006/main">
            <a:r>
              <a:t>https://georgetownvoice.com/2025/10/08/dissident-in-residence-vladimir-kara-murza-applies-past-lessons-to-present-day-in-recent-event-discussing-democracy/</a:t>
            </a:r>
          </a:p>
          <a:p xmlns:a="http://schemas.openxmlformats.org/drawingml/2006/main">
            <a:r>
              <a:t>https://www.oscepa.org/en/documents/winter-meetings/2025-vienna/speeches-36/5176-vladimir-kara-murza-address-to-the-osce-pa-winter-meeting-in-vienna-21-february-2025/file</a:t>
            </a:r>
          </a:p>
          <a:p xmlns:a="http://schemas.openxmlformats.org/drawingml/2006/main">
            <a:r>
              <a:t>https://hrf.org/wp-content/uploads/2024/10/VKM-%E2%80%93-Statement-of-Facts-and-Levinson-Analysis.pdf</a:t>
            </a:r>
          </a:p>
          <a:p xmlns:a="http://schemas.openxmlformats.org/drawingml/2006/main">
            <a:r>
              <a:t>https://www.govinfo.gov/content/pkg/CREC-2024-06-11/html/CREC-2024-06-11-pt1-PgH3699.htm</a:t>
            </a:r>
          </a:p>
          <a:p xmlns:a="http://schemas.openxmlformats.org/drawingml/2006/main">
            <a:r>
              <a:t>https://antiwarcommittee.info/en/statement-on-the-persecution-of-vladimir-kara-murza/</a:t>
            </a:r>
          </a:p>
          <a:p xmlns:a="http://schemas.openxmlformats.org/drawingml/2006/main">
            <a:r>
              <a:t>https://www.norway.no/en/missions/osce/norway-and-the-osce/statements/statements-with--norwegian-alignment-2024/joint-statement-on-vladimir-kara-murza/</a:t>
            </a:r>
          </a:p>
          <a:p xmlns:a="http://schemas.openxmlformats.org/drawingml/2006/main">
            <a:r>
              <a:t>https://www.aljazeera.com/news/2025/4/23/kremlin-critic-decried-for-racist-rant-on-minorities-fighting-for-russia</a:t>
            </a:r>
          </a:p>
          <a:p xmlns:a="http://schemas.openxmlformats.org/drawingml/2006/main">
            <a:r>
              <a:t>https://www.rmc.edu/news/former-political-prisoner-vladimir-kara-murza-offers-vision-of-hope-for-russian-democracy/</a:t>
            </a:r>
          </a:p>
          <a:p xmlns:a="http://schemas.openxmlformats.org/drawingml/2006/main">
            <a:r>
              <a:t>https://2018.yavlinsky.ru/campaign/</a:t>
            </a:r>
          </a:p>
          <a:p xmlns:a="http://schemas.openxmlformats.org/drawingml/2006/main">
            <a:r>
              <a:t>http://2018.yavlinsky.ru/programm/</a:t>
            </a:r>
          </a:p>
          <a:p xmlns:a="http://schemas.openxmlformats.org/drawingml/2006/main">
            <a:r>
              <a:t>https://campaign2018.yavlinsky.ru/</a:t>
            </a:r>
          </a:p>
          <a:p xmlns:a="http://schemas.openxmlformats.org/drawingml/2006/main">
            <a:r>
              <a:t>https://www.yavlinsky.ru/position/war/</a:t>
            </a:r>
          </a:p>
          <a:p xmlns:a="http://schemas.openxmlformats.org/drawingml/2006/main">
            <a:r>
              <a:t>https://www.yavlinsky.ru/position/cease-fire/</a:t>
            </a:r>
          </a:p>
          <a:p xmlns:a="http://schemas.openxmlformats.org/drawingml/2006/main">
            <a:r>
              <a:t>https://www.yavlinsky.ru/article_tax/ukraina/</a:t>
            </a:r>
          </a:p>
          <a:p xmlns:a="http://schemas.openxmlformats.org/drawingml/2006/main">
            <a:r>
              <a:t>https://www.yavlinsky.ru/biografiya/</a:t>
            </a:r>
          </a:p>
          <a:p xmlns:a="http://schemas.openxmlformats.org/drawingml/2006/main">
            <a:r>
              <a:t>https://www.yabloko.ru/publikatsii/2018/02/15_0</a:t>
            </a:r>
          </a:p>
          <a:p xmlns:a="http://schemas.openxmlformats.org/drawingml/2006/main">
            <a:r>
              <a:t>https://www.yabloko.ru/publikatsii/2018/06/19</a:t>
            </a:r>
          </a:p>
          <a:p xmlns:a="http://schemas.openxmlformats.org/drawingml/2006/main">
            <a:r>
              <a:t>https://www.yavlinsky.ru/article/eto-referendum/</a:t>
            </a:r>
          </a:p>
          <a:p xmlns:a="http://schemas.openxmlformats.org/drawingml/2006/main">
            <a:r>
              <a:t>https://www.svoboda.org/a/27801792.html</a:t>
            </a:r>
          </a:p>
          <a:p xmlns:a="http://schemas.openxmlformats.org/drawingml/2006/main">
            <a:r>
              <a:t>https://www.svoboda.org/a/29294829.html</a:t>
            </a:r>
          </a:p>
          <a:p xmlns:a="http://schemas.openxmlformats.org/drawingml/2006/main">
            <a:r>
              <a:t>https://www.yavlinsky.ru/article/intervyu-g-yavlinskogo-zhertvy-budut-proryva-net/</a:t>
            </a:r>
          </a:p>
          <a:p xmlns:a="http://schemas.openxmlformats.org/drawingml/2006/main">
            <a:r>
              <a:t>https://www.yavlinsky.ru/article/my-budem-idti-do-kontsa/</a:t>
            </a:r>
          </a:p>
          <a:p xmlns:a="http://schemas.openxmlformats.org/drawingml/2006/main">
            <a:r>
              <a:t>https://www.yavlinsky.ru/article/prezidentskie-vybory-1996-30-let-spustya/</a:t>
            </a:r>
          </a:p>
          <a:p xmlns:a="http://schemas.openxmlformats.org/drawingml/2006/main">
            <a:r>
              <a:t>https://www.forbes.ru/interview/45575-reformatory-prihodyat-k-vlasti-grigorii-yavlinskii</a:t>
            </a:r>
          </a:p>
          <a:p xmlns:a="http://schemas.openxmlformats.org/drawingml/2006/main">
            <a:r>
              <a:t>https://www.bbc.com/russian/articles/cy8ee2wngd8o</a:t>
            </a:r>
          </a:p>
          <a:p xmlns:a="http://schemas.openxmlformats.org/drawingml/2006/main">
            <a:r>
              <a:t>https://www.yabloko.ru/regnews/Pskov/2019/01/21-0</a:t>
            </a:r>
          </a:p>
          <a:p xmlns:a="http://schemas.openxmlformats.org/drawingml/2006/main">
            <a:r>
              <a:t>https://www.yabloko.ru/publikatsii/2019/06/14</a:t>
            </a:r>
          </a:p>
          <a:p xmlns:a="http://schemas.openxmlformats.org/drawingml/2006/main">
            <a:r>
              <a:t>https://zona.media/article/2019/02/27/pskov</a:t>
            </a:r>
          </a:p>
          <a:p xmlns:a="http://schemas.openxmlformats.org/drawingml/2006/main">
            <a:r>
              <a:t>https://spektr.press/ya-otvechayu-za-vse-mnoj-skazannoe-no-ne-otvechayu-za-izvraschenie-skazannogo-lev-shlosberg-o-travle-i-setkah-telegram-kanalov-odnokletochnyh-politikah-reshivshih-pobedit-putina-rukami-u/</a:t>
            </a:r>
          </a:p>
          <a:p xmlns:a="http://schemas.openxmlformats.org/drawingml/2006/main">
            <a:r>
              <a:t>https://www.yabloko.ru/Persons/shlosberg.html</a:t>
            </a:r>
          </a:p>
          <a:p xmlns:a="http://schemas.openxmlformats.org/drawingml/2006/main">
            <a:r>
              <a:t>https://pln-pskov.ru/politics/314872.html</a:t>
            </a:r>
          </a:p>
          <a:p xmlns:a="http://schemas.openxmlformats.org/drawingml/2006/main">
            <a:r>
              <a:t>https://www.yabloko.ru/publikatsii/2022/02/18-0</a:t>
            </a:r>
          </a:p>
          <a:p xmlns:a="http://schemas.openxmlformats.org/drawingml/2006/main">
            <a:r>
              <a:t>https://ru.krymr.com/a/rossiya-putin-voyna-repressii-lev-shlosberg-intervyu/31806389.html</a:t>
            </a:r>
          </a:p>
          <a:p xmlns:a="http://schemas.openxmlformats.org/drawingml/2006/main">
            <a:r>
              <a:t>https://www.currenttime.tv/a/politika-vlastey-chtoby-lyudi-perestali-govorit-o-spetsialnoy-voennoy-operatsii-lev-shlosberg-o-dele-protiv-nego-i-nikolaya-kuzmina/31807396.html</a:t>
            </a:r>
          </a:p>
          <a:p xmlns:a="http://schemas.openxmlformats.org/drawingml/2006/main">
            <a:r>
              <a:t>https://zona.media/article/2026/08/14/schlosberg</a:t>
            </a:r>
          </a:p>
          <a:p xmlns:a="http://schemas.openxmlformats.org/drawingml/2006/main">
            <a:r>
              <a:t>https://www.svoboda.org/a/lishniy-zalozhnik-vot-chto-im-vazhno-arest-lva-shlosberga/33615624.html</a:t>
            </a:r>
          </a:p>
          <a:p xmlns:a="http://schemas.openxmlformats.org/drawingml/2006/main">
            <a:r>
              <a:t>https://novayagazeta.eu/articles/2026/08/17/ostavshiisia</a:t>
            </a:r>
          </a:p>
          <a:p xmlns:a="http://schemas.openxmlformats.org/drawingml/2006/main">
            <a:r>
              <a:t>https://www.yabloko.ru/content/vishnevskii_boris_lazarevich</a:t>
            </a:r>
          </a:p>
          <a:p xmlns:a="http://schemas.openxmlformats.org/drawingml/2006/main">
            <a:r>
              <a:t>https://www.dp.ru/a/2018/06/18/Aktivnaja_storona_konflikt</a:t>
            </a:r>
          </a:p>
          <a:p xmlns:a="http://schemas.openxmlformats.org/drawingml/2006/main">
            <a:r>
              <a:t>https://www.bbc.com/russian/features-58481940</a:t>
            </a:r>
          </a:p>
          <a:p xmlns:a="http://schemas.openxmlformats.org/drawingml/2006/main">
            <a:r>
              <a:t>https://www.dp.ru/a/2023/01/16/Deputat_Peterburga_Vishnev</a:t>
            </a:r>
          </a:p>
          <a:p xmlns:a="http://schemas.openxmlformats.org/drawingml/2006/main">
            <a:r>
              <a:t>https://echofm.online/portret-dnya/portret-dnya-boris-vishnevskij-peterburgskij-politik</a:t>
            </a:r>
          </a:p>
          <a:p xmlns:a="http://schemas.openxmlformats.org/drawingml/2006/main">
            <a:r>
              <a:t>https://spb.yabloko.ru/people/vishnevskij-boris-lazarevich/</a:t>
            </a:r>
          </a:p>
          <a:p xmlns:a="http://schemas.openxmlformats.org/drawingml/2006/main">
            <a:r>
              <a:t>https://www.dp.ru/a/2026/08/26/bitva-nachalas-gde-v-peterburge</a:t>
            </a:r>
          </a:p>
          <a:p xmlns:a="http://schemas.openxmlformats.org/drawingml/2006/main">
            <a:r>
              <a:t>https://www.yabloko.ru/regnews/Spb/2022/02/21</a:t>
            </a:r>
          </a:p>
          <a:p xmlns:a="http://schemas.openxmlformats.org/drawingml/2006/main">
            <a:r>
              <a:t>https://www.yabloko.ru/cat-news/2021/08/06-0</a:t>
            </a:r>
          </a:p>
          <a:p xmlns:a="http://schemas.openxmlformats.org/drawingml/2006/main">
            <a:r>
              <a:t>https://www.rbc.ru/spb_sz/16/01/2023/63c53d9c9a7947d9bef4b853</a:t>
            </a:r>
          </a:p>
          <a:p xmlns:a="http://schemas.openxmlformats.org/drawingml/2006/main">
            <a:r>
              <a:t>https://www.rbc.ru/politics/06/05/2024/6638a8609a79472c01075a2c</a:t>
            </a:r>
          </a:p>
          <a:p xmlns:a="http://schemas.openxmlformats.org/drawingml/2006/main">
            <a:r>
              <a:t>https://www.svoboda.org/a/politika-dmitriya-gudkova-deportirovali-iz-gruzii-v-kiev/31679697.html</a:t>
            </a:r>
          </a:p>
          <a:p xmlns:a="http://schemas.openxmlformats.org/drawingml/2006/main">
            <a:r>
              <a:t>https://ru.krymr.com/a/dmitriy-gudkov-ob-otyezde-iz-rossii/31295079.html</a:t>
            </a:r>
          </a:p>
          <a:p xmlns:a="http://schemas.openxmlformats.org/drawingml/2006/main">
            <a:r>
              <a:t>https://daily.afisha.ru/news/114366-syn-politika-dmitriya-gudkova-pokonchil-s-soboy-v-emigracii/amp/</a:t>
            </a:r>
          </a:p>
          <a:p xmlns:a="http://schemas.openxmlformats.org/drawingml/2006/main">
            <a:r>
              <a:t>https://life.ru/t/dmitriygudkov</a:t>
            </a:r>
          </a:p>
          <a:p xmlns:a="http://schemas.openxmlformats.org/drawingml/2006/main">
            <a:r>
              <a:t>https://uk.wikipedia.org/wiki/%D0%93%D1%83%D0%B4%D0%BA%D0%BE%D0%B2_%D0%94%D0%BC%D0%B8%D1%82%D1%80%D1%96%D0%B9_%D0%93%D0%B5%D0%BD%D0%B0%D0%B4%D1%96%D0%B9%D0%BE%D0%B2%D0%B8%D1%87</a:t>
            </a:r>
          </a:p>
          <a:p xmlns:a="http://schemas.openxmlformats.org/drawingml/2006/main">
            <a:r>
              <a:t>https://mt.gazeta.ru/blog/43692366076/Syin-byivshego-deputata-Gosdumyi-Dmitriya-Gudkova-pokonchil-s-so?utm_referrer=mirtesen.ru</a:t>
            </a:r>
          </a:p>
          <a:p xmlns:a="http://schemas.openxmlformats.org/drawingml/2006/main">
            <a:r>
              <a:t>https://www.bbc.com/russian/news-57381443</a:t>
            </a:r>
          </a:p>
          <a:p xmlns:a="http://schemas.openxmlformats.org/drawingml/2006/main">
            <a:r>
              <a:t>https://www.themoscowtimes.com/2021/06/06/kremlin-critic-dmitry-gudkov-flees-to-ukraine-a74123</a:t>
            </a:r>
          </a:p>
          <a:p xmlns:a="http://schemas.openxmlformats.org/drawingml/2006/main">
            <a:r>
              <a:t>https://www.yabloko.ru/publikatsii/2016/09/15</a:t>
            </a:r>
          </a:p>
          <a:p xmlns:a="http://schemas.openxmlformats.org/drawingml/2006/main">
            <a:r>
              <a:t>https://novayagazeta.ru/articles/2018/03/21/75886-ya-privyk-lyudyam-verit</a:t>
            </a:r>
          </a:p>
          <a:p xmlns:a="http://schemas.openxmlformats.org/drawingml/2006/main">
            <a:r>
              <a:t>https://www.rbc.ru/politics/15/03/2018/5aaa98049a7947d12d63f1e1</a:t>
            </a:r>
          </a:p>
          <a:p xmlns:a="http://schemas.openxmlformats.org/drawingml/2006/main">
            <a:r>
              <a:t>https://rus.team/people/gudkov-dmitrij-gennadevich</a:t>
            </a:r>
          </a:p>
          <a:p xmlns:a="http://schemas.openxmlformats.org/drawingml/2006/main">
            <a:r>
              <a:t>https://www.azattyqasia.org/a/chto-proiskhodit-v-donbasse-/31863310/lbl0lbi299676.html</a:t>
            </a:r>
          </a:p>
          <a:p xmlns:a="http://schemas.openxmlformats.org/drawingml/2006/main">
            <a:r>
              <a:t>https://www.dw.com/ru/dmitrij-gudkov-putin-na-storone-partii-vojny-no-pri-etom-on-trus-21092022/video-63193199</a:t>
            </a:r>
          </a:p>
          <a:p xmlns:a="http://schemas.openxmlformats.org/drawingml/2006/main">
            <a:r>
              <a:t>https://ru.wikinews.org/wiki/%D0%9A%D0%B0%D1%82%D0%B5%D0%B3%D0%BE%D1%80%D0%B8%D1%8F:%D0%93%D0%B5%D0%BD%D0%BD%D0%B0%D0%B4%D0%B8%D0%B9_%D0%93%D1%83%D0%B4%D0%BA%D0%BE%D0%B2</a:t>
            </a:r>
          </a:p>
          <a:p xmlns:a="http://schemas.openxmlformats.org/drawingml/2006/main">
            <a:r>
              <a:t>https://en.wikipedia.org/wiki/Gennady_Gudkov</a:t>
            </a:r>
          </a:p>
          <a:p xmlns:a="http://schemas.openxmlformats.org/drawingml/2006/main">
            <a:r>
              <a:t>https://x.com/gudkov_g</a:t>
            </a:r>
          </a:p>
          <a:p xmlns:a="http://schemas.openxmlformats.org/drawingml/2006/main">
            <a:r>
              <a:t>https://www.dw.com/ru/chto-dmitrij-gudkov-nameren-delat-v-ukraine-i-vernetsja-li-v-rossiju/a-57830619</a:t>
            </a:r>
          </a:p>
          <a:p xmlns:a="http://schemas.openxmlformats.org/drawingml/2006/main">
            <a:r>
              <a:t>https://ru.wikipedia.org/wiki/%D0%93%D1%83%D0%B4%D0%BA%D0%BE%D0%B2,_%D0%93%D0%B5%D0%BD%D0%BD%D0%B0%D0%B4%D0%B8%D0%B9_%D0%92%D0%BB%D0%B0%D0%B4%D0%B8%D0%BC%D0%B8%D1%80%D0%BE%D0%B2%D0%B8%D1%87</a:t>
            </a:r>
          </a:p>
          <a:p xmlns:a="http://schemas.openxmlformats.org/drawingml/2006/main">
            <a:r>
              <a:t>https://ru.wikipedia.org/wiki/%D0%93%D1%83%D0%B4%D0%BA%D0%BE%D0%B2,_%D0%94%D0%BC%D0%B8%D1%82%D1%80%D0%B8%D0%B9_%D0%93%D0%B5%D0%BD%D0%BD%D0%B0%D0%B4%D1%8C%D0%B5%D0%B2%D0%B8%D1%87</a:t>
            </a:r>
          </a:p>
          <a:p xmlns:a="http://schemas.openxmlformats.org/drawingml/2006/main">
            <a:r>
              <a:t>https://utro02.tv/2022/10/31/navstrechu-sezdu-gennadij-gudkov-o-vyborah-obedinenii-oppoziczii-i-razdelenii-vlasti/</a:t>
            </a:r>
          </a:p>
          <a:p xmlns:a="http://schemas.openxmlformats.org/drawingml/2006/main">
            <a:r>
              <a:t>https://www.unian.net/war/rossiyskiy-oppozicioner-gudkov-putin-nachinaet-ponimat-chto-nastupaet-zh-pa-12031263.html</a:t>
            </a:r>
          </a:p>
          <a:p xmlns:a="http://schemas.openxmlformats.org/drawingml/2006/main">
            <a:r>
              <a:t>https://bntnews.bg/genadiy-gudkov-86846tag.html</a:t>
            </a:r>
          </a:p>
          <a:p xmlns:a="http://schemas.openxmlformats.org/drawingml/2006/main">
            <a:r>
              <a:t>https://tass.ru/encyclopedia/person/gudkov-dmitriy-gennadevich</a:t>
            </a:r>
          </a:p>
          <a:p xmlns:a="http://schemas.openxmlformats.org/drawingml/2006/main">
            <a:r>
              <a:t>https://www.kasparov.com/garry-kasparov-on-putin-and-the-virus-of-imperialism-wsj-free-expression-april-11-2022/</a:t>
            </a:r>
          </a:p>
          <a:p xmlns:a="http://schemas.openxmlformats.org/drawingml/2006/main">
            <a:r>
              <a:t>https://www.ilmessaggero.it/en/garry_kasparov_from_chess_champion_to_kremlin_critic-9797261.html</a:t>
            </a:r>
          </a:p>
          <a:p xmlns:a="http://schemas.openxmlformats.org/drawingml/2006/main">
            <a:r>
              <a:t>https://www.kasparov.com/category/russia/</a:t>
            </a:r>
          </a:p>
          <a:p xmlns:a="http://schemas.openxmlformats.org/drawingml/2006/main">
            <a:r>
              <a:t>https://www.kasparov.com/category/politics/</a:t>
            </a:r>
          </a:p>
          <a:p xmlns:a="http://schemas.openxmlformats.org/drawingml/2006/main">
            <a:r>
              <a:t>https://en.wikipedia.org/wiki/Political_views_of_Garry_Kasparov</a:t>
            </a:r>
          </a:p>
          <a:p xmlns:a="http://schemas.openxmlformats.org/drawingml/2006/main">
            <a:r>
              <a:t>https://www.dw.com/ru/kasparov-v-intervu-dw-vse-cto-delal-delaet-i-budet-delat-tramp-pomogaet-putinu/a-79633734</a:t>
            </a:r>
          </a:p>
          <a:p xmlns:a="http://schemas.openxmlformats.org/drawingml/2006/main">
            <a:r>
              <a:t>https://www.kasparov.com/</a:t>
            </a:r>
          </a:p>
          <a:p xmlns:a="http://schemas.openxmlformats.org/drawingml/2006/main">
            <a:r>
              <a:t>https://www.kasparov.com/a-conversation-with-garry-kasparov-thought-economics-with-vikas-shas-may-21-2017/</a:t>
            </a:r>
          </a:p>
          <a:p xmlns:a="http://schemas.openxmlformats.org/drawingml/2006/main">
            <a:r>
              <a:t>https://www.kasparov.com/new-yorker-interview-the-chess-grandmaster-and-political-activist-on-putin-trump-and-how-we-are-living-again-through-the-eighteen-fifties/</a:t>
            </a:r>
          </a:p>
          <a:p xmlns:a="http://schemas.openxmlformats.org/drawingml/2006/main">
            <a:r>
              <a:t>https://www.cnbc.com/2017/02/13/the-full-interview-with-former-world-chess-champion-garry-kasparov-on-trump-putin.html</a:t>
            </a:r>
          </a:p>
          <a:p xmlns:a="http://schemas.openxmlformats.org/drawingml/2006/main">
            <a:r>
              <a:t>https://www.reuters.com/world/europe/kasparov-calls-world-powers-throw-russia-back-into-stone-age-2022-03-03/</a:t>
            </a:r>
          </a:p>
          <a:p xmlns:a="http://schemas.openxmlformats.org/drawingml/2006/main">
            <a:r>
              <a:t>https://khodorkovsky.com/open-russia-manifesto/</a:t>
            </a:r>
          </a:p>
          <a:p xmlns:a="http://schemas.openxmlformats.org/drawingml/2006/main">
            <a:r>
              <a:t>https://khodorkovsky.com/programmes/initiatives/openrussia/</a:t>
            </a:r>
          </a:p>
          <a:p xmlns:a="http://schemas.openxmlformats.org/drawingml/2006/main">
            <a:r>
              <a:t>https://khodorkovsky.com/page/65/?m</a:t>
            </a:r>
          </a:p>
          <a:p xmlns:a="http://schemas.openxmlformats.org/drawingml/2006/main">
            <a:r>
              <a:t>https://khodorkovsky.com/page/80/?m</a:t>
            </a:r>
          </a:p>
          <a:p xmlns:a="http://schemas.openxmlformats.org/drawingml/2006/main">
            <a:r>
              <a:t>https://angliya.com/publication/mihail-hodorkovskiy-ne-priznayu-razdelenie-lyudey-na-osnovanii-politicheskih-vzglyadov/</a:t>
            </a:r>
          </a:p>
          <a:p xmlns:a="http://schemas.openxmlformats.org/drawingml/2006/main">
            <a:r>
              <a:t>https://www.dw.com/ru/mihail-hodorkovski-bojus-jeta-vojna-ne-budet-poslednej/a-61314556</a:t>
            </a:r>
          </a:p>
          <a:p xmlns:a="http://schemas.openxmlformats.org/drawingml/2006/main">
            <a:r>
              <a:t>https://ru.euronews.com/2022/06/21/ru-khodorkovsky-interview</a:t>
            </a:r>
          </a:p>
          <a:p xmlns:a="http://schemas.openxmlformats.org/drawingml/2006/main">
            <a:r>
              <a:t>https://ru.euronews.com/2022/06/23/mikhail-khodorkovsky</a:t>
            </a:r>
          </a:p>
          <a:p xmlns:a="http://schemas.openxmlformats.org/drawingml/2006/main">
            <a:r>
              <a:t>https://poligonmedia.io/mihail-hodorkovskij-putin-ne-pobedil/</a:t>
            </a:r>
          </a:p>
          <a:p xmlns:a="http://schemas.openxmlformats.org/drawingml/2006/main">
            <a:r>
              <a:t>https://www.pap.pl/ru/russian/news/khodorkovskiy-u-putina-est-prichiny-vesti-peregovory-o-prekraschenii-voyny-na-ukraine</a:t>
            </a:r>
          </a:p>
          <a:p xmlns:a="http://schemas.openxmlformats.org/drawingml/2006/main">
            <a:r>
              <a:t>https://milov.org/cat/debates</a:t>
            </a:r>
          </a:p>
          <a:p xmlns:a="http://schemas.openxmlformats.org/drawingml/2006/main">
            <a:r>
              <a:t>https://milov.org/entry/4188</a:t>
            </a:r>
          </a:p>
          <a:p xmlns:a="http://schemas.openxmlformats.org/drawingml/2006/main">
            <a:r>
              <a:t>https://milov.org/cat/international</a:t>
            </a:r>
          </a:p>
          <a:p xmlns:a="http://schemas.openxmlformats.org/drawingml/2006/main">
            <a:r>
              <a:t>https://tvrain.tv/teleshow/amerikanskie_gonki/tramp_vynashivaet_ideju_primiritsja_s_putinym-453802/</a:t>
            </a:r>
          </a:p>
          <a:p xmlns:a="http://schemas.openxmlformats.org/drawingml/2006/main">
            <a:r>
              <a:t>https://www.currenttime.tv/a/vladimir-milov-interview/31505887.html</a:t>
            </a:r>
          </a:p>
          <a:p xmlns:a="http://schemas.openxmlformats.org/drawingml/2006/main">
            <a:r>
              <a:t>https://ovd.info/express-news/2021/07/27/roskomnadzor-potreboval-ot-youtube-zablokirovat-kanaly-troikh-soratnikov</a:t>
            </a:r>
          </a:p>
          <a:p xmlns:a="http://schemas.openxmlformats.org/drawingml/2006/main">
            <a:r>
              <a:t>https://www.dw.com/ru/sud-v-moskve-prigovoril-vladimira-milova-k-8-godam-kolonii/a-67415717</a:t>
            </a:r>
          </a:p>
          <a:p xmlns:a="http://schemas.openxmlformats.org/drawingml/2006/main">
            <a:r>
              <a:t>https://ru.wikipedia.org/wiki/%D0%9C%D0%B8%D0%BB%D0%BE%D0%B2,_%D0%92%D0%BB%D0%B0%D0%B4%D0%B8%D0%BC%D0%B8%D1%80_%D0%A1%D1%82%D0%B0%D0%BD%D0%B8%D1%81%D0%BB%D0%B0%D0%B2%D0%BE%D0%B2%D0%B8%D1%87</a:t>
            </a:r>
          </a:p>
          <a:p xmlns:a="http://schemas.openxmlformats.org/drawingml/2006/main">
            <a:r>
              <a:t>https://gordonua.com/news/worldnews/milov-merkel-molodec-poteryala-vsego-7-8-v-polzu-svezhey-antiimmigrantskoy-partii-na-fone-migrantskogo-krizisa-208758.html</a:t>
            </a:r>
          </a:p>
          <a:p xmlns:a="http://schemas.openxmlformats.org/drawingml/2006/main">
            <a:r>
              <a:t>https://echofm.online/programs/hochu-skazat/hochu-skazat-larina-69</a:t>
            </a:r>
          </a:p>
          <a:p xmlns:a="http://schemas.openxmlformats.org/drawingml/2006/main">
            <a:r>
              <a:t>https://www.hoover.org/plus/research/russian-opposition-and-ukraine-conversation-vladimir-milov</a:t>
            </a:r>
          </a:p>
          <a:p xmlns:a="http://schemas.openxmlformats.org/drawingml/2006/main">
            <a:r>
              <a:t>https://www.golosameriki.com/a/washington-dialogue-russian-opposition-conference/7648250.html</a:t>
            </a:r>
          </a:p>
          <a:p xmlns:a="http://schemas.openxmlformats.org/drawingml/2006/main">
            <a:r>
              <a:t>https://glavred.info/chat/1337-vladimir-milov.html</a:t>
            </a:r>
          </a:p>
          <a:p xmlns:a="http://schemas.openxmlformats.org/drawingml/2006/main">
            <a:r>
              <a:t>https://www.interfax.ru/moscow/669378</a:t>
            </a:r>
          </a:p>
          <a:p xmlns:a="http://schemas.openxmlformats.org/drawingml/2006/main">
            <a:r>
              <a:t>https://tass.ru/politika/6670439</a:t>
            </a:r>
          </a:p>
          <a:p xmlns:a="http://schemas.openxmlformats.org/drawingml/2006/main">
            <a:r>
              <a:t>https://www.rbc.ru/politics/16/07/2019/5d2c8b3b9a794799a7c7d413</a:t>
            </a:r>
          </a:p>
          <a:p xmlns:a="http://schemas.openxmlformats.org/drawingml/2006/main">
            <a:r>
              <a:t>https://www.bbc.com/russian/news-56269079</a:t>
            </a:r>
          </a:p>
          <a:p xmlns:a="http://schemas.openxmlformats.org/drawingml/2006/main">
            <a:r>
              <a:t>https://ovd.info/express-news/2020/12/28/s-yurista-fbk-kotoraya-provela-pochti-dvoe-sutok-v-ivs-pytalis-vzyat</a:t>
            </a:r>
          </a:p>
          <a:p xmlns:a="http://schemas.openxmlformats.org/drawingml/2006/main">
            <a:r>
              <a:t>https://ovd.info/express-news/2021/02/26/prokuratura-utverdila-obvinenie-sobol-po-delu-o-proniknovenii-v-kvartiru</a:t>
            </a:r>
          </a:p>
          <a:p xmlns:a="http://schemas.openxmlformats.org/drawingml/2006/main">
            <a:r>
              <a:t>https://ovd.info/express-news/2020/12/29/protiv-alekseya-navalnogo-vozbudili-ugolovnoe-delo-o-moshennichestve-iz-za</a:t>
            </a:r>
          </a:p>
          <a:p xmlns:a="http://schemas.openxmlformats.org/drawingml/2006/main">
            <a:r>
              <a:t>https://www.currenttime.tv/a/sobol/31723600.html</a:t>
            </a:r>
          </a:p>
          <a:p xmlns:a="http://schemas.openxmlformats.org/drawingml/2006/main">
            <a:r>
              <a:t>https://www.currenttime.tv/interview/episodes/2022/2/26</a:t>
            </a:r>
          </a:p>
          <a:p xmlns:a="http://schemas.openxmlformats.org/drawingml/2006/main">
            <a:r>
              <a:t>https://ochevidcy.com/putin-budet-vorovat-do-groba/</a:t>
            </a:r>
          </a:p>
          <a:p xmlns:a="http://schemas.openxmlformats.org/drawingml/2006/main">
            <a:r>
              <a:t>https://www.svoboda.org/a/32881433.html</a:t>
            </a:r>
          </a:p>
          <a:p xmlns:a="http://schemas.openxmlformats.org/drawingml/2006/main">
            <a:r>
              <a:t>https://echofm.online/programs/idyom-po-zvyozdam/idyom-po-zvezdam-s-lyubovyu-sobol</a:t>
            </a:r>
          </a:p>
          <a:p xmlns:a="http://schemas.openxmlformats.org/drawingml/2006/main">
            <a:r>
              <a:t>https://x.com/SobolLubov</a:t>
            </a:r>
          </a:p>
          <a:p xmlns:a="http://schemas.openxmlformats.org/drawingml/2006/main">
            <a:r>
              <a:t>https://stuki-druki.com/authors/sobol-lubov.php</a:t>
            </a:r>
          </a:p>
          <a:p xmlns:a="http://schemas.openxmlformats.org/drawingml/2006/main">
            <a:r>
              <a:t>https://www.interfax.ru/elections2018/593143</a:t>
            </a:r>
          </a:p>
          <a:p xmlns:a="http://schemas.openxmlformats.org/drawingml/2006/main">
            <a:r>
              <a:t>https://elections2018.tass.ru/candidate/sobchak</a:t>
            </a:r>
          </a:p>
          <a:p xmlns:a="http://schemas.openxmlformats.org/drawingml/2006/main">
            <a:r>
              <a:t>https://www.interfax.ru/elections2018/604186</a:t>
            </a:r>
          </a:p>
          <a:p xmlns:a="http://schemas.openxmlformats.org/drawingml/2006/main">
            <a:r>
              <a:t>https://www.interfax.ru/elections2018/604908</a:t>
            </a:r>
          </a:p>
          <a:p xmlns:a="http://schemas.openxmlformats.org/drawingml/2006/main">
            <a:r>
              <a:t>https://www.consultant.ru/law/hotdocs/53066.html</a:t>
            </a:r>
          </a:p>
          <a:p xmlns:a="http://schemas.openxmlformats.org/drawingml/2006/main">
            <a:r>
              <a:t>https://www.rbc.ru/newspaper/2018/03/20/5aae9ca49a794739b02918a0</a:t>
            </a:r>
          </a:p>
          <a:p xmlns:a="http://schemas.openxmlformats.org/drawingml/2006/main">
            <a:r>
              <a:t>https://www.interfax.ru/elections2018/604136</a:t>
            </a:r>
          </a:p>
          <a:p xmlns:a="http://schemas.openxmlformats.org/drawingml/2006/main">
            <a:r>
              <a:t>https://www.interfax.ru/elections2018/604190</a:t>
            </a:r>
          </a:p>
          <a:p xmlns:a="http://schemas.openxmlformats.org/drawingml/2006/main">
            <a:r>
              <a:t>https://www.rbc.ru/economics/25/12/2017/5a4025f19a79472e3f5f4ad9?from=right_column_materials_3</a:t>
            </a:r>
          </a:p>
          <a:p xmlns:a="http://schemas.openxmlformats.org/drawingml/2006/main">
            <a:r>
              <a:t>https://news.ru/show-business/otezd-iz-rf-vybory-svo-v-chem-priznalas-kseniya-sobchak-v-novom-intervyu</a:t>
            </a:r>
          </a:p>
          <a:p xmlns:a="http://schemas.openxmlformats.org/drawingml/2006/main">
            <a:r>
              <a:t>https://rtvi.com/news/sobchak-otvetila-na-vopros-putin-ili-zelenskij/</a:t>
            </a:r>
          </a:p>
          <a:p xmlns:a="http://schemas.openxmlformats.org/drawingml/2006/main">
            <a:r>
              <a:t>https://informator.ua/ru/kompromissy-iz-rf-legitimnost-zelenskogo-i-gotovnost-pozhat-ruku-putinu-o-chem-govoril-arestovich-v-intervyu-sobchak</a:t>
            </a:r>
          </a:p>
          <a:p xmlns:a="http://schemas.openxmlformats.org/drawingml/2006/main">
            <a:r>
              <a:t>https://rassvet-party.info/</a:t>
            </a:r>
          </a:p>
          <a:p xmlns:a="http://schemas.openxmlformats.org/drawingml/2006/main">
            <a:r>
              <a:t>https://en.wikipedia.org/wiki/Yekaterina_Duntsova</a:t>
            </a:r>
          </a:p>
          <a:p xmlns:a="http://schemas.openxmlformats.org/drawingml/2006/main">
            <a:r>
              <a:t>https://www.dw.com/ru/cto-nuzno-znat-o-ekaterine-duncovoj-kotoraa-hocet-stat-prezidentom-rf/a-67832425</a:t>
            </a:r>
          </a:p>
          <a:p xmlns:a="http://schemas.openxmlformats.org/drawingml/2006/main">
            <a:r>
              <a:t>https://baj.media/ru/ya-gotova-idti-do-konca-zhurnalistka-iz-rossiyskoy-provincii-reshila-stat-prezidentom-i-2/</a:t>
            </a:r>
          </a:p>
          <a:p xmlns:a="http://schemas.openxmlformats.org/drawingml/2006/main">
            <a:r>
              <a:t>https://echofm.online/portret-dnya/portret-dnya-ekaterina-dunczova-reshivshaya-vydvinutsya-kandidatom-v-prezidenty-rossii-zhurnalistka-iz-rzheva</a:t>
            </a:r>
          </a:p>
          <a:p xmlns:a="http://schemas.openxmlformats.org/drawingml/2006/main">
            <a:r>
              <a:t>https://novayagazeta.eu/articles/2024/03/15/zlost-i-nenavist-vsem-nadoeli</a:t>
            </a:r>
          </a:p>
          <a:p xmlns:a="http://schemas.openxmlformats.org/drawingml/2006/main">
            <a:r>
              <a:t>https://altapress.ru/politika/story/kto-takaya-ekaterina-duntsova-kotoraya-sobiraetsya-stat-poslednim-prezidentom-rossii-i-kto-eshche-hochet-ballotirovatsya-336526</a:t>
            </a:r>
          </a:p>
          <a:p xmlns:a="http://schemas.openxmlformats.org/drawingml/2006/main">
            <a:r>
              <a:t>https://cherta.media/interview/ekaterina-duncova-kandidat-v-prezidenty/</a:t>
            </a:r>
          </a:p>
          <a:p xmlns:a="http://schemas.openxmlformats.org/drawingml/2006/main">
            <a:r>
              <a:t>https://novayagazeta.eu/articles/2023/12/05/zachem-ia-budu-stoiat-na-barrikadakh-esli-mogu-zanimatsia-realnymi-delami</a:t>
            </a:r>
          </a:p>
          <a:p xmlns:a="http://schemas.openxmlformats.org/drawingml/2006/main">
            <a:r>
              <a:t>https://holod.media/2023/12/20/ekaterina-duntsova-view/</a:t>
            </a:r>
          </a:p>
          <a:p xmlns:a="http://schemas.openxmlformats.org/drawingml/2006/main">
            <a:r>
              <a:t>https://www.dw.com/ru/ekaterina-duncova-o-sozdanii-partii-rassvet-my-mezdu-dvuh-ognej/a-68992724</a:t>
            </a:r>
          </a:p>
          <a:p xmlns:a="http://schemas.openxmlformats.org/drawingml/2006/main">
            <a:r>
              <a:t>https://rassvet-party.info/static/program.pdf</a:t>
            </a:r>
          </a:p>
          <a:p xmlns:a="http://schemas.openxmlformats.org/drawingml/2006/main">
            <a:r>
              <a:t>https://www.currenttime.tv/a/ekaterina-duntsova-o-sozdanii-partii-i-svoem-zaderzhanii/32775510.html</a:t>
            </a:r>
          </a:p>
          <a:p xmlns:a="http://schemas.openxmlformats.org/drawingml/2006/main">
            <a:r>
              <a:t>https://duntsovainitiative.1c-umi.ru/galereya/</a:t>
            </a:r>
          </a:p>
          <a:p xmlns:a="http://schemas.openxmlformats.org/drawingml/2006/main">
            <a:r>
              <a:t>https://rassvet-party.info/static/manifest.pdf</a:t>
            </a:r>
          </a:p>
          <a:p xmlns:a="http://schemas.openxmlformats.org/drawingml/2006/main">
            <a:r>
              <a:t>https://www.rbc.ru/person/65afb4a99a79470e434da73d</a:t>
            </a:r>
          </a:p>
          <a:p xmlns:a="http://schemas.openxmlformats.org/drawingml/2006/main">
            <a:r>
              <a:t>https://www.bbc.com/russian/articles/c84npr0wxx9o</a:t>
            </a:r>
          </a:p>
          <a:p xmlns:a="http://schemas.openxmlformats.org/drawingml/2006/main">
            <a:r>
              <a:t>https://www.rbc.ru/politics/08/02/2024/65c3749b9a79479ef5fe7934</a:t>
            </a:r>
          </a:p>
          <a:p xmlns:a="http://schemas.openxmlformats.org/drawingml/2006/main">
            <a:r>
              <a:t>https://www.business-gazeta.ru/article/622600</a:t>
            </a:r>
          </a:p>
          <a:p xmlns:a="http://schemas.openxmlformats.org/drawingml/2006/main">
            <a:r>
              <a:t>https://semnasem.org/articles/2024/02/02/poslednij-sredi-antivoennyh-kto-takoj-boris-nadezhdin-kotoryj-vse-eshe-nadeetsya-stat-prezidentom</a:t>
            </a:r>
          </a:p>
          <a:p xmlns:a="http://schemas.openxmlformats.org/drawingml/2006/main">
            <a:r>
              <a:t>https://novayagazeta.eu/articles/2024/02/03/17-marta-nachalo-kontsa-epokhi-putina</a:t>
            </a:r>
          </a:p>
          <a:p xmlns:a="http://schemas.openxmlformats.org/drawingml/2006/main">
            <a:r>
              <a:t>https://www.youtube.com/watch?v=mGMdgxBCdns</a:t>
            </a:r>
          </a:p>
          <a:p xmlns:a="http://schemas.openxmlformats.org/drawingml/2006/main">
            <a:r>
              <a:t>https://www.dw.com/ru/boris-nadezdin-moj-rejting-rastet-na-5-v-nedelu/a-68154251</a:t>
            </a:r>
          </a:p>
          <a:p xmlns:a="http://schemas.openxmlformats.org/drawingml/2006/main">
            <a:r>
              <a:t>https://ovd.info/express-news/2026/07/17/u-menya-dva-puti-lenina-ili-navalnogo-chto-nuzhno-znat-o-borise-nadezhdine</a:t>
            </a:r>
          </a:p>
          <a:p xmlns:a="http://schemas.openxmlformats.org/drawingml/2006/main">
            <a:r>
              <a:t>https://www.rbc.ru/person/65afb4a99a79470e434da73d?ysclid=mrt22n99to603501119</a:t>
            </a:r>
          </a:p>
          <a:p xmlns:a="http://schemas.openxmlformats.org/drawingml/2006/main">
            <a:r>
              <a:t>https://www.youtube.com/watch?v=UNytg_H_1pY</a:t>
            </a:r>
          </a:p>
          <a:p xmlns:a="http://schemas.openxmlformats.org/drawingml/2006/main">
            <a:r>
              <a:t>https://www.youtube.com/watch?v=DwTC5bilf_8</a:t>
            </a:r>
          </a:p>
          <a:p xmlns:a="http://schemas.openxmlformats.org/drawingml/2006/main">
            <a:r>
              <a:t>https://www.youtube.com/watch?v=sG4_THnT9W0</a:t>
            </a:r>
          </a:p>
          <a:p xmlns:a="http://schemas.openxmlformats.org/drawingml/2006/main">
            <a:r>
              <a:t>https://www.rbc.ru/rbcfreenews/6586cdf49a79479c3cd3d4b3</a:t>
            </a:r>
          </a:p>
          <a:p xmlns:a="http://schemas.openxmlformats.org/drawingml/2006/main">
            <a:r>
              <a:t>https://kprf.ru/activity/elections/223485.html/print</a:t>
            </a:r>
          </a:p>
          <a:p xmlns:a="http://schemas.openxmlformats.org/drawingml/2006/main">
            <a:r>
              <a:t>http://msk.kprf.ru/2024/01/24/247473/</a:t>
            </a:r>
          </a:p>
          <a:p xmlns:a="http://schemas.openxmlformats.org/drawingml/2006/main">
            <a:r>
              <a:t>https://www.dw.com/ru/vybory-prezidenta-rossii-2024/a-68528003</a:t>
            </a:r>
          </a:p>
          <a:p xmlns:a="http://schemas.openxmlformats.org/drawingml/2006/main">
            <a:r>
              <a:t>https://ru.wikipedia.org/wiki/%D0%A5%D0%B0%D1%80%D0%B8%D1%82%D0%BE%D0%BD%D0%BE%D0%B2,_%D0%9D%D0%B8%D0%BA%D0%BE%D0%BB%D0%B0%D0%B9_%D0%9C%D0%B8%D1%85%D0%B0%D0%B9%D0%BB%D0%BE%D0%B2%D0%B8%D1%87</a:t>
            </a:r>
          </a:p>
          <a:p xmlns:a="http://schemas.openxmlformats.org/drawingml/2006/main">
            <a:r>
              <a:t>https://kprf.ru/party-live/cknews/225170.html</a:t>
            </a:r>
          </a:p>
          <a:p xmlns:a="http://schemas.openxmlformats.org/drawingml/2006/main">
            <a:r>
              <a:t>https://kprf.ru/dep/gosduma/activities/232802.html</a:t>
            </a:r>
          </a:p>
          <a:p xmlns:a="http://schemas.openxmlformats.org/drawingml/2006/main">
            <a:r>
              <a:t>https://kprf35.com/2024/02/17/32710/</a:t>
            </a:r>
          </a:p>
          <a:p xmlns:a="http://schemas.openxmlformats.org/drawingml/2006/main">
            <a:r>
              <a:t>https://www.pkokprf.ru/news/view/35448</a:t>
            </a:r>
          </a:p>
          <a:p xmlns:a="http://schemas.openxmlformats.org/drawingml/2006/main">
            <a:r>
              <a:t>https://altkprf.ru/upload/iblock/eea/jiv0wm7hzk6gq4qdxw0r5wvp7zwb6luk.pdf</a:t>
            </a:r>
          </a:p>
          <a:p xmlns:a="http://schemas.openxmlformats.org/drawingml/2006/main">
            <a:r>
              <a:t>https://kprf.ru/activity/army/224789.html</a:t>
            </a:r>
          </a:p>
          <a:p xmlns:a="http://schemas.openxmlformats.org/drawingml/2006/main">
            <a:r>
              <a:t>https://gazeta-pravda.ru/issue/24-31517-711-marta-2024-goda-/alternativa-polupravde/</a:t>
            </a:r>
          </a:p>
          <a:p xmlns:a="http://schemas.openxmlformats.org/drawingml/2006/main">
            <a:r>
              <a:t>https://spbpalata.ru/?p=13755</a:t>
            </a:r>
          </a:p>
          <a:p xmlns:a="http://schemas.openxmlformats.org/drawingml/2006/main">
            <a:r>
              <a:t>https://kprf.ru/activity/elections/171941.html</a:t>
            </a:r>
          </a:p>
          <a:p xmlns:a="http://schemas.openxmlformats.org/drawingml/2006/main">
            <a:r>
              <a:t>https://kprf.ru/party-live/cknews/171994.html</a:t>
            </a:r>
          </a:p>
          <a:p xmlns:a="http://schemas.openxmlformats.org/drawingml/2006/main">
            <a:r>
              <a:t>https://elections2018.tass.ru/candidate/grudinin</a:t>
            </a:r>
          </a:p>
          <a:p xmlns:a="http://schemas.openxmlformats.org/drawingml/2006/main">
            <a:r>
              <a:t>https://www.bbc.com/russian/features-43105617</a:t>
            </a:r>
          </a:p>
          <a:p xmlns:a="http://schemas.openxmlformats.org/drawingml/2006/main">
            <a:r>
              <a:t>https://www.rbc.ru/politics/24/07/2021/60fbe35b9a794716f25253a0</a:t>
            </a:r>
          </a:p>
          <a:p xmlns:a="http://schemas.openxmlformats.org/drawingml/2006/main">
            <a:r>
              <a:t>https://kprf.ru/dep/reg/204410.html</a:t>
            </a:r>
          </a:p>
          <a:p xmlns:a="http://schemas.openxmlformats.org/drawingml/2006/main">
            <a:r>
              <a:t>https://msk.kprf.ru/2021/09/16/168273/</a:t>
            </a:r>
          </a:p>
          <a:p xmlns:a="http://schemas.openxmlformats.org/drawingml/2006/main">
            <a:r>
              <a:t>https://svpressa.ru/persons/pavel-grudinin/</a:t>
            </a:r>
          </a:p>
          <a:p xmlns:a="http://schemas.openxmlformats.org/drawingml/2006/main">
            <a:r>
              <a:t>https://carnegieendowment.org/ru/russia-eurasia/posts/2018/02/kuda-privedut-ekonomiku-rossii-20-shagov-grudinina</a:t>
            </a:r>
          </a:p>
          <a:p xmlns:a="http://schemas.openxmlformats.org/drawingml/2006/main">
            <a:r>
              <a:t>https://www.kompas-rf.ru/2018/01/2980/</a:t>
            </a:r>
          </a:p>
          <a:p xmlns:a="http://schemas.openxmlformats.org/drawingml/2006/main">
            <a:r>
              <a:t>https://www.svoboda.org/a/30073365.html</a:t>
            </a:r>
          </a:p>
          <a:p xmlns:a="http://schemas.openxmlformats.org/drawingml/2006/main">
            <a:r>
              <a:t>https://kandidativprezidenti.ru/programma-grudinina-2018/</a:t>
            </a:r>
          </a:p>
          <a:p xmlns:a="http://schemas.openxmlformats.org/drawingml/2006/main">
            <a:r>
              <a:t>https://mbk-news.appspot.com/suzhet/za-lenina-i-protiv-ege/</a:t>
            </a:r>
          </a:p>
          <a:p xmlns:a="http://schemas.openxmlformats.org/drawingml/2006/main">
            <a:r>
              <a:t>https://www.amnesty.org/ru/latest/research/2021/06/zayavlenie-rossijskaya-federacziya-obvinitelnyj-prigovor-nikolayu-platoshkinu-dolzhen-byt-otmenyon/</a:t>
            </a:r>
          </a:p>
          <a:p xmlns:a="http://schemas.openxmlformats.org/drawingml/2006/main">
            <a:r>
              <a:t>https://zona.media/article/2021/05/20/nikolay-nikolaevitch</a:t>
            </a:r>
          </a:p>
          <a:p xmlns:a="http://schemas.openxmlformats.org/drawingml/2006/main">
            <a:r>
              <a:t>https://novayagazeta.ru/articles/2020/06/05/85705-sotsialisticheskiy-prizyv</a:t>
            </a:r>
          </a:p>
          <a:p xmlns:a="http://schemas.openxmlformats.org/drawingml/2006/main">
            <a:r>
              <a:t>https://www.revda-info.ru/2020/08/26/v-revde-poyavilos-otdelenie-dvizheniya-za-novyj-sotsializm-ego-lider-sejchas-pod-arestom</a:t>
            </a:r>
          </a:p>
          <a:p xmlns:a="http://schemas.openxmlformats.org/drawingml/2006/main">
            <a:r>
              <a:t>https://new-socialism.org/o-dvizhenii/programma/</a:t>
            </a:r>
          </a:p>
          <a:p xmlns:a="http://schemas.openxmlformats.org/drawingml/2006/main">
            <a:r>
              <a:t>https://new-socialism.org/o-dvizhenii/lider/</a:t>
            </a:r>
          </a:p>
          <a:p xmlns:a="http://schemas.openxmlformats.org/drawingml/2006/main">
            <a:r>
              <a:t>https://www.themoscowtimes.com/2024/01/19/ilya-ponomaryov-we-have-to-capture-the-kremlin-there-is-no-other-way-a83772</a:t>
            </a:r>
          </a:p>
          <a:p xmlns:a="http://schemas.openxmlformats.org/drawingml/2006/main">
            <a:r>
              <a:t>https://www.dw.com/ru/cto-izvestno-o-rossijskih-podrazdeleniah-v-sostave-vsu/a-63915634</a:t>
            </a:r>
          </a:p>
          <a:p xmlns:a="http://schemas.openxmlformats.org/drawingml/2006/main">
            <a:r>
              <a:t>https://www.svoboda.org/a/32321226.html</a:t>
            </a:r>
          </a:p>
          <a:p xmlns:a="http://schemas.openxmlformats.org/drawingml/2006/main">
            <a:r>
              <a:t>https://hromadske.ua/ru/posts/nasha-cel-moskva-my-dolzhny-sbrosit-putina-rossijskie-partizany-mif-ili-pravda</a:t>
            </a:r>
          </a:p>
          <a:p xmlns:a="http://schemas.openxmlformats.org/drawingml/2006/main">
            <a:r>
              <a:t>https://epravda.com.ua/rus/publications/2018/06/11/637572/</a:t>
            </a:r>
          </a:p>
          <a:p xmlns:a="http://schemas.openxmlformats.org/drawingml/2006/main">
            <a:r>
              <a:t>https://pointmedia.io/story/672b355fdc48800406e0f515</a:t>
            </a:r>
          </a:p>
          <a:p xmlns:a="http://schemas.openxmlformats.org/drawingml/2006/main">
            <a:r>
              <a:t>https://ru.wikipedia.org/wiki/%D0%9B%D0%B5%D0%B3%D0%B8%D0%BE%D0%BD_%C2%AB%D0%A1%D0%B2%D0%BE%D0%B1%D0%BE%D0%B4%D0%B0_%D0%A0%D0%BE%D1%81%D1%81%D0%B8%D0%B8%C2%BB</a:t>
            </a:r>
          </a:p>
          <a:p xmlns:a="http://schemas.openxmlformats.org/drawingml/2006/main">
            <a:r>
              <a:t>https://ru.wikipedia.org/wiki/%D0%9F%D0%BE%D0%BD%D0%BE%D0%BC%D0%B0%D1%80%D1%91%D0%B2,_%D0%98%D0%BB%D1%8C%D1%8F_%D0%92%D0%BB%D0%B0%D0%B4%D0%B8%D0%BC%D0%B8%D1%80%D0%BE%D0%B2%D0%B8%D1%87</a:t>
            </a:r>
          </a:p>
          <a:p xmlns:a="http://schemas.openxmlformats.org/drawingml/2006/main">
            <a:r>
              <a:t>https://russophob.ru/person/ponomarev_ilya_vladimirovich</a:t>
            </a:r>
          </a:p>
          <a:p xmlns:a="http://schemas.openxmlformats.org/drawingml/2006/main">
            <a:r>
              <a:t>https://www.svoboda.org/a/32063164.html</a:t>
            </a:r>
          </a:p>
          <a:p xmlns:a="http://schemas.openxmlformats.org/drawingml/2006/main">
            <a:r>
              <a:t>https://www.kpbs.org/news/news/international/2023/03/26/a-scrappy-newscast-in-kyiv-aimed-at-russians-counters-putins-propaganda-machine</a:t>
            </a:r>
          </a:p>
          <a:p xmlns:a="http://schemas.openxmlformats.org/drawingml/2006/main">
            <a:r>
              <a:t>https://ovd.info/express-news/2022/10/02/politik-leonid-gozman-uekhal-iz-rossii-posle-dvukh-administrativnykh</a:t>
            </a:r>
          </a:p>
          <a:p xmlns:a="http://schemas.openxmlformats.org/drawingml/2006/main">
            <a:r>
              <a:t>https://ovd.info/express-news/2022/08/30/politika-leonida-gozmana-arestovali-na-15-sutok-iz-za-posta-v-feysbuke</a:t>
            </a:r>
          </a:p>
          <a:p xmlns:a="http://schemas.openxmlformats.org/drawingml/2006/main">
            <a:r>
              <a:t>https://www.rbc.ru/politics/15/07/2022/62d1b3f39a7947299cdeb6a4</a:t>
            </a:r>
          </a:p>
          <a:p xmlns:a="http://schemas.openxmlformats.org/drawingml/2006/main">
            <a:r>
              <a:t>https://novayagazeta.eu/articles/2022/07/15/sk-doprosil-politika-leonida-gozmana-kak-podozrevaemogo-po-delu-o-neuvedomlenii-o-vtorom-grazhdanstve-news</a:t>
            </a:r>
          </a:p>
          <a:p xmlns:a="http://schemas.openxmlformats.org/drawingml/2006/main">
            <a:r>
              <a:t>https://www.rbc.ru/politics/15/02/2024/65cdc9e09a7947a2995026fa</a:t>
            </a:r>
          </a:p>
          <a:p xmlns:a="http://schemas.openxmlformats.org/drawingml/2006/main">
            <a:r>
              <a:t>https://ovd.info/express-news/2025/01/22/leonida-gozmana-i-rovshana-askerova-vnesli-v-reestr-terroristov-i</a:t>
            </a:r>
          </a:p>
          <a:p xmlns:a="http://schemas.openxmlformats.org/drawingml/2006/main">
            <a:r>
              <a:t>https://www.rbc.ru/opinion-authors/gozman</a:t>
            </a:r>
          </a:p>
          <a:p xmlns:a="http://schemas.openxmlformats.org/drawingml/2006/main">
            <a:r>
              <a:t>https://novayagazeta.eu/articles/2022/07/25/ovd-info-v-moskve-zaderzhali-politika-leonida-gozmana-news</a:t>
            </a:r>
          </a:p>
          <a:p xmlns:a="http://schemas.openxmlformats.org/drawingml/2006/main">
            <a:r>
              <a:t>https://gefter.ru/archive/23487</a:t>
            </a:r>
          </a:p>
          <a:p xmlns:a="http://schemas.openxmlformats.org/drawingml/2006/main">
            <a:r>
              <a:t>https://www.svoboda.org/a/31147156.html</a:t>
            </a:r>
          </a:p>
          <a:p xmlns:a="http://schemas.openxmlformats.org/drawingml/2006/main">
            <a:r>
              <a:t>https://uatv.ua/gozman-putin-zagnal-rossiyu-v-ugol-sleduyushhij-shag-repressii/</a:t>
            </a:r>
          </a:p>
          <a:p xmlns:a="http://schemas.openxmlformats.org/drawingml/2006/main">
            <a:r>
              <a:t>https://echofm.online/programs/hochu-skazat/hochu-skazat-odin-protiv-vseh-kak-ne-dat-strahu-pobedit-sebya</a:t>
            </a:r>
          </a:p>
          <a:p xmlns:a="http://schemas.openxmlformats.org/drawingml/2006/main">
            <a:r>
              <a:t>https://www.svoboda.org/a/leonid-gozman-russkih-lyudey-neljzya-mazatj-odnoy-chernoy-kraskoy-/32732625.html</a:t>
            </a:r>
          </a:p>
          <a:p xmlns:a="http://schemas.openxmlformats.org/drawingml/2006/main">
            <a:r>
              <a:t>https://novayagazeta.eu/articles/2022/07/18/prepiatstvovat-prosveshcheniiu-liudei-vlast-budet-pulemiotami</a:t>
            </a:r>
          </a:p>
          <a:p xmlns:a="http://schemas.openxmlformats.org/drawingml/2006/main">
            <a:r>
              <a:t>https://www.svoboda.org/a/29652429.html</a:t>
            </a:r>
          </a:p>
          <a:p xmlns:a="http://schemas.openxmlformats.org/drawingml/2006/main">
            <a:r>
              <a:t>https://novayagazeta.eu/articles/2022/04/26/nesobliudenie-rezhima</a:t>
            </a:r>
          </a:p>
          <a:p xmlns:a="http://schemas.openxmlformats.org/drawingml/2006/main">
            <a:r>
              <a:t>https://novayagazeta.eu/articles/2022/07/21/zapiski-ugolovnika</a:t>
            </a:r>
          </a:p>
          <a:p xmlns:a="http://schemas.openxmlformats.org/drawingml/2006/main">
            <a:r>
              <a:t>https://novayagazeta.ru/authors/2349</a:t>
            </a:r>
          </a:p>
          <a:p xmlns:a="http://schemas.openxmlformats.org/drawingml/2006/main">
            <a:r>
              <a:t>https://www.rbc.ru/politics/10/08/2017/598c8d6d9a79474cff05cbab</a:t>
            </a:r>
          </a:p>
          <a:p xmlns:a="http://schemas.openxmlformats.org/drawingml/2006/main">
            <a:r>
              <a:t>https://www.bbc.com/russian/news-40853405</a:t>
            </a:r>
          </a:p>
          <a:p xmlns:a="http://schemas.openxmlformats.org/drawingml/2006/main">
            <a:r>
              <a:t>https://www.rbc.ru/politics/10/08/2017/598c0a8e9a7947569574ba10?from=right_column_materials_1</a:t>
            </a:r>
          </a:p>
          <a:p xmlns:a="http://schemas.openxmlformats.org/drawingml/2006/main">
            <a:r>
              <a:t>https://www.vedomosti.ru/politics/articles/2017/08/10/728820-udaltsov</a:t>
            </a:r>
          </a:p>
          <a:p xmlns:a="http://schemas.openxmlformats.org/drawingml/2006/main">
            <a:r>
              <a:t>https://www.interfax.ru/elections2018/598382</a:t>
            </a:r>
          </a:p>
          <a:p xmlns:a="http://schemas.openxmlformats.org/drawingml/2006/main">
            <a:r>
              <a:t>https://sotaproject.com/article/sergeia-udaltsova-opiat-pytaiutsia-posadit-khotia-on-vsego-lish-prosit-putina-postroit-sotsializm</a:t>
            </a:r>
          </a:p>
          <a:p xmlns:a="http://schemas.openxmlformats.org/drawingml/2006/main">
            <a:r>
              <a:t>https://www.gazeta.ru/tags/person/sergei_udaltsov.shtml</a:t>
            </a:r>
          </a:p>
          <a:p xmlns:a="http://schemas.openxmlformats.org/drawingml/2006/main">
            <a:r>
              <a:t>https://www.kommersant.ru/doc/8317316</a:t>
            </a:r>
          </a:p>
          <a:p xmlns:a="http://schemas.openxmlformats.org/drawingml/2006/main">
            <a:r>
              <a:t>https://www.kommersant.ru/doc/8972418</a:t>
            </a:r>
          </a:p>
          <a:p xmlns:a="http://schemas.openxmlformats.org/drawingml/2006/main">
            <a:r>
              <a:t>https://holod.media/2023/09/12/udaltsov-interview/</a:t>
            </a:r>
          </a:p>
          <a:p xmlns:a="http://schemas.openxmlformats.org/drawingml/2006/main">
            <a:r>
              <a:t>https://meduza.io/feature/2024/01/11/sergey-udaltsov-zaderzhan-po-obvineniyu-v-opravdanii-terrorizma</a:t>
            </a:r>
          </a:p>
          <a:p xmlns:a="http://schemas.openxmlformats.org/drawingml/2006/main">
            <a:r>
              <a:t>https://ref-book.sova-center.ru/index.php/%D0%94%D1%80%D1%83%D0%B3%D0%B0%D1%8F_%D0%A0%D0%BE%D1%81%D1%81%D0%B8%D1%8F,_%D0%BF%D0%B0%D1%80%D1%82%D0%B8%D1%8F</a:t>
            </a:r>
          </a:p>
          <a:p xmlns:a="http://schemas.openxmlformats.org/drawingml/2006/main">
            <a:r>
              <a:t>https://www.rbc.ru/society/17/03/2020/5e71048d9a79473925ab81a7</a:t>
            </a:r>
          </a:p>
          <a:p xmlns:a="http://schemas.openxmlformats.org/drawingml/2006/main">
            <a:r>
              <a:t>https://rt.rbc.ru/society/18/03/2020/5e71acc49a794773553f824e</a:t>
            </a:r>
          </a:p>
          <a:p xmlns:a="http://schemas.openxmlformats.org/drawingml/2006/main">
            <a:r>
              <a:t>https://www.bostonglobe.com/metro/obituaries/2020/03/18/russian-author-political-activist-eduard-limonov-dies/jnjHywBRjVTTgnlsqI12vN/story.html</a:t>
            </a:r>
          </a:p>
          <a:p xmlns:a="http://schemas.openxmlformats.org/drawingml/2006/main">
            <a:r>
              <a:t>https://nsn.fm/society/poslednee-intervu-pisatelya-i-politika-eduarda-limonova</a:t>
            </a:r>
          </a:p>
          <a:p xmlns:a="http://schemas.openxmlformats.org/drawingml/2006/main">
            <a:r>
              <a:t>http://www.grso.ru/person/limonov-eduard.html</a:t>
            </a:r>
          </a:p>
          <a:p xmlns:a="http://schemas.openxmlformats.org/drawingml/2006/main">
            <a:r>
              <a:t>https://ru.wikipedia.org/wiki/%D0%94%D1%80%D1%83%D0%B3%D0%B0%D1%8F_%D0%A0%D0%BE%D1%81%D1%81%D0%B8%D1%8F_%D0%AD._%D0%92._%D0%9B%D0%B8%D0%BC%D0%BE%D0%BD%D0%BE%D0%B2%D0%B0</a:t>
            </a:r>
          </a:p>
          <a:p xmlns:a="http://schemas.openxmlformats.org/drawingml/2006/main">
            <a:r>
              <a:t>https://novayagazeta.ru/articles/2017/03/12/71752-puteshestvie-natsbolov-k-putinu-i-obratno</a:t>
            </a:r>
          </a:p>
          <a:p xmlns:a="http://schemas.openxmlformats.org/drawingml/2006/main">
            <a:r>
              <a:t>https://mediabrest.by/news/lyudi/umer-eduard-limonov-chem-zapomnilsya-pisatel</a:t>
            </a:r>
          </a:p>
          <a:p xmlns:a="http://schemas.openxmlformats.org/drawingml/2006/main">
            <a:r>
              <a:t>https://www.limonow.de/read/EL_2013-2018_T.html</a:t>
            </a:r>
          </a:p>
          <a:p xmlns:a="http://schemas.openxmlformats.org/drawingml/2006/main">
            <a:r>
              <a:t>https://www.infpol.ru/203662-ot-ubezhdennogo-antisovetchika-do-kolumnista-rt/</a:t>
            </a:r>
          </a:p>
          <a:p xmlns:a="http://schemas.openxmlformats.org/drawingml/2006/main">
            <a:r>
              <a:t>https://www.bbc.com/russian/articles/c2eg90d7gg9o</a:t>
            </a:r>
          </a:p>
          <a:p xmlns:a="http://schemas.openxmlformats.org/drawingml/2006/main">
            <a:r>
              <a:t>https://www.dw.com/ru/mosgorsud-prigovoril-igora-girkina-strelkova-k-4-godam-kolonii/a-68080937</a:t>
            </a:r>
          </a:p>
          <a:p xmlns:a="http://schemas.openxmlformats.org/drawingml/2006/main">
            <a:r>
              <a:t>https://www.fontanka.ru/2023/07/21/72520253</a:t>
            </a:r>
          </a:p>
          <a:p xmlns:a="http://schemas.openxmlformats.org/drawingml/2006/main">
            <a:r>
              <a:t>https://www.svoboda.org/a/strelkov-iz-sizo-opasayusj-amnistii-kak-u-prigozhina-/32722083.html</a:t>
            </a:r>
          </a:p>
          <a:p xmlns:a="http://schemas.openxmlformats.org/drawingml/2006/main">
            <a:r>
              <a:t>https://ru.themoscowtimes.com/2023/12/07/girkin-zayavil-chto-opasaetsya-povtorit-sudbu-prigozhina-a115592</a:t>
            </a:r>
          </a:p>
          <a:p xmlns:a="http://schemas.openxmlformats.org/drawingml/2006/main">
            <a:r>
              <a:t>https://ru.krymr.com/a/boing-mn17-10-let-podozrevayemyye-obvinyayemyye-vinovnyye/33040170.html</a:t>
            </a:r>
          </a:p>
          <a:p xmlns:a="http://schemas.openxmlformats.org/drawingml/2006/main">
            <a:r>
              <a:t>https://charter97.org/ru/news/2023/7/22/556802/</a:t>
            </a:r>
          </a:p>
          <a:p xmlns:a="http://schemas.openxmlformats.org/drawingml/2006/main">
            <a:r>
              <a:t>https://t.me/s/pgubarev?after=622</a:t>
            </a:r>
          </a:p>
          <a:p xmlns:a="http://schemas.openxmlformats.org/drawingml/2006/main">
            <a:r>
              <a:t>https://rabkor.ru/columns/debates/2023/05/23/angry_patriots_of_an_imaginary_country/</a:t>
            </a:r>
          </a:p>
          <a:p xmlns:a="http://schemas.openxmlformats.org/drawingml/2006/main">
            <a:r>
              <a:t>https://www.bbc.com/news/world-60947877</a:t>
            </a:r>
          </a:p>
          <a:p xmlns:a="http://schemas.openxmlformats.org/drawingml/2006/main">
            <a:r>
              <a:t>https://www.reuters.com/world/europe/russian-mercenary-boss-courts-putin-with-ukrainian-battlefield-success-2023-01-13/</a:t>
            </a:r>
          </a:p>
          <a:p xmlns:a="http://schemas.openxmlformats.org/drawingml/2006/main">
            <a:r>
              <a:t>https://www.reuters.com/world/europe/russias-wagner-mercenaries-halt-prisoner-recruitment-campaign-founder-prigozhin-2023-02-09/</a:t>
            </a:r>
          </a:p>
          <a:p xmlns:a="http://schemas.openxmlformats.org/drawingml/2006/main">
            <a:r>
              <a:t>https://www.reuters.com/investigates/special-report/ukraine-crisis-russia-wagner/</a:t>
            </a:r>
          </a:p>
          <a:p xmlns:a="http://schemas.openxmlformats.org/drawingml/2006/main">
            <a:r>
              <a:t>https://www.reuters.com/world/europe/russias-wagner-chief-prigozhin-says-ukraine-counteroffensive-already-under-way-2023-05-03/</a:t>
            </a:r>
          </a:p>
          <a:p xmlns:a="http://schemas.openxmlformats.org/drawingml/2006/main">
            <a:r>
              <a:t>https://www.bbc.com/russian/media-66023357</a:t>
            </a:r>
          </a:p>
          <a:p xmlns:a="http://schemas.openxmlformats.org/drawingml/2006/main">
            <a:r>
              <a:t>https://www.reuters.com/world/europe/russias-prigozhin-his-own-words-mutiny-2023-06-26/</a:t>
            </a:r>
          </a:p>
          <a:p xmlns:a="http://schemas.openxmlformats.org/drawingml/2006/main">
            <a:r>
              <a:t>https://x.com/Reuters/status/1632709213641113601</a:t>
            </a:r>
          </a:p>
          <a:p xmlns:a="http://schemas.openxmlformats.org/drawingml/2006/main">
            <a:r>
              <a:t>https://www.reuters.com/world/europe/russian-mercenary-boss-says-moscows-war-ukraine-based-lies-2023-06-23/</a:t>
            </a:r>
          </a:p>
          <a:p xmlns:a="http://schemas.openxmlformats.org/drawingml/2006/main">
            <a:r>
              <a:t>https://www.rbc.ru/spb_sz/02/10/2026/6abfb91afd4c7ff957d9cbe8</a:t>
            </a:r>
          </a:p>
          <a:p xmlns:a="http://schemas.openxmlformats.org/drawingml/2006/main">
            <a:r>
              <a:t>https://www.zaks.ru/new/person/view/639</a:t>
            </a:r>
          </a:p>
          <a:p xmlns:a="http://schemas.openxmlformats.org/drawingml/2006/main">
            <a:r>
              <a:t>https://www.zaks.ru/new/archive/view/219520</a:t>
            </a:r>
          </a:p>
          <a:p xmlns:a="http://schemas.openxmlformats.org/drawingml/2006/main">
            <a:r>
              <a:t>https://tvspb.ru/news/2016/09/27/novyij-sostav-parlamenta-kto-zajmet-kresla-v-zakonodatelnom-sobranii-vi-sozyiva</a:t>
            </a:r>
          </a:p>
          <a:p xmlns:a="http://schemas.openxmlformats.org/drawingml/2006/main">
            <a:r>
              <a:t>https://tass.ru/politika/20994233</a:t>
            </a:r>
          </a:p>
          <a:p xmlns:a="http://schemas.openxmlformats.org/drawingml/2006/main">
            <a:r>
              <a:t>https://www.zaks.ru/new/archive/view/265712</a:t>
            </a:r>
          </a:p>
          <a:p xmlns:a="http://schemas.openxmlformats.org/drawingml/2006/main">
            <a:r>
              <a:t>https://www.zaks.ru/new/archive/view/269374</a:t>
            </a:r>
          </a:p>
          <a:p xmlns:a="http://schemas.openxmlformats.org/drawingml/2006/main">
            <a:r>
              <a:t>https://www.dp.ru/a/2026/10/02/oksana-dmitrieva-proigrala</a:t>
            </a:r>
          </a:p>
          <a:p xmlns:a="http://schemas.openxmlformats.org/drawingml/2006/main">
            <a:r>
              <a:t>https://ru.wikipedia.org/wiki/%D0%9F%D0%B0%D1%80%D1%82%D0%B8%D1%8F_%D1%80%D0%BE%D1%81%D1%82%D0%B0</a:t>
            </a:r>
          </a:p>
          <a:p xmlns:a="http://schemas.openxmlformats.org/drawingml/2006/main">
            <a:r>
              <a:t>https://dmitrieva.org/category/gosduma/zakonoproekty/</a:t>
            </a:r>
          </a:p>
          <a:p xmlns:a="http://schemas.openxmlformats.org/drawingml/2006/main">
            <a:r>
              <a:t>https://t.me/s/oxdmitrieva?before=1072</a:t>
            </a:r>
          </a:p>
          <a:p xmlns:a="http://schemas.openxmlformats.org/drawingml/2006/main">
            <a:r>
              <a:t>http://api.duma.gov.ru/api/transcriptFull/2023-09-28</a:t>
            </a:r>
          </a:p>
          <a:p xmlns:a="http://schemas.openxmlformats.org/drawingml/2006/main">
            <a:r>
              <a:t>https://www.fontanka.ru/2026/09/04/76623983/</a:t>
            </a:r>
          </a:p>
          <a:p xmlns:a="http://schemas.openxmlformats.org/drawingml/2006/main">
            <a:r>
              <a:t>https://www.vedomosti.ru/politics/articles/2026/03/10/1181644-deputat-semi-sozivov-oksana-dmitrieva-snova-poidet-v-gosdumu</a:t>
            </a:r>
          </a:p>
          <a:p xmlns:a="http://schemas.openxmlformats.org/drawingml/2006/main">
            <a:r>
              <a:t>https://www.kommersant.ru/doc/8497588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Числа: metadata.json, scores.csv, loadings.csv и утверждённая матрица оценок.</a:t>
            </a:r>
          </a:p>
          <a:p xmlns:a="http://schemas.openxmlformats.org/drawingml/2006/main">
            <a:r>
              <a:t>Изучаемое пространство: Публичный политический образ российских политиков и иных заметных политических акторов, включая деятелей за рубежом, активных хотя бы в части периода. Не рейтинг популярности..</a:t>
            </a:r>
          </a:p>
          <a:p xmlns:a="http://schemas.openxmlformats.org/drawingml/2006/main">
            <a:r>
              <a:t>Оценщик: llm_exploratory.</a:t>
            </a:r>
          </a:p>
          <a:p xmlns:a="http://schemas.openxmlformats.org/drawingml/2006/main">
            <a:r>
              <a:t>Исходные URL:</a:t>
            </a:r>
          </a:p>
          <a:p xmlns:a="http://schemas.openxmlformats.org/drawingml/2006/main">
            <a:r>
              <a:t>https://kremlin.ru/structure/president</a:t>
            </a:r>
          </a:p>
          <a:p xmlns:a="http://schemas.openxmlformats.org/drawingml/2006/main">
            <a:r>
              <a:t>http://www.special.kremlin.ru/events/president/transcripts/67843</a:t>
            </a:r>
          </a:p>
          <a:p xmlns:a="http://schemas.openxmlformats.org/drawingml/2006/main">
            <a:r>
              <a:t>http://en.kremlin.ru/events/president/news/70315</a:t>
            </a:r>
          </a:p>
          <a:p xmlns:a="http://schemas.openxmlformats.org/drawingml/2006/main">
            <a:r>
              <a:t>http://special.kremlin.ru/events/president/transcripts/70565</a:t>
            </a:r>
          </a:p>
          <a:p xmlns:a="http://schemas.openxmlformats.org/drawingml/2006/main">
            <a:r>
              <a:t>http://special.kremlin.ru/events/president/transcripts/72994</a:t>
            </a:r>
          </a:p>
          <a:p xmlns:a="http://schemas.openxmlformats.org/drawingml/2006/main">
            <a:r>
              <a:t>http://kremlin.ru/events/president/news/73585</a:t>
            </a:r>
          </a:p>
          <a:p xmlns:a="http://schemas.openxmlformats.org/drawingml/2006/main">
            <a:r>
              <a:t>http://special.kremlin.ru/events/president/transcripts/75762</a:t>
            </a:r>
          </a:p>
          <a:p xmlns:a="http://schemas.openxmlformats.org/drawingml/2006/main">
            <a:r>
              <a:t>http://www.special.kremlin.ru/events/president/transcripts/76899</a:t>
            </a:r>
          </a:p>
          <a:p xmlns:a="http://schemas.openxmlformats.org/drawingml/2006/main">
            <a:r>
              <a:t>http://special.kremlin.ru/events/president/transcripts/80017</a:t>
            </a:r>
          </a:p>
          <a:p xmlns:a="http://schemas.openxmlformats.org/drawingml/2006/main">
            <a:r>
              <a:t>http://www.special.kremlin.ru/events/president/transcripts/72084</a:t>
            </a:r>
          </a:p>
          <a:p xmlns:a="http://schemas.openxmlformats.org/drawingml/2006/main">
            <a:r>
              <a:t>http://www.special.kremlin.ru/events/president/transcripts/80172</a:t>
            </a:r>
          </a:p>
          <a:p xmlns:a="http://schemas.openxmlformats.org/drawingml/2006/main">
            <a:r>
              <a:t>https://www.diva-portal.org/smash/get/diva2:2035197/FULLTEXT01.pdf</a:t>
            </a:r>
          </a:p>
          <a:p xmlns:a="http://schemas.openxmlformats.org/drawingml/2006/main">
            <a:r>
              <a:t>https://www.reuters.com/world/what-know-about-russias-upcoming-parliamentary-election-2026-09-15/</a:t>
            </a:r>
          </a:p>
          <a:p xmlns:a="http://schemas.openxmlformats.org/drawingml/2006/main">
            <a:r>
              <a:t>https://www.reuters.com/world/europe/how-putin-may-leverage-predictable-outcome-russias-elections-2026-09-18/</a:t>
            </a:r>
          </a:p>
          <a:p xmlns:a="http://schemas.openxmlformats.org/drawingml/2006/main">
            <a:r>
              <a:t>https://ru.wikipedia.org/wiki/Медведев,_Дмитрий_Анатольевич</a:t>
            </a:r>
          </a:p>
          <a:p xmlns:a="http://schemas.openxmlformats.org/drawingml/2006/main">
            <a:r>
              <a:t>https://tass.ru/ekonomika/3941450</a:t>
            </a:r>
          </a:p>
          <a:p xmlns:a="http://schemas.openxmlformats.org/drawingml/2006/main">
            <a:r>
              <a:t>http://archive.government.ru/docs/21653/print/</a:t>
            </a:r>
          </a:p>
          <a:p xmlns:a="http://schemas.openxmlformats.org/drawingml/2006/main">
            <a:r>
              <a:t>https://netfreedom.org.ua/ru/dmytro-anatoliiovych-medvediev-biohrafiia-posady-i-sanktsii/</a:t>
            </a:r>
          </a:p>
          <a:p xmlns:a="http://schemas.openxmlformats.org/drawingml/2006/main">
            <a:r>
              <a:t>https://verstka.media/czeli-svo-kak-kreml-menyal-ih-na-protyazhenii-tryoh-let-vojny</a:t>
            </a:r>
          </a:p>
          <a:p xmlns:a="http://schemas.openxmlformats.org/drawingml/2006/main">
            <a:r>
              <a:t>http://www.scrf.gov.ru/news/allnews/3820/</a:t>
            </a:r>
          </a:p>
          <a:p xmlns:a="http://schemas.openxmlformats.org/drawingml/2006/main">
            <a:r>
              <a:t>http://scrf.gov.ru/news/allnews/3837/</a:t>
            </a:r>
          </a:p>
          <a:p xmlns:a="http://schemas.openxmlformats.org/drawingml/2006/main">
            <a:r>
              <a:t>https://baike.baidu.com/ru/item/%D0%94%D0%BC%D0%B8%D1%82%D1%80%D0%B8%D0%B9%20%D0%90%D0%BD%D0%B0%D1%82%D0%BE%D0%BB%D1%8C%D0%B5%D0%B2%D0%B8%D1%87%20%D0%9C%D0%B5%D0%B4%D0%B2%D0%B5%D0%B4%D0%B5%D0%B2/3254451</a:t>
            </a:r>
          </a:p>
          <a:p xmlns:a="http://schemas.openxmlformats.org/drawingml/2006/main">
            <a:r>
              <a:t>https://tass.ru/politika/5889577</a:t>
            </a:r>
          </a:p>
          <a:p xmlns:a="http://schemas.openxmlformats.org/drawingml/2006/main">
            <a:r>
              <a:t>https://meduza.io/feature/2023/06/26/chto-proizoshlo-s-dmitriem-medvedevym</a:t>
            </a:r>
          </a:p>
          <a:p xmlns:a="http://schemas.openxmlformats.org/drawingml/2006/main">
            <a:r>
              <a:t>https://www.bbc.com/russian/articles/c6evw7d22lv0o</a:t>
            </a:r>
          </a:p>
          <a:p xmlns:a="http://schemas.openxmlformats.org/drawingml/2006/main">
            <a:r>
              <a:t>https://er.ru/activity/news/dmitrij-medvedev-edinaya-rossiya-ne-dopustit-razrusheniya-cennostnyh-osnov-strany</a:t>
            </a:r>
          </a:p>
          <a:p xmlns:a="http://schemas.openxmlformats.org/drawingml/2006/main">
            <a:r>
              <a:t>https://en.wikipedia.org/wiki/Media_freedom_in_Russia</a:t>
            </a:r>
          </a:p>
          <a:p xmlns:a="http://schemas.openxmlformats.org/drawingml/2006/main">
            <a:r>
              <a:t>https://government.ru/gov/persons/151/travel/?area=KHA</a:t>
            </a:r>
          </a:p>
          <a:p xmlns:a="http://schemas.openxmlformats.org/drawingml/2006/main">
            <a:r>
              <a:t>http://government.ru/gov/persons/151/biography/</a:t>
            </a:r>
          </a:p>
          <a:p xmlns:a="http://schemas.openxmlformats.org/drawingml/2006/main">
            <a:r>
              <a:t>https://www.reuters.com/world/europe/who-is-russias-mikhail-mishustin-2024-05-10/</a:t>
            </a:r>
          </a:p>
          <a:p xmlns:a="http://schemas.openxmlformats.org/drawingml/2006/main">
            <a:r>
              <a:t>https://www.kommersant.ru/doc/4220798</a:t>
            </a:r>
          </a:p>
          <a:p xmlns:a="http://schemas.openxmlformats.org/drawingml/2006/main">
            <a:r>
              <a:t>https://www.vedomosti.ru/politics/galleries/2026/03/03/1179718-nalogi-pod-kontrolem</a:t>
            </a:r>
          </a:p>
          <a:p xmlns:a="http://schemas.openxmlformats.org/drawingml/2006/main">
            <a:r>
              <a:t>http://government.ru/gov/persons/151/travel/?page=5</a:t>
            </a:r>
          </a:p>
          <a:p xmlns:a="http://schemas.openxmlformats.org/drawingml/2006/main">
            <a:r>
              <a:t>http://government.ru/news/46476/</a:t>
            </a:r>
          </a:p>
          <a:p xmlns:a="http://schemas.openxmlformats.org/drawingml/2006/main">
            <a:r>
              <a:t>http://government.ru/news/52063/</a:t>
            </a:r>
          </a:p>
          <a:p xmlns:a="http://schemas.openxmlformats.org/drawingml/2006/main">
            <a:r>
              <a:t>http://government.ru/news/52851/</a:t>
            </a:r>
          </a:p>
          <a:p xmlns:a="http://schemas.openxmlformats.org/drawingml/2006/main">
            <a:r>
              <a:t>https://nangs.org/news/society/kabmin-privlek-otdelnye-gosorgany-k-ukrepleniyu-traditsionnykh-tsennostej</a:t>
            </a:r>
          </a:p>
          <a:p xmlns:a="http://schemas.openxmlformats.org/drawingml/2006/main">
            <a:r>
              <a:t>http://government.ru/news/57315/</a:t>
            </a:r>
          </a:p>
          <a:p xmlns:a="http://schemas.openxmlformats.org/drawingml/2006/main">
            <a:r>
              <a:t>https://www.rbc.ru/person/617bf30d9a7947f92ee2d266</a:t>
            </a:r>
          </a:p>
          <a:p xmlns:a="http://schemas.openxmlformats.org/drawingml/2006/main">
            <a:r>
              <a:t>https://mid.ru/ru/press_service/video/view/1848395/</a:t>
            </a:r>
          </a:p>
          <a:p xmlns:a="http://schemas.openxmlformats.org/drawingml/2006/main">
            <a:r>
              <a:t>https://mid.ru/ru/foreign_policy/international_organizations/1932076/</a:t>
            </a:r>
          </a:p>
          <a:p xmlns:a="http://schemas.openxmlformats.org/drawingml/2006/main">
            <a:r>
              <a:t>https://mid.ru/ru/press_service/minister_speeches/1991476/</a:t>
            </a:r>
          </a:p>
          <a:p xmlns:a="http://schemas.openxmlformats.org/drawingml/2006/main">
            <a:r>
              <a:t>https://www.mid.ru/ru/press_service/vizity-ministra/1922112/</a:t>
            </a:r>
          </a:p>
          <a:p xmlns:a="http://schemas.openxmlformats.org/drawingml/2006/main">
            <a:r>
              <a:t>https://www.mid.ru/ru/foreign_policy/news/1927568/</a:t>
            </a:r>
          </a:p>
          <a:p xmlns:a="http://schemas.openxmlformats.org/drawingml/2006/main">
            <a:r>
              <a:t>https://mid.ru/ru/foreign_policy/news/1912973/</a:t>
            </a:r>
          </a:p>
          <a:p xmlns:a="http://schemas.openxmlformats.org/drawingml/2006/main">
            <a:r>
              <a:t>https://www.reuters.com/world/europe/russias-lavrov-says-moscow-committed-us-proposals-peace-rejects-europes-2026-06-15/</a:t>
            </a:r>
          </a:p>
          <a:p xmlns:a="http://schemas.openxmlformats.org/drawingml/2006/main">
            <a:r>
              <a:t>https://www.reuters.com/world/lavrov-says-russia-is-ready-resume-talks-with-ukraine-point-where-they-left-off-2026-06-23/</a:t>
            </a:r>
          </a:p>
          <a:p xmlns:a="http://schemas.openxmlformats.org/drawingml/2006/main">
            <a:r>
              <a:t>https://mid.ru/ru/press_service/video/view/1799184/</a:t>
            </a:r>
          </a:p>
          <a:p xmlns:a="http://schemas.openxmlformats.org/drawingml/2006/main">
            <a:r>
              <a:t>https://en.wikipedia.org/wiki/Sergey_Lavrov</a:t>
            </a:r>
          </a:p>
          <a:p xmlns:a="http://schemas.openxmlformats.org/drawingml/2006/main">
            <a:r>
              <a:t>https://www.garant.ru/products/ipo/prime/doc/70627660/</a:t>
            </a:r>
          </a:p>
          <a:p xmlns:a="http://schemas.openxmlformats.org/drawingml/2006/main">
            <a:r>
              <a:t>https://www.rbc.ru/person/617fc0679a794761d6170b80</a:t>
            </a:r>
          </a:p>
          <a:p xmlns:a="http://schemas.openxmlformats.org/drawingml/2006/main">
            <a:r>
              <a:t>http://www.kremlin.ru/acts/bank/50544</a:t>
            </a:r>
          </a:p>
          <a:p xmlns:a="http://schemas.openxmlformats.org/drawingml/2006/main">
            <a:r>
              <a:t>http://special.kremlin.ru/events/president/news/74019</a:t>
            </a:r>
          </a:p>
          <a:p xmlns:a="http://schemas.openxmlformats.org/drawingml/2006/main">
            <a:r>
              <a:t>https://www.interfax.ru/russia/960081</a:t>
            </a:r>
          </a:p>
          <a:p xmlns:a="http://schemas.openxmlformats.org/drawingml/2006/main">
            <a:r>
              <a:t>https://www.rbc.ru/politics/21/09/2022/632ab17c9a794781413c8582</a:t>
            </a:r>
          </a:p>
          <a:p xmlns:a="http://schemas.openxmlformats.org/drawingml/2006/main">
            <a:r>
              <a:t>https://www.bbc.com/russian/articles/c72p0jq04gjo</a:t>
            </a:r>
          </a:p>
          <a:p xmlns:a="http://schemas.openxmlformats.org/drawingml/2006/main">
            <a:r>
              <a:t>https://meduza.io/feature/2024/05/12/putin-uvolil-shoygu-s-posta-ministra-oborony-i-perevel-v-sovbez</a:t>
            </a:r>
          </a:p>
          <a:p xmlns:a="http://schemas.openxmlformats.org/drawingml/2006/main">
            <a:r>
              <a:t>https://paodkb.org/events/sergey-shoygu-naznachen-sekretarem-soveta-bezopasnosti-rf</a:t>
            </a:r>
          </a:p>
          <a:p xmlns:a="http://schemas.openxmlformats.org/drawingml/2006/main">
            <a:r>
              <a:t>https://base.garant.ru/409005084/</a:t>
            </a:r>
          </a:p>
          <a:p xmlns:a="http://schemas.openxmlformats.org/drawingml/2006/main">
            <a:r>
              <a:t>http://special.kremlin.ru/supplement/6345</a:t>
            </a:r>
          </a:p>
          <a:p xmlns:a="http://schemas.openxmlformats.org/drawingml/2006/main">
            <a:r>
              <a:t>http://en.kremlin.ru/supplement/6345</a:t>
            </a:r>
          </a:p>
          <a:p xmlns:a="http://schemas.openxmlformats.org/drawingml/2006/main">
            <a:r>
              <a:t>https://www.kp.ru/daily/27656.5/5040576/</a:t>
            </a:r>
          </a:p>
          <a:p xmlns:a="http://schemas.openxmlformats.org/drawingml/2006/main">
            <a:r>
              <a:t>https://www.fontanka.ru/2025/06/10/75574928/</a:t>
            </a:r>
          </a:p>
          <a:p xmlns:a="http://schemas.openxmlformats.org/drawingml/2006/main">
            <a:r>
              <a:t>https://tass.ru/politika/25506737</a:t>
            </a:r>
          </a:p>
          <a:p xmlns:a="http://schemas.openxmlformats.org/drawingml/2006/main">
            <a:r>
              <a:t>https://www.rbc.ru/person/6181419c9a7947df128a22f7</a:t>
            </a:r>
          </a:p>
          <a:p xmlns:a="http://schemas.openxmlformats.org/drawingml/2006/main">
            <a:r>
              <a:t>https://www.rbc.ru/economics/31/05/2021/60b3de5d9a7947f2883f7aa0</a:t>
            </a:r>
          </a:p>
          <a:p xmlns:a="http://schemas.openxmlformats.org/drawingml/2006/main">
            <a:r>
              <a:t>https://www.rbc.ru/politics/13/05/2024/6641109a9a7947ab8eebcf7f</a:t>
            </a:r>
          </a:p>
          <a:p xmlns:a="http://schemas.openxmlformats.org/drawingml/2006/main">
            <a:r>
              <a:t>https://www.rbc.ru/business/13/06/2023/6482d3389a79473805ee8978</a:t>
            </a:r>
          </a:p>
          <a:p xmlns:a="http://schemas.openxmlformats.org/drawingml/2006/main">
            <a:r>
              <a:t>https://thebell.io/kuda-vedet-ekonomiku-andrej-belousov-zagadki-dmitriya-medvedeva-i-sposoby-perezhit-sanktsii</a:t>
            </a:r>
          </a:p>
          <a:p xmlns:a="http://schemas.openxmlformats.org/drawingml/2006/main">
            <a:r>
              <a:t>https://72.ru/text/politics/2024/05/14/73575386/</a:t>
            </a:r>
          </a:p>
          <a:p xmlns:a="http://schemas.openxmlformats.org/drawingml/2006/main">
            <a:r>
              <a:t>https://tass.ru/armiya-i-opk/22683223</a:t>
            </a:r>
          </a:p>
          <a:p xmlns:a="http://schemas.openxmlformats.org/drawingml/2006/main">
            <a:r>
              <a:t>https://www.rbc.ru/society/12/12/2017/5a2f9b5a9a79473649fe0042</a:t>
            </a:r>
          </a:p>
          <a:p xmlns:a="http://schemas.openxmlformats.org/drawingml/2006/main">
            <a:r>
              <a:t>https://www.istorex.org/post/russia-december-2024-february-2025</a:t>
            </a:r>
          </a:p>
          <a:p xmlns:a="http://schemas.openxmlformats.org/drawingml/2006/main">
            <a:r>
              <a:t>https://rosinform.ru/news/andrej-belousov-osoboe-znachenie-pridayom-obespecheniyu-voennoj-bezopasnosti-soyuznogo-gosudarstva</a:t>
            </a:r>
          </a:p>
          <a:p xmlns:a="http://schemas.openxmlformats.org/drawingml/2006/main">
            <a:r>
              <a:t>https://xn--b1apnk.xn--p1ai/tpost/nsk7vo4xh1-vstrecha-s-ministrom-oboroni-rossii-i-os</a:t>
            </a:r>
          </a:p>
          <a:p xmlns:a="http://schemas.openxmlformats.org/drawingml/2006/main">
            <a:r>
              <a:t>https://www.rbc.ru/person/62d120d89a79475f0ddd8b5e</a:t>
            </a:r>
          </a:p>
          <a:p xmlns:a="http://schemas.openxmlformats.org/drawingml/2006/main">
            <a:r>
              <a:t>http://scrf.gov.ru/news/allnews/2148/</a:t>
            </a:r>
          </a:p>
          <a:p xmlns:a="http://schemas.openxmlformats.org/drawingml/2006/main">
            <a:r>
              <a:t>https://www.rbc.ru/politics/14/05/2024/6643287b9a7947a8f0b8ba78</a:t>
            </a:r>
          </a:p>
          <a:p xmlns:a="http://schemas.openxmlformats.org/drawingml/2006/main">
            <a:r>
              <a:t>https://tass.ru/info/20789699</a:t>
            </a:r>
          </a:p>
          <a:p xmlns:a="http://schemas.openxmlformats.org/drawingml/2006/main">
            <a:r>
              <a:t>https://marine.org.ru/structure/person/56/</a:t>
            </a:r>
          </a:p>
          <a:p xmlns:a="http://schemas.openxmlformats.org/drawingml/2006/main">
            <a:r>
              <a:t>https://marine.org.ru/publication/smi/16108/</a:t>
            </a:r>
          </a:p>
          <a:p xmlns:a="http://schemas.openxmlformats.org/drawingml/2006/main">
            <a:r>
              <a:t>https://www.svoboda.org/a/30676123.html</a:t>
            </a:r>
          </a:p>
          <a:p xmlns:a="http://schemas.openxmlformats.org/drawingml/2006/main">
            <a:r>
              <a:t>https://aif.ru/society/safety/kuklovodstvo_k_deystviyu_nikolay_patrushev_o_metodah_cvetnyh_revolyuciy</a:t>
            </a:r>
          </a:p>
          <a:p xmlns:a="http://schemas.openxmlformats.org/drawingml/2006/main">
            <a:r>
              <a:t>https://vkrizis.info/vlast/czennosti-razmyvaniya/</a:t>
            </a:r>
          </a:p>
          <a:p xmlns:a="http://schemas.openxmlformats.org/drawingml/2006/main">
            <a:r>
              <a:t>https://infranomica.ru/2026/05/19/selskoe-hozyajstvo-est-rezultat-budet-i-pishha/</a:t>
            </a:r>
          </a:p>
          <a:p xmlns:a="http://schemas.openxmlformats.org/drawingml/2006/main">
            <a:r>
              <a:t>https://www.rbc.ru/person/660400989a79471b36dbb514</a:t>
            </a:r>
          </a:p>
          <a:p xmlns:a="http://schemas.openxmlformats.org/drawingml/2006/main">
            <a:r>
              <a:t>http://special.kremlin.ru/catalog/persons/100/events</a:t>
            </a:r>
          </a:p>
          <a:p xmlns:a="http://schemas.openxmlformats.org/drawingml/2006/main">
            <a:r>
              <a:t>https://nac.gov.ru/view/eb008ff4-1608-4b47-b2a9-3d604c1833c2</a:t>
            </a:r>
          </a:p>
          <a:p xmlns:a="http://schemas.openxmlformats.org/drawingml/2006/main">
            <a:r>
              <a:t>http://pfo.gov.ru/press/events/113336/</a:t>
            </a:r>
          </a:p>
          <a:p xmlns:a="http://schemas.openxmlformats.org/drawingml/2006/main">
            <a:r>
              <a:t>https://www.opensanctions.org/entities/Q516824/</a:t>
            </a:r>
          </a:p>
          <a:p xmlns:a="http://schemas.openxmlformats.org/drawingml/2006/main">
            <a:r>
              <a:t>https://www.agents.media/ssha-poprobuyut-vozobnovit-peregovory-o-mire-v-ukraine-cherez-glavu-fsb-che-vedomstvo-kak-schitaetsya-svoimi-dokladami-podtolknulo-putina-k-vojne/</a:t>
            </a:r>
          </a:p>
          <a:p xmlns:a="http://schemas.openxmlformats.org/drawingml/2006/main">
            <a:r>
              <a:t>https://letters.kremlin.ru/news/receptions/by-section/assignments/by-person/260</a:t>
            </a:r>
          </a:p>
          <a:p xmlns:a="http://schemas.openxmlformats.org/drawingml/2006/main">
            <a:r>
              <a:t>https://www.kommersant.ru/doc/3612580</a:t>
            </a:r>
          </a:p>
          <a:p xmlns:a="http://schemas.openxmlformats.org/drawingml/2006/main">
            <a:r>
              <a:t>https://fbk.info/ru/investigations/kirienko-kholyi-putina</a:t>
            </a:r>
          </a:p>
          <a:p xmlns:a="http://schemas.openxmlformats.org/drawingml/2006/main">
            <a:r>
              <a:t>https://utro02.tv/2022/05/24/kolebaniya-kirienok/</a:t>
            </a:r>
          </a:p>
          <a:p xmlns:a="http://schemas.openxmlformats.org/drawingml/2006/main">
            <a:r>
              <a:t>https://meduza.io/feature/2023/12/19/on-peresidel-v-svoem-kresle-v-kremle-i-pravitelstve-obsuzhdayut-chto-sergey-kirienko-mozhet-lishitsya-dolzhnosti-v-ap-posle-vyborov-prezidenta</a:t>
            </a:r>
          </a:p>
          <a:p xmlns:a="http://schemas.openxmlformats.org/drawingml/2006/main">
            <a:r>
              <a:t>https://verstka.media/kak-rossiya-prodvigaet-svoyu-molodezhnuyu-politiku-na-okkupirovannyh-territoriyah</a:t>
            </a:r>
          </a:p>
          <a:p xmlns:a="http://schemas.openxmlformats.org/drawingml/2006/main">
            <a:r>
              <a:t>https://dnrnews.ru/society/2025/09/04/1167117.html</a:t>
            </a:r>
          </a:p>
          <a:p xmlns:a="http://schemas.openxmlformats.org/drawingml/2006/main">
            <a:r>
              <a:t>https://www.tadviser.ru/index.php/%D0%9F%D0%B5%D1%80%D1%81%D0%BE%D0%BD%D0%B0:%D0%9A%D0%B8%D1%80%D0%B8%D0%B5%D0%BD%D0%BA%D0%BE_%D0%A1%D0%B5%D1%80%D0%B3%D0%B5%D0%B9_%D0%92%D0%BB%D0%B0%D0%B4%D0%B8%D0%BB%D0%B5%D0%BD%D0%BE%D0%B2%D0%B8%D1%87</a:t>
            </a:r>
          </a:p>
          <a:p xmlns:a="http://schemas.openxmlformats.org/drawingml/2006/main">
            <a:r>
              <a:t>https://tass.ru/politika/18225741</a:t>
            </a:r>
          </a:p>
          <a:p xmlns:a="http://schemas.openxmlformats.org/drawingml/2006/main">
            <a:r>
              <a:t>https://www.kommersant.ru/doc/6187168</a:t>
            </a:r>
          </a:p>
          <a:p xmlns:a="http://schemas.openxmlformats.org/drawingml/2006/main">
            <a:r>
              <a:t>https://duma.gov.ru/news/63383/</a:t>
            </a:r>
          </a:p>
          <a:p xmlns:a="http://schemas.openxmlformats.org/drawingml/2006/main">
            <a:r>
              <a:t>http://duma.gov.ru/en/duma/persons/99100829/news/</a:t>
            </a:r>
          </a:p>
          <a:p xmlns:a="http://schemas.openxmlformats.org/drawingml/2006/main">
            <a:r>
              <a:t>http://duma.gov.ru/en/news/62248/</a:t>
            </a:r>
          </a:p>
          <a:p xmlns:a="http://schemas.openxmlformats.org/drawingml/2006/main">
            <a:r>
              <a:t>http://duma.gov.ru/en/news/61352/</a:t>
            </a:r>
          </a:p>
          <a:p xmlns:a="http://schemas.openxmlformats.org/drawingml/2006/main">
            <a:r>
              <a:t>http://duma.gov.ru/en/news/64178/</a:t>
            </a:r>
          </a:p>
          <a:p xmlns:a="http://schemas.openxmlformats.org/drawingml/2006/main">
            <a:r>
              <a:t>http://duma.gov.ru/en/news/64216</a:t>
            </a:r>
          </a:p>
          <a:p xmlns:a="http://schemas.openxmlformats.org/drawingml/2006/main">
            <a:r>
              <a:t>http://duma.gov.ru/en/news/64239</a:t>
            </a:r>
          </a:p>
          <a:p xmlns:a="http://schemas.openxmlformats.org/drawingml/2006/main">
            <a:r>
              <a:t>https://en.wikipedia.org/wiki/Vyacheslav_Volodin</a:t>
            </a:r>
          </a:p>
          <a:p xmlns:a="http://schemas.openxmlformats.org/drawingml/2006/main">
            <a:r>
              <a:t>http://duma.gov.ru/news/56060/</a:t>
            </a:r>
          </a:p>
          <a:p xmlns:a="http://schemas.openxmlformats.org/drawingml/2006/main">
            <a:r>
              <a:t>http://duma.gov.ru/news/60448/</a:t>
            </a:r>
          </a:p>
          <a:p xmlns:a="http://schemas.openxmlformats.org/drawingml/2006/main">
            <a:r>
              <a:t>http://duma.gov.ru/news/61362/</a:t>
            </a:r>
          </a:p>
          <a:p xmlns:a="http://schemas.openxmlformats.org/drawingml/2006/main">
            <a:r>
              <a:t>http://duma.gov.ru/news/61384/</a:t>
            </a:r>
          </a:p>
          <a:p xmlns:a="http://schemas.openxmlformats.org/drawingml/2006/main">
            <a:r>
              <a:t>http://duma.gov.ru/news/61874/</a:t>
            </a:r>
          </a:p>
          <a:p xmlns:a="http://schemas.openxmlformats.org/drawingml/2006/main">
            <a:r>
              <a:t>http://duma.gov.ru/news/62022/</a:t>
            </a:r>
          </a:p>
          <a:p xmlns:a="http://schemas.openxmlformats.org/drawingml/2006/main">
            <a:r>
              <a:t>http://duma.gov.ru/news/63772/</a:t>
            </a:r>
          </a:p>
          <a:p xmlns:a="http://schemas.openxmlformats.org/drawingml/2006/main">
            <a:r>
              <a:t>https://council.gov.ru/events/news/160466/</a:t>
            </a:r>
          </a:p>
          <a:p xmlns:a="http://schemas.openxmlformats.org/drawingml/2006/main">
            <a:r>
              <a:t>http://council.gov.ru/structure/persons/257/</a:t>
            </a:r>
          </a:p>
          <a:p xmlns:a="http://schemas.openxmlformats.org/drawingml/2006/main">
            <a:r>
              <a:t>https://interaffairs.ru/news/show/16199</a:t>
            </a:r>
          </a:p>
          <a:p xmlns:a="http://schemas.openxmlformats.org/drawingml/2006/main">
            <a:r>
              <a:t>https://www.rbc.ru/person/617fb5ef9a79475c6cfc4502</a:t>
            </a:r>
          </a:p>
          <a:p xmlns:a="http://schemas.openxmlformats.org/drawingml/2006/main">
            <a:r>
              <a:t>https://vksrs.com/publications/matvienko-rasskazala-o-neobkhodimosti-protivostoyat-geroizatsii-natsistov/</a:t>
            </a:r>
          </a:p>
          <a:p xmlns:a="http://schemas.openxmlformats.org/drawingml/2006/main">
            <a:r>
              <a:t>https://absatz.media/politika/158438-valentine-matvienko-77-istoriya-uspeha-put-k-vershine-i-samye-yarkie-zayavleniya</a:t>
            </a:r>
          </a:p>
          <a:p xmlns:a="http://schemas.openxmlformats.org/drawingml/2006/main">
            <a:r>
              <a:t>https://www.rbc.ru/society/14/10/2026/6acf597c9a794743e0478a15?from=short_news</a:t>
            </a:r>
          </a:p>
          <a:p xmlns:a="http://schemas.openxmlformats.org/drawingml/2006/main">
            <a:r>
              <a:t>https://senatinform.ru/news/sf_stremitsya_byt_maksimalno_otkrytym_dlya_raboty_zhurnalistov_matvienko/</a:t>
            </a:r>
          </a:p>
          <a:p xmlns:a="http://schemas.openxmlformats.org/drawingml/2006/main">
            <a:r>
              <a:t>https://eparlament.irzs.ru/Files/getFile/11853</a:t>
            </a:r>
          </a:p>
          <a:p xmlns:a="http://schemas.openxmlformats.org/drawingml/2006/main">
            <a:r>
              <a:t>http://special.council.gov.ru/activity/meetings/170703/transcript/</a:t>
            </a:r>
          </a:p>
          <a:p xmlns:a="http://schemas.openxmlformats.org/drawingml/2006/main">
            <a:r>
              <a:t>https://bookonlime.ru/lecture/12-razvitie-ekonomicheskih-otnosheniy-i-strategicheskoe-planirovanie-v-cifrovoy-ekonomike-2</a:t>
            </a:r>
          </a:p>
          <a:p xmlns:a="http://schemas.openxmlformats.org/drawingml/2006/main">
            <a:r>
              <a:t>https://ru.wikipedia.org/wiki/Песков,_Дмитрий_Сергеевич</a:t>
            </a:r>
          </a:p>
          <a:p xmlns:a="http://schemas.openxmlformats.org/drawingml/2006/main">
            <a:r>
              <a:t>https://www.reuters.com/world/europe/kremlin-says-ukraine-is-now-paying-price-its-own-attacks-russia-2026-09-28/</a:t>
            </a:r>
          </a:p>
          <a:p xmlns:a="http://schemas.openxmlformats.org/drawingml/2006/main">
            <a:r>
              <a:t>https://www.reuters.com/world/europe/kremlin-rejects-le-penbardella-rebuke-says-russia-is-no-threat-france-2026-09-21/</a:t>
            </a:r>
          </a:p>
          <a:p xmlns:a="http://schemas.openxmlformats.org/drawingml/2006/main">
            <a:r>
              <a:t>https://theins.ru/antifake/295208</a:t>
            </a:r>
          </a:p>
          <a:p xmlns:a="http://schemas.openxmlformats.org/drawingml/2006/main">
            <a:r>
              <a:t>https://expert.ru/news/v-kremle-otvetili-na-slova-donalda-trampa-o-rossiyskom-vmeshatelstve</a:t>
            </a:r>
          </a:p>
          <a:p xmlns:a="http://schemas.openxmlformats.org/drawingml/2006/main">
            <a:r>
              <a:t>https://www.dw.com/ru/dmitrij-peskov/t-18146676/page-1</a:t>
            </a:r>
          </a:p>
          <a:p xmlns:a="http://schemas.openxmlformats.org/drawingml/2006/main">
            <a:r>
              <a:t>https://www.pnp.ru/person/dmitriy--peskov/</a:t>
            </a:r>
          </a:p>
          <a:p xmlns:a="http://schemas.openxmlformats.org/drawingml/2006/main">
            <a:r>
              <a:t>https://www.rbc.ua/ukr/dossier/peskov-19032015</a:t>
            </a:r>
          </a:p>
          <a:p xmlns:a="http://schemas.openxmlformats.org/drawingml/2006/main">
            <a:r>
              <a:t>https://www.rbc.ru/politics/12/10/2026/6accae3bb18f4460834ce063</a:t>
            </a:r>
          </a:p>
          <a:p xmlns:a="http://schemas.openxmlformats.org/drawingml/2006/main">
            <a:r>
              <a:t>https://tass.ru/politika/20355193</a:t>
            </a:r>
          </a:p>
          <a:p xmlns:a="http://schemas.openxmlformats.org/drawingml/2006/main">
            <a:r>
              <a:t>https://www.m24.ru/news/06052024/689412</a:t>
            </a:r>
          </a:p>
          <a:p xmlns:a="http://schemas.openxmlformats.org/drawingml/2006/main">
            <a:r>
              <a:t>http://www.kremlin.ru/acts/bank/48502</a:t>
            </a:r>
          </a:p>
          <a:p xmlns:a="http://schemas.openxmlformats.org/drawingml/2006/main">
            <a:r>
              <a:t>https://www.m24.ru/news/11022025/769070</a:t>
            </a:r>
          </a:p>
          <a:p xmlns:a="http://schemas.openxmlformats.org/drawingml/2006/main">
            <a:r>
              <a:t>https://www.m24.ru/news/23042026/894202</a:t>
            </a:r>
          </a:p>
          <a:p xmlns:a="http://schemas.openxmlformats.org/drawingml/2006/main">
            <a:r>
              <a:t>https://cbr.ru/about_br/nabiullinaes/</a:t>
            </a:r>
          </a:p>
          <a:p xmlns:a="http://schemas.openxmlformats.org/drawingml/2006/main">
            <a:r>
              <a:t>https://cbr.ru/press/event/?id=12840</a:t>
            </a:r>
          </a:p>
          <a:p xmlns:a="http://schemas.openxmlformats.org/drawingml/2006/main">
            <a:r>
              <a:t>https://www.cbr.ru/press/event/?id=12904</a:t>
            </a:r>
          </a:p>
          <a:p xmlns:a="http://schemas.openxmlformats.org/drawingml/2006/main">
            <a:r>
              <a:t>https://cbr.ru/press/event/?id=14033</a:t>
            </a:r>
          </a:p>
          <a:p xmlns:a="http://schemas.openxmlformats.org/drawingml/2006/main">
            <a:r>
              <a:t>https://www.cbr.ru/press/event/?id=12764</a:t>
            </a:r>
          </a:p>
          <a:p xmlns:a="http://schemas.openxmlformats.org/drawingml/2006/main">
            <a:r>
              <a:t>https://kazanfirst.ru/articles/534335</a:t>
            </a:r>
          </a:p>
          <a:p xmlns:a="http://schemas.openxmlformats.org/drawingml/2006/main">
            <a:r>
              <a:t>https://www.rbc.ru/person/65e831449a79476cbfd8e5fd</a:t>
            </a:r>
          </a:p>
          <a:p xmlns:a="http://schemas.openxmlformats.org/drawingml/2006/main">
            <a:r>
              <a:t>https://www.interfax.ru/russia/955290</a:t>
            </a:r>
          </a:p>
          <a:p xmlns:a="http://schemas.openxmlformats.org/drawingml/2006/main">
            <a:r>
              <a:t>https://minfin.gov.ru/ru/press-center/?id_4=38548-intervyu_ministra_finansov_antona_siluanova_gazete_argumenty_i_fakty</a:t>
            </a:r>
          </a:p>
          <a:p xmlns:a="http://schemas.openxmlformats.org/drawingml/2006/main">
            <a:r>
              <a:t>https://minfin.gov.ru/ru/press-center/?id_4=37667-vystuplenie_antona_siluanova_na_plenarnom_zasedanii_v_gosudarstvennoi_dume</a:t>
            </a:r>
          </a:p>
          <a:p xmlns:a="http://schemas.openxmlformats.org/drawingml/2006/main">
            <a:r>
              <a:t>https://www.rbc.ru/economics/24/10/2022/63529d159a7947efb82a59eb</a:t>
            </a:r>
          </a:p>
          <a:p xmlns:a="http://schemas.openxmlformats.org/drawingml/2006/main">
            <a:r>
              <a:t>https://www.rbc.ru/newspaper/2020/02/21/5e4e83289a79474bcf9f8cf9</a:t>
            </a:r>
          </a:p>
          <a:p xmlns:a="http://schemas.openxmlformats.org/drawingml/2006/main">
            <a:r>
              <a:t>https://www.rbc.ru/economics/20/02/2020/5e4e91919a79475559478893</a:t>
            </a:r>
          </a:p>
          <a:p xmlns:a="http://schemas.openxmlformats.org/drawingml/2006/main">
            <a:r>
              <a:t>https://minfin.gov.ru/ru/press-center/?id_4=39336-anton_siluanov_predstavil_na_parlamentskikh_slushaniyakh_v_sovete_federatsii_proekt_byudzheta_na_2025-2027_gg.</a:t>
            </a:r>
          </a:p>
          <a:p xmlns:a="http://schemas.openxmlformats.org/drawingml/2006/main">
            <a:r>
              <a:t>https://www.interfax.ru/amp/1035506</a:t>
            </a:r>
          </a:p>
          <a:p xmlns:a="http://schemas.openxmlformats.org/drawingml/2006/main">
            <a:r>
              <a:t>https://tass.ru/ekonomika/28198121</a:t>
            </a:r>
          </a:p>
          <a:p xmlns:a="http://schemas.openxmlformats.org/drawingml/2006/main">
            <a:r>
              <a:t>https://www.rbc.ru/person/65b9f4369a7947ec8a7f242a</a:t>
            </a:r>
          </a:p>
          <a:p xmlns:a="http://schemas.openxmlformats.org/drawingml/2006/main">
            <a:r>
              <a:t>https://www.bfm.ru/news/435050</a:t>
            </a:r>
          </a:p>
          <a:p xmlns:a="http://schemas.openxmlformats.org/drawingml/2006/main">
            <a:r>
              <a:t>https://ru.ruwiki.ru/wiki/%D0%93%D0%BE%D0%BB%D0%B8%D0%BA%D0%BE%D0%B2%D0%B0,_%D0%A2%D0%B0%D1%82%D1%8C%D1%8F%D0%BD%D0%B0_%D0%90%D0%BB%D0%B5%D0%BA%D1%81%D0%B5%D0%B5%D0%B2%D0%BD%D0%B0</a:t>
            </a:r>
          </a:p>
          <a:p xmlns:a="http://schemas.openxmlformats.org/drawingml/2006/main">
            <a:r>
              <a:t>http://www.kremlin.ru/events/president/transcripts/deliberations%20/77439</a:t>
            </a:r>
          </a:p>
          <a:p xmlns:a="http://schemas.openxmlformats.org/drawingml/2006/main">
            <a:r>
              <a:t>https://xn--90aivcdt6dxbc.xn--p1ai/articles/news/prezident-zdravookhranenie-zanimaet-klyuchevoe-mesto-v-sotsialnoy-politike-rossii/</a:t>
            </a:r>
          </a:p>
          <a:p xmlns:a="http://schemas.openxmlformats.org/drawingml/2006/main">
            <a:r>
              <a:t>https://xn--90aivcdt6dxbc.xn--p1ai/articles/news/tatyana-golikova-edinaya-rossiya-nadezhnyy-soyuznik-i-partner-pravitelstva/</a:t>
            </a:r>
          </a:p>
          <a:p xmlns:a="http://schemas.openxmlformats.org/drawingml/2006/main">
            <a:r>
              <a:t>http://government.ru/news/58648/</a:t>
            </a:r>
          </a:p>
          <a:p xmlns:a="http://schemas.openxmlformats.org/drawingml/2006/main">
            <a:r>
              <a:t>http://government.ru/news/54912/</a:t>
            </a:r>
          </a:p>
          <a:p xmlns:a="http://schemas.openxmlformats.org/drawingml/2006/main">
            <a:r>
              <a:t>http://government.ru/news/58000/</a:t>
            </a:r>
          </a:p>
          <a:p xmlns:a="http://schemas.openxmlformats.org/drawingml/2006/main">
            <a:r>
              <a:t>https://tass.ru/politika/28141547</a:t>
            </a:r>
          </a:p>
          <a:p xmlns:a="http://schemas.openxmlformats.org/drawingml/2006/main">
            <a:r>
              <a:t>https://duma.gov.ru/media/files/smUklOtuNPyzwTneQGCfFUHHIsilAqcm.pdf</a:t>
            </a:r>
          </a:p>
          <a:p xmlns:a="http://schemas.openxmlformats.org/drawingml/2006/main">
            <a:r>
              <a:t>https://kprf.ru/dep/gosduma/activities/187187.html</a:t>
            </a:r>
          </a:p>
          <a:p xmlns:a="http://schemas.openxmlformats.org/drawingml/2006/main">
            <a:r>
              <a:t>http://msk.kprf.ru/2022/08/22/222866/</a:t>
            </a:r>
          </a:p>
          <a:p xmlns:a="http://schemas.openxmlformats.org/drawingml/2006/main">
            <a:r>
              <a:t>https://kprf.ru/party-live/cknews/235903.html</a:t>
            </a:r>
          </a:p>
          <a:p xmlns:a="http://schemas.openxmlformats.org/drawingml/2006/main">
            <a:r>
              <a:t>https://kprf.ru/dep/gosduma/activities/236198.html/print</a:t>
            </a:r>
          </a:p>
          <a:p xmlns:a="http://schemas.openxmlformats.org/drawingml/2006/main">
            <a:r>
              <a:t>https://kprf.ru/dep/gosduma/activities/239812.html</a:t>
            </a:r>
          </a:p>
          <a:p xmlns:a="http://schemas.openxmlformats.org/drawingml/2006/main">
            <a:r>
              <a:t>https://kprf-don.ru/index.php/news/facts/12501-2025-09-15-12-58-35.html</a:t>
            </a:r>
          </a:p>
          <a:p xmlns:a="http://schemas.openxmlformats.org/drawingml/2006/main">
            <a:r>
              <a:t>https://kprf.ru/dep/gosduma/activities/237529.html</a:t>
            </a:r>
          </a:p>
          <a:p xmlns:a="http://schemas.openxmlformats.org/drawingml/2006/main">
            <a:r>
              <a:t>https://novayagazeta.ru/articles/2025/09/19/putin-udivilsia-khodu-zapushchennoi-im-vesnoi-munitsipalnoi-reformy-posle-slov-ziuganova-kak-regiony-dlia-nee-lomali-cherez-koleno-a-tatarstan-otkazalsia-ee-ispolniat-news</a:t>
            </a:r>
          </a:p>
          <a:p xmlns:a="http://schemas.openxmlformats.org/drawingml/2006/main">
            <a:r>
              <a:t>https://kprf.ru/official/2025/11/15/15-noiabria-2025-oda-sostoialsia-ii-noiabrskii-plenum-tsk-kprf/473.html</a:t>
            </a:r>
          </a:p>
          <a:p xmlns:a="http://schemas.openxmlformats.org/drawingml/2006/main">
            <a:r>
              <a:t>https://www.rbc.ru/person/617bfbb79a7947fc327a3bcb</a:t>
            </a:r>
          </a:p>
          <a:p xmlns:a="http://schemas.openxmlformats.org/drawingml/2006/main">
            <a:r>
              <a:t>https://www.bbc.com/russian/features-60873381</a:t>
            </a:r>
          </a:p>
          <a:p xmlns:a="http://schemas.openxmlformats.org/drawingml/2006/main">
            <a:r>
              <a:t>https://www.svoboda.org/a/umer-lider-partii-ldpr-vladimir-zhirinovskiy-nekrolog/31770134.html</a:t>
            </a:r>
          </a:p>
          <a:p xmlns:a="http://schemas.openxmlformats.org/drawingml/2006/main">
            <a:r>
              <a:t>https://www.rbc.ru/politics/06/04/2022/624d661b9a79473f7416fe26</a:t>
            </a:r>
          </a:p>
          <a:p xmlns:a="http://schemas.openxmlformats.org/drawingml/2006/main">
            <a:r>
              <a:t>https://tass.ru/politika/3392889</a:t>
            </a:r>
          </a:p>
          <a:p xmlns:a="http://schemas.openxmlformats.org/drawingml/2006/main">
            <a:r>
              <a:t>https://www.pnp.ru/politics/2016/06/28/v-centre-predvybornoy-programmy-ldpr-russkiy-vopros.html</a:t>
            </a:r>
          </a:p>
          <a:p xmlns:a="http://schemas.openxmlformats.org/drawingml/2006/main">
            <a:r>
              <a:t>https://ldpr.ru/party/history/</a:t>
            </a:r>
          </a:p>
          <a:p xmlns:a="http://schemas.openxmlformats.org/drawingml/2006/main">
            <a:r>
              <a:t>https://govoritmoskva.ru/interviews/1023/</a:t>
            </a:r>
          </a:p>
          <a:p xmlns:a="http://schemas.openxmlformats.org/drawingml/2006/main">
            <a:r>
              <a:t>https://www.gazeta.ru/politics/2017/03/17_a_10580999.shtml</a:t>
            </a:r>
          </a:p>
          <a:p xmlns:a="http://schemas.openxmlformats.org/drawingml/2006/main">
            <a:r>
              <a:t>https://ldpr.ru/upload/iblock/c88/1d6dstdexz6aw7dnwoubeobhr3mnwa1j/a799616e688866c49f2ef6b5b8cfe5c00d45080ae85ce0e5f6d36e2e010681d9.pdf</a:t>
            </a:r>
          </a:p>
          <a:p xmlns:a="http://schemas.openxmlformats.org/drawingml/2006/main">
            <a:r>
              <a:t>https://www.kommersant.ru/doc/3579566</a:t>
            </a:r>
          </a:p>
          <a:p xmlns:a="http://schemas.openxmlformats.org/drawingml/2006/main">
            <a:r>
              <a:t>https://spb.ldpr.ru/event/243915/</a:t>
            </a:r>
          </a:p>
          <a:p xmlns:a="http://schemas.openxmlformats.org/drawingml/2006/main">
            <a:r>
              <a:t>https://kursk.ldpr.ru/event/341398</a:t>
            </a:r>
          </a:p>
          <a:p xmlns:a="http://schemas.openxmlformats.org/drawingml/2006/main">
            <a:r>
              <a:t>https://cyberleninka.ru/article/n/sravnitelnyy-analiz-predvybornyh-programm-ldpr-na-vyborah-2021-g-i-l-e-slutskogo-na-vyborah-2024-g</a:t>
            </a:r>
          </a:p>
          <a:p xmlns:a="http://schemas.openxmlformats.org/drawingml/2006/main">
            <a:r>
              <a:t>https://kcr.ldpr.ru/event/347999/</a:t>
            </a:r>
          </a:p>
          <a:p xmlns:a="http://schemas.openxmlformats.org/drawingml/2006/main">
            <a:r>
              <a:t>https://msknews77.ru/society/2025/09/25/73500.html</a:t>
            </a:r>
          </a:p>
          <a:p xmlns:a="http://schemas.openxmlformats.org/drawingml/2006/main">
            <a:r>
              <a:t>https://bagaevka-press.ru/besplatnyj-zemelnyj-uchastok-dlya-semej-inicziativa-ldpr/</a:t>
            </a:r>
          </a:p>
          <a:p xmlns:a="http://schemas.openxmlformats.org/drawingml/2006/main">
            <a:r>
              <a:t>https://ldpr.ru/event/437527/</a:t>
            </a:r>
          </a:p>
          <a:p xmlns:a="http://schemas.openxmlformats.org/drawingml/2006/main">
            <a:r>
              <a:t>https://rg62.info/2025/11/01/leonid-sluczkij-vstupilsya-za-multserial-masha-i-medved/</a:t>
            </a:r>
          </a:p>
          <a:p xmlns:a="http://schemas.openxmlformats.org/drawingml/2006/main">
            <a:r>
              <a:t>https://mironov.ru/officially</a:t>
            </a:r>
          </a:p>
          <a:p xmlns:a="http://schemas.openxmlformats.org/drawingml/2006/main">
            <a:r>
              <a:t>https://mironov.ru/bio</a:t>
            </a:r>
          </a:p>
          <a:p xmlns:a="http://schemas.openxmlformats.org/drawingml/2006/main">
            <a:r>
              <a:t>https://mironov-online.ru/category/zayavleniya/</a:t>
            </a:r>
          </a:p>
          <a:p xmlns:a="http://schemas.openxmlformats.org/drawingml/2006/main">
            <a:r>
              <a:t>https://www.rbc.ru/person/69806d279a7947baf86c32c5</a:t>
            </a:r>
          </a:p>
          <a:p xmlns:a="http://schemas.openxmlformats.org/drawingml/2006/main">
            <a:r>
              <a:t>https://spravedlivo.ru/16303010</a:t>
            </a:r>
          </a:p>
          <a:p xmlns:a="http://schemas.openxmlformats.org/drawingml/2006/main">
            <a:r>
              <a:t>http://mironov.ru/15133910</a:t>
            </a:r>
          </a:p>
          <a:p xmlns:a="http://schemas.openxmlformats.org/drawingml/2006/main">
            <a:r>
              <a:t>http://www.special.spravedlivo.ru/5_140609.html</a:t>
            </a:r>
          </a:p>
          <a:p xmlns:a="http://schemas.openxmlformats.org/drawingml/2006/main">
            <a:r>
              <a:t>https://spravedlivo.ru/14681110</a:t>
            </a:r>
          </a:p>
          <a:p xmlns:a="http://schemas.openxmlformats.org/drawingml/2006/main">
            <a:r>
              <a:t>https://radiokp.ru/podcast/dialogi-na-radio-kp/759263</a:t>
            </a:r>
          </a:p>
          <a:p xmlns:a="http://schemas.openxmlformats.org/drawingml/2006/main">
            <a:r>
              <a:t>https://mironov.ru/51339910</a:t>
            </a:r>
          </a:p>
          <a:p xmlns:a="http://schemas.openxmlformats.org/drawingml/2006/main">
            <a:r>
              <a:t>https://mironov-online.ru/news/mironov-na-ukraine-idet-bitva-za-budushhee-vsego-chelovechestva-i-pobeda-v-nej-budet-za-rossiej/</a:t>
            </a:r>
          </a:p>
          <a:p xmlns:a="http://schemas.openxmlformats.org/drawingml/2006/main">
            <a:r>
              <a:t>https://spravedlivo.ru/12544510</a:t>
            </a:r>
          </a:p>
          <a:p xmlns:a="http://schemas.openxmlformats.org/drawingml/2006/main">
            <a:r>
              <a:t>https://www.rbc.ru/person/6aa3ef199a79475758621730</a:t>
            </a:r>
          </a:p>
          <a:p xmlns:a="http://schemas.openxmlformats.org/drawingml/2006/main">
            <a:r>
              <a:t>https://www.rbc.ru/politics/24/09/2021/614da73f9a7947b5e3d9399f</a:t>
            </a:r>
          </a:p>
          <a:p xmlns:a="http://schemas.openxmlformats.org/drawingml/2006/main">
            <a:r>
              <a:t>https://amp.rbc.ru/rbcnews/base/14/08/2026/6a957dfb9a79476ae3d823ba</a:t>
            </a:r>
          </a:p>
          <a:p xmlns:a="http://schemas.openxmlformats.org/drawingml/2006/main">
            <a:r>
              <a:t>https://en.wikipedia.org/wiki/Alexey_Nechayev</a:t>
            </a:r>
          </a:p>
          <a:p xmlns:a="http://schemas.openxmlformats.org/drawingml/2006/main">
            <a:r>
              <a:t>https://www.gazeta.ru/politics/23422027/novye-lyudi-na-vyborah-2026-goda.shtml</a:t>
            </a:r>
          </a:p>
          <a:p xmlns:a="http://schemas.openxmlformats.org/drawingml/2006/main">
            <a:r>
              <a:t>https://vremya-bir.ru/2026/03/07/dvenadtsat-shagov-k-strane-v-kotoroj-hochetsya-zhit/</a:t>
            </a:r>
          </a:p>
          <a:p xmlns:a="http://schemas.openxmlformats.org/drawingml/2006/main">
            <a:r>
              <a:t>https://www.rbc.ru/politics/08/09/2026/6aa023ec9a79471e4fd55d3c</a:t>
            </a:r>
          </a:p>
          <a:p xmlns:a="http://schemas.openxmlformats.org/drawingml/2006/main">
            <a:r>
              <a:t>https://www.interfax.ru/interview/1074248</a:t>
            </a:r>
          </a:p>
          <a:p xmlns:a="http://schemas.openxmlformats.org/drawingml/2006/main">
            <a:r>
              <a:t>https://www.interfax.ru/amp/1074248</a:t>
            </a:r>
          </a:p>
          <a:p xmlns:a="http://schemas.openxmlformats.org/drawingml/2006/main">
            <a:r>
              <a:t>https://www.vedomosti.ru/politics/articles/2026/09/09/1227352-novie-lyudi-sformulirovali-programmu</a:t>
            </a:r>
          </a:p>
          <a:p xmlns:a="http://schemas.openxmlformats.org/drawingml/2006/main">
            <a:r>
              <a:t>https://dddkursk.ru/lenta/2026/07/30/129483/</a:t>
            </a:r>
          </a:p>
          <a:p xmlns:a="http://schemas.openxmlformats.org/drawingml/2006/main">
            <a:r>
              <a:t>https://volga.news/article/803292.html</a:t>
            </a:r>
          </a:p>
          <a:p xmlns:a="http://schemas.openxmlformats.org/drawingml/2006/main">
            <a:r>
              <a:t>https://ru.wikipedia.org/wiki/%D0%9D%D0%B5%D1%87%D0%B0%D0%B5%D0%B2,_%D0%90%D0%BB%D0%B5%D0%BA%D1%81%D0%B5%D0%B9_%D0%93%D0%B5%D0%BD%D0%BD%D0%B0%D0%B4%D1%8C%D0%B5%D0%B2%D0%B8%D1%87</a:t>
            </a:r>
          </a:p>
          <a:p xmlns:a="http://schemas.openxmlformats.org/drawingml/2006/main">
            <a:r>
              <a:t>https://www.davankov2024.ru/page_biography/</a:t>
            </a:r>
          </a:p>
          <a:p xmlns:a="http://schemas.openxmlformats.org/drawingml/2006/main">
            <a:r>
              <a:t>https://davankov2024.ru/program</a:t>
            </a:r>
          </a:p>
          <a:p xmlns:a="http://schemas.openxmlformats.org/drawingml/2006/main">
            <a:r>
              <a:t>http://vote.duma.gov.ru/?convocation=AAAAAAA8&amp;deputy=99113489&amp;sort=date_desc</a:t>
            </a:r>
          </a:p>
          <a:p xmlns:a="http://schemas.openxmlformats.org/drawingml/2006/main">
            <a:r>
              <a:t>https://holod.media/2024/02/14/vladislav-davankov/</a:t>
            </a:r>
          </a:p>
          <a:p xmlns:a="http://schemas.openxmlformats.org/drawingml/2006/main">
            <a:r>
              <a:t>https://davankov2024.ru/</a:t>
            </a:r>
          </a:p>
          <a:p xmlns:a="http://schemas.openxmlformats.org/drawingml/2006/main">
            <a:r>
              <a:t>https://novayagazeta.eu/articles/2024/02/15/davankov-predstavil-predvybornuiu-programmu-bez-amnistii-politzakliuchennykh-i-s-namereniem-dobitsia-mira-na-nashikh-usloviiakh-news</a:t>
            </a:r>
          </a:p>
          <a:p xmlns:a="http://schemas.openxmlformats.org/drawingml/2006/main">
            <a:r>
              <a:t>https://www.kavkaz-uzel.eu/articles/398113</a:t>
            </a:r>
          </a:p>
          <a:p xmlns:a="http://schemas.openxmlformats.org/drawingml/2006/main">
            <a:r>
              <a:t>https://echofm.online/portret-dnya/portret-dnya-vladislav-davankov-kandidat-v-prezidenty-rossii</a:t>
            </a:r>
          </a:p>
          <a:p xmlns:a="http://schemas.openxmlformats.org/drawingml/2006/main">
            <a:r>
              <a:t>https://t.me/s/davankov?before=788</a:t>
            </a:r>
          </a:p>
          <a:p xmlns:a="http://schemas.openxmlformats.org/drawingml/2006/main">
            <a:r>
              <a:t>https://zaharprilepin.ru/ru/bio/</a:t>
            </a:r>
          </a:p>
          <a:p xmlns:a="http://schemas.openxmlformats.org/drawingml/2006/main">
            <a:r>
              <a:t>https://zaharprilepin.ru/ru/video/zapisi-vistuplenij/intervju/</a:t>
            </a:r>
          </a:p>
          <a:p xmlns:a="http://schemas.openxmlformats.org/drawingml/2006/main">
            <a:r>
              <a:t>https://zaharprilepin.ru/ru/pressa/intervyu/na-harkov.html</a:t>
            </a:r>
          </a:p>
          <a:p xmlns:a="http://schemas.openxmlformats.org/drawingml/2006/main">
            <a:r>
              <a:t>https://www.kommersant.ru/doc/4141912</a:t>
            </a:r>
          </a:p>
          <a:p xmlns:a="http://schemas.openxmlformats.org/drawingml/2006/main">
            <a:r>
              <a:t>https://novayagazeta.eu/articles/2023/05/06/plokhoi-uchenik-limonova</a:t>
            </a:r>
          </a:p>
          <a:p xmlns:a="http://schemas.openxmlformats.org/drawingml/2006/main">
            <a:r>
              <a:t>https://tass.ru/politika/11761037</a:t>
            </a:r>
          </a:p>
          <a:p xmlns:a="http://schemas.openxmlformats.org/drawingml/2006/main">
            <a:r>
              <a:t>https://www.nn.ru/text/politics/2021/10/11/70186523/</a:t>
            </a:r>
          </a:p>
          <a:p xmlns:a="http://schemas.openxmlformats.org/drawingml/2006/main">
            <a:r>
              <a:t>https://www.zaks.ru/new/archive/view/267194</a:t>
            </a:r>
          </a:p>
          <a:p xmlns:a="http://schemas.openxmlformats.org/drawingml/2006/main">
            <a:r>
              <a:t>https://spravedlivo.ru/11288710</a:t>
            </a:r>
          </a:p>
          <a:p xmlns:a="http://schemas.openxmlformats.org/drawingml/2006/main">
            <a:r>
              <a:t>https://www.kommersant.ru/doc/4241515</a:t>
            </a:r>
          </a:p>
          <a:p xmlns:a="http://schemas.openxmlformats.org/drawingml/2006/main">
            <a:r>
              <a:t>https://zaharprilepin.ru/ru/pressa/intervyu/radio-komsomolskaja-pravda-10022021.html</a:t>
            </a:r>
          </a:p>
          <a:p xmlns:a="http://schemas.openxmlformats.org/drawingml/2006/main">
            <a:r>
              <a:t>https://pozneronline.ru/2024/04/36826/</a:t>
            </a:r>
          </a:p>
          <a:p xmlns:a="http://schemas.openxmlformats.org/drawingml/2006/main">
            <a:r>
              <a:t>https://www.rbc.ru/person/62a85a259a7947b9ae5d6360</a:t>
            </a:r>
          </a:p>
          <a:p xmlns:a="http://schemas.openxmlformats.org/drawingml/2006/main">
            <a:r>
              <a:t>https://tass.ru/encyclopedia/person/poklonskaya-natalya-vladimirovna</a:t>
            </a:r>
          </a:p>
          <a:p xmlns:a="http://schemas.openxmlformats.org/drawingml/2006/main">
            <a:r>
              <a:t>https://tass.ru/tag/poklonskaya-natalya-vladimirovna</a:t>
            </a:r>
          </a:p>
          <a:p xmlns:a="http://schemas.openxmlformats.org/drawingml/2006/main">
            <a:r>
              <a:t>https://www.bbc.com/russian/features-44801571</a:t>
            </a:r>
          </a:p>
          <a:p xmlns:a="http://schemas.openxmlformats.org/drawingml/2006/main">
            <a:r>
              <a:t>https://www.rbc.ru/rbcfreenews/5ba8bd499a794792294ba05d</a:t>
            </a:r>
          </a:p>
          <a:p xmlns:a="http://schemas.openxmlformats.org/drawingml/2006/main">
            <a:r>
              <a:t>https://www.dp.ru/a/2018/08/31/Poklonskaja_otreazirovala</a:t>
            </a:r>
          </a:p>
          <a:p xmlns:a="http://schemas.openxmlformats.org/drawingml/2006/main">
            <a:r>
              <a:t>https://www.themoscowtimes.com/2022/06/13/former-crimea-prosecutor-dismissed-after-anti-war-comments-a77983</a:t>
            </a:r>
          </a:p>
          <a:p xmlns:a="http://schemas.openxmlformats.org/drawingml/2006/main">
            <a:r>
              <a:t>https://www.rbc.ru/politics/30/06/2023/649dee189a79473e3fdc8906</a:t>
            </a:r>
          </a:p>
          <a:p xmlns:a="http://schemas.openxmlformats.org/drawingml/2006/main">
            <a:r>
              <a:t>http://council.gov.ru/structure/persons/1044/</a:t>
            </a:r>
          </a:p>
          <a:p xmlns:a="http://schemas.openxmlformats.org/drawingml/2006/main">
            <a:r>
              <a:t>http://council.gov.ru/services/reference/9156/</a:t>
            </a:r>
          </a:p>
          <a:p xmlns:a="http://schemas.openxmlformats.org/drawingml/2006/main">
            <a:r>
              <a:t>http://council.gov.ru/events/news/135415/</a:t>
            </a:r>
          </a:p>
          <a:p xmlns:a="http://schemas.openxmlformats.org/drawingml/2006/main">
            <a:r>
              <a:t>https://24smi.org/celebrity/1156-elena-mizulina.html</a:t>
            </a:r>
          </a:p>
          <a:p xmlns:a="http://schemas.openxmlformats.org/drawingml/2006/main">
            <a:r>
              <a:t>https://www.bfometr.ru/blog/elena-mizulina</a:t>
            </a:r>
          </a:p>
          <a:p xmlns:a="http://schemas.openxmlformats.org/drawingml/2006/main">
            <a:r>
              <a:t>https://www.rbc.ru/society/30/03/2018/5abe1b849a79470dc3826f68</a:t>
            </a:r>
          </a:p>
          <a:p xmlns:a="http://schemas.openxmlformats.org/drawingml/2006/main">
            <a:r>
              <a:t>https://uznayvse.ru/znamenitosti/biografiya-elena-mizulina.html</a:t>
            </a:r>
          </a:p>
          <a:p xmlns:a="http://schemas.openxmlformats.org/drawingml/2006/main">
            <a:r>
              <a:t>https://radiokp.ru/people/elena-mizulina</a:t>
            </a:r>
          </a:p>
          <a:p xmlns:a="http://schemas.openxmlformats.org/drawingml/2006/main">
            <a:r>
              <a:t>https://ru.wikipedia.org/wiki/%D0%9C%D0%B8%D0%B7%D1%83%D0%BB%D0%B8%D0%BD%D0%B0,_%D0%95%D0%BB%D0%B5%D0%BD%D0%B0_%D0%91%D0%BE%D1%80%D0%B8%D1%81%D0%BE%D0%B2%D0%BD%D0%B0</a:t>
            </a:r>
          </a:p>
          <a:p xmlns:a="http://schemas.openxmlformats.org/drawingml/2006/main">
            <a:r>
              <a:t>https://ru.wikipedia.org/wiki/Милонов,_Виталий_Валентинович</a:t>
            </a:r>
          </a:p>
          <a:p xmlns:a="http://schemas.openxmlformats.org/drawingml/2006/main">
            <a:r>
              <a:t>https://tass.ru/encyclopedia/person/milonov-vitaliy-valentinovich</a:t>
            </a:r>
          </a:p>
          <a:p xmlns:a="http://schemas.openxmlformats.org/drawingml/2006/main">
            <a:r>
              <a:t>https://www.pnp.ru/person/vitaliy-milonov/</a:t>
            </a:r>
          </a:p>
          <a:p xmlns:a="http://schemas.openxmlformats.org/drawingml/2006/main">
            <a:r>
              <a:t>https://www.zaks.ru/new/person/view/172</a:t>
            </a:r>
          </a:p>
          <a:p xmlns:a="http://schemas.openxmlformats.org/drawingml/2006/main">
            <a:r>
              <a:t>https://svpressa.ru/persons/vitaliy-milonov/</a:t>
            </a:r>
          </a:p>
          <a:p xmlns:a="http://schemas.openxmlformats.org/drawingml/2006/main">
            <a:r>
              <a:t>https://stuki-druki.com/authors/Milonov-Vitaliy.php</a:t>
            </a:r>
          </a:p>
          <a:p xmlns:a="http://schemas.openxmlformats.org/drawingml/2006/main">
            <a:r>
              <a:t>https://pa.inion.ru/persons/7104/</a:t>
            </a:r>
          </a:p>
          <a:p xmlns:a="http://schemas.openxmlformats.org/drawingml/2006/main">
            <a:r>
              <a:t>https://pa.inion.ru/documents/16503/</a:t>
            </a:r>
          </a:p>
          <a:p xmlns:a="http://schemas.openxmlformats.org/drawingml/2006/main">
            <a:r>
              <a:t>https://pa.inion.ru/documents/27860/</a:t>
            </a:r>
          </a:p>
          <a:p xmlns:a="http://schemas.openxmlformats.org/drawingml/2006/main">
            <a:r>
              <a:t>https://kprf.ru/personal/ostanina</a:t>
            </a:r>
          </a:p>
          <a:p xmlns:a="http://schemas.openxmlformats.org/drawingml/2006/main">
            <a:r>
              <a:t>https://pa.inion.ru/documents/25577/</a:t>
            </a:r>
          </a:p>
          <a:p xmlns:a="http://schemas.openxmlformats.org/drawingml/2006/main">
            <a:r>
              <a:t>https://kprf.ru/dep/gosduma/activities/245108.html</a:t>
            </a:r>
          </a:p>
          <a:p xmlns:a="http://schemas.openxmlformats.org/drawingml/2006/main">
            <a:r>
              <a:t>https://www.pnp.ru/social/zashhita-detskogo-byudzheta-kruzhki-sokhranit-vyplaty-iz-matkapitala-uvelichit.html</a:t>
            </a:r>
          </a:p>
          <a:p xmlns:a="http://schemas.openxmlformats.org/drawingml/2006/main">
            <a:r>
              <a:t>https://www.pnp.ru/state-duma/nina-ostanina-o-byudzhete-na-2027-2029-gody-semeynoy-ipoteke-i-matkapitale.html</a:t>
            </a:r>
          </a:p>
          <a:p xmlns:a="http://schemas.openxmlformats.org/drawingml/2006/main">
            <a:r>
              <a:t>https://uznayvse.ru/znamenitosti/biografiya-nina-ostanina.html</a:t>
            </a:r>
          </a:p>
          <a:p xmlns:a="http://schemas.openxmlformats.org/drawingml/2006/main">
            <a:r>
              <a:t>https://dumatv.ru/news/ostanina--borba-za-mirovozzrencheskii-suverenitet-stanovitsya-gosudarstvennoi-politikoi</a:t>
            </a:r>
          </a:p>
          <a:p xmlns:a="http://schemas.openxmlformats.org/drawingml/2006/main">
            <a:r>
              <a:t>https://kprf.ru/dep/gosduma/activities/242132.html</a:t>
            </a:r>
          </a:p>
          <a:p xmlns:a="http://schemas.openxmlformats.org/drawingml/2006/main">
            <a:r>
              <a:t>https://www.business-gazeta.ru/article/625616</a:t>
            </a:r>
          </a:p>
          <a:p xmlns:a="http://schemas.openxmlformats.org/drawingml/2006/main">
            <a:r>
              <a:t>https://www.kommersant.ru/doc/3235400</a:t>
            </a:r>
          </a:p>
          <a:p xmlns:a="http://schemas.openxmlformats.org/drawingml/2006/main">
            <a:r>
              <a:t>https://www.rbc.ru/person/67d838f09a7947cdef0b1a95</a:t>
            </a:r>
          </a:p>
          <a:p xmlns:a="http://schemas.openxmlformats.org/drawingml/2006/main">
            <a:r>
              <a:t>https://www.vedomosti.ru/politics/articles/2020/03/10/824795-tereshkova-predlozhila</a:t>
            </a:r>
          </a:p>
          <a:p xmlns:a="http://schemas.openxmlformats.org/drawingml/2006/main">
            <a:r>
              <a:t>http://duma.gov.ru/news/49164/</a:t>
            </a:r>
          </a:p>
          <a:p xmlns:a="http://schemas.openxmlformats.org/drawingml/2006/main">
            <a:r>
              <a:t>https://meduza.io/news/2020/03/12/delayut-vse-dlya-togo-chtoby-gadosti-delat-tereshkova-o-protivnikah-popravki-obnulyayuschey-sroki-putina</a:t>
            </a:r>
          </a:p>
          <a:p xmlns:a="http://schemas.openxmlformats.org/drawingml/2006/main">
            <a:r>
              <a:t>https://meduza.io/feature/2020/03/10/gosduma-neozhidanno-dlya-sebya-obespechila-putina-novymi-prezidentskimi-srokami</a:t>
            </a:r>
          </a:p>
          <a:p xmlns:a="http://schemas.openxmlformats.org/drawingml/2006/main">
            <a:r>
              <a:t>https://hinshtein.ru/biography/</a:t>
            </a:r>
          </a:p>
          <a:p xmlns:a="http://schemas.openxmlformats.org/drawingml/2006/main">
            <a:r>
              <a:t>https://www.vedomosti.ru/politics/articles/2024/12/06/1079852-kto-takoi-aleksandr-hinshtein</a:t>
            </a:r>
          </a:p>
          <a:p xmlns:a="http://schemas.openxmlformats.org/drawingml/2006/main">
            <a:r>
              <a:t>https://www.rbc.ru/person/6752d12a9a7947d62166795e</a:t>
            </a:r>
          </a:p>
          <a:p xmlns:a="http://schemas.openxmlformats.org/drawingml/2006/main">
            <a:r>
              <a:t>https://www.rbc.ru/politics/06/12/2024/675207239a7947e74994842e</a:t>
            </a:r>
          </a:p>
          <a:p xmlns:a="http://schemas.openxmlformats.org/drawingml/2006/main">
            <a:r>
              <a:t>https://hinshtein.ru/news/aleksandr-hinshtejn-podvyol-itogi-goda-raboty-komiteta-gosdumy-po-informpolitike-informatsionnym-tehnologiyam-i-svyazi/</a:t>
            </a:r>
          </a:p>
          <a:p xmlns:a="http://schemas.openxmlformats.org/drawingml/2006/main">
            <a:r>
              <a:t>https://hinshtein.ru/news/a-hinshtejn-itogi-raboty-za-vii-sozyv/</a:t>
            </a:r>
          </a:p>
          <a:p xmlns:a="http://schemas.openxmlformats.org/drawingml/2006/main">
            <a:r>
              <a:t>https://www.kommersant.ru/doc/4660427</a:t>
            </a:r>
          </a:p>
          <a:p xmlns:a="http://schemas.openxmlformats.org/drawingml/2006/main">
            <a:r>
              <a:t>https://www.kommersant.ru/doc/4104004</a:t>
            </a:r>
          </a:p>
          <a:p xmlns:a="http://schemas.openxmlformats.org/drawingml/2006/main">
            <a:r>
              <a:t>https://www.nvgazeta.ru/news/12383/634260/</a:t>
            </a:r>
          </a:p>
          <a:p xmlns:a="http://schemas.openxmlformats.org/drawingml/2006/main">
            <a:r>
              <a:t>https://kpravda.ru/2025/02/11/kursk-poluchit-dengi-iz-gosbyudzheta-na-restavracziyu-istoricheskoj-kreposti/</a:t>
            </a:r>
          </a:p>
          <a:p xmlns:a="http://schemas.openxmlformats.org/drawingml/2006/main">
            <a:r>
              <a:t>https://tass.ru/obschestvo/24001633</a:t>
            </a:r>
          </a:p>
          <a:p xmlns:a="http://schemas.openxmlformats.org/drawingml/2006/main">
            <a:r>
              <a:t>https://www.kommersant.ru/doc/7737032</a:t>
            </a:r>
          </a:p>
          <a:p xmlns:a="http://schemas.openxmlformats.org/drawingml/2006/main">
            <a:r>
              <a:t>https://kpravda.ru/2025/03/21/edinaya-rossiya-pomozhet-v-restavraczii-kurskih-pamyatnikov/</a:t>
            </a:r>
          </a:p>
          <a:p xmlns:a="http://schemas.openxmlformats.org/drawingml/2006/main">
            <a:r>
              <a:t>https://news-kursk.ru/society/2025/07/13/65824.html</a:t>
            </a:r>
          </a:p>
          <a:p xmlns:a="http://schemas.openxmlformats.org/drawingml/2006/main">
            <a:r>
              <a:t>https://news.ru/russia/v-kurske-budet-alleya-geroev-hinshtejn-o-muzee-i-memoriale-zhertvam-vsu</a:t>
            </a:r>
          </a:p>
          <a:p xmlns:a="http://schemas.openxmlformats.org/drawingml/2006/main">
            <a:r>
              <a:t>https://ru.wikipedia.org/wiki/Пушков,_Алексей_Константинович</a:t>
            </a:r>
          </a:p>
          <a:p xmlns:a="http://schemas.openxmlformats.org/drawingml/2006/main">
            <a:r>
              <a:t>http://council.gov.ru/structure/persons/1316/</a:t>
            </a:r>
          </a:p>
          <a:p xmlns:a="http://schemas.openxmlformats.org/drawingml/2006/main">
            <a:r>
              <a:t>http://council.gov.ru/media/files/xjE2QHRAivCH7onABehAcG7OsnrO6DYb.pdf</a:t>
            </a:r>
          </a:p>
          <a:p xmlns:a="http://schemas.openxmlformats.org/drawingml/2006/main">
            <a:r>
              <a:t>https://base.garant.ru/406310971/</a:t>
            </a:r>
          </a:p>
          <a:p xmlns:a="http://schemas.openxmlformats.org/drawingml/2006/main">
            <a:r>
              <a:t>https://russiancouncil.ru/aleksey-pushkov/</a:t>
            </a:r>
          </a:p>
          <a:p xmlns:a="http://schemas.openxmlformats.org/drawingml/2006/main">
            <a:r>
              <a:t>http://legislation.council.gov.ru/events/announce/</a:t>
            </a:r>
          </a:p>
          <a:p xmlns:a="http://schemas.openxmlformats.org/drawingml/2006/main">
            <a:r>
              <a:t>http://council.gov.ru/events/news/173810/</a:t>
            </a:r>
          </a:p>
          <a:p xmlns:a="http://schemas.openxmlformats.org/drawingml/2006/main">
            <a:r>
              <a:t>http://www.council.gov.ru/events/news/175997/</a:t>
            </a:r>
          </a:p>
          <a:p xmlns:a="http://schemas.openxmlformats.org/drawingml/2006/main">
            <a:r>
              <a:t>http://council.gov.ru/media/report/pdf/HtoXfAAzeBJ8JwN0eAduo3rejTAYhqvB.pdf</a:t>
            </a:r>
          </a:p>
          <a:p xmlns:a="http://schemas.openxmlformats.org/drawingml/2006/main">
            <a:r>
              <a:t>http://council.gov.ru/events/news/164749/</a:t>
            </a:r>
          </a:p>
          <a:p xmlns:a="http://schemas.openxmlformats.org/drawingml/2006/main">
            <a:r>
              <a:t>https://t.me/s/alexey_pushkov?before=14914</a:t>
            </a:r>
          </a:p>
          <a:p xmlns:a="http://schemas.openxmlformats.org/drawingml/2006/main">
            <a:r>
              <a:t>http://legislation.council.gov.ru/events/multimedia/video/302078/</a:t>
            </a:r>
          </a:p>
          <a:p xmlns:a="http://schemas.openxmlformats.org/drawingml/2006/main">
            <a:r>
              <a:t>http://council.gov.ru/media/report/pdf/e8Awe3U6hNouHwSvME53OSPGGWxTeVAl.pdf</a:t>
            </a:r>
          </a:p>
          <a:p xmlns:a="http://schemas.openxmlformats.org/drawingml/2006/main">
            <a:r>
              <a:t>https://www.vedomosti.ru/person/1178385-kosachev-konstantin</a:t>
            </a:r>
          </a:p>
          <a:p xmlns:a="http://schemas.openxmlformats.org/drawingml/2006/main">
            <a:r>
              <a:t>https://www.interfax.ru/interview/812963</a:t>
            </a:r>
          </a:p>
          <a:p xmlns:a="http://schemas.openxmlformats.org/drawingml/2006/main">
            <a:r>
              <a:t>https://senatinform.ru/news/yuzhnuyu_osetiyu_neobkhodimo_vyvodit_iz_iskusstvennoy_izolyatsii_schitayut_rossiyskie_senatory_/</a:t>
            </a:r>
          </a:p>
          <a:p xmlns:a="http://schemas.openxmlformats.org/drawingml/2006/main">
            <a:r>
              <a:t>https://senatinform.ru/news/kosachyev_rossiya_gotova_rabotat_s_mps_s_uchyetom_ozabochennostey_nashey_strany/</a:t>
            </a:r>
          </a:p>
          <a:p xmlns:a="http://schemas.openxmlformats.org/drawingml/2006/main">
            <a:r>
              <a:t>https://www.bfm.ru/person/61</a:t>
            </a:r>
          </a:p>
          <a:p xmlns:a="http://schemas.openxmlformats.org/drawingml/2006/main">
            <a:r>
              <a:t>https://svpressa.ru/persons/konstantin-kosachev/</a:t>
            </a:r>
          </a:p>
          <a:p xmlns:a="http://schemas.openxmlformats.org/drawingml/2006/main">
            <a:r>
              <a:t>https://www.pnp.ru/person/konstantin-kosachev/</a:t>
            </a:r>
          </a:p>
          <a:p xmlns:a="http://schemas.openxmlformats.org/drawingml/2006/main">
            <a:r>
              <a:t>https://www.pnp.ru/politics/konstantin-kosachev-dlya-ssha-voyna-s-rossiey-eto-samoubiystvo.html</a:t>
            </a:r>
          </a:p>
          <a:p xmlns:a="http://schemas.openxmlformats.org/drawingml/2006/main">
            <a:r>
              <a:t>https://www.mlg.ru/ratings/vlast/senators/10844/</a:t>
            </a:r>
          </a:p>
          <a:p xmlns:a="http://schemas.openxmlformats.org/drawingml/2006/main">
            <a:r>
              <a:t>http://council.gov.ru/events/news/173506/</a:t>
            </a:r>
          </a:p>
          <a:p xmlns:a="http://schemas.openxmlformats.org/drawingml/2006/main">
            <a:r>
              <a:t>https://t.me/s/Kosachev62</a:t>
            </a:r>
          </a:p>
          <a:p xmlns:a="http://schemas.openxmlformats.org/drawingml/2006/main">
            <a:r>
              <a:t>http://council.gov.ru/events/news/177602/</a:t>
            </a:r>
          </a:p>
          <a:p xmlns:a="http://schemas.openxmlformats.org/drawingml/2006/main">
            <a:r>
              <a:t>https://vmeste-rf.tv/programs/205/konstantin-kosachev-sotrudnichestvo-rossii-i-efiopii-itogi-vizita-delegatsii-sf/</a:t>
            </a:r>
          </a:p>
          <a:p xmlns:a="http://schemas.openxmlformats.org/drawingml/2006/main">
            <a:r>
              <a:t>https://www.rbc.ru/person/64b8e1909a79474f30e86f98</a:t>
            </a:r>
          </a:p>
          <a:p xmlns:a="http://schemas.openxmlformats.org/drawingml/2006/main">
            <a:r>
              <a:t>https://www.kommersant.ru/doc/6041063</a:t>
            </a:r>
          </a:p>
          <a:p xmlns:a="http://schemas.openxmlformats.org/drawingml/2006/main">
            <a:r>
              <a:t>https://www.mos.ru/mayor/themes/6907050/</a:t>
            </a:r>
          </a:p>
          <a:p xmlns:a="http://schemas.openxmlformats.org/drawingml/2006/main">
            <a:r>
              <a:t>https://www.mos.ru/mayor/themes/7037050/</a:t>
            </a:r>
          </a:p>
          <a:p xmlns:a="http://schemas.openxmlformats.org/drawingml/2006/main">
            <a:r>
              <a:t>https://www.mos.ru/mayor/themes/8822050/</a:t>
            </a:r>
          </a:p>
          <a:p xmlns:a="http://schemas.openxmlformats.org/drawingml/2006/main">
            <a:r>
              <a:t>http://special.kremlin.ru/catalog/persons/38/events/70467</a:t>
            </a:r>
          </a:p>
          <a:p xmlns:a="http://schemas.openxmlformats.org/drawingml/2006/main">
            <a:r>
              <a:t>https://www.mos.ru/upload/content/files/15af077500dcc5a1547bf728abf25669/15Zakong_Moskviot17_05_2017N14Odopolnitelnihgaranti.pdf</a:t>
            </a:r>
          </a:p>
          <a:p xmlns:a="http://schemas.openxmlformats.org/drawingml/2006/main">
            <a:r>
              <a:t>https://www.rbc.ru/politics/03/05/2023/645245159a794763ce66d990</a:t>
            </a:r>
          </a:p>
          <a:p xmlns:a="http://schemas.openxmlformats.org/drawingml/2006/main">
            <a:r>
              <a:t>https://www.dw.com/ru/ataka-dronov-v-moskve-i-podmoskove-cto-izvestno/a-65771767</a:t>
            </a:r>
          </a:p>
          <a:p xmlns:a="http://schemas.openxmlformats.org/drawingml/2006/main">
            <a:r>
              <a:t>https://www.rbc.ru/politics/01/08/2023/64c856ce9a79471a722e13ad</a:t>
            </a:r>
          </a:p>
          <a:p xmlns:a="http://schemas.openxmlformats.org/drawingml/2006/main">
            <a:r>
              <a:t>https://www.rbc.ru/politics/23/08/2023/64e54f299a794789ddb55c65</a:t>
            </a:r>
          </a:p>
          <a:p xmlns:a="http://schemas.openxmlformats.org/drawingml/2006/main">
            <a:r>
              <a:t>https://ru.wikipedia.org/wiki/Беглов,_Александр_Дмитриевич</a:t>
            </a:r>
          </a:p>
          <a:p xmlns:a="http://schemas.openxmlformats.org/drawingml/2006/main">
            <a:r>
              <a:t>https://www.gov.spb.ru/governor/</a:t>
            </a:r>
          </a:p>
          <a:p xmlns:a="http://schemas.openxmlformats.org/drawingml/2006/main">
            <a:r>
              <a:t>https://www.rbc.ru/politics/30/05/2019/5cf02cf09a79475ed4d2fa3f</a:t>
            </a:r>
          </a:p>
          <a:p xmlns:a="http://schemas.openxmlformats.org/drawingml/2006/main">
            <a:r>
              <a:t>https://www.themoscowtimes.com/2019/09/11/st-petersburg-re-elects-governor-beglov-after-controversial-campaign-a67240</a:t>
            </a:r>
          </a:p>
          <a:p xmlns:a="http://schemas.openxmlformats.org/drawingml/2006/main">
            <a:r>
              <a:t>https://www.gov.spb.ru/press/governor/188637/</a:t>
            </a:r>
          </a:p>
          <a:p xmlns:a="http://schemas.openxmlformats.org/drawingml/2006/main">
            <a:r>
              <a:t>https://www.gov.spb.ru/press/governor/213661/</a:t>
            </a:r>
          </a:p>
          <a:p xmlns:a="http://schemas.openxmlformats.org/drawingml/2006/main">
            <a:r>
              <a:t>https://www.gov.spb.ru/press/governor/258831/</a:t>
            </a:r>
          </a:p>
          <a:p xmlns:a="http://schemas.openxmlformats.org/drawingml/2006/main">
            <a:r>
              <a:t>https://www.gov.spb.ru/governor/interview/7333/</a:t>
            </a:r>
          </a:p>
          <a:p xmlns:a="http://schemas.openxmlformats.org/drawingml/2006/main">
            <a:r>
              <a:t>https://tass.ru/interviews/21839179</a:t>
            </a:r>
          </a:p>
          <a:p xmlns:a="http://schemas.openxmlformats.org/drawingml/2006/main">
            <a:r>
              <a:t>https://www.gov.spb.ru/press/governor/236663/</a:t>
            </a:r>
          </a:p>
          <a:p xmlns:a="http://schemas.openxmlformats.org/drawingml/2006/main">
            <a:r>
              <a:t>https://tvspb.ru/news/2022/09/21/aleksandr-beglov-ukaz-prezidenta-o-chastichnoj-mobilizaczii-byl-trudnym-no-neobhodimym-shagom</a:t>
            </a:r>
          </a:p>
          <a:p xmlns:a="http://schemas.openxmlformats.org/drawingml/2006/main">
            <a:r>
              <a:t>https://spbvedomosti.ru/news/gorod/gubernator-aleksandr-beglov-obyavil-o-zavershenii-chastichnoy-mobilizatsii/</a:t>
            </a:r>
          </a:p>
          <a:p xmlns:a="http://schemas.openxmlformats.org/drawingml/2006/main">
            <a:r>
              <a:t>https://www.gov.spb.ru/press/governor/253716/</a:t>
            </a:r>
          </a:p>
          <a:p xmlns:a="http://schemas.openxmlformats.org/drawingml/2006/main">
            <a:r>
              <a:t>https://www.gov.spb.ru/press/governor/290070/</a:t>
            </a:r>
          </a:p>
          <a:p xmlns:a="http://schemas.openxmlformats.org/drawingml/2006/main">
            <a:r>
              <a:t>https://spbdnevnik.ru/news/2022-10-06/aleksandr-beglov-rasskazal-o-prizyve-po-mobilizatsii-peterburzhtsa-s-odnoy-pochkoy</a:t>
            </a:r>
          </a:p>
          <a:p xmlns:a="http://schemas.openxmlformats.org/drawingml/2006/main">
            <a:r>
              <a:t>https://www.rbc.ru/person/62c5c0899a79470082fa57eb</a:t>
            </a:r>
          </a:p>
          <a:p xmlns:a="http://schemas.openxmlformats.org/drawingml/2006/main">
            <a:r>
              <a:t>https://www.kavkaz-uzel.eu/articles/85366</a:t>
            </a:r>
          </a:p>
          <a:p xmlns:a="http://schemas.openxmlformats.org/drawingml/2006/main">
            <a:r>
              <a:t>https://news.ru/regions/my-dolzhny-zabrat-vsyu-ukrainu-chto-kadyrov-govoril-ob-svo-rossii-putine</a:t>
            </a:r>
          </a:p>
          <a:p xmlns:a="http://schemas.openxmlformats.org/drawingml/2006/main">
            <a:r>
              <a:t>https://minval.az/k/ramzan-kadyrov</a:t>
            </a:r>
          </a:p>
          <a:p xmlns:a="http://schemas.openxmlformats.org/drawingml/2006/main">
            <a:r>
              <a:t>http://publication.pravo.gov.ru/document/2000202609160002</a:t>
            </a:r>
          </a:p>
          <a:p xmlns:a="http://schemas.openxmlformats.org/drawingml/2006/main">
            <a:r>
              <a:t>https://vestikavkaza.ru/amp/291219</a:t>
            </a:r>
          </a:p>
          <a:p xmlns:a="http://schemas.openxmlformats.org/drawingml/2006/main">
            <a:r>
              <a:t>https://tass.ru/obschestvo/25968415</a:t>
            </a:r>
          </a:p>
          <a:p xmlns:a="http://schemas.openxmlformats.org/drawingml/2006/main">
            <a:r>
              <a:t>https://www.rbc.ru/rbcfreenews/694558f89a794775c8b05d2e</a:t>
            </a:r>
          </a:p>
          <a:p xmlns:a="http://schemas.openxmlformats.org/drawingml/2006/main">
            <a:r>
              <a:t>https://rais.tatarstan.ru/biografiya.htm</a:t>
            </a:r>
          </a:p>
          <a:p xmlns:a="http://schemas.openxmlformats.org/drawingml/2006/main">
            <a:r>
              <a:t>https://rt.rbc.ru/tatarstan/freenews/68c7f77d9a79472be550408e</a:t>
            </a:r>
          </a:p>
          <a:p xmlns:a="http://schemas.openxmlformats.org/drawingml/2006/main">
            <a:r>
              <a:t>https://rt.rbc.ru/tatarstan/freenews/68c90bdc9a794783273a16b6</a:t>
            </a:r>
          </a:p>
          <a:p xmlns:a="http://schemas.openxmlformats.org/drawingml/2006/main">
            <a:r>
              <a:t>https://tass.ru/politika/25045679</a:t>
            </a:r>
          </a:p>
          <a:p xmlns:a="http://schemas.openxmlformats.org/drawingml/2006/main">
            <a:r>
              <a:t>https://tass.ru/info/25058299</a:t>
            </a:r>
          </a:p>
          <a:p xmlns:a="http://schemas.openxmlformats.org/drawingml/2006/main">
            <a:r>
              <a:t>https://tatarstan.ru/index.htm/news/2454245.htm</a:t>
            </a:r>
          </a:p>
          <a:p xmlns:a="http://schemas.openxmlformats.org/drawingml/2006/main">
            <a:r>
              <a:t>https://izbirkom.tatarstan.ru/file/pub/pub_4719790.docx</a:t>
            </a:r>
          </a:p>
          <a:p xmlns:a="http://schemas.openxmlformats.org/drawingml/2006/main">
            <a:r>
              <a:t>http://www.pfo.gov.ru/press/events/112125/</a:t>
            </a:r>
          </a:p>
          <a:p xmlns:a="http://schemas.openxmlformats.org/drawingml/2006/main">
            <a:r>
              <a:t>https://www.tatar-inform.ru/news/rustam-minnixanov-sankcii-ne-koncatsya-poka-my-ne-stanem-samodostatocnymi-5896958</a:t>
            </a:r>
          </a:p>
          <a:p xmlns:a="http://schemas.openxmlformats.org/drawingml/2006/main">
            <a:r>
              <a:t>https://tatarstan.ru/index.htm/news/1916025.htm</a:t>
            </a:r>
          </a:p>
          <a:p xmlns:a="http://schemas.openxmlformats.org/drawingml/2006/main">
            <a:r>
              <a:t>https://kitaphane.tatarstan.ru/digital.htm</a:t>
            </a:r>
          </a:p>
          <a:p xmlns:a="http://schemas.openxmlformats.org/drawingml/2006/main">
            <a:r>
              <a:t>https://kt.tatarstan.ru/index.htm/news/2266706.htm</a:t>
            </a:r>
          </a:p>
          <a:p xmlns:a="http://schemas.openxmlformats.org/drawingml/2006/main">
            <a:r>
              <a:t>https://tatarstan.ru/index.htm/news/2460505.htm</a:t>
            </a:r>
          </a:p>
          <a:p xmlns:a="http://schemas.openxmlformats.org/drawingml/2006/main">
            <a:r>
              <a:t>https://digital.tatarstan.ru/index.htm/news/2460691.htm</a:t>
            </a:r>
          </a:p>
          <a:p xmlns:a="http://schemas.openxmlformats.org/drawingml/2006/main">
            <a:r>
              <a:t>https://amp.rbc.ru/rbcnews/politics/09/07/2020/5f06bbb69a79475c40a9a094</a:t>
            </a:r>
          </a:p>
          <a:p xmlns:a="http://schemas.openxmlformats.org/drawingml/2006/main">
            <a:r>
              <a:t>https://1kas.sudrf.ru/modules.php?name=sud_delo&amp;name_op=doc&amp;number=39453936&amp;delo_id=2450001&amp;case_type=0&amp;new=2450001&amp;text_number=1&amp;srv_num=1</a:t>
            </a:r>
          </a:p>
          <a:p xmlns:a="http://schemas.openxmlformats.org/drawingml/2006/main">
            <a:r>
              <a:t>https://www.interfax.ru/russia/982916</a:t>
            </a:r>
          </a:p>
          <a:p xmlns:a="http://schemas.openxmlformats.org/drawingml/2006/main">
            <a:r>
              <a:t>https://www.svoboda.org/a/sud-ostavil-v-sile-prigovor-habarovskomu-eks-gubernatoru-sergeyu-furgalu/32686024.html</a:t>
            </a:r>
          </a:p>
          <a:p xmlns:a="http://schemas.openxmlformats.org/drawingml/2006/main">
            <a:r>
              <a:t>https://www.dw.com/ru/kommentarij-furgal-peresidit-putina/a-64670560</a:t>
            </a:r>
          </a:p>
          <a:p xmlns:a="http://schemas.openxmlformats.org/drawingml/2006/main">
            <a:r>
              <a:t>https://www.kommersant.ru/doc/3896415</a:t>
            </a:r>
          </a:p>
          <a:p xmlns:a="http://schemas.openxmlformats.org/drawingml/2006/main">
            <a:r>
              <a:t>https://todaykhv.ru/news/policy/19386/</a:t>
            </a:r>
          </a:p>
          <a:p xmlns:a="http://schemas.openxmlformats.org/drawingml/2006/main">
            <a:r>
              <a:t>https://meduza.io/feature/2018/09/19/ya-dumayu-chto-situatsiya-kak-v-primorie-u-nas-ne-povtoritsya</a:t>
            </a:r>
          </a:p>
          <a:p xmlns:a="http://schemas.openxmlformats.org/drawingml/2006/main">
            <a:r>
              <a:t>https://govoritmoskva.ru/news/174327/</a:t>
            </a:r>
          </a:p>
          <a:p xmlns:a="http://schemas.openxmlformats.org/drawingml/2006/main">
            <a:r>
              <a:t>https://todaykhv.ru/news/policy/22426/?sphrase_id=2620206</a:t>
            </a:r>
          </a:p>
          <a:p xmlns:a="http://schemas.openxmlformats.org/drawingml/2006/main">
            <a:r>
              <a:t>https://ru.wikipedia.org/wiki/%D0%A4%D1%83%D1%80%D0%B3%D0%B0%D0%BB,_%D0%A1%D0%B5%D1%80%D0%B3%D0%B5%D0%B9_%D0%98%D0%B2%D0%B0%D0%BD%D0%BE%D0%B2%D0%B8%D1%87</a:t>
            </a:r>
          </a:p>
          <a:p xmlns:a="http://schemas.openxmlformats.org/drawingml/2006/main">
            <a:r>
              <a:t>https://novayagazeta.ru/articles/2018/09/18/77870-ne-dopuschu-zdes-revolyutsii</a:t>
            </a:r>
          </a:p>
          <a:p xmlns:a="http://schemas.openxmlformats.org/drawingml/2006/main">
            <a:r>
              <a:t>https://opkhv.ru/publications/4888</a:t>
            </a:r>
          </a:p>
          <a:p xmlns:a="http://schemas.openxmlformats.org/drawingml/2006/main">
            <a:r>
              <a:t>https://meduza.io/feature/2019/08/26/partiya-vlasti-zdes-ldpr</a:t>
            </a:r>
          </a:p>
          <a:p xmlns:a="http://schemas.openxmlformats.org/drawingml/2006/main">
            <a:r>
              <a:t>https://tass.ru/obschestvo/5946495</a:t>
            </a:r>
          </a:p>
          <a:p xmlns:a="http://schemas.openxmlformats.org/drawingml/2006/main">
            <a:r>
              <a:t>https://amurmedia.ru/news/775590/</a:t>
            </a:r>
          </a:p>
          <a:p xmlns:a="http://schemas.openxmlformats.org/drawingml/2006/main">
            <a:r>
              <a:t>https://www.eastrussia.ru/material/ne-planiruyushchim-pereezzhat-sovetuyu-pomolchat/</a:t>
            </a:r>
          </a:p>
          <a:p xmlns:a="http://schemas.openxmlformats.org/drawingml/2006/main">
            <a:r>
              <a:t>https://www.dw.com/ru/v-habarovske-priznali-ekstremistskim-dvizenie-v-zasitu-furgala/a-68334442</a:t>
            </a:r>
          </a:p>
          <a:p xmlns:a="http://schemas.openxmlformats.org/drawingml/2006/main">
            <a:r>
              <a:t>https://www.rbc.ru/person/66475fec9a79475c4d9443ad</a:t>
            </a:r>
          </a:p>
          <a:p xmlns:a="http://schemas.openxmlformats.org/drawingml/2006/main">
            <a:r>
              <a:t>https://tass.ru/info/12453099</a:t>
            </a:r>
          </a:p>
          <a:p xmlns:a="http://schemas.openxmlformats.org/drawingml/2006/main">
            <a:r>
              <a:t>https://tass.ru/info/9007455</a:t>
            </a:r>
          </a:p>
          <a:p xmlns:a="http://schemas.openxmlformats.org/drawingml/2006/main">
            <a:r>
              <a:t>https://tass.ru/info/20795009</a:t>
            </a:r>
          </a:p>
          <a:p xmlns:a="http://schemas.openxmlformats.org/drawingml/2006/main">
            <a:r>
              <a:t>https://tass.ru/encyclopedia/person/degtyarev-mihail-vladimirovich</a:t>
            </a:r>
          </a:p>
          <a:p xmlns:a="http://schemas.openxmlformats.org/drawingml/2006/main">
            <a:r>
              <a:t>https://www.rbc.ru/politics/20/07/2020/5f1586289a794722b2457d61</a:t>
            </a:r>
          </a:p>
          <a:p xmlns:a="http://schemas.openxmlformats.org/drawingml/2006/main">
            <a:r>
              <a:t>https://www.minsport.gov.ru/press-center/news/intervyu-mihaila-degtyareva-gazete-kommersant/</a:t>
            </a:r>
          </a:p>
          <a:p xmlns:a="http://schemas.openxmlformats.org/drawingml/2006/main">
            <a:r>
              <a:t>https://minsport.gov.ru/press-center/news/mihail-degtyarev-nashe-mesto-za-stolom-a-ne-v-perednej/</a:t>
            </a:r>
          </a:p>
          <a:p xmlns:a="http://schemas.openxmlformats.org/drawingml/2006/main">
            <a:r>
              <a:t>https://news.ru/vlast/degtyarev-prizval-ne-doveryat-evrope-provedenie-sorevnovanij</a:t>
            </a:r>
          </a:p>
          <a:p xmlns:a="http://schemas.openxmlformats.org/drawingml/2006/main">
            <a:r>
              <a:t>https://www.interfax.ru/presscenter/622170</a:t>
            </a:r>
          </a:p>
          <a:p xmlns:a="http://schemas.openxmlformats.org/drawingml/2006/main">
            <a:r>
              <a:t>https://tass.ru/interviews/13152777</a:t>
            </a:r>
          </a:p>
          <a:p xmlns:a="http://schemas.openxmlformats.org/drawingml/2006/main">
            <a:r>
              <a:t>https://www.sports.ru/others/blogs/3302024.html</a:t>
            </a:r>
          </a:p>
          <a:p xmlns:a="http://schemas.openxmlformats.org/drawingml/2006/main">
            <a:r>
              <a:t>https://www.vremyan.ru/news/556863</a:t>
            </a:r>
          </a:p>
          <a:p xmlns:a="http://schemas.openxmlformats.org/drawingml/2006/main">
            <a:r>
              <a:t>https://kprf.ru/personal/levchenko</a:t>
            </a:r>
          </a:p>
          <a:p xmlns:a="http://schemas.openxmlformats.org/drawingml/2006/main">
            <a:r>
              <a:t>https://www.rbc.ru/politics/23/06/2020/5ef0bd949a7947b3cd3dcba6</a:t>
            </a:r>
          </a:p>
          <a:p xmlns:a="http://schemas.openxmlformats.org/drawingml/2006/main">
            <a:r>
              <a:t>https://kprf.ru/party-live/regnews/194838.html</a:t>
            </a:r>
          </a:p>
          <a:p xmlns:a="http://schemas.openxmlformats.org/drawingml/2006/main">
            <a:r>
              <a:t>https://liveangarsk.ru/news/20191214/v-slozhivsheisya</a:t>
            </a:r>
          </a:p>
          <a:p xmlns:a="http://schemas.openxmlformats.org/drawingml/2006/main">
            <a:r>
              <a:t>https://kprf.ru/dep/gosduma/activities/240271.html</a:t>
            </a:r>
          </a:p>
          <a:p xmlns:a="http://schemas.openxmlformats.org/drawingml/2006/main">
            <a:r>
              <a:t>https://kprf.ru/dep/gosduma/activities/241686.html</a:t>
            </a:r>
          </a:p>
          <a:p xmlns:a="http://schemas.openxmlformats.org/drawingml/2006/main">
            <a:r>
              <a:t>https://altairk.ru/new/policy/the_message_of_the_governor</a:t>
            </a:r>
          </a:p>
          <a:p xmlns:a="http://schemas.openxmlformats.org/drawingml/2006/main">
            <a:r>
              <a:t>https://kto-irkutsk.ru/2026/07/20/sergej-levchenko-deyatelnost-i-zayavleniya-i-ix-ocenka/</a:t>
            </a:r>
          </a:p>
          <a:p xmlns:a="http://schemas.openxmlformats.org/drawingml/2006/main">
            <a:r>
              <a:t>https://ru.wikipedia.org/wiki/%D0%9B%D0%B5%D0%B2%D1%87%D0%B5%D0%BD%D0%BA%D0%BE,_%D0%A1%D0%B5%D1%80%D0%B3%D0%B5%D0%B9_%D0%93%D0%B5%D0%BE%D1%80%D0%B3%D0%B8%D0%B5%D0%B2%D0%B8%D1%87</a:t>
            </a:r>
          </a:p>
          <a:p xmlns:a="http://schemas.openxmlformats.org/drawingml/2006/main">
            <a:r>
              <a:t>https://www.newsru.com/dossiers/10330/</a:t>
            </a:r>
          </a:p>
          <a:p xmlns:a="http://schemas.openxmlformats.org/drawingml/2006/main">
            <a:r>
              <a:t>https://www.interfax.ru/russia/714300</a:t>
            </a:r>
          </a:p>
          <a:p xmlns:a="http://schemas.openxmlformats.org/drawingml/2006/main">
            <a:r>
              <a:t>https://www.rbc.ru/politics/14/09/2020/5f5e7dfb9a79477f7753d651</a:t>
            </a:r>
          </a:p>
          <a:p xmlns:a="http://schemas.openxmlformats.org/drawingml/2006/main">
            <a:r>
              <a:t>https://www.rline.tv/podrobnosti/2019-10-06-sergey-levchenko-za-chetyre-goda-sdelano-bolshe-chem-za-predydushchie-15-let/</a:t>
            </a:r>
          </a:p>
          <a:p xmlns:a="http://schemas.openxmlformats.org/drawingml/2006/main">
            <a:r>
              <a:t>https://vs19.ru/verhovny-sovet/deputati/670-konovalov-valentin-olegovich</a:t>
            </a:r>
          </a:p>
          <a:p xmlns:a="http://schemas.openxmlformats.org/drawingml/2006/main">
            <a:r>
              <a:t>https://meduza.io/feature/2018/09/10/etu-vlast-nichego-ne-spaset</a:t>
            </a:r>
          </a:p>
          <a:p xmlns:a="http://schemas.openxmlformats.org/drawingml/2006/main">
            <a:r>
              <a:t>https://kprf.ru/party-live/regnews/188553.html</a:t>
            </a:r>
          </a:p>
          <a:p xmlns:a="http://schemas.openxmlformats.org/drawingml/2006/main">
            <a:r>
              <a:t>https://www.kommersant.ru/doc/4441936</a:t>
            </a:r>
          </a:p>
          <a:p xmlns:a="http://schemas.openxmlformats.org/drawingml/2006/main">
            <a:r>
              <a:t>http://www.youtube.com/watch?v=eO6lUkFCAqM</a:t>
            </a:r>
          </a:p>
          <a:p xmlns:a="http://schemas.openxmlformats.org/drawingml/2006/main">
            <a:r>
              <a:t>https://ru.wikipedia.org/wiki/%D0%92%D1%8B%D0%B1%D0%BE%D1%80%D1%8B_%D0%B3%D0%BB%D0%B0%D0%B2%D1%8B_%D0%A0%D0%B5%D1%81%D0%BF%D1%83%D0%B1%D0%BB%D0%B8%D0%BA%D0%B8_%D0%A5%D0%B0%D0%BA%D0%B0%D1%81%D0%B8%D1%8F_(2018)</a:t>
            </a:r>
          </a:p>
          <a:p xmlns:a="http://schemas.openxmlformats.org/drawingml/2006/main">
            <a:r>
              <a:t>https://ok.ru/group/51615057903766/topic/157744983021718</a:t>
            </a:r>
          </a:p>
          <a:p xmlns:a="http://schemas.openxmlformats.org/drawingml/2006/main">
            <a:r>
              <a:t>https://kprf.ru/party-live/cknews/245343.html</a:t>
            </a:r>
          </a:p>
          <a:p xmlns:a="http://schemas.openxmlformats.org/drawingml/2006/main">
            <a:r>
              <a:t>https://r-19.ru/news/politika/190680/</a:t>
            </a:r>
          </a:p>
          <a:p xmlns:a="http://schemas.openxmlformats.org/drawingml/2006/main">
            <a:r>
              <a:t>https://r-19.ru/news/ekonomika/193031/</a:t>
            </a:r>
          </a:p>
          <a:p xmlns:a="http://schemas.openxmlformats.org/drawingml/2006/main">
            <a:r>
              <a:t>https://19rusinfo.ru/ekonomika/118670-otchjot</a:t>
            </a:r>
          </a:p>
          <a:p xmlns:a="http://schemas.openxmlformats.org/drawingml/2006/main">
            <a:r>
              <a:t>https://iditena.ru/candidates/konovalov-valentin-olegovich/</a:t>
            </a:r>
          </a:p>
          <a:p xmlns:a="http://schemas.openxmlformats.org/drawingml/2006/main">
            <a:r>
              <a:t>https://56.kprf.ru/deyatelnost/tpost/gjjjuy1zi1-glava-hakasii-valentin-konovalov-dal-int</a:t>
            </a:r>
          </a:p>
          <a:p xmlns:a="http://schemas.openxmlformats.org/drawingml/2006/main">
            <a:r>
              <a:t>https://meduza.io/feature/2019/05/31/strana-pobedivshego-kommunista</a:t>
            </a:r>
          </a:p>
          <a:p xmlns:a="http://schemas.openxmlformats.org/drawingml/2006/main">
            <a:r>
              <a:t>https://xn--80aac0c2a.xn--p1acf/2026/08/22/vstrecha-s-uchastiem-valentina-konovalova-i-alekseya-kornienko-proshla-v-habarovske</a:t>
            </a:r>
          </a:p>
          <a:p xmlns:a="http://schemas.openxmlformats.org/drawingml/2006/main">
            <a:r>
              <a:t>https://www.vedomosti.ru/politics/characters/2026/07/06/1211370-valentin-konovalov-rossiya-na-moskve-ne-zakanchivaetsya?from=newsline</a:t>
            </a:r>
          </a:p>
          <a:p xmlns:a="http://schemas.openxmlformats.org/drawingml/2006/main">
            <a:r>
              <a:t>https://www.vedomosti.ru/person/1215197-aksenov-sergei</a:t>
            </a:r>
          </a:p>
          <a:p xmlns:a="http://schemas.openxmlformats.org/drawingml/2006/main">
            <a:r>
              <a:t>https://www.rbc.ru/person/65f020599a79475815e702c9</a:t>
            </a:r>
          </a:p>
          <a:p xmlns:a="http://schemas.openxmlformats.org/drawingml/2006/main">
            <a:r>
              <a:t>http://crimea.gov.ru/news/30_03_18_10</a:t>
            </a:r>
          </a:p>
          <a:p xmlns:a="http://schemas.openxmlformats.org/drawingml/2006/main">
            <a:r>
              <a:t>https://www.npr.org/sections/parallels/2018/01/27/581114772/putins-man-in-crimea-we-ve-returned-to-russia-forever</a:t>
            </a:r>
          </a:p>
          <a:p xmlns:a="http://schemas.openxmlformats.org/drawingml/2006/main">
            <a:r>
              <a:t>http://crimea.gov.ru/en/news/26_02_19_6</a:t>
            </a:r>
          </a:p>
          <a:p xmlns:a="http://schemas.openxmlformats.org/drawingml/2006/main">
            <a:r>
              <a:t>https://antifashist.com/item/kto-polomal-infopole-kryma-i-ne-otvechaet-na-voprosy.html</a:t>
            </a:r>
          </a:p>
          <a:p xmlns:a="http://schemas.openxmlformats.org/drawingml/2006/main">
            <a:r>
              <a:t>https://ru.krymr.com/a/news/27913548.html</a:t>
            </a:r>
          </a:p>
          <a:p xmlns:a="http://schemas.openxmlformats.org/drawingml/2006/main">
            <a:r>
              <a:t>https://simfch.ru/2022/03/02/glava-respubliki-krym-sergej-aksyonov-prizval-krymchan-k-informaczionnoj-mobilizaczii-otkrytomu-i-publichnomu-vyrazheniyu-svoej-patrioticheskoj-poziczii/</a:t>
            </a:r>
          </a:p>
          <a:p xmlns:a="http://schemas.openxmlformats.org/drawingml/2006/main">
            <a:r>
              <a:t>https://www.rbc.ru/politics/29/05/2023/64749e389a7947f3de98dff2</a:t>
            </a:r>
          </a:p>
          <a:p xmlns:a="http://schemas.openxmlformats.org/drawingml/2006/main">
            <a:r>
              <a:t>https://ru.krymr.com/a/krym-sergey-aksenov-pvo-prilety-bavovna-bezopasnost-pvo-udar/32631709.html</a:t>
            </a:r>
          </a:p>
          <a:p xmlns:a="http://schemas.openxmlformats.org/drawingml/2006/main">
            <a:r>
              <a:t>https://rostov.rbc.ru/rostov/interview/18/03/2024/65f75c4f9a7947c8b475ab94</a:t>
            </a:r>
          </a:p>
          <a:p xmlns:a="http://schemas.openxmlformats.org/drawingml/2006/main">
            <a:r>
              <a:t>https://www.kommersant.ru/doc/7715230</a:t>
            </a:r>
          </a:p>
          <a:p xmlns:a="http://schemas.openxmlformats.org/drawingml/2006/main">
            <a:r>
              <a:t>https://www.kommersant.ru/doc/5154319</a:t>
            </a:r>
          </a:p>
          <a:p xmlns:a="http://schemas.openxmlformats.org/drawingml/2006/main">
            <a:r>
              <a:t>https://www.rbc.ru/person/660290b19a7947801fe9439b</a:t>
            </a:r>
          </a:p>
          <a:p xmlns:a="http://schemas.openxmlformats.org/drawingml/2006/main">
            <a:r>
              <a:t>https://www.kommersant.ru/doc/3759211</a:t>
            </a:r>
          </a:p>
          <a:p xmlns:a="http://schemas.openxmlformats.org/drawingml/2006/main">
            <a:r>
              <a:t>https://tass.ru/info/6656656</a:t>
            </a:r>
          </a:p>
          <a:p xmlns:a="http://schemas.openxmlformats.org/drawingml/2006/main">
            <a:r>
              <a:t>https://sevastopol.er.ru/pages/otchet-gubernatora-sevastopolya-mihaila-razvozhaeva</a:t>
            </a:r>
          </a:p>
          <a:p xmlns:a="http://schemas.openxmlformats.org/drawingml/2006/main">
            <a:r>
              <a:t>http://special.kremlin.ru/catalog/persons/579/events/76271</a:t>
            </a:r>
          </a:p>
          <a:p xmlns:a="http://schemas.openxmlformats.org/drawingml/2006/main">
            <a:r>
              <a:t>https://sevastopol.su/news/chastnyy-biznes-vlozhil-v-sevastopol-250-mlrd-rubley-za-tri-goda</a:t>
            </a:r>
          </a:p>
          <a:p xmlns:a="http://schemas.openxmlformats.org/drawingml/2006/main">
            <a:r>
              <a:t>https://sevastopol.su/news/v-sevastopole-ocenili-perspektivy-mikhaila-razvozhaeva-na-sleduyuschikh-vyborakh</a:t>
            </a:r>
          </a:p>
          <a:p xmlns:a="http://schemas.openxmlformats.org/drawingml/2006/main">
            <a:r>
              <a:t>https://tass.ru/interviews/10248577</a:t>
            </a:r>
          </a:p>
          <a:p xmlns:a="http://schemas.openxmlformats.org/drawingml/2006/main">
            <a:r>
              <a:t>https://news.ru/russia/u-nas-smelye-plany-gubernator-sevastopolya-razvozzhaev-o-budushem-goroda</a:t>
            </a:r>
          </a:p>
          <a:p xmlns:a="http://schemas.openxmlformats.org/drawingml/2006/main">
            <a:r>
              <a:t>http://kremlin.ru/events/administration/80838</a:t>
            </a:r>
          </a:p>
          <a:p xmlns:a="http://schemas.openxmlformats.org/drawingml/2006/main">
            <a:r>
              <a:t>https://tass.ru/kultura/28214691</a:t>
            </a:r>
          </a:p>
          <a:p xmlns:a="http://schemas.openxmlformats.org/drawingml/2006/main">
            <a:r>
              <a:t>http://kremlin.ru/events/administration/80591</a:t>
            </a:r>
          </a:p>
          <a:p xmlns:a="http://schemas.openxmlformats.org/drawingml/2006/main">
            <a:r>
              <a:t>https://governors.ru/glava-regiona/Belgorodskaya-oblast/Gladkov-Vyacheslav-Vladimirovich</a:t>
            </a:r>
          </a:p>
          <a:p xmlns:a="http://schemas.openxmlformats.org/drawingml/2006/main">
            <a:r>
              <a:t>https://ru.wikipedia.org/wiki/%D0%93%D0%BB%D0%B0%D0%B4%D0%BA%D0%BE%D0%B2,_%D0%92%D1%8F%D1%87%D0%B5%D1%81%D0%BB%D0%B0%D0%B2_%D0%92%D0%BB%D0%B0%D0%B4%D0%B8%D0%BC%D0%B8%D1%80%D0%BE%D0%B2%D0%B8%D1%87</a:t>
            </a:r>
          </a:p>
          <a:p xmlns:a="http://schemas.openxmlformats.org/drawingml/2006/main">
            <a:r>
              <a:t>http://council.gov.ru/structure/persons/1543/</a:t>
            </a:r>
          </a:p>
          <a:p xmlns:a="http://schemas.openxmlformats.org/drawingml/2006/main">
            <a:r>
              <a:t>https://ufa.rbc.ru/person/648345539a794760fd0c17e8</a:t>
            </a:r>
          </a:p>
          <a:p xmlns:a="http://schemas.openxmlformats.org/drawingml/2006/main">
            <a:r>
              <a:t>https://www.kommersant.ru/doc/8571119</a:t>
            </a:r>
          </a:p>
          <a:p xmlns:a="http://schemas.openxmlformats.org/drawingml/2006/main">
            <a:r>
              <a:t>https://www.kommersant.ru/doc/8655079</a:t>
            </a:r>
          </a:p>
          <a:p xmlns:a="http://schemas.openxmlformats.org/drawingml/2006/main">
            <a:r>
              <a:t>https://tass.ru/info/27861241</a:t>
            </a:r>
          </a:p>
          <a:p xmlns:a="http://schemas.openxmlformats.org/drawingml/2006/main">
            <a:r>
              <a:t>https://meduza.io/feature/2023/06/08/emu-by-vse-eto-razgresti</a:t>
            </a:r>
          </a:p>
          <a:p xmlns:a="http://schemas.openxmlformats.org/drawingml/2006/main">
            <a:r>
              <a:t>http://www.kremlin.ru/events/president/transcripts/66288</a:t>
            </a:r>
          </a:p>
          <a:p xmlns:a="http://schemas.openxmlformats.org/drawingml/2006/main">
            <a:r>
              <a:t>https://www.belpressa.ru/politics/vlast/62665.html</a:t>
            </a:r>
          </a:p>
          <a:p xmlns:a="http://schemas.openxmlformats.org/drawingml/2006/main">
            <a:r>
              <a:t>https://www.belpressa.ru/politics/vlast/71368.html</a:t>
            </a:r>
          </a:p>
          <a:p xmlns:a="http://schemas.openxmlformats.org/drawingml/2006/main">
            <a:r>
              <a:t>https://www.belnovosti.ru/politika/gubernator/127077.html</a:t>
            </a:r>
          </a:p>
          <a:p xmlns:a="http://schemas.openxmlformats.org/drawingml/2006/main">
            <a:r>
              <a:t>https://chr.plus.rbc.ru/news/694b9fb67a8aa90f9c2ce17d</a:t>
            </a:r>
          </a:p>
          <a:p xmlns:a="http://schemas.openxmlformats.org/drawingml/2006/main">
            <a:r>
              <a:t>https://www.belpressa.ru/society/bezopasnost/43348.html</a:t>
            </a:r>
          </a:p>
          <a:p xmlns:a="http://schemas.openxmlformats.org/drawingml/2006/main">
            <a:r>
              <a:t>https://www.rbc.ru/politics/07/03/2023/640758bf9a7947f6af99d464</a:t>
            </a:r>
          </a:p>
          <a:p xmlns:a="http://schemas.openxmlformats.org/drawingml/2006/main">
            <a:r>
              <a:t>https://www.rbc.ru/politics/24/05/2023/646d22029a794797c4bac4bf</a:t>
            </a:r>
          </a:p>
          <a:p xmlns:a="http://schemas.openxmlformats.org/drawingml/2006/main">
            <a:r>
              <a:t>https://www.bbc.com/russian/articles/c70dkd0pvrlo</a:t>
            </a:r>
          </a:p>
          <a:p xmlns:a="http://schemas.openxmlformats.org/drawingml/2006/main">
            <a:r>
              <a:t>https://www.go31.ru/news/proisshestviya/kak-nikto-drugoy-ponimaem-chto-takoe-agressiya-so-storony-ukrainy-gladkov-o-proryve-granitsy-v-kursk/</a:t>
            </a:r>
          </a:p>
          <a:p xmlns:a="http://schemas.openxmlformats.org/drawingml/2006/main">
            <a:r>
              <a:t>https://echofm.online/portret-dnya/portret-dnya-vyacheslav-gladkov-gubernator-belgorodskoj-oblasti-prognozy-o-sudbe-kotorogo-raznyatsya-ot-posta-posla-v-abhazii-do-ugolovnogo-dela</a:t>
            </a:r>
          </a:p>
          <a:p xmlns:a="http://schemas.openxmlformats.org/drawingml/2006/main">
            <a:r>
              <a:t>https://www.kommersant.ru/doc/3917861</a:t>
            </a:r>
          </a:p>
          <a:p xmlns:a="http://schemas.openxmlformats.org/drawingml/2006/main">
            <a:r>
              <a:t>https://minstroyrf.gov.ru/press/okolo-40-kontsessionnykh-soglasheniy-v-rossii-deystvuet-v-sfere-zhkkh/</a:t>
            </a:r>
          </a:p>
          <a:p xmlns:a="http://schemas.openxmlformats.org/drawingml/2006/main">
            <a:r>
              <a:t>https://newsroom24.ru/murmansk/news/politics/2026/news_323931/</a:t>
            </a:r>
          </a:p>
          <a:p xmlns:a="http://schemas.openxmlformats.org/drawingml/2006/main">
            <a:r>
              <a:t>https://murmansk.ru/52053</a:t>
            </a:r>
          </a:p>
          <a:p xmlns:a="http://schemas.openxmlformats.org/drawingml/2006/main">
            <a:r>
              <a:t>https://51.ru/text/gorod/2026/01/22/76228112/</a:t>
            </a:r>
          </a:p>
          <a:p xmlns:a="http://schemas.openxmlformats.org/drawingml/2006/main">
            <a:r>
              <a:t>https://www.murman.ru/news/2026/05/02/2334/</a:t>
            </a:r>
          </a:p>
          <a:p xmlns:a="http://schemas.openxmlformats.org/drawingml/2006/main">
            <a:r>
              <a:t>https://murman.ru/news/2026/09/06/2141/</a:t>
            </a:r>
          </a:p>
          <a:p xmlns:a="http://schemas.openxmlformats.org/drawingml/2006/main">
            <a:r>
              <a:t>https://www.murman.ru/news/2026/09/13/2242/</a:t>
            </a:r>
          </a:p>
          <a:p xmlns:a="http://schemas.openxmlformats.org/drawingml/2006/main">
            <a:r>
              <a:t>https://ru.wikipedia.org/wiki/%D0%A7%D0%B8%D0%B1%D0%B8%D1%81,_%D0%90%D0%BD%D0%B4%D1%80%D0%B5%D0%B9_%D0%92%D0%BB%D0%B0%D0%B4%D0%B8%D0%BC%D0%B8%D1%80%D0%BE%D0%B2%D0%B8%D1%87</a:t>
            </a:r>
          </a:p>
          <a:p xmlns:a="http://schemas.openxmlformats.org/drawingml/2006/main">
            <a:r>
              <a:t>https://tass.ru/obschestvo/23491353</a:t>
            </a:r>
          </a:p>
          <a:p xmlns:a="http://schemas.openxmlformats.org/drawingml/2006/main">
            <a:r>
              <a:t>https://www.murman.ru/news/2026/09/03/2243/</a:t>
            </a:r>
          </a:p>
          <a:p xmlns:a="http://schemas.openxmlformats.org/drawingml/2006/main">
            <a:r>
              <a:t>https://msp.citymurmansk.ru/news/2026/09/03/0930/</a:t>
            </a:r>
          </a:p>
          <a:p xmlns:a="http://schemas.openxmlformats.org/drawingml/2006/main">
            <a:r>
              <a:t>http://kremlin.ru/events/president/letters/80916</a:t>
            </a:r>
          </a:p>
          <a:p xmlns:a="http://schemas.openxmlformats.org/drawingml/2006/main">
            <a:r>
              <a:t>https://www.murmansk.kp.ru/daily/277813.4/5300258/</a:t>
            </a:r>
          </a:p>
          <a:p xmlns:a="http://schemas.openxmlformats.org/drawingml/2006/main">
            <a:r>
              <a:t>https://www.fontanka.ru/2021/07/27/70046798/</a:t>
            </a:r>
          </a:p>
          <a:p xmlns:a="http://schemas.openxmlformats.org/drawingml/2006/main">
            <a:r>
              <a:t>https://www.kommersant.ru/doc/4639758</a:t>
            </a:r>
          </a:p>
          <a:p xmlns:a="http://schemas.openxmlformats.org/drawingml/2006/main">
            <a:r>
              <a:t>https://www.bbc.com/russian/news-55614829</a:t>
            </a:r>
          </a:p>
          <a:p xmlns:a="http://schemas.openxmlformats.org/drawingml/2006/main">
            <a:r>
              <a:t>https://newpeople.ru/Deputy/sardana-avksenteva</a:t>
            </a:r>
          </a:p>
          <a:p xmlns:a="http://schemas.openxmlformats.org/drawingml/2006/main">
            <a:r>
              <a:t>https://www.pnp.ru/economics/kontrol-za-koncessionnymi-soglasheniyami-predlozhili-usilit.html</a:t>
            </a:r>
          </a:p>
          <a:p xmlns:a="http://schemas.openxmlformats.org/drawingml/2006/main">
            <a:r>
              <a:t>https://www.ng.ru/politics/2024-12-05/1_9150_right.html</a:t>
            </a:r>
          </a:p>
          <a:p xmlns:a="http://schemas.openxmlformats.org/drawingml/2006/main">
            <a:r>
              <a:t>https://news.ru/society/v-novyh-lyudyah-rasskazali-o-glavnyh-zadachah-partii-pered-vyborami</a:t>
            </a:r>
          </a:p>
          <a:p xmlns:a="http://schemas.openxmlformats.org/drawingml/2006/main">
            <a:r>
              <a:t>https://www.kommersant.ru/doc/8939397</a:t>
            </a:r>
          </a:p>
          <a:p xmlns:a="http://schemas.openxmlformats.org/drawingml/2006/main">
            <a:r>
              <a:t>https://tass.ru/info/5220823</a:t>
            </a:r>
          </a:p>
          <a:p xmlns:a="http://schemas.openxmlformats.org/drawingml/2006/main">
            <a:r>
              <a:t>https://tass.ru/info/15547711</a:t>
            </a:r>
          </a:p>
          <a:p xmlns:a="http://schemas.openxmlformats.org/drawingml/2006/main">
            <a:r>
              <a:t>https://www.bbc.com/russian/features-62661643</a:t>
            </a:r>
          </a:p>
          <a:p xmlns:a="http://schemas.openxmlformats.org/drawingml/2006/main">
            <a:r>
              <a:t>https://www.kommersant.ru/doc/3298219</a:t>
            </a:r>
          </a:p>
          <a:p xmlns:a="http://schemas.openxmlformats.org/drawingml/2006/main">
            <a:r>
              <a:t>https://www.svoboda.org/a/31217129.html</a:t>
            </a:r>
          </a:p>
          <a:p xmlns:a="http://schemas.openxmlformats.org/drawingml/2006/main">
            <a:r>
              <a:t>https://www.interfax.ru/russia/902059</a:t>
            </a:r>
          </a:p>
          <a:p xmlns:a="http://schemas.openxmlformats.org/drawingml/2006/main">
            <a:r>
              <a:t>https://www.bfm.ru/news/525620</a:t>
            </a:r>
          </a:p>
          <a:p xmlns:a="http://schemas.openxmlformats.org/drawingml/2006/main">
            <a:r>
              <a:t>https://novayagazeta.ru/articles/2023/03/16/do-urovnia-myshei-media</a:t>
            </a:r>
          </a:p>
          <a:p xmlns:a="http://schemas.openxmlformats.org/drawingml/2006/main">
            <a:r>
              <a:t>https://tjournal.ru/71076</a:t>
            </a:r>
          </a:p>
          <a:p xmlns:a="http://schemas.openxmlformats.org/drawingml/2006/main">
            <a:r>
              <a:t>https://www.nakanune.ru/articles/111648/</a:t>
            </a:r>
          </a:p>
          <a:p xmlns:a="http://schemas.openxmlformats.org/drawingml/2006/main">
            <a:r>
              <a:t>https://adcmemorial.org/statyi/kolonki/neprotivlenie-rasizmu/</a:t>
            </a:r>
          </a:p>
          <a:p xmlns:a="http://schemas.openxmlformats.org/drawingml/2006/main">
            <a:r>
              <a:t>https://www.svoboda.org/a/royzman-i-drugie-zhiteli-ekaterinburga/31997151.html</a:t>
            </a:r>
          </a:p>
          <a:p xmlns:a="http://schemas.openxmlformats.org/drawingml/2006/main">
            <a:r>
              <a:t>https://www.e1.ru/text/politics/2022/02/24/70466417/</a:t>
            </a:r>
          </a:p>
          <a:p xmlns:a="http://schemas.openxmlformats.org/drawingml/2006/main">
            <a:r>
              <a:t>https://www.dw.com/ru/kommentarij-evgenij-rojzman-i-sila-pravdy/a-62917754</a:t>
            </a:r>
          </a:p>
          <a:p xmlns:a="http://schemas.openxmlformats.org/drawingml/2006/main">
            <a:r>
              <a:t>https://meduza.io/paragraph/2022/08/26/priehali-moskvichi-i-dumali-chto-zdes-duraki-sobralis</a:t>
            </a:r>
          </a:p>
          <a:p xmlns:a="http://schemas.openxmlformats.org/drawingml/2006/main">
            <a:r>
              <a:t>https://znamlit.ru/publication.php?id=7379</a:t>
            </a:r>
          </a:p>
          <a:p xmlns:a="http://schemas.openxmlformats.org/drawingml/2006/main">
            <a:r>
              <a:t>https://tass.ru/interviews/6080499</a:t>
            </a:r>
          </a:p>
          <a:p xmlns:a="http://schemas.openxmlformats.org/drawingml/2006/main">
            <a:r>
              <a:t>https://45.ru/text/politics/2024/09/09/73952072/</a:t>
            </a:r>
          </a:p>
          <a:p xmlns:a="http://schemas.openxmlformats.org/drawingml/2006/main">
            <a:r>
              <a:t>http://special.kremlin.ru/events/president/news/70638</a:t>
            </a:r>
          </a:p>
          <a:p xmlns:a="http://schemas.openxmlformats.org/drawingml/2006/main">
            <a:r>
              <a:t>https://ura.news/news/1053132902</a:t>
            </a:r>
          </a:p>
          <a:p xmlns:a="http://schemas.openxmlformats.org/drawingml/2006/main">
            <a:r>
              <a:t>https://ura.news/articles/1036276564</a:t>
            </a:r>
          </a:p>
          <a:p xmlns:a="http://schemas.openxmlformats.org/drawingml/2006/main">
            <a:r>
              <a:t>https://tass.ru/novosti-regionov/28187431</a:t>
            </a:r>
          </a:p>
          <a:p xmlns:a="http://schemas.openxmlformats.org/drawingml/2006/main">
            <a:r>
              <a:t>https://fedpress.ru/person/1753607</a:t>
            </a:r>
          </a:p>
          <a:p xmlns:a="http://schemas.openxmlformats.org/drawingml/2006/main">
            <a:r>
              <a:t>https://eburg.mk.ru/social/2026/10/14/zhiteley-zauralya-predupredili-o-lozhnykh-videorolikakh-s-gubernatorom.html</a:t>
            </a:r>
          </a:p>
          <a:p xmlns:a="http://schemas.openxmlformats.org/drawingml/2006/main">
            <a:r>
              <a:t>https://regnum.ru/news/3530808</a:t>
            </a:r>
          </a:p>
          <a:p xmlns:a="http://schemas.openxmlformats.org/drawingml/2006/main">
            <a:r>
              <a:t>https://kurganvera.ru/news/vrns/mitropolit-daniil-i-vadim-shumkov-vozglavili-delegatsiyu-kurganskoy-oblasti-na-vsemirnom-russkom-sob/</a:t>
            </a:r>
          </a:p>
          <a:p xmlns:a="http://schemas.openxmlformats.org/drawingml/2006/main">
            <a:r>
              <a:t>https://45.ru/text/politics/2026/06/26/76499700/</a:t>
            </a:r>
          </a:p>
          <a:p xmlns:a="http://schemas.openxmlformats.org/drawingml/2006/main">
            <a:r>
              <a:t>https://niva-kurtamysh.com/news/obshchestvo/vystuplenie-gubernatora-kurganskoy-oblasti-vadima-shumkova</a:t>
            </a:r>
          </a:p>
          <a:p xmlns:a="http://schemas.openxmlformats.org/drawingml/2006/main">
            <a:r>
              <a:t>https://t.me/s/kurganskayaobl?before=42616</a:t>
            </a:r>
          </a:p>
          <a:p xmlns:a="http://schemas.openxmlformats.org/drawingml/2006/main">
            <a:r>
              <a:t>https://www.bbc.com/russian/news-54368577</a:t>
            </a:r>
          </a:p>
          <a:p xmlns:a="http://schemas.openxmlformats.org/drawingml/2006/main">
            <a:r>
              <a:t>https://www.bbc.com/russian/articles/cp0769dp15eo</a:t>
            </a:r>
          </a:p>
          <a:p xmlns:a="http://schemas.openxmlformats.org/drawingml/2006/main">
            <a:r>
              <a:t>https://navalny.com/materials/blogpost-6017</a:t>
            </a:r>
          </a:p>
          <a:p xmlns:a="http://schemas.openxmlformats.org/drawingml/2006/main">
            <a:r>
              <a:t>https://www.bbc.com/russian/news-58563592</a:t>
            </a:r>
          </a:p>
          <a:p xmlns:a="http://schemas.openxmlformats.org/drawingml/2006/main">
            <a:r>
              <a:t>https://navalny.com/materials/blogpost-6544</a:t>
            </a:r>
          </a:p>
          <a:p xmlns:a="http://schemas.openxmlformats.org/drawingml/2006/main">
            <a:r>
              <a:t>https://www.bbc.com/russian/news-58270043</a:t>
            </a:r>
          </a:p>
          <a:p xmlns:a="http://schemas.openxmlformats.org/drawingml/2006/main">
            <a:r>
              <a:t>https://www.bbc.com/russian/articles/cvg3p9l1e5ro</a:t>
            </a:r>
          </a:p>
          <a:p xmlns:a="http://schemas.openxmlformats.org/drawingml/2006/main">
            <a:r>
              <a:t>https://www.bbc.com/russian/features-54435835</a:t>
            </a:r>
          </a:p>
          <a:p xmlns:a="http://schemas.openxmlformats.org/drawingml/2006/main">
            <a:r>
              <a:t>https://2018.navalny.com/platform/7/</a:t>
            </a:r>
          </a:p>
          <a:p xmlns:a="http://schemas.openxmlformats.org/drawingml/2006/main">
            <a:r>
              <a:t>https://2018.navalny.com/platform/3/</a:t>
            </a:r>
          </a:p>
          <a:p xmlns:a="http://schemas.openxmlformats.org/drawingml/2006/main">
            <a:r>
              <a:t>https://2018.navalny.com/platform/10/</a:t>
            </a:r>
          </a:p>
          <a:p xmlns:a="http://schemas.openxmlformats.org/drawingml/2006/main">
            <a:r>
              <a:t>https://2018.navalny.com/platform/9/</a:t>
            </a:r>
          </a:p>
          <a:p xmlns:a="http://schemas.openxmlformats.org/drawingml/2006/main">
            <a:r>
              <a:t>https://navalny.com/editorials/aleksey-navalnyy-protiv-voyny</a:t>
            </a:r>
          </a:p>
          <a:p xmlns:a="http://schemas.openxmlformats.org/drawingml/2006/main">
            <a:r>
              <a:t>https://navalny.com/?p=149</a:t>
            </a:r>
          </a:p>
          <a:p xmlns:a="http://schemas.openxmlformats.org/drawingml/2006/main">
            <a:r>
              <a:t>https://www.interfax.ru/russia/876151</a:t>
            </a:r>
          </a:p>
          <a:p xmlns:a="http://schemas.openxmlformats.org/drawingml/2006/main">
            <a:r>
              <a:t>https://www.dw.com/ru/srok-ne-za-fejk-a-za-politiku-reakcii-v-frg-i-rf-na-prigovor-asinu/a-64049957</a:t>
            </a:r>
          </a:p>
          <a:p xmlns:a="http://schemas.openxmlformats.org/drawingml/2006/main">
            <a:r>
              <a:t>https://www.lemonde.fr/en/international/article/2025/05/27/russian-opposition-figure-ilya-yashin-if-ukraine-is-handed-over-to-putin-it-will-be-a-tragedy-and-the-prologue-to-a-global-confrontation_6741728_4.html</a:t>
            </a:r>
          </a:p>
          <a:p xmlns:a="http://schemas.openxmlformats.org/drawingml/2006/main">
            <a:r>
              <a:t>https://www.bbc.com/russian/articles/crgl69w9472o</a:t>
            </a:r>
          </a:p>
          <a:p xmlns:a="http://schemas.openxmlformats.org/drawingml/2006/main">
            <a:r>
              <a:t>https://www.svoboda.org/a/yashin-court/32165539.html</a:t>
            </a:r>
          </a:p>
          <a:p xmlns:a="http://schemas.openxmlformats.org/drawingml/2006/main">
            <a:r>
              <a:t>https://www.dw.com/ru/ila-asin-putin-predvoditel-sil-mrakobesia/a-69923731</a:t>
            </a:r>
          </a:p>
          <a:p xmlns:a="http://schemas.openxmlformats.org/drawingml/2006/main">
            <a:r>
              <a:t>https://novayagazeta.eu/articles/2025/08/01/my-ne-mozhem-trebovat-no-mozhem-obiasniat</a:t>
            </a:r>
          </a:p>
          <a:p xmlns:a="http://schemas.openxmlformats.org/drawingml/2006/main">
            <a:r>
              <a:t>https://meduza.io/feature/2019/07/20/to-chto-putin-ne-smog-sdelat-za-20-let-sobyanin-sdelal-za-mesyats</a:t>
            </a:r>
          </a:p>
          <a:p xmlns:a="http://schemas.openxmlformats.org/drawingml/2006/main">
            <a:r>
              <a:t>https://novayagazeta.eu/articles/2024/11/18/pochuvstvovat-sebia-ne-odinokimi</a:t>
            </a:r>
          </a:p>
          <a:p xmlns:a="http://schemas.openxmlformats.org/drawingml/2006/main">
            <a:r>
              <a:t>https://www.svoboda.org/a/voyna-putin-i-politzaklyuchennye-iljya-yashin-o-svoih-planah/33177839.html</a:t>
            </a:r>
          </a:p>
          <a:p xmlns:a="http://schemas.openxmlformats.org/drawingml/2006/main">
            <a:r>
              <a:t>https://www.dw.com/ru/asin-sejcas-nevozmozno-obedinit-rossijskuu-oppoziciu-da-i-ne-nuzno/a-70291088</a:t>
            </a:r>
          </a:p>
          <a:p xmlns:a="http://schemas.openxmlformats.org/drawingml/2006/main">
            <a:r>
              <a:t>https://www.dw.com/ru/vladimir-karamurza/t-37465233</a:t>
            </a:r>
          </a:p>
          <a:p xmlns:a="http://schemas.openxmlformats.org/drawingml/2006/main">
            <a:r>
              <a:t>https://ovd.info/persons/kara-murza-vladimir-vladimirovich</a:t>
            </a:r>
          </a:p>
          <a:p xmlns:a="http://schemas.openxmlformats.org/drawingml/2006/main">
            <a:r>
              <a:t>https://ovd.info/2024/08/03/kogo-rossiya-vydala-v-ramkakh-obmena-zaklyuchennymi-s-zapadom-istorii-osvobozhdennykh</a:t>
            </a:r>
          </a:p>
          <a:p xmlns:a="http://schemas.openxmlformats.org/drawingml/2006/main">
            <a:r>
              <a:t>https://www.svoboda.org/a/kara-murza-obmen/33059121.html</a:t>
            </a:r>
          </a:p>
          <a:p xmlns:a="http://schemas.openxmlformats.org/drawingml/2006/main">
            <a:r>
              <a:t>https://novayagazeta.ru/articles/2024/08/16/prezident-baiden-prinial-osvobozhdennogo-v-rezultate-obmena-politzakliuchennogo-vladimira-kara-murzu-s-semei-v-belom-dome-news</a:t>
            </a:r>
          </a:p>
          <a:p xmlns:a="http://schemas.openxmlformats.org/drawingml/2006/main">
            <a:r>
              <a:t>https://genevasummit.org/speech/vladimir-kara-murza-speaks-at-2018-geneva-summit-main-event/</a:t>
            </a:r>
          </a:p>
          <a:p xmlns:a="http://schemas.openxmlformats.org/drawingml/2006/main">
            <a:r>
              <a:t>https://humanrights.ca/event-series/presidents-lecture-series</a:t>
            </a:r>
          </a:p>
          <a:p xmlns:a="http://schemas.openxmlformats.org/drawingml/2006/main">
            <a:r>
              <a:t>https://www.radiofrance.fr/franceinter/podcasts/l-info-de-france-inter/la-democratie-doit-etre-protegee-chaque-minute-de-chaque-jour-declare-l-opposant-russe-vladimir-kara-mourza-8105094</a:t>
            </a:r>
          </a:p>
          <a:p xmlns:a="http://schemas.openxmlformats.org/drawingml/2006/main">
            <a:r>
              <a:t>https://georgetownvoice.com/2025/10/08/dissident-in-residence-vladimir-kara-murza-applies-past-lessons-to-present-day-in-recent-event-discussing-democracy/</a:t>
            </a:r>
          </a:p>
          <a:p xmlns:a="http://schemas.openxmlformats.org/drawingml/2006/main">
            <a:r>
              <a:t>https://www.oscepa.org/en/documents/winter-meetings/2025-vienna/speeches-36/5176-vladimir-kara-murza-address-to-the-osce-pa-winter-meeting-in-vienna-21-february-2025/file</a:t>
            </a:r>
          </a:p>
          <a:p xmlns:a="http://schemas.openxmlformats.org/drawingml/2006/main">
            <a:r>
              <a:t>https://hrf.org/wp-content/uploads/2024/10/VKM-%E2%80%93-Statement-of-Facts-and-Levinson-Analysis.pdf</a:t>
            </a:r>
          </a:p>
          <a:p xmlns:a="http://schemas.openxmlformats.org/drawingml/2006/main">
            <a:r>
              <a:t>https://www.govinfo.gov/content/pkg/CREC-2024-06-11/html/CREC-2024-06-11-pt1-PgH3699.htm</a:t>
            </a:r>
          </a:p>
          <a:p xmlns:a="http://schemas.openxmlformats.org/drawingml/2006/main">
            <a:r>
              <a:t>https://antiwarcommittee.info/en/statement-on-the-persecution-of-vladimir-kara-murza/</a:t>
            </a:r>
          </a:p>
          <a:p xmlns:a="http://schemas.openxmlformats.org/drawingml/2006/main">
            <a:r>
              <a:t>https://www.norway.no/en/missions/osce/norway-and-the-osce/statements/statements-with--norwegian-alignment-2024/joint-statement-on-vladimir-kara-murza/</a:t>
            </a:r>
          </a:p>
          <a:p xmlns:a="http://schemas.openxmlformats.org/drawingml/2006/main">
            <a:r>
              <a:t>https://www.aljazeera.com/news/2025/4/23/kremlin-critic-decried-for-racist-rant-on-minorities-fighting-for-russia</a:t>
            </a:r>
          </a:p>
          <a:p xmlns:a="http://schemas.openxmlformats.org/drawingml/2006/main">
            <a:r>
              <a:t>https://www.rmc.edu/news/former-political-prisoner-vladimir-kara-murza-offers-vision-of-hope-for-russian-democracy/</a:t>
            </a:r>
          </a:p>
          <a:p xmlns:a="http://schemas.openxmlformats.org/drawingml/2006/main">
            <a:r>
              <a:t>https://2018.yavlinsky.ru/campaign/</a:t>
            </a:r>
          </a:p>
          <a:p xmlns:a="http://schemas.openxmlformats.org/drawingml/2006/main">
            <a:r>
              <a:t>http://2018.yavlinsky.ru/programm/</a:t>
            </a:r>
          </a:p>
          <a:p xmlns:a="http://schemas.openxmlformats.org/drawingml/2006/main">
            <a:r>
              <a:t>https://campaign2018.yavlinsky.ru/</a:t>
            </a:r>
          </a:p>
          <a:p xmlns:a="http://schemas.openxmlformats.org/drawingml/2006/main">
            <a:r>
              <a:t>https://www.yavlinsky.ru/position/war/</a:t>
            </a:r>
          </a:p>
          <a:p xmlns:a="http://schemas.openxmlformats.org/drawingml/2006/main">
            <a:r>
              <a:t>https://www.yavlinsky.ru/position/cease-fire/</a:t>
            </a:r>
          </a:p>
          <a:p xmlns:a="http://schemas.openxmlformats.org/drawingml/2006/main">
            <a:r>
              <a:t>https://www.yavlinsky.ru/article_tax/ukraina/</a:t>
            </a:r>
          </a:p>
          <a:p xmlns:a="http://schemas.openxmlformats.org/drawingml/2006/main">
            <a:r>
              <a:t>https://www.yavlinsky.ru/biografiya/</a:t>
            </a:r>
          </a:p>
          <a:p xmlns:a="http://schemas.openxmlformats.org/drawingml/2006/main">
            <a:r>
              <a:t>https://www.yabloko.ru/publikatsii/2018/02/15_0</a:t>
            </a:r>
          </a:p>
          <a:p xmlns:a="http://schemas.openxmlformats.org/drawingml/2006/main">
            <a:r>
              <a:t>https://www.yabloko.ru/publikatsii/2018/06/19</a:t>
            </a:r>
          </a:p>
          <a:p xmlns:a="http://schemas.openxmlformats.org/drawingml/2006/main">
            <a:r>
              <a:t>https://www.yavlinsky.ru/article/eto-referendum/</a:t>
            </a:r>
          </a:p>
          <a:p xmlns:a="http://schemas.openxmlformats.org/drawingml/2006/main">
            <a:r>
              <a:t>https://www.svoboda.org/a/27801792.html</a:t>
            </a:r>
          </a:p>
          <a:p xmlns:a="http://schemas.openxmlformats.org/drawingml/2006/main">
            <a:r>
              <a:t>https://www.svoboda.org/a/29294829.html</a:t>
            </a:r>
          </a:p>
          <a:p xmlns:a="http://schemas.openxmlformats.org/drawingml/2006/main">
            <a:r>
              <a:t>https://www.yavlinsky.ru/article/intervyu-g-yavlinskogo-zhertvy-budut-proryva-net/</a:t>
            </a:r>
          </a:p>
          <a:p xmlns:a="http://schemas.openxmlformats.org/drawingml/2006/main">
            <a:r>
              <a:t>https://www.yavlinsky.ru/article/my-budem-idti-do-kontsa/</a:t>
            </a:r>
          </a:p>
          <a:p xmlns:a="http://schemas.openxmlformats.org/drawingml/2006/main">
            <a:r>
              <a:t>https://www.yavlinsky.ru/article/prezidentskie-vybory-1996-30-let-spustya/</a:t>
            </a:r>
          </a:p>
          <a:p xmlns:a="http://schemas.openxmlformats.org/drawingml/2006/main">
            <a:r>
              <a:t>https://www.forbes.ru/interview/45575-reformatory-prihodyat-k-vlasti-grigorii-yavlinskii</a:t>
            </a:r>
          </a:p>
          <a:p xmlns:a="http://schemas.openxmlformats.org/drawingml/2006/main">
            <a:r>
              <a:t>https://www.bbc.com/russian/articles/cy8ee2wngd8o</a:t>
            </a:r>
          </a:p>
          <a:p xmlns:a="http://schemas.openxmlformats.org/drawingml/2006/main">
            <a:r>
              <a:t>https://www.yabloko.ru/regnews/Pskov/2019/01/21-0</a:t>
            </a:r>
          </a:p>
          <a:p xmlns:a="http://schemas.openxmlformats.org/drawingml/2006/main">
            <a:r>
              <a:t>https://www.yabloko.ru/publikatsii/2019/06/14</a:t>
            </a:r>
          </a:p>
          <a:p xmlns:a="http://schemas.openxmlformats.org/drawingml/2006/main">
            <a:r>
              <a:t>https://zona.media/article/2019/02/27/pskov</a:t>
            </a:r>
          </a:p>
          <a:p xmlns:a="http://schemas.openxmlformats.org/drawingml/2006/main">
            <a:r>
              <a:t>https://spektr.press/ya-otvechayu-za-vse-mnoj-skazannoe-no-ne-otvechayu-za-izvraschenie-skazannogo-lev-shlosberg-o-travle-i-setkah-telegram-kanalov-odnokletochnyh-politikah-reshivshih-pobedit-putina-rukami-u/</a:t>
            </a:r>
          </a:p>
          <a:p xmlns:a="http://schemas.openxmlformats.org/drawingml/2006/main">
            <a:r>
              <a:t>https://www.yabloko.ru/Persons/shlosberg.html</a:t>
            </a:r>
          </a:p>
          <a:p xmlns:a="http://schemas.openxmlformats.org/drawingml/2006/main">
            <a:r>
              <a:t>https://pln-pskov.ru/politics/314872.html</a:t>
            </a:r>
          </a:p>
          <a:p xmlns:a="http://schemas.openxmlformats.org/drawingml/2006/main">
            <a:r>
              <a:t>https://www.yabloko.ru/publikatsii/2022/02/18-0</a:t>
            </a:r>
          </a:p>
          <a:p xmlns:a="http://schemas.openxmlformats.org/drawingml/2006/main">
            <a:r>
              <a:t>https://ru.krymr.com/a/rossiya-putin-voyna-repressii-lev-shlosberg-intervyu/31806389.html</a:t>
            </a:r>
          </a:p>
          <a:p xmlns:a="http://schemas.openxmlformats.org/drawingml/2006/main">
            <a:r>
              <a:t>https://www.currenttime.tv/a/politika-vlastey-chtoby-lyudi-perestali-govorit-o-spetsialnoy-voennoy-operatsii-lev-shlosberg-o-dele-protiv-nego-i-nikolaya-kuzmina/31807396.html</a:t>
            </a:r>
          </a:p>
          <a:p xmlns:a="http://schemas.openxmlformats.org/drawingml/2006/main">
            <a:r>
              <a:t>https://zona.media/article/2026/08/14/schlosberg</a:t>
            </a:r>
          </a:p>
          <a:p xmlns:a="http://schemas.openxmlformats.org/drawingml/2006/main">
            <a:r>
              <a:t>https://www.svoboda.org/a/lishniy-zalozhnik-vot-chto-im-vazhno-arest-lva-shlosberga/33615624.html</a:t>
            </a:r>
          </a:p>
          <a:p xmlns:a="http://schemas.openxmlformats.org/drawingml/2006/main">
            <a:r>
              <a:t>https://novayagazeta.eu/articles/2026/08/17/ostavshiisia</a:t>
            </a:r>
          </a:p>
          <a:p xmlns:a="http://schemas.openxmlformats.org/drawingml/2006/main">
            <a:r>
              <a:t>https://www.yabloko.ru/content/vishnevskii_boris_lazarevich</a:t>
            </a:r>
          </a:p>
          <a:p xmlns:a="http://schemas.openxmlformats.org/drawingml/2006/main">
            <a:r>
              <a:t>https://www.dp.ru/a/2018/06/18/Aktivnaja_storona_konflikt</a:t>
            </a:r>
          </a:p>
          <a:p xmlns:a="http://schemas.openxmlformats.org/drawingml/2006/main">
            <a:r>
              <a:t>https://www.bbc.com/russian/features-58481940</a:t>
            </a:r>
          </a:p>
          <a:p xmlns:a="http://schemas.openxmlformats.org/drawingml/2006/main">
            <a:r>
              <a:t>https://www.dp.ru/a/2023/01/16/Deputat_Peterburga_Vishnev</a:t>
            </a:r>
          </a:p>
          <a:p xmlns:a="http://schemas.openxmlformats.org/drawingml/2006/main">
            <a:r>
              <a:t>https://echofm.online/portret-dnya/portret-dnya-boris-vishnevskij-peterburgskij-politik</a:t>
            </a:r>
          </a:p>
          <a:p xmlns:a="http://schemas.openxmlformats.org/drawingml/2006/main">
            <a:r>
              <a:t>https://spb.yabloko.ru/people/vishnevskij-boris-lazarevich/</a:t>
            </a:r>
          </a:p>
          <a:p xmlns:a="http://schemas.openxmlformats.org/drawingml/2006/main">
            <a:r>
              <a:t>https://www.dp.ru/a/2026/08/26/bitva-nachalas-gde-v-peterburge</a:t>
            </a:r>
          </a:p>
          <a:p xmlns:a="http://schemas.openxmlformats.org/drawingml/2006/main">
            <a:r>
              <a:t>https://www.yabloko.ru/regnews/Spb/2022/02/21</a:t>
            </a:r>
          </a:p>
          <a:p xmlns:a="http://schemas.openxmlformats.org/drawingml/2006/main">
            <a:r>
              <a:t>https://www.yabloko.ru/cat-news/2021/08/06-0</a:t>
            </a:r>
          </a:p>
          <a:p xmlns:a="http://schemas.openxmlformats.org/drawingml/2006/main">
            <a:r>
              <a:t>https://www.rbc.ru/spb_sz/16/01/2023/63c53d9c9a7947d9bef4b853</a:t>
            </a:r>
          </a:p>
          <a:p xmlns:a="http://schemas.openxmlformats.org/drawingml/2006/main">
            <a:r>
              <a:t>https://www.rbc.ru/politics/06/05/2024/6638a8609a79472c01075a2c</a:t>
            </a:r>
          </a:p>
          <a:p xmlns:a="http://schemas.openxmlformats.org/drawingml/2006/main">
            <a:r>
              <a:t>https://www.svoboda.org/a/politika-dmitriya-gudkova-deportirovali-iz-gruzii-v-kiev/31679697.html</a:t>
            </a:r>
          </a:p>
          <a:p xmlns:a="http://schemas.openxmlformats.org/drawingml/2006/main">
            <a:r>
              <a:t>https://ru.krymr.com/a/dmitriy-gudkov-ob-otyezde-iz-rossii/31295079.html</a:t>
            </a:r>
          </a:p>
          <a:p xmlns:a="http://schemas.openxmlformats.org/drawingml/2006/main">
            <a:r>
              <a:t>https://daily.afisha.ru/news/114366-syn-politika-dmitriya-gudkova-pokonchil-s-soboy-v-emigracii/amp/</a:t>
            </a:r>
          </a:p>
          <a:p xmlns:a="http://schemas.openxmlformats.org/drawingml/2006/main">
            <a:r>
              <a:t>https://life.ru/t/dmitriygudkov</a:t>
            </a:r>
          </a:p>
          <a:p xmlns:a="http://schemas.openxmlformats.org/drawingml/2006/main">
            <a:r>
              <a:t>https://uk.wikipedia.org/wiki/%D0%93%D1%83%D0%B4%D0%BA%D0%BE%D0%B2_%D0%94%D0%BC%D0%B8%D1%82%D1%80%D1%96%D0%B9_%D0%93%D0%B5%D0%BD%D0%B0%D0%B4%D1%96%D0%B9%D0%BE%D0%B2%D0%B8%D1%87</a:t>
            </a:r>
          </a:p>
          <a:p xmlns:a="http://schemas.openxmlformats.org/drawingml/2006/main">
            <a:r>
              <a:t>https://mt.gazeta.ru/blog/43692366076/Syin-byivshego-deputata-Gosdumyi-Dmitriya-Gudkova-pokonchil-s-so?utm_referrer=mirtesen.ru</a:t>
            </a:r>
          </a:p>
          <a:p xmlns:a="http://schemas.openxmlformats.org/drawingml/2006/main">
            <a:r>
              <a:t>https://www.bbc.com/russian/news-57381443</a:t>
            </a:r>
          </a:p>
          <a:p xmlns:a="http://schemas.openxmlformats.org/drawingml/2006/main">
            <a:r>
              <a:t>https://www.themoscowtimes.com/2021/06/06/kremlin-critic-dmitry-gudkov-flees-to-ukraine-a74123</a:t>
            </a:r>
          </a:p>
          <a:p xmlns:a="http://schemas.openxmlformats.org/drawingml/2006/main">
            <a:r>
              <a:t>https://www.yabloko.ru/publikatsii/2016/09/15</a:t>
            </a:r>
          </a:p>
          <a:p xmlns:a="http://schemas.openxmlformats.org/drawingml/2006/main">
            <a:r>
              <a:t>https://novayagazeta.ru/articles/2018/03/21/75886-ya-privyk-lyudyam-verit</a:t>
            </a:r>
          </a:p>
          <a:p xmlns:a="http://schemas.openxmlformats.org/drawingml/2006/main">
            <a:r>
              <a:t>https://www.rbc.ru/politics/15/03/2018/5aaa98049a7947d12d63f1e1</a:t>
            </a:r>
          </a:p>
          <a:p xmlns:a="http://schemas.openxmlformats.org/drawingml/2006/main">
            <a:r>
              <a:t>https://rus.team/people/gudkov-dmitrij-gennadevich</a:t>
            </a:r>
          </a:p>
          <a:p xmlns:a="http://schemas.openxmlformats.org/drawingml/2006/main">
            <a:r>
              <a:t>https://www.azattyqasia.org/a/chto-proiskhodit-v-donbasse-/31863310/lbl0lbi299676.html</a:t>
            </a:r>
          </a:p>
          <a:p xmlns:a="http://schemas.openxmlformats.org/drawingml/2006/main">
            <a:r>
              <a:t>https://www.dw.com/ru/dmitrij-gudkov-putin-na-storone-partii-vojny-no-pri-etom-on-trus-21092022/video-63193199</a:t>
            </a:r>
          </a:p>
          <a:p xmlns:a="http://schemas.openxmlformats.org/drawingml/2006/main">
            <a:r>
              <a:t>https://ru.wikinews.org/wiki/%D0%9A%D0%B0%D1%82%D0%B5%D0%B3%D0%BE%D1%80%D0%B8%D1%8F:%D0%93%D0%B5%D0%BD%D0%BD%D0%B0%D0%B4%D0%B8%D0%B9_%D0%93%D1%83%D0%B4%D0%BA%D0%BE%D0%B2</a:t>
            </a:r>
          </a:p>
          <a:p xmlns:a="http://schemas.openxmlformats.org/drawingml/2006/main">
            <a:r>
              <a:t>https://en.wikipedia.org/wiki/Gennady_Gudkov</a:t>
            </a:r>
          </a:p>
          <a:p xmlns:a="http://schemas.openxmlformats.org/drawingml/2006/main">
            <a:r>
              <a:t>https://x.com/gudkov_g</a:t>
            </a:r>
          </a:p>
          <a:p xmlns:a="http://schemas.openxmlformats.org/drawingml/2006/main">
            <a:r>
              <a:t>https://www.dw.com/ru/chto-dmitrij-gudkov-nameren-delat-v-ukraine-i-vernetsja-li-v-rossiju/a-57830619</a:t>
            </a:r>
          </a:p>
          <a:p xmlns:a="http://schemas.openxmlformats.org/drawingml/2006/main">
            <a:r>
              <a:t>https://ru.wikipedia.org/wiki/%D0%93%D1%83%D0%B4%D0%BA%D0%BE%D0%B2,_%D0%93%D0%B5%D0%BD%D0%BD%D0%B0%D0%B4%D0%B8%D0%B9_%D0%92%D0%BB%D0%B0%D0%B4%D0%B8%D0%BC%D0%B8%D1%80%D0%BE%D0%B2%D0%B8%D1%87</a:t>
            </a:r>
          </a:p>
          <a:p xmlns:a="http://schemas.openxmlformats.org/drawingml/2006/main">
            <a:r>
              <a:t>https://ru.wikipedia.org/wiki/%D0%93%D1%83%D0%B4%D0%BA%D0%BE%D0%B2,_%D0%94%D0%BC%D0%B8%D1%82%D1%80%D0%B8%D0%B9_%D0%93%D0%B5%D0%BD%D0%BD%D0%B0%D0%B4%D1%8C%D0%B5%D0%B2%D0%B8%D1%87</a:t>
            </a:r>
          </a:p>
          <a:p xmlns:a="http://schemas.openxmlformats.org/drawingml/2006/main">
            <a:r>
              <a:t>https://utro02.tv/2022/10/31/navstrechu-sezdu-gennadij-gudkov-o-vyborah-obedinenii-oppoziczii-i-razdelenii-vlasti/</a:t>
            </a:r>
          </a:p>
          <a:p xmlns:a="http://schemas.openxmlformats.org/drawingml/2006/main">
            <a:r>
              <a:t>https://www.unian.net/war/rossiyskiy-oppozicioner-gudkov-putin-nachinaet-ponimat-chto-nastupaet-zh-pa-12031263.html</a:t>
            </a:r>
          </a:p>
          <a:p xmlns:a="http://schemas.openxmlformats.org/drawingml/2006/main">
            <a:r>
              <a:t>https://bntnews.bg/genadiy-gudkov-86846tag.html</a:t>
            </a:r>
          </a:p>
          <a:p xmlns:a="http://schemas.openxmlformats.org/drawingml/2006/main">
            <a:r>
              <a:t>https://tass.ru/encyclopedia/person/gudkov-dmitriy-gennadevich</a:t>
            </a:r>
          </a:p>
          <a:p xmlns:a="http://schemas.openxmlformats.org/drawingml/2006/main">
            <a:r>
              <a:t>https://www.kasparov.com/garry-kasparov-on-putin-and-the-virus-of-imperialism-wsj-free-expression-april-11-2022/</a:t>
            </a:r>
          </a:p>
          <a:p xmlns:a="http://schemas.openxmlformats.org/drawingml/2006/main">
            <a:r>
              <a:t>https://www.ilmessaggero.it/en/garry_kasparov_from_chess_champion_to_kremlin_critic-9797261.html</a:t>
            </a:r>
          </a:p>
          <a:p xmlns:a="http://schemas.openxmlformats.org/drawingml/2006/main">
            <a:r>
              <a:t>https://www.kasparov.com/category/russia/</a:t>
            </a:r>
          </a:p>
          <a:p xmlns:a="http://schemas.openxmlformats.org/drawingml/2006/main">
            <a:r>
              <a:t>https://www.kasparov.com/category/politics/</a:t>
            </a:r>
          </a:p>
          <a:p xmlns:a="http://schemas.openxmlformats.org/drawingml/2006/main">
            <a:r>
              <a:t>https://en.wikipedia.org/wiki/Political_views_of_Garry_Kasparov</a:t>
            </a:r>
          </a:p>
          <a:p xmlns:a="http://schemas.openxmlformats.org/drawingml/2006/main">
            <a:r>
              <a:t>https://www.dw.com/ru/kasparov-v-intervu-dw-vse-cto-delal-delaet-i-budet-delat-tramp-pomogaet-putinu/a-79633734</a:t>
            </a:r>
          </a:p>
          <a:p xmlns:a="http://schemas.openxmlformats.org/drawingml/2006/main">
            <a:r>
              <a:t>https://www.kasparov.com/</a:t>
            </a:r>
          </a:p>
          <a:p xmlns:a="http://schemas.openxmlformats.org/drawingml/2006/main">
            <a:r>
              <a:t>https://www.kasparov.com/a-conversation-with-garry-kasparov-thought-economics-with-vikas-shas-may-21-2017/</a:t>
            </a:r>
          </a:p>
          <a:p xmlns:a="http://schemas.openxmlformats.org/drawingml/2006/main">
            <a:r>
              <a:t>https://www.kasparov.com/new-yorker-interview-the-chess-grandmaster-and-political-activist-on-putin-trump-and-how-we-are-living-again-through-the-eighteen-fifties/</a:t>
            </a:r>
          </a:p>
          <a:p xmlns:a="http://schemas.openxmlformats.org/drawingml/2006/main">
            <a:r>
              <a:t>https://www.cnbc.com/2017/02/13/the-full-interview-with-former-world-chess-champion-garry-kasparov-on-trump-putin.html</a:t>
            </a:r>
          </a:p>
          <a:p xmlns:a="http://schemas.openxmlformats.org/drawingml/2006/main">
            <a:r>
              <a:t>https://www.reuters.com/world/europe/kasparov-calls-world-powers-throw-russia-back-into-stone-age-2022-03-03/</a:t>
            </a:r>
          </a:p>
          <a:p xmlns:a="http://schemas.openxmlformats.org/drawingml/2006/main">
            <a:r>
              <a:t>https://khodorkovsky.com/open-russia-manifesto/</a:t>
            </a:r>
          </a:p>
          <a:p xmlns:a="http://schemas.openxmlformats.org/drawingml/2006/main">
            <a:r>
              <a:t>https://khodorkovsky.com/programmes/initiatives/openrussia/</a:t>
            </a:r>
          </a:p>
          <a:p xmlns:a="http://schemas.openxmlformats.org/drawingml/2006/main">
            <a:r>
              <a:t>https://khodorkovsky.com/page/65/?m</a:t>
            </a:r>
          </a:p>
          <a:p xmlns:a="http://schemas.openxmlformats.org/drawingml/2006/main">
            <a:r>
              <a:t>https://khodorkovsky.com/page/80/?m</a:t>
            </a:r>
          </a:p>
          <a:p xmlns:a="http://schemas.openxmlformats.org/drawingml/2006/main">
            <a:r>
              <a:t>https://angliya.com/publication/mihail-hodorkovskiy-ne-priznayu-razdelenie-lyudey-na-osnovanii-politicheskih-vzglyadov/</a:t>
            </a:r>
          </a:p>
          <a:p xmlns:a="http://schemas.openxmlformats.org/drawingml/2006/main">
            <a:r>
              <a:t>https://www.dw.com/ru/mihail-hodorkovski-bojus-jeta-vojna-ne-budet-poslednej/a-61314556</a:t>
            </a:r>
          </a:p>
          <a:p xmlns:a="http://schemas.openxmlformats.org/drawingml/2006/main">
            <a:r>
              <a:t>https://ru.euronews.com/2022/06/21/ru-khodorkovsky-interview</a:t>
            </a:r>
          </a:p>
          <a:p xmlns:a="http://schemas.openxmlformats.org/drawingml/2006/main">
            <a:r>
              <a:t>https://ru.euronews.com/2022/06/23/mikhail-khodorkovsky</a:t>
            </a:r>
          </a:p>
          <a:p xmlns:a="http://schemas.openxmlformats.org/drawingml/2006/main">
            <a:r>
              <a:t>https://poligonmedia.io/mihail-hodorkovskij-putin-ne-pobedil/</a:t>
            </a:r>
          </a:p>
          <a:p xmlns:a="http://schemas.openxmlformats.org/drawingml/2006/main">
            <a:r>
              <a:t>https://www.pap.pl/ru/russian/news/khodorkovskiy-u-putina-est-prichiny-vesti-peregovory-o-prekraschenii-voyny-na-ukraine</a:t>
            </a:r>
          </a:p>
          <a:p xmlns:a="http://schemas.openxmlformats.org/drawingml/2006/main">
            <a:r>
              <a:t>https://milov.org/cat/debates</a:t>
            </a:r>
          </a:p>
          <a:p xmlns:a="http://schemas.openxmlformats.org/drawingml/2006/main">
            <a:r>
              <a:t>https://milov.org/entry/4188</a:t>
            </a:r>
          </a:p>
          <a:p xmlns:a="http://schemas.openxmlformats.org/drawingml/2006/main">
            <a:r>
              <a:t>https://milov.org/cat/international</a:t>
            </a:r>
          </a:p>
          <a:p xmlns:a="http://schemas.openxmlformats.org/drawingml/2006/main">
            <a:r>
              <a:t>https://tvrain.tv/teleshow/amerikanskie_gonki/tramp_vynashivaet_ideju_primiritsja_s_putinym-453802/</a:t>
            </a:r>
          </a:p>
          <a:p xmlns:a="http://schemas.openxmlformats.org/drawingml/2006/main">
            <a:r>
              <a:t>https://www.currenttime.tv/a/vladimir-milov-interview/31505887.html</a:t>
            </a:r>
          </a:p>
          <a:p xmlns:a="http://schemas.openxmlformats.org/drawingml/2006/main">
            <a:r>
              <a:t>https://ovd.info/express-news/2021/07/27/roskomnadzor-potreboval-ot-youtube-zablokirovat-kanaly-troikh-soratnikov</a:t>
            </a:r>
          </a:p>
          <a:p xmlns:a="http://schemas.openxmlformats.org/drawingml/2006/main">
            <a:r>
              <a:t>https://www.dw.com/ru/sud-v-moskve-prigovoril-vladimira-milova-k-8-godam-kolonii/a-67415717</a:t>
            </a:r>
          </a:p>
          <a:p xmlns:a="http://schemas.openxmlformats.org/drawingml/2006/main">
            <a:r>
              <a:t>https://ru.wikipedia.org/wiki/%D0%9C%D0%B8%D0%BB%D0%BE%D0%B2,_%D0%92%D0%BB%D0%B0%D0%B4%D0%B8%D0%BC%D0%B8%D1%80_%D0%A1%D1%82%D0%B0%D0%BD%D0%B8%D1%81%D0%BB%D0%B0%D0%B2%D0%BE%D0%B2%D0%B8%D1%87</a:t>
            </a:r>
          </a:p>
          <a:p xmlns:a="http://schemas.openxmlformats.org/drawingml/2006/main">
            <a:r>
              <a:t>https://gordonua.com/news/worldnews/milov-merkel-molodec-poteryala-vsego-7-8-v-polzu-svezhey-antiimmigrantskoy-partii-na-fone-migrantskogo-krizisa-208758.html</a:t>
            </a:r>
          </a:p>
          <a:p xmlns:a="http://schemas.openxmlformats.org/drawingml/2006/main">
            <a:r>
              <a:t>https://echofm.online/programs/hochu-skazat/hochu-skazat-larina-69</a:t>
            </a:r>
          </a:p>
          <a:p xmlns:a="http://schemas.openxmlformats.org/drawingml/2006/main">
            <a:r>
              <a:t>https://www.hoover.org/plus/research/russian-opposition-and-ukraine-conversation-vladimir-milov</a:t>
            </a:r>
          </a:p>
          <a:p xmlns:a="http://schemas.openxmlformats.org/drawingml/2006/main">
            <a:r>
              <a:t>https://www.golosameriki.com/a/washington-dialogue-russian-opposition-conference/7648250.html</a:t>
            </a:r>
          </a:p>
          <a:p xmlns:a="http://schemas.openxmlformats.org/drawingml/2006/main">
            <a:r>
              <a:t>https://glavred.info/chat/1337-vladimir-milov.html</a:t>
            </a:r>
          </a:p>
          <a:p xmlns:a="http://schemas.openxmlformats.org/drawingml/2006/main">
            <a:r>
              <a:t>https://www.interfax.ru/moscow/669378</a:t>
            </a:r>
          </a:p>
          <a:p xmlns:a="http://schemas.openxmlformats.org/drawingml/2006/main">
            <a:r>
              <a:t>https://tass.ru/politika/6670439</a:t>
            </a:r>
          </a:p>
          <a:p xmlns:a="http://schemas.openxmlformats.org/drawingml/2006/main">
            <a:r>
              <a:t>https://www.rbc.ru/politics/16/07/2019/5d2c8b3b9a794799a7c7d413</a:t>
            </a:r>
          </a:p>
          <a:p xmlns:a="http://schemas.openxmlformats.org/drawingml/2006/main">
            <a:r>
              <a:t>https://www.bbc.com/russian/news-56269079</a:t>
            </a:r>
          </a:p>
          <a:p xmlns:a="http://schemas.openxmlformats.org/drawingml/2006/main">
            <a:r>
              <a:t>https://ovd.info/express-news/2020/12/28/s-yurista-fbk-kotoraya-provela-pochti-dvoe-sutok-v-ivs-pytalis-vzyat</a:t>
            </a:r>
          </a:p>
          <a:p xmlns:a="http://schemas.openxmlformats.org/drawingml/2006/main">
            <a:r>
              <a:t>https://ovd.info/express-news/2021/02/26/prokuratura-utverdila-obvinenie-sobol-po-delu-o-proniknovenii-v-kvartiru</a:t>
            </a:r>
          </a:p>
          <a:p xmlns:a="http://schemas.openxmlformats.org/drawingml/2006/main">
            <a:r>
              <a:t>https://ovd.info/express-news/2020/12/29/protiv-alekseya-navalnogo-vozbudili-ugolovnoe-delo-o-moshennichestve-iz-za</a:t>
            </a:r>
          </a:p>
          <a:p xmlns:a="http://schemas.openxmlformats.org/drawingml/2006/main">
            <a:r>
              <a:t>https://www.currenttime.tv/a/sobol/31723600.html</a:t>
            </a:r>
          </a:p>
          <a:p xmlns:a="http://schemas.openxmlformats.org/drawingml/2006/main">
            <a:r>
              <a:t>https://www.currenttime.tv/interview/episodes/2022/2/26</a:t>
            </a:r>
          </a:p>
          <a:p xmlns:a="http://schemas.openxmlformats.org/drawingml/2006/main">
            <a:r>
              <a:t>https://ochevidcy.com/putin-budet-vorovat-do-groba/</a:t>
            </a:r>
          </a:p>
          <a:p xmlns:a="http://schemas.openxmlformats.org/drawingml/2006/main">
            <a:r>
              <a:t>https://www.svoboda.org/a/32881433.html</a:t>
            </a:r>
          </a:p>
          <a:p xmlns:a="http://schemas.openxmlformats.org/drawingml/2006/main">
            <a:r>
              <a:t>https://echofm.online/programs/idyom-po-zvyozdam/idyom-po-zvezdam-s-lyubovyu-sobol</a:t>
            </a:r>
          </a:p>
          <a:p xmlns:a="http://schemas.openxmlformats.org/drawingml/2006/main">
            <a:r>
              <a:t>https://x.com/SobolLubov</a:t>
            </a:r>
          </a:p>
          <a:p xmlns:a="http://schemas.openxmlformats.org/drawingml/2006/main">
            <a:r>
              <a:t>https://stuki-druki.com/authors/sobol-lubov.php</a:t>
            </a:r>
          </a:p>
          <a:p xmlns:a="http://schemas.openxmlformats.org/drawingml/2006/main">
            <a:r>
              <a:t>https://www.interfax.ru/elections2018/593143</a:t>
            </a:r>
          </a:p>
          <a:p xmlns:a="http://schemas.openxmlformats.org/drawingml/2006/main">
            <a:r>
              <a:t>https://elections2018.tass.ru/candidate/sobchak</a:t>
            </a:r>
          </a:p>
          <a:p xmlns:a="http://schemas.openxmlformats.org/drawingml/2006/main">
            <a:r>
              <a:t>https://www.interfax.ru/elections2018/604186</a:t>
            </a:r>
          </a:p>
          <a:p xmlns:a="http://schemas.openxmlformats.org/drawingml/2006/main">
            <a:r>
              <a:t>https://www.interfax.ru/elections2018/604908</a:t>
            </a:r>
          </a:p>
          <a:p xmlns:a="http://schemas.openxmlformats.org/drawingml/2006/main">
            <a:r>
              <a:t>https://www.consultant.ru/law/hotdocs/53066.html</a:t>
            </a:r>
          </a:p>
          <a:p xmlns:a="http://schemas.openxmlformats.org/drawingml/2006/main">
            <a:r>
              <a:t>https://www.rbc.ru/newspaper/2018/03/20/5aae9ca49a794739b02918a0</a:t>
            </a:r>
          </a:p>
          <a:p xmlns:a="http://schemas.openxmlformats.org/drawingml/2006/main">
            <a:r>
              <a:t>https://www.interfax.ru/elections2018/604136</a:t>
            </a:r>
          </a:p>
          <a:p xmlns:a="http://schemas.openxmlformats.org/drawingml/2006/main">
            <a:r>
              <a:t>https://www.interfax.ru/elections2018/604190</a:t>
            </a:r>
          </a:p>
          <a:p xmlns:a="http://schemas.openxmlformats.org/drawingml/2006/main">
            <a:r>
              <a:t>https://www.rbc.ru/economics/25/12/2017/5a4025f19a79472e3f5f4ad9?from=right_column_materials_3</a:t>
            </a:r>
          </a:p>
          <a:p xmlns:a="http://schemas.openxmlformats.org/drawingml/2006/main">
            <a:r>
              <a:t>https://news.ru/show-business/otezd-iz-rf-vybory-svo-v-chem-priznalas-kseniya-sobchak-v-novom-intervyu</a:t>
            </a:r>
          </a:p>
          <a:p xmlns:a="http://schemas.openxmlformats.org/drawingml/2006/main">
            <a:r>
              <a:t>https://rtvi.com/news/sobchak-otvetila-na-vopros-putin-ili-zelenskij/</a:t>
            </a:r>
          </a:p>
          <a:p xmlns:a="http://schemas.openxmlformats.org/drawingml/2006/main">
            <a:r>
              <a:t>https://informator.ua/ru/kompromissy-iz-rf-legitimnost-zelenskogo-i-gotovnost-pozhat-ruku-putinu-o-chem-govoril-arestovich-v-intervyu-sobchak</a:t>
            </a:r>
          </a:p>
          <a:p xmlns:a="http://schemas.openxmlformats.org/drawingml/2006/main">
            <a:r>
              <a:t>https://rassvet-party.info/</a:t>
            </a:r>
          </a:p>
          <a:p xmlns:a="http://schemas.openxmlformats.org/drawingml/2006/main">
            <a:r>
              <a:t>https://en.wikipedia.org/wiki/Yekaterina_Duntsova</a:t>
            </a:r>
          </a:p>
          <a:p xmlns:a="http://schemas.openxmlformats.org/drawingml/2006/main">
            <a:r>
              <a:t>https://www.dw.com/ru/cto-nuzno-znat-o-ekaterine-duncovoj-kotoraa-hocet-stat-prezidentom-rf/a-67832425</a:t>
            </a:r>
          </a:p>
          <a:p xmlns:a="http://schemas.openxmlformats.org/drawingml/2006/main">
            <a:r>
              <a:t>https://baj.media/ru/ya-gotova-idti-do-konca-zhurnalistka-iz-rossiyskoy-provincii-reshila-stat-prezidentom-i-2/</a:t>
            </a:r>
          </a:p>
          <a:p xmlns:a="http://schemas.openxmlformats.org/drawingml/2006/main">
            <a:r>
              <a:t>https://echofm.online/portret-dnya/portret-dnya-ekaterina-dunczova-reshivshaya-vydvinutsya-kandidatom-v-prezidenty-rossii-zhurnalistka-iz-rzheva</a:t>
            </a:r>
          </a:p>
          <a:p xmlns:a="http://schemas.openxmlformats.org/drawingml/2006/main">
            <a:r>
              <a:t>https://novayagazeta.eu/articles/2024/03/15/zlost-i-nenavist-vsem-nadoeli</a:t>
            </a:r>
          </a:p>
          <a:p xmlns:a="http://schemas.openxmlformats.org/drawingml/2006/main">
            <a:r>
              <a:t>https://altapress.ru/politika/story/kto-takaya-ekaterina-duntsova-kotoraya-sobiraetsya-stat-poslednim-prezidentom-rossii-i-kto-eshche-hochet-ballotirovatsya-336526</a:t>
            </a:r>
          </a:p>
          <a:p xmlns:a="http://schemas.openxmlformats.org/drawingml/2006/main">
            <a:r>
              <a:t>https://cherta.media/interview/ekaterina-duncova-kandidat-v-prezidenty/</a:t>
            </a:r>
          </a:p>
          <a:p xmlns:a="http://schemas.openxmlformats.org/drawingml/2006/main">
            <a:r>
              <a:t>https://novayagazeta.eu/articles/2023/12/05/zachem-ia-budu-stoiat-na-barrikadakh-esli-mogu-zanimatsia-realnymi-delami</a:t>
            </a:r>
          </a:p>
          <a:p xmlns:a="http://schemas.openxmlformats.org/drawingml/2006/main">
            <a:r>
              <a:t>https://holod.media/2023/12/20/ekaterina-duntsova-view/</a:t>
            </a:r>
          </a:p>
          <a:p xmlns:a="http://schemas.openxmlformats.org/drawingml/2006/main">
            <a:r>
              <a:t>https://www.dw.com/ru/ekaterina-duncova-o-sozdanii-partii-rassvet-my-mezdu-dvuh-ognej/a-68992724</a:t>
            </a:r>
          </a:p>
          <a:p xmlns:a="http://schemas.openxmlformats.org/drawingml/2006/main">
            <a:r>
              <a:t>https://rassvet-party.info/static/program.pdf</a:t>
            </a:r>
          </a:p>
          <a:p xmlns:a="http://schemas.openxmlformats.org/drawingml/2006/main">
            <a:r>
              <a:t>https://www.currenttime.tv/a/ekaterina-duntsova-o-sozdanii-partii-i-svoem-zaderzhanii/32775510.html</a:t>
            </a:r>
          </a:p>
          <a:p xmlns:a="http://schemas.openxmlformats.org/drawingml/2006/main">
            <a:r>
              <a:t>https://duntsovainitiative.1c-umi.ru/galereya/</a:t>
            </a:r>
          </a:p>
          <a:p xmlns:a="http://schemas.openxmlformats.org/drawingml/2006/main">
            <a:r>
              <a:t>https://rassvet-party.info/static/manifest.pdf</a:t>
            </a:r>
          </a:p>
          <a:p xmlns:a="http://schemas.openxmlformats.org/drawingml/2006/main">
            <a:r>
              <a:t>https://www.rbc.ru/person/65afb4a99a79470e434da73d</a:t>
            </a:r>
          </a:p>
          <a:p xmlns:a="http://schemas.openxmlformats.org/drawingml/2006/main">
            <a:r>
              <a:t>https://www.bbc.com/russian/articles/c84npr0wxx9o</a:t>
            </a:r>
          </a:p>
          <a:p xmlns:a="http://schemas.openxmlformats.org/drawingml/2006/main">
            <a:r>
              <a:t>https://www.rbc.ru/politics/08/02/2024/65c3749b9a79479ef5fe7934</a:t>
            </a:r>
          </a:p>
          <a:p xmlns:a="http://schemas.openxmlformats.org/drawingml/2006/main">
            <a:r>
              <a:t>https://www.business-gazeta.ru/article/622600</a:t>
            </a:r>
          </a:p>
          <a:p xmlns:a="http://schemas.openxmlformats.org/drawingml/2006/main">
            <a:r>
              <a:t>https://semnasem.org/articles/2024/02/02/poslednij-sredi-antivoennyh-kto-takoj-boris-nadezhdin-kotoryj-vse-eshe-nadeetsya-stat-prezidentom</a:t>
            </a:r>
          </a:p>
          <a:p xmlns:a="http://schemas.openxmlformats.org/drawingml/2006/main">
            <a:r>
              <a:t>https://novayagazeta.eu/articles/2024/02/03/17-marta-nachalo-kontsa-epokhi-putina</a:t>
            </a:r>
          </a:p>
          <a:p xmlns:a="http://schemas.openxmlformats.org/drawingml/2006/main">
            <a:r>
              <a:t>https://www.youtube.com/watch?v=mGMdgxBCdns</a:t>
            </a:r>
          </a:p>
          <a:p xmlns:a="http://schemas.openxmlformats.org/drawingml/2006/main">
            <a:r>
              <a:t>https://www.dw.com/ru/boris-nadezdin-moj-rejting-rastet-na-5-v-nedelu/a-68154251</a:t>
            </a:r>
          </a:p>
          <a:p xmlns:a="http://schemas.openxmlformats.org/drawingml/2006/main">
            <a:r>
              <a:t>https://ovd.info/express-news/2026/07/17/u-menya-dva-puti-lenina-ili-navalnogo-chto-nuzhno-znat-o-borise-nadezhdine</a:t>
            </a:r>
          </a:p>
          <a:p xmlns:a="http://schemas.openxmlformats.org/drawingml/2006/main">
            <a:r>
              <a:t>https://www.rbc.ru/person/65afb4a99a79470e434da73d?ysclid=mrt22n99to603501119</a:t>
            </a:r>
          </a:p>
          <a:p xmlns:a="http://schemas.openxmlformats.org/drawingml/2006/main">
            <a:r>
              <a:t>https://www.youtube.com/watch?v=UNytg_H_1pY</a:t>
            </a:r>
          </a:p>
          <a:p xmlns:a="http://schemas.openxmlformats.org/drawingml/2006/main">
            <a:r>
              <a:t>https://www.youtube.com/watch?v=DwTC5bilf_8</a:t>
            </a:r>
          </a:p>
          <a:p xmlns:a="http://schemas.openxmlformats.org/drawingml/2006/main">
            <a:r>
              <a:t>https://www.youtube.com/watch?v=sG4_THnT9W0</a:t>
            </a:r>
          </a:p>
          <a:p xmlns:a="http://schemas.openxmlformats.org/drawingml/2006/main">
            <a:r>
              <a:t>https://www.rbc.ru/rbcfreenews/6586cdf49a79479c3cd3d4b3</a:t>
            </a:r>
          </a:p>
          <a:p xmlns:a="http://schemas.openxmlformats.org/drawingml/2006/main">
            <a:r>
              <a:t>https://kprf.ru/activity/elections/223485.html/print</a:t>
            </a:r>
          </a:p>
          <a:p xmlns:a="http://schemas.openxmlformats.org/drawingml/2006/main">
            <a:r>
              <a:t>http://msk.kprf.ru/2024/01/24/247473/</a:t>
            </a:r>
          </a:p>
          <a:p xmlns:a="http://schemas.openxmlformats.org/drawingml/2006/main">
            <a:r>
              <a:t>https://www.dw.com/ru/vybory-prezidenta-rossii-2024/a-68528003</a:t>
            </a:r>
          </a:p>
          <a:p xmlns:a="http://schemas.openxmlformats.org/drawingml/2006/main">
            <a:r>
              <a:t>https://ru.wikipedia.org/wiki/%D0%A5%D0%B0%D1%80%D0%B8%D1%82%D0%BE%D0%BD%D0%BE%D0%B2,_%D0%9D%D0%B8%D0%BA%D0%BE%D0%BB%D0%B0%D0%B9_%D0%9C%D0%B8%D1%85%D0%B0%D0%B9%D0%BB%D0%BE%D0%B2%D0%B8%D1%87</a:t>
            </a:r>
          </a:p>
          <a:p xmlns:a="http://schemas.openxmlformats.org/drawingml/2006/main">
            <a:r>
              <a:t>https://kprf.ru/party-live/cknews/225170.html</a:t>
            </a:r>
          </a:p>
          <a:p xmlns:a="http://schemas.openxmlformats.org/drawingml/2006/main">
            <a:r>
              <a:t>https://kprf.ru/dep/gosduma/activities/232802.html</a:t>
            </a:r>
          </a:p>
          <a:p xmlns:a="http://schemas.openxmlformats.org/drawingml/2006/main">
            <a:r>
              <a:t>https://kprf35.com/2024/02/17/32710/</a:t>
            </a:r>
          </a:p>
          <a:p xmlns:a="http://schemas.openxmlformats.org/drawingml/2006/main">
            <a:r>
              <a:t>https://www.pkokprf.ru/news/view/35448</a:t>
            </a:r>
          </a:p>
          <a:p xmlns:a="http://schemas.openxmlformats.org/drawingml/2006/main">
            <a:r>
              <a:t>https://altkprf.ru/upload/iblock/eea/jiv0wm7hzk6gq4qdxw0r5wvp7zwb6luk.pdf</a:t>
            </a:r>
          </a:p>
          <a:p xmlns:a="http://schemas.openxmlformats.org/drawingml/2006/main">
            <a:r>
              <a:t>https://kprf.ru/activity/army/224789.html</a:t>
            </a:r>
          </a:p>
          <a:p xmlns:a="http://schemas.openxmlformats.org/drawingml/2006/main">
            <a:r>
              <a:t>https://gazeta-pravda.ru/issue/24-31517-711-marta-2024-goda-/alternativa-polupravde/</a:t>
            </a:r>
          </a:p>
          <a:p xmlns:a="http://schemas.openxmlformats.org/drawingml/2006/main">
            <a:r>
              <a:t>https://spbpalata.ru/?p=13755</a:t>
            </a:r>
          </a:p>
          <a:p xmlns:a="http://schemas.openxmlformats.org/drawingml/2006/main">
            <a:r>
              <a:t>https://kprf.ru/activity/elections/171941.html</a:t>
            </a:r>
          </a:p>
          <a:p xmlns:a="http://schemas.openxmlformats.org/drawingml/2006/main">
            <a:r>
              <a:t>https://kprf.ru/party-live/cknews/171994.html</a:t>
            </a:r>
          </a:p>
          <a:p xmlns:a="http://schemas.openxmlformats.org/drawingml/2006/main">
            <a:r>
              <a:t>https://elections2018.tass.ru/candidate/grudinin</a:t>
            </a:r>
          </a:p>
          <a:p xmlns:a="http://schemas.openxmlformats.org/drawingml/2006/main">
            <a:r>
              <a:t>https://www.bbc.com/russian/features-43105617</a:t>
            </a:r>
          </a:p>
          <a:p xmlns:a="http://schemas.openxmlformats.org/drawingml/2006/main">
            <a:r>
              <a:t>https://www.rbc.ru/politics/24/07/2021/60fbe35b9a794716f25253a0</a:t>
            </a:r>
          </a:p>
          <a:p xmlns:a="http://schemas.openxmlformats.org/drawingml/2006/main">
            <a:r>
              <a:t>https://kprf.ru/dep/reg/204410.html</a:t>
            </a:r>
          </a:p>
          <a:p xmlns:a="http://schemas.openxmlformats.org/drawingml/2006/main">
            <a:r>
              <a:t>https://msk.kprf.ru/2021/09/16/168273/</a:t>
            </a:r>
          </a:p>
          <a:p xmlns:a="http://schemas.openxmlformats.org/drawingml/2006/main">
            <a:r>
              <a:t>https://svpressa.ru/persons/pavel-grudinin/</a:t>
            </a:r>
          </a:p>
          <a:p xmlns:a="http://schemas.openxmlformats.org/drawingml/2006/main">
            <a:r>
              <a:t>https://carnegieendowment.org/ru/russia-eurasia/posts/2018/02/kuda-privedut-ekonomiku-rossii-20-shagov-grudinina</a:t>
            </a:r>
          </a:p>
          <a:p xmlns:a="http://schemas.openxmlformats.org/drawingml/2006/main">
            <a:r>
              <a:t>https://www.kompas-rf.ru/2018/01/2980/</a:t>
            </a:r>
          </a:p>
          <a:p xmlns:a="http://schemas.openxmlformats.org/drawingml/2006/main">
            <a:r>
              <a:t>https://www.svoboda.org/a/30073365.html</a:t>
            </a:r>
          </a:p>
          <a:p xmlns:a="http://schemas.openxmlformats.org/drawingml/2006/main">
            <a:r>
              <a:t>https://kandidativprezidenti.ru/programma-grudinina-2018/</a:t>
            </a:r>
          </a:p>
          <a:p xmlns:a="http://schemas.openxmlformats.org/drawingml/2006/main">
            <a:r>
              <a:t>https://mbk-news.appspot.com/suzhet/za-lenina-i-protiv-ege/</a:t>
            </a:r>
          </a:p>
          <a:p xmlns:a="http://schemas.openxmlformats.org/drawingml/2006/main">
            <a:r>
              <a:t>https://www.amnesty.org/ru/latest/research/2021/06/zayavlenie-rossijskaya-federacziya-obvinitelnyj-prigovor-nikolayu-platoshkinu-dolzhen-byt-otmenyon/</a:t>
            </a:r>
          </a:p>
          <a:p xmlns:a="http://schemas.openxmlformats.org/drawingml/2006/main">
            <a:r>
              <a:t>https://zona.media/article/2021/05/20/nikolay-nikolaevitch</a:t>
            </a:r>
          </a:p>
          <a:p xmlns:a="http://schemas.openxmlformats.org/drawingml/2006/main">
            <a:r>
              <a:t>https://novayagazeta.ru/articles/2020/06/05/85705-sotsialisticheskiy-prizyv</a:t>
            </a:r>
          </a:p>
          <a:p xmlns:a="http://schemas.openxmlformats.org/drawingml/2006/main">
            <a:r>
              <a:t>https://www.revda-info.ru/2020/08/26/v-revde-poyavilos-otdelenie-dvizheniya-za-novyj-sotsializm-ego-lider-sejchas-pod-arestom</a:t>
            </a:r>
          </a:p>
          <a:p xmlns:a="http://schemas.openxmlformats.org/drawingml/2006/main">
            <a:r>
              <a:t>https://new-socialism.org/o-dvizhenii/programma/</a:t>
            </a:r>
          </a:p>
          <a:p xmlns:a="http://schemas.openxmlformats.org/drawingml/2006/main">
            <a:r>
              <a:t>https://new-socialism.org/o-dvizhenii/lider/</a:t>
            </a:r>
          </a:p>
          <a:p xmlns:a="http://schemas.openxmlformats.org/drawingml/2006/main">
            <a:r>
              <a:t>https://www.themoscowtimes.com/2024/01/19/ilya-ponomaryov-we-have-to-capture-the-kremlin-there-is-no-other-way-a83772</a:t>
            </a:r>
          </a:p>
          <a:p xmlns:a="http://schemas.openxmlformats.org/drawingml/2006/main">
            <a:r>
              <a:t>https://www.dw.com/ru/cto-izvestno-o-rossijskih-podrazdeleniah-v-sostave-vsu/a-63915634</a:t>
            </a:r>
          </a:p>
          <a:p xmlns:a="http://schemas.openxmlformats.org/drawingml/2006/main">
            <a:r>
              <a:t>https://www.svoboda.org/a/32321226.html</a:t>
            </a:r>
          </a:p>
          <a:p xmlns:a="http://schemas.openxmlformats.org/drawingml/2006/main">
            <a:r>
              <a:t>https://hromadske.ua/ru/posts/nasha-cel-moskva-my-dolzhny-sbrosit-putina-rossijskie-partizany-mif-ili-pravda</a:t>
            </a:r>
          </a:p>
          <a:p xmlns:a="http://schemas.openxmlformats.org/drawingml/2006/main">
            <a:r>
              <a:t>https://epravda.com.ua/rus/publications/2018/06/11/637572/</a:t>
            </a:r>
          </a:p>
          <a:p xmlns:a="http://schemas.openxmlformats.org/drawingml/2006/main">
            <a:r>
              <a:t>https://pointmedia.io/story/672b355fdc48800406e0f515</a:t>
            </a:r>
          </a:p>
          <a:p xmlns:a="http://schemas.openxmlformats.org/drawingml/2006/main">
            <a:r>
              <a:t>https://ru.wikipedia.org/wiki/%D0%9B%D0%B5%D0%B3%D0%B8%D0%BE%D0%BD_%C2%AB%D0%A1%D0%B2%D0%BE%D0%B1%D0%BE%D0%B4%D0%B0_%D0%A0%D0%BE%D1%81%D1%81%D0%B8%D0%B8%C2%BB</a:t>
            </a:r>
          </a:p>
          <a:p xmlns:a="http://schemas.openxmlformats.org/drawingml/2006/main">
            <a:r>
              <a:t>https://ru.wikipedia.org/wiki/%D0%9F%D0%BE%D0%BD%D0%BE%D0%BC%D0%B0%D1%80%D1%91%D0%B2,_%D0%98%D0%BB%D1%8C%D1%8F_%D0%92%D0%BB%D0%B0%D0%B4%D0%B8%D0%BC%D0%B8%D1%80%D0%BE%D0%B2%D0%B8%D1%87</a:t>
            </a:r>
          </a:p>
          <a:p xmlns:a="http://schemas.openxmlformats.org/drawingml/2006/main">
            <a:r>
              <a:t>https://russophob.ru/person/ponomarev_ilya_vladimirovich</a:t>
            </a:r>
          </a:p>
          <a:p xmlns:a="http://schemas.openxmlformats.org/drawingml/2006/main">
            <a:r>
              <a:t>https://www.svoboda.org/a/32063164.html</a:t>
            </a:r>
          </a:p>
          <a:p xmlns:a="http://schemas.openxmlformats.org/drawingml/2006/main">
            <a:r>
              <a:t>https://www.kpbs.org/news/news/international/2023/03/26/a-scrappy-newscast-in-kyiv-aimed-at-russians-counters-putins-propaganda-machine</a:t>
            </a:r>
          </a:p>
          <a:p xmlns:a="http://schemas.openxmlformats.org/drawingml/2006/main">
            <a:r>
              <a:t>https://ovd.info/express-news/2022/10/02/politik-leonid-gozman-uekhal-iz-rossii-posle-dvukh-administrativnykh</a:t>
            </a:r>
          </a:p>
          <a:p xmlns:a="http://schemas.openxmlformats.org/drawingml/2006/main">
            <a:r>
              <a:t>https://ovd.info/express-news/2022/08/30/politika-leonida-gozmana-arestovali-na-15-sutok-iz-za-posta-v-feysbuke</a:t>
            </a:r>
          </a:p>
          <a:p xmlns:a="http://schemas.openxmlformats.org/drawingml/2006/main">
            <a:r>
              <a:t>https://www.rbc.ru/politics/15/07/2022/62d1b3f39a7947299cdeb6a4</a:t>
            </a:r>
          </a:p>
          <a:p xmlns:a="http://schemas.openxmlformats.org/drawingml/2006/main">
            <a:r>
              <a:t>https://novayagazeta.eu/articles/2022/07/15/sk-doprosil-politika-leonida-gozmana-kak-podozrevaemogo-po-delu-o-neuvedomlenii-o-vtorom-grazhdanstve-news</a:t>
            </a:r>
          </a:p>
          <a:p xmlns:a="http://schemas.openxmlformats.org/drawingml/2006/main">
            <a:r>
              <a:t>https://www.rbc.ru/politics/15/02/2024/65cdc9e09a7947a2995026fa</a:t>
            </a:r>
          </a:p>
          <a:p xmlns:a="http://schemas.openxmlformats.org/drawingml/2006/main">
            <a:r>
              <a:t>https://ovd.info/express-news/2025/01/22/leonida-gozmana-i-rovshana-askerova-vnesli-v-reestr-terroristov-i</a:t>
            </a:r>
          </a:p>
          <a:p xmlns:a="http://schemas.openxmlformats.org/drawingml/2006/main">
            <a:r>
              <a:t>https://www.rbc.ru/opinion-authors/gozman</a:t>
            </a:r>
          </a:p>
          <a:p xmlns:a="http://schemas.openxmlformats.org/drawingml/2006/main">
            <a:r>
              <a:t>https://novayagazeta.eu/articles/2022/07/25/ovd-info-v-moskve-zaderzhali-politika-leonida-gozmana-news</a:t>
            </a:r>
          </a:p>
          <a:p xmlns:a="http://schemas.openxmlformats.org/drawingml/2006/main">
            <a:r>
              <a:t>https://gefter.ru/archive/23487</a:t>
            </a:r>
          </a:p>
          <a:p xmlns:a="http://schemas.openxmlformats.org/drawingml/2006/main">
            <a:r>
              <a:t>https://www.svoboda.org/a/31147156.html</a:t>
            </a:r>
          </a:p>
          <a:p xmlns:a="http://schemas.openxmlformats.org/drawingml/2006/main">
            <a:r>
              <a:t>https://uatv.ua/gozman-putin-zagnal-rossiyu-v-ugol-sleduyushhij-shag-repressii/</a:t>
            </a:r>
          </a:p>
          <a:p xmlns:a="http://schemas.openxmlformats.org/drawingml/2006/main">
            <a:r>
              <a:t>https://echofm.online/programs/hochu-skazat/hochu-skazat-odin-protiv-vseh-kak-ne-dat-strahu-pobedit-sebya</a:t>
            </a:r>
          </a:p>
          <a:p xmlns:a="http://schemas.openxmlformats.org/drawingml/2006/main">
            <a:r>
              <a:t>https://www.svoboda.org/a/leonid-gozman-russkih-lyudey-neljzya-mazatj-odnoy-chernoy-kraskoy-/32732625.html</a:t>
            </a:r>
          </a:p>
          <a:p xmlns:a="http://schemas.openxmlformats.org/drawingml/2006/main">
            <a:r>
              <a:t>https://novayagazeta.eu/articles/2022/07/18/prepiatstvovat-prosveshcheniiu-liudei-vlast-budet-pulemiotami</a:t>
            </a:r>
          </a:p>
          <a:p xmlns:a="http://schemas.openxmlformats.org/drawingml/2006/main">
            <a:r>
              <a:t>https://www.svoboda.org/a/29652429.html</a:t>
            </a:r>
          </a:p>
          <a:p xmlns:a="http://schemas.openxmlformats.org/drawingml/2006/main">
            <a:r>
              <a:t>https://novayagazeta.eu/articles/2022/04/26/nesobliudenie-rezhima</a:t>
            </a:r>
          </a:p>
          <a:p xmlns:a="http://schemas.openxmlformats.org/drawingml/2006/main">
            <a:r>
              <a:t>https://novayagazeta.eu/articles/2022/07/21/zapiski-ugolovnika</a:t>
            </a:r>
          </a:p>
          <a:p xmlns:a="http://schemas.openxmlformats.org/drawingml/2006/main">
            <a:r>
              <a:t>https://novayagazeta.ru/authors/2349</a:t>
            </a:r>
          </a:p>
          <a:p xmlns:a="http://schemas.openxmlformats.org/drawingml/2006/main">
            <a:r>
              <a:t>https://www.rbc.ru/politics/10/08/2017/598c8d6d9a79474cff05cbab</a:t>
            </a:r>
          </a:p>
          <a:p xmlns:a="http://schemas.openxmlformats.org/drawingml/2006/main">
            <a:r>
              <a:t>https://www.bbc.com/russian/news-40853405</a:t>
            </a:r>
          </a:p>
          <a:p xmlns:a="http://schemas.openxmlformats.org/drawingml/2006/main">
            <a:r>
              <a:t>https://www.rbc.ru/politics/10/08/2017/598c0a8e9a7947569574ba10?from=right_column_materials_1</a:t>
            </a:r>
          </a:p>
          <a:p xmlns:a="http://schemas.openxmlformats.org/drawingml/2006/main">
            <a:r>
              <a:t>https://www.vedomosti.ru/politics/articles/2017/08/10/728820-udaltsov</a:t>
            </a:r>
          </a:p>
          <a:p xmlns:a="http://schemas.openxmlformats.org/drawingml/2006/main">
            <a:r>
              <a:t>https://www.interfax.ru/elections2018/598382</a:t>
            </a:r>
          </a:p>
          <a:p xmlns:a="http://schemas.openxmlformats.org/drawingml/2006/main">
            <a:r>
              <a:t>https://sotaproject.com/article/sergeia-udaltsova-opiat-pytaiutsia-posadit-khotia-on-vsego-lish-prosit-putina-postroit-sotsializm</a:t>
            </a:r>
          </a:p>
          <a:p xmlns:a="http://schemas.openxmlformats.org/drawingml/2006/main">
            <a:r>
              <a:t>https://www.gazeta.ru/tags/person/sergei_udaltsov.shtml</a:t>
            </a:r>
          </a:p>
          <a:p xmlns:a="http://schemas.openxmlformats.org/drawingml/2006/main">
            <a:r>
              <a:t>https://www.kommersant.ru/doc/8317316</a:t>
            </a:r>
          </a:p>
          <a:p xmlns:a="http://schemas.openxmlformats.org/drawingml/2006/main">
            <a:r>
              <a:t>https://www.kommersant.ru/doc/8972418</a:t>
            </a:r>
          </a:p>
          <a:p xmlns:a="http://schemas.openxmlformats.org/drawingml/2006/main">
            <a:r>
              <a:t>https://holod.media/2023/09/12/udaltsov-interview/</a:t>
            </a:r>
          </a:p>
          <a:p xmlns:a="http://schemas.openxmlformats.org/drawingml/2006/main">
            <a:r>
              <a:t>https://meduza.io/feature/2024/01/11/sergey-udaltsov-zaderzhan-po-obvineniyu-v-opravdanii-terrorizma</a:t>
            </a:r>
          </a:p>
          <a:p xmlns:a="http://schemas.openxmlformats.org/drawingml/2006/main">
            <a:r>
              <a:t>https://ref-book.sova-center.ru/index.php/%D0%94%D1%80%D1%83%D0%B3%D0%B0%D1%8F_%D0%A0%D0%BE%D1%81%D1%81%D0%B8%D1%8F,_%D0%BF%D0%B0%D1%80%D1%82%D0%B8%D1%8F</a:t>
            </a:r>
          </a:p>
          <a:p xmlns:a="http://schemas.openxmlformats.org/drawingml/2006/main">
            <a:r>
              <a:t>https://www.rbc.ru/society/17/03/2020/5e71048d9a79473925ab81a7</a:t>
            </a:r>
          </a:p>
          <a:p xmlns:a="http://schemas.openxmlformats.org/drawingml/2006/main">
            <a:r>
              <a:t>https://rt.rbc.ru/society/18/03/2020/5e71acc49a794773553f824e</a:t>
            </a:r>
          </a:p>
          <a:p xmlns:a="http://schemas.openxmlformats.org/drawingml/2006/main">
            <a:r>
              <a:t>https://www.bostonglobe.com/metro/obituaries/2020/03/18/russian-author-political-activist-eduard-limonov-dies/jnjHywBRjVTTgnlsqI12vN/story.html</a:t>
            </a:r>
          </a:p>
          <a:p xmlns:a="http://schemas.openxmlformats.org/drawingml/2006/main">
            <a:r>
              <a:t>https://nsn.fm/society/poslednee-intervu-pisatelya-i-politika-eduarda-limonova</a:t>
            </a:r>
          </a:p>
          <a:p xmlns:a="http://schemas.openxmlformats.org/drawingml/2006/main">
            <a:r>
              <a:t>http://www.grso.ru/person/limonov-eduard.html</a:t>
            </a:r>
          </a:p>
          <a:p xmlns:a="http://schemas.openxmlformats.org/drawingml/2006/main">
            <a:r>
              <a:t>https://ru.wikipedia.org/wiki/%D0%94%D1%80%D1%83%D0%B3%D0%B0%D1%8F_%D0%A0%D0%BE%D1%81%D1%81%D0%B8%D1%8F_%D0%AD._%D0%92._%D0%9B%D0%B8%D0%BC%D0%BE%D0%BD%D0%BE%D0%B2%D0%B0</a:t>
            </a:r>
          </a:p>
          <a:p xmlns:a="http://schemas.openxmlformats.org/drawingml/2006/main">
            <a:r>
              <a:t>https://novayagazeta.ru/articles/2017/03/12/71752-puteshestvie-natsbolov-k-putinu-i-obratno</a:t>
            </a:r>
          </a:p>
          <a:p xmlns:a="http://schemas.openxmlformats.org/drawingml/2006/main">
            <a:r>
              <a:t>https://mediabrest.by/news/lyudi/umer-eduard-limonov-chem-zapomnilsya-pisatel</a:t>
            </a:r>
          </a:p>
          <a:p xmlns:a="http://schemas.openxmlformats.org/drawingml/2006/main">
            <a:r>
              <a:t>https://www.limonow.de/read/EL_2013-2018_T.html</a:t>
            </a:r>
          </a:p>
          <a:p xmlns:a="http://schemas.openxmlformats.org/drawingml/2006/main">
            <a:r>
              <a:t>https://www.infpol.ru/203662-ot-ubezhdennogo-antisovetchika-do-kolumnista-rt/</a:t>
            </a:r>
          </a:p>
          <a:p xmlns:a="http://schemas.openxmlformats.org/drawingml/2006/main">
            <a:r>
              <a:t>https://www.bbc.com/russian/articles/c2eg90d7gg9o</a:t>
            </a:r>
          </a:p>
          <a:p xmlns:a="http://schemas.openxmlformats.org/drawingml/2006/main">
            <a:r>
              <a:t>https://www.dw.com/ru/mosgorsud-prigovoril-igora-girkina-strelkova-k-4-godam-kolonii/a-68080937</a:t>
            </a:r>
          </a:p>
          <a:p xmlns:a="http://schemas.openxmlformats.org/drawingml/2006/main">
            <a:r>
              <a:t>https://www.fontanka.ru/2023/07/21/72520253</a:t>
            </a:r>
          </a:p>
          <a:p xmlns:a="http://schemas.openxmlformats.org/drawingml/2006/main">
            <a:r>
              <a:t>https://www.svoboda.org/a/strelkov-iz-sizo-opasayusj-amnistii-kak-u-prigozhina-/32722083.html</a:t>
            </a:r>
          </a:p>
          <a:p xmlns:a="http://schemas.openxmlformats.org/drawingml/2006/main">
            <a:r>
              <a:t>https://ru.themoscowtimes.com/2023/12/07/girkin-zayavil-chto-opasaetsya-povtorit-sudbu-prigozhina-a115592</a:t>
            </a:r>
          </a:p>
          <a:p xmlns:a="http://schemas.openxmlformats.org/drawingml/2006/main">
            <a:r>
              <a:t>https://ru.krymr.com/a/boing-mn17-10-let-podozrevayemyye-obvinyayemyye-vinovnyye/33040170.html</a:t>
            </a:r>
          </a:p>
          <a:p xmlns:a="http://schemas.openxmlformats.org/drawingml/2006/main">
            <a:r>
              <a:t>https://charter97.org/ru/news/2023/7/22/556802/</a:t>
            </a:r>
          </a:p>
          <a:p xmlns:a="http://schemas.openxmlformats.org/drawingml/2006/main">
            <a:r>
              <a:t>https://t.me/s/pgubarev?after=622</a:t>
            </a:r>
          </a:p>
          <a:p xmlns:a="http://schemas.openxmlformats.org/drawingml/2006/main">
            <a:r>
              <a:t>https://rabkor.ru/columns/debates/2023/05/23/angry_patriots_of_an_imaginary_country/</a:t>
            </a:r>
          </a:p>
          <a:p xmlns:a="http://schemas.openxmlformats.org/drawingml/2006/main">
            <a:r>
              <a:t>https://www.bbc.com/news/world-60947877</a:t>
            </a:r>
          </a:p>
          <a:p xmlns:a="http://schemas.openxmlformats.org/drawingml/2006/main">
            <a:r>
              <a:t>https://www.reuters.com/world/europe/russian-mercenary-boss-courts-putin-with-ukrainian-battlefield-success-2023-01-13/</a:t>
            </a:r>
          </a:p>
          <a:p xmlns:a="http://schemas.openxmlformats.org/drawingml/2006/main">
            <a:r>
              <a:t>https://www.reuters.com/world/europe/russias-wagner-mercenaries-halt-prisoner-recruitment-campaign-founder-prigozhin-2023-02-09/</a:t>
            </a:r>
          </a:p>
          <a:p xmlns:a="http://schemas.openxmlformats.org/drawingml/2006/main">
            <a:r>
              <a:t>https://www.reuters.com/investigates/special-report/ukraine-crisis-russia-wagner/</a:t>
            </a:r>
          </a:p>
          <a:p xmlns:a="http://schemas.openxmlformats.org/drawingml/2006/main">
            <a:r>
              <a:t>https://www.reuters.com/world/europe/russias-wagner-chief-prigozhin-says-ukraine-counteroffensive-already-under-way-2023-05-03/</a:t>
            </a:r>
          </a:p>
          <a:p xmlns:a="http://schemas.openxmlformats.org/drawingml/2006/main">
            <a:r>
              <a:t>https://www.bbc.com/russian/media-66023357</a:t>
            </a:r>
          </a:p>
          <a:p xmlns:a="http://schemas.openxmlformats.org/drawingml/2006/main">
            <a:r>
              <a:t>https://www.reuters.com/world/europe/russias-prigozhin-his-own-words-mutiny-2023-06-26/</a:t>
            </a:r>
          </a:p>
          <a:p xmlns:a="http://schemas.openxmlformats.org/drawingml/2006/main">
            <a:r>
              <a:t>https://x.com/Reuters/status/1632709213641113601</a:t>
            </a:r>
          </a:p>
          <a:p xmlns:a="http://schemas.openxmlformats.org/drawingml/2006/main">
            <a:r>
              <a:t>https://www.reuters.com/world/europe/russian-mercenary-boss-says-moscows-war-ukraine-based-lies-2023-06-23/</a:t>
            </a:r>
          </a:p>
          <a:p xmlns:a="http://schemas.openxmlformats.org/drawingml/2006/main">
            <a:r>
              <a:t>https://www.rbc.ru/spb_sz/02/10/2026/6abfb91afd4c7ff957d9cbe8</a:t>
            </a:r>
          </a:p>
          <a:p xmlns:a="http://schemas.openxmlformats.org/drawingml/2006/main">
            <a:r>
              <a:t>https://www.zaks.ru/new/person/view/639</a:t>
            </a:r>
          </a:p>
          <a:p xmlns:a="http://schemas.openxmlformats.org/drawingml/2006/main">
            <a:r>
              <a:t>https://www.zaks.ru/new/archive/view/219520</a:t>
            </a:r>
          </a:p>
          <a:p xmlns:a="http://schemas.openxmlformats.org/drawingml/2006/main">
            <a:r>
              <a:t>https://tvspb.ru/news/2016/09/27/novyij-sostav-parlamenta-kto-zajmet-kresla-v-zakonodatelnom-sobranii-vi-sozyiva</a:t>
            </a:r>
          </a:p>
          <a:p xmlns:a="http://schemas.openxmlformats.org/drawingml/2006/main">
            <a:r>
              <a:t>https://tass.ru/politika/20994233</a:t>
            </a:r>
          </a:p>
          <a:p xmlns:a="http://schemas.openxmlformats.org/drawingml/2006/main">
            <a:r>
              <a:t>https://www.zaks.ru/new/archive/view/265712</a:t>
            </a:r>
          </a:p>
          <a:p xmlns:a="http://schemas.openxmlformats.org/drawingml/2006/main">
            <a:r>
              <a:t>https://www.zaks.ru/new/archive/view/269374</a:t>
            </a:r>
          </a:p>
          <a:p xmlns:a="http://schemas.openxmlformats.org/drawingml/2006/main">
            <a:r>
              <a:t>https://www.dp.ru/a/2026/10/02/oksana-dmitrieva-proigrala</a:t>
            </a:r>
          </a:p>
          <a:p xmlns:a="http://schemas.openxmlformats.org/drawingml/2006/main">
            <a:r>
              <a:t>https://ru.wikipedia.org/wiki/%D0%9F%D0%B0%D1%80%D1%82%D0%B8%D1%8F_%D1%80%D0%BE%D1%81%D1%82%D0%B0</a:t>
            </a:r>
          </a:p>
          <a:p xmlns:a="http://schemas.openxmlformats.org/drawingml/2006/main">
            <a:r>
              <a:t>https://dmitrieva.org/category/gosduma/zakonoproekty/</a:t>
            </a:r>
          </a:p>
          <a:p xmlns:a="http://schemas.openxmlformats.org/drawingml/2006/main">
            <a:r>
              <a:t>https://t.me/s/oxdmitrieva?before=1072</a:t>
            </a:r>
          </a:p>
          <a:p xmlns:a="http://schemas.openxmlformats.org/drawingml/2006/main">
            <a:r>
              <a:t>http://api.duma.gov.ru/api/transcriptFull/2023-09-28</a:t>
            </a:r>
          </a:p>
          <a:p xmlns:a="http://schemas.openxmlformats.org/drawingml/2006/main">
            <a:r>
              <a:t>https://www.fontanka.ru/2026/09/04/76623983/</a:t>
            </a:r>
          </a:p>
          <a:p xmlns:a="http://schemas.openxmlformats.org/drawingml/2006/main">
            <a:r>
              <a:t>https://www.vedomosti.ru/politics/articles/2026/03/10/1181644-deputat-semi-sozivov-oksana-dmitrieva-snova-poidet-v-gosdumu</a:t>
            </a:r>
          </a:p>
          <a:p xmlns:a="http://schemas.openxmlformats.org/drawingml/2006/main">
            <a:r>
              <a:t>https://www.kommersant.ru/doc/8497588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"id": "F1",</a:t>
            </a:r>
          </a:p>
          <a:p xmlns:a="http://schemas.openxmlformats.org/drawingml/2006/main">
            <a:r>
              <a:t>  "name": "Антивоенная критика и электоральная легитимность ↔ Антизападная мобилизация и суверенитет",</a:t>
            </a:r>
          </a:p>
          <a:p xmlns:a="http://schemas.openxmlformats.org/drawingml/2006/main">
            <a:r>
              <a:t>  "label": "Антивоенная критика и электоральная легитимность ↔ Антизападная мобилизация и суверенитет",</a:t>
            </a:r>
          </a:p>
          <a:p xmlns:a="http://schemas.openxmlformats.org/drawingml/2006/main">
            <a:r>
              <a:t>  "positive_traits":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"antiwar-rhetoric",</a:t>
            </a:r>
          </a:p>
          <a:p xmlns:a="http://schemas.openxmlformats.org/drawingml/2006/main">
            <a:r>
              <a:t>      "name": "Прекращение военных действий — их продолжение",</a:t>
            </a:r>
          </a:p>
          <a:p xmlns:a="http://schemas.openxmlformats.org/drawingml/2006/main">
            <a:r>
              <a:t>      "positive": "Публичные призывы прекратить военные действия и перейти к миру",</a:t>
            </a:r>
          </a:p>
          <a:p xmlns:a="http://schemas.openxmlformats.org/drawingml/2006/main">
            <a:r>
              <a:t>      "negative": "Публичная поддержка продолжения военных действий ради заявленных целей",</a:t>
            </a:r>
          </a:p>
          <a:p xmlns:a="http://schemas.openxmlformats.org/drawingml/2006/main">
            <a:r>
              <a:t>      "loading": 0.8881921748661171,</a:t>
            </a:r>
          </a:p>
          <a:p xmlns:a="http://schemas.openxmlformats.org/drawingml/2006/main">
            <a:r>
              <a:t>      "high_factor_property": "Публичные призывы прекратить военные действия и перейти к миру",</a:t>
            </a:r>
          </a:p>
          <a:p xmlns:a="http://schemas.openxmlformats.org/drawingml/2006/main">
            <a:r>
              <a:t>      "low_factor_property": "Публичная поддержка продолжения военных действий ради заявленных целей"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"oppositionality",</a:t>
            </a:r>
          </a:p>
          <a:p xmlns:a="http://schemas.openxmlformats.org/drawingml/2006/main">
            <a:r>
              <a:t>      "name": "Критика действующей власти — поддержка её курса",</a:t>
            </a:r>
          </a:p>
          <a:p xmlns:a="http://schemas.openxmlformats.org/drawingml/2006/main">
            <a:r>
              <a:t>      "positive": "Публичная критика действующей федеральной власти",</a:t>
            </a:r>
          </a:p>
          <a:p xmlns:a="http://schemas.openxmlformats.org/drawingml/2006/main">
            <a:r>
              <a:t>      "negative": "Публичная поддержка курса действующей федеральной власти",</a:t>
            </a:r>
          </a:p>
          <a:p xmlns:a="http://schemas.openxmlformats.org/drawingml/2006/main">
            <a:r>
              <a:t>      "loading": 0.7128951877645945,</a:t>
            </a:r>
          </a:p>
          <a:p xmlns:a="http://schemas.openxmlformats.org/drawingml/2006/main">
            <a:r>
              <a:t>      "high_factor_property": "Публичная критика действующей федеральной власти",</a:t>
            </a:r>
          </a:p>
          <a:p xmlns:a="http://schemas.openxmlformats.org/drawingml/2006/main">
            <a:r>
              <a:t>      "low_factor_property": "Публичная поддержка курса действующей федеральной власти"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"electoral-legitimacy",</a:t>
            </a:r>
          </a:p>
          <a:p xmlns:a="http://schemas.openxmlformats.org/drawingml/2006/main">
            <a:r>
              <a:t>      "name": "Электоральный мандат — административный мандат",</a:t>
            </a:r>
          </a:p>
          <a:p xmlns:a="http://schemas.openxmlformats.org/drawingml/2006/main">
            <a:r>
              <a:t>      "positive": "Конкурентные выборы и воля избирателей как источник полномочий",</a:t>
            </a:r>
          </a:p>
          <a:p xmlns:a="http://schemas.openxmlformats.org/drawingml/2006/main">
            <a:r>
              <a:t>      "negative": "Назначение, государственная иерархия и управленческая преемственность как источник полномочий",</a:t>
            </a:r>
          </a:p>
          <a:p xmlns:a="http://schemas.openxmlformats.org/drawingml/2006/main">
            <a:r>
              <a:t>      "loading": 0.6118420106858591,</a:t>
            </a:r>
          </a:p>
          <a:p xmlns:a="http://schemas.openxmlformats.org/drawingml/2006/main">
            <a:r>
              <a:t>      "high_factor_property": "Конкурентные выборы и воля избирателей как источник полномочий",</a:t>
            </a:r>
          </a:p>
          <a:p xmlns:a="http://schemas.openxmlformats.org/drawingml/2006/main">
            <a:r>
              <a:t>      "low_factor_property": "Назначение, государственная иерархия и управленческая преемственность как источник полномочий"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"negative_traits":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"antiwesternism",</a:t>
            </a:r>
          </a:p>
          <a:p xmlns:a="http://schemas.openxmlformats.org/drawingml/2006/main">
            <a:r>
              <a:t>      "name": "Противостояние Западу — сближение с Западом",</a:t>
            </a:r>
          </a:p>
          <a:p xmlns:a="http://schemas.openxmlformats.org/drawingml/2006/main">
            <a:r>
              <a:t>      "positive": "Противостояние западным государствам и институтам",</a:t>
            </a:r>
          </a:p>
          <a:p xmlns:a="http://schemas.openxmlformats.org/drawingml/2006/main">
            <a:r>
              <a:t>      "negative": "Сотрудничество и политическое сближение с западными государствами",</a:t>
            </a:r>
          </a:p>
          <a:p xmlns:a="http://schemas.openxmlformats.org/drawingml/2006/main">
            <a:r>
              <a:t>      "loading": -0.8372877568297115,</a:t>
            </a:r>
          </a:p>
          <a:p xmlns:a="http://schemas.openxmlformats.org/drawingml/2006/main">
            <a:r>
              <a:t>      "high_factor_property": "Сотрудничество и политическое сближение с западными государствами",</a:t>
            </a:r>
          </a:p>
          <a:p xmlns:a="http://schemas.openxmlformats.org/drawingml/2006/main">
            <a:r>
              <a:t>      "low_factor_property": "Противостояние западным государствам и институтам"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"mobilization-rhetoric",</a:t>
            </a:r>
          </a:p>
          <a:p xmlns:a="http://schemas.openxmlformats.org/drawingml/2006/main">
            <a:r>
              <a:t>      "name": "Мобилизационный призыв — обсуждение и убеждение",</a:t>
            </a:r>
          </a:p>
          <a:p xmlns:a="http://schemas.openxmlformats.org/drawingml/2006/main">
            <a:r>
              <a:t>      "positive": "Призывы к единению, дисциплине и чрезвычайной мобилизации",</a:t>
            </a:r>
          </a:p>
          <a:p xmlns:a="http://schemas.openxmlformats.org/drawingml/2006/main">
            <a:r>
              <a:t>      "negative": "Призывы к открытому обсуждению, сомнению и убеждению",</a:t>
            </a:r>
          </a:p>
          <a:p xmlns:a="http://schemas.openxmlformats.org/drawingml/2006/main">
            <a:r>
              <a:t>      "loading": -0.740622041229571,</a:t>
            </a:r>
          </a:p>
          <a:p xmlns:a="http://schemas.openxmlformats.org/drawingml/2006/main">
            <a:r>
              <a:t>      "high_factor_property": "Призывы к открытому обсуждению, сомнению и убеждению",</a:t>
            </a:r>
          </a:p>
          <a:p xmlns:a="http://schemas.openxmlformats.org/drawingml/2006/main">
            <a:r>
              <a:t>      "low_factor_property": "Призывы к единению, дисциплине и чрезвычайной мобилизации"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"security-sovereignty",</a:t>
            </a:r>
          </a:p>
          <a:p xmlns:a="http://schemas.openxmlformats.org/drawingml/2006/main">
            <a:r>
              <a:t>      "name": "Суверенная самостоятельность — международная интеграция",</a:t>
            </a:r>
          </a:p>
          <a:p xmlns:a="http://schemas.openxmlformats.org/drawingml/2006/main">
            <a:r>
              <a:t>      "positive": "Суверенная самостоятельность и защита от внешнего влияния",</a:t>
            </a:r>
          </a:p>
          <a:p xmlns:a="http://schemas.openxmlformats.org/drawingml/2006/main">
            <a:r>
              <a:t>      "negative": "Международная интеграция и взаимозависимость",</a:t>
            </a:r>
          </a:p>
          <a:p xmlns:a="http://schemas.openxmlformats.org/drawingml/2006/main">
            <a:r>
              <a:t>      "loading": -0.696389899134722,</a:t>
            </a:r>
          </a:p>
          <a:p xmlns:a="http://schemas.openxmlformats.org/drawingml/2006/main">
            <a:r>
              <a:t>      "high_factor_property": "Международная интеграция и взаимозависимость",</a:t>
            </a:r>
          </a:p>
          <a:p xmlns:a="http://schemas.openxmlformats.org/drawingml/2006/main">
            <a:r>
              <a:t>      "low_factor_property": "Суверенная самостоятельность и защита от внешнего влияния"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"national-patriotism",</a:t>
            </a:r>
          </a:p>
          <a:p xmlns:a="http://schemas.openxmlformats.org/drawingml/2006/main">
            <a:r>
              <a:t>      "name": "Национальная общность — универсальные права",</a:t>
            </a:r>
          </a:p>
          <a:p xmlns:a="http://schemas.openxmlformats.org/drawingml/2006/main">
            <a:r>
              <a:t>      "positive": "Особые интересы национальной общности и защита культурной идентичности",</a:t>
            </a:r>
          </a:p>
          <a:p xmlns:a="http://schemas.openxmlformats.org/drawingml/2006/main">
            <a:r>
              <a:t>      "negative": "Универсальные права и равное отношение независимо от национальной принадлежности",</a:t>
            </a:r>
          </a:p>
          <a:p xmlns:a="http://schemas.openxmlformats.org/drawingml/2006/main">
            <a:r>
              <a:t>      "loading": -0.6902505511562457,</a:t>
            </a:r>
          </a:p>
          <a:p xmlns:a="http://schemas.openxmlformats.org/drawingml/2006/main">
            <a:r>
              <a:t>      "high_factor_property": "Универсальные права и равное отношение независимо от национальной принадлежности",</a:t>
            </a:r>
          </a:p>
          <a:p xmlns:a="http://schemas.openxmlformats.org/drawingml/2006/main">
            <a:r>
              <a:t>      "low_factor_property": "Особые интересы национальной общности и защита культурной идентичности"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"federal-loyalty",</a:t>
            </a:r>
          </a:p>
          <a:p xmlns:a="http://schemas.openxmlformats.org/drawingml/2006/main">
            <a:r>
              <a:t>      "name": "Централизация — децентрализация",</a:t>
            </a:r>
          </a:p>
          <a:p xmlns:a="http://schemas.openxmlformats.org/drawingml/2006/main">
            <a:r>
              <a:t>      "positive": "Единая вертикаль и концентрация полномочий в центре",</a:t>
            </a:r>
          </a:p>
          <a:p xmlns:a="http://schemas.openxmlformats.org/drawingml/2006/main">
            <a:r>
              <a:t>      "negative": "Региональная и муниципальная автономия, распределение полномочий",</a:t>
            </a:r>
          </a:p>
          <a:p xmlns:a="http://schemas.openxmlformats.org/drawingml/2006/main">
            <a:r>
              <a:t>      "loading": -0.6087013138748517,</a:t>
            </a:r>
          </a:p>
          <a:p xmlns:a="http://schemas.openxmlformats.org/drawingml/2006/main">
            <a:r>
              <a:t>      "high_factor_property": "Региональная и муниципальная автономия, распределение полномочий",</a:t>
            </a:r>
          </a:p>
          <a:p xmlns:a="http://schemas.openxmlformats.org/drawingml/2006/main">
            <a:r>
              <a:t>      "low_factor_property": "Единая вертикаль и концентрация полномочий в центре"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"rhetorical-simplicity",</a:t>
            </a:r>
          </a:p>
          <a:p xmlns:a="http://schemas.openxmlformats.org/drawingml/2006/main">
            <a:r>
              <a:t>      "name": "Лозунговая простота — развёрнутая аргументация",</a:t>
            </a:r>
          </a:p>
          <a:p xmlns:a="http://schemas.openxmlformats.org/drawingml/2006/main">
            <a:r>
              <a:t>      "positive": "Краткие лозунги и обещания простых быстрых решений",</a:t>
            </a:r>
          </a:p>
          <a:p xmlns:a="http://schemas.openxmlformats.org/drawingml/2006/main">
            <a:r>
              <a:t>      "negative": "Развёрнутое объяснение механизмов, ограничений и альтернатив",</a:t>
            </a:r>
          </a:p>
          <a:p xmlns:a="http://schemas.openxmlformats.org/drawingml/2006/main">
            <a:r>
              <a:t>      "loading": -0.47473019794519505,</a:t>
            </a:r>
          </a:p>
          <a:p xmlns:a="http://schemas.openxmlformats.org/drawingml/2006/main">
            <a:r>
              <a:t>      "high_factor_property": "Развёрнутое объяснение механизмов, ограничений и альтернатив",</a:t>
            </a:r>
          </a:p>
          <a:p xmlns:a="http://schemas.openxmlformats.org/drawingml/2006/main">
            <a:r>
              <a:t>      "low_factor_property": "Краткие лозунги и обещания простых быстрых решений"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"party-leadership",</a:t>
            </a:r>
          </a:p>
          <a:p xmlns:a="http://schemas.openxmlformats.org/drawingml/2006/main">
            <a:r>
              <a:t>      "name": "Партийная организация — независимая инициатива",</a:t>
            </a:r>
          </a:p>
          <a:p xmlns:a="http://schemas.openxmlformats.org/drawingml/2006/main">
            <a:r>
              <a:t>      "positive": "Партия как основной инструмент политического действия",</a:t>
            </a:r>
          </a:p>
          <a:p xmlns:a="http://schemas.openxmlformats.org/drawingml/2006/main">
            <a:r>
              <a:t>      "negative": "Независимые от партий гражданские и персональные инициативы",</a:t>
            </a:r>
          </a:p>
          <a:p xmlns:a="http://schemas.openxmlformats.org/drawingml/2006/main">
            <a:r>
              <a:t>      "loading": -0.3944857276232032,</a:t>
            </a:r>
          </a:p>
          <a:p xmlns:a="http://schemas.openxmlformats.org/drawingml/2006/main">
            <a:r>
              <a:t>      "high_factor_property": "Независимые от партий гражданские и персональные инициативы",</a:t>
            </a:r>
          </a:p>
          <a:p xmlns:a="http://schemas.openxmlformats.org/drawingml/2006/main">
            <a:r>
              <a:t>      "low_factor_property": "Партия как основной инструмент политического действия"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"strong_loading_threshold": 0.35,</a:t>
            </a:r>
          </a:p>
          <a:p xmlns:a="http://schemas.openxmlformats.org/drawingml/2006/main">
            <a:r>
              <a:t>  "variance_share": 0.2882609657389838,</a:t>
            </a:r>
          </a:p>
          <a:p xmlns:a="http://schemas.openxmlformats.org/drawingml/2006/main">
            <a:r>
              <a:t>  "interpretation": "Первая ось пространства отражает противопоставление между публичной антивоенной риторикой, критикой федеральной власти и акцентом на конкурентных выборах — с одной стороны, и акцентом на противостоянии Западу, мобилизационной риторике, суверенитете, национально-патриотических установках и централизации — с другой. Высокие значения по этой оси характерны для образов, где доминируют призывы к миру, критика действующей власти, поддержка электоральной легитимности, открытость к международной интеграции и универсальным правам. Низкие значения связаны с акцентом на противостоянии западным странам, мобилизационными призывами, риторикой суверенитета, защиты интересов национальной общности и поддержкой административной вертикали.\n\nЭта ось определяет ключевое различие между публичными образами, ориентированными на критику власти, электоральный мандат и международную интеграцию, и образами, строящимися на мобилизации, антагонизме к Западу, национальной идентичности и поддержке существующего порядка. Ось не фиксирует причинность между этими свойствами, а лишь отражает их совместное проявление в публичных позициях. Отличие от других осей — в сочетании внешнеполитических, институциональных и риторических признаков, а не только в способах действия или организационной структуре.",</a:t>
            </a:r>
          </a:p>
          <a:p xmlns:a="http://schemas.openxmlformats.org/drawingml/2006/main">
            <a:r>
              <a:t>  "numeric_label": "Публичные призывы прекратить военные действия и перейти к миру ↔ Противостояние западным государствам и институтам"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Числа: metadata.json, scores.csv, loadings.csv и утверждённая матрица оценок.</a:t>
            </a:r>
          </a:p>
          <a:p xmlns:a="http://schemas.openxmlformats.org/drawingml/2006/main">
            <a:r>
              <a:t>Изучаемое пространство: Публичный политический образ российских политиков и иных заметных политических акторов, включая деятелей за рубежом, активных хотя бы в части периода. Не рейтинг популярности..</a:t>
            </a:r>
          </a:p>
          <a:p xmlns:a="http://schemas.openxmlformats.org/drawingml/2006/main">
            <a:r>
              <a:t>Оценщик: llm_exploratory.</a:t>
            </a:r>
          </a:p>
          <a:p xmlns:a="http://schemas.openxmlformats.org/drawingml/2006/main">
            <a:r>
              <a:t>Исходные URL:</a:t>
            </a:r>
          </a:p>
          <a:p xmlns:a="http://schemas.openxmlformats.org/drawingml/2006/main">
            <a:r>
              <a:t>https://kremlin.ru/structure/president</a:t>
            </a:r>
          </a:p>
          <a:p xmlns:a="http://schemas.openxmlformats.org/drawingml/2006/main">
            <a:r>
              <a:t>http://www.special.kremlin.ru/events/president/transcripts/67843</a:t>
            </a:r>
          </a:p>
          <a:p xmlns:a="http://schemas.openxmlformats.org/drawingml/2006/main">
            <a:r>
              <a:t>http://en.kremlin.ru/events/president/news/70315</a:t>
            </a:r>
          </a:p>
          <a:p xmlns:a="http://schemas.openxmlformats.org/drawingml/2006/main">
            <a:r>
              <a:t>http://special.kremlin.ru/events/president/transcripts/70565</a:t>
            </a:r>
          </a:p>
          <a:p xmlns:a="http://schemas.openxmlformats.org/drawingml/2006/main">
            <a:r>
              <a:t>http://special.kremlin.ru/events/president/transcripts/72994</a:t>
            </a:r>
          </a:p>
          <a:p xmlns:a="http://schemas.openxmlformats.org/drawingml/2006/main">
            <a:r>
              <a:t>http://kremlin.ru/events/president/news/73585</a:t>
            </a:r>
          </a:p>
          <a:p xmlns:a="http://schemas.openxmlformats.org/drawingml/2006/main">
            <a:r>
              <a:t>http://special.kremlin.ru/events/president/transcripts/75762</a:t>
            </a:r>
          </a:p>
          <a:p xmlns:a="http://schemas.openxmlformats.org/drawingml/2006/main">
            <a:r>
              <a:t>http://www.special.kremlin.ru/events/president/transcripts/76899</a:t>
            </a:r>
          </a:p>
          <a:p xmlns:a="http://schemas.openxmlformats.org/drawingml/2006/main">
            <a:r>
              <a:t>http://special.kremlin.ru/events/president/transcripts/80017</a:t>
            </a:r>
          </a:p>
          <a:p xmlns:a="http://schemas.openxmlformats.org/drawingml/2006/main">
            <a:r>
              <a:t>http://www.special.kremlin.ru/events/president/transcripts/72084</a:t>
            </a:r>
          </a:p>
          <a:p xmlns:a="http://schemas.openxmlformats.org/drawingml/2006/main">
            <a:r>
              <a:t>http://www.special.kremlin.ru/events/president/transcripts/80172</a:t>
            </a:r>
          </a:p>
          <a:p xmlns:a="http://schemas.openxmlformats.org/drawingml/2006/main">
            <a:r>
              <a:t>https://www.diva-portal.org/smash/get/diva2:2035197/FULLTEXT01.pdf</a:t>
            </a:r>
          </a:p>
          <a:p xmlns:a="http://schemas.openxmlformats.org/drawingml/2006/main">
            <a:r>
              <a:t>https://www.reuters.com/world/what-know-about-russias-upcoming-parliamentary-election-2026-09-15/</a:t>
            </a:r>
          </a:p>
          <a:p xmlns:a="http://schemas.openxmlformats.org/drawingml/2006/main">
            <a:r>
              <a:t>https://www.reuters.com/world/europe/how-putin-may-leverage-predictable-outcome-russias-elections-2026-09-18/</a:t>
            </a:r>
          </a:p>
          <a:p xmlns:a="http://schemas.openxmlformats.org/drawingml/2006/main">
            <a:r>
              <a:t>https://ru.wikipedia.org/wiki/Медведев,_Дмитрий_Анатольевич</a:t>
            </a:r>
          </a:p>
          <a:p xmlns:a="http://schemas.openxmlformats.org/drawingml/2006/main">
            <a:r>
              <a:t>https://tass.ru/ekonomika/3941450</a:t>
            </a:r>
          </a:p>
          <a:p xmlns:a="http://schemas.openxmlformats.org/drawingml/2006/main">
            <a:r>
              <a:t>http://archive.government.ru/docs/21653/print/</a:t>
            </a:r>
          </a:p>
          <a:p xmlns:a="http://schemas.openxmlformats.org/drawingml/2006/main">
            <a:r>
              <a:t>https://netfreedom.org.ua/ru/dmytro-anatoliiovych-medvediev-biohrafiia-posady-i-sanktsii/</a:t>
            </a:r>
          </a:p>
          <a:p xmlns:a="http://schemas.openxmlformats.org/drawingml/2006/main">
            <a:r>
              <a:t>https://verstka.media/czeli-svo-kak-kreml-menyal-ih-na-protyazhenii-tryoh-let-vojny</a:t>
            </a:r>
          </a:p>
          <a:p xmlns:a="http://schemas.openxmlformats.org/drawingml/2006/main">
            <a:r>
              <a:t>http://www.scrf.gov.ru/news/allnews/3820/</a:t>
            </a:r>
          </a:p>
          <a:p xmlns:a="http://schemas.openxmlformats.org/drawingml/2006/main">
            <a:r>
              <a:t>http://scrf.gov.ru/news/allnews/3837/</a:t>
            </a:r>
          </a:p>
          <a:p xmlns:a="http://schemas.openxmlformats.org/drawingml/2006/main">
            <a:r>
              <a:t>https://baike.baidu.com/ru/item/%D0%94%D0%BC%D0%B8%D1%82%D1%80%D0%B8%D0%B9%20%D0%90%D0%BD%D0%B0%D1%82%D0%BE%D0%BB%D1%8C%D0%B5%D0%B2%D0%B8%D1%87%20%D0%9C%D0%B5%D0%B4%D0%B2%D0%B5%D0%B4%D0%B5%D0%B2/3254451</a:t>
            </a:r>
          </a:p>
          <a:p xmlns:a="http://schemas.openxmlformats.org/drawingml/2006/main">
            <a:r>
              <a:t>https://tass.ru/politika/5889577</a:t>
            </a:r>
          </a:p>
          <a:p xmlns:a="http://schemas.openxmlformats.org/drawingml/2006/main">
            <a:r>
              <a:t>https://meduza.io/feature/2023/06/26/chto-proizoshlo-s-dmitriem-medvedevym</a:t>
            </a:r>
          </a:p>
          <a:p xmlns:a="http://schemas.openxmlformats.org/drawingml/2006/main">
            <a:r>
              <a:t>https://www.bbc.com/russian/articles/c6evw7d22lv0o</a:t>
            </a:r>
          </a:p>
          <a:p xmlns:a="http://schemas.openxmlformats.org/drawingml/2006/main">
            <a:r>
              <a:t>https://er.ru/activity/news/dmitrij-medvedev-edinaya-rossiya-ne-dopustit-razrusheniya-cennostnyh-osnov-strany</a:t>
            </a:r>
          </a:p>
          <a:p xmlns:a="http://schemas.openxmlformats.org/drawingml/2006/main">
            <a:r>
              <a:t>https://en.wikipedia.org/wiki/Media_freedom_in_Russia</a:t>
            </a:r>
          </a:p>
          <a:p xmlns:a="http://schemas.openxmlformats.org/drawingml/2006/main">
            <a:r>
              <a:t>https://government.ru/gov/persons/151/travel/?area=KHA</a:t>
            </a:r>
          </a:p>
          <a:p xmlns:a="http://schemas.openxmlformats.org/drawingml/2006/main">
            <a:r>
              <a:t>http://government.ru/gov/persons/151/biography/</a:t>
            </a:r>
          </a:p>
          <a:p xmlns:a="http://schemas.openxmlformats.org/drawingml/2006/main">
            <a:r>
              <a:t>https://www.reuters.com/world/europe/who-is-russias-mikhail-mishustin-2024-05-10/</a:t>
            </a:r>
          </a:p>
          <a:p xmlns:a="http://schemas.openxmlformats.org/drawingml/2006/main">
            <a:r>
              <a:t>https://www.kommersant.ru/doc/4220798</a:t>
            </a:r>
          </a:p>
          <a:p xmlns:a="http://schemas.openxmlformats.org/drawingml/2006/main">
            <a:r>
              <a:t>https://www.vedomosti.ru/politics/galleries/2026/03/03/1179718-nalogi-pod-kontrolem</a:t>
            </a:r>
          </a:p>
          <a:p xmlns:a="http://schemas.openxmlformats.org/drawingml/2006/main">
            <a:r>
              <a:t>http://government.ru/gov/persons/151/travel/?page=5</a:t>
            </a:r>
          </a:p>
          <a:p xmlns:a="http://schemas.openxmlformats.org/drawingml/2006/main">
            <a:r>
              <a:t>http://government.ru/news/46476/</a:t>
            </a:r>
          </a:p>
          <a:p xmlns:a="http://schemas.openxmlformats.org/drawingml/2006/main">
            <a:r>
              <a:t>http://government.ru/news/52063/</a:t>
            </a:r>
          </a:p>
          <a:p xmlns:a="http://schemas.openxmlformats.org/drawingml/2006/main">
            <a:r>
              <a:t>http://government.ru/news/52851/</a:t>
            </a:r>
          </a:p>
          <a:p xmlns:a="http://schemas.openxmlformats.org/drawingml/2006/main">
            <a:r>
              <a:t>https://nangs.org/news/society/kabmin-privlek-otdelnye-gosorgany-k-ukrepleniyu-traditsionnykh-tsennostej</a:t>
            </a:r>
          </a:p>
          <a:p xmlns:a="http://schemas.openxmlformats.org/drawingml/2006/main">
            <a:r>
              <a:t>http://government.ru/news/57315/</a:t>
            </a:r>
          </a:p>
          <a:p xmlns:a="http://schemas.openxmlformats.org/drawingml/2006/main">
            <a:r>
              <a:t>https://www.rbc.ru/person/617bf30d9a7947f92ee2d266</a:t>
            </a:r>
          </a:p>
          <a:p xmlns:a="http://schemas.openxmlformats.org/drawingml/2006/main">
            <a:r>
              <a:t>https://mid.ru/ru/press_service/video/view/1848395/</a:t>
            </a:r>
          </a:p>
          <a:p xmlns:a="http://schemas.openxmlformats.org/drawingml/2006/main">
            <a:r>
              <a:t>https://mid.ru/ru/foreign_policy/international_organizations/1932076/</a:t>
            </a:r>
          </a:p>
          <a:p xmlns:a="http://schemas.openxmlformats.org/drawingml/2006/main">
            <a:r>
              <a:t>https://mid.ru/ru/press_service/minister_speeches/1991476/</a:t>
            </a:r>
          </a:p>
          <a:p xmlns:a="http://schemas.openxmlformats.org/drawingml/2006/main">
            <a:r>
              <a:t>https://www.mid.ru/ru/press_service/vizity-ministra/1922112/</a:t>
            </a:r>
          </a:p>
          <a:p xmlns:a="http://schemas.openxmlformats.org/drawingml/2006/main">
            <a:r>
              <a:t>https://www.mid.ru/ru/foreign_policy/news/1927568/</a:t>
            </a:r>
          </a:p>
          <a:p xmlns:a="http://schemas.openxmlformats.org/drawingml/2006/main">
            <a:r>
              <a:t>https://mid.ru/ru/foreign_policy/news/1912973/</a:t>
            </a:r>
          </a:p>
          <a:p xmlns:a="http://schemas.openxmlformats.org/drawingml/2006/main">
            <a:r>
              <a:t>https://www.reuters.com/world/europe/russias-lavrov-says-moscow-committed-us-proposals-peace-rejects-europes-2026-06-15/</a:t>
            </a:r>
          </a:p>
          <a:p xmlns:a="http://schemas.openxmlformats.org/drawingml/2006/main">
            <a:r>
              <a:t>https://www.reuters.com/world/lavrov-says-russia-is-ready-resume-talks-with-ukraine-point-where-they-left-off-2026-06-23/</a:t>
            </a:r>
          </a:p>
          <a:p xmlns:a="http://schemas.openxmlformats.org/drawingml/2006/main">
            <a:r>
              <a:t>https://mid.ru/ru/press_service/video/view/1799184/</a:t>
            </a:r>
          </a:p>
          <a:p xmlns:a="http://schemas.openxmlformats.org/drawingml/2006/main">
            <a:r>
              <a:t>https://en.wikipedia.org/wiki/Sergey_Lavrov</a:t>
            </a:r>
          </a:p>
          <a:p xmlns:a="http://schemas.openxmlformats.org/drawingml/2006/main">
            <a:r>
              <a:t>https://www.garant.ru/products/ipo/prime/doc/70627660/</a:t>
            </a:r>
          </a:p>
          <a:p xmlns:a="http://schemas.openxmlformats.org/drawingml/2006/main">
            <a:r>
              <a:t>https://www.rbc.ru/person/617fc0679a794761d6170b80</a:t>
            </a:r>
          </a:p>
          <a:p xmlns:a="http://schemas.openxmlformats.org/drawingml/2006/main">
            <a:r>
              <a:t>http://www.kremlin.ru/acts/bank/50544</a:t>
            </a:r>
          </a:p>
          <a:p xmlns:a="http://schemas.openxmlformats.org/drawingml/2006/main">
            <a:r>
              <a:t>http://special.kremlin.ru/events/president/news/74019</a:t>
            </a:r>
          </a:p>
          <a:p xmlns:a="http://schemas.openxmlformats.org/drawingml/2006/main">
            <a:r>
              <a:t>https://www.interfax.ru/russia/960081</a:t>
            </a:r>
          </a:p>
          <a:p xmlns:a="http://schemas.openxmlformats.org/drawingml/2006/main">
            <a:r>
              <a:t>https://www.rbc.ru/politics/21/09/2022/632ab17c9a794781413c8582</a:t>
            </a:r>
          </a:p>
          <a:p xmlns:a="http://schemas.openxmlformats.org/drawingml/2006/main">
            <a:r>
              <a:t>https://www.bbc.com/russian/articles/c72p0jq04gjo</a:t>
            </a:r>
          </a:p>
          <a:p xmlns:a="http://schemas.openxmlformats.org/drawingml/2006/main">
            <a:r>
              <a:t>https://meduza.io/feature/2024/05/12/putin-uvolil-shoygu-s-posta-ministra-oborony-i-perevel-v-sovbez</a:t>
            </a:r>
          </a:p>
          <a:p xmlns:a="http://schemas.openxmlformats.org/drawingml/2006/main">
            <a:r>
              <a:t>https://paodkb.org/events/sergey-shoygu-naznachen-sekretarem-soveta-bezopasnosti-rf</a:t>
            </a:r>
          </a:p>
          <a:p xmlns:a="http://schemas.openxmlformats.org/drawingml/2006/main">
            <a:r>
              <a:t>https://base.garant.ru/409005084/</a:t>
            </a:r>
          </a:p>
          <a:p xmlns:a="http://schemas.openxmlformats.org/drawingml/2006/main">
            <a:r>
              <a:t>http://special.kremlin.ru/supplement/6345</a:t>
            </a:r>
          </a:p>
          <a:p xmlns:a="http://schemas.openxmlformats.org/drawingml/2006/main">
            <a:r>
              <a:t>http://en.kremlin.ru/supplement/6345</a:t>
            </a:r>
          </a:p>
          <a:p xmlns:a="http://schemas.openxmlformats.org/drawingml/2006/main">
            <a:r>
              <a:t>https://www.kp.ru/daily/27656.5/5040576/</a:t>
            </a:r>
          </a:p>
          <a:p xmlns:a="http://schemas.openxmlformats.org/drawingml/2006/main">
            <a:r>
              <a:t>https://www.fontanka.ru/2025/06/10/75574928/</a:t>
            </a:r>
          </a:p>
          <a:p xmlns:a="http://schemas.openxmlformats.org/drawingml/2006/main">
            <a:r>
              <a:t>https://tass.ru/politika/25506737</a:t>
            </a:r>
          </a:p>
          <a:p xmlns:a="http://schemas.openxmlformats.org/drawingml/2006/main">
            <a:r>
              <a:t>https://www.rbc.ru/person/6181419c9a7947df128a22f7</a:t>
            </a:r>
          </a:p>
          <a:p xmlns:a="http://schemas.openxmlformats.org/drawingml/2006/main">
            <a:r>
              <a:t>https://www.rbc.ru/economics/31/05/2021/60b3de5d9a7947f2883f7aa0</a:t>
            </a:r>
          </a:p>
          <a:p xmlns:a="http://schemas.openxmlformats.org/drawingml/2006/main">
            <a:r>
              <a:t>https://www.rbc.ru/politics/13/05/2024/6641109a9a7947ab8eebcf7f</a:t>
            </a:r>
          </a:p>
          <a:p xmlns:a="http://schemas.openxmlformats.org/drawingml/2006/main">
            <a:r>
              <a:t>https://www.rbc.ru/business/13/06/2023/6482d3389a79473805ee8978</a:t>
            </a:r>
          </a:p>
          <a:p xmlns:a="http://schemas.openxmlformats.org/drawingml/2006/main">
            <a:r>
              <a:t>https://thebell.io/kuda-vedet-ekonomiku-andrej-belousov-zagadki-dmitriya-medvedeva-i-sposoby-perezhit-sanktsii</a:t>
            </a:r>
          </a:p>
          <a:p xmlns:a="http://schemas.openxmlformats.org/drawingml/2006/main">
            <a:r>
              <a:t>https://72.ru/text/politics/2024/05/14/73575386/</a:t>
            </a:r>
          </a:p>
          <a:p xmlns:a="http://schemas.openxmlformats.org/drawingml/2006/main">
            <a:r>
              <a:t>https://tass.ru/armiya-i-opk/22683223</a:t>
            </a:r>
          </a:p>
          <a:p xmlns:a="http://schemas.openxmlformats.org/drawingml/2006/main">
            <a:r>
              <a:t>https://www.rbc.ru/society/12/12/2017/5a2f9b5a9a79473649fe0042</a:t>
            </a:r>
          </a:p>
          <a:p xmlns:a="http://schemas.openxmlformats.org/drawingml/2006/main">
            <a:r>
              <a:t>https://www.istorex.org/post/russia-december-2024-february-2025</a:t>
            </a:r>
          </a:p>
          <a:p xmlns:a="http://schemas.openxmlformats.org/drawingml/2006/main">
            <a:r>
              <a:t>https://rosinform.ru/news/andrej-belousov-osoboe-znachenie-pridayom-obespecheniyu-voennoj-bezopasnosti-soyuznogo-gosudarstva</a:t>
            </a:r>
          </a:p>
          <a:p xmlns:a="http://schemas.openxmlformats.org/drawingml/2006/main">
            <a:r>
              <a:t>https://xn--b1apnk.xn--p1ai/tpost/nsk7vo4xh1-vstrecha-s-ministrom-oboroni-rossii-i-os</a:t>
            </a:r>
          </a:p>
          <a:p xmlns:a="http://schemas.openxmlformats.org/drawingml/2006/main">
            <a:r>
              <a:t>https://www.rbc.ru/person/62d120d89a79475f0ddd8b5e</a:t>
            </a:r>
          </a:p>
          <a:p xmlns:a="http://schemas.openxmlformats.org/drawingml/2006/main">
            <a:r>
              <a:t>http://scrf.gov.ru/news/allnews/2148/</a:t>
            </a:r>
          </a:p>
          <a:p xmlns:a="http://schemas.openxmlformats.org/drawingml/2006/main">
            <a:r>
              <a:t>https://www.rbc.ru/politics/14/05/2024/6643287b9a7947a8f0b8ba78</a:t>
            </a:r>
          </a:p>
          <a:p xmlns:a="http://schemas.openxmlformats.org/drawingml/2006/main">
            <a:r>
              <a:t>https://tass.ru/info/20789699</a:t>
            </a:r>
          </a:p>
          <a:p xmlns:a="http://schemas.openxmlformats.org/drawingml/2006/main">
            <a:r>
              <a:t>https://marine.org.ru/structure/person/56/</a:t>
            </a:r>
          </a:p>
          <a:p xmlns:a="http://schemas.openxmlformats.org/drawingml/2006/main">
            <a:r>
              <a:t>https://marine.org.ru/publication/smi/16108/</a:t>
            </a:r>
          </a:p>
          <a:p xmlns:a="http://schemas.openxmlformats.org/drawingml/2006/main">
            <a:r>
              <a:t>https://www.svoboda.org/a/30676123.html</a:t>
            </a:r>
          </a:p>
          <a:p xmlns:a="http://schemas.openxmlformats.org/drawingml/2006/main">
            <a:r>
              <a:t>https://aif.ru/society/safety/kuklovodstvo_k_deystviyu_nikolay_patrushev_o_metodah_cvetnyh_revolyuciy</a:t>
            </a:r>
          </a:p>
          <a:p xmlns:a="http://schemas.openxmlformats.org/drawingml/2006/main">
            <a:r>
              <a:t>https://vkrizis.info/vlast/czennosti-razmyvaniya/</a:t>
            </a:r>
          </a:p>
          <a:p xmlns:a="http://schemas.openxmlformats.org/drawingml/2006/main">
            <a:r>
              <a:t>https://infranomica.ru/2026/05/19/selskoe-hozyajstvo-est-rezultat-budet-i-pishha/</a:t>
            </a:r>
          </a:p>
          <a:p xmlns:a="http://schemas.openxmlformats.org/drawingml/2006/main">
            <a:r>
              <a:t>https://www.rbc.ru/person/660400989a79471b36dbb514</a:t>
            </a:r>
          </a:p>
          <a:p xmlns:a="http://schemas.openxmlformats.org/drawingml/2006/main">
            <a:r>
              <a:t>http://special.kremlin.ru/catalog/persons/100/events</a:t>
            </a:r>
          </a:p>
          <a:p xmlns:a="http://schemas.openxmlformats.org/drawingml/2006/main">
            <a:r>
              <a:t>https://nac.gov.ru/view/eb008ff4-1608-4b47-b2a9-3d604c1833c2</a:t>
            </a:r>
          </a:p>
          <a:p xmlns:a="http://schemas.openxmlformats.org/drawingml/2006/main">
            <a:r>
              <a:t>http://pfo.gov.ru/press/events/113336/</a:t>
            </a:r>
          </a:p>
          <a:p xmlns:a="http://schemas.openxmlformats.org/drawingml/2006/main">
            <a:r>
              <a:t>https://www.opensanctions.org/entities/Q516824/</a:t>
            </a:r>
          </a:p>
          <a:p xmlns:a="http://schemas.openxmlformats.org/drawingml/2006/main">
            <a:r>
              <a:t>https://www.agents.media/ssha-poprobuyut-vozobnovit-peregovory-o-mire-v-ukraine-cherez-glavu-fsb-che-vedomstvo-kak-schitaetsya-svoimi-dokladami-podtolknulo-putina-k-vojne/</a:t>
            </a:r>
          </a:p>
          <a:p xmlns:a="http://schemas.openxmlformats.org/drawingml/2006/main">
            <a:r>
              <a:t>https://letters.kremlin.ru/news/receptions/by-section/assignments/by-person/260</a:t>
            </a:r>
          </a:p>
          <a:p xmlns:a="http://schemas.openxmlformats.org/drawingml/2006/main">
            <a:r>
              <a:t>https://www.kommersant.ru/doc/3612580</a:t>
            </a:r>
          </a:p>
          <a:p xmlns:a="http://schemas.openxmlformats.org/drawingml/2006/main">
            <a:r>
              <a:t>https://fbk.info/ru/investigations/kirienko-kholyi-putina</a:t>
            </a:r>
          </a:p>
          <a:p xmlns:a="http://schemas.openxmlformats.org/drawingml/2006/main">
            <a:r>
              <a:t>https://utro02.tv/2022/05/24/kolebaniya-kirienok/</a:t>
            </a:r>
          </a:p>
          <a:p xmlns:a="http://schemas.openxmlformats.org/drawingml/2006/main">
            <a:r>
              <a:t>https://meduza.io/feature/2023/12/19/on-peresidel-v-svoem-kresle-v-kremle-i-pravitelstve-obsuzhdayut-chto-sergey-kirienko-mozhet-lishitsya-dolzhnosti-v-ap-posle-vyborov-prezidenta</a:t>
            </a:r>
          </a:p>
          <a:p xmlns:a="http://schemas.openxmlformats.org/drawingml/2006/main">
            <a:r>
              <a:t>https://verstka.media/kak-rossiya-prodvigaet-svoyu-molodezhnuyu-politiku-na-okkupirovannyh-territoriyah</a:t>
            </a:r>
          </a:p>
          <a:p xmlns:a="http://schemas.openxmlformats.org/drawingml/2006/main">
            <a:r>
              <a:t>https://dnrnews.ru/society/2025/09/04/1167117.html</a:t>
            </a:r>
          </a:p>
          <a:p xmlns:a="http://schemas.openxmlformats.org/drawingml/2006/main">
            <a:r>
              <a:t>https://www.tadviser.ru/index.php/%D0%9F%D0%B5%D1%80%D1%81%D0%BE%D0%BD%D0%B0:%D0%9A%D0%B8%D1%80%D0%B8%D0%B5%D0%BD%D0%BA%D0%BE_%D0%A1%D0%B5%D1%80%D0%B3%D0%B5%D0%B9_%D0%92%D0%BB%D0%B0%D0%B4%D0%B8%D0%BB%D0%B5%D0%BD%D0%BE%D0%B2%D0%B8%D1%87</a:t>
            </a:r>
          </a:p>
          <a:p xmlns:a="http://schemas.openxmlformats.org/drawingml/2006/main">
            <a:r>
              <a:t>https://tass.ru/politika/18225741</a:t>
            </a:r>
          </a:p>
          <a:p xmlns:a="http://schemas.openxmlformats.org/drawingml/2006/main">
            <a:r>
              <a:t>https://www.kommersant.ru/doc/6187168</a:t>
            </a:r>
          </a:p>
          <a:p xmlns:a="http://schemas.openxmlformats.org/drawingml/2006/main">
            <a:r>
              <a:t>https://duma.gov.ru/news/63383/</a:t>
            </a:r>
          </a:p>
          <a:p xmlns:a="http://schemas.openxmlformats.org/drawingml/2006/main">
            <a:r>
              <a:t>http://duma.gov.ru/en/duma/persons/99100829/news/</a:t>
            </a:r>
          </a:p>
          <a:p xmlns:a="http://schemas.openxmlformats.org/drawingml/2006/main">
            <a:r>
              <a:t>http://duma.gov.ru/en/news/62248/</a:t>
            </a:r>
          </a:p>
          <a:p xmlns:a="http://schemas.openxmlformats.org/drawingml/2006/main">
            <a:r>
              <a:t>http://duma.gov.ru/en/news/61352/</a:t>
            </a:r>
          </a:p>
          <a:p xmlns:a="http://schemas.openxmlformats.org/drawingml/2006/main">
            <a:r>
              <a:t>http://duma.gov.ru/en/news/64178/</a:t>
            </a:r>
          </a:p>
          <a:p xmlns:a="http://schemas.openxmlformats.org/drawingml/2006/main">
            <a:r>
              <a:t>http://duma.gov.ru/en/news/64216</a:t>
            </a:r>
          </a:p>
          <a:p xmlns:a="http://schemas.openxmlformats.org/drawingml/2006/main">
            <a:r>
              <a:t>http://duma.gov.ru/en/news/64239</a:t>
            </a:r>
          </a:p>
          <a:p xmlns:a="http://schemas.openxmlformats.org/drawingml/2006/main">
            <a:r>
              <a:t>https://en.wikipedia.org/wiki/Vyacheslav_Volodin</a:t>
            </a:r>
          </a:p>
          <a:p xmlns:a="http://schemas.openxmlformats.org/drawingml/2006/main">
            <a:r>
              <a:t>http://duma.gov.ru/news/56060/</a:t>
            </a:r>
          </a:p>
          <a:p xmlns:a="http://schemas.openxmlformats.org/drawingml/2006/main">
            <a:r>
              <a:t>http://duma.gov.ru/news/60448/</a:t>
            </a:r>
          </a:p>
          <a:p xmlns:a="http://schemas.openxmlformats.org/drawingml/2006/main">
            <a:r>
              <a:t>http://duma.gov.ru/news/61362/</a:t>
            </a:r>
          </a:p>
          <a:p xmlns:a="http://schemas.openxmlformats.org/drawingml/2006/main">
            <a:r>
              <a:t>http://duma.gov.ru/news/61384/</a:t>
            </a:r>
          </a:p>
          <a:p xmlns:a="http://schemas.openxmlformats.org/drawingml/2006/main">
            <a:r>
              <a:t>http://duma.gov.ru/news/61874/</a:t>
            </a:r>
          </a:p>
          <a:p xmlns:a="http://schemas.openxmlformats.org/drawingml/2006/main">
            <a:r>
              <a:t>http://duma.gov.ru/news/62022/</a:t>
            </a:r>
          </a:p>
          <a:p xmlns:a="http://schemas.openxmlformats.org/drawingml/2006/main">
            <a:r>
              <a:t>http://duma.gov.ru/news/63772/</a:t>
            </a:r>
          </a:p>
          <a:p xmlns:a="http://schemas.openxmlformats.org/drawingml/2006/main">
            <a:r>
              <a:t>https://council.gov.ru/events/news/160466/</a:t>
            </a:r>
          </a:p>
          <a:p xmlns:a="http://schemas.openxmlformats.org/drawingml/2006/main">
            <a:r>
              <a:t>http://council.gov.ru/structure/persons/257/</a:t>
            </a:r>
          </a:p>
          <a:p xmlns:a="http://schemas.openxmlformats.org/drawingml/2006/main">
            <a:r>
              <a:t>https://interaffairs.ru/news/show/16199</a:t>
            </a:r>
          </a:p>
          <a:p xmlns:a="http://schemas.openxmlformats.org/drawingml/2006/main">
            <a:r>
              <a:t>https://www.rbc.ru/person/617fb5ef9a79475c6cfc4502</a:t>
            </a:r>
          </a:p>
          <a:p xmlns:a="http://schemas.openxmlformats.org/drawingml/2006/main">
            <a:r>
              <a:t>https://vksrs.com/publications/matvienko-rasskazala-o-neobkhodimosti-protivostoyat-geroizatsii-natsistov/</a:t>
            </a:r>
          </a:p>
          <a:p xmlns:a="http://schemas.openxmlformats.org/drawingml/2006/main">
            <a:r>
              <a:t>https://absatz.media/politika/158438-valentine-matvienko-77-istoriya-uspeha-put-k-vershine-i-samye-yarkie-zayavleniya</a:t>
            </a:r>
          </a:p>
          <a:p xmlns:a="http://schemas.openxmlformats.org/drawingml/2006/main">
            <a:r>
              <a:t>https://www.rbc.ru/society/14/10/2026/6acf597c9a794743e0478a15?from=short_news</a:t>
            </a:r>
          </a:p>
          <a:p xmlns:a="http://schemas.openxmlformats.org/drawingml/2006/main">
            <a:r>
              <a:t>https://senatinform.ru/news/sf_stremitsya_byt_maksimalno_otkrytym_dlya_raboty_zhurnalistov_matvienko/</a:t>
            </a:r>
          </a:p>
          <a:p xmlns:a="http://schemas.openxmlformats.org/drawingml/2006/main">
            <a:r>
              <a:t>https://eparlament.irzs.ru/Files/getFile/11853</a:t>
            </a:r>
          </a:p>
          <a:p xmlns:a="http://schemas.openxmlformats.org/drawingml/2006/main">
            <a:r>
              <a:t>http://special.council.gov.ru/activity/meetings/170703/transcript/</a:t>
            </a:r>
          </a:p>
          <a:p xmlns:a="http://schemas.openxmlformats.org/drawingml/2006/main">
            <a:r>
              <a:t>https://bookonlime.ru/lecture/12-razvitie-ekonomicheskih-otnosheniy-i-strategicheskoe-planirovanie-v-cifrovoy-ekonomike-2</a:t>
            </a:r>
          </a:p>
          <a:p xmlns:a="http://schemas.openxmlformats.org/drawingml/2006/main">
            <a:r>
              <a:t>https://ru.wikipedia.org/wiki/Песков,_Дмитрий_Сергеевич</a:t>
            </a:r>
          </a:p>
          <a:p xmlns:a="http://schemas.openxmlformats.org/drawingml/2006/main">
            <a:r>
              <a:t>https://www.reuters.com/world/europe/kremlin-says-ukraine-is-now-paying-price-its-own-attacks-russia-2026-09-28/</a:t>
            </a:r>
          </a:p>
          <a:p xmlns:a="http://schemas.openxmlformats.org/drawingml/2006/main">
            <a:r>
              <a:t>https://www.reuters.com/world/europe/kremlin-rejects-le-penbardella-rebuke-says-russia-is-no-threat-france-2026-09-21/</a:t>
            </a:r>
          </a:p>
          <a:p xmlns:a="http://schemas.openxmlformats.org/drawingml/2006/main">
            <a:r>
              <a:t>https://theins.ru/antifake/295208</a:t>
            </a:r>
          </a:p>
          <a:p xmlns:a="http://schemas.openxmlformats.org/drawingml/2006/main">
            <a:r>
              <a:t>https://expert.ru/news/v-kremle-otvetili-na-slova-donalda-trampa-o-rossiyskom-vmeshatelstve</a:t>
            </a:r>
          </a:p>
          <a:p xmlns:a="http://schemas.openxmlformats.org/drawingml/2006/main">
            <a:r>
              <a:t>https://www.dw.com/ru/dmitrij-peskov/t-18146676/page-1</a:t>
            </a:r>
          </a:p>
          <a:p xmlns:a="http://schemas.openxmlformats.org/drawingml/2006/main">
            <a:r>
              <a:t>https://www.pnp.ru/person/dmitriy--peskov/</a:t>
            </a:r>
          </a:p>
          <a:p xmlns:a="http://schemas.openxmlformats.org/drawingml/2006/main">
            <a:r>
              <a:t>https://www.rbc.ua/ukr/dossier/peskov-19032015</a:t>
            </a:r>
          </a:p>
          <a:p xmlns:a="http://schemas.openxmlformats.org/drawingml/2006/main">
            <a:r>
              <a:t>https://www.rbc.ru/politics/12/10/2026/6accae3bb18f4460834ce063</a:t>
            </a:r>
          </a:p>
          <a:p xmlns:a="http://schemas.openxmlformats.org/drawingml/2006/main">
            <a:r>
              <a:t>https://tass.ru/politika/20355193</a:t>
            </a:r>
          </a:p>
          <a:p xmlns:a="http://schemas.openxmlformats.org/drawingml/2006/main">
            <a:r>
              <a:t>https://www.m24.ru/news/06052024/689412</a:t>
            </a:r>
          </a:p>
          <a:p xmlns:a="http://schemas.openxmlformats.org/drawingml/2006/main">
            <a:r>
              <a:t>http://www.kremlin.ru/acts/bank/48502</a:t>
            </a:r>
          </a:p>
          <a:p xmlns:a="http://schemas.openxmlformats.org/drawingml/2006/main">
            <a:r>
              <a:t>https://www.m24.ru/news/11022025/769070</a:t>
            </a:r>
          </a:p>
          <a:p xmlns:a="http://schemas.openxmlformats.org/drawingml/2006/main">
            <a:r>
              <a:t>https://www.m24.ru/news/23042026/894202</a:t>
            </a:r>
          </a:p>
          <a:p xmlns:a="http://schemas.openxmlformats.org/drawingml/2006/main">
            <a:r>
              <a:t>https://cbr.ru/about_br/nabiullinaes/</a:t>
            </a:r>
          </a:p>
          <a:p xmlns:a="http://schemas.openxmlformats.org/drawingml/2006/main">
            <a:r>
              <a:t>https://cbr.ru/press/event/?id=12840</a:t>
            </a:r>
          </a:p>
          <a:p xmlns:a="http://schemas.openxmlformats.org/drawingml/2006/main">
            <a:r>
              <a:t>https://www.cbr.ru/press/event/?id=12904</a:t>
            </a:r>
          </a:p>
          <a:p xmlns:a="http://schemas.openxmlformats.org/drawingml/2006/main">
            <a:r>
              <a:t>https://cbr.ru/press/event/?id=14033</a:t>
            </a:r>
          </a:p>
          <a:p xmlns:a="http://schemas.openxmlformats.org/drawingml/2006/main">
            <a:r>
              <a:t>https://www.cbr.ru/press/event/?id=12764</a:t>
            </a:r>
          </a:p>
          <a:p xmlns:a="http://schemas.openxmlformats.org/drawingml/2006/main">
            <a:r>
              <a:t>https://kazanfirst.ru/articles/534335</a:t>
            </a:r>
          </a:p>
          <a:p xmlns:a="http://schemas.openxmlformats.org/drawingml/2006/main">
            <a:r>
              <a:t>https://www.rbc.ru/person/65e831449a79476cbfd8e5fd</a:t>
            </a:r>
          </a:p>
          <a:p xmlns:a="http://schemas.openxmlformats.org/drawingml/2006/main">
            <a:r>
              <a:t>https://www.interfax.ru/russia/955290</a:t>
            </a:r>
          </a:p>
          <a:p xmlns:a="http://schemas.openxmlformats.org/drawingml/2006/main">
            <a:r>
              <a:t>https://minfin.gov.ru/ru/press-center/?id_4=38548-intervyu_ministra_finansov_antona_siluanova_gazete_argumenty_i_fakty</a:t>
            </a:r>
          </a:p>
          <a:p xmlns:a="http://schemas.openxmlformats.org/drawingml/2006/main">
            <a:r>
              <a:t>https://minfin.gov.ru/ru/press-center/?id_4=37667-vystuplenie_antona_siluanova_na_plenarnom_zasedanii_v_gosudarstvennoi_dume</a:t>
            </a:r>
          </a:p>
          <a:p xmlns:a="http://schemas.openxmlformats.org/drawingml/2006/main">
            <a:r>
              <a:t>https://www.rbc.ru/economics/24/10/2022/63529d159a7947efb82a59eb</a:t>
            </a:r>
          </a:p>
          <a:p xmlns:a="http://schemas.openxmlformats.org/drawingml/2006/main">
            <a:r>
              <a:t>https://www.rbc.ru/newspaper/2020/02/21/5e4e83289a79474bcf9f8cf9</a:t>
            </a:r>
          </a:p>
          <a:p xmlns:a="http://schemas.openxmlformats.org/drawingml/2006/main">
            <a:r>
              <a:t>https://www.rbc.ru/economics/20/02/2020/5e4e91919a79475559478893</a:t>
            </a:r>
          </a:p>
          <a:p xmlns:a="http://schemas.openxmlformats.org/drawingml/2006/main">
            <a:r>
              <a:t>https://minfin.gov.ru/ru/press-center/?id_4=39336-anton_siluanov_predstavil_na_parlamentskikh_slushaniyakh_v_sovete_federatsii_proekt_byudzheta_na_2025-2027_gg.</a:t>
            </a:r>
          </a:p>
          <a:p xmlns:a="http://schemas.openxmlformats.org/drawingml/2006/main">
            <a:r>
              <a:t>https://www.interfax.ru/amp/1035506</a:t>
            </a:r>
          </a:p>
          <a:p xmlns:a="http://schemas.openxmlformats.org/drawingml/2006/main">
            <a:r>
              <a:t>https://tass.ru/ekonomika/28198121</a:t>
            </a:r>
          </a:p>
          <a:p xmlns:a="http://schemas.openxmlformats.org/drawingml/2006/main">
            <a:r>
              <a:t>https://www.rbc.ru/person/65b9f4369a7947ec8a7f242a</a:t>
            </a:r>
          </a:p>
          <a:p xmlns:a="http://schemas.openxmlformats.org/drawingml/2006/main">
            <a:r>
              <a:t>https://www.bfm.ru/news/435050</a:t>
            </a:r>
          </a:p>
          <a:p xmlns:a="http://schemas.openxmlformats.org/drawingml/2006/main">
            <a:r>
              <a:t>https://ru.ruwiki.ru/wiki/%D0%93%D0%BE%D0%BB%D0%B8%D0%BA%D0%BE%D0%B2%D0%B0,_%D0%A2%D0%B0%D1%82%D1%8C%D1%8F%D0%BD%D0%B0_%D0%90%D0%BB%D0%B5%D0%BA%D1%81%D0%B5%D0%B5%D0%B2%D0%BD%D0%B0</a:t>
            </a:r>
          </a:p>
          <a:p xmlns:a="http://schemas.openxmlformats.org/drawingml/2006/main">
            <a:r>
              <a:t>http://www.kremlin.ru/events/president/transcripts/deliberations%20/77439</a:t>
            </a:r>
          </a:p>
          <a:p xmlns:a="http://schemas.openxmlformats.org/drawingml/2006/main">
            <a:r>
              <a:t>https://xn--90aivcdt6dxbc.xn--p1ai/articles/news/prezident-zdravookhranenie-zanimaet-klyuchevoe-mesto-v-sotsialnoy-politike-rossii/</a:t>
            </a:r>
          </a:p>
          <a:p xmlns:a="http://schemas.openxmlformats.org/drawingml/2006/main">
            <a:r>
              <a:t>https://xn--90aivcdt6dxbc.xn--p1ai/articles/news/tatyana-golikova-edinaya-rossiya-nadezhnyy-soyuznik-i-partner-pravitelstva/</a:t>
            </a:r>
          </a:p>
          <a:p xmlns:a="http://schemas.openxmlformats.org/drawingml/2006/main">
            <a:r>
              <a:t>http://government.ru/news/58648/</a:t>
            </a:r>
          </a:p>
          <a:p xmlns:a="http://schemas.openxmlformats.org/drawingml/2006/main">
            <a:r>
              <a:t>http://government.ru/news/54912/</a:t>
            </a:r>
          </a:p>
          <a:p xmlns:a="http://schemas.openxmlformats.org/drawingml/2006/main">
            <a:r>
              <a:t>http://government.ru/news/58000/</a:t>
            </a:r>
          </a:p>
          <a:p xmlns:a="http://schemas.openxmlformats.org/drawingml/2006/main">
            <a:r>
              <a:t>https://tass.ru/politika/28141547</a:t>
            </a:r>
          </a:p>
          <a:p xmlns:a="http://schemas.openxmlformats.org/drawingml/2006/main">
            <a:r>
              <a:t>https://duma.gov.ru/media/files/smUklOtuNPyzwTneQGCfFUHHIsilAqcm.pdf</a:t>
            </a:r>
          </a:p>
          <a:p xmlns:a="http://schemas.openxmlformats.org/drawingml/2006/main">
            <a:r>
              <a:t>https://kprf.ru/dep/gosduma/activities/187187.html</a:t>
            </a:r>
          </a:p>
          <a:p xmlns:a="http://schemas.openxmlformats.org/drawingml/2006/main">
            <a:r>
              <a:t>http://msk.kprf.ru/2022/08/22/222866/</a:t>
            </a:r>
          </a:p>
          <a:p xmlns:a="http://schemas.openxmlformats.org/drawingml/2006/main">
            <a:r>
              <a:t>https://kprf.ru/party-live/cknews/235903.html</a:t>
            </a:r>
          </a:p>
          <a:p xmlns:a="http://schemas.openxmlformats.org/drawingml/2006/main">
            <a:r>
              <a:t>https://kprf.ru/dep/gosduma/activities/236198.html/print</a:t>
            </a:r>
          </a:p>
          <a:p xmlns:a="http://schemas.openxmlformats.org/drawingml/2006/main">
            <a:r>
              <a:t>https://kprf.ru/dep/gosduma/activities/239812.html</a:t>
            </a:r>
          </a:p>
          <a:p xmlns:a="http://schemas.openxmlformats.org/drawingml/2006/main">
            <a:r>
              <a:t>https://kprf-don.ru/index.php/news/facts/12501-2025-09-15-12-58-35.html</a:t>
            </a:r>
          </a:p>
          <a:p xmlns:a="http://schemas.openxmlformats.org/drawingml/2006/main">
            <a:r>
              <a:t>https://kprf.ru/dep/gosduma/activities/237529.html</a:t>
            </a:r>
          </a:p>
          <a:p xmlns:a="http://schemas.openxmlformats.org/drawingml/2006/main">
            <a:r>
              <a:t>https://novayagazeta.ru/articles/2025/09/19/putin-udivilsia-khodu-zapushchennoi-im-vesnoi-munitsipalnoi-reformy-posle-slov-ziuganova-kak-regiony-dlia-nee-lomali-cherez-koleno-a-tatarstan-otkazalsia-ee-ispolniat-news</a:t>
            </a:r>
          </a:p>
          <a:p xmlns:a="http://schemas.openxmlformats.org/drawingml/2006/main">
            <a:r>
              <a:t>https://kprf.ru/official/2025/11/15/15-noiabria-2025-oda-sostoialsia-ii-noiabrskii-plenum-tsk-kprf/473.html</a:t>
            </a:r>
          </a:p>
          <a:p xmlns:a="http://schemas.openxmlformats.org/drawingml/2006/main">
            <a:r>
              <a:t>https://www.rbc.ru/person/617bfbb79a7947fc327a3bcb</a:t>
            </a:r>
          </a:p>
          <a:p xmlns:a="http://schemas.openxmlformats.org/drawingml/2006/main">
            <a:r>
              <a:t>https://www.bbc.com/russian/features-60873381</a:t>
            </a:r>
          </a:p>
          <a:p xmlns:a="http://schemas.openxmlformats.org/drawingml/2006/main">
            <a:r>
              <a:t>https://www.svoboda.org/a/umer-lider-partii-ldpr-vladimir-zhirinovskiy-nekrolog/31770134.html</a:t>
            </a:r>
          </a:p>
          <a:p xmlns:a="http://schemas.openxmlformats.org/drawingml/2006/main">
            <a:r>
              <a:t>https://www.rbc.ru/politics/06/04/2022/624d661b9a79473f7416fe26</a:t>
            </a:r>
          </a:p>
          <a:p xmlns:a="http://schemas.openxmlformats.org/drawingml/2006/main">
            <a:r>
              <a:t>https://tass.ru/politika/3392889</a:t>
            </a:r>
          </a:p>
          <a:p xmlns:a="http://schemas.openxmlformats.org/drawingml/2006/main">
            <a:r>
              <a:t>https://www.pnp.ru/politics/2016/06/28/v-centre-predvybornoy-programmy-ldpr-russkiy-vopros.html</a:t>
            </a:r>
          </a:p>
          <a:p xmlns:a="http://schemas.openxmlformats.org/drawingml/2006/main">
            <a:r>
              <a:t>https://ldpr.ru/party/history/</a:t>
            </a:r>
          </a:p>
          <a:p xmlns:a="http://schemas.openxmlformats.org/drawingml/2006/main">
            <a:r>
              <a:t>https://govoritmoskva.ru/interviews/1023/</a:t>
            </a:r>
          </a:p>
          <a:p xmlns:a="http://schemas.openxmlformats.org/drawingml/2006/main">
            <a:r>
              <a:t>https://www.gazeta.ru/politics/2017/03/17_a_10580999.shtml</a:t>
            </a:r>
          </a:p>
          <a:p xmlns:a="http://schemas.openxmlformats.org/drawingml/2006/main">
            <a:r>
              <a:t>https://ldpr.ru/upload/iblock/c88/1d6dstdexz6aw7dnwoubeobhr3mnwa1j/a799616e688866c49f2ef6b5b8cfe5c00d45080ae85ce0e5f6d36e2e010681d9.pdf</a:t>
            </a:r>
          </a:p>
          <a:p xmlns:a="http://schemas.openxmlformats.org/drawingml/2006/main">
            <a:r>
              <a:t>https://www.kommersant.ru/doc/3579566</a:t>
            </a:r>
          </a:p>
          <a:p xmlns:a="http://schemas.openxmlformats.org/drawingml/2006/main">
            <a:r>
              <a:t>https://spb.ldpr.ru/event/243915/</a:t>
            </a:r>
          </a:p>
          <a:p xmlns:a="http://schemas.openxmlformats.org/drawingml/2006/main">
            <a:r>
              <a:t>https://kursk.ldpr.ru/event/341398</a:t>
            </a:r>
          </a:p>
          <a:p xmlns:a="http://schemas.openxmlformats.org/drawingml/2006/main">
            <a:r>
              <a:t>https://cyberleninka.ru/article/n/sravnitelnyy-analiz-predvybornyh-programm-ldpr-na-vyborah-2021-g-i-l-e-slutskogo-na-vyborah-2024-g</a:t>
            </a:r>
          </a:p>
          <a:p xmlns:a="http://schemas.openxmlformats.org/drawingml/2006/main">
            <a:r>
              <a:t>https://kcr.ldpr.ru/event/347999/</a:t>
            </a:r>
          </a:p>
          <a:p xmlns:a="http://schemas.openxmlformats.org/drawingml/2006/main">
            <a:r>
              <a:t>https://msknews77.ru/society/2025/09/25/73500.html</a:t>
            </a:r>
          </a:p>
          <a:p xmlns:a="http://schemas.openxmlformats.org/drawingml/2006/main">
            <a:r>
              <a:t>https://bagaevka-press.ru/besplatnyj-zemelnyj-uchastok-dlya-semej-inicziativa-ldpr/</a:t>
            </a:r>
          </a:p>
          <a:p xmlns:a="http://schemas.openxmlformats.org/drawingml/2006/main">
            <a:r>
              <a:t>https://ldpr.ru/event/437527/</a:t>
            </a:r>
          </a:p>
          <a:p xmlns:a="http://schemas.openxmlformats.org/drawingml/2006/main">
            <a:r>
              <a:t>https://rg62.info/2025/11/01/leonid-sluczkij-vstupilsya-za-multserial-masha-i-medved/</a:t>
            </a:r>
          </a:p>
          <a:p xmlns:a="http://schemas.openxmlformats.org/drawingml/2006/main">
            <a:r>
              <a:t>https://mironov.ru/officially</a:t>
            </a:r>
          </a:p>
          <a:p xmlns:a="http://schemas.openxmlformats.org/drawingml/2006/main">
            <a:r>
              <a:t>https://mironov.ru/bio</a:t>
            </a:r>
          </a:p>
          <a:p xmlns:a="http://schemas.openxmlformats.org/drawingml/2006/main">
            <a:r>
              <a:t>https://mironov-online.ru/category/zayavleniya/</a:t>
            </a:r>
          </a:p>
          <a:p xmlns:a="http://schemas.openxmlformats.org/drawingml/2006/main">
            <a:r>
              <a:t>https://www.rbc.ru/person/69806d279a7947baf86c32c5</a:t>
            </a:r>
          </a:p>
          <a:p xmlns:a="http://schemas.openxmlformats.org/drawingml/2006/main">
            <a:r>
              <a:t>https://spravedlivo.ru/16303010</a:t>
            </a:r>
          </a:p>
          <a:p xmlns:a="http://schemas.openxmlformats.org/drawingml/2006/main">
            <a:r>
              <a:t>http://mironov.ru/15133910</a:t>
            </a:r>
          </a:p>
          <a:p xmlns:a="http://schemas.openxmlformats.org/drawingml/2006/main">
            <a:r>
              <a:t>http://www.special.spravedlivo.ru/5_140609.html</a:t>
            </a:r>
          </a:p>
          <a:p xmlns:a="http://schemas.openxmlformats.org/drawingml/2006/main">
            <a:r>
              <a:t>https://spravedlivo.ru/14681110</a:t>
            </a:r>
          </a:p>
          <a:p xmlns:a="http://schemas.openxmlformats.org/drawingml/2006/main">
            <a:r>
              <a:t>https://radiokp.ru/podcast/dialogi-na-radio-kp/759263</a:t>
            </a:r>
          </a:p>
          <a:p xmlns:a="http://schemas.openxmlformats.org/drawingml/2006/main">
            <a:r>
              <a:t>https://mironov.ru/51339910</a:t>
            </a:r>
          </a:p>
          <a:p xmlns:a="http://schemas.openxmlformats.org/drawingml/2006/main">
            <a:r>
              <a:t>https://mironov-online.ru/news/mironov-na-ukraine-idet-bitva-za-budushhee-vsego-chelovechestva-i-pobeda-v-nej-budet-za-rossiej/</a:t>
            </a:r>
          </a:p>
          <a:p xmlns:a="http://schemas.openxmlformats.org/drawingml/2006/main">
            <a:r>
              <a:t>https://spravedlivo.ru/12544510</a:t>
            </a:r>
          </a:p>
          <a:p xmlns:a="http://schemas.openxmlformats.org/drawingml/2006/main">
            <a:r>
              <a:t>https://www.rbc.ru/person/6aa3ef199a79475758621730</a:t>
            </a:r>
          </a:p>
          <a:p xmlns:a="http://schemas.openxmlformats.org/drawingml/2006/main">
            <a:r>
              <a:t>https://www.rbc.ru/politics/24/09/2021/614da73f9a7947b5e3d9399f</a:t>
            </a:r>
          </a:p>
          <a:p xmlns:a="http://schemas.openxmlformats.org/drawingml/2006/main">
            <a:r>
              <a:t>https://amp.rbc.ru/rbcnews/base/14/08/2026/6a957dfb9a79476ae3d823ba</a:t>
            </a:r>
          </a:p>
          <a:p xmlns:a="http://schemas.openxmlformats.org/drawingml/2006/main">
            <a:r>
              <a:t>https://en.wikipedia.org/wiki/Alexey_Nechayev</a:t>
            </a:r>
          </a:p>
          <a:p xmlns:a="http://schemas.openxmlformats.org/drawingml/2006/main">
            <a:r>
              <a:t>https://www.gazeta.ru/politics/23422027/novye-lyudi-na-vyborah-2026-goda.shtml</a:t>
            </a:r>
          </a:p>
          <a:p xmlns:a="http://schemas.openxmlformats.org/drawingml/2006/main">
            <a:r>
              <a:t>https://vremya-bir.ru/2026/03/07/dvenadtsat-shagov-k-strane-v-kotoroj-hochetsya-zhit/</a:t>
            </a:r>
          </a:p>
          <a:p xmlns:a="http://schemas.openxmlformats.org/drawingml/2006/main">
            <a:r>
              <a:t>https://www.rbc.ru/politics/08/09/2026/6aa023ec9a79471e4fd55d3c</a:t>
            </a:r>
          </a:p>
          <a:p xmlns:a="http://schemas.openxmlformats.org/drawingml/2006/main">
            <a:r>
              <a:t>https://www.interfax.ru/interview/1074248</a:t>
            </a:r>
          </a:p>
          <a:p xmlns:a="http://schemas.openxmlformats.org/drawingml/2006/main">
            <a:r>
              <a:t>https://www.interfax.ru/amp/1074248</a:t>
            </a:r>
          </a:p>
          <a:p xmlns:a="http://schemas.openxmlformats.org/drawingml/2006/main">
            <a:r>
              <a:t>https://www.vedomosti.ru/politics/articles/2026/09/09/1227352-novie-lyudi-sformulirovali-programmu</a:t>
            </a:r>
          </a:p>
          <a:p xmlns:a="http://schemas.openxmlformats.org/drawingml/2006/main">
            <a:r>
              <a:t>https://dddkursk.ru/lenta/2026/07/30/129483/</a:t>
            </a:r>
          </a:p>
          <a:p xmlns:a="http://schemas.openxmlformats.org/drawingml/2006/main">
            <a:r>
              <a:t>https://volga.news/article/803292.html</a:t>
            </a:r>
          </a:p>
          <a:p xmlns:a="http://schemas.openxmlformats.org/drawingml/2006/main">
            <a:r>
              <a:t>https://ru.wikipedia.org/wiki/%D0%9D%D0%B5%D1%87%D0%B0%D0%B5%D0%B2,_%D0%90%D0%BB%D0%B5%D0%BA%D1%81%D0%B5%D0%B9_%D0%93%D0%B5%D0%BD%D0%BD%D0%B0%D0%B4%D1%8C%D0%B5%D0%B2%D0%B8%D1%87</a:t>
            </a:r>
          </a:p>
          <a:p xmlns:a="http://schemas.openxmlformats.org/drawingml/2006/main">
            <a:r>
              <a:t>https://www.davankov2024.ru/page_biography/</a:t>
            </a:r>
          </a:p>
          <a:p xmlns:a="http://schemas.openxmlformats.org/drawingml/2006/main">
            <a:r>
              <a:t>https://davankov2024.ru/program</a:t>
            </a:r>
          </a:p>
          <a:p xmlns:a="http://schemas.openxmlformats.org/drawingml/2006/main">
            <a:r>
              <a:t>http://vote.duma.gov.ru/?convocation=AAAAAAA8&amp;deputy=99113489&amp;sort=date_desc</a:t>
            </a:r>
          </a:p>
          <a:p xmlns:a="http://schemas.openxmlformats.org/drawingml/2006/main">
            <a:r>
              <a:t>https://holod.media/2024/02/14/vladislav-davankov/</a:t>
            </a:r>
          </a:p>
          <a:p xmlns:a="http://schemas.openxmlformats.org/drawingml/2006/main">
            <a:r>
              <a:t>https://davankov2024.ru/</a:t>
            </a:r>
          </a:p>
          <a:p xmlns:a="http://schemas.openxmlformats.org/drawingml/2006/main">
            <a:r>
              <a:t>https://novayagazeta.eu/articles/2024/02/15/davankov-predstavil-predvybornuiu-programmu-bez-amnistii-politzakliuchennykh-i-s-namereniem-dobitsia-mira-na-nashikh-usloviiakh-news</a:t>
            </a:r>
          </a:p>
          <a:p xmlns:a="http://schemas.openxmlformats.org/drawingml/2006/main">
            <a:r>
              <a:t>https://www.kavkaz-uzel.eu/articles/398113</a:t>
            </a:r>
          </a:p>
          <a:p xmlns:a="http://schemas.openxmlformats.org/drawingml/2006/main">
            <a:r>
              <a:t>https://echofm.online/portret-dnya/portret-dnya-vladislav-davankov-kandidat-v-prezidenty-rossii</a:t>
            </a:r>
          </a:p>
          <a:p xmlns:a="http://schemas.openxmlformats.org/drawingml/2006/main">
            <a:r>
              <a:t>https://t.me/s/davankov?before=788</a:t>
            </a:r>
          </a:p>
          <a:p xmlns:a="http://schemas.openxmlformats.org/drawingml/2006/main">
            <a:r>
              <a:t>https://zaharprilepin.ru/ru/bio/</a:t>
            </a:r>
          </a:p>
          <a:p xmlns:a="http://schemas.openxmlformats.org/drawingml/2006/main">
            <a:r>
              <a:t>https://zaharprilepin.ru/ru/video/zapisi-vistuplenij/intervju/</a:t>
            </a:r>
          </a:p>
          <a:p xmlns:a="http://schemas.openxmlformats.org/drawingml/2006/main">
            <a:r>
              <a:t>https://zaharprilepin.ru/ru/pressa/intervyu/na-harkov.html</a:t>
            </a:r>
          </a:p>
          <a:p xmlns:a="http://schemas.openxmlformats.org/drawingml/2006/main">
            <a:r>
              <a:t>https://www.kommersant.ru/doc/4141912</a:t>
            </a:r>
          </a:p>
          <a:p xmlns:a="http://schemas.openxmlformats.org/drawingml/2006/main">
            <a:r>
              <a:t>https://novayagazeta.eu/articles/2023/05/06/plokhoi-uchenik-limonova</a:t>
            </a:r>
          </a:p>
          <a:p xmlns:a="http://schemas.openxmlformats.org/drawingml/2006/main">
            <a:r>
              <a:t>https://tass.ru/politika/11761037</a:t>
            </a:r>
          </a:p>
          <a:p xmlns:a="http://schemas.openxmlformats.org/drawingml/2006/main">
            <a:r>
              <a:t>https://www.nn.ru/text/politics/2021/10/11/70186523/</a:t>
            </a:r>
          </a:p>
          <a:p xmlns:a="http://schemas.openxmlformats.org/drawingml/2006/main">
            <a:r>
              <a:t>https://www.zaks.ru/new/archive/view/267194</a:t>
            </a:r>
          </a:p>
          <a:p xmlns:a="http://schemas.openxmlformats.org/drawingml/2006/main">
            <a:r>
              <a:t>https://spravedlivo.ru/11288710</a:t>
            </a:r>
          </a:p>
          <a:p xmlns:a="http://schemas.openxmlformats.org/drawingml/2006/main">
            <a:r>
              <a:t>https://www.kommersant.ru/doc/4241515</a:t>
            </a:r>
          </a:p>
          <a:p xmlns:a="http://schemas.openxmlformats.org/drawingml/2006/main">
            <a:r>
              <a:t>https://zaharprilepin.ru/ru/pressa/intervyu/radio-komsomolskaja-pravda-10022021.html</a:t>
            </a:r>
          </a:p>
          <a:p xmlns:a="http://schemas.openxmlformats.org/drawingml/2006/main">
            <a:r>
              <a:t>https://pozneronline.ru/2024/04/36826/</a:t>
            </a:r>
          </a:p>
          <a:p xmlns:a="http://schemas.openxmlformats.org/drawingml/2006/main">
            <a:r>
              <a:t>https://www.rbc.ru/person/62a85a259a7947b9ae5d6360</a:t>
            </a:r>
          </a:p>
          <a:p xmlns:a="http://schemas.openxmlformats.org/drawingml/2006/main">
            <a:r>
              <a:t>https://tass.ru/encyclopedia/person/poklonskaya-natalya-vladimirovna</a:t>
            </a:r>
          </a:p>
          <a:p xmlns:a="http://schemas.openxmlformats.org/drawingml/2006/main">
            <a:r>
              <a:t>https://tass.ru/tag/poklonskaya-natalya-vladimirovna</a:t>
            </a:r>
          </a:p>
          <a:p xmlns:a="http://schemas.openxmlformats.org/drawingml/2006/main">
            <a:r>
              <a:t>https://www.bbc.com/russian/features-44801571</a:t>
            </a:r>
          </a:p>
          <a:p xmlns:a="http://schemas.openxmlformats.org/drawingml/2006/main">
            <a:r>
              <a:t>https://www.rbc.ru/rbcfreenews/5ba8bd499a794792294ba05d</a:t>
            </a:r>
          </a:p>
          <a:p xmlns:a="http://schemas.openxmlformats.org/drawingml/2006/main">
            <a:r>
              <a:t>https://www.dp.ru/a/2018/08/31/Poklonskaja_otreazirovala</a:t>
            </a:r>
          </a:p>
          <a:p xmlns:a="http://schemas.openxmlformats.org/drawingml/2006/main">
            <a:r>
              <a:t>https://www.themoscowtimes.com/2022/06/13/former-crimea-prosecutor-dismissed-after-anti-war-comments-a77983</a:t>
            </a:r>
          </a:p>
          <a:p xmlns:a="http://schemas.openxmlformats.org/drawingml/2006/main">
            <a:r>
              <a:t>https://www.rbc.ru/politics/30/06/2023/649dee189a79473e3fdc8906</a:t>
            </a:r>
          </a:p>
          <a:p xmlns:a="http://schemas.openxmlformats.org/drawingml/2006/main">
            <a:r>
              <a:t>http://council.gov.ru/structure/persons/1044/</a:t>
            </a:r>
          </a:p>
          <a:p xmlns:a="http://schemas.openxmlformats.org/drawingml/2006/main">
            <a:r>
              <a:t>http://council.gov.ru/services/reference/9156/</a:t>
            </a:r>
          </a:p>
          <a:p xmlns:a="http://schemas.openxmlformats.org/drawingml/2006/main">
            <a:r>
              <a:t>http://council.gov.ru/events/news/135415/</a:t>
            </a:r>
          </a:p>
          <a:p xmlns:a="http://schemas.openxmlformats.org/drawingml/2006/main">
            <a:r>
              <a:t>https://24smi.org/celebrity/1156-elena-mizulina.html</a:t>
            </a:r>
          </a:p>
          <a:p xmlns:a="http://schemas.openxmlformats.org/drawingml/2006/main">
            <a:r>
              <a:t>https://www.bfometr.ru/blog/elena-mizulina</a:t>
            </a:r>
          </a:p>
          <a:p xmlns:a="http://schemas.openxmlformats.org/drawingml/2006/main">
            <a:r>
              <a:t>https://www.rbc.ru/society/30/03/2018/5abe1b849a79470dc3826f68</a:t>
            </a:r>
          </a:p>
          <a:p xmlns:a="http://schemas.openxmlformats.org/drawingml/2006/main">
            <a:r>
              <a:t>https://uznayvse.ru/znamenitosti/biografiya-elena-mizulina.html</a:t>
            </a:r>
          </a:p>
          <a:p xmlns:a="http://schemas.openxmlformats.org/drawingml/2006/main">
            <a:r>
              <a:t>https://radiokp.ru/people/elena-mizulina</a:t>
            </a:r>
          </a:p>
          <a:p xmlns:a="http://schemas.openxmlformats.org/drawingml/2006/main">
            <a:r>
              <a:t>https://ru.wikipedia.org/wiki/%D0%9C%D0%B8%D0%B7%D1%83%D0%BB%D0%B8%D0%BD%D0%B0,_%D0%95%D0%BB%D0%B5%D0%BD%D0%B0_%D0%91%D0%BE%D1%80%D0%B8%D1%81%D0%BE%D0%B2%D0%BD%D0%B0</a:t>
            </a:r>
          </a:p>
          <a:p xmlns:a="http://schemas.openxmlformats.org/drawingml/2006/main">
            <a:r>
              <a:t>https://ru.wikipedia.org/wiki/Милонов,_Виталий_Валентинович</a:t>
            </a:r>
          </a:p>
          <a:p xmlns:a="http://schemas.openxmlformats.org/drawingml/2006/main">
            <a:r>
              <a:t>https://tass.ru/encyclopedia/person/milonov-vitaliy-valentinovich</a:t>
            </a:r>
          </a:p>
          <a:p xmlns:a="http://schemas.openxmlformats.org/drawingml/2006/main">
            <a:r>
              <a:t>https://www.pnp.ru/person/vitaliy-milonov/</a:t>
            </a:r>
          </a:p>
          <a:p xmlns:a="http://schemas.openxmlformats.org/drawingml/2006/main">
            <a:r>
              <a:t>https://www.zaks.ru/new/person/view/172</a:t>
            </a:r>
          </a:p>
          <a:p xmlns:a="http://schemas.openxmlformats.org/drawingml/2006/main">
            <a:r>
              <a:t>https://svpressa.ru/persons/vitaliy-milonov/</a:t>
            </a:r>
          </a:p>
          <a:p xmlns:a="http://schemas.openxmlformats.org/drawingml/2006/main">
            <a:r>
              <a:t>https://stuki-druki.com/authors/Milonov-Vitaliy.php</a:t>
            </a:r>
          </a:p>
          <a:p xmlns:a="http://schemas.openxmlformats.org/drawingml/2006/main">
            <a:r>
              <a:t>https://pa.inion.ru/persons/7104/</a:t>
            </a:r>
          </a:p>
          <a:p xmlns:a="http://schemas.openxmlformats.org/drawingml/2006/main">
            <a:r>
              <a:t>https://pa.inion.ru/documents/16503/</a:t>
            </a:r>
          </a:p>
          <a:p xmlns:a="http://schemas.openxmlformats.org/drawingml/2006/main">
            <a:r>
              <a:t>https://pa.inion.ru/documents/27860/</a:t>
            </a:r>
          </a:p>
          <a:p xmlns:a="http://schemas.openxmlformats.org/drawingml/2006/main">
            <a:r>
              <a:t>https://kprf.ru/personal/ostanina</a:t>
            </a:r>
          </a:p>
          <a:p xmlns:a="http://schemas.openxmlformats.org/drawingml/2006/main">
            <a:r>
              <a:t>https://pa.inion.ru/documents/25577/</a:t>
            </a:r>
          </a:p>
          <a:p xmlns:a="http://schemas.openxmlformats.org/drawingml/2006/main">
            <a:r>
              <a:t>https://kprf.ru/dep/gosduma/activities/245108.html</a:t>
            </a:r>
          </a:p>
          <a:p xmlns:a="http://schemas.openxmlformats.org/drawingml/2006/main">
            <a:r>
              <a:t>https://www.pnp.ru/social/zashhita-detskogo-byudzheta-kruzhki-sokhranit-vyplaty-iz-matkapitala-uvelichit.html</a:t>
            </a:r>
          </a:p>
          <a:p xmlns:a="http://schemas.openxmlformats.org/drawingml/2006/main">
            <a:r>
              <a:t>https://www.pnp.ru/state-duma/nina-ostanina-o-byudzhete-na-2027-2029-gody-semeynoy-ipoteke-i-matkapitale.html</a:t>
            </a:r>
          </a:p>
          <a:p xmlns:a="http://schemas.openxmlformats.org/drawingml/2006/main">
            <a:r>
              <a:t>https://uznayvse.ru/znamenitosti/biografiya-nina-ostanina.html</a:t>
            </a:r>
          </a:p>
          <a:p xmlns:a="http://schemas.openxmlformats.org/drawingml/2006/main">
            <a:r>
              <a:t>https://dumatv.ru/news/ostanina--borba-za-mirovozzrencheskii-suverenitet-stanovitsya-gosudarstvennoi-politikoi</a:t>
            </a:r>
          </a:p>
          <a:p xmlns:a="http://schemas.openxmlformats.org/drawingml/2006/main">
            <a:r>
              <a:t>https://kprf.ru/dep/gosduma/activities/242132.html</a:t>
            </a:r>
          </a:p>
          <a:p xmlns:a="http://schemas.openxmlformats.org/drawingml/2006/main">
            <a:r>
              <a:t>https://www.business-gazeta.ru/article/625616</a:t>
            </a:r>
          </a:p>
          <a:p xmlns:a="http://schemas.openxmlformats.org/drawingml/2006/main">
            <a:r>
              <a:t>https://www.kommersant.ru/doc/3235400</a:t>
            </a:r>
          </a:p>
          <a:p xmlns:a="http://schemas.openxmlformats.org/drawingml/2006/main">
            <a:r>
              <a:t>https://www.rbc.ru/person/67d838f09a7947cdef0b1a95</a:t>
            </a:r>
          </a:p>
          <a:p xmlns:a="http://schemas.openxmlformats.org/drawingml/2006/main">
            <a:r>
              <a:t>https://www.vedomosti.ru/politics/articles/2020/03/10/824795-tereshkova-predlozhila</a:t>
            </a:r>
          </a:p>
          <a:p xmlns:a="http://schemas.openxmlformats.org/drawingml/2006/main">
            <a:r>
              <a:t>http://duma.gov.ru/news/49164/</a:t>
            </a:r>
          </a:p>
          <a:p xmlns:a="http://schemas.openxmlformats.org/drawingml/2006/main">
            <a:r>
              <a:t>https://meduza.io/news/2020/03/12/delayut-vse-dlya-togo-chtoby-gadosti-delat-tereshkova-o-protivnikah-popravki-obnulyayuschey-sroki-putina</a:t>
            </a:r>
          </a:p>
          <a:p xmlns:a="http://schemas.openxmlformats.org/drawingml/2006/main">
            <a:r>
              <a:t>https://meduza.io/feature/2020/03/10/gosduma-neozhidanno-dlya-sebya-obespechila-putina-novymi-prezidentskimi-srokami</a:t>
            </a:r>
          </a:p>
          <a:p xmlns:a="http://schemas.openxmlformats.org/drawingml/2006/main">
            <a:r>
              <a:t>https://hinshtein.ru/biography/</a:t>
            </a:r>
          </a:p>
          <a:p xmlns:a="http://schemas.openxmlformats.org/drawingml/2006/main">
            <a:r>
              <a:t>https://www.vedomosti.ru/politics/articles/2024/12/06/1079852-kto-takoi-aleksandr-hinshtein</a:t>
            </a:r>
          </a:p>
          <a:p xmlns:a="http://schemas.openxmlformats.org/drawingml/2006/main">
            <a:r>
              <a:t>https://www.rbc.ru/person/6752d12a9a7947d62166795e</a:t>
            </a:r>
          </a:p>
          <a:p xmlns:a="http://schemas.openxmlformats.org/drawingml/2006/main">
            <a:r>
              <a:t>https://www.rbc.ru/politics/06/12/2024/675207239a7947e74994842e</a:t>
            </a:r>
          </a:p>
          <a:p xmlns:a="http://schemas.openxmlformats.org/drawingml/2006/main">
            <a:r>
              <a:t>https://hinshtein.ru/news/aleksandr-hinshtejn-podvyol-itogi-goda-raboty-komiteta-gosdumy-po-informpolitike-informatsionnym-tehnologiyam-i-svyazi/</a:t>
            </a:r>
          </a:p>
          <a:p xmlns:a="http://schemas.openxmlformats.org/drawingml/2006/main">
            <a:r>
              <a:t>https://hinshtein.ru/news/a-hinshtejn-itogi-raboty-za-vii-sozyv/</a:t>
            </a:r>
          </a:p>
          <a:p xmlns:a="http://schemas.openxmlformats.org/drawingml/2006/main">
            <a:r>
              <a:t>https://www.kommersant.ru/doc/4660427</a:t>
            </a:r>
          </a:p>
          <a:p xmlns:a="http://schemas.openxmlformats.org/drawingml/2006/main">
            <a:r>
              <a:t>https://www.kommersant.ru/doc/4104004</a:t>
            </a:r>
          </a:p>
          <a:p xmlns:a="http://schemas.openxmlformats.org/drawingml/2006/main">
            <a:r>
              <a:t>https://www.nvgazeta.ru/news/12383/634260/</a:t>
            </a:r>
          </a:p>
          <a:p xmlns:a="http://schemas.openxmlformats.org/drawingml/2006/main">
            <a:r>
              <a:t>https://kpravda.ru/2025/02/11/kursk-poluchit-dengi-iz-gosbyudzheta-na-restavracziyu-istoricheskoj-kreposti/</a:t>
            </a:r>
          </a:p>
          <a:p xmlns:a="http://schemas.openxmlformats.org/drawingml/2006/main">
            <a:r>
              <a:t>https://tass.ru/obschestvo/24001633</a:t>
            </a:r>
          </a:p>
          <a:p xmlns:a="http://schemas.openxmlformats.org/drawingml/2006/main">
            <a:r>
              <a:t>https://www.kommersant.ru/doc/7737032</a:t>
            </a:r>
          </a:p>
          <a:p xmlns:a="http://schemas.openxmlformats.org/drawingml/2006/main">
            <a:r>
              <a:t>https://kpravda.ru/2025/03/21/edinaya-rossiya-pomozhet-v-restavraczii-kurskih-pamyatnikov/</a:t>
            </a:r>
          </a:p>
          <a:p xmlns:a="http://schemas.openxmlformats.org/drawingml/2006/main">
            <a:r>
              <a:t>https://news-kursk.ru/society/2025/07/13/65824.html</a:t>
            </a:r>
          </a:p>
          <a:p xmlns:a="http://schemas.openxmlformats.org/drawingml/2006/main">
            <a:r>
              <a:t>https://news.ru/russia/v-kurske-budet-alleya-geroev-hinshtejn-o-muzee-i-memoriale-zhertvam-vsu</a:t>
            </a:r>
          </a:p>
          <a:p xmlns:a="http://schemas.openxmlformats.org/drawingml/2006/main">
            <a:r>
              <a:t>https://ru.wikipedia.org/wiki/Пушков,_Алексей_Константинович</a:t>
            </a:r>
          </a:p>
          <a:p xmlns:a="http://schemas.openxmlformats.org/drawingml/2006/main">
            <a:r>
              <a:t>http://council.gov.ru/structure/persons/1316/</a:t>
            </a:r>
          </a:p>
          <a:p xmlns:a="http://schemas.openxmlformats.org/drawingml/2006/main">
            <a:r>
              <a:t>http://council.gov.ru/media/files/xjE2QHRAivCH7onABehAcG7OsnrO6DYb.pdf</a:t>
            </a:r>
          </a:p>
          <a:p xmlns:a="http://schemas.openxmlformats.org/drawingml/2006/main">
            <a:r>
              <a:t>https://base.garant.ru/406310971/</a:t>
            </a:r>
          </a:p>
          <a:p xmlns:a="http://schemas.openxmlformats.org/drawingml/2006/main">
            <a:r>
              <a:t>https://russiancouncil.ru/aleksey-pushkov/</a:t>
            </a:r>
          </a:p>
          <a:p xmlns:a="http://schemas.openxmlformats.org/drawingml/2006/main">
            <a:r>
              <a:t>http://legislation.council.gov.ru/events/announce/</a:t>
            </a:r>
          </a:p>
          <a:p xmlns:a="http://schemas.openxmlformats.org/drawingml/2006/main">
            <a:r>
              <a:t>http://council.gov.ru/events/news/173810/</a:t>
            </a:r>
          </a:p>
          <a:p xmlns:a="http://schemas.openxmlformats.org/drawingml/2006/main">
            <a:r>
              <a:t>http://www.council.gov.ru/events/news/175997/</a:t>
            </a:r>
          </a:p>
          <a:p xmlns:a="http://schemas.openxmlformats.org/drawingml/2006/main">
            <a:r>
              <a:t>http://council.gov.ru/media/report/pdf/HtoXfAAzeBJ8JwN0eAduo3rejTAYhqvB.pdf</a:t>
            </a:r>
          </a:p>
          <a:p xmlns:a="http://schemas.openxmlformats.org/drawingml/2006/main">
            <a:r>
              <a:t>http://council.gov.ru/events/news/164749/</a:t>
            </a:r>
          </a:p>
          <a:p xmlns:a="http://schemas.openxmlformats.org/drawingml/2006/main">
            <a:r>
              <a:t>https://t.me/s/alexey_pushkov?before=14914</a:t>
            </a:r>
          </a:p>
          <a:p xmlns:a="http://schemas.openxmlformats.org/drawingml/2006/main">
            <a:r>
              <a:t>http://legislation.council.gov.ru/events/multimedia/video/302078/</a:t>
            </a:r>
          </a:p>
          <a:p xmlns:a="http://schemas.openxmlformats.org/drawingml/2006/main">
            <a:r>
              <a:t>http://council.gov.ru/media/report/pdf/e8Awe3U6hNouHwSvME53OSPGGWxTeVAl.pdf</a:t>
            </a:r>
          </a:p>
          <a:p xmlns:a="http://schemas.openxmlformats.org/drawingml/2006/main">
            <a:r>
              <a:t>https://www.vedomosti.ru/person/1178385-kosachev-konstantin</a:t>
            </a:r>
          </a:p>
          <a:p xmlns:a="http://schemas.openxmlformats.org/drawingml/2006/main">
            <a:r>
              <a:t>https://www.interfax.ru/interview/812963</a:t>
            </a:r>
          </a:p>
          <a:p xmlns:a="http://schemas.openxmlformats.org/drawingml/2006/main">
            <a:r>
              <a:t>https://senatinform.ru/news/yuzhnuyu_osetiyu_neobkhodimo_vyvodit_iz_iskusstvennoy_izolyatsii_schitayut_rossiyskie_senatory_/</a:t>
            </a:r>
          </a:p>
          <a:p xmlns:a="http://schemas.openxmlformats.org/drawingml/2006/main">
            <a:r>
              <a:t>https://senatinform.ru/news/kosachyev_rossiya_gotova_rabotat_s_mps_s_uchyetom_ozabochennostey_nashey_strany/</a:t>
            </a:r>
          </a:p>
          <a:p xmlns:a="http://schemas.openxmlformats.org/drawingml/2006/main">
            <a:r>
              <a:t>https://www.bfm.ru/person/61</a:t>
            </a:r>
          </a:p>
          <a:p xmlns:a="http://schemas.openxmlformats.org/drawingml/2006/main">
            <a:r>
              <a:t>https://svpressa.ru/persons/konstantin-kosachev/</a:t>
            </a:r>
          </a:p>
          <a:p xmlns:a="http://schemas.openxmlformats.org/drawingml/2006/main">
            <a:r>
              <a:t>https://www.pnp.ru/person/konstantin-kosachev/</a:t>
            </a:r>
          </a:p>
          <a:p xmlns:a="http://schemas.openxmlformats.org/drawingml/2006/main">
            <a:r>
              <a:t>https://www.pnp.ru/politics/konstantin-kosachev-dlya-ssha-voyna-s-rossiey-eto-samoubiystvo.html</a:t>
            </a:r>
          </a:p>
          <a:p xmlns:a="http://schemas.openxmlformats.org/drawingml/2006/main">
            <a:r>
              <a:t>https://www.mlg.ru/ratings/vlast/senators/10844/</a:t>
            </a:r>
          </a:p>
          <a:p xmlns:a="http://schemas.openxmlformats.org/drawingml/2006/main">
            <a:r>
              <a:t>http://council.gov.ru/events/news/173506/</a:t>
            </a:r>
          </a:p>
          <a:p xmlns:a="http://schemas.openxmlformats.org/drawingml/2006/main">
            <a:r>
              <a:t>https://t.me/s/Kosachev62</a:t>
            </a:r>
          </a:p>
          <a:p xmlns:a="http://schemas.openxmlformats.org/drawingml/2006/main">
            <a:r>
              <a:t>http://council.gov.ru/events/news/177602/</a:t>
            </a:r>
          </a:p>
          <a:p xmlns:a="http://schemas.openxmlformats.org/drawingml/2006/main">
            <a:r>
              <a:t>https://vmeste-rf.tv/programs/205/konstantin-kosachev-sotrudnichestvo-rossii-i-efiopii-itogi-vizita-delegatsii-sf/</a:t>
            </a:r>
          </a:p>
          <a:p xmlns:a="http://schemas.openxmlformats.org/drawingml/2006/main">
            <a:r>
              <a:t>https://www.rbc.ru/person/64b8e1909a79474f30e86f98</a:t>
            </a:r>
          </a:p>
          <a:p xmlns:a="http://schemas.openxmlformats.org/drawingml/2006/main">
            <a:r>
              <a:t>https://www.kommersant.ru/doc/6041063</a:t>
            </a:r>
          </a:p>
          <a:p xmlns:a="http://schemas.openxmlformats.org/drawingml/2006/main">
            <a:r>
              <a:t>https://www.mos.ru/mayor/themes/6907050/</a:t>
            </a:r>
          </a:p>
          <a:p xmlns:a="http://schemas.openxmlformats.org/drawingml/2006/main">
            <a:r>
              <a:t>https://www.mos.ru/mayor/themes/7037050/</a:t>
            </a:r>
          </a:p>
          <a:p xmlns:a="http://schemas.openxmlformats.org/drawingml/2006/main">
            <a:r>
              <a:t>https://www.mos.ru/mayor/themes/8822050/</a:t>
            </a:r>
          </a:p>
          <a:p xmlns:a="http://schemas.openxmlformats.org/drawingml/2006/main">
            <a:r>
              <a:t>http://special.kremlin.ru/catalog/persons/38/events/70467</a:t>
            </a:r>
          </a:p>
          <a:p xmlns:a="http://schemas.openxmlformats.org/drawingml/2006/main">
            <a:r>
              <a:t>https://www.mos.ru/upload/content/files/15af077500dcc5a1547bf728abf25669/15Zakong_Moskviot17_05_2017N14Odopolnitelnihgaranti.pdf</a:t>
            </a:r>
          </a:p>
          <a:p xmlns:a="http://schemas.openxmlformats.org/drawingml/2006/main">
            <a:r>
              <a:t>https://www.rbc.ru/politics/03/05/2023/645245159a794763ce66d990</a:t>
            </a:r>
          </a:p>
          <a:p xmlns:a="http://schemas.openxmlformats.org/drawingml/2006/main">
            <a:r>
              <a:t>https://www.dw.com/ru/ataka-dronov-v-moskve-i-podmoskove-cto-izvestno/a-65771767</a:t>
            </a:r>
          </a:p>
          <a:p xmlns:a="http://schemas.openxmlformats.org/drawingml/2006/main">
            <a:r>
              <a:t>https://www.rbc.ru/politics/01/08/2023/64c856ce9a79471a722e13ad</a:t>
            </a:r>
          </a:p>
          <a:p xmlns:a="http://schemas.openxmlformats.org/drawingml/2006/main">
            <a:r>
              <a:t>https://www.rbc.ru/politics/23/08/2023/64e54f299a794789ddb55c65</a:t>
            </a:r>
          </a:p>
          <a:p xmlns:a="http://schemas.openxmlformats.org/drawingml/2006/main">
            <a:r>
              <a:t>https://ru.wikipedia.org/wiki/Беглов,_Александр_Дмитриевич</a:t>
            </a:r>
          </a:p>
          <a:p xmlns:a="http://schemas.openxmlformats.org/drawingml/2006/main">
            <a:r>
              <a:t>https://www.gov.spb.ru/governor/</a:t>
            </a:r>
          </a:p>
          <a:p xmlns:a="http://schemas.openxmlformats.org/drawingml/2006/main">
            <a:r>
              <a:t>https://www.rbc.ru/politics/30/05/2019/5cf02cf09a79475ed4d2fa3f</a:t>
            </a:r>
          </a:p>
          <a:p xmlns:a="http://schemas.openxmlformats.org/drawingml/2006/main">
            <a:r>
              <a:t>https://www.themoscowtimes.com/2019/09/11/st-petersburg-re-elects-governor-beglov-after-controversial-campaign-a67240</a:t>
            </a:r>
          </a:p>
          <a:p xmlns:a="http://schemas.openxmlformats.org/drawingml/2006/main">
            <a:r>
              <a:t>https://www.gov.spb.ru/press/governor/188637/</a:t>
            </a:r>
          </a:p>
          <a:p xmlns:a="http://schemas.openxmlformats.org/drawingml/2006/main">
            <a:r>
              <a:t>https://www.gov.spb.ru/press/governor/213661/</a:t>
            </a:r>
          </a:p>
          <a:p xmlns:a="http://schemas.openxmlformats.org/drawingml/2006/main">
            <a:r>
              <a:t>https://www.gov.spb.ru/press/governor/258831/</a:t>
            </a:r>
          </a:p>
          <a:p xmlns:a="http://schemas.openxmlformats.org/drawingml/2006/main">
            <a:r>
              <a:t>https://www.gov.spb.ru/governor/interview/7333/</a:t>
            </a:r>
          </a:p>
          <a:p xmlns:a="http://schemas.openxmlformats.org/drawingml/2006/main">
            <a:r>
              <a:t>https://tass.ru/interviews/21839179</a:t>
            </a:r>
          </a:p>
          <a:p xmlns:a="http://schemas.openxmlformats.org/drawingml/2006/main">
            <a:r>
              <a:t>https://www.gov.spb.ru/press/governor/236663/</a:t>
            </a:r>
          </a:p>
          <a:p xmlns:a="http://schemas.openxmlformats.org/drawingml/2006/main">
            <a:r>
              <a:t>https://tvspb.ru/news/2022/09/21/aleksandr-beglov-ukaz-prezidenta-o-chastichnoj-mobilizaczii-byl-trudnym-no-neobhodimym-shagom</a:t>
            </a:r>
          </a:p>
          <a:p xmlns:a="http://schemas.openxmlformats.org/drawingml/2006/main">
            <a:r>
              <a:t>https://spbvedomosti.ru/news/gorod/gubernator-aleksandr-beglov-obyavil-o-zavershenii-chastichnoy-mobilizatsii/</a:t>
            </a:r>
          </a:p>
          <a:p xmlns:a="http://schemas.openxmlformats.org/drawingml/2006/main">
            <a:r>
              <a:t>https://www.gov.spb.ru/press/governor/253716/</a:t>
            </a:r>
          </a:p>
          <a:p xmlns:a="http://schemas.openxmlformats.org/drawingml/2006/main">
            <a:r>
              <a:t>https://www.gov.spb.ru/press/governor/290070/</a:t>
            </a:r>
          </a:p>
          <a:p xmlns:a="http://schemas.openxmlformats.org/drawingml/2006/main">
            <a:r>
              <a:t>https://spbdnevnik.ru/news/2022-10-06/aleksandr-beglov-rasskazal-o-prizyve-po-mobilizatsii-peterburzhtsa-s-odnoy-pochkoy</a:t>
            </a:r>
          </a:p>
          <a:p xmlns:a="http://schemas.openxmlformats.org/drawingml/2006/main">
            <a:r>
              <a:t>https://www.rbc.ru/person/62c5c0899a79470082fa57eb</a:t>
            </a:r>
          </a:p>
          <a:p xmlns:a="http://schemas.openxmlformats.org/drawingml/2006/main">
            <a:r>
              <a:t>https://www.kavkaz-uzel.eu/articles/85366</a:t>
            </a:r>
          </a:p>
          <a:p xmlns:a="http://schemas.openxmlformats.org/drawingml/2006/main">
            <a:r>
              <a:t>https://news.ru/regions/my-dolzhny-zabrat-vsyu-ukrainu-chto-kadyrov-govoril-ob-svo-rossii-putine</a:t>
            </a:r>
          </a:p>
          <a:p xmlns:a="http://schemas.openxmlformats.org/drawingml/2006/main">
            <a:r>
              <a:t>https://minval.az/k/ramzan-kadyrov</a:t>
            </a:r>
          </a:p>
          <a:p xmlns:a="http://schemas.openxmlformats.org/drawingml/2006/main">
            <a:r>
              <a:t>http://publication.pravo.gov.ru/document/2000202609160002</a:t>
            </a:r>
          </a:p>
          <a:p xmlns:a="http://schemas.openxmlformats.org/drawingml/2006/main">
            <a:r>
              <a:t>https://vestikavkaza.ru/amp/291219</a:t>
            </a:r>
          </a:p>
          <a:p xmlns:a="http://schemas.openxmlformats.org/drawingml/2006/main">
            <a:r>
              <a:t>https://tass.ru/obschestvo/25968415</a:t>
            </a:r>
          </a:p>
          <a:p xmlns:a="http://schemas.openxmlformats.org/drawingml/2006/main">
            <a:r>
              <a:t>https://www.rbc.ru/rbcfreenews/694558f89a794775c8b05d2e</a:t>
            </a:r>
          </a:p>
          <a:p xmlns:a="http://schemas.openxmlformats.org/drawingml/2006/main">
            <a:r>
              <a:t>https://rais.tatarstan.ru/biografiya.htm</a:t>
            </a:r>
          </a:p>
          <a:p xmlns:a="http://schemas.openxmlformats.org/drawingml/2006/main">
            <a:r>
              <a:t>https://rt.rbc.ru/tatarstan/freenews/68c7f77d9a79472be550408e</a:t>
            </a:r>
          </a:p>
          <a:p xmlns:a="http://schemas.openxmlformats.org/drawingml/2006/main">
            <a:r>
              <a:t>https://rt.rbc.ru/tatarstan/freenews/68c90bdc9a794783273a16b6</a:t>
            </a:r>
          </a:p>
          <a:p xmlns:a="http://schemas.openxmlformats.org/drawingml/2006/main">
            <a:r>
              <a:t>https://tass.ru/politika/25045679</a:t>
            </a:r>
          </a:p>
          <a:p xmlns:a="http://schemas.openxmlformats.org/drawingml/2006/main">
            <a:r>
              <a:t>https://tass.ru/info/25058299</a:t>
            </a:r>
          </a:p>
          <a:p xmlns:a="http://schemas.openxmlformats.org/drawingml/2006/main">
            <a:r>
              <a:t>https://tatarstan.ru/index.htm/news/2454245.htm</a:t>
            </a:r>
          </a:p>
          <a:p xmlns:a="http://schemas.openxmlformats.org/drawingml/2006/main">
            <a:r>
              <a:t>https://izbirkom.tatarstan.ru/file/pub/pub_4719790.docx</a:t>
            </a:r>
          </a:p>
          <a:p xmlns:a="http://schemas.openxmlformats.org/drawingml/2006/main">
            <a:r>
              <a:t>http://www.pfo.gov.ru/press/events/112125/</a:t>
            </a:r>
          </a:p>
          <a:p xmlns:a="http://schemas.openxmlformats.org/drawingml/2006/main">
            <a:r>
              <a:t>https://www.tatar-inform.ru/news/rustam-minnixanov-sankcii-ne-koncatsya-poka-my-ne-stanem-samodostatocnymi-5896958</a:t>
            </a:r>
          </a:p>
          <a:p xmlns:a="http://schemas.openxmlformats.org/drawingml/2006/main">
            <a:r>
              <a:t>https://tatarstan.ru/index.htm/news/1916025.htm</a:t>
            </a:r>
          </a:p>
          <a:p xmlns:a="http://schemas.openxmlformats.org/drawingml/2006/main">
            <a:r>
              <a:t>https://kitaphane.tatarstan.ru/digital.htm</a:t>
            </a:r>
          </a:p>
          <a:p xmlns:a="http://schemas.openxmlformats.org/drawingml/2006/main">
            <a:r>
              <a:t>https://kt.tatarstan.ru/index.htm/news/2266706.htm</a:t>
            </a:r>
          </a:p>
          <a:p xmlns:a="http://schemas.openxmlformats.org/drawingml/2006/main">
            <a:r>
              <a:t>https://tatarstan.ru/index.htm/news/2460505.htm</a:t>
            </a:r>
          </a:p>
          <a:p xmlns:a="http://schemas.openxmlformats.org/drawingml/2006/main">
            <a:r>
              <a:t>https://digital.tatarstan.ru/index.htm/news/2460691.htm</a:t>
            </a:r>
          </a:p>
          <a:p xmlns:a="http://schemas.openxmlformats.org/drawingml/2006/main">
            <a:r>
              <a:t>https://amp.rbc.ru/rbcnews/politics/09/07/2020/5f06bbb69a79475c40a9a094</a:t>
            </a:r>
          </a:p>
          <a:p xmlns:a="http://schemas.openxmlformats.org/drawingml/2006/main">
            <a:r>
              <a:t>https://1kas.sudrf.ru/modules.php?name=sud_delo&amp;name_op=doc&amp;number=39453936&amp;delo_id=2450001&amp;case_type=0&amp;new=2450001&amp;text_number=1&amp;srv_num=1</a:t>
            </a:r>
          </a:p>
          <a:p xmlns:a="http://schemas.openxmlformats.org/drawingml/2006/main">
            <a:r>
              <a:t>https://www.interfax.ru/russia/982916</a:t>
            </a:r>
          </a:p>
          <a:p xmlns:a="http://schemas.openxmlformats.org/drawingml/2006/main">
            <a:r>
              <a:t>https://www.svoboda.org/a/sud-ostavil-v-sile-prigovor-habarovskomu-eks-gubernatoru-sergeyu-furgalu/32686024.html</a:t>
            </a:r>
          </a:p>
          <a:p xmlns:a="http://schemas.openxmlformats.org/drawingml/2006/main">
            <a:r>
              <a:t>https://www.dw.com/ru/kommentarij-furgal-peresidit-putina/a-64670560</a:t>
            </a:r>
          </a:p>
          <a:p xmlns:a="http://schemas.openxmlformats.org/drawingml/2006/main">
            <a:r>
              <a:t>https://www.kommersant.ru/doc/3896415</a:t>
            </a:r>
          </a:p>
          <a:p xmlns:a="http://schemas.openxmlformats.org/drawingml/2006/main">
            <a:r>
              <a:t>https://todaykhv.ru/news/policy/19386/</a:t>
            </a:r>
          </a:p>
          <a:p xmlns:a="http://schemas.openxmlformats.org/drawingml/2006/main">
            <a:r>
              <a:t>https://meduza.io/feature/2018/09/19/ya-dumayu-chto-situatsiya-kak-v-primorie-u-nas-ne-povtoritsya</a:t>
            </a:r>
          </a:p>
          <a:p xmlns:a="http://schemas.openxmlformats.org/drawingml/2006/main">
            <a:r>
              <a:t>https://govoritmoskva.ru/news/174327/</a:t>
            </a:r>
          </a:p>
          <a:p xmlns:a="http://schemas.openxmlformats.org/drawingml/2006/main">
            <a:r>
              <a:t>https://todaykhv.ru/news/policy/22426/?sphrase_id=2620206</a:t>
            </a:r>
          </a:p>
          <a:p xmlns:a="http://schemas.openxmlformats.org/drawingml/2006/main">
            <a:r>
              <a:t>https://ru.wikipedia.org/wiki/%D0%A4%D1%83%D1%80%D0%B3%D0%B0%D0%BB,_%D0%A1%D0%B5%D1%80%D0%B3%D0%B5%D0%B9_%D0%98%D0%B2%D0%B0%D0%BD%D0%BE%D0%B2%D0%B8%D1%87</a:t>
            </a:r>
          </a:p>
          <a:p xmlns:a="http://schemas.openxmlformats.org/drawingml/2006/main">
            <a:r>
              <a:t>https://novayagazeta.ru/articles/2018/09/18/77870-ne-dopuschu-zdes-revolyutsii</a:t>
            </a:r>
          </a:p>
          <a:p xmlns:a="http://schemas.openxmlformats.org/drawingml/2006/main">
            <a:r>
              <a:t>https://opkhv.ru/publications/4888</a:t>
            </a:r>
          </a:p>
          <a:p xmlns:a="http://schemas.openxmlformats.org/drawingml/2006/main">
            <a:r>
              <a:t>https://meduza.io/feature/2019/08/26/partiya-vlasti-zdes-ldpr</a:t>
            </a:r>
          </a:p>
          <a:p xmlns:a="http://schemas.openxmlformats.org/drawingml/2006/main">
            <a:r>
              <a:t>https://tass.ru/obschestvo/5946495</a:t>
            </a:r>
          </a:p>
          <a:p xmlns:a="http://schemas.openxmlformats.org/drawingml/2006/main">
            <a:r>
              <a:t>https://amurmedia.ru/news/775590/</a:t>
            </a:r>
          </a:p>
          <a:p xmlns:a="http://schemas.openxmlformats.org/drawingml/2006/main">
            <a:r>
              <a:t>https://www.eastrussia.ru/material/ne-planiruyushchim-pereezzhat-sovetuyu-pomolchat/</a:t>
            </a:r>
          </a:p>
          <a:p xmlns:a="http://schemas.openxmlformats.org/drawingml/2006/main">
            <a:r>
              <a:t>https://www.dw.com/ru/v-habarovske-priznali-ekstremistskim-dvizenie-v-zasitu-furgala/a-68334442</a:t>
            </a:r>
          </a:p>
          <a:p xmlns:a="http://schemas.openxmlformats.org/drawingml/2006/main">
            <a:r>
              <a:t>https://www.rbc.ru/person/66475fec9a79475c4d9443ad</a:t>
            </a:r>
          </a:p>
          <a:p xmlns:a="http://schemas.openxmlformats.org/drawingml/2006/main">
            <a:r>
              <a:t>https://tass.ru/info/12453099</a:t>
            </a:r>
          </a:p>
          <a:p xmlns:a="http://schemas.openxmlformats.org/drawingml/2006/main">
            <a:r>
              <a:t>https://tass.ru/info/9007455</a:t>
            </a:r>
          </a:p>
          <a:p xmlns:a="http://schemas.openxmlformats.org/drawingml/2006/main">
            <a:r>
              <a:t>https://tass.ru/info/20795009</a:t>
            </a:r>
          </a:p>
          <a:p xmlns:a="http://schemas.openxmlformats.org/drawingml/2006/main">
            <a:r>
              <a:t>https://tass.ru/encyclopedia/person/degtyarev-mihail-vladimirovich</a:t>
            </a:r>
          </a:p>
          <a:p xmlns:a="http://schemas.openxmlformats.org/drawingml/2006/main">
            <a:r>
              <a:t>https://www.rbc.ru/politics/20/07/2020/5f1586289a794722b2457d61</a:t>
            </a:r>
          </a:p>
          <a:p xmlns:a="http://schemas.openxmlformats.org/drawingml/2006/main">
            <a:r>
              <a:t>https://www.minsport.gov.ru/press-center/news/intervyu-mihaila-degtyareva-gazete-kommersant/</a:t>
            </a:r>
          </a:p>
          <a:p xmlns:a="http://schemas.openxmlformats.org/drawingml/2006/main">
            <a:r>
              <a:t>https://minsport.gov.ru/press-center/news/mihail-degtyarev-nashe-mesto-za-stolom-a-ne-v-perednej/</a:t>
            </a:r>
          </a:p>
          <a:p xmlns:a="http://schemas.openxmlformats.org/drawingml/2006/main">
            <a:r>
              <a:t>https://news.ru/vlast/degtyarev-prizval-ne-doveryat-evrope-provedenie-sorevnovanij</a:t>
            </a:r>
          </a:p>
          <a:p xmlns:a="http://schemas.openxmlformats.org/drawingml/2006/main">
            <a:r>
              <a:t>https://www.interfax.ru/presscenter/622170</a:t>
            </a:r>
          </a:p>
          <a:p xmlns:a="http://schemas.openxmlformats.org/drawingml/2006/main">
            <a:r>
              <a:t>https://tass.ru/interviews/13152777</a:t>
            </a:r>
          </a:p>
          <a:p xmlns:a="http://schemas.openxmlformats.org/drawingml/2006/main">
            <a:r>
              <a:t>https://www.sports.ru/others/blogs/3302024.html</a:t>
            </a:r>
          </a:p>
          <a:p xmlns:a="http://schemas.openxmlformats.org/drawingml/2006/main">
            <a:r>
              <a:t>https://www.vremyan.ru/news/556863</a:t>
            </a:r>
          </a:p>
          <a:p xmlns:a="http://schemas.openxmlformats.org/drawingml/2006/main">
            <a:r>
              <a:t>https://kprf.ru/personal/levchenko</a:t>
            </a:r>
          </a:p>
          <a:p xmlns:a="http://schemas.openxmlformats.org/drawingml/2006/main">
            <a:r>
              <a:t>https://www.rbc.ru/politics/23/06/2020/5ef0bd949a7947b3cd3dcba6</a:t>
            </a:r>
          </a:p>
          <a:p xmlns:a="http://schemas.openxmlformats.org/drawingml/2006/main">
            <a:r>
              <a:t>https://kprf.ru/party-live/regnews/194838.html</a:t>
            </a:r>
          </a:p>
          <a:p xmlns:a="http://schemas.openxmlformats.org/drawingml/2006/main">
            <a:r>
              <a:t>https://liveangarsk.ru/news/20191214/v-slozhivsheisya</a:t>
            </a:r>
          </a:p>
          <a:p xmlns:a="http://schemas.openxmlformats.org/drawingml/2006/main">
            <a:r>
              <a:t>https://kprf.ru/dep/gosduma/activities/240271.html</a:t>
            </a:r>
          </a:p>
          <a:p xmlns:a="http://schemas.openxmlformats.org/drawingml/2006/main">
            <a:r>
              <a:t>https://kprf.ru/dep/gosduma/activities/241686.html</a:t>
            </a:r>
          </a:p>
          <a:p xmlns:a="http://schemas.openxmlformats.org/drawingml/2006/main">
            <a:r>
              <a:t>https://altairk.ru/new/policy/the_message_of_the_governor</a:t>
            </a:r>
          </a:p>
          <a:p xmlns:a="http://schemas.openxmlformats.org/drawingml/2006/main">
            <a:r>
              <a:t>https://kto-irkutsk.ru/2026/07/20/sergej-levchenko-deyatelnost-i-zayavleniya-i-ix-ocenka/</a:t>
            </a:r>
          </a:p>
          <a:p xmlns:a="http://schemas.openxmlformats.org/drawingml/2006/main">
            <a:r>
              <a:t>https://ru.wikipedia.org/wiki/%D0%9B%D0%B5%D0%B2%D1%87%D0%B5%D0%BD%D0%BA%D0%BE,_%D0%A1%D0%B5%D1%80%D0%B3%D0%B5%D0%B9_%D0%93%D0%B5%D0%BE%D1%80%D0%B3%D0%B8%D0%B5%D0%B2%D0%B8%D1%87</a:t>
            </a:r>
          </a:p>
          <a:p xmlns:a="http://schemas.openxmlformats.org/drawingml/2006/main">
            <a:r>
              <a:t>https://www.newsru.com/dossiers/10330/</a:t>
            </a:r>
          </a:p>
          <a:p xmlns:a="http://schemas.openxmlformats.org/drawingml/2006/main">
            <a:r>
              <a:t>https://www.interfax.ru/russia/714300</a:t>
            </a:r>
          </a:p>
          <a:p xmlns:a="http://schemas.openxmlformats.org/drawingml/2006/main">
            <a:r>
              <a:t>https://www.rbc.ru/politics/14/09/2020/5f5e7dfb9a79477f7753d651</a:t>
            </a:r>
          </a:p>
          <a:p xmlns:a="http://schemas.openxmlformats.org/drawingml/2006/main">
            <a:r>
              <a:t>https://www.rline.tv/podrobnosti/2019-10-06-sergey-levchenko-za-chetyre-goda-sdelano-bolshe-chem-za-predydushchie-15-let/</a:t>
            </a:r>
          </a:p>
          <a:p xmlns:a="http://schemas.openxmlformats.org/drawingml/2006/main">
            <a:r>
              <a:t>https://vs19.ru/verhovny-sovet/deputati/670-konovalov-valentin-olegovich</a:t>
            </a:r>
          </a:p>
          <a:p xmlns:a="http://schemas.openxmlformats.org/drawingml/2006/main">
            <a:r>
              <a:t>https://meduza.io/feature/2018/09/10/etu-vlast-nichego-ne-spaset</a:t>
            </a:r>
          </a:p>
          <a:p xmlns:a="http://schemas.openxmlformats.org/drawingml/2006/main">
            <a:r>
              <a:t>https://kprf.ru/party-live/regnews/188553.html</a:t>
            </a:r>
          </a:p>
          <a:p xmlns:a="http://schemas.openxmlformats.org/drawingml/2006/main">
            <a:r>
              <a:t>https://www.kommersant.ru/doc/4441936</a:t>
            </a:r>
          </a:p>
          <a:p xmlns:a="http://schemas.openxmlformats.org/drawingml/2006/main">
            <a:r>
              <a:t>http://www.youtube.com/watch?v=eO6lUkFCAqM</a:t>
            </a:r>
          </a:p>
          <a:p xmlns:a="http://schemas.openxmlformats.org/drawingml/2006/main">
            <a:r>
              <a:t>https://ru.wikipedia.org/wiki/%D0%92%D1%8B%D0%B1%D0%BE%D1%80%D1%8B_%D0%B3%D0%BB%D0%B0%D0%B2%D1%8B_%D0%A0%D0%B5%D1%81%D0%BF%D1%83%D0%B1%D0%BB%D0%B8%D0%BA%D0%B8_%D0%A5%D0%B0%D0%BA%D0%B0%D1%81%D0%B8%D1%8F_(2018)</a:t>
            </a:r>
          </a:p>
          <a:p xmlns:a="http://schemas.openxmlformats.org/drawingml/2006/main">
            <a:r>
              <a:t>https://ok.ru/group/51615057903766/topic/157744983021718</a:t>
            </a:r>
          </a:p>
          <a:p xmlns:a="http://schemas.openxmlformats.org/drawingml/2006/main">
            <a:r>
              <a:t>https://kprf.ru/party-live/cknews/245343.html</a:t>
            </a:r>
          </a:p>
          <a:p xmlns:a="http://schemas.openxmlformats.org/drawingml/2006/main">
            <a:r>
              <a:t>https://r-19.ru/news/politika/190680/</a:t>
            </a:r>
          </a:p>
          <a:p xmlns:a="http://schemas.openxmlformats.org/drawingml/2006/main">
            <a:r>
              <a:t>https://r-19.ru/news/ekonomika/193031/</a:t>
            </a:r>
          </a:p>
          <a:p xmlns:a="http://schemas.openxmlformats.org/drawingml/2006/main">
            <a:r>
              <a:t>https://19rusinfo.ru/ekonomika/118670-otchjot</a:t>
            </a:r>
          </a:p>
          <a:p xmlns:a="http://schemas.openxmlformats.org/drawingml/2006/main">
            <a:r>
              <a:t>https://iditena.ru/candidates/konovalov-valentin-olegovich/</a:t>
            </a:r>
          </a:p>
          <a:p xmlns:a="http://schemas.openxmlformats.org/drawingml/2006/main">
            <a:r>
              <a:t>https://56.kprf.ru/deyatelnost/tpost/gjjjuy1zi1-glava-hakasii-valentin-konovalov-dal-int</a:t>
            </a:r>
          </a:p>
          <a:p xmlns:a="http://schemas.openxmlformats.org/drawingml/2006/main">
            <a:r>
              <a:t>https://meduza.io/feature/2019/05/31/strana-pobedivshego-kommunista</a:t>
            </a:r>
          </a:p>
          <a:p xmlns:a="http://schemas.openxmlformats.org/drawingml/2006/main">
            <a:r>
              <a:t>https://xn--80aac0c2a.xn--p1acf/2026/08/22/vstrecha-s-uchastiem-valentina-konovalova-i-alekseya-kornienko-proshla-v-habarovske</a:t>
            </a:r>
          </a:p>
          <a:p xmlns:a="http://schemas.openxmlformats.org/drawingml/2006/main">
            <a:r>
              <a:t>https://www.vedomosti.ru/politics/characters/2026/07/06/1211370-valentin-konovalov-rossiya-na-moskve-ne-zakanchivaetsya?from=newsline</a:t>
            </a:r>
          </a:p>
          <a:p xmlns:a="http://schemas.openxmlformats.org/drawingml/2006/main">
            <a:r>
              <a:t>https://www.vedomosti.ru/person/1215197-aksenov-sergei</a:t>
            </a:r>
          </a:p>
          <a:p xmlns:a="http://schemas.openxmlformats.org/drawingml/2006/main">
            <a:r>
              <a:t>https://www.rbc.ru/person/65f020599a79475815e702c9</a:t>
            </a:r>
          </a:p>
          <a:p xmlns:a="http://schemas.openxmlformats.org/drawingml/2006/main">
            <a:r>
              <a:t>http://crimea.gov.ru/news/30_03_18_10</a:t>
            </a:r>
          </a:p>
          <a:p xmlns:a="http://schemas.openxmlformats.org/drawingml/2006/main">
            <a:r>
              <a:t>https://www.npr.org/sections/parallels/2018/01/27/581114772/putins-man-in-crimea-we-ve-returned-to-russia-forever</a:t>
            </a:r>
          </a:p>
          <a:p xmlns:a="http://schemas.openxmlformats.org/drawingml/2006/main">
            <a:r>
              <a:t>http://crimea.gov.ru/en/news/26_02_19_6</a:t>
            </a:r>
          </a:p>
          <a:p xmlns:a="http://schemas.openxmlformats.org/drawingml/2006/main">
            <a:r>
              <a:t>https://antifashist.com/item/kto-polomal-infopole-kryma-i-ne-otvechaet-na-voprosy.html</a:t>
            </a:r>
          </a:p>
          <a:p xmlns:a="http://schemas.openxmlformats.org/drawingml/2006/main">
            <a:r>
              <a:t>https://ru.krymr.com/a/news/27913548.html</a:t>
            </a:r>
          </a:p>
          <a:p xmlns:a="http://schemas.openxmlformats.org/drawingml/2006/main">
            <a:r>
              <a:t>https://simfch.ru/2022/03/02/glava-respubliki-krym-sergej-aksyonov-prizval-krymchan-k-informaczionnoj-mobilizaczii-otkrytomu-i-publichnomu-vyrazheniyu-svoej-patrioticheskoj-poziczii/</a:t>
            </a:r>
          </a:p>
          <a:p xmlns:a="http://schemas.openxmlformats.org/drawingml/2006/main">
            <a:r>
              <a:t>https://www.rbc.ru/politics/29/05/2023/64749e389a7947f3de98dff2</a:t>
            </a:r>
          </a:p>
          <a:p xmlns:a="http://schemas.openxmlformats.org/drawingml/2006/main">
            <a:r>
              <a:t>https://ru.krymr.com/a/krym-sergey-aksenov-pvo-prilety-bavovna-bezopasnost-pvo-udar/32631709.html</a:t>
            </a:r>
          </a:p>
          <a:p xmlns:a="http://schemas.openxmlformats.org/drawingml/2006/main">
            <a:r>
              <a:t>https://rostov.rbc.ru/rostov/interview/18/03/2024/65f75c4f9a7947c8b475ab94</a:t>
            </a:r>
          </a:p>
          <a:p xmlns:a="http://schemas.openxmlformats.org/drawingml/2006/main">
            <a:r>
              <a:t>https://www.kommersant.ru/doc/7715230</a:t>
            </a:r>
          </a:p>
          <a:p xmlns:a="http://schemas.openxmlformats.org/drawingml/2006/main">
            <a:r>
              <a:t>https://www.kommersant.ru/doc/5154319</a:t>
            </a:r>
          </a:p>
          <a:p xmlns:a="http://schemas.openxmlformats.org/drawingml/2006/main">
            <a:r>
              <a:t>https://www.rbc.ru/person/660290b19a7947801fe9439b</a:t>
            </a:r>
          </a:p>
          <a:p xmlns:a="http://schemas.openxmlformats.org/drawingml/2006/main">
            <a:r>
              <a:t>https://www.kommersant.ru/doc/3759211</a:t>
            </a:r>
          </a:p>
          <a:p xmlns:a="http://schemas.openxmlformats.org/drawingml/2006/main">
            <a:r>
              <a:t>https://tass.ru/info/6656656</a:t>
            </a:r>
          </a:p>
          <a:p xmlns:a="http://schemas.openxmlformats.org/drawingml/2006/main">
            <a:r>
              <a:t>https://sevastopol.er.ru/pages/otchet-gubernatora-sevastopolya-mihaila-razvozhaeva</a:t>
            </a:r>
          </a:p>
          <a:p xmlns:a="http://schemas.openxmlformats.org/drawingml/2006/main">
            <a:r>
              <a:t>http://special.kremlin.ru/catalog/persons/579/events/76271</a:t>
            </a:r>
          </a:p>
          <a:p xmlns:a="http://schemas.openxmlformats.org/drawingml/2006/main">
            <a:r>
              <a:t>https://sevastopol.su/news/chastnyy-biznes-vlozhil-v-sevastopol-250-mlrd-rubley-za-tri-goda</a:t>
            </a:r>
          </a:p>
          <a:p xmlns:a="http://schemas.openxmlformats.org/drawingml/2006/main">
            <a:r>
              <a:t>https://sevastopol.su/news/v-sevastopole-ocenili-perspektivy-mikhaila-razvozhaeva-na-sleduyuschikh-vyborakh</a:t>
            </a:r>
          </a:p>
          <a:p xmlns:a="http://schemas.openxmlformats.org/drawingml/2006/main">
            <a:r>
              <a:t>https://tass.ru/interviews/10248577</a:t>
            </a:r>
          </a:p>
          <a:p xmlns:a="http://schemas.openxmlformats.org/drawingml/2006/main">
            <a:r>
              <a:t>https://news.ru/russia/u-nas-smelye-plany-gubernator-sevastopolya-razvozzhaev-o-budushem-goroda</a:t>
            </a:r>
          </a:p>
          <a:p xmlns:a="http://schemas.openxmlformats.org/drawingml/2006/main">
            <a:r>
              <a:t>http://kremlin.ru/events/administration/80838</a:t>
            </a:r>
          </a:p>
          <a:p xmlns:a="http://schemas.openxmlformats.org/drawingml/2006/main">
            <a:r>
              <a:t>https://tass.ru/kultura/28214691</a:t>
            </a:r>
          </a:p>
          <a:p xmlns:a="http://schemas.openxmlformats.org/drawingml/2006/main">
            <a:r>
              <a:t>http://kremlin.ru/events/administration/80591</a:t>
            </a:r>
          </a:p>
          <a:p xmlns:a="http://schemas.openxmlformats.org/drawingml/2006/main">
            <a:r>
              <a:t>https://governors.ru/glava-regiona/Belgorodskaya-oblast/Gladkov-Vyacheslav-Vladimirovich</a:t>
            </a:r>
          </a:p>
          <a:p xmlns:a="http://schemas.openxmlformats.org/drawingml/2006/main">
            <a:r>
              <a:t>https://ru.wikipedia.org/wiki/%D0%93%D0%BB%D0%B0%D0%B4%D0%BA%D0%BE%D0%B2,_%D0%92%D1%8F%D1%87%D0%B5%D1%81%D0%BB%D0%B0%D0%B2_%D0%92%D0%BB%D0%B0%D0%B4%D0%B8%D0%BC%D0%B8%D1%80%D0%BE%D0%B2%D0%B8%D1%87</a:t>
            </a:r>
          </a:p>
          <a:p xmlns:a="http://schemas.openxmlformats.org/drawingml/2006/main">
            <a:r>
              <a:t>http://council.gov.ru/structure/persons/1543/</a:t>
            </a:r>
          </a:p>
          <a:p xmlns:a="http://schemas.openxmlformats.org/drawingml/2006/main">
            <a:r>
              <a:t>https://ufa.rbc.ru/person/648345539a794760fd0c17e8</a:t>
            </a:r>
          </a:p>
          <a:p xmlns:a="http://schemas.openxmlformats.org/drawingml/2006/main">
            <a:r>
              <a:t>https://www.kommersant.ru/doc/8571119</a:t>
            </a:r>
          </a:p>
          <a:p xmlns:a="http://schemas.openxmlformats.org/drawingml/2006/main">
            <a:r>
              <a:t>https://www.kommersant.ru/doc/8655079</a:t>
            </a:r>
          </a:p>
          <a:p xmlns:a="http://schemas.openxmlformats.org/drawingml/2006/main">
            <a:r>
              <a:t>https://tass.ru/info/27861241</a:t>
            </a:r>
          </a:p>
          <a:p xmlns:a="http://schemas.openxmlformats.org/drawingml/2006/main">
            <a:r>
              <a:t>https://meduza.io/feature/2023/06/08/emu-by-vse-eto-razgresti</a:t>
            </a:r>
          </a:p>
          <a:p xmlns:a="http://schemas.openxmlformats.org/drawingml/2006/main">
            <a:r>
              <a:t>http://www.kremlin.ru/events/president/transcripts/66288</a:t>
            </a:r>
          </a:p>
          <a:p xmlns:a="http://schemas.openxmlformats.org/drawingml/2006/main">
            <a:r>
              <a:t>https://www.belpressa.ru/politics/vlast/62665.html</a:t>
            </a:r>
          </a:p>
          <a:p xmlns:a="http://schemas.openxmlformats.org/drawingml/2006/main">
            <a:r>
              <a:t>https://www.belpressa.ru/politics/vlast/71368.html</a:t>
            </a:r>
          </a:p>
          <a:p xmlns:a="http://schemas.openxmlformats.org/drawingml/2006/main">
            <a:r>
              <a:t>https://www.belnovosti.ru/politika/gubernator/127077.html</a:t>
            </a:r>
          </a:p>
          <a:p xmlns:a="http://schemas.openxmlformats.org/drawingml/2006/main">
            <a:r>
              <a:t>https://chr.plus.rbc.ru/news/694b9fb67a8aa90f9c2ce17d</a:t>
            </a:r>
          </a:p>
          <a:p xmlns:a="http://schemas.openxmlformats.org/drawingml/2006/main">
            <a:r>
              <a:t>https://www.belpressa.ru/society/bezopasnost/43348.html</a:t>
            </a:r>
          </a:p>
          <a:p xmlns:a="http://schemas.openxmlformats.org/drawingml/2006/main">
            <a:r>
              <a:t>https://www.rbc.ru/politics/07/03/2023/640758bf9a7947f6af99d464</a:t>
            </a:r>
          </a:p>
          <a:p xmlns:a="http://schemas.openxmlformats.org/drawingml/2006/main">
            <a:r>
              <a:t>https://www.rbc.ru/politics/24/05/2023/646d22029a794797c4bac4bf</a:t>
            </a:r>
          </a:p>
          <a:p xmlns:a="http://schemas.openxmlformats.org/drawingml/2006/main">
            <a:r>
              <a:t>https://www.bbc.com/russian/articles/c70dkd0pvrlo</a:t>
            </a:r>
          </a:p>
          <a:p xmlns:a="http://schemas.openxmlformats.org/drawingml/2006/main">
            <a:r>
              <a:t>https://www.go31.ru/news/proisshestviya/kak-nikto-drugoy-ponimaem-chto-takoe-agressiya-so-storony-ukrainy-gladkov-o-proryve-granitsy-v-kursk/</a:t>
            </a:r>
          </a:p>
          <a:p xmlns:a="http://schemas.openxmlformats.org/drawingml/2006/main">
            <a:r>
              <a:t>https://echofm.online/portret-dnya/portret-dnya-vyacheslav-gladkov-gubernator-belgorodskoj-oblasti-prognozy-o-sudbe-kotorogo-raznyatsya-ot-posta-posla-v-abhazii-do-ugolovnogo-dela</a:t>
            </a:r>
          </a:p>
          <a:p xmlns:a="http://schemas.openxmlformats.org/drawingml/2006/main">
            <a:r>
              <a:t>https://www.kommersant.ru/doc/3917861</a:t>
            </a:r>
          </a:p>
          <a:p xmlns:a="http://schemas.openxmlformats.org/drawingml/2006/main">
            <a:r>
              <a:t>https://minstroyrf.gov.ru/press/okolo-40-kontsessionnykh-soglasheniy-v-rossii-deystvuet-v-sfere-zhkkh/</a:t>
            </a:r>
          </a:p>
          <a:p xmlns:a="http://schemas.openxmlformats.org/drawingml/2006/main">
            <a:r>
              <a:t>https://newsroom24.ru/murmansk/news/politics/2026/news_323931/</a:t>
            </a:r>
          </a:p>
          <a:p xmlns:a="http://schemas.openxmlformats.org/drawingml/2006/main">
            <a:r>
              <a:t>https://murmansk.ru/52053</a:t>
            </a:r>
          </a:p>
          <a:p xmlns:a="http://schemas.openxmlformats.org/drawingml/2006/main">
            <a:r>
              <a:t>https://51.ru/text/gorod/2026/01/22/76228112/</a:t>
            </a:r>
          </a:p>
          <a:p xmlns:a="http://schemas.openxmlformats.org/drawingml/2006/main">
            <a:r>
              <a:t>https://www.murman.ru/news/2026/05/02/2334/</a:t>
            </a:r>
          </a:p>
          <a:p xmlns:a="http://schemas.openxmlformats.org/drawingml/2006/main">
            <a:r>
              <a:t>https://murman.ru/news/2026/09/06/2141/</a:t>
            </a:r>
          </a:p>
          <a:p xmlns:a="http://schemas.openxmlformats.org/drawingml/2006/main">
            <a:r>
              <a:t>https://www.murman.ru/news/2026/09/13/2242/</a:t>
            </a:r>
          </a:p>
          <a:p xmlns:a="http://schemas.openxmlformats.org/drawingml/2006/main">
            <a:r>
              <a:t>https://ru.wikipedia.org/wiki/%D0%A7%D0%B8%D0%B1%D0%B8%D1%81,_%D0%90%D0%BD%D0%B4%D1%80%D0%B5%D0%B9_%D0%92%D0%BB%D0%B0%D0%B4%D0%B8%D0%BC%D0%B8%D1%80%D0%BE%D0%B2%D0%B8%D1%87</a:t>
            </a:r>
          </a:p>
          <a:p xmlns:a="http://schemas.openxmlformats.org/drawingml/2006/main">
            <a:r>
              <a:t>https://tass.ru/obschestvo/23491353</a:t>
            </a:r>
          </a:p>
          <a:p xmlns:a="http://schemas.openxmlformats.org/drawingml/2006/main">
            <a:r>
              <a:t>https://www.murman.ru/news/2026/09/03/2243/</a:t>
            </a:r>
          </a:p>
          <a:p xmlns:a="http://schemas.openxmlformats.org/drawingml/2006/main">
            <a:r>
              <a:t>https://msp.citymurmansk.ru/news/2026/09/03/0930/</a:t>
            </a:r>
          </a:p>
          <a:p xmlns:a="http://schemas.openxmlformats.org/drawingml/2006/main">
            <a:r>
              <a:t>http://kremlin.ru/events/president/letters/80916</a:t>
            </a:r>
          </a:p>
          <a:p xmlns:a="http://schemas.openxmlformats.org/drawingml/2006/main">
            <a:r>
              <a:t>https://www.murmansk.kp.ru/daily/277813.4/5300258/</a:t>
            </a:r>
          </a:p>
          <a:p xmlns:a="http://schemas.openxmlformats.org/drawingml/2006/main">
            <a:r>
              <a:t>https://www.fontanka.ru/2021/07/27/70046798/</a:t>
            </a:r>
          </a:p>
          <a:p xmlns:a="http://schemas.openxmlformats.org/drawingml/2006/main">
            <a:r>
              <a:t>https://www.kommersant.ru/doc/4639758</a:t>
            </a:r>
          </a:p>
          <a:p xmlns:a="http://schemas.openxmlformats.org/drawingml/2006/main">
            <a:r>
              <a:t>https://www.bbc.com/russian/news-55614829</a:t>
            </a:r>
          </a:p>
          <a:p xmlns:a="http://schemas.openxmlformats.org/drawingml/2006/main">
            <a:r>
              <a:t>https://newpeople.ru/Deputy/sardana-avksenteva</a:t>
            </a:r>
          </a:p>
          <a:p xmlns:a="http://schemas.openxmlformats.org/drawingml/2006/main">
            <a:r>
              <a:t>https://www.pnp.ru/economics/kontrol-za-koncessionnymi-soglasheniyami-predlozhili-usilit.html</a:t>
            </a:r>
          </a:p>
          <a:p xmlns:a="http://schemas.openxmlformats.org/drawingml/2006/main">
            <a:r>
              <a:t>https://www.ng.ru/politics/2024-12-05/1_9150_right.html</a:t>
            </a:r>
          </a:p>
          <a:p xmlns:a="http://schemas.openxmlformats.org/drawingml/2006/main">
            <a:r>
              <a:t>https://news.ru/society/v-novyh-lyudyah-rasskazali-o-glavnyh-zadachah-partii-pered-vyborami</a:t>
            </a:r>
          </a:p>
          <a:p xmlns:a="http://schemas.openxmlformats.org/drawingml/2006/main">
            <a:r>
              <a:t>https://www.kommersant.ru/doc/8939397</a:t>
            </a:r>
          </a:p>
          <a:p xmlns:a="http://schemas.openxmlformats.org/drawingml/2006/main">
            <a:r>
              <a:t>https://tass.ru/info/5220823</a:t>
            </a:r>
          </a:p>
          <a:p xmlns:a="http://schemas.openxmlformats.org/drawingml/2006/main">
            <a:r>
              <a:t>https://tass.ru/info/15547711</a:t>
            </a:r>
          </a:p>
          <a:p xmlns:a="http://schemas.openxmlformats.org/drawingml/2006/main">
            <a:r>
              <a:t>https://www.bbc.com/russian/features-62661643</a:t>
            </a:r>
          </a:p>
          <a:p xmlns:a="http://schemas.openxmlformats.org/drawingml/2006/main">
            <a:r>
              <a:t>https://www.kommersant.ru/doc/3298219</a:t>
            </a:r>
          </a:p>
          <a:p xmlns:a="http://schemas.openxmlformats.org/drawingml/2006/main">
            <a:r>
              <a:t>https://www.svoboda.org/a/31217129.html</a:t>
            </a:r>
          </a:p>
          <a:p xmlns:a="http://schemas.openxmlformats.org/drawingml/2006/main">
            <a:r>
              <a:t>https://www.interfax.ru/russia/902059</a:t>
            </a:r>
          </a:p>
          <a:p xmlns:a="http://schemas.openxmlformats.org/drawingml/2006/main">
            <a:r>
              <a:t>https://www.bfm.ru/news/525620</a:t>
            </a:r>
          </a:p>
          <a:p xmlns:a="http://schemas.openxmlformats.org/drawingml/2006/main">
            <a:r>
              <a:t>https://novayagazeta.ru/articles/2023/03/16/do-urovnia-myshei-media</a:t>
            </a:r>
          </a:p>
          <a:p xmlns:a="http://schemas.openxmlformats.org/drawingml/2006/main">
            <a:r>
              <a:t>https://tjournal.ru/71076</a:t>
            </a:r>
          </a:p>
          <a:p xmlns:a="http://schemas.openxmlformats.org/drawingml/2006/main">
            <a:r>
              <a:t>https://www.nakanune.ru/articles/111648/</a:t>
            </a:r>
          </a:p>
          <a:p xmlns:a="http://schemas.openxmlformats.org/drawingml/2006/main">
            <a:r>
              <a:t>https://adcmemorial.org/statyi/kolonki/neprotivlenie-rasizmu/</a:t>
            </a:r>
          </a:p>
          <a:p xmlns:a="http://schemas.openxmlformats.org/drawingml/2006/main">
            <a:r>
              <a:t>https://www.svoboda.org/a/royzman-i-drugie-zhiteli-ekaterinburga/31997151.html</a:t>
            </a:r>
          </a:p>
          <a:p xmlns:a="http://schemas.openxmlformats.org/drawingml/2006/main">
            <a:r>
              <a:t>https://www.e1.ru/text/politics/2022/02/24/70466417/</a:t>
            </a:r>
          </a:p>
          <a:p xmlns:a="http://schemas.openxmlformats.org/drawingml/2006/main">
            <a:r>
              <a:t>https://www.dw.com/ru/kommentarij-evgenij-rojzman-i-sila-pravdy/a-62917754</a:t>
            </a:r>
          </a:p>
          <a:p xmlns:a="http://schemas.openxmlformats.org/drawingml/2006/main">
            <a:r>
              <a:t>https://meduza.io/paragraph/2022/08/26/priehali-moskvichi-i-dumali-chto-zdes-duraki-sobralis</a:t>
            </a:r>
          </a:p>
          <a:p xmlns:a="http://schemas.openxmlformats.org/drawingml/2006/main">
            <a:r>
              <a:t>https://znamlit.ru/publication.php?id=7379</a:t>
            </a:r>
          </a:p>
          <a:p xmlns:a="http://schemas.openxmlformats.org/drawingml/2006/main">
            <a:r>
              <a:t>https://tass.ru/interviews/6080499</a:t>
            </a:r>
          </a:p>
          <a:p xmlns:a="http://schemas.openxmlformats.org/drawingml/2006/main">
            <a:r>
              <a:t>https://45.ru/text/politics/2024/09/09/73952072/</a:t>
            </a:r>
          </a:p>
          <a:p xmlns:a="http://schemas.openxmlformats.org/drawingml/2006/main">
            <a:r>
              <a:t>http://special.kremlin.ru/events/president/news/70638</a:t>
            </a:r>
          </a:p>
          <a:p xmlns:a="http://schemas.openxmlformats.org/drawingml/2006/main">
            <a:r>
              <a:t>https://ura.news/news/1053132902</a:t>
            </a:r>
          </a:p>
          <a:p xmlns:a="http://schemas.openxmlformats.org/drawingml/2006/main">
            <a:r>
              <a:t>https://ura.news/articles/1036276564</a:t>
            </a:r>
          </a:p>
          <a:p xmlns:a="http://schemas.openxmlformats.org/drawingml/2006/main">
            <a:r>
              <a:t>https://tass.ru/novosti-regionov/28187431</a:t>
            </a:r>
          </a:p>
          <a:p xmlns:a="http://schemas.openxmlformats.org/drawingml/2006/main">
            <a:r>
              <a:t>https://fedpress.ru/person/1753607</a:t>
            </a:r>
          </a:p>
          <a:p xmlns:a="http://schemas.openxmlformats.org/drawingml/2006/main">
            <a:r>
              <a:t>https://eburg.mk.ru/social/2026/10/14/zhiteley-zauralya-predupredili-o-lozhnykh-videorolikakh-s-gubernatorom.html</a:t>
            </a:r>
          </a:p>
          <a:p xmlns:a="http://schemas.openxmlformats.org/drawingml/2006/main">
            <a:r>
              <a:t>https://regnum.ru/news/3530808</a:t>
            </a:r>
          </a:p>
          <a:p xmlns:a="http://schemas.openxmlformats.org/drawingml/2006/main">
            <a:r>
              <a:t>https://kurganvera.ru/news/vrns/mitropolit-daniil-i-vadim-shumkov-vozglavili-delegatsiyu-kurganskoy-oblasti-na-vsemirnom-russkom-sob/</a:t>
            </a:r>
          </a:p>
          <a:p xmlns:a="http://schemas.openxmlformats.org/drawingml/2006/main">
            <a:r>
              <a:t>https://45.ru/text/politics/2026/06/26/76499700/</a:t>
            </a:r>
          </a:p>
          <a:p xmlns:a="http://schemas.openxmlformats.org/drawingml/2006/main">
            <a:r>
              <a:t>https://niva-kurtamysh.com/news/obshchestvo/vystuplenie-gubernatora-kurganskoy-oblasti-vadima-shumkova</a:t>
            </a:r>
          </a:p>
          <a:p xmlns:a="http://schemas.openxmlformats.org/drawingml/2006/main">
            <a:r>
              <a:t>https://t.me/s/kurganskayaobl?before=42616</a:t>
            </a:r>
          </a:p>
          <a:p xmlns:a="http://schemas.openxmlformats.org/drawingml/2006/main">
            <a:r>
              <a:t>https://www.bbc.com/russian/news-54368577</a:t>
            </a:r>
          </a:p>
          <a:p xmlns:a="http://schemas.openxmlformats.org/drawingml/2006/main">
            <a:r>
              <a:t>https://www.bbc.com/russian/articles/cp0769dp15eo</a:t>
            </a:r>
          </a:p>
          <a:p xmlns:a="http://schemas.openxmlformats.org/drawingml/2006/main">
            <a:r>
              <a:t>https://navalny.com/materials/blogpost-6017</a:t>
            </a:r>
          </a:p>
          <a:p xmlns:a="http://schemas.openxmlformats.org/drawingml/2006/main">
            <a:r>
              <a:t>https://www.bbc.com/russian/news-58563592</a:t>
            </a:r>
          </a:p>
          <a:p xmlns:a="http://schemas.openxmlformats.org/drawingml/2006/main">
            <a:r>
              <a:t>https://navalny.com/materials/blogpost-6544</a:t>
            </a:r>
          </a:p>
          <a:p xmlns:a="http://schemas.openxmlformats.org/drawingml/2006/main">
            <a:r>
              <a:t>https://www.bbc.com/russian/news-58270043</a:t>
            </a:r>
          </a:p>
          <a:p xmlns:a="http://schemas.openxmlformats.org/drawingml/2006/main">
            <a:r>
              <a:t>https://www.bbc.com/russian/articles/cvg3p9l1e5ro</a:t>
            </a:r>
          </a:p>
          <a:p xmlns:a="http://schemas.openxmlformats.org/drawingml/2006/main">
            <a:r>
              <a:t>https://www.bbc.com/russian/features-54435835</a:t>
            </a:r>
          </a:p>
          <a:p xmlns:a="http://schemas.openxmlformats.org/drawingml/2006/main">
            <a:r>
              <a:t>https://2018.navalny.com/platform/7/</a:t>
            </a:r>
          </a:p>
          <a:p xmlns:a="http://schemas.openxmlformats.org/drawingml/2006/main">
            <a:r>
              <a:t>https://2018.navalny.com/platform/3/</a:t>
            </a:r>
          </a:p>
          <a:p xmlns:a="http://schemas.openxmlformats.org/drawingml/2006/main">
            <a:r>
              <a:t>https://2018.navalny.com/platform/10/</a:t>
            </a:r>
          </a:p>
          <a:p xmlns:a="http://schemas.openxmlformats.org/drawingml/2006/main">
            <a:r>
              <a:t>https://2018.navalny.com/platform/9/</a:t>
            </a:r>
          </a:p>
          <a:p xmlns:a="http://schemas.openxmlformats.org/drawingml/2006/main">
            <a:r>
              <a:t>https://navalny.com/editorials/aleksey-navalnyy-protiv-voyny</a:t>
            </a:r>
          </a:p>
          <a:p xmlns:a="http://schemas.openxmlformats.org/drawingml/2006/main">
            <a:r>
              <a:t>https://navalny.com/?p=149</a:t>
            </a:r>
          </a:p>
          <a:p xmlns:a="http://schemas.openxmlformats.org/drawingml/2006/main">
            <a:r>
              <a:t>https://www.interfax.ru/russia/876151</a:t>
            </a:r>
          </a:p>
          <a:p xmlns:a="http://schemas.openxmlformats.org/drawingml/2006/main">
            <a:r>
              <a:t>https://www.dw.com/ru/srok-ne-za-fejk-a-za-politiku-reakcii-v-frg-i-rf-na-prigovor-asinu/a-64049957</a:t>
            </a:r>
          </a:p>
          <a:p xmlns:a="http://schemas.openxmlformats.org/drawingml/2006/main">
            <a:r>
              <a:t>https://www.lemonde.fr/en/international/article/2025/05/27/russian-opposition-figure-ilya-yashin-if-ukraine-is-handed-over-to-putin-it-will-be-a-tragedy-and-the-prologue-to-a-global-confrontation_6741728_4.html</a:t>
            </a:r>
          </a:p>
          <a:p xmlns:a="http://schemas.openxmlformats.org/drawingml/2006/main">
            <a:r>
              <a:t>https://www.bbc.com/russian/articles/crgl69w9472o</a:t>
            </a:r>
          </a:p>
          <a:p xmlns:a="http://schemas.openxmlformats.org/drawingml/2006/main">
            <a:r>
              <a:t>https://www.svoboda.org/a/yashin-court/32165539.html</a:t>
            </a:r>
          </a:p>
          <a:p xmlns:a="http://schemas.openxmlformats.org/drawingml/2006/main">
            <a:r>
              <a:t>https://www.dw.com/ru/ila-asin-putin-predvoditel-sil-mrakobesia/a-69923731</a:t>
            </a:r>
          </a:p>
          <a:p xmlns:a="http://schemas.openxmlformats.org/drawingml/2006/main">
            <a:r>
              <a:t>https://novayagazeta.eu/articles/2025/08/01/my-ne-mozhem-trebovat-no-mozhem-obiasniat</a:t>
            </a:r>
          </a:p>
          <a:p xmlns:a="http://schemas.openxmlformats.org/drawingml/2006/main">
            <a:r>
              <a:t>https://meduza.io/feature/2019/07/20/to-chto-putin-ne-smog-sdelat-za-20-let-sobyanin-sdelal-za-mesyats</a:t>
            </a:r>
          </a:p>
          <a:p xmlns:a="http://schemas.openxmlformats.org/drawingml/2006/main">
            <a:r>
              <a:t>https://novayagazeta.eu/articles/2024/11/18/pochuvstvovat-sebia-ne-odinokimi</a:t>
            </a:r>
          </a:p>
          <a:p xmlns:a="http://schemas.openxmlformats.org/drawingml/2006/main">
            <a:r>
              <a:t>https://www.svoboda.org/a/voyna-putin-i-politzaklyuchennye-iljya-yashin-o-svoih-planah/33177839.html</a:t>
            </a:r>
          </a:p>
          <a:p xmlns:a="http://schemas.openxmlformats.org/drawingml/2006/main">
            <a:r>
              <a:t>https://www.dw.com/ru/asin-sejcas-nevozmozno-obedinit-rossijskuu-oppoziciu-da-i-ne-nuzno/a-70291088</a:t>
            </a:r>
          </a:p>
          <a:p xmlns:a="http://schemas.openxmlformats.org/drawingml/2006/main">
            <a:r>
              <a:t>https://www.dw.com/ru/vladimir-karamurza/t-37465233</a:t>
            </a:r>
          </a:p>
          <a:p xmlns:a="http://schemas.openxmlformats.org/drawingml/2006/main">
            <a:r>
              <a:t>https://ovd.info/persons/kara-murza-vladimir-vladimirovich</a:t>
            </a:r>
          </a:p>
          <a:p xmlns:a="http://schemas.openxmlformats.org/drawingml/2006/main">
            <a:r>
              <a:t>https://ovd.info/2024/08/03/kogo-rossiya-vydala-v-ramkakh-obmena-zaklyuchennymi-s-zapadom-istorii-osvobozhdennykh</a:t>
            </a:r>
          </a:p>
          <a:p xmlns:a="http://schemas.openxmlformats.org/drawingml/2006/main">
            <a:r>
              <a:t>https://www.svoboda.org/a/kara-murza-obmen/33059121.html</a:t>
            </a:r>
          </a:p>
          <a:p xmlns:a="http://schemas.openxmlformats.org/drawingml/2006/main">
            <a:r>
              <a:t>https://novayagazeta.ru/articles/2024/08/16/prezident-baiden-prinial-osvobozhdennogo-v-rezultate-obmena-politzakliuchennogo-vladimira-kara-murzu-s-semei-v-belom-dome-news</a:t>
            </a:r>
          </a:p>
          <a:p xmlns:a="http://schemas.openxmlformats.org/drawingml/2006/main">
            <a:r>
              <a:t>https://genevasummit.org/speech/vladimir-kara-murza-speaks-at-2018-geneva-summit-main-event/</a:t>
            </a:r>
          </a:p>
          <a:p xmlns:a="http://schemas.openxmlformats.org/drawingml/2006/main">
            <a:r>
              <a:t>https://humanrights.ca/event-series/presidents-lecture-series</a:t>
            </a:r>
          </a:p>
          <a:p xmlns:a="http://schemas.openxmlformats.org/drawingml/2006/main">
            <a:r>
              <a:t>https://www.radiofrance.fr/franceinter/podcasts/l-info-de-france-inter/la-democratie-doit-etre-protegee-chaque-minute-de-chaque-jour-declare-l-opposant-russe-vladimir-kara-mourza-8105094</a:t>
            </a:r>
          </a:p>
          <a:p xmlns:a="http://schemas.openxmlformats.org/drawingml/2006/main">
            <a:r>
              <a:t>https://georgetownvoice.com/2025/10/08/dissident-in-residence-vladimir-kara-murza-applies-past-lessons-to-present-day-in-recent-event-discussing-democracy/</a:t>
            </a:r>
          </a:p>
          <a:p xmlns:a="http://schemas.openxmlformats.org/drawingml/2006/main">
            <a:r>
              <a:t>https://www.oscepa.org/en/documents/winter-meetings/2025-vienna/speeches-36/5176-vladimir-kara-murza-address-to-the-osce-pa-winter-meeting-in-vienna-21-february-2025/file</a:t>
            </a:r>
          </a:p>
          <a:p xmlns:a="http://schemas.openxmlformats.org/drawingml/2006/main">
            <a:r>
              <a:t>https://hrf.org/wp-content/uploads/2024/10/VKM-%E2%80%93-Statement-of-Facts-and-Levinson-Analysis.pdf</a:t>
            </a:r>
          </a:p>
          <a:p xmlns:a="http://schemas.openxmlformats.org/drawingml/2006/main">
            <a:r>
              <a:t>https://www.govinfo.gov/content/pkg/CREC-2024-06-11/html/CREC-2024-06-11-pt1-PgH3699.htm</a:t>
            </a:r>
          </a:p>
          <a:p xmlns:a="http://schemas.openxmlformats.org/drawingml/2006/main">
            <a:r>
              <a:t>https://antiwarcommittee.info/en/statement-on-the-persecution-of-vladimir-kara-murza/</a:t>
            </a:r>
          </a:p>
          <a:p xmlns:a="http://schemas.openxmlformats.org/drawingml/2006/main">
            <a:r>
              <a:t>https://www.norway.no/en/missions/osce/norway-and-the-osce/statements/statements-with--norwegian-alignment-2024/joint-statement-on-vladimir-kara-murza/</a:t>
            </a:r>
          </a:p>
          <a:p xmlns:a="http://schemas.openxmlformats.org/drawingml/2006/main">
            <a:r>
              <a:t>https://www.aljazeera.com/news/2025/4/23/kremlin-critic-decried-for-racist-rant-on-minorities-fighting-for-russia</a:t>
            </a:r>
          </a:p>
          <a:p xmlns:a="http://schemas.openxmlformats.org/drawingml/2006/main">
            <a:r>
              <a:t>https://www.rmc.edu/news/former-political-prisoner-vladimir-kara-murza-offers-vision-of-hope-for-russian-democracy/</a:t>
            </a:r>
          </a:p>
          <a:p xmlns:a="http://schemas.openxmlformats.org/drawingml/2006/main">
            <a:r>
              <a:t>https://2018.yavlinsky.ru/campaign/</a:t>
            </a:r>
          </a:p>
          <a:p xmlns:a="http://schemas.openxmlformats.org/drawingml/2006/main">
            <a:r>
              <a:t>http://2018.yavlinsky.ru/programm/</a:t>
            </a:r>
          </a:p>
          <a:p xmlns:a="http://schemas.openxmlformats.org/drawingml/2006/main">
            <a:r>
              <a:t>https://campaign2018.yavlinsky.ru/</a:t>
            </a:r>
          </a:p>
          <a:p xmlns:a="http://schemas.openxmlformats.org/drawingml/2006/main">
            <a:r>
              <a:t>https://www.yavlinsky.ru/position/war/</a:t>
            </a:r>
          </a:p>
          <a:p xmlns:a="http://schemas.openxmlformats.org/drawingml/2006/main">
            <a:r>
              <a:t>https://www.yavlinsky.ru/position/cease-fire/</a:t>
            </a:r>
          </a:p>
          <a:p xmlns:a="http://schemas.openxmlformats.org/drawingml/2006/main">
            <a:r>
              <a:t>https://www.yavlinsky.ru/article_tax/ukraina/</a:t>
            </a:r>
          </a:p>
          <a:p xmlns:a="http://schemas.openxmlformats.org/drawingml/2006/main">
            <a:r>
              <a:t>https://www.yavlinsky.ru/biografiya/</a:t>
            </a:r>
          </a:p>
          <a:p xmlns:a="http://schemas.openxmlformats.org/drawingml/2006/main">
            <a:r>
              <a:t>https://www.yabloko.ru/publikatsii/2018/02/15_0</a:t>
            </a:r>
          </a:p>
          <a:p xmlns:a="http://schemas.openxmlformats.org/drawingml/2006/main">
            <a:r>
              <a:t>https://www.yabloko.ru/publikatsii/2018/06/19</a:t>
            </a:r>
          </a:p>
          <a:p xmlns:a="http://schemas.openxmlformats.org/drawingml/2006/main">
            <a:r>
              <a:t>https://www.yavlinsky.ru/article/eto-referendum/</a:t>
            </a:r>
          </a:p>
          <a:p xmlns:a="http://schemas.openxmlformats.org/drawingml/2006/main">
            <a:r>
              <a:t>https://www.svoboda.org/a/27801792.html</a:t>
            </a:r>
          </a:p>
          <a:p xmlns:a="http://schemas.openxmlformats.org/drawingml/2006/main">
            <a:r>
              <a:t>https://www.svoboda.org/a/29294829.html</a:t>
            </a:r>
          </a:p>
          <a:p xmlns:a="http://schemas.openxmlformats.org/drawingml/2006/main">
            <a:r>
              <a:t>https://www.yavlinsky.ru/article/intervyu-g-yavlinskogo-zhertvy-budut-proryva-net/</a:t>
            </a:r>
          </a:p>
          <a:p xmlns:a="http://schemas.openxmlformats.org/drawingml/2006/main">
            <a:r>
              <a:t>https://www.yavlinsky.ru/article/my-budem-idti-do-kontsa/</a:t>
            </a:r>
          </a:p>
          <a:p xmlns:a="http://schemas.openxmlformats.org/drawingml/2006/main">
            <a:r>
              <a:t>https://www.yavlinsky.ru/article/prezidentskie-vybory-1996-30-let-spustya/</a:t>
            </a:r>
          </a:p>
          <a:p xmlns:a="http://schemas.openxmlformats.org/drawingml/2006/main">
            <a:r>
              <a:t>https://www.forbes.ru/interview/45575-reformatory-prihodyat-k-vlasti-grigorii-yavlinskii</a:t>
            </a:r>
          </a:p>
          <a:p xmlns:a="http://schemas.openxmlformats.org/drawingml/2006/main">
            <a:r>
              <a:t>https://www.bbc.com/russian/articles/cy8ee2wngd8o</a:t>
            </a:r>
          </a:p>
          <a:p xmlns:a="http://schemas.openxmlformats.org/drawingml/2006/main">
            <a:r>
              <a:t>https://www.yabloko.ru/regnews/Pskov/2019/01/21-0</a:t>
            </a:r>
          </a:p>
          <a:p xmlns:a="http://schemas.openxmlformats.org/drawingml/2006/main">
            <a:r>
              <a:t>https://www.yabloko.ru/publikatsii/2019/06/14</a:t>
            </a:r>
          </a:p>
          <a:p xmlns:a="http://schemas.openxmlformats.org/drawingml/2006/main">
            <a:r>
              <a:t>https://zona.media/article/2019/02/27/pskov</a:t>
            </a:r>
          </a:p>
          <a:p xmlns:a="http://schemas.openxmlformats.org/drawingml/2006/main">
            <a:r>
              <a:t>https://spektr.press/ya-otvechayu-za-vse-mnoj-skazannoe-no-ne-otvechayu-za-izvraschenie-skazannogo-lev-shlosberg-o-travle-i-setkah-telegram-kanalov-odnokletochnyh-politikah-reshivshih-pobedit-putina-rukami-u/</a:t>
            </a:r>
          </a:p>
          <a:p xmlns:a="http://schemas.openxmlformats.org/drawingml/2006/main">
            <a:r>
              <a:t>https://www.yabloko.ru/Persons/shlosberg.html</a:t>
            </a:r>
          </a:p>
          <a:p xmlns:a="http://schemas.openxmlformats.org/drawingml/2006/main">
            <a:r>
              <a:t>https://pln-pskov.ru/politics/314872.html</a:t>
            </a:r>
          </a:p>
          <a:p xmlns:a="http://schemas.openxmlformats.org/drawingml/2006/main">
            <a:r>
              <a:t>https://www.yabloko.ru/publikatsii/2022/02/18-0</a:t>
            </a:r>
          </a:p>
          <a:p xmlns:a="http://schemas.openxmlformats.org/drawingml/2006/main">
            <a:r>
              <a:t>https://ru.krymr.com/a/rossiya-putin-voyna-repressii-lev-shlosberg-intervyu/31806389.html</a:t>
            </a:r>
          </a:p>
          <a:p xmlns:a="http://schemas.openxmlformats.org/drawingml/2006/main">
            <a:r>
              <a:t>https://www.currenttime.tv/a/politika-vlastey-chtoby-lyudi-perestali-govorit-o-spetsialnoy-voennoy-operatsii-lev-shlosberg-o-dele-protiv-nego-i-nikolaya-kuzmina/31807396.html</a:t>
            </a:r>
          </a:p>
          <a:p xmlns:a="http://schemas.openxmlformats.org/drawingml/2006/main">
            <a:r>
              <a:t>https://zona.media/article/2026/08/14/schlosberg</a:t>
            </a:r>
          </a:p>
          <a:p xmlns:a="http://schemas.openxmlformats.org/drawingml/2006/main">
            <a:r>
              <a:t>https://www.svoboda.org/a/lishniy-zalozhnik-vot-chto-im-vazhno-arest-lva-shlosberga/33615624.html</a:t>
            </a:r>
          </a:p>
          <a:p xmlns:a="http://schemas.openxmlformats.org/drawingml/2006/main">
            <a:r>
              <a:t>https://novayagazeta.eu/articles/2026/08/17/ostavshiisia</a:t>
            </a:r>
          </a:p>
          <a:p xmlns:a="http://schemas.openxmlformats.org/drawingml/2006/main">
            <a:r>
              <a:t>https://www.yabloko.ru/content/vishnevskii_boris_lazarevich</a:t>
            </a:r>
          </a:p>
          <a:p xmlns:a="http://schemas.openxmlformats.org/drawingml/2006/main">
            <a:r>
              <a:t>https://www.dp.ru/a/2018/06/18/Aktivnaja_storona_konflikt</a:t>
            </a:r>
          </a:p>
          <a:p xmlns:a="http://schemas.openxmlformats.org/drawingml/2006/main">
            <a:r>
              <a:t>https://www.bbc.com/russian/features-58481940</a:t>
            </a:r>
          </a:p>
          <a:p xmlns:a="http://schemas.openxmlformats.org/drawingml/2006/main">
            <a:r>
              <a:t>https://www.dp.ru/a/2023/01/16/Deputat_Peterburga_Vishnev</a:t>
            </a:r>
          </a:p>
          <a:p xmlns:a="http://schemas.openxmlformats.org/drawingml/2006/main">
            <a:r>
              <a:t>https://echofm.online/portret-dnya/portret-dnya-boris-vishnevskij-peterburgskij-politik</a:t>
            </a:r>
          </a:p>
          <a:p xmlns:a="http://schemas.openxmlformats.org/drawingml/2006/main">
            <a:r>
              <a:t>https://spb.yabloko.ru/people/vishnevskij-boris-lazarevich/</a:t>
            </a:r>
          </a:p>
          <a:p xmlns:a="http://schemas.openxmlformats.org/drawingml/2006/main">
            <a:r>
              <a:t>https://www.dp.ru/a/2026/08/26/bitva-nachalas-gde-v-peterburge</a:t>
            </a:r>
          </a:p>
          <a:p xmlns:a="http://schemas.openxmlformats.org/drawingml/2006/main">
            <a:r>
              <a:t>https://www.yabloko.ru/regnews/Spb/2022/02/21</a:t>
            </a:r>
          </a:p>
          <a:p xmlns:a="http://schemas.openxmlformats.org/drawingml/2006/main">
            <a:r>
              <a:t>https://www.yabloko.ru/cat-news/2021/08/06-0</a:t>
            </a:r>
          </a:p>
          <a:p xmlns:a="http://schemas.openxmlformats.org/drawingml/2006/main">
            <a:r>
              <a:t>https://www.rbc.ru/spb_sz/16/01/2023/63c53d9c9a7947d9bef4b853</a:t>
            </a:r>
          </a:p>
          <a:p xmlns:a="http://schemas.openxmlformats.org/drawingml/2006/main">
            <a:r>
              <a:t>https://www.rbc.ru/politics/06/05/2024/6638a8609a79472c01075a2c</a:t>
            </a:r>
          </a:p>
          <a:p xmlns:a="http://schemas.openxmlformats.org/drawingml/2006/main">
            <a:r>
              <a:t>https://www.svoboda.org/a/politika-dmitriya-gudkova-deportirovali-iz-gruzii-v-kiev/31679697.html</a:t>
            </a:r>
          </a:p>
          <a:p xmlns:a="http://schemas.openxmlformats.org/drawingml/2006/main">
            <a:r>
              <a:t>https://ru.krymr.com/a/dmitriy-gudkov-ob-otyezde-iz-rossii/31295079.html</a:t>
            </a:r>
          </a:p>
          <a:p xmlns:a="http://schemas.openxmlformats.org/drawingml/2006/main">
            <a:r>
              <a:t>https://daily.afisha.ru/news/114366-syn-politika-dmitriya-gudkova-pokonchil-s-soboy-v-emigracii/amp/</a:t>
            </a:r>
          </a:p>
          <a:p xmlns:a="http://schemas.openxmlformats.org/drawingml/2006/main">
            <a:r>
              <a:t>https://life.ru/t/dmitriygudkov</a:t>
            </a:r>
          </a:p>
          <a:p xmlns:a="http://schemas.openxmlformats.org/drawingml/2006/main">
            <a:r>
              <a:t>https://uk.wikipedia.org/wiki/%D0%93%D1%83%D0%B4%D0%BA%D0%BE%D0%B2_%D0%94%D0%BC%D0%B8%D1%82%D1%80%D1%96%D0%B9_%D0%93%D0%B5%D0%BD%D0%B0%D0%B4%D1%96%D0%B9%D0%BE%D0%B2%D0%B8%D1%87</a:t>
            </a:r>
          </a:p>
          <a:p xmlns:a="http://schemas.openxmlformats.org/drawingml/2006/main">
            <a:r>
              <a:t>https://mt.gazeta.ru/blog/43692366076/Syin-byivshego-deputata-Gosdumyi-Dmitriya-Gudkova-pokonchil-s-so?utm_referrer=mirtesen.ru</a:t>
            </a:r>
          </a:p>
          <a:p xmlns:a="http://schemas.openxmlformats.org/drawingml/2006/main">
            <a:r>
              <a:t>https://www.bbc.com/russian/news-57381443</a:t>
            </a:r>
          </a:p>
          <a:p xmlns:a="http://schemas.openxmlformats.org/drawingml/2006/main">
            <a:r>
              <a:t>https://www.themoscowtimes.com/2021/06/06/kremlin-critic-dmitry-gudkov-flees-to-ukraine-a74123</a:t>
            </a:r>
          </a:p>
          <a:p xmlns:a="http://schemas.openxmlformats.org/drawingml/2006/main">
            <a:r>
              <a:t>https://www.yabloko.ru/publikatsii/2016/09/15</a:t>
            </a:r>
          </a:p>
          <a:p xmlns:a="http://schemas.openxmlformats.org/drawingml/2006/main">
            <a:r>
              <a:t>https://novayagazeta.ru/articles/2018/03/21/75886-ya-privyk-lyudyam-verit</a:t>
            </a:r>
          </a:p>
          <a:p xmlns:a="http://schemas.openxmlformats.org/drawingml/2006/main">
            <a:r>
              <a:t>https://www.rbc.ru/politics/15/03/2018/5aaa98049a7947d12d63f1e1</a:t>
            </a:r>
          </a:p>
          <a:p xmlns:a="http://schemas.openxmlformats.org/drawingml/2006/main">
            <a:r>
              <a:t>https://rus.team/people/gudkov-dmitrij-gennadevich</a:t>
            </a:r>
          </a:p>
          <a:p xmlns:a="http://schemas.openxmlformats.org/drawingml/2006/main">
            <a:r>
              <a:t>https://www.azattyqasia.org/a/chto-proiskhodit-v-donbasse-/31863310/lbl0lbi299676.html</a:t>
            </a:r>
          </a:p>
          <a:p xmlns:a="http://schemas.openxmlformats.org/drawingml/2006/main">
            <a:r>
              <a:t>https://www.dw.com/ru/dmitrij-gudkov-putin-na-storone-partii-vojny-no-pri-etom-on-trus-21092022/video-63193199</a:t>
            </a:r>
          </a:p>
          <a:p xmlns:a="http://schemas.openxmlformats.org/drawingml/2006/main">
            <a:r>
              <a:t>https://ru.wikinews.org/wiki/%D0%9A%D0%B0%D1%82%D0%B5%D0%B3%D0%BE%D1%80%D0%B8%D1%8F:%D0%93%D0%B5%D0%BD%D0%BD%D0%B0%D0%B4%D0%B8%D0%B9_%D0%93%D1%83%D0%B4%D0%BA%D0%BE%D0%B2</a:t>
            </a:r>
          </a:p>
          <a:p xmlns:a="http://schemas.openxmlformats.org/drawingml/2006/main">
            <a:r>
              <a:t>https://en.wikipedia.org/wiki/Gennady_Gudkov</a:t>
            </a:r>
          </a:p>
          <a:p xmlns:a="http://schemas.openxmlformats.org/drawingml/2006/main">
            <a:r>
              <a:t>https://x.com/gudkov_g</a:t>
            </a:r>
          </a:p>
          <a:p xmlns:a="http://schemas.openxmlformats.org/drawingml/2006/main">
            <a:r>
              <a:t>https://www.dw.com/ru/chto-dmitrij-gudkov-nameren-delat-v-ukraine-i-vernetsja-li-v-rossiju/a-57830619</a:t>
            </a:r>
          </a:p>
          <a:p xmlns:a="http://schemas.openxmlformats.org/drawingml/2006/main">
            <a:r>
              <a:t>https://ru.wikipedia.org/wiki/%D0%93%D1%83%D0%B4%D0%BA%D0%BE%D0%B2,_%D0%93%D0%B5%D0%BD%D0%BD%D0%B0%D0%B4%D0%B8%D0%B9_%D0%92%D0%BB%D0%B0%D0%B4%D0%B8%D0%BC%D0%B8%D1%80%D0%BE%D0%B2%D0%B8%D1%87</a:t>
            </a:r>
          </a:p>
          <a:p xmlns:a="http://schemas.openxmlformats.org/drawingml/2006/main">
            <a:r>
              <a:t>https://ru.wikipedia.org/wiki/%D0%93%D1%83%D0%B4%D0%BA%D0%BE%D0%B2,_%D0%94%D0%BC%D0%B8%D1%82%D1%80%D0%B8%D0%B9_%D0%93%D0%B5%D0%BD%D0%BD%D0%B0%D0%B4%D1%8C%D0%B5%D0%B2%D0%B8%D1%87</a:t>
            </a:r>
          </a:p>
          <a:p xmlns:a="http://schemas.openxmlformats.org/drawingml/2006/main">
            <a:r>
              <a:t>https://utro02.tv/2022/10/31/navstrechu-sezdu-gennadij-gudkov-o-vyborah-obedinenii-oppoziczii-i-razdelenii-vlasti/</a:t>
            </a:r>
          </a:p>
          <a:p xmlns:a="http://schemas.openxmlformats.org/drawingml/2006/main">
            <a:r>
              <a:t>https://www.unian.net/war/rossiyskiy-oppozicioner-gudkov-putin-nachinaet-ponimat-chto-nastupaet-zh-pa-12031263.html</a:t>
            </a:r>
          </a:p>
          <a:p xmlns:a="http://schemas.openxmlformats.org/drawingml/2006/main">
            <a:r>
              <a:t>https://bntnews.bg/genadiy-gudkov-86846tag.html</a:t>
            </a:r>
          </a:p>
          <a:p xmlns:a="http://schemas.openxmlformats.org/drawingml/2006/main">
            <a:r>
              <a:t>https://tass.ru/encyclopedia/person/gudkov-dmitriy-gennadevich</a:t>
            </a:r>
          </a:p>
          <a:p xmlns:a="http://schemas.openxmlformats.org/drawingml/2006/main">
            <a:r>
              <a:t>https://www.kasparov.com/garry-kasparov-on-putin-and-the-virus-of-imperialism-wsj-free-expression-april-11-2022/</a:t>
            </a:r>
          </a:p>
          <a:p xmlns:a="http://schemas.openxmlformats.org/drawingml/2006/main">
            <a:r>
              <a:t>https://www.ilmessaggero.it/en/garry_kasparov_from_chess_champion_to_kremlin_critic-9797261.html</a:t>
            </a:r>
          </a:p>
          <a:p xmlns:a="http://schemas.openxmlformats.org/drawingml/2006/main">
            <a:r>
              <a:t>https://www.kasparov.com/category/russia/</a:t>
            </a:r>
          </a:p>
          <a:p xmlns:a="http://schemas.openxmlformats.org/drawingml/2006/main">
            <a:r>
              <a:t>https://www.kasparov.com/category/politics/</a:t>
            </a:r>
          </a:p>
          <a:p xmlns:a="http://schemas.openxmlformats.org/drawingml/2006/main">
            <a:r>
              <a:t>https://en.wikipedia.org/wiki/Political_views_of_Garry_Kasparov</a:t>
            </a:r>
          </a:p>
          <a:p xmlns:a="http://schemas.openxmlformats.org/drawingml/2006/main">
            <a:r>
              <a:t>https://www.dw.com/ru/kasparov-v-intervu-dw-vse-cto-delal-delaet-i-budet-delat-tramp-pomogaet-putinu/a-79633734</a:t>
            </a:r>
          </a:p>
          <a:p xmlns:a="http://schemas.openxmlformats.org/drawingml/2006/main">
            <a:r>
              <a:t>https://www.kasparov.com/</a:t>
            </a:r>
          </a:p>
          <a:p xmlns:a="http://schemas.openxmlformats.org/drawingml/2006/main">
            <a:r>
              <a:t>https://www.kasparov.com/a-conversation-with-garry-kasparov-thought-economics-with-vikas-shas-may-21-2017/</a:t>
            </a:r>
          </a:p>
          <a:p xmlns:a="http://schemas.openxmlformats.org/drawingml/2006/main">
            <a:r>
              <a:t>https://www.kasparov.com/new-yorker-interview-the-chess-grandmaster-and-political-activist-on-putin-trump-and-how-we-are-living-again-through-the-eighteen-fifties/</a:t>
            </a:r>
          </a:p>
          <a:p xmlns:a="http://schemas.openxmlformats.org/drawingml/2006/main">
            <a:r>
              <a:t>https://www.cnbc.com/2017/02/13/the-full-interview-with-former-world-chess-champion-garry-kasparov-on-trump-putin.html</a:t>
            </a:r>
          </a:p>
          <a:p xmlns:a="http://schemas.openxmlformats.org/drawingml/2006/main">
            <a:r>
              <a:t>https://www.reuters.com/world/europe/kasparov-calls-world-powers-throw-russia-back-into-stone-age-2022-03-03/</a:t>
            </a:r>
          </a:p>
          <a:p xmlns:a="http://schemas.openxmlformats.org/drawingml/2006/main">
            <a:r>
              <a:t>https://khodorkovsky.com/open-russia-manifesto/</a:t>
            </a:r>
          </a:p>
          <a:p xmlns:a="http://schemas.openxmlformats.org/drawingml/2006/main">
            <a:r>
              <a:t>https://khodorkovsky.com/programmes/initiatives/openrussia/</a:t>
            </a:r>
          </a:p>
          <a:p xmlns:a="http://schemas.openxmlformats.org/drawingml/2006/main">
            <a:r>
              <a:t>https://khodorkovsky.com/page/65/?m</a:t>
            </a:r>
          </a:p>
          <a:p xmlns:a="http://schemas.openxmlformats.org/drawingml/2006/main">
            <a:r>
              <a:t>https://khodorkovsky.com/page/80/?m</a:t>
            </a:r>
          </a:p>
          <a:p xmlns:a="http://schemas.openxmlformats.org/drawingml/2006/main">
            <a:r>
              <a:t>https://angliya.com/publication/mihail-hodorkovskiy-ne-priznayu-razdelenie-lyudey-na-osnovanii-politicheskih-vzglyadov/</a:t>
            </a:r>
          </a:p>
          <a:p xmlns:a="http://schemas.openxmlformats.org/drawingml/2006/main">
            <a:r>
              <a:t>https://www.dw.com/ru/mihail-hodorkovski-bojus-jeta-vojna-ne-budet-poslednej/a-61314556</a:t>
            </a:r>
          </a:p>
          <a:p xmlns:a="http://schemas.openxmlformats.org/drawingml/2006/main">
            <a:r>
              <a:t>https://ru.euronews.com/2022/06/21/ru-khodorkovsky-interview</a:t>
            </a:r>
          </a:p>
          <a:p xmlns:a="http://schemas.openxmlformats.org/drawingml/2006/main">
            <a:r>
              <a:t>https://ru.euronews.com/2022/06/23/mikhail-khodorkovsky</a:t>
            </a:r>
          </a:p>
          <a:p xmlns:a="http://schemas.openxmlformats.org/drawingml/2006/main">
            <a:r>
              <a:t>https://poligonmedia.io/mihail-hodorkovskij-putin-ne-pobedil/</a:t>
            </a:r>
          </a:p>
          <a:p xmlns:a="http://schemas.openxmlformats.org/drawingml/2006/main">
            <a:r>
              <a:t>https://www.pap.pl/ru/russian/news/khodorkovskiy-u-putina-est-prichiny-vesti-peregovory-o-prekraschenii-voyny-na-ukraine</a:t>
            </a:r>
          </a:p>
          <a:p xmlns:a="http://schemas.openxmlformats.org/drawingml/2006/main">
            <a:r>
              <a:t>https://milov.org/cat/debates</a:t>
            </a:r>
          </a:p>
          <a:p xmlns:a="http://schemas.openxmlformats.org/drawingml/2006/main">
            <a:r>
              <a:t>https://milov.org/entry/4188</a:t>
            </a:r>
          </a:p>
          <a:p xmlns:a="http://schemas.openxmlformats.org/drawingml/2006/main">
            <a:r>
              <a:t>https://milov.org/cat/international</a:t>
            </a:r>
          </a:p>
          <a:p xmlns:a="http://schemas.openxmlformats.org/drawingml/2006/main">
            <a:r>
              <a:t>https://tvrain.tv/teleshow/amerikanskie_gonki/tramp_vynashivaet_ideju_primiritsja_s_putinym-453802/</a:t>
            </a:r>
          </a:p>
          <a:p xmlns:a="http://schemas.openxmlformats.org/drawingml/2006/main">
            <a:r>
              <a:t>https://www.currenttime.tv/a/vladimir-milov-interview/31505887.html</a:t>
            </a:r>
          </a:p>
          <a:p xmlns:a="http://schemas.openxmlformats.org/drawingml/2006/main">
            <a:r>
              <a:t>https://ovd.info/express-news/2021/07/27/roskomnadzor-potreboval-ot-youtube-zablokirovat-kanaly-troikh-soratnikov</a:t>
            </a:r>
          </a:p>
          <a:p xmlns:a="http://schemas.openxmlformats.org/drawingml/2006/main">
            <a:r>
              <a:t>https://www.dw.com/ru/sud-v-moskve-prigovoril-vladimira-milova-k-8-godam-kolonii/a-67415717</a:t>
            </a:r>
          </a:p>
          <a:p xmlns:a="http://schemas.openxmlformats.org/drawingml/2006/main">
            <a:r>
              <a:t>https://ru.wikipedia.org/wiki/%D0%9C%D0%B8%D0%BB%D0%BE%D0%B2,_%D0%92%D0%BB%D0%B0%D0%B4%D0%B8%D0%BC%D0%B8%D1%80_%D0%A1%D1%82%D0%B0%D0%BD%D0%B8%D1%81%D0%BB%D0%B0%D0%B2%D0%BE%D0%B2%D0%B8%D1%87</a:t>
            </a:r>
          </a:p>
          <a:p xmlns:a="http://schemas.openxmlformats.org/drawingml/2006/main">
            <a:r>
              <a:t>https://gordonua.com/news/worldnews/milov-merkel-molodec-poteryala-vsego-7-8-v-polzu-svezhey-antiimmigrantskoy-partii-na-fone-migrantskogo-krizisa-208758.html</a:t>
            </a:r>
          </a:p>
          <a:p xmlns:a="http://schemas.openxmlformats.org/drawingml/2006/main">
            <a:r>
              <a:t>https://echofm.online/programs/hochu-skazat/hochu-skazat-larina-69</a:t>
            </a:r>
          </a:p>
          <a:p xmlns:a="http://schemas.openxmlformats.org/drawingml/2006/main">
            <a:r>
              <a:t>https://www.hoover.org/plus/research/russian-opposition-and-ukraine-conversation-vladimir-milov</a:t>
            </a:r>
          </a:p>
          <a:p xmlns:a="http://schemas.openxmlformats.org/drawingml/2006/main">
            <a:r>
              <a:t>https://www.golosameriki.com/a/washington-dialogue-russian-opposition-conference/7648250.html</a:t>
            </a:r>
          </a:p>
          <a:p xmlns:a="http://schemas.openxmlformats.org/drawingml/2006/main">
            <a:r>
              <a:t>https://glavred.info/chat/1337-vladimir-milov.html</a:t>
            </a:r>
          </a:p>
          <a:p xmlns:a="http://schemas.openxmlformats.org/drawingml/2006/main">
            <a:r>
              <a:t>https://www.interfax.ru/moscow/669378</a:t>
            </a:r>
          </a:p>
          <a:p xmlns:a="http://schemas.openxmlformats.org/drawingml/2006/main">
            <a:r>
              <a:t>https://tass.ru/politika/6670439</a:t>
            </a:r>
          </a:p>
          <a:p xmlns:a="http://schemas.openxmlformats.org/drawingml/2006/main">
            <a:r>
              <a:t>https://www.rbc.ru/politics/16/07/2019/5d2c8b3b9a794799a7c7d413</a:t>
            </a:r>
          </a:p>
          <a:p xmlns:a="http://schemas.openxmlformats.org/drawingml/2006/main">
            <a:r>
              <a:t>https://www.bbc.com/russian/news-56269079</a:t>
            </a:r>
          </a:p>
          <a:p xmlns:a="http://schemas.openxmlformats.org/drawingml/2006/main">
            <a:r>
              <a:t>https://ovd.info/express-news/2020/12/28/s-yurista-fbk-kotoraya-provela-pochti-dvoe-sutok-v-ivs-pytalis-vzyat</a:t>
            </a:r>
          </a:p>
          <a:p xmlns:a="http://schemas.openxmlformats.org/drawingml/2006/main">
            <a:r>
              <a:t>https://ovd.info/express-news/2021/02/26/prokuratura-utverdila-obvinenie-sobol-po-delu-o-proniknovenii-v-kvartiru</a:t>
            </a:r>
          </a:p>
          <a:p xmlns:a="http://schemas.openxmlformats.org/drawingml/2006/main">
            <a:r>
              <a:t>https://ovd.info/express-news/2020/12/29/protiv-alekseya-navalnogo-vozbudili-ugolovnoe-delo-o-moshennichestve-iz-za</a:t>
            </a:r>
          </a:p>
          <a:p xmlns:a="http://schemas.openxmlformats.org/drawingml/2006/main">
            <a:r>
              <a:t>https://www.currenttime.tv/a/sobol/31723600.html</a:t>
            </a:r>
          </a:p>
          <a:p xmlns:a="http://schemas.openxmlformats.org/drawingml/2006/main">
            <a:r>
              <a:t>https://www.currenttime.tv/interview/episodes/2022/2/26</a:t>
            </a:r>
          </a:p>
          <a:p xmlns:a="http://schemas.openxmlformats.org/drawingml/2006/main">
            <a:r>
              <a:t>https://ochevidcy.com/putin-budet-vorovat-do-groba/</a:t>
            </a:r>
          </a:p>
          <a:p xmlns:a="http://schemas.openxmlformats.org/drawingml/2006/main">
            <a:r>
              <a:t>https://www.svoboda.org/a/32881433.html</a:t>
            </a:r>
          </a:p>
          <a:p xmlns:a="http://schemas.openxmlformats.org/drawingml/2006/main">
            <a:r>
              <a:t>https://echofm.online/programs/idyom-po-zvyozdam/idyom-po-zvezdam-s-lyubovyu-sobol</a:t>
            </a:r>
          </a:p>
          <a:p xmlns:a="http://schemas.openxmlformats.org/drawingml/2006/main">
            <a:r>
              <a:t>https://x.com/SobolLubov</a:t>
            </a:r>
          </a:p>
          <a:p xmlns:a="http://schemas.openxmlformats.org/drawingml/2006/main">
            <a:r>
              <a:t>https://stuki-druki.com/authors/sobol-lubov.php</a:t>
            </a:r>
          </a:p>
          <a:p xmlns:a="http://schemas.openxmlformats.org/drawingml/2006/main">
            <a:r>
              <a:t>https://www.interfax.ru/elections2018/593143</a:t>
            </a:r>
          </a:p>
          <a:p xmlns:a="http://schemas.openxmlformats.org/drawingml/2006/main">
            <a:r>
              <a:t>https://elections2018.tass.ru/candidate/sobchak</a:t>
            </a:r>
          </a:p>
          <a:p xmlns:a="http://schemas.openxmlformats.org/drawingml/2006/main">
            <a:r>
              <a:t>https://www.interfax.ru/elections2018/604186</a:t>
            </a:r>
          </a:p>
          <a:p xmlns:a="http://schemas.openxmlformats.org/drawingml/2006/main">
            <a:r>
              <a:t>https://www.interfax.ru/elections2018/604908</a:t>
            </a:r>
          </a:p>
          <a:p xmlns:a="http://schemas.openxmlformats.org/drawingml/2006/main">
            <a:r>
              <a:t>https://www.consultant.ru/law/hotdocs/53066.html</a:t>
            </a:r>
          </a:p>
          <a:p xmlns:a="http://schemas.openxmlformats.org/drawingml/2006/main">
            <a:r>
              <a:t>https://www.rbc.ru/newspaper/2018/03/20/5aae9ca49a794739b02918a0</a:t>
            </a:r>
          </a:p>
          <a:p xmlns:a="http://schemas.openxmlformats.org/drawingml/2006/main">
            <a:r>
              <a:t>https://www.interfax.ru/elections2018/604136</a:t>
            </a:r>
          </a:p>
          <a:p xmlns:a="http://schemas.openxmlformats.org/drawingml/2006/main">
            <a:r>
              <a:t>https://www.interfax.ru/elections2018/604190</a:t>
            </a:r>
          </a:p>
          <a:p xmlns:a="http://schemas.openxmlformats.org/drawingml/2006/main">
            <a:r>
              <a:t>https://www.rbc.ru/economics/25/12/2017/5a4025f19a79472e3f5f4ad9?from=right_column_materials_3</a:t>
            </a:r>
          </a:p>
          <a:p xmlns:a="http://schemas.openxmlformats.org/drawingml/2006/main">
            <a:r>
              <a:t>https://news.ru/show-business/otezd-iz-rf-vybory-svo-v-chem-priznalas-kseniya-sobchak-v-novom-intervyu</a:t>
            </a:r>
          </a:p>
          <a:p xmlns:a="http://schemas.openxmlformats.org/drawingml/2006/main">
            <a:r>
              <a:t>https://rtvi.com/news/sobchak-otvetila-na-vopros-putin-ili-zelenskij/</a:t>
            </a:r>
          </a:p>
          <a:p xmlns:a="http://schemas.openxmlformats.org/drawingml/2006/main">
            <a:r>
              <a:t>https://informator.ua/ru/kompromissy-iz-rf-legitimnost-zelenskogo-i-gotovnost-pozhat-ruku-putinu-o-chem-govoril-arestovich-v-intervyu-sobchak</a:t>
            </a:r>
          </a:p>
          <a:p xmlns:a="http://schemas.openxmlformats.org/drawingml/2006/main">
            <a:r>
              <a:t>https://rassvet-party.info/</a:t>
            </a:r>
          </a:p>
          <a:p xmlns:a="http://schemas.openxmlformats.org/drawingml/2006/main">
            <a:r>
              <a:t>https://en.wikipedia.org/wiki/Yekaterina_Duntsova</a:t>
            </a:r>
          </a:p>
          <a:p xmlns:a="http://schemas.openxmlformats.org/drawingml/2006/main">
            <a:r>
              <a:t>https://www.dw.com/ru/cto-nuzno-znat-o-ekaterine-duncovoj-kotoraa-hocet-stat-prezidentom-rf/a-67832425</a:t>
            </a:r>
          </a:p>
          <a:p xmlns:a="http://schemas.openxmlformats.org/drawingml/2006/main">
            <a:r>
              <a:t>https://baj.media/ru/ya-gotova-idti-do-konca-zhurnalistka-iz-rossiyskoy-provincii-reshila-stat-prezidentom-i-2/</a:t>
            </a:r>
          </a:p>
          <a:p xmlns:a="http://schemas.openxmlformats.org/drawingml/2006/main">
            <a:r>
              <a:t>https://echofm.online/portret-dnya/portret-dnya-ekaterina-dunczova-reshivshaya-vydvinutsya-kandidatom-v-prezidenty-rossii-zhurnalistka-iz-rzheva</a:t>
            </a:r>
          </a:p>
          <a:p xmlns:a="http://schemas.openxmlformats.org/drawingml/2006/main">
            <a:r>
              <a:t>https://novayagazeta.eu/articles/2024/03/15/zlost-i-nenavist-vsem-nadoeli</a:t>
            </a:r>
          </a:p>
          <a:p xmlns:a="http://schemas.openxmlformats.org/drawingml/2006/main">
            <a:r>
              <a:t>https://altapress.ru/politika/story/kto-takaya-ekaterina-duntsova-kotoraya-sobiraetsya-stat-poslednim-prezidentom-rossii-i-kto-eshche-hochet-ballotirovatsya-336526</a:t>
            </a:r>
          </a:p>
          <a:p xmlns:a="http://schemas.openxmlformats.org/drawingml/2006/main">
            <a:r>
              <a:t>https://cherta.media/interview/ekaterina-duncova-kandidat-v-prezidenty/</a:t>
            </a:r>
          </a:p>
          <a:p xmlns:a="http://schemas.openxmlformats.org/drawingml/2006/main">
            <a:r>
              <a:t>https://novayagazeta.eu/articles/2023/12/05/zachem-ia-budu-stoiat-na-barrikadakh-esli-mogu-zanimatsia-realnymi-delami</a:t>
            </a:r>
          </a:p>
          <a:p xmlns:a="http://schemas.openxmlformats.org/drawingml/2006/main">
            <a:r>
              <a:t>https://holod.media/2023/12/20/ekaterina-duntsova-view/</a:t>
            </a:r>
          </a:p>
          <a:p xmlns:a="http://schemas.openxmlformats.org/drawingml/2006/main">
            <a:r>
              <a:t>https://www.dw.com/ru/ekaterina-duncova-o-sozdanii-partii-rassvet-my-mezdu-dvuh-ognej/a-68992724</a:t>
            </a:r>
          </a:p>
          <a:p xmlns:a="http://schemas.openxmlformats.org/drawingml/2006/main">
            <a:r>
              <a:t>https://rassvet-party.info/static/program.pdf</a:t>
            </a:r>
          </a:p>
          <a:p xmlns:a="http://schemas.openxmlformats.org/drawingml/2006/main">
            <a:r>
              <a:t>https://www.currenttime.tv/a/ekaterina-duntsova-o-sozdanii-partii-i-svoem-zaderzhanii/32775510.html</a:t>
            </a:r>
          </a:p>
          <a:p xmlns:a="http://schemas.openxmlformats.org/drawingml/2006/main">
            <a:r>
              <a:t>https://duntsovainitiative.1c-umi.ru/galereya/</a:t>
            </a:r>
          </a:p>
          <a:p xmlns:a="http://schemas.openxmlformats.org/drawingml/2006/main">
            <a:r>
              <a:t>https://rassvet-party.info/static/manifest.pdf</a:t>
            </a:r>
          </a:p>
          <a:p xmlns:a="http://schemas.openxmlformats.org/drawingml/2006/main">
            <a:r>
              <a:t>https://www.rbc.ru/person/65afb4a99a79470e434da73d</a:t>
            </a:r>
          </a:p>
          <a:p xmlns:a="http://schemas.openxmlformats.org/drawingml/2006/main">
            <a:r>
              <a:t>https://www.bbc.com/russian/articles/c84npr0wxx9o</a:t>
            </a:r>
          </a:p>
          <a:p xmlns:a="http://schemas.openxmlformats.org/drawingml/2006/main">
            <a:r>
              <a:t>https://www.rbc.ru/politics/08/02/2024/65c3749b9a79479ef5fe7934</a:t>
            </a:r>
          </a:p>
          <a:p xmlns:a="http://schemas.openxmlformats.org/drawingml/2006/main">
            <a:r>
              <a:t>https://www.business-gazeta.ru/article/622600</a:t>
            </a:r>
          </a:p>
          <a:p xmlns:a="http://schemas.openxmlformats.org/drawingml/2006/main">
            <a:r>
              <a:t>https://semnasem.org/articles/2024/02/02/poslednij-sredi-antivoennyh-kto-takoj-boris-nadezhdin-kotoryj-vse-eshe-nadeetsya-stat-prezidentom</a:t>
            </a:r>
          </a:p>
          <a:p xmlns:a="http://schemas.openxmlformats.org/drawingml/2006/main">
            <a:r>
              <a:t>https://novayagazeta.eu/articles/2024/02/03/17-marta-nachalo-kontsa-epokhi-putina</a:t>
            </a:r>
          </a:p>
          <a:p xmlns:a="http://schemas.openxmlformats.org/drawingml/2006/main">
            <a:r>
              <a:t>https://www.youtube.com/watch?v=mGMdgxBCdns</a:t>
            </a:r>
          </a:p>
          <a:p xmlns:a="http://schemas.openxmlformats.org/drawingml/2006/main">
            <a:r>
              <a:t>https://www.dw.com/ru/boris-nadezdin-moj-rejting-rastet-na-5-v-nedelu/a-68154251</a:t>
            </a:r>
          </a:p>
          <a:p xmlns:a="http://schemas.openxmlformats.org/drawingml/2006/main">
            <a:r>
              <a:t>https://ovd.info/express-news/2026/07/17/u-menya-dva-puti-lenina-ili-navalnogo-chto-nuzhno-znat-o-borise-nadezhdine</a:t>
            </a:r>
          </a:p>
          <a:p xmlns:a="http://schemas.openxmlformats.org/drawingml/2006/main">
            <a:r>
              <a:t>https://www.rbc.ru/person/65afb4a99a79470e434da73d?ysclid=mrt22n99to603501119</a:t>
            </a:r>
          </a:p>
          <a:p xmlns:a="http://schemas.openxmlformats.org/drawingml/2006/main">
            <a:r>
              <a:t>https://www.youtube.com/watch?v=UNytg_H_1pY</a:t>
            </a:r>
          </a:p>
          <a:p xmlns:a="http://schemas.openxmlformats.org/drawingml/2006/main">
            <a:r>
              <a:t>https://www.youtube.com/watch?v=DwTC5bilf_8</a:t>
            </a:r>
          </a:p>
          <a:p xmlns:a="http://schemas.openxmlformats.org/drawingml/2006/main">
            <a:r>
              <a:t>https://www.youtube.com/watch?v=sG4_THnT9W0</a:t>
            </a:r>
          </a:p>
          <a:p xmlns:a="http://schemas.openxmlformats.org/drawingml/2006/main">
            <a:r>
              <a:t>https://www.rbc.ru/rbcfreenews/6586cdf49a79479c3cd3d4b3</a:t>
            </a:r>
          </a:p>
          <a:p xmlns:a="http://schemas.openxmlformats.org/drawingml/2006/main">
            <a:r>
              <a:t>https://kprf.ru/activity/elections/223485.html/print</a:t>
            </a:r>
          </a:p>
          <a:p xmlns:a="http://schemas.openxmlformats.org/drawingml/2006/main">
            <a:r>
              <a:t>http://msk.kprf.ru/2024/01/24/247473/</a:t>
            </a:r>
          </a:p>
          <a:p xmlns:a="http://schemas.openxmlformats.org/drawingml/2006/main">
            <a:r>
              <a:t>https://www.dw.com/ru/vybory-prezidenta-rossii-2024/a-68528003</a:t>
            </a:r>
          </a:p>
          <a:p xmlns:a="http://schemas.openxmlformats.org/drawingml/2006/main">
            <a:r>
              <a:t>https://ru.wikipedia.org/wiki/%D0%A5%D0%B0%D1%80%D0%B8%D1%82%D0%BE%D0%BD%D0%BE%D0%B2,_%D0%9D%D0%B8%D0%BA%D0%BE%D0%BB%D0%B0%D0%B9_%D0%9C%D0%B8%D1%85%D0%B0%D0%B9%D0%BB%D0%BE%D0%B2%D0%B8%D1%87</a:t>
            </a:r>
          </a:p>
          <a:p xmlns:a="http://schemas.openxmlformats.org/drawingml/2006/main">
            <a:r>
              <a:t>https://kprf.ru/party-live/cknews/225170.html</a:t>
            </a:r>
          </a:p>
          <a:p xmlns:a="http://schemas.openxmlformats.org/drawingml/2006/main">
            <a:r>
              <a:t>https://kprf.ru/dep/gosduma/activities/232802.html</a:t>
            </a:r>
          </a:p>
          <a:p xmlns:a="http://schemas.openxmlformats.org/drawingml/2006/main">
            <a:r>
              <a:t>https://kprf35.com/2024/02/17/32710/</a:t>
            </a:r>
          </a:p>
          <a:p xmlns:a="http://schemas.openxmlformats.org/drawingml/2006/main">
            <a:r>
              <a:t>https://www.pkokprf.ru/news/view/35448</a:t>
            </a:r>
          </a:p>
          <a:p xmlns:a="http://schemas.openxmlformats.org/drawingml/2006/main">
            <a:r>
              <a:t>https://altkprf.ru/upload/iblock/eea/jiv0wm7hzk6gq4qdxw0r5wvp7zwb6luk.pdf</a:t>
            </a:r>
          </a:p>
          <a:p xmlns:a="http://schemas.openxmlformats.org/drawingml/2006/main">
            <a:r>
              <a:t>https://kprf.ru/activity/army/224789.html</a:t>
            </a:r>
          </a:p>
          <a:p xmlns:a="http://schemas.openxmlformats.org/drawingml/2006/main">
            <a:r>
              <a:t>https://gazeta-pravda.ru/issue/24-31517-711-marta-2024-goda-/alternativa-polupravde/</a:t>
            </a:r>
          </a:p>
          <a:p xmlns:a="http://schemas.openxmlformats.org/drawingml/2006/main">
            <a:r>
              <a:t>https://spbpalata.ru/?p=13755</a:t>
            </a:r>
          </a:p>
          <a:p xmlns:a="http://schemas.openxmlformats.org/drawingml/2006/main">
            <a:r>
              <a:t>https://kprf.ru/activity/elections/171941.html</a:t>
            </a:r>
          </a:p>
          <a:p xmlns:a="http://schemas.openxmlformats.org/drawingml/2006/main">
            <a:r>
              <a:t>https://kprf.ru/party-live/cknews/171994.html</a:t>
            </a:r>
          </a:p>
          <a:p xmlns:a="http://schemas.openxmlformats.org/drawingml/2006/main">
            <a:r>
              <a:t>https://elections2018.tass.ru/candidate/grudinin</a:t>
            </a:r>
          </a:p>
          <a:p xmlns:a="http://schemas.openxmlformats.org/drawingml/2006/main">
            <a:r>
              <a:t>https://www.bbc.com/russian/features-43105617</a:t>
            </a:r>
          </a:p>
          <a:p xmlns:a="http://schemas.openxmlformats.org/drawingml/2006/main">
            <a:r>
              <a:t>https://www.rbc.ru/politics/24/07/2021/60fbe35b9a794716f25253a0</a:t>
            </a:r>
          </a:p>
          <a:p xmlns:a="http://schemas.openxmlformats.org/drawingml/2006/main">
            <a:r>
              <a:t>https://kprf.ru/dep/reg/204410.html</a:t>
            </a:r>
          </a:p>
          <a:p xmlns:a="http://schemas.openxmlformats.org/drawingml/2006/main">
            <a:r>
              <a:t>https://msk.kprf.ru/2021/09/16/168273/</a:t>
            </a:r>
          </a:p>
          <a:p xmlns:a="http://schemas.openxmlformats.org/drawingml/2006/main">
            <a:r>
              <a:t>https://svpressa.ru/persons/pavel-grudinin/</a:t>
            </a:r>
          </a:p>
          <a:p xmlns:a="http://schemas.openxmlformats.org/drawingml/2006/main">
            <a:r>
              <a:t>https://carnegieendowment.org/ru/russia-eurasia/posts/2018/02/kuda-privedut-ekonomiku-rossii-20-shagov-grudinina</a:t>
            </a:r>
          </a:p>
          <a:p xmlns:a="http://schemas.openxmlformats.org/drawingml/2006/main">
            <a:r>
              <a:t>https://www.kompas-rf.ru/2018/01/2980/</a:t>
            </a:r>
          </a:p>
          <a:p xmlns:a="http://schemas.openxmlformats.org/drawingml/2006/main">
            <a:r>
              <a:t>https://www.svoboda.org/a/30073365.html</a:t>
            </a:r>
          </a:p>
          <a:p xmlns:a="http://schemas.openxmlformats.org/drawingml/2006/main">
            <a:r>
              <a:t>https://kandidativprezidenti.ru/programma-grudinina-2018/</a:t>
            </a:r>
          </a:p>
          <a:p xmlns:a="http://schemas.openxmlformats.org/drawingml/2006/main">
            <a:r>
              <a:t>https://mbk-news.appspot.com/suzhet/za-lenina-i-protiv-ege/</a:t>
            </a:r>
          </a:p>
          <a:p xmlns:a="http://schemas.openxmlformats.org/drawingml/2006/main">
            <a:r>
              <a:t>https://www.amnesty.org/ru/latest/research/2021/06/zayavlenie-rossijskaya-federacziya-obvinitelnyj-prigovor-nikolayu-platoshkinu-dolzhen-byt-otmenyon/</a:t>
            </a:r>
          </a:p>
          <a:p xmlns:a="http://schemas.openxmlformats.org/drawingml/2006/main">
            <a:r>
              <a:t>https://zona.media/article/2021/05/20/nikolay-nikolaevitch</a:t>
            </a:r>
          </a:p>
          <a:p xmlns:a="http://schemas.openxmlformats.org/drawingml/2006/main">
            <a:r>
              <a:t>https://novayagazeta.ru/articles/2020/06/05/85705-sotsialisticheskiy-prizyv</a:t>
            </a:r>
          </a:p>
          <a:p xmlns:a="http://schemas.openxmlformats.org/drawingml/2006/main">
            <a:r>
              <a:t>https://www.revda-info.ru/2020/08/26/v-revde-poyavilos-otdelenie-dvizheniya-za-novyj-sotsializm-ego-lider-sejchas-pod-arestom</a:t>
            </a:r>
          </a:p>
          <a:p xmlns:a="http://schemas.openxmlformats.org/drawingml/2006/main">
            <a:r>
              <a:t>https://new-socialism.org/o-dvizhenii/programma/</a:t>
            </a:r>
          </a:p>
          <a:p xmlns:a="http://schemas.openxmlformats.org/drawingml/2006/main">
            <a:r>
              <a:t>https://new-socialism.org/o-dvizhenii/lider/</a:t>
            </a:r>
          </a:p>
          <a:p xmlns:a="http://schemas.openxmlformats.org/drawingml/2006/main">
            <a:r>
              <a:t>https://www.themoscowtimes.com/2024/01/19/ilya-ponomaryov-we-have-to-capture-the-kremlin-there-is-no-other-way-a83772</a:t>
            </a:r>
          </a:p>
          <a:p xmlns:a="http://schemas.openxmlformats.org/drawingml/2006/main">
            <a:r>
              <a:t>https://www.dw.com/ru/cto-izvestno-o-rossijskih-podrazdeleniah-v-sostave-vsu/a-63915634</a:t>
            </a:r>
          </a:p>
          <a:p xmlns:a="http://schemas.openxmlformats.org/drawingml/2006/main">
            <a:r>
              <a:t>https://www.svoboda.org/a/32321226.html</a:t>
            </a:r>
          </a:p>
          <a:p xmlns:a="http://schemas.openxmlformats.org/drawingml/2006/main">
            <a:r>
              <a:t>https://hromadske.ua/ru/posts/nasha-cel-moskva-my-dolzhny-sbrosit-putina-rossijskie-partizany-mif-ili-pravda</a:t>
            </a:r>
          </a:p>
          <a:p xmlns:a="http://schemas.openxmlformats.org/drawingml/2006/main">
            <a:r>
              <a:t>https://epravda.com.ua/rus/publications/2018/06/11/637572/</a:t>
            </a:r>
          </a:p>
          <a:p xmlns:a="http://schemas.openxmlformats.org/drawingml/2006/main">
            <a:r>
              <a:t>https://pointmedia.io/story/672b355fdc48800406e0f515</a:t>
            </a:r>
          </a:p>
          <a:p xmlns:a="http://schemas.openxmlformats.org/drawingml/2006/main">
            <a:r>
              <a:t>https://ru.wikipedia.org/wiki/%D0%9B%D0%B5%D0%B3%D0%B8%D0%BE%D0%BD_%C2%AB%D0%A1%D0%B2%D0%BE%D0%B1%D0%BE%D0%B4%D0%B0_%D0%A0%D0%BE%D1%81%D1%81%D0%B8%D0%B8%C2%BB</a:t>
            </a:r>
          </a:p>
          <a:p xmlns:a="http://schemas.openxmlformats.org/drawingml/2006/main">
            <a:r>
              <a:t>https://ru.wikipedia.org/wiki/%D0%9F%D0%BE%D0%BD%D0%BE%D0%BC%D0%B0%D1%80%D1%91%D0%B2,_%D0%98%D0%BB%D1%8C%D1%8F_%D0%92%D0%BB%D0%B0%D0%B4%D0%B8%D0%BC%D0%B8%D1%80%D0%BE%D0%B2%D0%B8%D1%87</a:t>
            </a:r>
          </a:p>
          <a:p xmlns:a="http://schemas.openxmlformats.org/drawingml/2006/main">
            <a:r>
              <a:t>https://russophob.ru/person/ponomarev_ilya_vladimirovich</a:t>
            </a:r>
          </a:p>
          <a:p xmlns:a="http://schemas.openxmlformats.org/drawingml/2006/main">
            <a:r>
              <a:t>https://www.svoboda.org/a/32063164.html</a:t>
            </a:r>
          </a:p>
          <a:p xmlns:a="http://schemas.openxmlformats.org/drawingml/2006/main">
            <a:r>
              <a:t>https://www.kpbs.org/news/news/international/2023/03/26/a-scrappy-newscast-in-kyiv-aimed-at-russians-counters-putins-propaganda-machine</a:t>
            </a:r>
          </a:p>
          <a:p xmlns:a="http://schemas.openxmlformats.org/drawingml/2006/main">
            <a:r>
              <a:t>https://ovd.info/express-news/2022/10/02/politik-leonid-gozman-uekhal-iz-rossii-posle-dvukh-administrativnykh</a:t>
            </a:r>
          </a:p>
          <a:p xmlns:a="http://schemas.openxmlformats.org/drawingml/2006/main">
            <a:r>
              <a:t>https://ovd.info/express-news/2022/08/30/politika-leonida-gozmana-arestovali-na-15-sutok-iz-za-posta-v-feysbuke</a:t>
            </a:r>
          </a:p>
          <a:p xmlns:a="http://schemas.openxmlformats.org/drawingml/2006/main">
            <a:r>
              <a:t>https://www.rbc.ru/politics/15/07/2022/62d1b3f39a7947299cdeb6a4</a:t>
            </a:r>
          </a:p>
          <a:p xmlns:a="http://schemas.openxmlformats.org/drawingml/2006/main">
            <a:r>
              <a:t>https://novayagazeta.eu/articles/2022/07/15/sk-doprosil-politika-leonida-gozmana-kak-podozrevaemogo-po-delu-o-neuvedomlenii-o-vtorom-grazhdanstve-news</a:t>
            </a:r>
          </a:p>
          <a:p xmlns:a="http://schemas.openxmlformats.org/drawingml/2006/main">
            <a:r>
              <a:t>https://www.rbc.ru/politics/15/02/2024/65cdc9e09a7947a2995026fa</a:t>
            </a:r>
          </a:p>
          <a:p xmlns:a="http://schemas.openxmlformats.org/drawingml/2006/main">
            <a:r>
              <a:t>https://ovd.info/express-news/2025/01/22/leonida-gozmana-i-rovshana-askerova-vnesli-v-reestr-terroristov-i</a:t>
            </a:r>
          </a:p>
          <a:p xmlns:a="http://schemas.openxmlformats.org/drawingml/2006/main">
            <a:r>
              <a:t>https://www.rbc.ru/opinion-authors/gozman</a:t>
            </a:r>
          </a:p>
          <a:p xmlns:a="http://schemas.openxmlformats.org/drawingml/2006/main">
            <a:r>
              <a:t>https://novayagazeta.eu/articles/2022/07/25/ovd-info-v-moskve-zaderzhali-politika-leonida-gozmana-news</a:t>
            </a:r>
          </a:p>
          <a:p xmlns:a="http://schemas.openxmlformats.org/drawingml/2006/main">
            <a:r>
              <a:t>https://gefter.ru/archive/23487</a:t>
            </a:r>
          </a:p>
          <a:p xmlns:a="http://schemas.openxmlformats.org/drawingml/2006/main">
            <a:r>
              <a:t>https://www.svoboda.org/a/31147156.html</a:t>
            </a:r>
          </a:p>
          <a:p xmlns:a="http://schemas.openxmlformats.org/drawingml/2006/main">
            <a:r>
              <a:t>https://uatv.ua/gozman-putin-zagnal-rossiyu-v-ugol-sleduyushhij-shag-repressii/</a:t>
            </a:r>
          </a:p>
          <a:p xmlns:a="http://schemas.openxmlformats.org/drawingml/2006/main">
            <a:r>
              <a:t>https://echofm.online/programs/hochu-skazat/hochu-skazat-odin-protiv-vseh-kak-ne-dat-strahu-pobedit-sebya</a:t>
            </a:r>
          </a:p>
          <a:p xmlns:a="http://schemas.openxmlformats.org/drawingml/2006/main">
            <a:r>
              <a:t>https://www.svoboda.org/a/leonid-gozman-russkih-lyudey-neljzya-mazatj-odnoy-chernoy-kraskoy-/32732625.html</a:t>
            </a:r>
          </a:p>
          <a:p xmlns:a="http://schemas.openxmlformats.org/drawingml/2006/main">
            <a:r>
              <a:t>https://novayagazeta.eu/articles/2022/07/18/prepiatstvovat-prosveshcheniiu-liudei-vlast-budet-pulemiotami</a:t>
            </a:r>
          </a:p>
          <a:p xmlns:a="http://schemas.openxmlformats.org/drawingml/2006/main">
            <a:r>
              <a:t>https://www.svoboda.org/a/29652429.html</a:t>
            </a:r>
          </a:p>
          <a:p xmlns:a="http://schemas.openxmlformats.org/drawingml/2006/main">
            <a:r>
              <a:t>https://novayagazeta.eu/articles/2022/04/26/nesobliudenie-rezhima</a:t>
            </a:r>
          </a:p>
          <a:p xmlns:a="http://schemas.openxmlformats.org/drawingml/2006/main">
            <a:r>
              <a:t>https://novayagazeta.eu/articles/2022/07/21/zapiski-ugolovnika</a:t>
            </a:r>
          </a:p>
          <a:p xmlns:a="http://schemas.openxmlformats.org/drawingml/2006/main">
            <a:r>
              <a:t>https://novayagazeta.ru/authors/2349</a:t>
            </a:r>
          </a:p>
          <a:p xmlns:a="http://schemas.openxmlformats.org/drawingml/2006/main">
            <a:r>
              <a:t>https://www.rbc.ru/politics/10/08/2017/598c8d6d9a79474cff05cbab</a:t>
            </a:r>
          </a:p>
          <a:p xmlns:a="http://schemas.openxmlformats.org/drawingml/2006/main">
            <a:r>
              <a:t>https://www.bbc.com/russian/news-40853405</a:t>
            </a:r>
          </a:p>
          <a:p xmlns:a="http://schemas.openxmlformats.org/drawingml/2006/main">
            <a:r>
              <a:t>https://www.rbc.ru/politics/10/08/2017/598c0a8e9a7947569574ba10?from=right_column_materials_1</a:t>
            </a:r>
          </a:p>
          <a:p xmlns:a="http://schemas.openxmlformats.org/drawingml/2006/main">
            <a:r>
              <a:t>https://www.vedomosti.ru/politics/articles/2017/08/10/728820-udaltsov</a:t>
            </a:r>
          </a:p>
          <a:p xmlns:a="http://schemas.openxmlformats.org/drawingml/2006/main">
            <a:r>
              <a:t>https://www.interfax.ru/elections2018/598382</a:t>
            </a:r>
          </a:p>
          <a:p xmlns:a="http://schemas.openxmlformats.org/drawingml/2006/main">
            <a:r>
              <a:t>https://sotaproject.com/article/sergeia-udaltsova-opiat-pytaiutsia-posadit-khotia-on-vsego-lish-prosit-putina-postroit-sotsializm</a:t>
            </a:r>
          </a:p>
          <a:p xmlns:a="http://schemas.openxmlformats.org/drawingml/2006/main">
            <a:r>
              <a:t>https://www.gazeta.ru/tags/person/sergei_udaltsov.shtml</a:t>
            </a:r>
          </a:p>
          <a:p xmlns:a="http://schemas.openxmlformats.org/drawingml/2006/main">
            <a:r>
              <a:t>https://www.kommersant.ru/doc/8317316</a:t>
            </a:r>
          </a:p>
          <a:p xmlns:a="http://schemas.openxmlformats.org/drawingml/2006/main">
            <a:r>
              <a:t>https://www.kommersant.ru/doc/8972418</a:t>
            </a:r>
          </a:p>
          <a:p xmlns:a="http://schemas.openxmlformats.org/drawingml/2006/main">
            <a:r>
              <a:t>https://holod.media/2023/09/12/udaltsov-interview/</a:t>
            </a:r>
          </a:p>
          <a:p xmlns:a="http://schemas.openxmlformats.org/drawingml/2006/main">
            <a:r>
              <a:t>https://meduza.io/feature/2024/01/11/sergey-udaltsov-zaderzhan-po-obvineniyu-v-opravdanii-terrorizma</a:t>
            </a:r>
          </a:p>
          <a:p xmlns:a="http://schemas.openxmlformats.org/drawingml/2006/main">
            <a:r>
              <a:t>https://ref-book.sova-center.ru/index.php/%D0%94%D1%80%D1%83%D0%B3%D0%B0%D1%8F_%D0%A0%D0%BE%D1%81%D1%81%D0%B8%D1%8F,_%D0%BF%D0%B0%D1%80%D1%82%D0%B8%D1%8F</a:t>
            </a:r>
          </a:p>
          <a:p xmlns:a="http://schemas.openxmlformats.org/drawingml/2006/main">
            <a:r>
              <a:t>https://www.rbc.ru/society/17/03/2020/5e71048d9a79473925ab81a7</a:t>
            </a:r>
          </a:p>
          <a:p xmlns:a="http://schemas.openxmlformats.org/drawingml/2006/main">
            <a:r>
              <a:t>https://rt.rbc.ru/society/18/03/2020/5e71acc49a794773553f824e</a:t>
            </a:r>
          </a:p>
          <a:p xmlns:a="http://schemas.openxmlformats.org/drawingml/2006/main">
            <a:r>
              <a:t>https://www.bostonglobe.com/metro/obituaries/2020/03/18/russian-author-political-activist-eduard-limonov-dies/jnjHywBRjVTTgnlsqI12vN/story.html</a:t>
            </a:r>
          </a:p>
          <a:p xmlns:a="http://schemas.openxmlformats.org/drawingml/2006/main">
            <a:r>
              <a:t>https://nsn.fm/society/poslednee-intervu-pisatelya-i-politika-eduarda-limonova</a:t>
            </a:r>
          </a:p>
          <a:p xmlns:a="http://schemas.openxmlformats.org/drawingml/2006/main">
            <a:r>
              <a:t>http://www.grso.ru/person/limonov-eduard.html</a:t>
            </a:r>
          </a:p>
          <a:p xmlns:a="http://schemas.openxmlformats.org/drawingml/2006/main">
            <a:r>
              <a:t>https://ru.wikipedia.org/wiki/%D0%94%D1%80%D1%83%D0%B3%D0%B0%D1%8F_%D0%A0%D0%BE%D1%81%D1%81%D0%B8%D1%8F_%D0%AD._%D0%92._%D0%9B%D0%B8%D0%BC%D0%BE%D0%BD%D0%BE%D0%B2%D0%B0</a:t>
            </a:r>
          </a:p>
          <a:p xmlns:a="http://schemas.openxmlformats.org/drawingml/2006/main">
            <a:r>
              <a:t>https://novayagazeta.ru/articles/2017/03/12/71752-puteshestvie-natsbolov-k-putinu-i-obratno</a:t>
            </a:r>
          </a:p>
          <a:p xmlns:a="http://schemas.openxmlformats.org/drawingml/2006/main">
            <a:r>
              <a:t>https://mediabrest.by/news/lyudi/umer-eduard-limonov-chem-zapomnilsya-pisatel</a:t>
            </a:r>
          </a:p>
          <a:p xmlns:a="http://schemas.openxmlformats.org/drawingml/2006/main">
            <a:r>
              <a:t>https://www.limonow.de/read/EL_2013-2018_T.html</a:t>
            </a:r>
          </a:p>
          <a:p xmlns:a="http://schemas.openxmlformats.org/drawingml/2006/main">
            <a:r>
              <a:t>https://www.infpol.ru/203662-ot-ubezhdennogo-antisovetchika-do-kolumnista-rt/</a:t>
            </a:r>
          </a:p>
          <a:p xmlns:a="http://schemas.openxmlformats.org/drawingml/2006/main">
            <a:r>
              <a:t>https://www.bbc.com/russian/articles/c2eg90d7gg9o</a:t>
            </a:r>
          </a:p>
          <a:p xmlns:a="http://schemas.openxmlformats.org/drawingml/2006/main">
            <a:r>
              <a:t>https://www.dw.com/ru/mosgorsud-prigovoril-igora-girkina-strelkova-k-4-godam-kolonii/a-68080937</a:t>
            </a:r>
          </a:p>
          <a:p xmlns:a="http://schemas.openxmlformats.org/drawingml/2006/main">
            <a:r>
              <a:t>https://www.fontanka.ru/2023/07/21/72520253</a:t>
            </a:r>
          </a:p>
          <a:p xmlns:a="http://schemas.openxmlformats.org/drawingml/2006/main">
            <a:r>
              <a:t>https://www.svoboda.org/a/strelkov-iz-sizo-opasayusj-amnistii-kak-u-prigozhina-/32722083.html</a:t>
            </a:r>
          </a:p>
          <a:p xmlns:a="http://schemas.openxmlformats.org/drawingml/2006/main">
            <a:r>
              <a:t>https://ru.themoscowtimes.com/2023/12/07/girkin-zayavil-chto-opasaetsya-povtorit-sudbu-prigozhina-a115592</a:t>
            </a:r>
          </a:p>
          <a:p xmlns:a="http://schemas.openxmlformats.org/drawingml/2006/main">
            <a:r>
              <a:t>https://ru.krymr.com/a/boing-mn17-10-let-podozrevayemyye-obvinyayemyye-vinovnyye/33040170.html</a:t>
            </a:r>
          </a:p>
          <a:p xmlns:a="http://schemas.openxmlformats.org/drawingml/2006/main">
            <a:r>
              <a:t>https://charter97.org/ru/news/2023/7/22/556802/</a:t>
            </a:r>
          </a:p>
          <a:p xmlns:a="http://schemas.openxmlformats.org/drawingml/2006/main">
            <a:r>
              <a:t>https://t.me/s/pgubarev?after=622</a:t>
            </a:r>
          </a:p>
          <a:p xmlns:a="http://schemas.openxmlformats.org/drawingml/2006/main">
            <a:r>
              <a:t>https://rabkor.ru/columns/debates/2023/05/23/angry_patriots_of_an_imaginary_country/</a:t>
            </a:r>
          </a:p>
          <a:p xmlns:a="http://schemas.openxmlformats.org/drawingml/2006/main">
            <a:r>
              <a:t>https://www.bbc.com/news/world-60947877</a:t>
            </a:r>
          </a:p>
          <a:p xmlns:a="http://schemas.openxmlformats.org/drawingml/2006/main">
            <a:r>
              <a:t>https://www.reuters.com/world/europe/russian-mercenary-boss-courts-putin-with-ukrainian-battlefield-success-2023-01-13/</a:t>
            </a:r>
          </a:p>
          <a:p xmlns:a="http://schemas.openxmlformats.org/drawingml/2006/main">
            <a:r>
              <a:t>https://www.reuters.com/world/europe/russias-wagner-mercenaries-halt-prisoner-recruitment-campaign-founder-prigozhin-2023-02-09/</a:t>
            </a:r>
          </a:p>
          <a:p xmlns:a="http://schemas.openxmlformats.org/drawingml/2006/main">
            <a:r>
              <a:t>https://www.reuters.com/investigates/special-report/ukraine-crisis-russia-wagner/</a:t>
            </a:r>
          </a:p>
          <a:p xmlns:a="http://schemas.openxmlformats.org/drawingml/2006/main">
            <a:r>
              <a:t>https://www.reuters.com/world/europe/russias-wagner-chief-prigozhin-says-ukraine-counteroffensive-already-under-way-2023-05-03/</a:t>
            </a:r>
          </a:p>
          <a:p xmlns:a="http://schemas.openxmlformats.org/drawingml/2006/main">
            <a:r>
              <a:t>https://www.bbc.com/russian/media-66023357</a:t>
            </a:r>
          </a:p>
          <a:p xmlns:a="http://schemas.openxmlformats.org/drawingml/2006/main">
            <a:r>
              <a:t>https://www.reuters.com/world/europe/russias-prigozhin-his-own-words-mutiny-2023-06-26/</a:t>
            </a:r>
          </a:p>
          <a:p xmlns:a="http://schemas.openxmlformats.org/drawingml/2006/main">
            <a:r>
              <a:t>https://x.com/Reuters/status/1632709213641113601</a:t>
            </a:r>
          </a:p>
          <a:p xmlns:a="http://schemas.openxmlformats.org/drawingml/2006/main">
            <a:r>
              <a:t>https://www.reuters.com/world/europe/russian-mercenary-boss-says-moscows-war-ukraine-based-lies-2023-06-23/</a:t>
            </a:r>
          </a:p>
          <a:p xmlns:a="http://schemas.openxmlformats.org/drawingml/2006/main">
            <a:r>
              <a:t>https://www.rbc.ru/spb_sz/02/10/2026/6abfb91afd4c7ff957d9cbe8</a:t>
            </a:r>
          </a:p>
          <a:p xmlns:a="http://schemas.openxmlformats.org/drawingml/2006/main">
            <a:r>
              <a:t>https://www.zaks.ru/new/person/view/639</a:t>
            </a:r>
          </a:p>
          <a:p xmlns:a="http://schemas.openxmlformats.org/drawingml/2006/main">
            <a:r>
              <a:t>https://www.zaks.ru/new/archive/view/219520</a:t>
            </a:r>
          </a:p>
          <a:p xmlns:a="http://schemas.openxmlformats.org/drawingml/2006/main">
            <a:r>
              <a:t>https://tvspb.ru/news/2016/09/27/novyij-sostav-parlamenta-kto-zajmet-kresla-v-zakonodatelnom-sobranii-vi-sozyiva</a:t>
            </a:r>
          </a:p>
          <a:p xmlns:a="http://schemas.openxmlformats.org/drawingml/2006/main">
            <a:r>
              <a:t>https://tass.ru/politika/20994233</a:t>
            </a:r>
          </a:p>
          <a:p xmlns:a="http://schemas.openxmlformats.org/drawingml/2006/main">
            <a:r>
              <a:t>https://www.zaks.ru/new/archive/view/265712</a:t>
            </a:r>
          </a:p>
          <a:p xmlns:a="http://schemas.openxmlformats.org/drawingml/2006/main">
            <a:r>
              <a:t>https://www.zaks.ru/new/archive/view/269374</a:t>
            </a:r>
          </a:p>
          <a:p xmlns:a="http://schemas.openxmlformats.org/drawingml/2006/main">
            <a:r>
              <a:t>https://www.dp.ru/a/2026/10/02/oksana-dmitrieva-proigrala</a:t>
            </a:r>
          </a:p>
          <a:p xmlns:a="http://schemas.openxmlformats.org/drawingml/2006/main">
            <a:r>
              <a:t>https://ru.wikipedia.org/wiki/%D0%9F%D0%B0%D1%80%D1%82%D0%B8%D1%8F_%D1%80%D0%BE%D1%81%D1%82%D0%B0</a:t>
            </a:r>
          </a:p>
          <a:p xmlns:a="http://schemas.openxmlformats.org/drawingml/2006/main">
            <a:r>
              <a:t>https://dmitrieva.org/category/gosduma/zakonoproekty/</a:t>
            </a:r>
          </a:p>
          <a:p xmlns:a="http://schemas.openxmlformats.org/drawingml/2006/main">
            <a:r>
              <a:t>https://t.me/s/oxdmitrieva?before=1072</a:t>
            </a:r>
          </a:p>
          <a:p xmlns:a="http://schemas.openxmlformats.org/drawingml/2006/main">
            <a:r>
              <a:t>http://api.duma.gov.ru/api/transcriptFull/2023-09-28</a:t>
            </a:r>
          </a:p>
          <a:p xmlns:a="http://schemas.openxmlformats.org/drawingml/2006/main">
            <a:r>
              <a:t>https://www.fontanka.ru/2026/09/04/76623983/</a:t>
            </a:r>
          </a:p>
          <a:p xmlns:a="http://schemas.openxmlformats.org/drawingml/2006/main">
            <a:r>
              <a:t>https://www.vedomosti.ru/politics/articles/2026/03/10/1181644-deputat-semi-sozivov-oksana-dmitrieva-snova-poidet-v-gosdumu</a:t>
            </a:r>
          </a:p>
          <a:p xmlns:a="http://schemas.openxmlformats.org/drawingml/2006/main">
            <a:r>
              <a:t>https://www.kommersant.ru/doc/8497588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"id": "F2",</a:t>
            </a:r>
          </a:p>
          <a:p xmlns:a="http://schemas.openxmlformats.org/drawingml/2006/main">
            <a:r>
              <a:t>  "name": "Институциональная партийность и централизация ↔ Конфронтационная персонализация и протест",</a:t>
            </a:r>
          </a:p>
          <a:p xmlns:a="http://schemas.openxmlformats.org/drawingml/2006/main">
            <a:r>
              <a:t>  "label": "Институциональная партийность и централизация ↔ Конфронтационная персонализация и протест",</a:t>
            </a:r>
          </a:p>
          <a:p xmlns:a="http://schemas.openxmlformats.org/drawingml/2006/main">
            <a:r>
              <a:t>  "positive_traits":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"parliamentary-institutional",</a:t>
            </a:r>
          </a:p>
          <a:p xmlns:a="http://schemas.openxmlformats.org/drawingml/2006/main">
            <a:r>
              <a:t>      "name": "Институциональная работа — протестное действие",</a:t>
            </a:r>
          </a:p>
          <a:p xmlns:a="http://schemas.openxmlformats.org/drawingml/2006/main">
            <a:r>
              <a:t>      "positive": "Изменения через действующие правовые и парламентские процедуры",</a:t>
            </a:r>
          </a:p>
          <a:p xmlns:a="http://schemas.openxmlformats.org/drawingml/2006/main">
            <a:r>
              <a:t>      "negative": "Изменения через внеинституциональное протестное давление",</a:t>
            </a:r>
          </a:p>
          <a:p xmlns:a="http://schemas.openxmlformats.org/drawingml/2006/main">
            <a:r>
              <a:t>      "loading": 0.7855774412593813,</a:t>
            </a:r>
          </a:p>
          <a:p xmlns:a="http://schemas.openxmlformats.org/drawingml/2006/main">
            <a:r>
              <a:t>      "high_factor_property": "Изменения через действующие правовые и парламентские процедуры",</a:t>
            </a:r>
          </a:p>
          <a:p xmlns:a="http://schemas.openxmlformats.org/drawingml/2006/main">
            <a:r>
              <a:t>      "low_factor_property": "Изменения через внеинституциональное протестное давление"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"party-leadership",</a:t>
            </a:r>
          </a:p>
          <a:p xmlns:a="http://schemas.openxmlformats.org/drawingml/2006/main">
            <a:r>
              <a:t>      "name": "Партийная организация — независимая инициатива",</a:t>
            </a:r>
          </a:p>
          <a:p xmlns:a="http://schemas.openxmlformats.org/drawingml/2006/main">
            <a:r>
              <a:t>      "positive": "Партия как основной инструмент политического действия",</a:t>
            </a:r>
          </a:p>
          <a:p xmlns:a="http://schemas.openxmlformats.org/drawingml/2006/main">
            <a:r>
              <a:t>      "negative": "Независимые от партий гражданские и персональные инициативы",</a:t>
            </a:r>
          </a:p>
          <a:p xmlns:a="http://schemas.openxmlformats.org/drawingml/2006/main">
            <a:r>
              <a:t>      "loading": 0.5008645194926944,</a:t>
            </a:r>
          </a:p>
          <a:p xmlns:a="http://schemas.openxmlformats.org/drawingml/2006/main">
            <a:r>
              <a:t>      "high_factor_property": "Партия как основной инструмент политического действия",</a:t>
            </a:r>
          </a:p>
          <a:p xmlns:a="http://schemas.openxmlformats.org/drawingml/2006/main">
            <a:r>
              <a:t>      "low_factor_property": "Независимые от партий гражданские и персональные инициативы"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"federal-loyalty",</a:t>
            </a:r>
          </a:p>
          <a:p xmlns:a="http://schemas.openxmlformats.org/drawingml/2006/main">
            <a:r>
              <a:t>      "name": "Централизация — децентрализация",</a:t>
            </a:r>
          </a:p>
          <a:p xmlns:a="http://schemas.openxmlformats.org/drawingml/2006/main">
            <a:r>
              <a:t>      "positive": "Единая вертикаль и концентрация полномочий в центре",</a:t>
            </a:r>
          </a:p>
          <a:p xmlns:a="http://schemas.openxmlformats.org/drawingml/2006/main">
            <a:r>
              <a:t>      "negative": "Региональная и муниципальная автономия, распределение полномочий",</a:t>
            </a:r>
          </a:p>
          <a:p xmlns:a="http://schemas.openxmlformats.org/drawingml/2006/main">
            <a:r>
              <a:t>      "loading": 0.38176537806462346,</a:t>
            </a:r>
          </a:p>
          <a:p xmlns:a="http://schemas.openxmlformats.org/drawingml/2006/main">
            <a:r>
              <a:t>      "high_factor_property": "Единая вертикаль и концентрация полномочий в центре",</a:t>
            </a:r>
          </a:p>
          <a:p xmlns:a="http://schemas.openxmlformats.org/drawingml/2006/main">
            <a:r>
              <a:t>      "low_factor_property": "Региональная и муниципальная автономия, распределение полномочий"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"negative_traits":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"conflictuality",</a:t>
            </a:r>
          </a:p>
          <a:p xmlns:a="http://schemas.openxmlformats.org/drawingml/2006/main">
            <a:r>
              <a:t>      "name": "Конфронтация — компромисс",</a:t>
            </a:r>
          </a:p>
          <a:p xmlns:a="http://schemas.openxmlformats.org/drawingml/2006/main">
            <a:r>
              <a:t>      "positive": "Конфронтационная полемика и жёсткое противопоставление оппонентам",</a:t>
            </a:r>
          </a:p>
          <a:p xmlns:a="http://schemas.openxmlformats.org/drawingml/2006/main">
            <a:r>
              <a:t>      "negative": "Компромиссная и согласительная риторика",</a:t>
            </a:r>
          </a:p>
          <a:p xmlns:a="http://schemas.openxmlformats.org/drawingml/2006/main">
            <a:r>
              <a:t>      "loading": -0.8078380687802899,</a:t>
            </a:r>
          </a:p>
          <a:p xmlns:a="http://schemas.openxmlformats.org/drawingml/2006/main">
            <a:r>
              <a:t>      "high_factor_property": "Компромиссная и согласительная риторика",</a:t>
            </a:r>
          </a:p>
          <a:p xmlns:a="http://schemas.openxmlformats.org/drawingml/2006/main">
            <a:r>
              <a:t>      "low_factor_property": "Конфронтационная полемика и жёсткое противопоставление оппонентам"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"media-personalization",</a:t>
            </a:r>
          </a:p>
          <a:p xmlns:a="http://schemas.openxmlformats.org/drawingml/2006/main">
            <a:r>
              <a:t>      "name": "Персональный бренд — коллективный институт",</a:t>
            </a:r>
          </a:p>
          <a:p xmlns:a="http://schemas.openxmlformats.org/drawingml/2006/main">
            <a:r>
              <a:t>      "positive": "Личный бренд и обращение от собственного имени",</a:t>
            </a:r>
          </a:p>
          <a:p xmlns:a="http://schemas.openxmlformats.org/drawingml/2006/main">
            <a:r>
              <a:t>      "negative": "Коллективное представительство и институциональное авторство",</a:t>
            </a:r>
          </a:p>
          <a:p xmlns:a="http://schemas.openxmlformats.org/drawingml/2006/main">
            <a:r>
              <a:t>      "loading": -0.7431320289830482,</a:t>
            </a:r>
          </a:p>
          <a:p xmlns:a="http://schemas.openxmlformats.org/drawingml/2006/main">
            <a:r>
              <a:t>      "high_factor_property": "Коллективное представительство и институциональное авторство",</a:t>
            </a:r>
          </a:p>
          <a:p xmlns:a="http://schemas.openxmlformats.org/drawingml/2006/main">
            <a:r>
              <a:t>      "low_factor_property": "Личный бренд и обращение от собственного имени"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"oppositionality",</a:t>
            </a:r>
          </a:p>
          <a:p xmlns:a="http://schemas.openxmlformats.org/drawingml/2006/main">
            <a:r>
              <a:t>      "name": "Критика действующей власти — поддержка её курса",</a:t>
            </a:r>
          </a:p>
          <a:p xmlns:a="http://schemas.openxmlformats.org/drawingml/2006/main">
            <a:r>
              <a:t>      "positive": "Публичная критика действующей федеральной власти",</a:t>
            </a:r>
          </a:p>
          <a:p xmlns:a="http://schemas.openxmlformats.org/drawingml/2006/main">
            <a:r>
              <a:t>      "negative": "Публичная поддержка курса действующей федеральной власти",</a:t>
            </a:r>
          </a:p>
          <a:p xmlns:a="http://schemas.openxmlformats.org/drawingml/2006/main">
            <a:r>
              <a:t>      "loading": -0.5575141343137987,</a:t>
            </a:r>
          </a:p>
          <a:p xmlns:a="http://schemas.openxmlformats.org/drawingml/2006/main">
            <a:r>
              <a:t>      "high_factor_property": "Публичная поддержка курса действующей федеральной власти",</a:t>
            </a:r>
          </a:p>
          <a:p xmlns:a="http://schemas.openxmlformats.org/drawingml/2006/main">
            <a:r>
              <a:t>      "low_factor_property": "Публичная критика действующей федеральной власти"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"mobilization-rhetoric",</a:t>
            </a:r>
          </a:p>
          <a:p xmlns:a="http://schemas.openxmlformats.org/drawingml/2006/main">
            <a:r>
              <a:t>      "name": "Мобилизационный призыв — обсуждение и убеждение",</a:t>
            </a:r>
          </a:p>
          <a:p xmlns:a="http://schemas.openxmlformats.org/drawingml/2006/main">
            <a:r>
              <a:t>      "positive": "Призывы к единению, дисциплине и чрезвычайной мобилизации",</a:t>
            </a:r>
          </a:p>
          <a:p xmlns:a="http://schemas.openxmlformats.org/drawingml/2006/main">
            <a:r>
              <a:t>      "negative": "Призывы к открытому обсуждению, сомнению и убеждению",</a:t>
            </a:r>
          </a:p>
          <a:p xmlns:a="http://schemas.openxmlformats.org/drawingml/2006/main">
            <a:r>
              <a:t>      "loading": -0.4399997726690791,</a:t>
            </a:r>
          </a:p>
          <a:p xmlns:a="http://schemas.openxmlformats.org/drawingml/2006/main">
            <a:r>
              <a:t>      "high_factor_property": "Призывы к открытому обсуждению, сомнению и убеждению",</a:t>
            </a:r>
          </a:p>
          <a:p xmlns:a="http://schemas.openxmlformats.org/drawingml/2006/main">
            <a:r>
              <a:t>      "low_factor_property": "Призывы к единению, дисциплине и чрезвычайной мобилизации"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"international-activity",</a:t>
            </a:r>
          </a:p>
          <a:p xmlns:a="http://schemas.openxmlformats.org/drawingml/2006/main">
            <a:r>
              <a:t>      "name": "Внешняя повестка — внутренняя повестка",</a:t>
            </a:r>
          </a:p>
          <a:p xmlns:a="http://schemas.openxmlformats.org/drawingml/2006/main">
            <a:r>
              <a:t>      "positive": "Приоритет международной и внешнеполитической повестки",</a:t>
            </a:r>
          </a:p>
          <a:p xmlns:a="http://schemas.openxmlformats.org/drawingml/2006/main">
            <a:r>
              <a:t>      "negative": "Приоритет внутренних общественных и хозяйственных задач",</a:t>
            </a:r>
          </a:p>
          <a:p xmlns:a="http://schemas.openxmlformats.org/drawingml/2006/main">
            <a:r>
              <a:t>      "loading": -0.3830141363267151,</a:t>
            </a:r>
          </a:p>
          <a:p xmlns:a="http://schemas.openxmlformats.org/drawingml/2006/main">
            <a:r>
              <a:t>      "high_factor_property": "Приоритет внутренних общественных и хозяйственных задач",</a:t>
            </a:r>
          </a:p>
          <a:p xmlns:a="http://schemas.openxmlformats.org/drawingml/2006/main">
            <a:r>
              <a:t>      "low_factor_property": "Приоритет международной и внешнеполитической повестки"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"strong_loading_threshold": 0.35,</a:t>
            </a:r>
          </a:p>
          <a:p xmlns:a="http://schemas.openxmlformats.org/drawingml/2006/main">
            <a:r>
              <a:t>  "variance_share": 0.18268057849913052,</a:t>
            </a:r>
          </a:p>
          <a:p xmlns:a="http://schemas.openxmlformats.org/drawingml/2006/main">
            <a:r>
              <a:t>  "interpretation": "Вторая ось выделяет различие между акцентом на институциональной работе через парламентские процедуры, партийной организацией и централизацией полномочий — и противоположным полюсом, где преобладают конфронтационная риторика, персонализированный стиль, протестные и внеинституциональные действия. Высокие значения по этой оси соответствуют образам, где изменения связываются с действующими институтами, партийной дисциплиной и вертикалью власти, а публичная риторика склонна к компромиссу и коллективному авторству. Низкие значения характерны для образов с ярко выраженной конфронтационностью, персонализацией, протестной стратегией и акцентом на самостоятельности от партийных структур.\n\nЭта ось позволяет различать публичные образы, ориентированные на коллективные институты и формальные процедуры, и образы, строящиеся на личном бренде, конфликтности и протестной активности. В отличие от первой оси, здесь на первый план выходят способы организации и формы публичного действия, а не внешнеполитические или идеологические установки.",</a:t>
            </a:r>
          </a:p>
          <a:p xmlns:a="http://schemas.openxmlformats.org/drawingml/2006/main">
            <a:r>
              <a:t>  "numeric_label": "Изменения через действующие правовые и парламентские процедуры ↔ Конфронтационная полемика и жёсткое противопоставление оппонентам"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Числа: metadata.json, scores.csv, loadings.csv и утверждённая матрица оценок.</a:t>
            </a:r>
          </a:p>
          <a:p xmlns:a="http://schemas.openxmlformats.org/drawingml/2006/main">
            <a:r>
              <a:t>Изучаемое пространство: Публичный политический образ российских политиков и иных заметных политических акторов, включая деятелей за рубежом, активных хотя бы в части периода. Не рейтинг популярности..</a:t>
            </a:r>
          </a:p>
          <a:p xmlns:a="http://schemas.openxmlformats.org/drawingml/2006/main">
            <a:r>
              <a:t>Оценщик: llm_exploratory.</a:t>
            </a:r>
          </a:p>
          <a:p xmlns:a="http://schemas.openxmlformats.org/drawingml/2006/main">
            <a:r>
              <a:t>Исходные URL:</a:t>
            </a:r>
          </a:p>
          <a:p xmlns:a="http://schemas.openxmlformats.org/drawingml/2006/main">
            <a:r>
              <a:t>https://kremlin.ru/structure/president</a:t>
            </a:r>
          </a:p>
          <a:p xmlns:a="http://schemas.openxmlformats.org/drawingml/2006/main">
            <a:r>
              <a:t>http://www.special.kremlin.ru/events/president/transcripts/67843</a:t>
            </a:r>
          </a:p>
          <a:p xmlns:a="http://schemas.openxmlformats.org/drawingml/2006/main">
            <a:r>
              <a:t>http://en.kremlin.ru/events/president/news/70315</a:t>
            </a:r>
          </a:p>
          <a:p xmlns:a="http://schemas.openxmlformats.org/drawingml/2006/main">
            <a:r>
              <a:t>http://special.kremlin.ru/events/president/transcripts/70565</a:t>
            </a:r>
          </a:p>
          <a:p xmlns:a="http://schemas.openxmlformats.org/drawingml/2006/main">
            <a:r>
              <a:t>http://special.kremlin.ru/events/president/transcripts/72994</a:t>
            </a:r>
          </a:p>
          <a:p xmlns:a="http://schemas.openxmlformats.org/drawingml/2006/main">
            <a:r>
              <a:t>http://kremlin.ru/events/president/news/73585</a:t>
            </a:r>
          </a:p>
          <a:p xmlns:a="http://schemas.openxmlformats.org/drawingml/2006/main">
            <a:r>
              <a:t>http://special.kremlin.ru/events/president/transcripts/75762</a:t>
            </a:r>
          </a:p>
          <a:p xmlns:a="http://schemas.openxmlformats.org/drawingml/2006/main">
            <a:r>
              <a:t>http://www.special.kremlin.ru/events/president/transcripts/76899</a:t>
            </a:r>
          </a:p>
          <a:p xmlns:a="http://schemas.openxmlformats.org/drawingml/2006/main">
            <a:r>
              <a:t>http://special.kremlin.ru/events/president/transcripts/80017</a:t>
            </a:r>
          </a:p>
          <a:p xmlns:a="http://schemas.openxmlformats.org/drawingml/2006/main">
            <a:r>
              <a:t>http://www.special.kremlin.ru/events/president/transcripts/72084</a:t>
            </a:r>
          </a:p>
          <a:p xmlns:a="http://schemas.openxmlformats.org/drawingml/2006/main">
            <a:r>
              <a:t>http://www.special.kremlin.ru/events/president/transcripts/80172</a:t>
            </a:r>
          </a:p>
          <a:p xmlns:a="http://schemas.openxmlformats.org/drawingml/2006/main">
            <a:r>
              <a:t>https://www.diva-portal.org/smash/get/diva2:2035197/FULLTEXT01.pdf</a:t>
            </a:r>
          </a:p>
          <a:p xmlns:a="http://schemas.openxmlformats.org/drawingml/2006/main">
            <a:r>
              <a:t>https://www.reuters.com/world/what-know-about-russias-upcoming-parliamentary-election-2026-09-15/</a:t>
            </a:r>
          </a:p>
          <a:p xmlns:a="http://schemas.openxmlformats.org/drawingml/2006/main">
            <a:r>
              <a:t>https://www.reuters.com/world/europe/how-putin-may-leverage-predictable-outcome-russias-elections-2026-09-18/</a:t>
            </a:r>
          </a:p>
          <a:p xmlns:a="http://schemas.openxmlformats.org/drawingml/2006/main">
            <a:r>
              <a:t>https://ru.wikipedia.org/wiki/Медведев,_Дмитрий_Анатольевич</a:t>
            </a:r>
          </a:p>
          <a:p xmlns:a="http://schemas.openxmlformats.org/drawingml/2006/main">
            <a:r>
              <a:t>https://tass.ru/ekonomika/3941450</a:t>
            </a:r>
          </a:p>
          <a:p xmlns:a="http://schemas.openxmlformats.org/drawingml/2006/main">
            <a:r>
              <a:t>http://archive.government.ru/docs/21653/print/</a:t>
            </a:r>
          </a:p>
          <a:p xmlns:a="http://schemas.openxmlformats.org/drawingml/2006/main">
            <a:r>
              <a:t>https://netfreedom.org.ua/ru/dmytro-anatoliiovych-medvediev-biohrafiia-posady-i-sanktsii/</a:t>
            </a:r>
          </a:p>
          <a:p xmlns:a="http://schemas.openxmlformats.org/drawingml/2006/main">
            <a:r>
              <a:t>https://verstka.media/czeli-svo-kak-kreml-menyal-ih-na-protyazhenii-tryoh-let-vojny</a:t>
            </a:r>
          </a:p>
          <a:p xmlns:a="http://schemas.openxmlformats.org/drawingml/2006/main">
            <a:r>
              <a:t>http://www.scrf.gov.ru/news/allnews/3820/</a:t>
            </a:r>
          </a:p>
          <a:p xmlns:a="http://schemas.openxmlformats.org/drawingml/2006/main">
            <a:r>
              <a:t>http://scrf.gov.ru/news/allnews/3837/</a:t>
            </a:r>
          </a:p>
          <a:p xmlns:a="http://schemas.openxmlformats.org/drawingml/2006/main">
            <a:r>
              <a:t>https://baike.baidu.com/ru/item/%D0%94%D0%BC%D0%B8%D1%82%D1%80%D0%B8%D0%B9%20%D0%90%D0%BD%D0%B0%D1%82%D0%BE%D0%BB%D1%8C%D0%B5%D0%B2%D0%B8%D1%87%20%D0%9C%D0%B5%D0%B4%D0%B2%D0%B5%D0%B4%D0%B5%D0%B2/3254451</a:t>
            </a:r>
          </a:p>
          <a:p xmlns:a="http://schemas.openxmlformats.org/drawingml/2006/main">
            <a:r>
              <a:t>https://tass.ru/politika/5889577</a:t>
            </a:r>
          </a:p>
          <a:p xmlns:a="http://schemas.openxmlformats.org/drawingml/2006/main">
            <a:r>
              <a:t>https://meduza.io/feature/2023/06/26/chto-proizoshlo-s-dmitriem-medvedevym</a:t>
            </a:r>
          </a:p>
          <a:p xmlns:a="http://schemas.openxmlformats.org/drawingml/2006/main">
            <a:r>
              <a:t>https://www.bbc.com/russian/articles/c6evw7d22lv0o</a:t>
            </a:r>
          </a:p>
          <a:p xmlns:a="http://schemas.openxmlformats.org/drawingml/2006/main">
            <a:r>
              <a:t>https://er.ru/activity/news/dmitrij-medvedev-edinaya-rossiya-ne-dopustit-razrusheniya-cennostnyh-osnov-strany</a:t>
            </a:r>
          </a:p>
          <a:p xmlns:a="http://schemas.openxmlformats.org/drawingml/2006/main">
            <a:r>
              <a:t>https://en.wikipedia.org/wiki/Media_freedom_in_Russia</a:t>
            </a:r>
          </a:p>
          <a:p xmlns:a="http://schemas.openxmlformats.org/drawingml/2006/main">
            <a:r>
              <a:t>https://government.ru/gov/persons/151/travel/?area=KHA</a:t>
            </a:r>
          </a:p>
          <a:p xmlns:a="http://schemas.openxmlformats.org/drawingml/2006/main">
            <a:r>
              <a:t>http://government.ru/gov/persons/151/biography/</a:t>
            </a:r>
          </a:p>
          <a:p xmlns:a="http://schemas.openxmlformats.org/drawingml/2006/main">
            <a:r>
              <a:t>https://www.reuters.com/world/europe/who-is-russias-mikhail-mishustin-2024-05-10/</a:t>
            </a:r>
          </a:p>
          <a:p xmlns:a="http://schemas.openxmlformats.org/drawingml/2006/main">
            <a:r>
              <a:t>https://www.kommersant.ru/doc/4220798</a:t>
            </a:r>
          </a:p>
          <a:p xmlns:a="http://schemas.openxmlformats.org/drawingml/2006/main">
            <a:r>
              <a:t>https://www.vedomosti.ru/politics/galleries/2026/03/03/1179718-nalogi-pod-kontrolem</a:t>
            </a:r>
          </a:p>
          <a:p xmlns:a="http://schemas.openxmlformats.org/drawingml/2006/main">
            <a:r>
              <a:t>http://government.ru/gov/persons/151/travel/?page=5</a:t>
            </a:r>
          </a:p>
          <a:p xmlns:a="http://schemas.openxmlformats.org/drawingml/2006/main">
            <a:r>
              <a:t>http://government.ru/news/46476/</a:t>
            </a:r>
          </a:p>
          <a:p xmlns:a="http://schemas.openxmlformats.org/drawingml/2006/main">
            <a:r>
              <a:t>http://government.ru/news/52063/</a:t>
            </a:r>
          </a:p>
          <a:p xmlns:a="http://schemas.openxmlformats.org/drawingml/2006/main">
            <a:r>
              <a:t>http://government.ru/news/52851/</a:t>
            </a:r>
          </a:p>
          <a:p xmlns:a="http://schemas.openxmlformats.org/drawingml/2006/main">
            <a:r>
              <a:t>https://nangs.org/news/society/kabmin-privlek-otdelnye-gosorgany-k-ukrepleniyu-traditsionnykh-tsennostej</a:t>
            </a:r>
          </a:p>
          <a:p xmlns:a="http://schemas.openxmlformats.org/drawingml/2006/main">
            <a:r>
              <a:t>http://government.ru/news/57315/</a:t>
            </a:r>
          </a:p>
          <a:p xmlns:a="http://schemas.openxmlformats.org/drawingml/2006/main">
            <a:r>
              <a:t>https://www.rbc.ru/person/617bf30d9a7947f92ee2d266</a:t>
            </a:r>
          </a:p>
          <a:p xmlns:a="http://schemas.openxmlformats.org/drawingml/2006/main">
            <a:r>
              <a:t>https://mid.ru/ru/press_service/video/view/1848395/</a:t>
            </a:r>
          </a:p>
          <a:p xmlns:a="http://schemas.openxmlformats.org/drawingml/2006/main">
            <a:r>
              <a:t>https://mid.ru/ru/foreign_policy/international_organizations/1932076/</a:t>
            </a:r>
          </a:p>
          <a:p xmlns:a="http://schemas.openxmlformats.org/drawingml/2006/main">
            <a:r>
              <a:t>https://mid.ru/ru/press_service/minister_speeches/1991476/</a:t>
            </a:r>
          </a:p>
          <a:p xmlns:a="http://schemas.openxmlformats.org/drawingml/2006/main">
            <a:r>
              <a:t>https://www.mid.ru/ru/press_service/vizity-ministra/1922112/</a:t>
            </a:r>
          </a:p>
          <a:p xmlns:a="http://schemas.openxmlformats.org/drawingml/2006/main">
            <a:r>
              <a:t>https://www.mid.ru/ru/foreign_policy/news/1927568/</a:t>
            </a:r>
          </a:p>
          <a:p xmlns:a="http://schemas.openxmlformats.org/drawingml/2006/main">
            <a:r>
              <a:t>https://mid.ru/ru/foreign_policy/news/1912973/</a:t>
            </a:r>
          </a:p>
          <a:p xmlns:a="http://schemas.openxmlformats.org/drawingml/2006/main">
            <a:r>
              <a:t>https://www.reuters.com/world/europe/russias-lavrov-says-moscow-committed-us-proposals-peace-rejects-europes-2026-06-15/</a:t>
            </a:r>
          </a:p>
          <a:p xmlns:a="http://schemas.openxmlformats.org/drawingml/2006/main">
            <a:r>
              <a:t>https://www.reuters.com/world/lavrov-says-russia-is-ready-resume-talks-with-ukraine-point-where-they-left-off-2026-06-23/</a:t>
            </a:r>
          </a:p>
          <a:p xmlns:a="http://schemas.openxmlformats.org/drawingml/2006/main">
            <a:r>
              <a:t>https://mid.ru/ru/press_service/video/view/1799184/</a:t>
            </a:r>
          </a:p>
          <a:p xmlns:a="http://schemas.openxmlformats.org/drawingml/2006/main">
            <a:r>
              <a:t>https://en.wikipedia.org/wiki/Sergey_Lavrov</a:t>
            </a:r>
          </a:p>
          <a:p xmlns:a="http://schemas.openxmlformats.org/drawingml/2006/main">
            <a:r>
              <a:t>https://www.garant.ru/products/ipo/prime/doc/70627660/</a:t>
            </a:r>
          </a:p>
          <a:p xmlns:a="http://schemas.openxmlformats.org/drawingml/2006/main">
            <a:r>
              <a:t>https://www.rbc.ru/person/617fc0679a794761d6170b80</a:t>
            </a:r>
          </a:p>
          <a:p xmlns:a="http://schemas.openxmlformats.org/drawingml/2006/main">
            <a:r>
              <a:t>http://www.kremlin.ru/acts/bank/50544</a:t>
            </a:r>
          </a:p>
          <a:p xmlns:a="http://schemas.openxmlformats.org/drawingml/2006/main">
            <a:r>
              <a:t>http://special.kremlin.ru/events/president/news/74019</a:t>
            </a:r>
          </a:p>
          <a:p xmlns:a="http://schemas.openxmlformats.org/drawingml/2006/main">
            <a:r>
              <a:t>https://www.interfax.ru/russia/960081</a:t>
            </a:r>
          </a:p>
          <a:p xmlns:a="http://schemas.openxmlformats.org/drawingml/2006/main">
            <a:r>
              <a:t>https://www.rbc.ru/politics/21/09/2022/632ab17c9a794781413c8582</a:t>
            </a:r>
          </a:p>
          <a:p xmlns:a="http://schemas.openxmlformats.org/drawingml/2006/main">
            <a:r>
              <a:t>https://www.bbc.com/russian/articles/c72p0jq04gjo</a:t>
            </a:r>
          </a:p>
          <a:p xmlns:a="http://schemas.openxmlformats.org/drawingml/2006/main">
            <a:r>
              <a:t>https://meduza.io/feature/2024/05/12/putin-uvolil-shoygu-s-posta-ministra-oborony-i-perevel-v-sovbez</a:t>
            </a:r>
          </a:p>
          <a:p xmlns:a="http://schemas.openxmlformats.org/drawingml/2006/main">
            <a:r>
              <a:t>https://paodkb.org/events/sergey-shoygu-naznachen-sekretarem-soveta-bezopasnosti-rf</a:t>
            </a:r>
          </a:p>
          <a:p xmlns:a="http://schemas.openxmlformats.org/drawingml/2006/main">
            <a:r>
              <a:t>https://base.garant.ru/409005084/</a:t>
            </a:r>
          </a:p>
          <a:p xmlns:a="http://schemas.openxmlformats.org/drawingml/2006/main">
            <a:r>
              <a:t>http://special.kremlin.ru/supplement/6345</a:t>
            </a:r>
          </a:p>
          <a:p xmlns:a="http://schemas.openxmlformats.org/drawingml/2006/main">
            <a:r>
              <a:t>http://en.kremlin.ru/supplement/6345</a:t>
            </a:r>
          </a:p>
          <a:p xmlns:a="http://schemas.openxmlformats.org/drawingml/2006/main">
            <a:r>
              <a:t>https://www.kp.ru/daily/27656.5/5040576/</a:t>
            </a:r>
          </a:p>
          <a:p xmlns:a="http://schemas.openxmlformats.org/drawingml/2006/main">
            <a:r>
              <a:t>https://www.fontanka.ru/2025/06/10/75574928/</a:t>
            </a:r>
          </a:p>
          <a:p xmlns:a="http://schemas.openxmlformats.org/drawingml/2006/main">
            <a:r>
              <a:t>https://tass.ru/politika/25506737</a:t>
            </a:r>
          </a:p>
          <a:p xmlns:a="http://schemas.openxmlformats.org/drawingml/2006/main">
            <a:r>
              <a:t>https://www.rbc.ru/person/6181419c9a7947df128a22f7</a:t>
            </a:r>
          </a:p>
          <a:p xmlns:a="http://schemas.openxmlformats.org/drawingml/2006/main">
            <a:r>
              <a:t>https://www.rbc.ru/economics/31/05/2021/60b3de5d9a7947f2883f7aa0</a:t>
            </a:r>
          </a:p>
          <a:p xmlns:a="http://schemas.openxmlformats.org/drawingml/2006/main">
            <a:r>
              <a:t>https://www.rbc.ru/politics/13/05/2024/6641109a9a7947ab8eebcf7f</a:t>
            </a:r>
          </a:p>
          <a:p xmlns:a="http://schemas.openxmlformats.org/drawingml/2006/main">
            <a:r>
              <a:t>https://www.rbc.ru/business/13/06/2023/6482d3389a79473805ee8978</a:t>
            </a:r>
          </a:p>
          <a:p xmlns:a="http://schemas.openxmlformats.org/drawingml/2006/main">
            <a:r>
              <a:t>https://thebell.io/kuda-vedet-ekonomiku-andrej-belousov-zagadki-dmitriya-medvedeva-i-sposoby-perezhit-sanktsii</a:t>
            </a:r>
          </a:p>
          <a:p xmlns:a="http://schemas.openxmlformats.org/drawingml/2006/main">
            <a:r>
              <a:t>https://72.ru/text/politics/2024/05/14/73575386/</a:t>
            </a:r>
          </a:p>
          <a:p xmlns:a="http://schemas.openxmlformats.org/drawingml/2006/main">
            <a:r>
              <a:t>https://tass.ru/armiya-i-opk/22683223</a:t>
            </a:r>
          </a:p>
          <a:p xmlns:a="http://schemas.openxmlformats.org/drawingml/2006/main">
            <a:r>
              <a:t>https://www.rbc.ru/society/12/12/2017/5a2f9b5a9a79473649fe0042</a:t>
            </a:r>
          </a:p>
          <a:p xmlns:a="http://schemas.openxmlformats.org/drawingml/2006/main">
            <a:r>
              <a:t>https://www.istorex.org/post/russia-december-2024-february-2025</a:t>
            </a:r>
          </a:p>
          <a:p xmlns:a="http://schemas.openxmlformats.org/drawingml/2006/main">
            <a:r>
              <a:t>https://rosinform.ru/news/andrej-belousov-osoboe-znachenie-pridayom-obespecheniyu-voennoj-bezopasnosti-soyuznogo-gosudarstva</a:t>
            </a:r>
          </a:p>
          <a:p xmlns:a="http://schemas.openxmlformats.org/drawingml/2006/main">
            <a:r>
              <a:t>https://xn--b1apnk.xn--p1ai/tpost/nsk7vo4xh1-vstrecha-s-ministrom-oboroni-rossii-i-os</a:t>
            </a:r>
          </a:p>
          <a:p xmlns:a="http://schemas.openxmlformats.org/drawingml/2006/main">
            <a:r>
              <a:t>https://www.rbc.ru/person/62d120d89a79475f0ddd8b5e</a:t>
            </a:r>
          </a:p>
          <a:p xmlns:a="http://schemas.openxmlformats.org/drawingml/2006/main">
            <a:r>
              <a:t>http://scrf.gov.ru/news/allnews/2148/</a:t>
            </a:r>
          </a:p>
          <a:p xmlns:a="http://schemas.openxmlformats.org/drawingml/2006/main">
            <a:r>
              <a:t>https://www.rbc.ru/politics/14/05/2024/6643287b9a7947a8f0b8ba78</a:t>
            </a:r>
          </a:p>
          <a:p xmlns:a="http://schemas.openxmlformats.org/drawingml/2006/main">
            <a:r>
              <a:t>https://tass.ru/info/20789699</a:t>
            </a:r>
          </a:p>
          <a:p xmlns:a="http://schemas.openxmlformats.org/drawingml/2006/main">
            <a:r>
              <a:t>https://marine.org.ru/structure/person/56/</a:t>
            </a:r>
          </a:p>
          <a:p xmlns:a="http://schemas.openxmlformats.org/drawingml/2006/main">
            <a:r>
              <a:t>https://marine.org.ru/publication/smi/16108/</a:t>
            </a:r>
          </a:p>
          <a:p xmlns:a="http://schemas.openxmlformats.org/drawingml/2006/main">
            <a:r>
              <a:t>https://www.svoboda.org/a/30676123.html</a:t>
            </a:r>
          </a:p>
          <a:p xmlns:a="http://schemas.openxmlformats.org/drawingml/2006/main">
            <a:r>
              <a:t>https://aif.ru/society/safety/kuklovodstvo_k_deystviyu_nikolay_patrushev_o_metodah_cvetnyh_revolyuciy</a:t>
            </a:r>
          </a:p>
          <a:p xmlns:a="http://schemas.openxmlformats.org/drawingml/2006/main">
            <a:r>
              <a:t>https://vkrizis.info/vlast/czennosti-razmyvaniya/</a:t>
            </a:r>
          </a:p>
          <a:p xmlns:a="http://schemas.openxmlformats.org/drawingml/2006/main">
            <a:r>
              <a:t>https://infranomica.ru/2026/05/19/selskoe-hozyajstvo-est-rezultat-budet-i-pishha/</a:t>
            </a:r>
          </a:p>
          <a:p xmlns:a="http://schemas.openxmlformats.org/drawingml/2006/main">
            <a:r>
              <a:t>https://www.rbc.ru/person/660400989a79471b36dbb514</a:t>
            </a:r>
          </a:p>
          <a:p xmlns:a="http://schemas.openxmlformats.org/drawingml/2006/main">
            <a:r>
              <a:t>http://special.kremlin.ru/catalog/persons/100/events</a:t>
            </a:r>
          </a:p>
          <a:p xmlns:a="http://schemas.openxmlformats.org/drawingml/2006/main">
            <a:r>
              <a:t>https://nac.gov.ru/view/eb008ff4-1608-4b47-b2a9-3d604c1833c2</a:t>
            </a:r>
          </a:p>
          <a:p xmlns:a="http://schemas.openxmlformats.org/drawingml/2006/main">
            <a:r>
              <a:t>http://pfo.gov.ru/press/events/113336/</a:t>
            </a:r>
          </a:p>
          <a:p xmlns:a="http://schemas.openxmlformats.org/drawingml/2006/main">
            <a:r>
              <a:t>https://www.opensanctions.org/entities/Q516824/</a:t>
            </a:r>
          </a:p>
          <a:p xmlns:a="http://schemas.openxmlformats.org/drawingml/2006/main">
            <a:r>
              <a:t>https://www.agents.media/ssha-poprobuyut-vozobnovit-peregovory-o-mire-v-ukraine-cherez-glavu-fsb-che-vedomstvo-kak-schitaetsya-svoimi-dokladami-podtolknulo-putina-k-vojne/</a:t>
            </a:r>
          </a:p>
          <a:p xmlns:a="http://schemas.openxmlformats.org/drawingml/2006/main">
            <a:r>
              <a:t>https://letters.kremlin.ru/news/receptions/by-section/assignments/by-person/260</a:t>
            </a:r>
          </a:p>
          <a:p xmlns:a="http://schemas.openxmlformats.org/drawingml/2006/main">
            <a:r>
              <a:t>https://www.kommersant.ru/doc/3612580</a:t>
            </a:r>
          </a:p>
          <a:p xmlns:a="http://schemas.openxmlformats.org/drawingml/2006/main">
            <a:r>
              <a:t>https://fbk.info/ru/investigations/kirienko-kholyi-putina</a:t>
            </a:r>
          </a:p>
          <a:p xmlns:a="http://schemas.openxmlformats.org/drawingml/2006/main">
            <a:r>
              <a:t>https://utro02.tv/2022/05/24/kolebaniya-kirienok/</a:t>
            </a:r>
          </a:p>
          <a:p xmlns:a="http://schemas.openxmlformats.org/drawingml/2006/main">
            <a:r>
              <a:t>https://meduza.io/feature/2023/12/19/on-peresidel-v-svoem-kresle-v-kremle-i-pravitelstve-obsuzhdayut-chto-sergey-kirienko-mozhet-lishitsya-dolzhnosti-v-ap-posle-vyborov-prezidenta</a:t>
            </a:r>
          </a:p>
          <a:p xmlns:a="http://schemas.openxmlformats.org/drawingml/2006/main">
            <a:r>
              <a:t>https://verstka.media/kak-rossiya-prodvigaet-svoyu-molodezhnuyu-politiku-na-okkupirovannyh-territoriyah</a:t>
            </a:r>
          </a:p>
          <a:p xmlns:a="http://schemas.openxmlformats.org/drawingml/2006/main">
            <a:r>
              <a:t>https://dnrnews.ru/society/2025/09/04/1167117.html</a:t>
            </a:r>
          </a:p>
          <a:p xmlns:a="http://schemas.openxmlformats.org/drawingml/2006/main">
            <a:r>
              <a:t>https://www.tadviser.ru/index.php/%D0%9F%D0%B5%D1%80%D1%81%D0%BE%D0%BD%D0%B0:%D0%9A%D0%B8%D1%80%D0%B8%D0%B5%D0%BD%D0%BA%D0%BE_%D0%A1%D0%B5%D1%80%D0%B3%D0%B5%D0%B9_%D0%92%D0%BB%D0%B0%D0%B4%D0%B8%D0%BB%D0%B5%D0%BD%D0%BE%D0%B2%D0%B8%D1%87</a:t>
            </a:r>
          </a:p>
          <a:p xmlns:a="http://schemas.openxmlformats.org/drawingml/2006/main">
            <a:r>
              <a:t>https://tass.ru/politika/18225741</a:t>
            </a:r>
          </a:p>
          <a:p xmlns:a="http://schemas.openxmlformats.org/drawingml/2006/main">
            <a:r>
              <a:t>https://www.kommersant.ru/doc/6187168</a:t>
            </a:r>
          </a:p>
          <a:p xmlns:a="http://schemas.openxmlformats.org/drawingml/2006/main">
            <a:r>
              <a:t>https://duma.gov.ru/news/63383/</a:t>
            </a:r>
          </a:p>
          <a:p xmlns:a="http://schemas.openxmlformats.org/drawingml/2006/main">
            <a:r>
              <a:t>http://duma.gov.ru/en/duma/persons/99100829/news/</a:t>
            </a:r>
          </a:p>
          <a:p xmlns:a="http://schemas.openxmlformats.org/drawingml/2006/main">
            <a:r>
              <a:t>http://duma.gov.ru/en/news/62248/</a:t>
            </a:r>
          </a:p>
          <a:p xmlns:a="http://schemas.openxmlformats.org/drawingml/2006/main">
            <a:r>
              <a:t>http://duma.gov.ru/en/news/61352/</a:t>
            </a:r>
          </a:p>
          <a:p xmlns:a="http://schemas.openxmlformats.org/drawingml/2006/main">
            <a:r>
              <a:t>http://duma.gov.ru/en/news/64178/</a:t>
            </a:r>
          </a:p>
          <a:p xmlns:a="http://schemas.openxmlformats.org/drawingml/2006/main">
            <a:r>
              <a:t>http://duma.gov.ru/en/news/64216</a:t>
            </a:r>
          </a:p>
          <a:p xmlns:a="http://schemas.openxmlformats.org/drawingml/2006/main">
            <a:r>
              <a:t>http://duma.gov.ru/en/news/64239</a:t>
            </a:r>
          </a:p>
          <a:p xmlns:a="http://schemas.openxmlformats.org/drawingml/2006/main">
            <a:r>
              <a:t>https://en.wikipedia.org/wiki/Vyacheslav_Volodin</a:t>
            </a:r>
          </a:p>
          <a:p xmlns:a="http://schemas.openxmlformats.org/drawingml/2006/main">
            <a:r>
              <a:t>http://duma.gov.ru/news/56060/</a:t>
            </a:r>
          </a:p>
          <a:p xmlns:a="http://schemas.openxmlformats.org/drawingml/2006/main">
            <a:r>
              <a:t>http://duma.gov.ru/news/60448/</a:t>
            </a:r>
          </a:p>
          <a:p xmlns:a="http://schemas.openxmlformats.org/drawingml/2006/main">
            <a:r>
              <a:t>http://duma.gov.ru/news/61362/</a:t>
            </a:r>
          </a:p>
          <a:p xmlns:a="http://schemas.openxmlformats.org/drawingml/2006/main">
            <a:r>
              <a:t>http://duma.gov.ru/news/61384/</a:t>
            </a:r>
          </a:p>
          <a:p xmlns:a="http://schemas.openxmlformats.org/drawingml/2006/main">
            <a:r>
              <a:t>http://duma.gov.ru/news/61874/</a:t>
            </a:r>
          </a:p>
          <a:p xmlns:a="http://schemas.openxmlformats.org/drawingml/2006/main">
            <a:r>
              <a:t>http://duma.gov.ru/news/62022/</a:t>
            </a:r>
          </a:p>
          <a:p xmlns:a="http://schemas.openxmlformats.org/drawingml/2006/main">
            <a:r>
              <a:t>http://duma.gov.ru/news/63772/</a:t>
            </a:r>
          </a:p>
          <a:p xmlns:a="http://schemas.openxmlformats.org/drawingml/2006/main">
            <a:r>
              <a:t>https://council.gov.ru/events/news/160466/</a:t>
            </a:r>
          </a:p>
          <a:p xmlns:a="http://schemas.openxmlformats.org/drawingml/2006/main">
            <a:r>
              <a:t>http://council.gov.ru/structure/persons/257/</a:t>
            </a:r>
          </a:p>
          <a:p xmlns:a="http://schemas.openxmlformats.org/drawingml/2006/main">
            <a:r>
              <a:t>https://interaffairs.ru/news/show/16199</a:t>
            </a:r>
          </a:p>
          <a:p xmlns:a="http://schemas.openxmlformats.org/drawingml/2006/main">
            <a:r>
              <a:t>https://www.rbc.ru/person/617fb5ef9a79475c6cfc4502</a:t>
            </a:r>
          </a:p>
          <a:p xmlns:a="http://schemas.openxmlformats.org/drawingml/2006/main">
            <a:r>
              <a:t>https://vksrs.com/publications/matvienko-rasskazala-o-neobkhodimosti-protivostoyat-geroizatsii-natsistov/</a:t>
            </a:r>
          </a:p>
          <a:p xmlns:a="http://schemas.openxmlformats.org/drawingml/2006/main">
            <a:r>
              <a:t>https://absatz.media/politika/158438-valentine-matvienko-77-istoriya-uspeha-put-k-vershine-i-samye-yarkie-zayavleniya</a:t>
            </a:r>
          </a:p>
          <a:p xmlns:a="http://schemas.openxmlformats.org/drawingml/2006/main">
            <a:r>
              <a:t>https://www.rbc.ru/society/14/10/2026/6acf597c9a794743e0478a15?from=short_news</a:t>
            </a:r>
          </a:p>
          <a:p xmlns:a="http://schemas.openxmlformats.org/drawingml/2006/main">
            <a:r>
              <a:t>https://senatinform.ru/news/sf_stremitsya_byt_maksimalno_otkrytym_dlya_raboty_zhurnalistov_matvienko/</a:t>
            </a:r>
          </a:p>
          <a:p xmlns:a="http://schemas.openxmlformats.org/drawingml/2006/main">
            <a:r>
              <a:t>https://eparlament.irzs.ru/Files/getFile/11853</a:t>
            </a:r>
          </a:p>
          <a:p xmlns:a="http://schemas.openxmlformats.org/drawingml/2006/main">
            <a:r>
              <a:t>http://special.council.gov.ru/activity/meetings/170703/transcript/</a:t>
            </a:r>
          </a:p>
          <a:p xmlns:a="http://schemas.openxmlformats.org/drawingml/2006/main">
            <a:r>
              <a:t>https://bookonlime.ru/lecture/12-razvitie-ekonomicheskih-otnosheniy-i-strategicheskoe-planirovanie-v-cifrovoy-ekonomike-2</a:t>
            </a:r>
          </a:p>
          <a:p xmlns:a="http://schemas.openxmlformats.org/drawingml/2006/main">
            <a:r>
              <a:t>https://ru.wikipedia.org/wiki/Песков,_Дмитрий_Сергеевич</a:t>
            </a:r>
          </a:p>
          <a:p xmlns:a="http://schemas.openxmlformats.org/drawingml/2006/main">
            <a:r>
              <a:t>https://www.reuters.com/world/europe/kremlin-says-ukraine-is-now-paying-price-its-own-attacks-russia-2026-09-28/</a:t>
            </a:r>
          </a:p>
          <a:p xmlns:a="http://schemas.openxmlformats.org/drawingml/2006/main">
            <a:r>
              <a:t>https://www.reuters.com/world/europe/kremlin-rejects-le-penbardella-rebuke-says-russia-is-no-threat-france-2026-09-21/</a:t>
            </a:r>
          </a:p>
          <a:p xmlns:a="http://schemas.openxmlformats.org/drawingml/2006/main">
            <a:r>
              <a:t>https://theins.ru/antifake/295208</a:t>
            </a:r>
          </a:p>
          <a:p xmlns:a="http://schemas.openxmlformats.org/drawingml/2006/main">
            <a:r>
              <a:t>https://expert.ru/news/v-kremle-otvetili-na-slova-donalda-trampa-o-rossiyskom-vmeshatelstve</a:t>
            </a:r>
          </a:p>
          <a:p xmlns:a="http://schemas.openxmlformats.org/drawingml/2006/main">
            <a:r>
              <a:t>https://www.dw.com/ru/dmitrij-peskov/t-18146676/page-1</a:t>
            </a:r>
          </a:p>
          <a:p xmlns:a="http://schemas.openxmlformats.org/drawingml/2006/main">
            <a:r>
              <a:t>https://www.pnp.ru/person/dmitriy--peskov/</a:t>
            </a:r>
          </a:p>
          <a:p xmlns:a="http://schemas.openxmlformats.org/drawingml/2006/main">
            <a:r>
              <a:t>https://www.rbc.ua/ukr/dossier/peskov-19032015</a:t>
            </a:r>
          </a:p>
          <a:p xmlns:a="http://schemas.openxmlformats.org/drawingml/2006/main">
            <a:r>
              <a:t>https://www.rbc.ru/politics/12/10/2026/6accae3bb18f4460834ce063</a:t>
            </a:r>
          </a:p>
          <a:p xmlns:a="http://schemas.openxmlformats.org/drawingml/2006/main">
            <a:r>
              <a:t>https://tass.ru/politika/20355193</a:t>
            </a:r>
          </a:p>
          <a:p xmlns:a="http://schemas.openxmlformats.org/drawingml/2006/main">
            <a:r>
              <a:t>https://www.m24.ru/news/06052024/689412</a:t>
            </a:r>
          </a:p>
          <a:p xmlns:a="http://schemas.openxmlformats.org/drawingml/2006/main">
            <a:r>
              <a:t>http://www.kremlin.ru/acts/bank/48502</a:t>
            </a:r>
          </a:p>
          <a:p xmlns:a="http://schemas.openxmlformats.org/drawingml/2006/main">
            <a:r>
              <a:t>https://www.m24.ru/news/11022025/769070</a:t>
            </a:r>
          </a:p>
          <a:p xmlns:a="http://schemas.openxmlformats.org/drawingml/2006/main">
            <a:r>
              <a:t>https://www.m24.ru/news/23042026/894202</a:t>
            </a:r>
          </a:p>
          <a:p xmlns:a="http://schemas.openxmlformats.org/drawingml/2006/main">
            <a:r>
              <a:t>https://cbr.ru/about_br/nabiullinaes/</a:t>
            </a:r>
          </a:p>
          <a:p xmlns:a="http://schemas.openxmlformats.org/drawingml/2006/main">
            <a:r>
              <a:t>https://cbr.ru/press/event/?id=12840</a:t>
            </a:r>
          </a:p>
          <a:p xmlns:a="http://schemas.openxmlformats.org/drawingml/2006/main">
            <a:r>
              <a:t>https://www.cbr.ru/press/event/?id=12904</a:t>
            </a:r>
          </a:p>
          <a:p xmlns:a="http://schemas.openxmlformats.org/drawingml/2006/main">
            <a:r>
              <a:t>https://cbr.ru/press/event/?id=14033</a:t>
            </a:r>
          </a:p>
          <a:p xmlns:a="http://schemas.openxmlformats.org/drawingml/2006/main">
            <a:r>
              <a:t>https://www.cbr.ru/press/event/?id=12764</a:t>
            </a:r>
          </a:p>
          <a:p xmlns:a="http://schemas.openxmlformats.org/drawingml/2006/main">
            <a:r>
              <a:t>https://kazanfirst.ru/articles/534335</a:t>
            </a:r>
          </a:p>
          <a:p xmlns:a="http://schemas.openxmlformats.org/drawingml/2006/main">
            <a:r>
              <a:t>https://www.rbc.ru/person/65e831449a79476cbfd8e5fd</a:t>
            </a:r>
          </a:p>
          <a:p xmlns:a="http://schemas.openxmlformats.org/drawingml/2006/main">
            <a:r>
              <a:t>https://www.interfax.ru/russia/955290</a:t>
            </a:r>
          </a:p>
          <a:p xmlns:a="http://schemas.openxmlformats.org/drawingml/2006/main">
            <a:r>
              <a:t>https://minfin.gov.ru/ru/press-center/?id_4=38548-intervyu_ministra_finansov_antona_siluanova_gazete_argumenty_i_fakty</a:t>
            </a:r>
          </a:p>
          <a:p xmlns:a="http://schemas.openxmlformats.org/drawingml/2006/main">
            <a:r>
              <a:t>https://minfin.gov.ru/ru/press-center/?id_4=37667-vystuplenie_antona_siluanova_na_plenarnom_zasedanii_v_gosudarstvennoi_dume</a:t>
            </a:r>
          </a:p>
          <a:p xmlns:a="http://schemas.openxmlformats.org/drawingml/2006/main">
            <a:r>
              <a:t>https://www.rbc.ru/economics/24/10/2022/63529d159a7947efb82a59eb</a:t>
            </a:r>
          </a:p>
          <a:p xmlns:a="http://schemas.openxmlformats.org/drawingml/2006/main">
            <a:r>
              <a:t>https://www.rbc.ru/newspaper/2020/02/21/5e4e83289a79474bcf9f8cf9</a:t>
            </a:r>
          </a:p>
          <a:p xmlns:a="http://schemas.openxmlformats.org/drawingml/2006/main">
            <a:r>
              <a:t>https://www.rbc.ru/economics/20/02/2020/5e4e91919a79475559478893</a:t>
            </a:r>
          </a:p>
          <a:p xmlns:a="http://schemas.openxmlformats.org/drawingml/2006/main">
            <a:r>
              <a:t>https://minfin.gov.ru/ru/press-center/?id_4=39336-anton_siluanov_predstavil_na_parlamentskikh_slushaniyakh_v_sovete_federatsii_proekt_byudzheta_na_2025-2027_gg.</a:t>
            </a:r>
          </a:p>
          <a:p xmlns:a="http://schemas.openxmlformats.org/drawingml/2006/main">
            <a:r>
              <a:t>https://www.interfax.ru/amp/1035506</a:t>
            </a:r>
          </a:p>
          <a:p xmlns:a="http://schemas.openxmlformats.org/drawingml/2006/main">
            <a:r>
              <a:t>https://tass.ru/ekonomika/28198121</a:t>
            </a:r>
          </a:p>
          <a:p xmlns:a="http://schemas.openxmlformats.org/drawingml/2006/main">
            <a:r>
              <a:t>https://www.rbc.ru/person/65b9f4369a7947ec8a7f242a</a:t>
            </a:r>
          </a:p>
          <a:p xmlns:a="http://schemas.openxmlformats.org/drawingml/2006/main">
            <a:r>
              <a:t>https://www.bfm.ru/news/435050</a:t>
            </a:r>
          </a:p>
          <a:p xmlns:a="http://schemas.openxmlformats.org/drawingml/2006/main">
            <a:r>
              <a:t>https://ru.ruwiki.ru/wiki/%D0%93%D0%BE%D0%BB%D0%B8%D0%BA%D0%BE%D0%B2%D0%B0,_%D0%A2%D0%B0%D1%82%D1%8C%D1%8F%D0%BD%D0%B0_%D0%90%D0%BB%D0%B5%D0%BA%D1%81%D0%B5%D0%B5%D0%B2%D0%BD%D0%B0</a:t>
            </a:r>
          </a:p>
          <a:p xmlns:a="http://schemas.openxmlformats.org/drawingml/2006/main">
            <a:r>
              <a:t>http://www.kremlin.ru/events/president/transcripts/deliberations%20/77439</a:t>
            </a:r>
          </a:p>
          <a:p xmlns:a="http://schemas.openxmlformats.org/drawingml/2006/main">
            <a:r>
              <a:t>https://xn--90aivcdt6dxbc.xn--p1ai/articles/news/prezident-zdravookhranenie-zanimaet-klyuchevoe-mesto-v-sotsialnoy-politike-rossii/</a:t>
            </a:r>
          </a:p>
          <a:p xmlns:a="http://schemas.openxmlformats.org/drawingml/2006/main">
            <a:r>
              <a:t>https://xn--90aivcdt6dxbc.xn--p1ai/articles/news/tatyana-golikova-edinaya-rossiya-nadezhnyy-soyuznik-i-partner-pravitelstva/</a:t>
            </a:r>
          </a:p>
          <a:p xmlns:a="http://schemas.openxmlformats.org/drawingml/2006/main">
            <a:r>
              <a:t>http://government.ru/news/58648/</a:t>
            </a:r>
          </a:p>
          <a:p xmlns:a="http://schemas.openxmlformats.org/drawingml/2006/main">
            <a:r>
              <a:t>http://government.ru/news/54912/</a:t>
            </a:r>
          </a:p>
          <a:p xmlns:a="http://schemas.openxmlformats.org/drawingml/2006/main">
            <a:r>
              <a:t>http://government.ru/news/58000/</a:t>
            </a:r>
          </a:p>
          <a:p xmlns:a="http://schemas.openxmlformats.org/drawingml/2006/main">
            <a:r>
              <a:t>https://tass.ru/politika/28141547</a:t>
            </a:r>
          </a:p>
          <a:p xmlns:a="http://schemas.openxmlformats.org/drawingml/2006/main">
            <a:r>
              <a:t>https://duma.gov.ru/media/files/smUklOtuNPyzwTneQGCfFUHHIsilAqcm.pdf</a:t>
            </a:r>
          </a:p>
          <a:p xmlns:a="http://schemas.openxmlformats.org/drawingml/2006/main">
            <a:r>
              <a:t>https://kprf.ru/dep/gosduma/activities/187187.html</a:t>
            </a:r>
          </a:p>
          <a:p xmlns:a="http://schemas.openxmlformats.org/drawingml/2006/main">
            <a:r>
              <a:t>http://msk.kprf.ru/2022/08/22/222866/</a:t>
            </a:r>
          </a:p>
          <a:p xmlns:a="http://schemas.openxmlformats.org/drawingml/2006/main">
            <a:r>
              <a:t>https://kprf.ru/party-live/cknews/235903.html</a:t>
            </a:r>
          </a:p>
          <a:p xmlns:a="http://schemas.openxmlformats.org/drawingml/2006/main">
            <a:r>
              <a:t>https://kprf.ru/dep/gosduma/activities/236198.html/print</a:t>
            </a:r>
          </a:p>
          <a:p xmlns:a="http://schemas.openxmlformats.org/drawingml/2006/main">
            <a:r>
              <a:t>https://kprf.ru/dep/gosduma/activities/239812.html</a:t>
            </a:r>
          </a:p>
          <a:p xmlns:a="http://schemas.openxmlformats.org/drawingml/2006/main">
            <a:r>
              <a:t>https://kprf-don.ru/index.php/news/facts/12501-2025-09-15-12-58-35.html</a:t>
            </a:r>
          </a:p>
          <a:p xmlns:a="http://schemas.openxmlformats.org/drawingml/2006/main">
            <a:r>
              <a:t>https://kprf.ru/dep/gosduma/activities/237529.html</a:t>
            </a:r>
          </a:p>
          <a:p xmlns:a="http://schemas.openxmlformats.org/drawingml/2006/main">
            <a:r>
              <a:t>https://novayagazeta.ru/articles/2025/09/19/putin-udivilsia-khodu-zapushchennoi-im-vesnoi-munitsipalnoi-reformy-posle-slov-ziuganova-kak-regiony-dlia-nee-lomali-cherez-koleno-a-tatarstan-otkazalsia-ee-ispolniat-news</a:t>
            </a:r>
          </a:p>
          <a:p xmlns:a="http://schemas.openxmlformats.org/drawingml/2006/main">
            <a:r>
              <a:t>https://kprf.ru/official/2025/11/15/15-noiabria-2025-oda-sostoialsia-ii-noiabrskii-plenum-tsk-kprf/473.html</a:t>
            </a:r>
          </a:p>
          <a:p xmlns:a="http://schemas.openxmlformats.org/drawingml/2006/main">
            <a:r>
              <a:t>https://www.rbc.ru/person/617bfbb79a7947fc327a3bcb</a:t>
            </a:r>
          </a:p>
          <a:p xmlns:a="http://schemas.openxmlformats.org/drawingml/2006/main">
            <a:r>
              <a:t>https://www.bbc.com/russian/features-60873381</a:t>
            </a:r>
          </a:p>
          <a:p xmlns:a="http://schemas.openxmlformats.org/drawingml/2006/main">
            <a:r>
              <a:t>https://www.svoboda.org/a/umer-lider-partii-ldpr-vladimir-zhirinovskiy-nekrolog/31770134.html</a:t>
            </a:r>
          </a:p>
          <a:p xmlns:a="http://schemas.openxmlformats.org/drawingml/2006/main">
            <a:r>
              <a:t>https://www.rbc.ru/politics/06/04/2022/624d661b9a79473f7416fe26</a:t>
            </a:r>
          </a:p>
          <a:p xmlns:a="http://schemas.openxmlformats.org/drawingml/2006/main">
            <a:r>
              <a:t>https://tass.ru/politika/3392889</a:t>
            </a:r>
          </a:p>
          <a:p xmlns:a="http://schemas.openxmlformats.org/drawingml/2006/main">
            <a:r>
              <a:t>https://www.pnp.ru/politics/2016/06/28/v-centre-predvybornoy-programmy-ldpr-russkiy-vopros.html</a:t>
            </a:r>
          </a:p>
          <a:p xmlns:a="http://schemas.openxmlformats.org/drawingml/2006/main">
            <a:r>
              <a:t>https://ldpr.ru/party/history/</a:t>
            </a:r>
          </a:p>
          <a:p xmlns:a="http://schemas.openxmlformats.org/drawingml/2006/main">
            <a:r>
              <a:t>https://govoritmoskva.ru/interviews/1023/</a:t>
            </a:r>
          </a:p>
          <a:p xmlns:a="http://schemas.openxmlformats.org/drawingml/2006/main">
            <a:r>
              <a:t>https://www.gazeta.ru/politics/2017/03/17_a_10580999.shtml</a:t>
            </a:r>
          </a:p>
          <a:p xmlns:a="http://schemas.openxmlformats.org/drawingml/2006/main">
            <a:r>
              <a:t>https://ldpr.ru/upload/iblock/c88/1d6dstdexz6aw7dnwoubeobhr3mnwa1j/a799616e688866c49f2ef6b5b8cfe5c00d45080ae85ce0e5f6d36e2e010681d9.pdf</a:t>
            </a:r>
          </a:p>
          <a:p xmlns:a="http://schemas.openxmlformats.org/drawingml/2006/main">
            <a:r>
              <a:t>https://www.kommersant.ru/doc/3579566</a:t>
            </a:r>
          </a:p>
          <a:p xmlns:a="http://schemas.openxmlformats.org/drawingml/2006/main">
            <a:r>
              <a:t>https://spb.ldpr.ru/event/243915/</a:t>
            </a:r>
          </a:p>
          <a:p xmlns:a="http://schemas.openxmlformats.org/drawingml/2006/main">
            <a:r>
              <a:t>https://kursk.ldpr.ru/event/341398</a:t>
            </a:r>
          </a:p>
          <a:p xmlns:a="http://schemas.openxmlformats.org/drawingml/2006/main">
            <a:r>
              <a:t>https://cyberleninka.ru/article/n/sravnitelnyy-analiz-predvybornyh-programm-ldpr-na-vyborah-2021-g-i-l-e-slutskogo-na-vyborah-2024-g</a:t>
            </a:r>
          </a:p>
          <a:p xmlns:a="http://schemas.openxmlformats.org/drawingml/2006/main">
            <a:r>
              <a:t>https://kcr.ldpr.ru/event/347999/</a:t>
            </a:r>
          </a:p>
          <a:p xmlns:a="http://schemas.openxmlformats.org/drawingml/2006/main">
            <a:r>
              <a:t>https://msknews77.ru/society/2025/09/25/73500.html</a:t>
            </a:r>
          </a:p>
          <a:p xmlns:a="http://schemas.openxmlformats.org/drawingml/2006/main">
            <a:r>
              <a:t>https://bagaevka-press.ru/besplatnyj-zemelnyj-uchastok-dlya-semej-inicziativa-ldpr/</a:t>
            </a:r>
          </a:p>
          <a:p xmlns:a="http://schemas.openxmlformats.org/drawingml/2006/main">
            <a:r>
              <a:t>https://ldpr.ru/event/437527/</a:t>
            </a:r>
          </a:p>
          <a:p xmlns:a="http://schemas.openxmlformats.org/drawingml/2006/main">
            <a:r>
              <a:t>https://rg62.info/2025/11/01/leonid-sluczkij-vstupilsya-za-multserial-masha-i-medved/</a:t>
            </a:r>
          </a:p>
          <a:p xmlns:a="http://schemas.openxmlformats.org/drawingml/2006/main">
            <a:r>
              <a:t>https://mironov.ru/officially</a:t>
            </a:r>
          </a:p>
          <a:p xmlns:a="http://schemas.openxmlformats.org/drawingml/2006/main">
            <a:r>
              <a:t>https://mironov.ru/bio</a:t>
            </a:r>
          </a:p>
          <a:p xmlns:a="http://schemas.openxmlformats.org/drawingml/2006/main">
            <a:r>
              <a:t>https://mironov-online.ru/category/zayavleniya/</a:t>
            </a:r>
          </a:p>
          <a:p xmlns:a="http://schemas.openxmlformats.org/drawingml/2006/main">
            <a:r>
              <a:t>https://www.rbc.ru/person/69806d279a7947baf86c32c5</a:t>
            </a:r>
          </a:p>
          <a:p xmlns:a="http://schemas.openxmlformats.org/drawingml/2006/main">
            <a:r>
              <a:t>https://spravedlivo.ru/16303010</a:t>
            </a:r>
          </a:p>
          <a:p xmlns:a="http://schemas.openxmlformats.org/drawingml/2006/main">
            <a:r>
              <a:t>http://mironov.ru/15133910</a:t>
            </a:r>
          </a:p>
          <a:p xmlns:a="http://schemas.openxmlformats.org/drawingml/2006/main">
            <a:r>
              <a:t>http://www.special.spravedlivo.ru/5_140609.html</a:t>
            </a:r>
          </a:p>
          <a:p xmlns:a="http://schemas.openxmlformats.org/drawingml/2006/main">
            <a:r>
              <a:t>https://spravedlivo.ru/14681110</a:t>
            </a:r>
          </a:p>
          <a:p xmlns:a="http://schemas.openxmlformats.org/drawingml/2006/main">
            <a:r>
              <a:t>https://radiokp.ru/podcast/dialogi-na-radio-kp/759263</a:t>
            </a:r>
          </a:p>
          <a:p xmlns:a="http://schemas.openxmlformats.org/drawingml/2006/main">
            <a:r>
              <a:t>https://mironov.ru/51339910</a:t>
            </a:r>
          </a:p>
          <a:p xmlns:a="http://schemas.openxmlformats.org/drawingml/2006/main">
            <a:r>
              <a:t>https://mironov-online.ru/news/mironov-na-ukraine-idet-bitva-za-budushhee-vsego-chelovechestva-i-pobeda-v-nej-budet-za-rossiej/</a:t>
            </a:r>
          </a:p>
          <a:p xmlns:a="http://schemas.openxmlformats.org/drawingml/2006/main">
            <a:r>
              <a:t>https://spravedlivo.ru/12544510</a:t>
            </a:r>
          </a:p>
          <a:p xmlns:a="http://schemas.openxmlformats.org/drawingml/2006/main">
            <a:r>
              <a:t>https://www.rbc.ru/person/6aa3ef199a79475758621730</a:t>
            </a:r>
          </a:p>
          <a:p xmlns:a="http://schemas.openxmlformats.org/drawingml/2006/main">
            <a:r>
              <a:t>https://www.rbc.ru/politics/24/09/2021/614da73f9a7947b5e3d9399f</a:t>
            </a:r>
          </a:p>
          <a:p xmlns:a="http://schemas.openxmlformats.org/drawingml/2006/main">
            <a:r>
              <a:t>https://amp.rbc.ru/rbcnews/base/14/08/2026/6a957dfb9a79476ae3d823ba</a:t>
            </a:r>
          </a:p>
          <a:p xmlns:a="http://schemas.openxmlformats.org/drawingml/2006/main">
            <a:r>
              <a:t>https://en.wikipedia.org/wiki/Alexey_Nechayev</a:t>
            </a:r>
          </a:p>
          <a:p xmlns:a="http://schemas.openxmlformats.org/drawingml/2006/main">
            <a:r>
              <a:t>https://www.gazeta.ru/politics/23422027/novye-lyudi-na-vyborah-2026-goda.shtml</a:t>
            </a:r>
          </a:p>
          <a:p xmlns:a="http://schemas.openxmlformats.org/drawingml/2006/main">
            <a:r>
              <a:t>https://vremya-bir.ru/2026/03/07/dvenadtsat-shagov-k-strane-v-kotoroj-hochetsya-zhit/</a:t>
            </a:r>
          </a:p>
          <a:p xmlns:a="http://schemas.openxmlformats.org/drawingml/2006/main">
            <a:r>
              <a:t>https://www.rbc.ru/politics/08/09/2026/6aa023ec9a79471e4fd55d3c</a:t>
            </a:r>
          </a:p>
          <a:p xmlns:a="http://schemas.openxmlformats.org/drawingml/2006/main">
            <a:r>
              <a:t>https://www.interfax.ru/interview/1074248</a:t>
            </a:r>
          </a:p>
          <a:p xmlns:a="http://schemas.openxmlformats.org/drawingml/2006/main">
            <a:r>
              <a:t>https://www.interfax.ru/amp/1074248</a:t>
            </a:r>
          </a:p>
          <a:p xmlns:a="http://schemas.openxmlformats.org/drawingml/2006/main">
            <a:r>
              <a:t>https://www.vedomosti.ru/politics/articles/2026/09/09/1227352-novie-lyudi-sformulirovali-programmu</a:t>
            </a:r>
          </a:p>
          <a:p xmlns:a="http://schemas.openxmlformats.org/drawingml/2006/main">
            <a:r>
              <a:t>https://dddkursk.ru/lenta/2026/07/30/129483/</a:t>
            </a:r>
          </a:p>
          <a:p xmlns:a="http://schemas.openxmlformats.org/drawingml/2006/main">
            <a:r>
              <a:t>https://volga.news/article/803292.html</a:t>
            </a:r>
          </a:p>
          <a:p xmlns:a="http://schemas.openxmlformats.org/drawingml/2006/main">
            <a:r>
              <a:t>https://ru.wikipedia.org/wiki/%D0%9D%D0%B5%D1%87%D0%B0%D0%B5%D0%B2,_%D0%90%D0%BB%D0%B5%D0%BA%D1%81%D0%B5%D0%B9_%D0%93%D0%B5%D0%BD%D0%BD%D0%B0%D0%B4%D1%8C%D0%B5%D0%B2%D0%B8%D1%87</a:t>
            </a:r>
          </a:p>
          <a:p xmlns:a="http://schemas.openxmlformats.org/drawingml/2006/main">
            <a:r>
              <a:t>https://www.davankov2024.ru/page_biography/</a:t>
            </a:r>
          </a:p>
          <a:p xmlns:a="http://schemas.openxmlformats.org/drawingml/2006/main">
            <a:r>
              <a:t>https://davankov2024.ru/program</a:t>
            </a:r>
          </a:p>
          <a:p xmlns:a="http://schemas.openxmlformats.org/drawingml/2006/main">
            <a:r>
              <a:t>http://vote.duma.gov.ru/?convocation=AAAAAAA8&amp;deputy=99113489&amp;sort=date_desc</a:t>
            </a:r>
          </a:p>
          <a:p xmlns:a="http://schemas.openxmlformats.org/drawingml/2006/main">
            <a:r>
              <a:t>https://holod.media/2024/02/14/vladislav-davankov/</a:t>
            </a:r>
          </a:p>
          <a:p xmlns:a="http://schemas.openxmlformats.org/drawingml/2006/main">
            <a:r>
              <a:t>https://davankov2024.ru/</a:t>
            </a:r>
          </a:p>
          <a:p xmlns:a="http://schemas.openxmlformats.org/drawingml/2006/main">
            <a:r>
              <a:t>https://novayagazeta.eu/articles/2024/02/15/davankov-predstavil-predvybornuiu-programmu-bez-amnistii-politzakliuchennykh-i-s-namereniem-dobitsia-mira-na-nashikh-usloviiakh-news</a:t>
            </a:r>
          </a:p>
          <a:p xmlns:a="http://schemas.openxmlformats.org/drawingml/2006/main">
            <a:r>
              <a:t>https://www.kavkaz-uzel.eu/articles/398113</a:t>
            </a:r>
          </a:p>
          <a:p xmlns:a="http://schemas.openxmlformats.org/drawingml/2006/main">
            <a:r>
              <a:t>https://echofm.online/portret-dnya/portret-dnya-vladislav-davankov-kandidat-v-prezidenty-rossii</a:t>
            </a:r>
          </a:p>
          <a:p xmlns:a="http://schemas.openxmlformats.org/drawingml/2006/main">
            <a:r>
              <a:t>https://t.me/s/davankov?before=788</a:t>
            </a:r>
          </a:p>
          <a:p xmlns:a="http://schemas.openxmlformats.org/drawingml/2006/main">
            <a:r>
              <a:t>https://zaharprilepin.ru/ru/bio/</a:t>
            </a:r>
          </a:p>
          <a:p xmlns:a="http://schemas.openxmlformats.org/drawingml/2006/main">
            <a:r>
              <a:t>https://zaharprilepin.ru/ru/video/zapisi-vistuplenij/intervju/</a:t>
            </a:r>
          </a:p>
          <a:p xmlns:a="http://schemas.openxmlformats.org/drawingml/2006/main">
            <a:r>
              <a:t>https://zaharprilepin.ru/ru/pressa/intervyu/na-harkov.html</a:t>
            </a:r>
          </a:p>
          <a:p xmlns:a="http://schemas.openxmlformats.org/drawingml/2006/main">
            <a:r>
              <a:t>https://www.kommersant.ru/doc/4141912</a:t>
            </a:r>
          </a:p>
          <a:p xmlns:a="http://schemas.openxmlformats.org/drawingml/2006/main">
            <a:r>
              <a:t>https://novayagazeta.eu/articles/2023/05/06/plokhoi-uchenik-limonova</a:t>
            </a:r>
          </a:p>
          <a:p xmlns:a="http://schemas.openxmlformats.org/drawingml/2006/main">
            <a:r>
              <a:t>https://tass.ru/politika/11761037</a:t>
            </a:r>
          </a:p>
          <a:p xmlns:a="http://schemas.openxmlformats.org/drawingml/2006/main">
            <a:r>
              <a:t>https://www.nn.ru/text/politics/2021/10/11/70186523/</a:t>
            </a:r>
          </a:p>
          <a:p xmlns:a="http://schemas.openxmlformats.org/drawingml/2006/main">
            <a:r>
              <a:t>https://www.zaks.ru/new/archive/view/267194</a:t>
            </a:r>
          </a:p>
          <a:p xmlns:a="http://schemas.openxmlformats.org/drawingml/2006/main">
            <a:r>
              <a:t>https://spravedlivo.ru/11288710</a:t>
            </a:r>
          </a:p>
          <a:p xmlns:a="http://schemas.openxmlformats.org/drawingml/2006/main">
            <a:r>
              <a:t>https://www.kommersant.ru/doc/4241515</a:t>
            </a:r>
          </a:p>
          <a:p xmlns:a="http://schemas.openxmlformats.org/drawingml/2006/main">
            <a:r>
              <a:t>https://zaharprilepin.ru/ru/pressa/intervyu/radio-komsomolskaja-pravda-10022021.html</a:t>
            </a:r>
          </a:p>
          <a:p xmlns:a="http://schemas.openxmlformats.org/drawingml/2006/main">
            <a:r>
              <a:t>https://pozneronline.ru/2024/04/36826/</a:t>
            </a:r>
          </a:p>
          <a:p xmlns:a="http://schemas.openxmlformats.org/drawingml/2006/main">
            <a:r>
              <a:t>https://www.rbc.ru/person/62a85a259a7947b9ae5d6360</a:t>
            </a:r>
          </a:p>
          <a:p xmlns:a="http://schemas.openxmlformats.org/drawingml/2006/main">
            <a:r>
              <a:t>https://tass.ru/encyclopedia/person/poklonskaya-natalya-vladimirovna</a:t>
            </a:r>
          </a:p>
          <a:p xmlns:a="http://schemas.openxmlformats.org/drawingml/2006/main">
            <a:r>
              <a:t>https://tass.ru/tag/poklonskaya-natalya-vladimirovna</a:t>
            </a:r>
          </a:p>
          <a:p xmlns:a="http://schemas.openxmlformats.org/drawingml/2006/main">
            <a:r>
              <a:t>https://www.bbc.com/russian/features-44801571</a:t>
            </a:r>
          </a:p>
          <a:p xmlns:a="http://schemas.openxmlformats.org/drawingml/2006/main">
            <a:r>
              <a:t>https://www.rbc.ru/rbcfreenews/5ba8bd499a794792294ba05d</a:t>
            </a:r>
          </a:p>
          <a:p xmlns:a="http://schemas.openxmlformats.org/drawingml/2006/main">
            <a:r>
              <a:t>https://www.dp.ru/a/2018/08/31/Poklonskaja_otreazirovala</a:t>
            </a:r>
          </a:p>
          <a:p xmlns:a="http://schemas.openxmlformats.org/drawingml/2006/main">
            <a:r>
              <a:t>https://www.themoscowtimes.com/2022/06/13/former-crimea-prosecutor-dismissed-after-anti-war-comments-a77983</a:t>
            </a:r>
          </a:p>
          <a:p xmlns:a="http://schemas.openxmlformats.org/drawingml/2006/main">
            <a:r>
              <a:t>https://www.rbc.ru/politics/30/06/2023/649dee189a79473e3fdc8906</a:t>
            </a:r>
          </a:p>
          <a:p xmlns:a="http://schemas.openxmlformats.org/drawingml/2006/main">
            <a:r>
              <a:t>http://council.gov.ru/structure/persons/1044/</a:t>
            </a:r>
          </a:p>
          <a:p xmlns:a="http://schemas.openxmlformats.org/drawingml/2006/main">
            <a:r>
              <a:t>http://council.gov.ru/services/reference/9156/</a:t>
            </a:r>
          </a:p>
          <a:p xmlns:a="http://schemas.openxmlformats.org/drawingml/2006/main">
            <a:r>
              <a:t>http://council.gov.ru/events/news/135415/</a:t>
            </a:r>
          </a:p>
          <a:p xmlns:a="http://schemas.openxmlformats.org/drawingml/2006/main">
            <a:r>
              <a:t>https://24smi.org/celebrity/1156-elena-mizulina.html</a:t>
            </a:r>
          </a:p>
          <a:p xmlns:a="http://schemas.openxmlformats.org/drawingml/2006/main">
            <a:r>
              <a:t>https://www.bfometr.ru/blog/elena-mizulina</a:t>
            </a:r>
          </a:p>
          <a:p xmlns:a="http://schemas.openxmlformats.org/drawingml/2006/main">
            <a:r>
              <a:t>https://www.rbc.ru/society/30/03/2018/5abe1b849a79470dc3826f68</a:t>
            </a:r>
          </a:p>
          <a:p xmlns:a="http://schemas.openxmlformats.org/drawingml/2006/main">
            <a:r>
              <a:t>https://uznayvse.ru/znamenitosti/biografiya-elena-mizulina.html</a:t>
            </a:r>
          </a:p>
          <a:p xmlns:a="http://schemas.openxmlformats.org/drawingml/2006/main">
            <a:r>
              <a:t>https://radiokp.ru/people/elena-mizulina</a:t>
            </a:r>
          </a:p>
          <a:p xmlns:a="http://schemas.openxmlformats.org/drawingml/2006/main">
            <a:r>
              <a:t>https://ru.wikipedia.org/wiki/%D0%9C%D0%B8%D0%B7%D1%83%D0%BB%D0%B8%D0%BD%D0%B0,_%D0%95%D0%BB%D0%B5%D0%BD%D0%B0_%D0%91%D0%BE%D1%80%D0%B8%D1%81%D0%BE%D0%B2%D0%BD%D0%B0</a:t>
            </a:r>
          </a:p>
          <a:p xmlns:a="http://schemas.openxmlformats.org/drawingml/2006/main">
            <a:r>
              <a:t>https://ru.wikipedia.org/wiki/Милонов,_Виталий_Валентинович</a:t>
            </a:r>
          </a:p>
          <a:p xmlns:a="http://schemas.openxmlformats.org/drawingml/2006/main">
            <a:r>
              <a:t>https://tass.ru/encyclopedia/person/milonov-vitaliy-valentinovich</a:t>
            </a:r>
          </a:p>
          <a:p xmlns:a="http://schemas.openxmlformats.org/drawingml/2006/main">
            <a:r>
              <a:t>https://www.pnp.ru/person/vitaliy-milonov/</a:t>
            </a:r>
          </a:p>
          <a:p xmlns:a="http://schemas.openxmlformats.org/drawingml/2006/main">
            <a:r>
              <a:t>https://www.zaks.ru/new/person/view/172</a:t>
            </a:r>
          </a:p>
          <a:p xmlns:a="http://schemas.openxmlformats.org/drawingml/2006/main">
            <a:r>
              <a:t>https://svpressa.ru/persons/vitaliy-milonov/</a:t>
            </a:r>
          </a:p>
          <a:p xmlns:a="http://schemas.openxmlformats.org/drawingml/2006/main">
            <a:r>
              <a:t>https://stuki-druki.com/authors/Milonov-Vitaliy.php</a:t>
            </a:r>
          </a:p>
          <a:p xmlns:a="http://schemas.openxmlformats.org/drawingml/2006/main">
            <a:r>
              <a:t>https://pa.inion.ru/persons/7104/</a:t>
            </a:r>
          </a:p>
          <a:p xmlns:a="http://schemas.openxmlformats.org/drawingml/2006/main">
            <a:r>
              <a:t>https://pa.inion.ru/documents/16503/</a:t>
            </a:r>
          </a:p>
          <a:p xmlns:a="http://schemas.openxmlformats.org/drawingml/2006/main">
            <a:r>
              <a:t>https://pa.inion.ru/documents/27860/</a:t>
            </a:r>
          </a:p>
          <a:p xmlns:a="http://schemas.openxmlformats.org/drawingml/2006/main">
            <a:r>
              <a:t>https://kprf.ru/personal/ostanina</a:t>
            </a:r>
          </a:p>
          <a:p xmlns:a="http://schemas.openxmlformats.org/drawingml/2006/main">
            <a:r>
              <a:t>https://pa.inion.ru/documents/25577/</a:t>
            </a:r>
          </a:p>
          <a:p xmlns:a="http://schemas.openxmlformats.org/drawingml/2006/main">
            <a:r>
              <a:t>https://kprf.ru/dep/gosduma/activities/245108.html</a:t>
            </a:r>
          </a:p>
          <a:p xmlns:a="http://schemas.openxmlformats.org/drawingml/2006/main">
            <a:r>
              <a:t>https://www.pnp.ru/social/zashhita-detskogo-byudzheta-kruzhki-sokhranit-vyplaty-iz-matkapitala-uvelichit.html</a:t>
            </a:r>
          </a:p>
          <a:p xmlns:a="http://schemas.openxmlformats.org/drawingml/2006/main">
            <a:r>
              <a:t>https://www.pnp.ru/state-duma/nina-ostanina-o-byudzhete-na-2027-2029-gody-semeynoy-ipoteke-i-matkapitale.html</a:t>
            </a:r>
          </a:p>
          <a:p xmlns:a="http://schemas.openxmlformats.org/drawingml/2006/main">
            <a:r>
              <a:t>https://uznayvse.ru/znamenitosti/biografiya-nina-ostanina.html</a:t>
            </a:r>
          </a:p>
          <a:p xmlns:a="http://schemas.openxmlformats.org/drawingml/2006/main">
            <a:r>
              <a:t>https://dumatv.ru/news/ostanina--borba-za-mirovozzrencheskii-suverenitet-stanovitsya-gosudarstvennoi-politikoi</a:t>
            </a:r>
          </a:p>
          <a:p xmlns:a="http://schemas.openxmlformats.org/drawingml/2006/main">
            <a:r>
              <a:t>https://kprf.ru/dep/gosduma/activities/242132.html</a:t>
            </a:r>
          </a:p>
          <a:p xmlns:a="http://schemas.openxmlformats.org/drawingml/2006/main">
            <a:r>
              <a:t>https://www.business-gazeta.ru/article/625616</a:t>
            </a:r>
          </a:p>
          <a:p xmlns:a="http://schemas.openxmlformats.org/drawingml/2006/main">
            <a:r>
              <a:t>https://www.kommersant.ru/doc/3235400</a:t>
            </a:r>
          </a:p>
          <a:p xmlns:a="http://schemas.openxmlformats.org/drawingml/2006/main">
            <a:r>
              <a:t>https://www.rbc.ru/person/67d838f09a7947cdef0b1a95</a:t>
            </a:r>
          </a:p>
          <a:p xmlns:a="http://schemas.openxmlformats.org/drawingml/2006/main">
            <a:r>
              <a:t>https://www.vedomosti.ru/politics/articles/2020/03/10/824795-tereshkova-predlozhila</a:t>
            </a:r>
          </a:p>
          <a:p xmlns:a="http://schemas.openxmlformats.org/drawingml/2006/main">
            <a:r>
              <a:t>http://duma.gov.ru/news/49164/</a:t>
            </a:r>
          </a:p>
          <a:p xmlns:a="http://schemas.openxmlformats.org/drawingml/2006/main">
            <a:r>
              <a:t>https://meduza.io/news/2020/03/12/delayut-vse-dlya-togo-chtoby-gadosti-delat-tereshkova-o-protivnikah-popravki-obnulyayuschey-sroki-putina</a:t>
            </a:r>
          </a:p>
          <a:p xmlns:a="http://schemas.openxmlformats.org/drawingml/2006/main">
            <a:r>
              <a:t>https://meduza.io/feature/2020/03/10/gosduma-neozhidanno-dlya-sebya-obespechila-putina-novymi-prezidentskimi-srokami</a:t>
            </a:r>
          </a:p>
          <a:p xmlns:a="http://schemas.openxmlformats.org/drawingml/2006/main">
            <a:r>
              <a:t>https://hinshtein.ru/biography/</a:t>
            </a:r>
          </a:p>
          <a:p xmlns:a="http://schemas.openxmlformats.org/drawingml/2006/main">
            <a:r>
              <a:t>https://www.vedomosti.ru/politics/articles/2024/12/06/1079852-kto-takoi-aleksandr-hinshtein</a:t>
            </a:r>
          </a:p>
          <a:p xmlns:a="http://schemas.openxmlformats.org/drawingml/2006/main">
            <a:r>
              <a:t>https://www.rbc.ru/person/6752d12a9a7947d62166795e</a:t>
            </a:r>
          </a:p>
          <a:p xmlns:a="http://schemas.openxmlformats.org/drawingml/2006/main">
            <a:r>
              <a:t>https://www.rbc.ru/politics/06/12/2024/675207239a7947e74994842e</a:t>
            </a:r>
          </a:p>
          <a:p xmlns:a="http://schemas.openxmlformats.org/drawingml/2006/main">
            <a:r>
              <a:t>https://hinshtein.ru/news/aleksandr-hinshtejn-podvyol-itogi-goda-raboty-komiteta-gosdumy-po-informpolitike-informatsionnym-tehnologiyam-i-svyazi/</a:t>
            </a:r>
          </a:p>
          <a:p xmlns:a="http://schemas.openxmlformats.org/drawingml/2006/main">
            <a:r>
              <a:t>https://hinshtein.ru/news/a-hinshtejn-itogi-raboty-za-vii-sozyv/</a:t>
            </a:r>
          </a:p>
          <a:p xmlns:a="http://schemas.openxmlformats.org/drawingml/2006/main">
            <a:r>
              <a:t>https://www.kommersant.ru/doc/4660427</a:t>
            </a:r>
          </a:p>
          <a:p xmlns:a="http://schemas.openxmlformats.org/drawingml/2006/main">
            <a:r>
              <a:t>https://www.kommersant.ru/doc/4104004</a:t>
            </a:r>
          </a:p>
          <a:p xmlns:a="http://schemas.openxmlformats.org/drawingml/2006/main">
            <a:r>
              <a:t>https://www.nvgazeta.ru/news/12383/634260/</a:t>
            </a:r>
          </a:p>
          <a:p xmlns:a="http://schemas.openxmlformats.org/drawingml/2006/main">
            <a:r>
              <a:t>https://kpravda.ru/2025/02/11/kursk-poluchit-dengi-iz-gosbyudzheta-na-restavracziyu-istoricheskoj-kreposti/</a:t>
            </a:r>
          </a:p>
          <a:p xmlns:a="http://schemas.openxmlformats.org/drawingml/2006/main">
            <a:r>
              <a:t>https://tass.ru/obschestvo/24001633</a:t>
            </a:r>
          </a:p>
          <a:p xmlns:a="http://schemas.openxmlformats.org/drawingml/2006/main">
            <a:r>
              <a:t>https://www.kommersant.ru/doc/7737032</a:t>
            </a:r>
          </a:p>
          <a:p xmlns:a="http://schemas.openxmlformats.org/drawingml/2006/main">
            <a:r>
              <a:t>https://kpravda.ru/2025/03/21/edinaya-rossiya-pomozhet-v-restavraczii-kurskih-pamyatnikov/</a:t>
            </a:r>
          </a:p>
          <a:p xmlns:a="http://schemas.openxmlformats.org/drawingml/2006/main">
            <a:r>
              <a:t>https://news-kursk.ru/society/2025/07/13/65824.html</a:t>
            </a:r>
          </a:p>
          <a:p xmlns:a="http://schemas.openxmlformats.org/drawingml/2006/main">
            <a:r>
              <a:t>https://news.ru/russia/v-kurske-budet-alleya-geroev-hinshtejn-o-muzee-i-memoriale-zhertvam-vsu</a:t>
            </a:r>
          </a:p>
          <a:p xmlns:a="http://schemas.openxmlformats.org/drawingml/2006/main">
            <a:r>
              <a:t>https://ru.wikipedia.org/wiki/Пушков,_Алексей_Константинович</a:t>
            </a:r>
          </a:p>
          <a:p xmlns:a="http://schemas.openxmlformats.org/drawingml/2006/main">
            <a:r>
              <a:t>http://council.gov.ru/structure/persons/1316/</a:t>
            </a:r>
          </a:p>
          <a:p xmlns:a="http://schemas.openxmlformats.org/drawingml/2006/main">
            <a:r>
              <a:t>http://council.gov.ru/media/files/xjE2QHRAivCH7onABehAcG7OsnrO6DYb.pdf</a:t>
            </a:r>
          </a:p>
          <a:p xmlns:a="http://schemas.openxmlformats.org/drawingml/2006/main">
            <a:r>
              <a:t>https://base.garant.ru/406310971/</a:t>
            </a:r>
          </a:p>
          <a:p xmlns:a="http://schemas.openxmlformats.org/drawingml/2006/main">
            <a:r>
              <a:t>https://russiancouncil.ru/aleksey-pushkov/</a:t>
            </a:r>
          </a:p>
          <a:p xmlns:a="http://schemas.openxmlformats.org/drawingml/2006/main">
            <a:r>
              <a:t>http://legislation.council.gov.ru/events/announce/</a:t>
            </a:r>
          </a:p>
          <a:p xmlns:a="http://schemas.openxmlformats.org/drawingml/2006/main">
            <a:r>
              <a:t>http://council.gov.ru/events/news/173810/</a:t>
            </a:r>
          </a:p>
          <a:p xmlns:a="http://schemas.openxmlformats.org/drawingml/2006/main">
            <a:r>
              <a:t>http://www.council.gov.ru/events/news/175997/</a:t>
            </a:r>
          </a:p>
          <a:p xmlns:a="http://schemas.openxmlformats.org/drawingml/2006/main">
            <a:r>
              <a:t>http://council.gov.ru/media/report/pdf/HtoXfAAzeBJ8JwN0eAduo3rejTAYhqvB.pdf</a:t>
            </a:r>
          </a:p>
          <a:p xmlns:a="http://schemas.openxmlformats.org/drawingml/2006/main">
            <a:r>
              <a:t>http://council.gov.ru/events/news/164749/</a:t>
            </a:r>
          </a:p>
          <a:p xmlns:a="http://schemas.openxmlformats.org/drawingml/2006/main">
            <a:r>
              <a:t>https://t.me/s/alexey_pushkov?before=14914</a:t>
            </a:r>
          </a:p>
          <a:p xmlns:a="http://schemas.openxmlformats.org/drawingml/2006/main">
            <a:r>
              <a:t>http://legislation.council.gov.ru/events/multimedia/video/302078/</a:t>
            </a:r>
          </a:p>
          <a:p xmlns:a="http://schemas.openxmlformats.org/drawingml/2006/main">
            <a:r>
              <a:t>http://council.gov.ru/media/report/pdf/e8Awe3U6hNouHwSvME53OSPGGWxTeVAl.pdf</a:t>
            </a:r>
          </a:p>
          <a:p xmlns:a="http://schemas.openxmlformats.org/drawingml/2006/main">
            <a:r>
              <a:t>https://www.vedomosti.ru/person/1178385-kosachev-konstantin</a:t>
            </a:r>
          </a:p>
          <a:p xmlns:a="http://schemas.openxmlformats.org/drawingml/2006/main">
            <a:r>
              <a:t>https://www.interfax.ru/interview/812963</a:t>
            </a:r>
          </a:p>
          <a:p xmlns:a="http://schemas.openxmlformats.org/drawingml/2006/main">
            <a:r>
              <a:t>https://senatinform.ru/news/yuzhnuyu_osetiyu_neobkhodimo_vyvodit_iz_iskusstvennoy_izolyatsii_schitayut_rossiyskie_senatory_/</a:t>
            </a:r>
          </a:p>
          <a:p xmlns:a="http://schemas.openxmlformats.org/drawingml/2006/main">
            <a:r>
              <a:t>https://senatinform.ru/news/kosachyev_rossiya_gotova_rabotat_s_mps_s_uchyetom_ozabochennostey_nashey_strany/</a:t>
            </a:r>
          </a:p>
          <a:p xmlns:a="http://schemas.openxmlformats.org/drawingml/2006/main">
            <a:r>
              <a:t>https://www.bfm.ru/person/61</a:t>
            </a:r>
          </a:p>
          <a:p xmlns:a="http://schemas.openxmlformats.org/drawingml/2006/main">
            <a:r>
              <a:t>https://svpressa.ru/persons/konstantin-kosachev/</a:t>
            </a:r>
          </a:p>
          <a:p xmlns:a="http://schemas.openxmlformats.org/drawingml/2006/main">
            <a:r>
              <a:t>https://www.pnp.ru/person/konstantin-kosachev/</a:t>
            </a:r>
          </a:p>
          <a:p xmlns:a="http://schemas.openxmlformats.org/drawingml/2006/main">
            <a:r>
              <a:t>https://www.pnp.ru/politics/konstantin-kosachev-dlya-ssha-voyna-s-rossiey-eto-samoubiystvo.html</a:t>
            </a:r>
          </a:p>
          <a:p xmlns:a="http://schemas.openxmlformats.org/drawingml/2006/main">
            <a:r>
              <a:t>https://www.mlg.ru/ratings/vlast/senators/10844/</a:t>
            </a:r>
          </a:p>
          <a:p xmlns:a="http://schemas.openxmlformats.org/drawingml/2006/main">
            <a:r>
              <a:t>http://council.gov.ru/events/news/173506/</a:t>
            </a:r>
          </a:p>
          <a:p xmlns:a="http://schemas.openxmlformats.org/drawingml/2006/main">
            <a:r>
              <a:t>https://t.me/s/Kosachev62</a:t>
            </a:r>
          </a:p>
          <a:p xmlns:a="http://schemas.openxmlformats.org/drawingml/2006/main">
            <a:r>
              <a:t>http://council.gov.ru/events/news/177602/</a:t>
            </a:r>
          </a:p>
          <a:p xmlns:a="http://schemas.openxmlformats.org/drawingml/2006/main">
            <a:r>
              <a:t>https://vmeste-rf.tv/programs/205/konstantin-kosachev-sotrudnichestvo-rossii-i-efiopii-itogi-vizita-delegatsii-sf/</a:t>
            </a:r>
          </a:p>
          <a:p xmlns:a="http://schemas.openxmlformats.org/drawingml/2006/main">
            <a:r>
              <a:t>https://www.rbc.ru/person/64b8e1909a79474f30e86f98</a:t>
            </a:r>
          </a:p>
          <a:p xmlns:a="http://schemas.openxmlformats.org/drawingml/2006/main">
            <a:r>
              <a:t>https://www.kommersant.ru/doc/6041063</a:t>
            </a:r>
          </a:p>
          <a:p xmlns:a="http://schemas.openxmlformats.org/drawingml/2006/main">
            <a:r>
              <a:t>https://www.mos.ru/mayor/themes/6907050/</a:t>
            </a:r>
          </a:p>
          <a:p xmlns:a="http://schemas.openxmlformats.org/drawingml/2006/main">
            <a:r>
              <a:t>https://www.mos.ru/mayor/themes/7037050/</a:t>
            </a:r>
          </a:p>
          <a:p xmlns:a="http://schemas.openxmlformats.org/drawingml/2006/main">
            <a:r>
              <a:t>https://www.mos.ru/mayor/themes/8822050/</a:t>
            </a:r>
          </a:p>
          <a:p xmlns:a="http://schemas.openxmlformats.org/drawingml/2006/main">
            <a:r>
              <a:t>http://special.kremlin.ru/catalog/persons/38/events/70467</a:t>
            </a:r>
          </a:p>
          <a:p xmlns:a="http://schemas.openxmlformats.org/drawingml/2006/main">
            <a:r>
              <a:t>https://www.mos.ru/upload/content/files/15af077500dcc5a1547bf728abf25669/15Zakong_Moskviot17_05_2017N14Odopolnitelnihgaranti.pdf</a:t>
            </a:r>
          </a:p>
          <a:p xmlns:a="http://schemas.openxmlformats.org/drawingml/2006/main">
            <a:r>
              <a:t>https://www.rbc.ru/politics/03/05/2023/645245159a794763ce66d990</a:t>
            </a:r>
          </a:p>
          <a:p xmlns:a="http://schemas.openxmlformats.org/drawingml/2006/main">
            <a:r>
              <a:t>https://www.dw.com/ru/ataka-dronov-v-moskve-i-podmoskove-cto-izvestno/a-65771767</a:t>
            </a:r>
          </a:p>
          <a:p xmlns:a="http://schemas.openxmlformats.org/drawingml/2006/main">
            <a:r>
              <a:t>https://www.rbc.ru/politics/01/08/2023/64c856ce9a79471a722e13ad</a:t>
            </a:r>
          </a:p>
          <a:p xmlns:a="http://schemas.openxmlformats.org/drawingml/2006/main">
            <a:r>
              <a:t>https://www.rbc.ru/politics/23/08/2023/64e54f299a794789ddb55c65</a:t>
            </a:r>
          </a:p>
          <a:p xmlns:a="http://schemas.openxmlformats.org/drawingml/2006/main">
            <a:r>
              <a:t>https://ru.wikipedia.org/wiki/Беглов,_Александр_Дмитриевич</a:t>
            </a:r>
          </a:p>
          <a:p xmlns:a="http://schemas.openxmlformats.org/drawingml/2006/main">
            <a:r>
              <a:t>https://www.gov.spb.ru/governor/</a:t>
            </a:r>
          </a:p>
          <a:p xmlns:a="http://schemas.openxmlformats.org/drawingml/2006/main">
            <a:r>
              <a:t>https://www.rbc.ru/politics/30/05/2019/5cf02cf09a79475ed4d2fa3f</a:t>
            </a:r>
          </a:p>
          <a:p xmlns:a="http://schemas.openxmlformats.org/drawingml/2006/main">
            <a:r>
              <a:t>https://www.themoscowtimes.com/2019/09/11/st-petersburg-re-elects-governor-beglov-after-controversial-campaign-a67240</a:t>
            </a:r>
          </a:p>
          <a:p xmlns:a="http://schemas.openxmlformats.org/drawingml/2006/main">
            <a:r>
              <a:t>https://www.gov.spb.ru/press/governor/188637/</a:t>
            </a:r>
          </a:p>
          <a:p xmlns:a="http://schemas.openxmlformats.org/drawingml/2006/main">
            <a:r>
              <a:t>https://www.gov.spb.ru/press/governor/213661/</a:t>
            </a:r>
          </a:p>
          <a:p xmlns:a="http://schemas.openxmlformats.org/drawingml/2006/main">
            <a:r>
              <a:t>https://www.gov.spb.ru/press/governor/258831/</a:t>
            </a:r>
          </a:p>
          <a:p xmlns:a="http://schemas.openxmlformats.org/drawingml/2006/main">
            <a:r>
              <a:t>https://www.gov.spb.ru/governor/interview/7333/</a:t>
            </a:r>
          </a:p>
          <a:p xmlns:a="http://schemas.openxmlformats.org/drawingml/2006/main">
            <a:r>
              <a:t>https://tass.ru/interviews/21839179</a:t>
            </a:r>
          </a:p>
          <a:p xmlns:a="http://schemas.openxmlformats.org/drawingml/2006/main">
            <a:r>
              <a:t>https://www.gov.spb.ru/press/governor/236663/</a:t>
            </a:r>
          </a:p>
          <a:p xmlns:a="http://schemas.openxmlformats.org/drawingml/2006/main">
            <a:r>
              <a:t>https://tvspb.ru/news/2022/09/21/aleksandr-beglov-ukaz-prezidenta-o-chastichnoj-mobilizaczii-byl-trudnym-no-neobhodimym-shagom</a:t>
            </a:r>
          </a:p>
          <a:p xmlns:a="http://schemas.openxmlformats.org/drawingml/2006/main">
            <a:r>
              <a:t>https://spbvedomosti.ru/news/gorod/gubernator-aleksandr-beglov-obyavil-o-zavershenii-chastichnoy-mobilizatsii/</a:t>
            </a:r>
          </a:p>
          <a:p xmlns:a="http://schemas.openxmlformats.org/drawingml/2006/main">
            <a:r>
              <a:t>https://www.gov.spb.ru/press/governor/253716/</a:t>
            </a:r>
          </a:p>
          <a:p xmlns:a="http://schemas.openxmlformats.org/drawingml/2006/main">
            <a:r>
              <a:t>https://www.gov.spb.ru/press/governor/290070/</a:t>
            </a:r>
          </a:p>
          <a:p xmlns:a="http://schemas.openxmlformats.org/drawingml/2006/main">
            <a:r>
              <a:t>https://spbdnevnik.ru/news/2022-10-06/aleksandr-beglov-rasskazal-o-prizyve-po-mobilizatsii-peterburzhtsa-s-odnoy-pochkoy</a:t>
            </a:r>
          </a:p>
          <a:p xmlns:a="http://schemas.openxmlformats.org/drawingml/2006/main">
            <a:r>
              <a:t>https://www.rbc.ru/person/62c5c0899a79470082fa57eb</a:t>
            </a:r>
          </a:p>
          <a:p xmlns:a="http://schemas.openxmlformats.org/drawingml/2006/main">
            <a:r>
              <a:t>https://www.kavkaz-uzel.eu/articles/85366</a:t>
            </a:r>
          </a:p>
          <a:p xmlns:a="http://schemas.openxmlformats.org/drawingml/2006/main">
            <a:r>
              <a:t>https://news.ru/regions/my-dolzhny-zabrat-vsyu-ukrainu-chto-kadyrov-govoril-ob-svo-rossii-putine</a:t>
            </a:r>
          </a:p>
          <a:p xmlns:a="http://schemas.openxmlformats.org/drawingml/2006/main">
            <a:r>
              <a:t>https://minval.az/k/ramzan-kadyrov</a:t>
            </a:r>
          </a:p>
          <a:p xmlns:a="http://schemas.openxmlformats.org/drawingml/2006/main">
            <a:r>
              <a:t>http://publication.pravo.gov.ru/document/2000202609160002</a:t>
            </a:r>
          </a:p>
          <a:p xmlns:a="http://schemas.openxmlformats.org/drawingml/2006/main">
            <a:r>
              <a:t>https://vestikavkaza.ru/amp/291219</a:t>
            </a:r>
          </a:p>
          <a:p xmlns:a="http://schemas.openxmlformats.org/drawingml/2006/main">
            <a:r>
              <a:t>https://tass.ru/obschestvo/25968415</a:t>
            </a:r>
          </a:p>
          <a:p xmlns:a="http://schemas.openxmlformats.org/drawingml/2006/main">
            <a:r>
              <a:t>https://www.rbc.ru/rbcfreenews/694558f89a794775c8b05d2e</a:t>
            </a:r>
          </a:p>
          <a:p xmlns:a="http://schemas.openxmlformats.org/drawingml/2006/main">
            <a:r>
              <a:t>https://rais.tatarstan.ru/biografiya.htm</a:t>
            </a:r>
          </a:p>
          <a:p xmlns:a="http://schemas.openxmlformats.org/drawingml/2006/main">
            <a:r>
              <a:t>https://rt.rbc.ru/tatarstan/freenews/68c7f77d9a79472be550408e</a:t>
            </a:r>
          </a:p>
          <a:p xmlns:a="http://schemas.openxmlformats.org/drawingml/2006/main">
            <a:r>
              <a:t>https://rt.rbc.ru/tatarstan/freenews/68c90bdc9a794783273a16b6</a:t>
            </a:r>
          </a:p>
          <a:p xmlns:a="http://schemas.openxmlformats.org/drawingml/2006/main">
            <a:r>
              <a:t>https://tass.ru/politika/25045679</a:t>
            </a:r>
          </a:p>
          <a:p xmlns:a="http://schemas.openxmlformats.org/drawingml/2006/main">
            <a:r>
              <a:t>https://tass.ru/info/25058299</a:t>
            </a:r>
          </a:p>
          <a:p xmlns:a="http://schemas.openxmlformats.org/drawingml/2006/main">
            <a:r>
              <a:t>https://tatarstan.ru/index.htm/news/2454245.htm</a:t>
            </a:r>
          </a:p>
          <a:p xmlns:a="http://schemas.openxmlformats.org/drawingml/2006/main">
            <a:r>
              <a:t>https://izbirkom.tatarstan.ru/file/pub/pub_4719790.docx</a:t>
            </a:r>
          </a:p>
          <a:p xmlns:a="http://schemas.openxmlformats.org/drawingml/2006/main">
            <a:r>
              <a:t>http://www.pfo.gov.ru/press/events/112125/</a:t>
            </a:r>
          </a:p>
          <a:p xmlns:a="http://schemas.openxmlformats.org/drawingml/2006/main">
            <a:r>
              <a:t>https://www.tatar-inform.ru/news/rustam-minnixanov-sankcii-ne-koncatsya-poka-my-ne-stanem-samodostatocnymi-5896958</a:t>
            </a:r>
          </a:p>
          <a:p xmlns:a="http://schemas.openxmlformats.org/drawingml/2006/main">
            <a:r>
              <a:t>https://tatarstan.ru/index.htm/news/1916025.htm</a:t>
            </a:r>
          </a:p>
          <a:p xmlns:a="http://schemas.openxmlformats.org/drawingml/2006/main">
            <a:r>
              <a:t>https://kitaphane.tatarstan.ru/digital.htm</a:t>
            </a:r>
          </a:p>
          <a:p xmlns:a="http://schemas.openxmlformats.org/drawingml/2006/main">
            <a:r>
              <a:t>https://kt.tatarstan.ru/index.htm/news/2266706.htm</a:t>
            </a:r>
          </a:p>
          <a:p xmlns:a="http://schemas.openxmlformats.org/drawingml/2006/main">
            <a:r>
              <a:t>https://tatarstan.ru/index.htm/news/2460505.htm</a:t>
            </a:r>
          </a:p>
          <a:p xmlns:a="http://schemas.openxmlformats.org/drawingml/2006/main">
            <a:r>
              <a:t>https://digital.tatarstan.ru/index.htm/news/2460691.htm</a:t>
            </a:r>
          </a:p>
          <a:p xmlns:a="http://schemas.openxmlformats.org/drawingml/2006/main">
            <a:r>
              <a:t>https://amp.rbc.ru/rbcnews/politics/09/07/2020/5f06bbb69a79475c40a9a094</a:t>
            </a:r>
          </a:p>
          <a:p xmlns:a="http://schemas.openxmlformats.org/drawingml/2006/main">
            <a:r>
              <a:t>https://1kas.sudrf.ru/modules.php?name=sud_delo&amp;name_op=doc&amp;number=39453936&amp;delo_id=2450001&amp;case_type=0&amp;new=2450001&amp;text_number=1&amp;srv_num=1</a:t>
            </a:r>
          </a:p>
          <a:p xmlns:a="http://schemas.openxmlformats.org/drawingml/2006/main">
            <a:r>
              <a:t>https://www.interfax.ru/russia/982916</a:t>
            </a:r>
          </a:p>
          <a:p xmlns:a="http://schemas.openxmlformats.org/drawingml/2006/main">
            <a:r>
              <a:t>https://www.svoboda.org/a/sud-ostavil-v-sile-prigovor-habarovskomu-eks-gubernatoru-sergeyu-furgalu/32686024.html</a:t>
            </a:r>
          </a:p>
          <a:p xmlns:a="http://schemas.openxmlformats.org/drawingml/2006/main">
            <a:r>
              <a:t>https://www.dw.com/ru/kommentarij-furgal-peresidit-putina/a-64670560</a:t>
            </a:r>
          </a:p>
          <a:p xmlns:a="http://schemas.openxmlformats.org/drawingml/2006/main">
            <a:r>
              <a:t>https://www.kommersant.ru/doc/3896415</a:t>
            </a:r>
          </a:p>
          <a:p xmlns:a="http://schemas.openxmlformats.org/drawingml/2006/main">
            <a:r>
              <a:t>https://todaykhv.ru/news/policy/19386/</a:t>
            </a:r>
          </a:p>
          <a:p xmlns:a="http://schemas.openxmlformats.org/drawingml/2006/main">
            <a:r>
              <a:t>https://meduza.io/feature/2018/09/19/ya-dumayu-chto-situatsiya-kak-v-primorie-u-nas-ne-povtoritsya</a:t>
            </a:r>
          </a:p>
          <a:p xmlns:a="http://schemas.openxmlformats.org/drawingml/2006/main">
            <a:r>
              <a:t>https://govoritmoskva.ru/news/174327/</a:t>
            </a:r>
          </a:p>
          <a:p xmlns:a="http://schemas.openxmlformats.org/drawingml/2006/main">
            <a:r>
              <a:t>https://todaykhv.ru/news/policy/22426/?sphrase_id=2620206</a:t>
            </a:r>
          </a:p>
          <a:p xmlns:a="http://schemas.openxmlformats.org/drawingml/2006/main">
            <a:r>
              <a:t>https://ru.wikipedia.org/wiki/%D0%A4%D1%83%D1%80%D0%B3%D0%B0%D0%BB,_%D0%A1%D0%B5%D1%80%D0%B3%D0%B5%D0%B9_%D0%98%D0%B2%D0%B0%D0%BD%D0%BE%D0%B2%D0%B8%D1%87</a:t>
            </a:r>
          </a:p>
          <a:p xmlns:a="http://schemas.openxmlformats.org/drawingml/2006/main">
            <a:r>
              <a:t>https://novayagazeta.ru/articles/2018/09/18/77870-ne-dopuschu-zdes-revolyutsii</a:t>
            </a:r>
          </a:p>
          <a:p xmlns:a="http://schemas.openxmlformats.org/drawingml/2006/main">
            <a:r>
              <a:t>https://opkhv.ru/publications/4888</a:t>
            </a:r>
          </a:p>
          <a:p xmlns:a="http://schemas.openxmlformats.org/drawingml/2006/main">
            <a:r>
              <a:t>https://meduza.io/feature/2019/08/26/partiya-vlasti-zdes-ldpr</a:t>
            </a:r>
          </a:p>
          <a:p xmlns:a="http://schemas.openxmlformats.org/drawingml/2006/main">
            <a:r>
              <a:t>https://tass.ru/obschestvo/5946495</a:t>
            </a:r>
          </a:p>
          <a:p xmlns:a="http://schemas.openxmlformats.org/drawingml/2006/main">
            <a:r>
              <a:t>https://amurmedia.ru/news/775590/</a:t>
            </a:r>
          </a:p>
          <a:p xmlns:a="http://schemas.openxmlformats.org/drawingml/2006/main">
            <a:r>
              <a:t>https://www.eastrussia.ru/material/ne-planiruyushchim-pereezzhat-sovetuyu-pomolchat/</a:t>
            </a:r>
          </a:p>
          <a:p xmlns:a="http://schemas.openxmlformats.org/drawingml/2006/main">
            <a:r>
              <a:t>https://www.dw.com/ru/v-habarovske-priznali-ekstremistskim-dvizenie-v-zasitu-furgala/a-68334442</a:t>
            </a:r>
          </a:p>
          <a:p xmlns:a="http://schemas.openxmlformats.org/drawingml/2006/main">
            <a:r>
              <a:t>https://www.rbc.ru/person/66475fec9a79475c4d9443ad</a:t>
            </a:r>
          </a:p>
          <a:p xmlns:a="http://schemas.openxmlformats.org/drawingml/2006/main">
            <a:r>
              <a:t>https://tass.ru/info/12453099</a:t>
            </a:r>
          </a:p>
          <a:p xmlns:a="http://schemas.openxmlformats.org/drawingml/2006/main">
            <a:r>
              <a:t>https://tass.ru/info/9007455</a:t>
            </a:r>
          </a:p>
          <a:p xmlns:a="http://schemas.openxmlformats.org/drawingml/2006/main">
            <a:r>
              <a:t>https://tass.ru/info/20795009</a:t>
            </a:r>
          </a:p>
          <a:p xmlns:a="http://schemas.openxmlformats.org/drawingml/2006/main">
            <a:r>
              <a:t>https://tass.ru/encyclopedia/person/degtyarev-mihail-vladimirovich</a:t>
            </a:r>
          </a:p>
          <a:p xmlns:a="http://schemas.openxmlformats.org/drawingml/2006/main">
            <a:r>
              <a:t>https://www.rbc.ru/politics/20/07/2020/5f1586289a794722b2457d61</a:t>
            </a:r>
          </a:p>
          <a:p xmlns:a="http://schemas.openxmlformats.org/drawingml/2006/main">
            <a:r>
              <a:t>https://www.minsport.gov.ru/press-center/news/intervyu-mihaila-degtyareva-gazete-kommersant/</a:t>
            </a:r>
          </a:p>
          <a:p xmlns:a="http://schemas.openxmlformats.org/drawingml/2006/main">
            <a:r>
              <a:t>https://minsport.gov.ru/press-center/news/mihail-degtyarev-nashe-mesto-za-stolom-a-ne-v-perednej/</a:t>
            </a:r>
          </a:p>
          <a:p xmlns:a="http://schemas.openxmlformats.org/drawingml/2006/main">
            <a:r>
              <a:t>https://news.ru/vlast/degtyarev-prizval-ne-doveryat-evrope-provedenie-sorevnovanij</a:t>
            </a:r>
          </a:p>
          <a:p xmlns:a="http://schemas.openxmlformats.org/drawingml/2006/main">
            <a:r>
              <a:t>https://www.interfax.ru/presscenter/622170</a:t>
            </a:r>
          </a:p>
          <a:p xmlns:a="http://schemas.openxmlformats.org/drawingml/2006/main">
            <a:r>
              <a:t>https://tass.ru/interviews/13152777</a:t>
            </a:r>
          </a:p>
          <a:p xmlns:a="http://schemas.openxmlformats.org/drawingml/2006/main">
            <a:r>
              <a:t>https://www.sports.ru/others/blogs/3302024.html</a:t>
            </a:r>
          </a:p>
          <a:p xmlns:a="http://schemas.openxmlformats.org/drawingml/2006/main">
            <a:r>
              <a:t>https://www.vremyan.ru/news/556863</a:t>
            </a:r>
          </a:p>
          <a:p xmlns:a="http://schemas.openxmlformats.org/drawingml/2006/main">
            <a:r>
              <a:t>https://kprf.ru/personal/levchenko</a:t>
            </a:r>
          </a:p>
          <a:p xmlns:a="http://schemas.openxmlformats.org/drawingml/2006/main">
            <a:r>
              <a:t>https://www.rbc.ru/politics/23/06/2020/5ef0bd949a7947b3cd3dcba6</a:t>
            </a:r>
          </a:p>
          <a:p xmlns:a="http://schemas.openxmlformats.org/drawingml/2006/main">
            <a:r>
              <a:t>https://kprf.ru/party-live/regnews/194838.html</a:t>
            </a:r>
          </a:p>
          <a:p xmlns:a="http://schemas.openxmlformats.org/drawingml/2006/main">
            <a:r>
              <a:t>https://liveangarsk.ru/news/20191214/v-slozhivsheisya</a:t>
            </a:r>
          </a:p>
          <a:p xmlns:a="http://schemas.openxmlformats.org/drawingml/2006/main">
            <a:r>
              <a:t>https://kprf.ru/dep/gosduma/activities/240271.html</a:t>
            </a:r>
          </a:p>
          <a:p xmlns:a="http://schemas.openxmlformats.org/drawingml/2006/main">
            <a:r>
              <a:t>https://kprf.ru/dep/gosduma/activities/241686.html</a:t>
            </a:r>
          </a:p>
          <a:p xmlns:a="http://schemas.openxmlformats.org/drawingml/2006/main">
            <a:r>
              <a:t>https://altairk.ru/new/policy/the_message_of_the_governor</a:t>
            </a:r>
          </a:p>
          <a:p xmlns:a="http://schemas.openxmlformats.org/drawingml/2006/main">
            <a:r>
              <a:t>https://kto-irkutsk.ru/2026/07/20/sergej-levchenko-deyatelnost-i-zayavleniya-i-ix-ocenka/</a:t>
            </a:r>
          </a:p>
          <a:p xmlns:a="http://schemas.openxmlformats.org/drawingml/2006/main">
            <a:r>
              <a:t>https://ru.wikipedia.org/wiki/%D0%9B%D0%B5%D0%B2%D1%87%D0%B5%D0%BD%D0%BA%D0%BE,_%D0%A1%D0%B5%D1%80%D0%B3%D0%B5%D0%B9_%D0%93%D0%B5%D0%BE%D1%80%D0%B3%D0%B8%D0%B5%D0%B2%D0%B8%D1%87</a:t>
            </a:r>
          </a:p>
          <a:p xmlns:a="http://schemas.openxmlformats.org/drawingml/2006/main">
            <a:r>
              <a:t>https://www.newsru.com/dossiers/10330/</a:t>
            </a:r>
          </a:p>
          <a:p xmlns:a="http://schemas.openxmlformats.org/drawingml/2006/main">
            <a:r>
              <a:t>https://www.interfax.ru/russia/714300</a:t>
            </a:r>
          </a:p>
          <a:p xmlns:a="http://schemas.openxmlformats.org/drawingml/2006/main">
            <a:r>
              <a:t>https://www.rbc.ru/politics/14/09/2020/5f5e7dfb9a79477f7753d651</a:t>
            </a:r>
          </a:p>
          <a:p xmlns:a="http://schemas.openxmlformats.org/drawingml/2006/main">
            <a:r>
              <a:t>https://www.rline.tv/podrobnosti/2019-10-06-sergey-levchenko-za-chetyre-goda-sdelano-bolshe-chem-za-predydushchie-15-let/</a:t>
            </a:r>
          </a:p>
          <a:p xmlns:a="http://schemas.openxmlformats.org/drawingml/2006/main">
            <a:r>
              <a:t>https://vs19.ru/verhovny-sovet/deputati/670-konovalov-valentin-olegovich</a:t>
            </a:r>
          </a:p>
          <a:p xmlns:a="http://schemas.openxmlformats.org/drawingml/2006/main">
            <a:r>
              <a:t>https://meduza.io/feature/2018/09/10/etu-vlast-nichego-ne-spaset</a:t>
            </a:r>
          </a:p>
          <a:p xmlns:a="http://schemas.openxmlformats.org/drawingml/2006/main">
            <a:r>
              <a:t>https://kprf.ru/party-live/regnews/188553.html</a:t>
            </a:r>
          </a:p>
          <a:p xmlns:a="http://schemas.openxmlformats.org/drawingml/2006/main">
            <a:r>
              <a:t>https://www.kommersant.ru/doc/4441936</a:t>
            </a:r>
          </a:p>
          <a:p xmlns:a="http://schemas.openxmlformats.org/drawingml/2006/main">
            <a:r>
              <a:t>http://www.youtube.com/watch?v=eO6lUkFCAqM</a:t>
            </a:r>
          </a:p>
          <a:p xmlns:a="http://schemas.openxmlformats.org/drawingml/2006/main">
            <a:r>
              <a:t>https://ru.wikipedia.org/wiki/%D0%92%D1%8B%D0%B1%D0%BE%D1%80%D1%8B_%D0%B3%D0%BB%D0%B0%D0%B2%D1%8B_%D0%A0%D0%B5%D1%81%D0%BF%D1%83%D0%B1%D0%BB%D0%B8%D0%BA%D0%B8_%D0%A5%D0%B0%D0%BA%D0%B0%D1%81%D0%B8%D1%8F_(2018)</a:t>
            </a:r>
          </a:p>
          <a:p xmlns:a="http://schemas.openxmlformats.org/drawingml/2006/main">
            <a:r>
              <a:t>https://ok.ru/group/51615057903766/topic/157744983021718</a:t>
            </a:r>
          </a:p>
          <a:p xmlns:a="http://schemas.openxmlformats.org/drawingml/2006/main">
            <a:r>
              <a:t>https://kprf.ru/party-live/cknews/245343.html</a:t>
            </a:r>
          </a:p>
          <a:p xmlns:a="http://schemas.openxmlformats.org/drawingml/2006/main">
            <a:r>
              <a:t>https://r-19.ru/news/politika/190680/</a:t>
            </a:r>
          </a:p>
          <a:p xmlns:a="http://schemas.openxmlformats.org/drawingml/2006/main">
            <a:r>
              <a:t>https://r-19.ru/news/ekonomika/193031/</a:t>
            </a:r>
          </a:p>
          <a:p xmlns:a="http://schemas.openxmlformats.org/drawingml/2006/main">
            <a:r>
              <a:t>https://19rusinfo.ru/ekonomika/118670-otchjot</a:t>
            </a:r>
          </a:p>
          <a:p xmlns:a="http://schemas.openxmlformats.org/drawingml/2006/main">
            <a:r>
              <a:t>https://iditena.ru/candidates/konovalov-valentin-olegovich/</a:t>
            </a:r>
          </a:p>
          <a:p xmlns:a="http://schemas.openxmlformats.org/drawingml/2006/main">
            <a:r>
              <a:t>https://56.kprf.ru/deyatelnost/tpost/gjjjuy1zi1-glava-hakasii-valentin-konovalov-dal-int</a:t>
            </a:r>
          </a:p>
          <a:p xmlns:a="http://schemas.openxmlformats.org/drawingml/2006/main">
            <a:r>
              <a:t>https://meduza.io/feature/2019/05/31/strana-pobedivshego-kommunista</a:t>
            </a:r>
          </a:p>
          <a:p xmlns:a="http://schemas.openxmlformats.org/drawingml/2006/main">
            <a:r>
              <a:t>https://xn--80aac0c2a.xn--p1acf/2026/08/22/vstrecha-s-uchastiem-valentina-konovalova-i-alekseya-kornienko-proshla-v-habarovske</a:t>
            </a:r>
          </a:p>
          <a:p xmlns:a="http://schemas.openxmlformats.org/drawingml/2006/main">
            <a:r>
              <a:t>https://www.vedomosti.ru/politics/characters/2026/07/06/1211370-valentin-konovalov-rossiya-na-moskve-ne-zakanchivaetsya?from=newsline</a:t>
            </a:r>
          </a:p>
          <a:p xmlns:a="http://schemas.openxmlformats.org/drawingml/2006/main">
            <a:r>
              <a:t>https://www.vedomosti.ru/person/1215197-aksenov-sergei</a:t>
            </a:r>
          </a:p>
          <a:p xmlns:a="http://schemas.openxmlformats.org/drawingml/2006/main">
            <a:r>
              <a:t>https://www.rbc.ru/person/65f020599a79475815e702c9</a:t>
            </a:r>
          </a:p>
          <a:p xmlns:a="http://schemas.openxmlformats.org/drawingml/2006/main">
            <a:r>
              <a:t>http://crimea.gov.ru/news/30_03_18_10</a:t>
            </a:r>
          </a:p>
          <a:p xmlns:a="http://schemas.openxmlformats.org/drawingml/2006/main">
            <a:r>
              <a:t>https://www.npr.org/sections/parallels/2018/01/27/581114772/putins-man-in-crimea-we-ve-returned-to-russia-forever</a:t>
            </a:r>
          </a:p>
          <a:p xmlns:a="http://schemas.openxmlformats.org/drawingml/2006/main">
            <a:r>
              <a:t>http://crimea.gov.ru/en/news/26_02_19_6</a:t>
            </a:r>
          </a:p>
          <a:p xmlns:a="http://schemas.openxmlformats.org/drawingml/2006/main">
            <a:r>
              <a:t>https://antifashist.com/item/kto-polomal-infopole-kryma-i-ne-otvechaet-na-voprosy.html</a:t>
            </a:r>
          </a:p>
          <a:p xmlns:a="http://schemas.openxmlformats.org/drawingml/2006/main">
            <a:r>
              <a:t>https://ru.krymr.com/a/news/27913548.html</a:t>
            </a:r>
          </a:p>
          <a:p xmlns:a="http://schemas.openxmlformats.org/drawingml/2006/main">
            <a:r>
              <a:t>https://simfch.ru/2022/03/02/glava-respubliki-krym-sergej-aksyonov-prizval-krymchan-k-informaczionnoj-mobilizaczii-otkrytomu-i-publichnomu-vyrazheniyu-svoej-patrioticheskoj-poziczii/</a:t>
            </a:r>
          </a:p>
          <a:p xmlns:a="http://schemas.openxmlformats.org/drawingml/2006/main">
            <a:r>
              <a:t>https://www.rbc.ru/politics/29/05/2023/64749e389a7947f3de98dff2</a:t>
            </a:r>
          </a:p>
          <a:p xmlns:a="http://schemas.openxmlformats.org/drawingml/2006/main">
            <a:r>
              <a:t>https://ru.krymr.com/a/krym-sergey-aksenov-pvo-prilety-bavovna-bezopasnost-pvo-udar/32631709.html</a:t>
            </a:r>
          </a:p>
          <a:p xmlns:a="http://schemas.openxmlformats.org/drawingml/2006/main">
            <a:r>
              <a:t>https://rostov.rbc.ru/rostov/interview/18/03/2024/65f75c4f9a7947c8b475ab94</a:t>
            </a:r>
          </a:p>
          <a:p xmlns:a="http://schemas.openxmlformats.org/drawingml/2006/main">
            <a:r>
              <a:t>https://www.kommersant.ru/doc/7715230</a:t>
            </a:r>
          </a:p>
          <a:p xmlns:a="http://schemas.openxmlformats.org/drawingml/2006/main">
            <a:r>
              <a:t>https://www.kommersant.ru/doc/5154319</a:t>
            </a:r>
          </a:p>
          <a:p xmlns:a="http://schemas.openxmlformats.org/drawingml/2006/main">
            <a:r>
              <a:t>https://www.rbc.ru/person/660290b19a7947801fe9439b</a:t>
            </a:r>
          </a:p>
          <a:p xmlns:a="http://schemas.openxmlformats.org/drawingml/2006/main">
            <a:r>
              <a:t>https://www.kommersant.ru/doc/3759211</a:t>
            </a:r>
          </a:p>
          <a:p xmlns:a="http://schemas.openxmlformats.org/drawingml/2006/main">
            <a:r>
              <a:t>https://tass.ru/info/6656656</a:t>
            </a:r>
          </a:p>
          <a:p xmlns:a="http://schemas.openxmlformats.org/drawingml/2006/main">
            <a:r>
              <a:t>https://sevastopol.er.ru/pages/otchet-gubernatora-sevastopolya-mihaila-razvozhaeva</a:t>
            </a:r>
          </a:p>
          <a:p xmlns:a="http://schemas.openxmlformats.org/drawingml/2006/main">
            <a:r>
              <a:t>http://special.kremlin.ru/catalog/persons/579/events/76271</a:t>
            </a:r>
          </a:p>
          <a:p xmlns:a="http://schemas.openxmlformats.org/drawingml/2006/main">
            <a:r>
              <a:t>https://sevastopol.su/news/chastnyy-biznes-vlozhil-v-sevastopol-250-mlrd-rubley-za-tri-goda</a:t>
            </a:r>
          </a:p>
          <a:p xmlns:a="http://schemas.openxmlformats.org/drawingml/2006/main">
            <a:r>
              <a:t>https://sevastopol.su/news/v-sevastopole-ocenili-perspektivy-mikhaila-razvozhaeva-na-sleduyuschikh-vyborakh</a:t>
            </a:r>
          </a:p>
          <a:p xmlns:a="http://schemas.openxmlformats.org/drawingml/2006/main">
            <a:r>
              <a:t>https://tass.ru/interviews/10248577</a:t>
            </a:r>
          </a:p>
          <a:p xmlns:a="http://schemas.openxmlformats.org/drawingml/2006/main">
            <a:r>
              <a:t>https://news.ru/russia/u-nas-smelye-plany-gubernator-sevastopolya-razvozzhaev-o-budushem-goroda</a:t>
            </a:r>
          </a:p>
          <a:p xmlns:a="http://schemas.openxmlformats.org/drawingml/2006/main">
            <a:r>
              <a:t>http://kremlin.ru/events/administration/80838</a:t>
            </a:r>
          </a:p>
          <a:p xmlns:a="http://schemas.openxmlformats.org/drawingml/2006/main">
            <a:r>
              <a:t>https://tass.ru/kultura/28214691</a:t>
            </a:r>
          </a:p>
          <a:p xmlns:a="http://schemas.openxmlformats.org/drawingml/2006/main">
            <a:r>
              <a:t>http://kremlin.ru/events/administration/80591</a:t>
            </a:r>
          </a:p>
          <a:p xmlns:a="http://schemas.openxmlformats.org/drawingml/2006/main">
            <a:r>
              <a:t>https://governors.ru/glava-regiona/Belgorodskaya-oblast/Gladkov-Vyacheslav-Vladimirovich</a:t>
            </a:r>
          </a:p>
          <a:p xmlns:a="http://schemas.openxmlformats.org/drawingml/2006/main">
            <a:r>
              <a:t>https://ru.wikipedia.org/wiki/%D0%93%D0%BB%D0%B0%D0%B4%D0%BA%D0%BE%D0%B2,_%D0%92%D1%8F%D1%87%D0%B5%D1%81%D0%BB%D0%B0%D0%B2_%D0%92%D0%BB%D0%B0%D0%B4%D0%B8%D0%BC%D0%B8%D1%80%D0%BE%D0%B2%D0%B8%D1%87</a:t>
            </a:r>
          </a:p>
          <a:p xmlns:a="http://schemas.openxmlformats.org/drawingml/2006/main">
            <a:r>
              <a:t>http://council.gov.ru/structure/persons/1543/</a:t>
            </a:r>
          </a:p>
          <a:p xmlns:a="http://schemas.openxmlformats.org/drawingml/2006/main">
            <a:r>
              <a:t>https://ufa.rbc.ru/person/648345539a794760fd0c17e8</a:t>
            </a:r>
          </a:p>
          <a:p xmlns:a="http://schemas.openxmlformats.org/drawingml/2006/main">
            <a:r>
              <a:t>https://www.kommersant.ru/doc/8571119</a:t>
            </a:r>
          </a:p>
          <a:p xmlns:a="http://schemas.openxmlformats.org/drawingml/2006/main">
            <a:r>
              <a:t>https://www.kommersant.ru/doc/8655079</a:t>
            </a:r>
          </a:p>
          <a:p xmlns:a="http://schemas.openxmlformats.org/drawingml/2006/main">
            <a:r>
              <a:t>https://tass.ru/info/27861241</a:t>
            </a:r>
          </a:p>
          <a:p xmlns:a="http://schemas.openxmlformats.org/drawingml/2006/main">
            <a:r>
              <a:t>https://meduza.io/feature/2023/06/08/emu-by-vse-eto-razgresti</a:t>
            </a:r>
          </a:p>
          <a:p xmlns:a="http://schemas.openxmlformats.org/drawingml/2006/main">
            <a:r>
              <a:t>http://www.kremlin.ru/events/president/transcripts/66288</a:t>
            </a:r>
          </a:p>
          <a:p xmlns:a="http://schemas.openxmlformats.org/drawingml/2006/main">
            <a:r>
              <a:t>https://www.belpressa.ru/politics/vlast/62665.html</a:t>
            </a:r>
          </a:p>
          <a:p xmlns:a="http://schemas.openxmlformats.org/drawingml/2006/main">
            <a:r>
              <a:t>https://www.belpressa.ru/politics/vlast/71368.html</a:t>
            </a:r>
          </a:p>
          <a:p xmlns:a="http://schemas.openxmlformats.org/drawingml/2006/main">
            <a:r>
              <a:t>https://www.belnovosti.ru/politika/gubernator/127077.html</a:t>
            </a:r>
          </a:p>
          <a:p xmlns:a="http://schemas.openxmlformats.org/drawingml/2006/main">
            <a:r>
              <a:t>https://chr.plus.rbc.ru/news/694b9fb67a8aa90f9c2ce17d</a:t>
            </a:r>
          </a:p>
          <a:p xmlns:a="http://schemas.openxmlformats.org/drawingml/2006/main">
            <a:r>
              <a:t>https://www.belpressa.ru/society/bezopasnost/43348.html</a:t>
            </a:r>
          </a:p>
          <a:p xmlns:a="http://schemas.openxmlformats.org/drawingml/2006/main">
            <a:r>
              <a:t>https://www.rbc.ru/politics/07/03/2023/640758bf9a7947f6af99d464</a:t>
            </a:r>
          </a:p>
          <a:p xmlns:a="http://schemas.openxmlformats.org/drawingml/2006/main">
            <a:r>
              <a:t>https://www.rbc.ru/politics/24/05/2023/646d22029a794797c4bac4bf</a:t>
            </a:r>
          </a:p>
          <a:p xmlns:a="http://schemas.openxmlformats.org/drawingml/2006/main">
            <a:r>
              <a:t>https://www.bbc.com/russian/articles/c70dkd0pvrlo</a:t>
            </a:r>
          </a:p>
          <a:p xmlns:a="http://schemas.openxmlformats.org/drawingml/2006/main">
            <a:r>
              <a:t>https://www.go31.ru/news/proisshestviya/kak-nikto-drugoy-ponimaem-chto-takoe-agressiya-so-storony-ukrainy-gladkov-o-proryve-granitsy-v-kursk/</a:t>
            </a:r>
          </a:p>
          <a:p xmlns:a="http://schemas.openxmlformats.org/drawingml/2006/main">
            <a:r>
              <a:t>https://echofm.online/portret-dnya/portret-dnya-vyacheslav-gladkov-gubernator-belgorodskoj-oblasti-prognozy-o-sudbe-kotorogo-raznyatsya-ot-posta-posla-v-abhazii-do-ugolovnogo-dela</a:t>
            </a:r>
          </a:p>
          <a:p xmlns:a="http://schemas.openxmlformats.org/drawingml/2006/main">
            <a:r>
              <a:t>https://www.kommersant.ru/doc/3917861</a:t>
            </a:r>
          </a:p>
          <a:p xmlns:a="http://schemas.openxmlformats.org/drawingml/2006/main">
            <a:r>
              <a:t>https://minstroyrf.gov.ru/press/okolo-40-kontsessionnykh-soglasheniy-v-rossii-deystvuet-v-sfere-zhkkh/</a:t>
            </a:r>
          </a:p>
          <a:p xmlns:a="http://schemas.openxmlformats.org/drawingml/2006/main">
            <a:r>
              <a:t>https://newsroom24.ru/murmansk/news/politics/2026/news_323931/</a:t>
            </a:r>
          </a:p>
          <a:p xmlns:a="http://schemas.openxmlformats.org/drawingml/2006/main">
            <a:r>
              <a:t>https://murmansk.ru/52053</a:t>
            </a:r>
          </a:p>
          <a:p xmlns:a="http://schemas.openxmlformats.org/drawingml/2006/main">
            <a:r>
              <a:t>https://51.ru/text/gorod/2026/01/22/76228112/</a:t>
            </a:r>
          </a:p>
          <a:p xmlns:a="http://schemas.openxmlformats.org/drawingml/2006/main">
            <a:r>
              <a:t>https://www.murman.ru/news/2026/05/02/2334/</a:t>
            </a:r>
          </a:p>
          <a:p xmlns:a="http://schemas.openxmlformats.org/drawingml/2006/main">
            <a:r>
              <a:t>https://murman.ru/news/2026/09/06/2141/</a:t>
            </a:r>
          </a:p>
          <a:p xmlns:a="http://schemas.openxmlformats.org/drawingml/2006/main">
            <a:r>
              <a:t>https://www.murman.ru/news/2026/09/13/2242/</a:t>
            </a:r>
          </a:p>
          <a:p xmlns:a="http://schemas.openxmlformats.org/drawingml/2006/main">
            <a:r>
              <a:t>https://ru.wikipedia.org/wiki/%D0%A7%D0%B8%D0%B1%D0%B8%D1%81,_%D0%90%D0%BD%D0%B4%D1%80%D0%B5%D0%B9_%D0%92%D0%BB%D0%B0%D0%B4%D0%B8%D0%BC%D0%B8%D1%80%D0%BE%D0%B2%D0%B8%D1%87</a:t>
            </a:r>
          </a:p>
          <a:p xmlns:a="http://schemas.openxmlformats.org/drawingml/2006/main">
            <a:r>
              <a:t>https://tass.ru/obschestvo/23491353</a:t>
            </a:r>
          </a:p>
          <a:p xmlns:a="http://schemas.openxmlformats.org/drawingml/2006/main">
            <a:r>
              <a:t>https://www.murman.ru/news/2026/09/03/2243/</a:t>
            </a:r>
          </a:p>
          <a:p xmlns:a="http://schemas.openxmlformats.org/drawingml/2006/main">
            <a:r>
              <a:t>https://msp.citymurmansk.ru/news/2026/09/03/0930/</a:t>
            </a:r>
          </a:p>
          <a:p xmlns:a="http://schemas.openxmlformats.org/drawingml/2006/main">
            <a:r>
              <a:t>http://kremlin.ru/events/president/letters/80916</a:t>
            </a:r>
          </a:p>
          <a:p xmlns:a="http://schemas.openxmlformats.org/drawingml/2006/main">
            <a:r>
              <a:t>https://www.murmansk.kp.ru/daily/277813.4/5300258/</a:t>
            </a:r>
          </a:p>
          <a:p xmlns:a="http://schemas.openxmlformats.org/drawingml/2006/main">
            <a:r>
              <a:t>https://www.fontanka.ru/2021/07/27/70046798/</a:t>
            </a:r>
          </a:p>
          <a:p xmlns:a="http://schemas.openxmlformats.org/drawingml/2006/main">
            <a:r>
              <a:t>https://www.kommersant.ru/doc/4639758</a:t>
            </a:r>
          </a:p>
          <a:p xmlns:a="http://schemas.openxmlformats.org/drawingml/2006/main">
            <a:r>
              <a:t>https://www.bbc.com/russian/news-55614829</a:t>
            </a:r>
          </a:p>
          <a:p xmlns:a="http://schemas.openxmlformats.org/drawingml/2006/main">
            <a:r>
              <a:t>https://newpeople.ru/Deputy/sardana-avksenteva</a:t>
            </a:r>
          </a:p>
          <a:p xmlns:a="http://schemas.openxmlformats.org/drawingml/2006/main">
            <a:r>
              <a:t>https://www.pnp.ru/economics/kontrol-za-koncessionnymi-soglasheniyami-predlozhili-usilit.html</a:t>
            </a:r>
          </a:p>
          <a:p xmlns:a="http://schemas.openxmlformats.org/drawingml/2006/main">
            <a:r>
              <a:t>https://www.ng.ru/politics/2024-12-05/1_9150_right.html</a:t>
            </a:r>
          </a:p>
          <a:p xmlns:a="http://schemas.openxmlformats.org/drawingml/2006/main">
            <a:r>
              <a:t>https://news.ru/society/v-novyh-lyudyah-rasskazali-o-glavnyh-zadachah-partii-pered-vyborami</a:t>
            </a:r>
          </a:p>
          <a:p xmlns:a="http://schemas.openxmlformats.org/drawingml/2006/main">
            <a:r>
              <a:t>https://www.kommersant.ru/doc/8939397</a:t>
            </a:r>
          </a:p>
          <a:p xmlns:a="http://schemas.openxmlformats.org/drawingml/2006/main">
            <a:r>
              <a:t>https://tass.ru/info/5220823</a:t>
            </a:r>
          </a:p>
          <a:p xmlns:a="http://schemas.openxmlformats.org/drawingml/2006/main">
            <a:r>
              <a:t>https://tass.ru/info/15547711</a:t>
            </a:r>
          </a:p>
          <a:p xmlns:a="http://schemas.openxmlformats.org/drawingml/2006/main">
            <a:r>
              <a:t>https://www.bbc.com/russian/features-62661643</a:t>
            </a:r>
          </a:p>
          <a:p xmlns:a="http://schemas.openxmlformats.org/drawingml/2006/main">
            <a:r>
              <a:t>https://www.kommersant.ru/doc/3298219</a:t>
            </a:r>
          </a:p>
          <a:p xmlns:a="http://schemas.openxmlformats.org/drawingml/2006/main">
            <a:r>
              <a:t>https://www.svoboda.org/a/31217129.html</a:t>
            </a:r>
          </a:p>
          <a:p xmlns:a="http://schemas.openxmlformats.org/drawingml/2006/main">
            <a:r>
              <a:t>https://www.interfax.ru/russia/902059</a:t>
            </a:r>
          </a:p>
          <a:p xmlns:a="http://schemas.openxmlformats.org/drawingml/2006/main">
            <a:r>
              <a:t>https://www.bfm.ru/news/525620</a:t>
            </a:r>
          </a:p>
          <a:p xmlns:a="http://schemas.openxmlformats.org/drawingml/2006/main">
            <a:r>
              <a:t>https://novayagazeta.ru/articles/2023/03/16/do-urovnia-myshei-media</a:t>
            </a:r>
          </a:p>
          <a:p xmlns:a="http://schemas.openxmlformats.org/drawingml/2006/main">
            <a:r>
              <a:t>https://tjournal.ru/71076</a:t>
            </a:r>
          </a:p>
          <a:p xmlns:a="http://schemas.openxmlformats.org/drawingml/2006/main">
            <a:r>
              <a:t>https://www.nakanune.ru/articles/111648/</a:t>
            </a:r>
          </a:p>
          <a:p xmlns:a="http://schemas.openxmlformats.org/drawingml/2006/main">
            <a:r>
              <a:t>https://adcmemorial.org/statyi/kolonki/neprotivlenie-rasizmu/</a:t>
            </a:r>
          </a:p>
          <a:p xmlns:a="http://schemas.openxmlformats.org/drawingml/2006/main">
            <a:r>
              <a:t>https://www.svoboda.org/a/royzman-i-drugie-zhiteli-ekaterinburga/31997151.html</a:t>
            </a:r>
          </a:p>
          <a:p xmlns:a="http://schemas.openxmlformats.org/drawingml/2006/main">
            <a:r>
              <a:t>https://www.e1.ru/text/politics/2022/02/24/70466417/</a:t>
            </a:r>
          </a:p>
          <a:p xmlns:a="http://schemas.openxmlformats.org/drawingml/2006/main">
            <a:r>
              <a:t>https://www.dw.com/ru/kommentarij-evgenij-rojzman-i-sila-pravdy/a-62917754</a:t>
            </a:r>
          </a:p>
          <a:p xmlns:a="http://schemas.openxmlformats.org/drawingml/2006/main">
            <a:r>
              <a:t>https://meduza.io/paragraph/2022/08/26/priehali-moskvichi-i-dumali-chto-zdes-duraki-sobralis</a:t>
            </a:r>
          </a:p>
          <a:p xmlns:a="http://schemas.openxmlformats.org/drawingml/2006/main">
            <a:r>
              <a:t>https://znamlit.ru/publication.php?id=7379</a:t>
            </a:r>
          </a:p>
          <a:p xmlns:a="http://schemas.openxmlformats.org/drawingml/2006/main">
            <a:r>
              <a:t>https://tass.ru/interviews/6080499</a:t>
            </a:r>
          </a:p>
          <a:p xmlns:a="http://schemas.openxmlformats.org/drawingml/2006/main">
            <a:r>
              <a:t>https://45.ru/text/politics/2024/09/09/73952072/</a:t>
            </a:r>
          </a:p>
          <a:p xmlns:a="http://schemas.openxmlformats.org/drawingml/2006/main">
            <a:r>
              <a:t>http://special.kremlin.ru/events/president/news/70638</a:t>
            </a:r>
          </a:p>
          <a:p xmlns:a="http://schemas.openxmlformats.org/drawingml/2006/main">
            <a:r>
              <a:t>https://ura.news/news/1053132902</a:t>
            </a:r>
          </a:p>
          <a:p xmlns:a="http://schemas.openxmlformats.org/drawingml/2006/main">
            <a:r>
              <a:t>https://ura.news/articles/1036276564</a:t>
            </a:r>
          </a:p>
          <a:p xmlns:a="http://schemas.openxmlformats.org/drawingml/2006/main">
            <a:r>
              <a:t>https://tass.ru/novosti-regionov/28187431</a:t>
            </a:r>
          </a:p>
          <a:p xmlns:a="http://schemas.openxmlformats.org/drawingml/2006/main">
            <a:r>
              <a:t>https://fedpress.ru/person/1753607</a:t>
            </a:r>
          </a:p>
          <a:p xmlns:a="http://schemas.openxmlformats.org/drawingml/2006/main">
            <a:r>
              <a:t>https://eburg.mk.ru/social/2026/10/14/zhiteley-zauralya-predupredili-o-lozhnykh-videorolikakh-s-gubernatorom.html</a:t>
            </a:r>
          </a:p>
          <a:p xmlns:a="http://schemas.openxmlformats.org/drawingml/2006/main">
            <a:r>
              <a:t>https://regnum.ru/news/3530808</a:t>
            </a:r>
          </a:p>
          <a:p xmlns:a="http://schemas.openxmlformats.org/drawingml/2006/main">
            <a:r>
              <a:t>https://kurganvera.ru/news/vrns/mitropolit-daniil-i-vadim-shumkov-vozglavili-delegatsiyu-kurganskoy-oblasti-na-vsemirnom-russkom-sob/</a:t>
            </a:r>
          </a:p>
          <a:p xmlns:a="http://schemas.openxmlformats.org/drawingml/2006/main">
            <a:r>
              <a:t>https://45.ru/text/politics/2026/06/26/76499700/</a:t>
            </a:r>
          </a:p>
          <a:p xmlns:a="http://schemas.openxmlformats.org/drawingml/2006/main">
            <a:r>
              <a:t>https://niva-kurtamysh.com/news/obshchestvo/vystuplenie-gubernatora-kurganskoy-oblasti-vadima-shumkova</a:t>
            </a:r>
          </a:p>
          <a:p xmlns:a="http://schemas.openxmlformats.org/drawingml/2006/main">
            <a:r>
              <a:t>https://t.me/s/kurganskayaobl?before=42616</a:t>
            </a:r>
          </a:p>
          <a:p xmlns:a="http://schemas.openxmlformats.org/drawingml/2006/main">
            <a:r>
              <a:t>https://www.bbc.com/russian/news-54368577</a:t>
            </a:r>
          </a:p>
          <a:p xmlns:a="http://schemas.openxmlformats.org/drawingml/2006/main">
            <a:r>
              <a:t>https://www.bbc.com/russian/articles/cp0769dp15eo</a:t>
            </a:r>
          </a:p>
          <a:p xmlns:a="http://schemas.openxmlformats.org/drawingml/2006/main">
            <a:r>
              <a:t>https://navalny.com/materials/blogpost-6017</a:t>
            </a:r>
          </a:p>
          <a:p xmlns:a="http://schemas.openxmlformats.org/drawingml/2006/main">
            <a:r>
              <a:t>https://www.bbc.com/russian/news-58563592</a:t>
            </a:r>
          </a:p>
          <a:p xmlns:a="http://schemas.openxmlformats.org/drawingml/2006/main">
            <a:r>
              <a:t>https://navalny.com/materials/blogpost-6544</a:t>
            </a:r>
          </a:p>
          <a:p xmlns:a="http://schemas.openxmlformats.org/drawingml/2006/main">
            <a:r>
              <a:t>https://www.bbc.com/russian/news-58270043</a:t>
            </a:r>
          </a:p>
          <a:p xmlns:a="http://schemas.openxmlformats.org/drawingml/2006/main">
            <a:r>
              <a:t>https://www.bbc.com/russian/articles/cvg3p9l1e5ro</a:t>
            </a:r>
          </a:p>
          <a:p xmlns:a="http://schemas.openxmlformats.org/drawingml/2006/main">
            <a:r>
              <a:t>https://www.bbc.com/russian/features-54435835</a:t>
            </a:r>
          </a:p>
          <a:p xmlns:a="http://schemas.openxmlformats.org/drawingml/2006/main">
            <a:r>
              <a:t>https://2018.navalny.com/platform/7/</a:t>
            </a:r>
          </a:p>
          <a:p xmlns:a="http://schemas.openxmlformats.org/drawingml/2006/main">
            <a:r>
              <a:t>https://2018.navalny.com/platform/3/</a:t>
            </a:r>
          </a:p>
          <a:p xmlns:a="http://schemas.openxmlformats.org/drawingml/2006/main">
            <a:r>
              <a:t>https://2018.navalny.com/platform/10/</a:t>
            </a:r>
          </a:p>
          <a:p xmlns:a="http://schemas.openxmlformats.org/drawingml/2006/main">
            <a:r>
              <a:t>https://2018.navalny.com/platform/9/</a:t>
            </a:r>
          </a:p>
          <a:p xmlns:a="http://schemas.openxmlformats.org/drawingml/2006/main">
            <a:r>
              <a:t>https://navalny.com/editorials/aleksey-navalnyy-protiv-voyny</a:t>
            </a:r>
          </a:p>
          <a:p xmlns:a="http://schemas.openxmlformats.org/drawingml/2006/main">
            <a:r>
              <a:t>https://navalny.com/?p=149</a:t>
            </a:r>
          </a:p>
          <a:p xmlns:a="http://schemas.openxmlformats.org/drawingml/2006/main">
            <a:r>
              <a:t>https://www.interfax.ru/russia/876151</a:t>
            </a:r>
          </a:p>
          <a:p xmlns:a="http://schemas.openxmlformats.org/drawingml/2006/main">
            <a:r>
              <a:t>https://www.dw.com/ru/srok-ne-za-fejk-a-za-politiku-reakcii-v-frg-i-rf-na-prigovor-asinu/a-64049957</a:t>
            </a:r>
          </a:p>
          <a:p xmlns:a="http://schemas.openxmlformats.org/drawingml/2006/main">
            <a:r>
              <a:t>https://www.lemonde.fr/en/international/article/2025/05/27/russian-opposition-figure-ilya-yashin-if-ukraine-is-handed-over-to-putin-it-will-be-a-tragedy-and-the-prologue-to-a-global-confrontation_6741728_4.html</a:t>
            </a:r>
          </a:p>
          <a:p xmlns:a="http://schemas.openxmlformats.org/drawingml/2006/main">
            <a:r>
              <a:t>https://www.bbc.com/russian/articles/crgl69w9472o</a:t>
            </a:r>
          </a:p>
          <a:p xmlns:a="http://schemas.openxmlformats.org/drawingml/2006/main">
            <a:r>
              <a:t>https://www.svoboda.org/a/yashin-court/32165539.html</a:t>
            </a:r>
          </a:p>
          <a:p xmlns:a="http://schemas.openxmlformats.org/drawingml/2006/main">
            <a:r>
              <a:t>https://www.dw.com/ru/ila-asin-putin-predvoditel-sil-mrakobesia/a-69923731</a:t>
            </a:r>
          </a:p>
          <a:p xmlns:a="http://schemas.openxmlformats.org/drawingml/2006/main">
            <a:r>
              <a:t>https://novayagazeta.eu/articles/2025/08/01/my-ne-mozhem-trebovat-no-mozhem-obiasniat</a:t>
            </a:r>
          </a:p>
          <a:p xmlns:a="http://schemas.openxmlformats.org/drawingml/2006/main">
            <a:r>
              <a:t>https://meduza.io/feature/2019/07/20/to-chto-putin-ne-smog-sdelat-za-20-let-sobyanin-sdelal-za-mesyats</a:t>
            </a:r>
          </a:p>
          <a:p xmlns:a="http://schemas.openxmlformats.org/drawingml/2006/main">
            <a:r>
              <a:t>https://novayagazeta.eu/articles/2024/11/18/pochuvstvovat-sebia-ne-odinokimi</a:t>
            </a:r>
          </a:p>
          <a:p xmlns:a="http://schemas.openxmlformats.org/drawingml/2006/main">
            <a:r>
              <a:t>https://www.svoboda.org/a/voyna-putin-i-politzaklyuchennye-iljya-yashin-o-svoih-planah/33177839.html</a:t>
            </a:r>
          </a:p>
          <a:p xmlns:a="http://schemas.openxmlformats.org/drawingml/2006/main">
            <a:r>
              <a:t>https://www.dw.com/ru/asin-sejcas-nevozmozno-obedinit-rossijskuu-oppoziciu-da-i-ne-nuzno/a-70291088</a:t>
            </a:r>
          </a:p>
          <a:p xmlns:a="http://schemas.openxmlformats.org/drawingml/2006/main">
            <a:r>
              <a:t>https://www.dw.com/ru/vladimir-karamurza/t-37465233</a:t>
            </a:r>
          </a:p>
          <a:p xmlns:a="http://schemas.openxmlformats.org/drawingml/2006/main">
            <a:r>
              <a:t>https://ovd.info/persons/kara-murza-vladimir-vladimirovich</a:t>
            </a:r>
          </a:p>
          <a:p xmlns:a="http://schemas.openxmlformats.org/drawingml/2006/main">
            <a:r>
              <a:t>https://ovd.info/2024/08/03/kogo-rossiya-vydala-v-ramkakh-obmena-zaklyuchennymi-s-zapadom-istorii-osvobozhdennykh</a:t>
            </a:r>
          </a:p>
          <a:p xmlns:a="http://schemas.openxmlformats.org/drawingml/2006/main">
            <a:r>
              <a:t>https://www.svoboda.org/a/kara-murza-obmen/33059121.html</a:t>
            </a:r>
          </a:p>
          <a:p xmlns:a="http://schemas.openxmlformats.org/drawingml/2006/main">
            <a:r>
              <a:t>https://novayagazeta.ru/articles/2024/08/16/prezident-baiden-prinial-osvobozhdennogo-v-rezultate-obmena-politzakliuchennogo-vladimira-kara-murzu-s-semei-v-belom-dome-news</a:t>
            </a:r>
          </a:p>
          <a:p xmlns:a="http://schemas.openxmlformats.org/drawingml/2006/main">
            <a:r>
              <a:t>https://genevasummit.org/speech/vladimir-kara-murza-speaks-at-2018-geneva-summit-main-event/</a:t>
            </a:r>
          </a:p>
          <a:p xmlns:a="http://schemas.openxmlformats.org/drawingml/2006/main">
            <a:r>
              <a:t>https://humanrights.ca/event-series/presidents-lecture-series</a:t>
            </a:r>
          </a:p>
          <a:p xmlns:a="http://schemas.openxmlformats.org/drawingml/2006/main">
            <a:r>
              <a:t>https://www.radiofrance.fr/franceinter/podcasts/l-info-de-france-inter/la-democratie-doit-etre-protegee-chaque-minute-de-chaque-jour-declare-l-opposant-russe-vladimir-kara-mourza-8105094</a:t>
            </a:r>
          </a:p>
          <a:p xmlns:a="http://schemas.openxmlformats.org/drawingml/2006/main">
            <a:r>
              <a:t>https://georgetownvoice.com/2025/10/08/dissident-in-residence-vladimir-kara-murza-applies-past-lessons-to-present-day-in-recent-event-discussing-democracy/</a:t>
            </a:r>
          </a:p>
          <a:p xmlns:a="http://schemas.openxmlformats.org/drawingml/2006/main">
            <a:r>
              <a:t>https://www.oscepa.org/en/documents/winter-meetings/2025-vienna/speeches-36/5176-vladimir-kara-murza-address-to-the-osce-pa-winter-meeting-in-vienna-21-february-2025/file</a:t>
            </a:r>
          </a:p>
          <a:p xmlns:a="http://schemas.openxmlformats.org/drawingml/2006/main">
            <a:r>
              <a:t>https://hrf.org/wp-content/uploads/2024/10/VKM-%E2%80%93-Statement-of-Facts-and-Levinson-Analysis.pdf</a:t>
            </a:r>
          </a:p>
          <a:p xmlns:a="http://schemas.openxmlformats.org/drawingml/2006/main">
            <a:r>
              <a:t>https://www.govinfo.gov/content/pkg/CREC-2024-06-11/html/CREC-2024-06-11-pt1-PgH3699.htm</a:t>
            </a:r>
          </a:p>
          <a:p xmlns:a="http://schemas.openxmlformats.org/drawingml/2006/main">
            <a:r>
              <a:t>https://antiwarcommittee.info/en/statement-on-the-persecution-of-vladimir-kara-murza/</a:t>
            </a:r>
          </a:p>
          <a:p xmlns:a="http://schemas.openxmlformats.org/drawingml/2006/main">
            <a:r>
              <a:t>https://www.norway.no/en/missions/osce/norway-and-the-osce/statements/statements-with--norwegian-alignment-2024/joint-statement-on-vladimir-kara-murza/</a:t>
            </a:r>
          </a:p>
          <a:p xmlns:a="http://schemas.openxmlformats.org/drawingml/2006/main">
            <a:r>
              <a:t>https://www.aljazeera.com/news/2025/4/23/kremlin-critic-decried-for-racist-rant-on-minorities-fighting-for-russia</a:t>
            </a:r>
          </a:p>
          <a:p xmlns:a="http://schemas.openxmlformats.org/drawingml/2006/main">
            <a:r>
              <a:t>https://www.rmc.edu/news/former-political-prisoner-vladimir-kara-murza-offers-vision-of-hope-for-russian-democracy/</a:t>
            </a:r>
          </a:p>
          <a:p xmlns:a="http://schemas.openxmlformats.org/drawingml/2006/main">
            <a:r>
              <a:t>https://2018.yavlinsky.ru/campaign/</a:t>
            </a:r>
          </a:p>
          <a:p xmlns:a="http://schemas.openxmlformats.org/drawingml/2006/main">
            <a:r>
              <a:t>http://2018.yavlinsky.ru/programm/</a:t>
            </a:r>
          </a:p>
          <a:p xmlns:a="http://schemas.openxmlformats.org/drawingml/2006/main">
            <a:r>
              <a:t>https://campaign2018.yavlinsky.ru/</a:t>
            </a:r>
          </a:p>
          <a:p xmlns:a="http://schemas.openxmlformats.org/drawingml/2006/main">
            <a:r>
              <a:t>https://www.yavlinsky.ru/position/war/</a:t>
            </a:r>
          </a:p>
          <a:p xmlns:a="http://schemas.openxmlformats.org/drawingml/2006/main">
            <a:r>
              <a:t>https://www.yavlinsky.ru/position/cease-fire/</a:t>
            </a:r>
          </a:p>
          <a:p xmlns:a="http://schemas.openxmlformats.org/drawingml/2006/main">
            <a:r>
              <a:t>https://www.yavlinsky.ru/article_tax/ukraina/</a:t>
            </a:r>
          </a:p>
          <a:p xmlns:a="http://schemas.openxmlformats.org/drawingml/2006/main">
            <a:r>
              <a:t>https://www.yavlinsky.ru/biografiya/</a:t>
            </a:r>
          </a:p>
          <a:p xmlns:a="http://schemas.openxmlformats.org/drawingml/2006/main">
            <a:r>
              <a:t>https://www.yabloko.ru/publikatsii/2018/02/15_0</a:t>
            </a:r>
          </a:p>
          <a:p xmlns:a="http://schemas.openxmlformats.org/drawingml/2006/main">
            <a:r>
              <a:t>https://www.yabloko.ru/publikatsii/2018/06/19</a:t>
            </a:r>
          </a:p>
          <a:p xmlns:a="http://schemas.openxmlformats.org/drawingml/2006/main">
            <a:r>
              <a:t>https://www.yavlinsky.ru/article/eto-referendum/</a:t>
            </a:r>
          </a:p>
          <a:p xmlns:a="http://schemas.openxmlformats.org/drawingml/2006/main">
            <a:r>
              <a:t>https://www.svoboda.org/a/27801792.html</a:t>
            </a:r>
          </a:p>
          <a:p xmlns:a="http://schemas.openxmlformats.org/drawingml/2006/main">
            <a:r>
              <a:t>https://www.svoboda.org/a/29294829.html</a:t>
            </a:r>
          </a:p>
          <a:p xmlns:a="http://schemas.openxmlformats.org/drawingml/2006/main">
            <a:r>
              <a:t>https://www.yavlinsky.ru/article/intervyu-g-yavlinskogo-zhertvy-budut-proryva-net/</a:t>
            </a:r>
          </a:p>
          <a:p xmlns:a="http://schemas.openxmlformats.org/drawingml/2006/main">
            <a:r>
              <a:t>https://www.yavlinsky.ru/article/my-budem-idti-do-kontsa/</a:t>
            </a:r>
          </a:p>
          <a:p xmlns:a="http://schemas.openxmlformats.org/drawingml/2006/main">
            <a:r>
              <a:t>https://www.yavlinsky.ru/article/prezidentskie-vybory-1996-30-let-spustya/</a:t>
            </a:r>
          </a:p>
          <a:p xmlns:a="http://schemas.openxmlformats.org/drawingml/2006/main">
            <a:r>
              <a:t>https://www.forbes.ru/interview/45575-reformatory-prihodyat-k-vlasti-grigorii-yavlinskii</a:t>
            </a:r>
          </a:p>
          <a:p xmlns:a="http://schemas.openxmlformats.org/drawingml/2006/main">
            <a:r>
              <a:t>https://www.bbc.com/russian/articles/cy8ee2wngd8o</a:t>
            </a:r>
          </a:p>
          <a:p xmlns:a="http://schemas.openxmlformats.org/drawingml/2006/main">
            <a:r>
              <a:t>https://www.yabloko.ru/regnews/Pskov/2019/01/21-0</a:t>
            </a:r>
          </a:p>
          <a:p xmlns:a="http://schemas.openxmlformats.org/drawingml/2006/main">
            <a:r>
              <a:t>https://www.yabloko.ru/publikatsii/2019/06/14</a:t>
            </a:r>
          </a:p>
          <a:p xmlns:a="http://schemas.openxmlformats.org/drawingml/2006/main">
            <a:r>
              <a:t>https://zona.media/article/2019/02/27/pskov</a:t>
            </a:r>
          </a:p>
          <a:p xmlns:a="http://schemas.openxmlformats.org/drawingml/2006/main">
            <a:r>
              <a:t>https://spektr.press/ya-otvechayu-za-vse-mnoj-skazannoe-no-ne-otvechayu-za-izvraschenie-skazannogo-lev-shlosberg-o-travle-i-setkah-telegram-kanalov-odnokletochnyh-politikah-reshivshih-pobedit-putina-rukami-u/</a:t>
            </a:r>
          </a:p>
          <a:p xmlns:a="http://schemas.openxmlformats.org/drawingml/2006/main">
            <a:r>
              <a:t>https://www.yabloko.ru/Persons/shlosberg.html</a:t>
            </a:r>
          </a:p>
          <a:p xmlns:a="http://schemas.openxmlformats.org/drawingml/2006/main">
            <a:r>
              <a:t>https://pln-pskov.ru/politics/314872.html</a:t>
            </a:r>
          </a:p>
          <a:p xmlns:a="http://schemas.openxmlformats.org/drawingml/2006/main">
            <a:r>
              <a:t>https://www.yabloko.ru/publikatsii/2022/02/18-0</a:t>
            </a:r>
          </a:p>
          <a:p xmlns:a="http://schemas.openxmlformats.org/drawingml/2006/main">
            <a:r>
              <a:t>https://ru.krymr.com/a/rossiya-putin-voyna-repressii-lev-shlosberg-intervyu/31806389.html</a:t>
            </a:r>
          </a:p>
          <a:p xmlns:a="http://schemas.openxmlformats.org/drawingml/2006/main">
            <a:r>
              <a:t>https://www.currenttime.tv/a/politika-vlastey-chtoby-lyudi-perestali-govorit-o-spetsialnoy-voennoy-operatsii-lev-shlosberg-o-dele-protiv-nego-i-nikolaya-kuzmina/31807396.html</a:t>
            </a:r>
          </a:p>
          <a:p xmlns:a="http://schemas.openxmlformats.org/drawingml/2006/main">
            <a:r>
              <a:t>https://zona.media/article/2026/08/14/schlosberg</a:t>
            </a:r>
          </a:p>
          <a:p xmlns:a="http://schemas.openxmlformats.org/drawingml/2006/main">
            <a:r>
              <a:t>https://www.svoboda.org/a/lishniy-zalozhnik-vot-chto-im-vazhno-arest-lva-shlosberga/33615624.html</a:t>
            </a:r>
          </a:p>
          <a:p xmlns:a="http://schemas.openxmlformats.org/drawingml/2006/main">
            <a:r>
              <a:t>https://novayagazeta.eu/articles/2026/08/17/ostavshiisia</a:t>
            </a:r>
          </a:p>
          <a:p xmlns:a="http://schemas.openxmlformats.org/drawingml/2006/main">
            <a:r>
              <a:t>https://www.yabloko.ru/content/vishnevskii_boris_lazarevich</a:t>
            </a:r>
          </a:p>
          <a:p xmlns:a="http://schemas.openxmlformats.org/drawingml/2006/main">
            <a:r>
              <a:t>https://www.dp.ru/a/2018/06/18/Aktivnaja_storona_konflikt</a:t>
            </a:r>
          </a:p>
          <a:p xmlns:a="http://schemas.openxmlformats.org/drawingml/2006/main">
            <a:r>
              <a:t>https://www.bbc.com/russian/features-58481940</a:t>
            </a:r>
          </a:p>
          <a:p xmlns:a="http://schemas.openxmlformats.org/drawingml/2006/main">
            <a:r>
              <a:t>https://www.dp.ru/a/2023/01/16/Deputat_Peterburga_Vishnev</a:t>
            </a:r>
          </a:p>
          <a:p xmlns:a="http://schemas.openxmlformats.org/drawingml/2006/main">
            <a:r>
              <a:t>https://echofm.online/portret-dnya/portret-dnya-boris-vishnevskij-peterburgskij-politik</a:t>
            </a:r>
          </a:p>
          <a:p xmlns:a="http://schemas.openxmlformats.org/drawingml/2006/main">
            <a:r>
              <a:t>https://spb.yabloko.ru/people/vishnevskij-boris-lazarevich/</a:t>
            </a:r>
          </a:p>
          <a:p xmlns:a="http://schemas.openxmlformats.org/drawingml/2006/main">
            <a:r>
              <a:t>https://www.dp.ru/a/2026/08/26/bitva-nachalas-gde-v-peterburge</a:t>
            </a:r>
          </a:p>
          <a:p xmlns:a="http://schemas.openxmlformats.org/drawingml/2006/main">
            <a:r>
              <a:t>https://www.yabloko.ru/regnews/Spb/2022/02/21</a:t>
            </a:r>
          </a:p>
          <a:p xmlns:a="http://schemas.openxmlformats.org/drawingml/2006/main">
            <a:r>
              <a:t>https://www.yabloko.ru/cat-news/2021/08/06-0</a:t>
            </a:r>
          </a:p>
          <a:p xmlns:a="http://schemas.openxmlformats.org/drawingml/2006/main">
            <a:r>
              <a:t>https://www.rbc.ru/spb_sz/16/01/2023/63c53d9c9a7947d9bef4b853</a:t>
            </a:r>
          </a:p>
          <a:p xmlns:a="http://schemas.openxmlformats.org/drawingml/2006/main">
            <a:r>
              <a:t>https://www.rbc.ru/politics/06/05/2024/6638a8609a79472c01075a2c</a:t>
            </a:r>
          </a:p>
          <a:p xmlns:a="http://schemas.openxmlformats.org/drawingml/2006/main">
            <a:r>
              <a:t>https://www.svoboda.org/a/politika-dmitriya-gudkova-deportirovali-iz-gruzii-v-kiev/31679697.html</a:t>
            </a:r>
          </a:p>
          <a:p xmlns:a="http://schemas.openxmlformats.org/drawingml/2006/main">
            <a:r>
              <a:t>https://ru.krymr.com/a/dmitriy-gudkov-ob-otyezde-iz-rossii/31295079.html</a:t>
            </a:r>
          </a:p>
          <a:p xmlns:a="http://schemas.openxmlformats.org/drawingml/2006/main">
            <a:r>
              <a:t>https://daily.afisha.ru/news/114366-syn-politika-dmitriya-gudkova-pokonchil-s-soboy-v-emigracii/amp/</a:t>
            </a:r>
          </a:p>
          <a:p xmlns:a="http://schemas.openxmlformats.org/drawingml/2006/main">
            <a:r>
              <a:t>https://life.ru/t/dmitriygudkov</a:t>
            </a:r>
          </a:p>
          <a:p xmlns:a="http://schemas.openxmlformats.org/drawingml/2006/main">
            <a:r>
              <a:t>https://uk.wikipedia.org/wiki/%D0%93%D1%83%D0%B4%D0%BA%D0%BE%D0%B2_%D0%94%D0%BC%D0%B8%D1%82%D1%80%D1%96%D0%B9_%D0%93%D0%B5%D0%BD%D0%B0%D0%B4%D1%96%D0%B9%D0%BE%D0%B2%D0%B8%D1%87</a:t>
            </a:r>
          </a:p>
          <a:p xmlns:a="http://schemas.openxmlformats.org/drawingml/2006/main">
            <a:r>
              <a:t>https://mt.gazeta.ru/blog/43692366076/Syin-byivshego-deputata-Gosdumyi-Dmitriya-Gudkova-pokonchil-s-so?utm_referrer=mirtesen.ru</a:t>
            </a:r>
          </a:p>
          <a:p xmlns:a="http://schemas.openxmlformats.org/drawingml/2006/main">
            <a:r>
              <a:t>https://www.bbc.com/russian/news-57381443</a:t>
            </a:r>
          </a:p>
          <a:p xmlns:a="http://schemas.openxmlformats.org/drawingml/2006/main">
            <a:r>
              <a:t>https://www.themoscowtimes.com/2021/06/06/kremlin-critic-dmitry-gudkov-flees-to-ukraine-a74123</a:t>
            </a:r>
          </a:p>
          <a:p xmlns:a="http://schemas.openxmlformats.org/drawingml/2006/main">
            <a:r>
              <a:t>https://www.yabloko.ru/publikatsii/2016/09/15</a:t>
            </a:r>
          </a:p>
          <a:p xmlns:a="http://schemas.openxmlformats.org/drawingml/2006/main">
            <a:r>
              <a:t>https://novayagazeta.ru/articles/2018/03/21/75886-ya-privyk-lyudyam-verit</a:t>
            </a:r>
          </a:p>
          <a:p xmlns:a="http://schemas.openxmlformats.org/drawingml/2006/main">
            <a:r>
              <a:t>https://www.rbc.ru/politics/15/03/2018/5aaa98049a7947d12d63f1e1</a:t>
            </a:r>
          </a:p>
          <a:p xmlns:a="http://schemas.openxmlformats.org/drawingml/2006/main">
            <a:r>
              <a:t>https://rus.team/people/gudkov-dmitrij-gennadevich</a:t>
            </a:r>
          </a:p>
          <a:p xmlns:a="http://schemas.openxmlformats.org/drawingml/2006/main">
            <a:r>
              <a:t>https://www.azattyqasia.org/a/chto-proiskhodit-v-donbasse-/31863310/lbl0lbi299676.html</a:t>
            </a:r>
          </a:p>
          <a:p xmlns:a="http://schemas.openxmlformats.org/drawingml/2006/main">
            <a:r>
              <a:t>https://www.dw.com/ru/dmitrij-gudkov-putin-na-storone-partii-vojny-no-pri-etom-on-trus-21092022/video-63193199</a:t>
            </a:r>
          </a:p>
          <a:p xmlns:a="http://schemas.openxmlformats.org/drawingml/2006/main">
            <a:r>
              <a:t>https://ru.wikinews.org/wiki/%D0%9A%D0%B0%D1%82%D0%B5%D0%B3%D0%BE%D1%80%D0%B8%D1%8F:%D0%93%D0%B5%D0%BD%D0%BD%D0%B0%D0%B4%D0%B8%D0%B9_%D0%93%D1%83%D0%B4%D0%BA%D0%BE%D0%B2</a:t>
            </a:r>
          </a:p>
          <a:p xmlns:a="http://schemas.openxmlformats.org/drawingml/2006/main">
            <a:r>
              <a:t>https://en.wikipedia.org/wiki/Gennady_Gudkov</a:t>
            </a:r>
          </a:p>
          <a:p xmlns:a="http://schemas.openxmlformats.org/drawingml/2006/main">
            <a:r>
              <a:t>https://x.com/gudkov_g</a:t>
            </a:r>
          </a:p>
          <a:p xmlns:a="http://schemas.openxmlformats.org/drawingml/2006/main">
            <a:r>
              <a:t>https://www.dw.com/ru/chto-dmitrij-gudkov-nameren-delat-v-ukraine-i-vernetsja-li-v-rossiju/a-57830619</a:t>
            </a:r>
          </a:p>
          <a:p xmlns:a="http://schemas.openxmlformats.org/drawingml/2006/main">
            <a:r>
              <a:t>https://ru.wikipedia.org/wiki/%D0%93%D1%83%D0%B4%D0%BA%D0%BE%D0%B2,_%D0%93%D0%B5%D0%BD%D0%BD%D0%B0%D0%B4%D0%B8%D0%B9_%D0%92%D0%BB%D0%B0%D0%B4%D0%B8%D0%BC%D0%B8%D1%80%D0%BE%D0%B2%D0%B8%D1%87</a:t>
            </a:r>
          </a:p>
          <a:p xmlns:a="http://schemas.openxmlformats.org/drawingml/2006/main">
            <a:r>
              <a:t>https://ru.wikipedia.org/wiki/%D0%93%D1%83%D0%B4%D0%BA%D0%BE%D0%B2,_%D0%94%D0%BC%D0%B8%D1%82%D1%80%D0%B8%D0%B9_%D0%93%D0%B5%D0%BD%D0%BD%D0%B0%D0%B4%D1%8C%D0%B5%D0%B2%D0%B8%D1%87</a:t>
            </a:r>
          </a:p>
          <a:p xmlns:a="http://schemas.openxmlformats.org/drawingml/2006/main">
            <a:r>
              <a:t>https://utro02.tv/2022/10/31/navstrechu-sezdu-gennadij-gudkov-o-vyborah-obedinenii-oppoziczii-i-razdelenii-vlasti/</a:t>
            </a:r>
          </a:p>
          <a:p xmlns:a="http://schemas.openxmlformats.org/drawingml/2006/main">
            <a:r>
              <a:t>https://www.unian.net/war/rossiyskiy-oppozicioner-gudkov-putin-nachinaet-ponimat-chto-nastupaet-zh-pa-12031263.html</a:t>
            </a:r>
          </a:p>
          <a:p xmlns:a="http://schemas.openxmlformats.org/drawingml/2006/main">
            <a:r>
              <a:t>https://bntnews.bg/genadiy-gudkov-86846tag.html</a:t>
            </a:r>
          </a:p>
          <a:p xmlns:a="http://schemas.openxmlformats.org/drawingml/2006/main">
            <a:r>
              <a:t>https://tass.ru/encyclopedia/person/gudkov-dmitriy-gennadevich</a:t>
            </a:r>
          </a:p>
          <a:p xmlns:a="http://schemas.openxmlformats.org/drawingml/2006/main">
            <a:r>
              <a:t>https://www.kasparov.com/garry-kasparov-on-putin-and-the-virus-of-imperialism-wsj-free-expression-april-11-2022/</a:t>
            </a:r>
          </a:p>
          <a:p xmlns:a="http://schemas.openxmlformats.org/drawingml/2006/main">
            <a:r>
              <a:t>https://www.ilmessaggero.it/en/garry_kasparov_from_chess_champion_to_kremlin_critic-9797261.html</a:t>
            </a:r>
          </a:p>
          <a:p xmlns:a="http://schemas.openxmlformats.org/drawingml/2006/main">
            <a:r>
              <a:t>https://www.kasparov.com/category/russia/</a:t>
            </a:r>
          </a:p>
          <a:p xmlns:a="http://schemas.openxmlformats.org/drawingml/2006/main">
            <a:r>
              <a:t>https://www.kasparov.com/category/politics/</a:t>
            </a:r>
          </a:p>
          <a:p xmlns:a="http://schemas.openxmlformats.org/drawingml/2006/main">
            <a:r>
              <a:t>https://en.wikipedia.org/wiki/Political_views_of_Garry_Kasparov</a:t>
            </a:r>
          </a:p>
          <a:p xmlns:a="http://schemas.openxmlformats.org/drawingml/2006/main">
            <a:r>
              <a:t>https://www.dw.com/ru/kasparov-v-intervu-dw-vse-cto-delal-delaet-i-budet-delat-tramp-pomogaet-putinu/a-79633734</a:t>
            </a:r>
          </a:p>
          <a:p xmlns:a="http://schemas.openxmlformats.org/drawingml/2006/main">
            <a:r>
              <a:t>https://www.kasparov.com/</a:t>
            </a:r>
          </a:p>
          <a:p xmlns:a="http://schemas.openxmlformats.org/drawingml/2006/main">
            <a:r>
              <a:t>https://www.kasparov.com/a-conversation-with-garry-kasparov-thought-economics-with-vikas-shas-may-21-2017/</a:t>
            </a:r>
          </a:p>
          <a:p xmlns:a="http://schemas.openxmlformats.org/drawingml/2006/main">
            <a:r>
              <a:t>https://www.kasparov.com/new-yorker-interview-the-chess-grandmaster-and-political-activist-on-putin-trump-and-how-we-are-living-again-through-the-eighteen-fifties/</a:t>
            </a:r>
          </a:p>
          <a:p xmlns:a="http://schemas.openxmlformats.org/drawingml/2006/main">
            <a:r>
              <a:t>https://www.cnbc.com/2017/02/13/the-full-interview-with-former-world-chess-champion-garry-kasparov-on-trump-putin.html</a:t>
            </a:r>
          </a:p>
          <a:p xmlns:a="http://schemas.openxmlformats.org/drawingml/2006/main">
            <a:r>
              <a:t>https://www.reuters.com/world/europe/kasparov-calls-world-powers-throw-russia-back-into-stone-age-2022-03-03/</a:t>
            </a:r>
          </a:p>
          <a:p xmlns:a="http://schemas.openxmlformats.org/drawingml/2006/main">
            <a:r>
              <a:t>https://khodorkovsky.com/open-russia-manifesto/</a:t>
            </a:r>
          </a:p>
          <a:p xmlns:a="http://schemas.openxmlformats.org/drawingml/2006/main">
            <a:r>
              <a:t>https://khodorkovsky.com/programmes/initiatives/openrussia/</a:t>
            </a:r>
          </a:p>
          <a:p xmlns:a="http://schemas.openxmlformats.org/drawingml/2006/main">
            <a:r>
              <a:t>https://khodorkovsky.com/page/65/?m</a:t>
            </a:r>
          </a:p>
          <a:p xmlns:a="http://schemas.openxmlformats.org/drawingml/2006/main">
            <a:r>
              <a:t>https://khodorkovsky.com/page/80/?m</a:t>
            </a:r>
          </a:p>
          <a:p xmlns:a="http://schemas.openxmlformats.org/drawingml/2006/main">
            <a:r>
              <a:t>https://angliya.com/publication/mihail-hodorkovskiy-ne-priznayu-razdelenie-lyudey-na-osnovanii-politicheskih-vzglyadov/</a:t>
            </a:r>
          </a:p>
          <a:p xmlns:a="http://schemas.openxmlformats.org/drawingml/2006/main">
            <a:r>
              <a:t>https://www.dw.com/ru/mihail-hodorkovski-bojus-jeta-vojna-ne-budet-poslednej/a-61314556</a:t>
            </a:r>
          </a:p>
          <a:p xmlns:a="http://schemas.openxmlformats.org/drawingml/2006/main">
            <a:r>
              <a:t>https://ru.euronews.com/2022/06/21/ru-khodorkovsky-interview</a:t>
            </a:r>
          </a:p>
          <a:p xmlns:a="http://schemas.openxmlformats.org/drawingml/2006/main">
            <a:r>
              <a:t>https://ru.euronews.com/2022/06/23/mikhail-khodorkovsky</a:t>
            </a:r>
          </a:p>
          <a:p xmlns:a="http://schemas.openxmlformats.org/drawingml/2006/main">
            <a:r>
              <a:t>https://poligonmedia.io/mihail-hodorkovskij-putin-ne-pobedil/</a:t>
            </a:r>
          </a:p>
          <a:p xmlns:a="http://schemas.openxmlformats.org/drawingml/2006/main">
            <a:r>
              <a:t>https://www.pap.pl/ru/russian/news/khodorkovskiy-u-putina-est-prichiny-vesti-peregovory-o-prekraschenii-voyny-na-ukraine</a:t>
            </a:r>
          </a:p>
          <a:p xmlns:a="http://schemas.openxmlformats.org/drawingml/2006/main">
            <a:r>
              <a:t>https://milov.org/cat/debates</a:t>
            </a:r>
          </a:p>
          <a:p xmlns:a="http://schemas.openxmlformats.org/drawingml/2006/main">
            <a:r>
              <a:t>https://milov.org/entry/4188</a:t>
            </a:r>
          </a:p>
          <a:p xmlns:a="http://schemas.openxmlformats.org/drawingml/2006/main">
            <a:r>
              <a:t>https://milov.org/cat/international</a:t>
            </a:r>
          </a:p>
          <a:p xmlns:a="http://schemas.openxmlformats.org/drawingml/2006/main">
            <a:r>
              <a:t>https://tvrain.tv/teleshow/amerikanskie_gonki/tramp_vynashivaet_ideju_primiritsja_s_putinym-453802/</a:t>
            </a:r>
          </a:p>
          <a:p xmlns:a="http://schemas.openxmlformats.org/drawingml/2006/main">
            <a:r>
              <a:t>https://www.currenttime.tv/a/vladimir-milov-interview/31505887.html</a:t>
            </a:r>
          </a:p>
          <a:p xmlns:a="http://schemas.openxmlformats.org/drawingml/2006/main">
            <a:r>
              <a:t>https://ovd.info/express-news/2021/07/27/roskomnadzor-potreboval-ot-youtube-zablokirovat-kanaly-troikh-soratnikov</a:t>
            </a:r>
          </a:p>
          <a:p xmlns:a="http://schemas.openxmlformats.org/drawingml/2006/main">
            <a:r>
              <a:t>https://www.dw.com/ru/sud-v-moskve-prigovoril-vladimira-milova-k-8-godam-kolonii/a-67415717</a:t>
            </a:r>
          </a:p>
          <a:p xmlns:a="http://schemas.openxmlformats.org/drawingml/2006/main">
            <a:r>
              <a:t>https://ru.wikipedia.org/wiki/%D0%9C%D0%B8%D0%BB%D0%BE%D0%B2,_%D0%92%D0%BB%D0%B0%D0%B4%D0%B8%D0%BC%D0%B8%D1%80_%D0%A1%D1%82%D0%B0%D0%BD%D0%B8%D1%81%D0%BB%D0%B0%D0%B2%D0%BE%D0%B2%D0%B8%D1%87</a:t>
            </a:r>
          </a:p>
          <a:p xmlns:a="http://schemas.openxmlformats.org/drawingml/2006/main">
            <a:r>
              <a:t>https://gordonua.com/news/worldnews/milov-merkel-molodec-poteryala-vsego-7-8-v-polzu-svezhey-antiimmigrantskoy-partii-na-fone-migrantskogo-krizisa-208758.html</a:t>
            </a:r>
          </a:p>
          <a:p xmlns:a="http://schemas.openxmlformats.org/drawingml/2006/main">
            <a:r>
              <a:t>https://echofm.online/programs/hochu-skazat/hochu-skazat-larina-69</a:t>
            </a:r>
          </a:p>
          <a:p xmlns:a="http://schemas.openxmlformats.org/drawingml/2006/main">
            <a:r>
              <a:t>https://www.hoover.org/plus/research/russian-opposition-and-ukraine-conversation-vladimir-milov</a:t>
            </a:r>
          </a:p>
          <a:p xmlns:a="http://schemas.openxmlformats.org/drawingml/2006/main">
            <a:r>
              <a:t>https://www.golosameriki.com/a/washington-dialogue-russian-opposition-conference/7648250.html</a:t>
            </a:r>
          </a:p>
          <a:p xmlns:a="http://schemas.openxmlformats.org/drawingml/2006/main">
            <a:r>
              <a:t>https://glavred.info/chat/1337-vladimir-milov.html</a:t>
            </a:r>
          </a:p>
          <a:p xmlns:a="http://schemas.openxmlformats.org/drawingml/2006/main">
            <a:r>
              <a:t>https://www.interfax.ru/moscow/669378</a:t>
            </a:r>
          </a:p>
          <a:p xmlns:a="http://schemas.openxmlformats.org/drawingml/2006/main">
            <a:r>
              <a:t>https://tass.ru/politika/6670439</a:t>
            </a:r>
          </a:p>
          <a:p xmlns:a="http://schemas.openxmlformats.org/drawingml/2006/main">
            <a:r>
              <a:t>https://www.rbc.ru/politics/16/07/2019/5d2c8b3b9a794799a7c7d413</a:t>
            </a:r>
          </a:p>
          <a:p xmlns:a="http://schemas.openxmlformats.org/drawingml/2006/main">
            <a:r>
              <a:t>https://www.bbc.com/russian/news-56269079</a:t>
            </a:r>
          </a:p>
          <a:p xmlns:a="http://schemas.openxmlformats.org/drawingml/2006/main">
            <a:r>
              <a:t>https://ovd.info/express-news/2020/12/28/s-yurista-fbk-kotoraya-provela-pochti-dvoe-sutok-v-ivs-pytalis-vzyat</a:t>
            </a:r>
          </a:p>
          <a:p xmlns:a="http://schemas.openxmlformats.org/drawingml/2006/main">
            <a:r>
              <a:t>https://ovd.info/express-news/2021/02/26/prokuratura-utverdila-obvinenie-sobol-po-delu-o-proniknovenii-v-kvartiru</a:t>
            </a:r>
          </a:p>
          <a:p xmlns:a="http://schemas.openxmlformats.org/drawingml/2006/main">
            <a:r>
              <a:t>https://ovd.info/express-news/2020/12/29/protiv-alekseya-navalnogo-vozbudili-ugolovnoe-delo-o-moshennichestve-iz-za</a:t>
            </a:r>
          </a:p>
          <a:p xmlns:a="http://schemas.openxmlformats.org/drawingml/2006/main">
            <a:r>
              <a:t>https://www.currenttime.tv/a/sobol/31723600.html</a:t>
            </a:r>
          </a:p>
          <a:p xmlns:a="http://schemas.openxmlformats.org/drawingml/2006/main">
            <a:r>
              <a:t>https://www.currenttime.tv/interview/episodes/2022/2/26</a:t>
            </a:r>
          </a:p>
          <a:p xmlns:a="http://schemas.openxmlformats.org/drawingml/2006/main">
            <a:r>
              <a:t>https://ochevidcy.com/putin-budet-vorovat-do-groba/</a:t>
            </a:r>
          </a:p>
          <a:p xmlns:a="http://schemas.openxmlformats.org/drawingml/2006/main">
            <a:r>
              <a:t>https://www.svoboda.org/a/32881433.html</a:t>
            </a:r>
          </a:p>
          <a:p xmlns:a="http://schemas.openxmlformats.org/drawingml/2006/main">
            <a:r>
              <a:t>https://echofm.online/programs/idyom-po-zvyozdam/idyom-po-zvezdam-s-lyubovyu-sobol</a:t>
            </a:r>
          </a:p>
          <a:p xmlns:a="http://schemas.openxmlformats.org/drawingml/2006/main">
            <a:r>
              <a:t>https://x.com/SobolLubov</a:t>
            </a:r>
          </a:p>
          <a:p xmlns:a="http://schemas.openxmlformats.org/drawingml/2006/main">
            <a:r>
              <a:t>https://stuki-druki.com/authors/sobol-lubov.php</a:t>
            </a:r>
          </a:p>
          <a:p xmlns:a="http://schemas.openxmlformats.org/drawingml/2006/main">
            <a:r>
              <a:t>https://www.interfax.ru/elections2018/593143</a:t>
            </a:r>
          </a:p>
          <a:p xmlns:a="http://schemas.openxmlformats.org/drawingml/2006/main">
            <a:r>
              <a:t>https://elections2018.tass.ru/candidate/sobchak</a:t>
            </a:r>
          </a:p>
          <a:p xmlns:a="http://schemas.openxmlformats.org/drawingml/2006/main">
            <a:r>
              <a:t>https://www.interfax.ru/elections2018/604186</a:t>
            </a:r>
          </a:p>
          <a:p xmlns:a="http://schemas.openxmlformats.org/drawingml/2006/main">
            <a:r>
              <a:t>https://www.interfax.ru/elections2018/604908</a:t>
            </a:r>
          </a:p>
          <a:p xmlns:a="http://schemas.openxmlformats.org/drawingml/2006/main">
            <a:r>
              <a:t>https://www.consultant.ru/law/hotdocs/53066.html</a:t>
            </a:r>
          </a:p>
          <a:p xmlns:a="http://schemas.openxmlformats.org/drawingml/2006/main">
            <a:r>
              <a:t>https://www.rbc.ru/newspaper/2018/03/20/5aae9ca49a794739b02918a0</a:t>
            </a:r>
          </a:p>
          <a:p xmlns:a="http://schemas.openxmlformats.org/drawingml/2006/main">
            <a:r>
              <a:t>https://www.interfax.ru/elections2018/604136</a:t>
            </a:r>
          </a:p>
          <a:p xmlns:a="http://schemas.openxmlformats.org/drawingml/2006/main">
            <a:r>
              <a:t>https://www.interfax.ru/elections2018/604190</a:t>
            </a:r>
          </a:p>
          <a:p xmlns:a="http://schemas.openxmlformats.org/drawingml/2006/main">
            <a:r>
              <a:t>https://www.rbc.ru/economics/25/12/2017/5a4025f19a79472e3f5f4ad9?from=right_column_materials_3</a:t>
            </a:r>
          </a:p>
          <a:p xmlns:a="http://schemas.openxmlformats.org/drawingml/2006/main">
            <a:r>
              <a:t>https://news.ru/show-business/otezd-iz-rf-vybory-svo-v-chem-priznalas-kseniya-sobchak-v-novom-intervyu</a:t>
            </a:r>
          </a:p>
          <a:p xmlns:a="http://schemas.openxmlformats.org/drawingml/2006/main">
            <a:r>
              <a:t>https://rtvi.com/news/sobchak-otvetila-na-vopros-putin-ili-zelenskij/</a:t>
            </a:r>
          </a:p>
          <a:p xmlns:a="http://schemas.openxmlformats.org/drawingml/2006/main">
            <a:r>
              <a:t>https://informator.ua/ru/kompromissy-iz-rf-legitimnost-zelenskogo-i-gotovnost-pozhat-ruku-putinu-o-chem-govoril-arestovich-v-intervyu-sobchak</a:t>
            </a:r>
          </a:p>
          <a:p xmlns:a="http://schemas.openxmlformats.org/drawingml/2006/main">
            <a:r>
              <a:t>https://rassvet-party.info/</a:t>
            </a:r>
          </a:p>
          <a:p xmlns:a="http://schemas.openxmlformats.org/drawingml/2006/main">
            <a:r>
              <a:t>https://en.wikipedia.org/wiki/Yekaterina_Duntsova</a:t>
            </a:r>
          </a:p>
          <a:p xmlns:a="http://schemas.openxmlformats.org/drawingml/2006/main">
            <a:r>
              <a:t>https://www.dw.com/ru/cto-nuzno-znat-o-ekaterine-duncovoj-kotoraa-hocet-stat-prezidentom-rf/a-67832425</a:t>
            </a:r>
          </a:p>
          <a:p xmlns:a="http://schemas.openxmlformats.org/drawingml/2006/main">
            <a:r>
              <a:t>https://baj.media/ru/ya-gotova-idti-do-konca-zhurnalistka-iz-rossiyskoy-provincii-reshila-stat-prezidentom-i-2/</a:t>
            </a:r>
          </a:p>
          <a:p xmlns:a="http://schemas.openxmlformats.org/drawingml/2006/main">
            <a:r>
              <a:t>https://echofm.online/portret-dnya/portret-dnya-ekaterina-dunczova-reshivshaya-vydvinutsya-kandidatom-v-prezidenty-rossii-zhurnalistka-iz-rzheva</a:t>
            </a:r>
          </a:p>
          <a:p xmlns:a="http://schemas.openxmlformats.org/drawingml/2006/main">
            <a:r>
              <a:t>https://novayagazeta.eu/articles/2024/03/15/zlost-i-nenavist-vsem-nadoeli</a:t>
            </a:r>
          </a:p>
          <a:p xmlns:a="http://schemas.openxmlformats.org/drawingml/2006/main">
            <a:r>
              <a:t>https://altapress.ru/politika/story/kto-takaya-ekaterina-duntsova-kotoraya-sobiraetsya-stat-poslednim-prezidentom-rossii-i-kto-eshche-hochet-ballotirovatsya-336526</a:t>
            </a:r>
          </a:p>
          <a:p xmlns:a="http://schemas.openxmlformats.org/drawingml/2006/main">
            <a:r>
              <a:t>https://cherta.media/interview/ekaterina-duncova-kandidat-v-prezidenty/</a:t>
            </a:r>
          </a:p>
          <a:p xmlns:a="http://schemas.openxmlformats.org/drawingml/2006/main">
            <a:r>
              <a:t>https://novayagazeta.eu/articles/2023/12/05/zachem-ia-budu-stoiat-na-barrikadakh-esli-mogu-zanimatsia-realnymi-delami</a:t>
            </a:r>
          </a:p>
          <a:p xmlns:a="http://schemas.openxmlformats.org/drawingml/2006/main">
            <a:r>
              <a:t>https://holod.media/2023/12/20/ekaterina-duntsova-view/</a:t>
            </a:r>
          </a:p>
          <a:p xmlns:a="http://schemas.openxmlformats.org/drawingml/2006/main">
            <a:r>
              <a:t>https://www.dw.com/ru/ekaterina-duncova-o-sozdanii-partii-rassvet-my-mezdu-dvuh-ognej/a-68992724</a:t>
            </a:r>
          </a:p>
          <a:p xmlns:a="http://schemas.openxmlformats.org/drawingml/2006/main">
            <a:r>
              <a:t>https://rassvet-party.info/static/program.pdf</a:t>
            </a:r>
          </a:p>
          <a:p xmlns:a="http://schemas.openxmlformats.org/drawingml/2006/main">
            <a:r>
              <a:t>https://www.currenttime.tv/a/ekaterina-duntsova-o-sozdanii-partii-i-svoem-zaderzhanii/32775510.html</a:t>
            </a:r>
          </a:p>
          <a:p xmlns:a="http://schemas.openxmlformats.org/drawingml/2006/main">
            <a:r>
              <a:t>https://duntsovainitiative.1c-umi.ru/galereya/</a:t>
            </a:r>
          </a:p>
          <a:p xmlns:a="http://schemas.openxmlformats.org/drawingml/2006/main">
            <a:r>
              <a:t>https://rassvet-party.info/static/manifest.pdf</a:t>
            </a:r>
          </a:p>
          <a:p xmlns:a="http://schemas.openxmlformats.org/drawingml/2006/main">
            <a:r>
              <a:t>https://www.rbc.ru/person/65afb4a99a79470e434da73d</a:t>
            </a:r>
          </a:p>
          <a:p xmlns:a="http://schemas.openxmlformats.org/drawingml/2006/main">
            <a:r>
              <a:t>https://www.bbc.com/russian/articles/c84npr0wxx9o</a:t>
            </a:r>
          </a:p>
          <a:p xmlns:a="http://schemas.openxmlformats.org/drawingml/2006/main">
            <a:r>
              <a:t>https://www.rbc.ru/politics/08/02/2024/65c3749b9a79479ef5fe7934</a:t>
            </a:r>
          </a:p>
          <a:p xmlns:a="http://schemas.openxmlformats.org/drawingml/2006/main">
            <a:r>
              <a:t>https://www.business-gazeta.ru/article/622600</a:t>
            </a:r>
          </a:p>
          <a:p xmlns:a="http://schemas.openxmlformats.org/drawingml/2006/main">
            <a:r>
              <a:t>https://semnasem.org/articles/2024/02/02/poslednij-sredi-antivoennyh-kto-takoj-boris-nadezhdin-kotoryj-vse-eshe-nadeetsya-stat-prezidentom</a:t>
            </a:r>
          </a:p>
          <a:p xmlns:a="http://schemas.openxmlformats.org/drawingml/2006/main">
            <a:r>
              <a:t>https://novayagazeta.eu/articles/2024/02/03/17-marta-nachalo-kontsa-epokhi-putina</a:t>
            </a:r>
          </a:p>
          <a:p xmlns:a="http://schemas.openxmlformats.org/drawingml/2006/main">
            <a:r>
              <a:t>https://www.youtube.com/watch?v=mGMdgxBCdns</a:t>
            </a:r>
          </a:p>
          <a:p xmlns:a="http://schemas.openxmlformats.org/drawingml/2006/main">
            <a:r>
              <a:t>https://www.dw.com/ru/boris-nadezdin-moj-rejting-rastet-na-5-v-nedelu/a-68154251</a:t>
            </a:r>
          </a:p>
          <a:p xmlns:a="http://schemas.openxmlformats.org/drawingml/2006/main">
            <a:r>
              <a:t>https://ovd.info/express-news/2026/07/17/u-menya-dva-puti-lenina-ili-navalnogo-chto-nuzhno-znat-o-borise-nadezhdine</a:t>
            </a:r>
          </a:p>
          <a:p xmlns:a="http://schemas.openxmlformats.org/drawingml/2006/main">
            <a:r>
              <a:t>https://www.rbc.ru/person/65afb4a99a79470e434da73d?ysclid=mrt22n99to603501119</a:t>
            </a:r>
          </a:p>
          <a:p xmlns:a="http://schemas.openxmlformats.org/drawingml/2006/main">
            <a:r>
              <a:t>https://www.youtube.com/watch?v=UNytg_H_1pY</a:t>
            </a:r>
          </a:p>
          <a:p xmlns:a="http://schemas.openxmlformats.org/drawingml/2006/main">
            <a:r>
              <a:t>https://www.youtube.com/watch?v=DwTC5bilf_8</a:t>
            </a:r>
          </a:p>
          <a:p xmlns:a="http://schemas.openxmlformats.org/drawingml/2006/main">
            <a:r>
              <a:t>https://www.youtube.com/watch?v=sG4_THnT9W0</a:t>
            </a:r>
          </a:p>
          <a:p xmlns:a="http://schemas.openxmlformats.org/drawingml/2006/main">
            <a:r>
              <a:t>https://www.rbc.ru/rbcfreenews/6586cdf49a79479c3cd3d4b3</a:t>
            </a:r>
          </a:p>
          <a:p xmlns:a="http://schemas.openxmlformats.org/drawingml/2006/main">
            <a:r>
              <a:t>https://kprf.ru/activity/elections/223485.html/print</a:t>
            </a:r>
          </a:p>
          <a:p xmlns:a="http://schemas.openxmlformats.org/drawingml/2006/main">
            <a:r>
              <a:t>http://msk.kprf.ru/2024/01/24/247473/</a:t>
            </a:r>
          </a:p>
          <a:p xmlns:a="http://schemas.openxmlformats.org/drawingml/2006/main">
            <a:r>
              <a:t>https://www.dw.com/ru/vybory-prezidenta-rossii-2024/a-68528003</a:t>
            </a:r>
          </a:p>
          <a:p xmlns:a="http://schemas.openxmlformats.org/drawingml/2006/main">
            <a:r>
              <a:t>https://ru.wikipedia.org/wiki/%D0%A5%D0%B0%D1%80%D0%B8%D1%82%D0%BE%D0%BD%D0%BE%D0%B2,_%D0%9D%D0%B8%D0%BA%D0%BE%D0%BB%D0%B0%D0%B9_%D0%9C%D0%B8%D1%85%D0%B0%D0%B9%D0%BB%D0%BE%D0%B2%D0%B8%D1%87</a:t>
            </a:r>
          </a:p>
          <a:p xmlns:a="http://schemas.openxmlformats.org/drawingml/2006/main">
            <a:r>
              <a:t>https://kprf.ru/party-live/cknews/225170.html</a:t>
            </a:r>
          </a:p>
          <a:p xmlns:a="http://schemas.openxmlformats.org/drawingml/2006/main">
            <a:r>
              <a:t>https://kprf.ru/dep/gosduma/activities/232802.html</a:t>
            </a:r>
          </a:p>
          <a:p xmlns:a="http://schemas.openxmlformats.org/drawingml/2006/main">
            <a:r>
              <a:t>https://kprf35.com/2024/02/17/32710/</a:t>
            </a:r>
          </a:p>
          <a:p xmlns:a="http://schemas.openxmlformats.org/drawingml/2006/main">
            <a:r>
              <a:t>https://www.pkokprf.ru/news/view/35448</a:t>
            </a:r>
          </a:p>
          <a:p xmlns:a="http://schemas.openxmlformats.org/drawingml/2006/main">
            <a:r>
              <a:t>https://altkprf.ru/upload/iblock/eea/jiv0wm7hzk6gq4qdxw0r5wvp7zwb6luk.pdf</a:t>
            </a:r>
          </a:p>
          <a:p xmlns:a="http://schemas.openxmlformats.org/drawingml/2006/main">
            <a:r>
              <a:t>https://kprf.ru/activity/army/224789.html</a:t>
            </a:r>
          </a:p>
          <a:p xmlns:a="http://schemas.openxmlformats.org/drawingml/2006/main">
            <a:r>
              <a:t>https://gazeta-pravda.ru/issue/24-31517-711-marta-2024-goda-/alternativa-polupravde/</a:t>
            </a:r>
          </a:p>
          <a:p xmlns:a="http://schemas.openxmlformats.org/drawingml/2006/main">
            <a:r>
              <a:t>https://spbpalata.ru/?p=13755</a:t>
            </a:r>
          </a:p>
          <a:p xmlns:a="http://schemas.openxmlformats.org/drawingml/2006/main">
            <a:r>
              <a:t>https://kprf.ru/activity/elections/171941.html</a:t>
            </a:r>
          </a:p>
          <a:p xmlns:a="http://schemas.openxmlformats.org/drawingml/2006/main">
            <a:r>
              <a:t>https://kprf.ru/party-live/cknews/171994.html</a:t>
            </a:r>
          </a:p>
          <a:p xmlns:a="http://schemas.openxmlformats.org/drawingml/2006/main">
            <a:r>
              <a:t>https://elections2018.tass.ru/candidate/grudinin</a:t>
            </a:r>
          </a:p>
          <a:p xmlns:a="http://schemas.openxmlformats.org/drawingml/2006/main">
            <a:r>
              <a:t>https://www.bbc.com/russian/features-43105617</a:t>
            </a:r>
          </a:p>
          <a:p xmlns:a="http://schemas.openxmlformats.org/drawingml/2006/main">
            <a:r>
              <a:t>https://www.rbc.ru/politics/24/07/2021/60fbe35b9a794716f25253a0</a:t>
            </a:r>
          </a:p>
          <a:p xmlns:a="http://schemas.openxmlformats.org/drawingml/2006/main">
            <a:r>
              <a:t>https://kprf.ru/dep/reg/204410.html</a:t>
            </a:r>
          </a:p>
          <a:p xmlns:a="http://schemas.openxmlformats.org/drawingml/2006/main">
            <a:r>
              <a:t>https://msk.kprf.ru/2021/09/16/168273/</a:t>
            </a:r>
          </a:p>
          <a:p xmlns:a="http://schemas.openxmlformats.org/drawingml/2006/main">
            <a:r>
              <a:t>https://svpressa.ru/persons/pavel-grudinin/</a:t>
            </a:r>
          </a:p>
          <a:p xmlns:a="http://schemas.openxmlformats.org/drawingml/2006/main">
            <a:r>
              <a:t>https://carnegieendowment.org/ru/russia-eurasia/posts/2018/02/kuda-privedut-ekonomiku-rossii-20-shagov-grudinina</a:t>
            </a:r>
          </a:p>
          <a:p xmlns:a="http://schemas.openxmlformats.org/drawingml/2006/main">
            <a:r>
              <a:t>https://www.kompas-rf.ru/2018/01/2980/</a:t>
            </a:r>
          </a:p>
          <a:p xmlns:a="http://schemas.openxmlformats.org/drawingml/2006/main">
            <a:r>
              <a:t>https://www.svoboda.org/a/30073365.html</a:t>
            </a:r>
          </a:p>
          <a:p xmlns:a="http://schemas.openxmlformats.org/drawingml/2006/main">
            <a:r>
              <a:t>https://kandidativprezidenti.ru/programma-grudinina-2018/</a:t>
            </a:r>
          </a:p>
          <a:p xmlns:a="http://schemas.openxmlformats.org/drawingml/2006/main">
            <a:r>
              <a:t>https://mbk-news.appspot.com/suzhet/za-lenina-i-protiv-ege/</a:t>
            </a:r>
          </a:p>
          <a:p xmlns:a="http://schemas.openxmlformats.org/drawingml/2006/main">
            <a:r>
              <a:t>https://www.amnesty.org/ru/latest/research/2021/06/zayavlenie-rossijskaya-federacziya-obvinitelnyj-prigovor-nikolayu-platoshkinu-dolzhen-byt-otmenyon/</a:t>
            </a:r>
          </a:p>
          <a:p xmlns:a="http://schemas.openxmlformats.org/drawingml/2006/main">
            <a:r>
              <a:t>https://zona.media/article/2021/05/20/nikolay-nikolaevitch</a:t>
            </a:r>
          </a:p>
          <a:p xmlns:a="http://schemas.openxmlformats.org/drawingml/2006/main">
            <a:r>
              <a:t>https://novayagazeta.ru/articles/2020/06/05/85705-sotsialisticheskiy-prizyv</a:t>
            </a:r>
          </a:p>
          <a:p xmlns:a="http://schemas.openxmlformats.org/drawingml/2006/main">
            <a:r>
              <a:t>https://www.revda-info.ru/2020/08/26/v-revde-poyavilos-otdelenie-dvizheniya-za-novyj-sotsializm-ego-lider-sejchas-pod-arestom</a:t>
            </a:r>
          </a:p>
          <a:p xmlns:a="http://schemas.openxmlformats.org/drawingml/2006/main">
            <a:r>
              <a:t>https://new-socialism.org/o-dvizhenii/programma/</a:t>
            </a:r>
          </a:p>
          <a:p xmlns:a="http://schemas.openxmlformats.org/drawingml/2006/main">
            <a:r>
              <a:t>https://new-socialism.org/o-dvizhenii/lider/</a:t>
            </a:r>
          </a:p>
          <a:p xmlns:a="http://schemas.openxmlformats.org/drawingml/2006/main">
            <a:r>
              <a:t>https://www.themoscowtimes.com/2024/01/19/ilya-ponomaryov-we-have-to-capture-the-kremlin-there-is-no-other-way-a83772</a:t>
            </a:r>
          </a:p>
          <a:p xmlns:a="http://schemas.openxmlformats.org/drawingml/2006/main">
            <a:r>
              <a:t>https://www.dw.com/ru/cto-izvestno-o-rossijskih-podrazdeleniah-v-sostave-vsu/a-63915634</a:t>
            </a:r>
          </a:p>
          <a:p xmlns:a="http://schemas.openxmlformats.org/drawingml/2006/main">
            <a:r>
              <a:t>https://www.svoboda.org/a/32321226.html</a:t>
            </a:r>
          </a:p>
          <a:p xmlns:a="http://schemas.openxmlformats.org/drawingml/2006/main">
            <a:r>
              <a:t>https://hromadske.ua/ru/posts/nasha-cel-moskva-my-dolzhny-sbrosit-putina-rossijskie-partizany-mif-ili-pravda</a:t>
            </a:r>
          </a:p>
          <a:p xmlns:a="http://schemas.openxmlformats.org/drawingml/2006/main">
            <a:r>
              <a:t>https://epravda.com.ua/rus/publications/2018/06/11/637572/</a:t>
            </a:r>
          </a:p>
          <a:p xmlns:a="http://schemas.openxmlformats.org/drawingml/2006/main">
            <a:r>
              <a:t>https://pointmedia.io/story/672b355fdc48800406e0f515</a:t>
            </a:r>
          </a:p>
          <a:p xmlns:a="http://schemas.openxmlformats.org/drawingml/2006/main">
            <a:r>
              <a:t>https://ru.wikipedia.org/wiki/%D0%9B%D0%B5%D0%B3%D0%B8%D0%BE%D0%BD_%C2%AB%D0%A1%D0%B2%D0%BE%D0%B1%D0%BE%D0%B4%D0%B0_%D0%A0%D0%BE%D1%81%D1%81%D0%B8%D0%B8%C2%BB</a:t>
            </a:r>
          </a:p>
          <a:p xmlns:a="http://schemas.openxmlformats.org/drawingml/2006/main">
            <a:r>
              <a:t>https://ru.wikipedia.org/wiki/%D0%9F%D0%BE%D0%BD%D0%BE%D0%BC%D0%B0%D1%80%D1%91%D0%B2,_%D0%98%D0%BB%D1%8C%D1%8F_%D0%92%D0%BB%D0%B0%D0%B4%D0%B8%D0%BC%D0%B8%D1%80%D0%BE%D0%B2%D0%B8%D1%87</a:t>
            </a:r>
          </a:p>
          <a:p xmlns:a="http://schemas.openxmlformats.org/drawingml/2006/main">
            <a:r>
              <a:t>https://russophob.ru/person/ponomarev_ilya_vladimirovich</a:t>
            </a:r>
          </a:p>
          <a:p xmlns:a="http://schemas.openxmlformats.org/drawingml/2006/main">
            <a:r>
              <a:t>https://www.svoboda.org/a/32063164.html</a:t>
            </a:r>
          </a:p>
          <a:p xmlns:a="http://schemas.openxmlformats.org/drawingml/2006/main">
            <a:r>
              <a:t>https://www.kpbs.org/news/news/international/2023/03/26/a-scrappy-newscast-in-kyiv-aimed-at-russians-counters-putins-propaganda-machine</a:t>
            </a:r>
          </a:p>
          <a:p xmlns:a="http://schemas.openxmlformats.org/drawingml/2006/main">
            <a:r>
              <a:t>https://ovd.info/express-news/2022/10/02/politik-leonid-gozman-uekhal-iz-rossii-posle-dvukh-administrativnykh</a:t>
            </a:r>
          </a:p>
          <a:p xmlns:a="http://schemas.openxmlformats.org/drawingml/2006/main">
            <a:r>
              <a:t>https://ovd.info/express-news/2022/08/30/politika-leonida-gozmana-arestovali-na-15-sutok-iz-za-posta-v-feysbuke</a:t>
            </a:r>
          </a:p>
          <a:p xmlns:a="http://schemas.openxmlformats.org/drawingml/2006/main">
            <a:r>
              <a:t>https://www.rbc.ru/politics/15/07/2022/62d1b3f39a7947299cdeb6a4</a:t>
            </a:r>
          </a:p>
          <a:p xmlns:a="http://schemas.openxmlformats.org/drawingml/2006/main">
            <a:r>
              <a:t>https://novayagazeta.eu/articles/2022/07/15/sk-doprosil-politika-leonida-gozmana-kak-podozrevaemogo-po-delu-o-neuvedomlenii-o-vtorom-grazhdanstve-news</a:t>
            </a:r>
          </a:p>
          <a:p xmlns:a="http://schemas.openxmlformats.org/drawingml/2006/main">
            <a:r>
              <a:t>https://www.rbc.ru/politics/15/02/2024/65cdc9e09a7947a2995026fa</a:t>
            </a:r>
          </a:p>
          <a:p xmlns:a="http://schemas.openxmlformats.org/drawingml/2006/main">
            <a:r>
              <a:t>https://ovd.info/express-news/2025/01/22/leonida-gozmana-i-rovshana-askerova-vnesli-v-reestr-terroristov-i</a:t>
            </a:r>
          </a:p>
          <a:p xmlns:a="http://schemas.openxmlformats.org/drawingml/2006/main">
            <a:r>
              <a:t>https://www.rbc.ru/opinion-authors/gozman</a:t>
            </a:r>
          </a:p>
          <a:p xmlns:a="http://schemas.openxmlformats.org/drawingml/2006/main">
            <a:r>
              <a:t>https://novayagazeta.eu/articles/2022/07/25/ovd-info-v-moskve-zaderzhali-politika-leonida-gozmana-news</a:t>
            </a:r>
          </a:p>
          <a:p xmlns:a="http://schemas.openxmlformats.org/drawingml/2006/main">
            <a:r>
              <a:t>https://gefter.ru/archive/23487</a:t>
            </a:r>
          </a:p>
          <a:p xmlns:a="http://schemas.openxmlformats.org/drawingml/2006/main">
            <a:r>
              <a:t>https://www.svoboda.org/a/31147156.html</a:t>
            </a:r>
          </a:p>
          <a:p xmlns:a="http://schemas.openxmlformats.org/drawingml/2006/main">
            <a:r>
              <a:t>https://uatv.ua/gozman-putin-zagnal-rossiyu-v-ugol-sleduyushhij-shag-repressii/</a:t>
            </a:r>
          </a:p>
          <a:p xmlns:a="http://schemas.openxmlformats.org/drawingml/2006/main">
            <a:r>
              <a:t>https://echofm.online/programs/hochu-skazat/hochu-skazat-odin-protiv-vseh-kak-ne-dat-strahu-pobedit-sebya</a:t>
            </a:r>
          </a:p>
          <a:p xmlns:a="http://schemas.openxmlformats.org/drawingml/2006/main">
            <a:r>
              <a:t>https://www.svoboda.org/a/leonid-gozman-russkih-lyudey-neljzya-mazatj-odnoy-chernoy-kraskoy-/32732625.html</a:t>
            </a:r>
          </a:p>
          <a:p xmlns:a="http://schemas.openxmlformats.org/drawingml/2006/main">
            <a:r>
              <a:t>https://novayagazeta.eu/articles/2022/07/18/prepiatstvovat-prosveshcheniiu-liudei-vlast-budet-pulemiotami</a:t>
            </a:r>
          </a:p>
          <a:p xmlns:a="http://schemas.openxmlformats.org/drawingml/2006/main">
            <a:r>
              <a:t>https://www.svoboda.org/a/29652429.html</a:t>
            </a:r>
          </a:p>
          <a:p xmlns:a="http://schemas.openxmlformats.org/drawingml/2006/main">
            <a:r>
              <a:t>https://novayagazeta.eu/articles/2022/04/26/nesobliudenie-rezhima</a:t>
            </a:r>
          </a:p>
          <a:p xmlns:a="http://schemas.openxmlformats.org/drawingml/2006/main">
            <a:r>
              <a:t>https://novayagazeta.eu/articles/2022/07/21/zapiski-ugolovnika</a:t>
            </a:r>
          </a:p>
          <a:p xmlns:a="http://schemas.openxmlformats.org/drawingml/2006/main">
            <a:r>
              <a:t>https://novayagazeta.ru/authors/2349</a:t>
            </a:r>
          </a:p>
          <a:p xmlns:a="http://schemas.openxmlformats.org/drawingml/2006/main">
            <a:r>
              <a:t>https://www.rbc.ru/politics/10/08/2017/598c8d6d9a79474cff05cbab</a:t>
            </a:r>
          </a:p>
          <a:p xmlns:a="http://schemas.openxmlformats.org/drawingml/2006/main">
            <a:r>
              <a:t>https://www.bbc.com/russian/news-40853405</a:t>
            </a:r>
          </a:p>
          <a:p xmlns:a="http://schemas.openxmlformats.org/drawingml/2006/main">
            <a:r>
              <a:t>https://www.rbc.ru/politics/10/08/2017/598c0a8e9a7947569574ba10?from=right_column_materials_1</a:t>
            </a:r>
          </a:p>
          <a:p xmlns:a="http://schemas.openxmlformats.org/drawingml/2006/main">
            <a:r>
              <a:t>https://www.vedomosti.ru/politics/articles/2017/08/10/728820-udaltsov</a:t>
            </a:r>
          </a:p>
          <a:p xmlns:a="http://schemas.openxmlformats.org/drawingml/2006/main">
            <a:r>
              <a:t>https://www.interfax.ru/elections2018/598382</a:t>
            </a:r>
          </a:p>
          <a:p xmlns:a="http://schemas.openxmlformats.org/drawingml/2006/main">
            <a:r>
              <a:t>https://sotaproject.com/article/sergeia-udaltsova-opiat-pytaiutsia-posadit-khotia-on-vsego-lish-prosit-putina-postroit-sotsializm</a:t>
            </a:r>
          </a:p>
          <a:p xmlns:a="http://schemas.openxmlformats.org/drawingml/2006/main">
            <a:r>
              <a:t>https://www.gazeta.ru/tags/person/sergei_udaltsov.shtml</a:t>
            </a:r>
          </a:p>
          <a:p xmlns:a="http://schemas.openxmlformats.org/drawingml/2006/main">
            <a:r>
              <a:t>https://www.kommersant.ru/doc/8317316</a:t>
            </a:r>
          </a:p>
          <a:p xmlns:a="http://schemas.openxmlformats.org/drawingml/2006/main">
            <a:r>
              <a:t>https://www.kommersant.ru/doc/8972418</a:t>
            </a:r>
          </a:p>
          <a:p xmlns:a="http://schemas.openxmlformats.org/drawingml/2006/main">
            <a:r>
              <a:t>https://holod.media/2023/09/12/udaltsov-interview/</a:t>
            </a:r>
          </a:p>
          <a:p xmlns:a="http://schemas.openxmlformats.org/drawingml/2006/main">
            <a:r>
              <a:t>https://meduza.io/feature/2024/01/11/sergey-udaltsov-zaderzhan-po-obvineniyu-v-opravdanii-terrorizma</a:t>
            </a:r>
          </a:p>
          <a:p xmlns:a="http://schemas.openxmlformats.org/drawingml/2006/main">
            <a:r>
              <a:t>https://ref-book.sova-center.ru/index.php/%D0%94%D1%80%D1%83%D0%B3%D0%B0%D1%8F_%D0%A0%D0%BE%D1%81%D1%81%D0%B8%D1%8F,_%D0%BF%D0%B0%D1%80%D1%82%D0%B8%D1%8F</a:t>
            </a:r>
          </a:p>
          <a:p xmlns:a="http://schemas.openxmlformats.org/drawingml/2006/main">
            <a:r>
              <a:t>https://www.rbc.ru/society/17/03/2020/5e71048d9a79473925ab81a7</a:t>
            </a:r>
          </a:p>
          <a:p xmlns:a="http://schemas.openxmlformats.org/drawingml/2006/main">
            <a:r>
              <a:t>https://rt.rbc.ru/society/18/03/2020/5e71acc49a794773553f824e</a:t>
            </a:r>
          </a:p>
          <a:p xmlns:a="http://schemas.openxmlformats.org/drawingml/2006/main">
            <a:r>
              <a:t>https://www.bostonglobe.com/metro/obituaries/2020/03/18/russian-author-political-activist-eduard-limonov-dies/jnjHywBRjVTTgnlsqI12vN/story.html</a:t>
            </a:r>
          </a:p>
          <a:p xmlns:a="http://schemas.openxmlformats.org/drawingml/2006/main">
            <a:r>
              <a:t>https://nsn.fm/society/poslednee-intervu-pisatelya-i-politika-eduarda-limonova</a:t>
            </a:r>
          </a:p>
          <a:p xmlns:a="http://schemas.openxmlformats.org/drawingml/2006/main">
            <a:r>
              <a:t>http://www.grso.ru/person/limonov-eduard.html</a:t>
            </a:r>
          </a:p>
          <a:p xmlns:a="http://schemas.openxmlformats.org/drawingml/2006/main">
            <a:r>
              <a:t>https://ru.wikipedia.org/wiki/%D0%94%D1%80%D1%83%D0%B3%D0%B0%D1%8F_%D0%A0%D0%BE%D1%81%D1%81%D0%B8%D1%8F_%D0%AD._%D0%92._%D0%9B%D0%B8%D0%BC%D0%BE%D0%BD%D0%BE%D0%B2%D0%B0</a:t>
            </a:r>
          </a:p>
          <a:p xmlns:a="http://schemas.openxmlformats.org/drawingml/2006/main">
            <a:r>
              <a:t>https://novayagazeta.ru/articles/2017/03/12/71752-puteshestvie-natsbolov-k-putinu-i-obratno</a:t>
            </a:r>
          </a:p>
          <a:p xmlns:a="http://schemas.openxmlformats.org/drawingml/2006/main">
            <a:r>
              <a:t>https://mediabrest.by/news/lyudi/umer-eduard-limonov-chem-zapomnilsya-pisatel</a:t>
            </a:r>
          </a:p>
          <a:p xmlns:a="http://schemas.openxmlformats.org/drawingml/2006/main">
            <a:r>
              <a:t>https://www.limonow.de/read/EL_2013-2018_T.html</a:t>
            </a:r>
          </a:p>
          <a:p xmlns:a="http://schemas.openxmlformats.org/drawingml/2006/main">
            <a:r>
              <a:t>https://www.infpol.ru/203662-ot-ubezhdennogo-antisovetchika-do-kolumnista-rt/</a:t>
            </a:r>
          </a:p>
          <a:p xmlns:a="http://schemas.openxmlformats.org/drawingml/2006/main">
            <a:r>
              <a:t>https://www.bbc.com/russian/articles/c2eg90d7gg9o</a:t>
            </a:r>
          </a:p>
          <a:p xmlns:a="http://schemas.openxmlformats.org/drawingml/2006/main">
            <a:r>
              <a:t>https://www.dw.com/ru/mosgorsud-prigovoril-igora-girkina-strelkova-k-4-godam-kolonii/a-68080937</a:t>
            </a:r>
          </a:p>
          <a:p xmlns:a="http://schemas.openxmlformats.org/drawingml/2006/main">
            <a:r>
              <a:t>https://www.fontanka.ru/2023/07/21/72520253</a:t>
            </a:r>
          </a:p>
          <a:p xmlns:a="http://schemas.openxmlformats.org/drawingml/2006/main">
            <a:r>
              <a:t>https://www.svoboda.org/a/strelkov-iz-sizo-opasayusj-amnistii-kak-u-prigozhina-/32722083.html</a:t>
            </a:r>
          </a:p>
          <a:p xmlns:a="http://schemas.openxmlformats.org/drawingml/2006/main">
            <a:r>
              <a:t>https://ru.themoscowtimes.com/2023/12/07/girkin-zayavil-chto-opasaetsya-povtorit-sudbu-prigozhina-a115592</a:t>
            </a:r>
          </a:p>
          <a:p xmlns:a="http://schemas.openxmlformats.org/drawingml/2006/main">
            <a:r>
              <a:t>https://ru.krymr.com/a/boing-mn17-10-let-podozrevayemyye-obvinyayemyye-vinovnyye/33040170.html</a:t>
            </a:r>
          </a:p>
          <a:p xmlns:a="http://schemas.openxmlformats.org/drawingml/2006/main">
            <a:r>
              <a:t>https://charter97.org/ru/news/2023/7/22/556802/</a:t>
            </a:r>
          </a:p>
          <a:p xmlns:a="http://schemas.openxmlformats.org/drawingml/2006/main">
            <a:r>
              <a:t>https://t.me/s/pgubarev?after=622</a:t>
            </a:r>
          </a:p>
          <a:p xmlns:a="http://schemas.openxmlformats.org/drawingml/2006/main">
            <a:r>
              <a:t>https://rabkor.ru/columns/debates/2023/05/23/angry_patriots_of_an_imaginary_country/</a:t>
            </a:r>
          </a:p>
          <a:p xmlns:a="http://schemas.openxmlformats.org/drawingml/2006/main">
            <a:r>
              <a:t>https://www.bbc.com/news/world-60947877</a:t>
            </a:r>
          </a:p>
          <a:p xmlns:a="http://schemas.openxmlformats.org/drawingml/2006/main">
            <a:r>
              <a:t>https://www.reuters.com/world/europe/russian-mercenary-boss-courts-putin-with-ukrainian-battlefield-success-2023-01-13/</a:t>
            </a:r>
          </a:p>
          <a:p xmlns:a="http://schemas.openxmlformats.org/drawingml/2006/main">
            <a:r>
              <a:t>https://www.reuters.com/world/europe/russias-wagner-mercenaries-halt-prisoner-recruitment-campaign-founder-prigozhin-2023-02-09/</a:t>
            </a:r>
          </a:p>
          <a:p xmlns:a="http://schemas.openxmlformats.org/drawingml/2006/main">
            <a:r>
              <a:t>https://www.reuters.com/investigates/special-report/ukraine-crisis-russia-wagner/</a:t>
            </a:r>
          </a:p>
          <a:p xmlns:a="http://schemas.openxmlformats.org/drawingml/2006/main">
            <a:r>
              <a:t>https://www.reuters.com/world/europe/russias-wagner-chief-prigozhin-says-ukraine-counteroffensive-already-under-way-2023-05-03/</a:t>
            </a:r>
          </a:p>
          <a:p xmlns:a="http://schemas.openxmlformats.org/drawingml/2006/main">
            <a:r>
              <a:t>https://www.bbc.com/russian/media-66023357</a:t>
            </a:r>
          </a:p>
          <a:p xmlns:a="http://schemas.openxmlformats.org/drawingml/2006/main">
            <a:r>
              <a:t>https://www.reuters.com/world/europe/russias-prigozhin-his-own-words-mutiny-2023-06-26/</a:t>
            </a:r>
          </a:p>
          <a:p xmlns:a="http://schemas.openxmlformats.org/drawingml/2006/main">
            <a:r>
              <a:t>https://x.com/Reuters/status/1632709213641113601</a:t>
            </a:r>
          </a:p>
          <a:p xmlns:a="http://schemas.openxmlformats.org/drawingml/2006/main">
            <a:r>
              <a:t>https://www.reuters.com/world/europe/russian-mercenary-boss-says-moscows-war-ukraine-based-lies-2023-06-23/</a:t>
            </a:r>
          </a:p>
          <a:p xmlns:a="http://schemas.openxmlformats.org/drawingml/2006/main">
            <a:r>
              <a:t>https://www.rbc.ru/spb_sz/02/10/2026/6abfb91afd4c7ff957d9cbe8</a:t>
            </a:r>
          </a:p>
          <a:p xmlns:a="http://schemas.openxmlformats.org/drawingml/2006/main">
            <a:r>
              <a:t>https://www.zaks.ru/new/person/view/639</a:t>
            </a:r>
          </a:p>
          <a:p xmlns:a="http://schemas.openxmlformats.org/drawingml/2006/main">
            <a:r>
              <a:t>https://www.zaks.ru/new/archive/view/219520</a:t>
            </a:r>
          </a:p>
          <a:p xmlns:a="http://schemas.openxmlformats.org/drawingml/2006/main">
            <a:r>
              <a:t>https://tvspb.ru/news/2016/09/27/novyij-sostav-parlamenta-kto-zajmet-kresla-v-zakonodatelnom-sobranii-vi-sozyiva</a:t>
            </a:r>
          </a:p>
          <a:p xmlns:a="http://schemas.openxmlformats.org/drawingml/2006/main">
            <a:r>
              <a:t>https://tass.ru/politika/20994233</a:t>
            </a:r>
          </a:p>
          <a:p xmlns:a="http://schemas.openxmlformats.org/drawingml/2006/main">
            <a:r>
              <a:t>https://www.zaks.ru/new/archive/view/265712</a:t>
            </a:r>
          </a:p>
          <a:p xmlns:a="http://schemas.openxmlformats.org/drawingml/2006/main">
            <a:r>
              <a:t>https://www.zaks.ru/new/archive/view/269374</a:t>
            </a:r>
          </a:p>
          <a:p xmlns:a="http://schemas.openxmlformats.org/drawingml/2006/main">
            <a:r>
              <a:t>https://www.dp.ru/a/2026/10/02/oksana-dmitrieva-proigrala</a:t>
            </a:r>
          </a:p>
          <a:p xmlns:a="http://schemas.openxmlformats.org/drawingml/2006/main">
            <a:r>
              <a:t>https://ru.wikipedia.org/wiki/%D0%9F%D0%B0%D1%80%D1%82%D0%B8%D1%8F_%D1%80%D0%BE%D1%81%D1%82%D0%B0</a:t>
            </a:r>
          </a:p>
          <a:p xmlns:a="http://schemas.openxmlformats.org/drawingml/2006/main">
            <a:r>
              <a:t>https://dmitrieva.org/category/gosduma/zakonoproekty/</a:t>
            </a:r>
          </a:p>
          <a:p xmlns:a="http://schemas.openxmlformats.org/drawingml/2006/main">
            <a:r>
              <a:t>https://t.me/s/oxdmitrieva?before=1072</a:t>
            </a:r>
          </a:p>
          <a:p xmlns:a="http://schemas.openxmlformats.org/drawingml/2006/main">
            <a:r>
              <a:t>http://api.duma.gov.ru/api/transcriptFull/2023-09-28</a:t>
            </a:r>
          </a:p>
          <a:p xmlns:a="http://schemas.openxmlformats.org/drawingml/2006/main">
            <a:r>
              <a:t>https://www.fontanka.ru/2026/09/04/76623983/</a:t>
            </a:r>
          </a:p>
          <a:p xmlns:a="http://schemas.openxmlformats.org/drawingml/2006/main">
            <a:r>
              <a:t>https://www.vedomosti.ru/politics/articles/2026/03/10/1181644-deputat-semi-sozivov-oksana-dmitrieva-snova-poidet-v-gosdumu</a:t>
            </a:r>
          </a:p>
          <a:p xmlns:a="http://schemas.openxmlformats.org/drawingml/2006/main">
            <a:r>
              <a:t>https://www.kommersant.ru/doc/8497588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Числа: metadata.json, scores.csv, loadings.csv и утверждённая матрица оценок.</a:t>
            </a:r>
          </a:p>
          <a:p xmlns:a="http://schemas.openxmlformats.org/drawingml/2006/main">
            <a:r>
              <a:t>Изучаемое пространство: Публичный политический образ российских политиков и иных заметных политических акторов, включая деятелей за рубежом, активных хотя бы в части периода. Не рейтинг популярности..</a:t>
            </a:r>
          </a:p>
          <a:p xmlns:a="http://schemas.openxmlformats.org/drawingml/2006/main">
            <a:r>
              <a:t>Оценщик: llm_exploratory.</a:t>
            </a:r>
          </a:p>
          <a:p xmlns:a="http://schemas.openxmlformats.org/drawingml/2006/main">
            <a:r>
              <a:t>Исходные URL:</a:t>
            </a:r>
          </a:p>
          <a:p xmlns:a="http://schemas.openxmlformats.org/drawingml/2006/main">
            <a:r>
              <a:t>https://kremlin.ru/structure/president</a:t>
            </a:r>
          </a:p>
          <a:p xmlns:a="http://schemas.openxmlformats.org/drawingml/2006/main">
            <a:r>
              <a:t>http://www.special.kremlin.ru/events/president/transcripts/67843</a:t>
            </a:r>
          </a:p>
          <a:p xmlns:a="http://schemas.openxmlformats.org/drawingml/2006/main">
            <a:r>
              <a:t>http://en.kremlin.ru/events/president/news/70315</a:t>
            </a:r>
          </a:p>
          <a:p xmlns:a="http://schemas.openxmlformats.org/drawingml/2006/main">
            <a:r>
              <a:t>http://special.kremlin.ru/events/president/transcripts/70565</a:t>
            </a:r>
          </a:p>
          <a:p xmlns:a="http://schemas.openxmlformats.org/drawingml/2006/main">
            <a:r>
              <a:t>http://special.kremlin.ru/events/president/transcripts/72994</a:t>
            </a:r>
          </a:p>
          <a:p xmlns:a="http://schemas.openxmlformats.org/drawingml/2006/main">
            <a:r>
              <a:t>http://kremlin.ru/events/president/news/73585</a:t>
            </a:r>
          </a:p>
          <a:p xmlns:a="http://schemas.openxmlformats.org/drawingml/2006/main">
            <a:r>
              <a:t>http://special.kremlin.ru/events/president/transcripts/75762</a:t>
            </a:r>
          </a:p>
          <a:p xmlns:a="http://schemas.openxmlformats.org/drawingml/2006/main">
            <a:r>
              <a:t>http://www.special.kremlin.ru/events/president/transcripts/76899</a:t>
            </a:r>
          </a:p>
          <a:p xmlns:a="http://schemas.openxmlformats.org/drawingml/2006/main">
            <a:r>
              <a:t>http://special.kremlin.ru/events/president/transcripts/80017</a:t>
            </a:r>
          </a:p>
          <a:p xmlns:a="http://schemas.openxmlformats.org/drawingml/2006/main">
            <a:r>
              <a:t>http://www.special.kremlin.ru/events/president/transcripts/72084</a:t>
            </a:r>
          </a:p>
          <a:p xmlns:a="http://schemas.openxmlformats.org/drawingml/2006/main">
            <a:r>
              <a:t>http://www.special.kremlin.ru/events/president/transcripts/80172</a:t>
            </a:r>
          </a:p>
          <a:p xmlns:a="http://schemas.openxmlformats.org/drawingml/2006/main">
            <a:r>
              <a:t>https://www.diva-portal.org/smash/get/diva2:2035197/FULLTEXT01.pdf</a:t>
            </a:r>
          </a:p>
          <a:p xmlns:a="http://schemas.openxmlformats.org/drawingml/2006/main">
            <a:r>
              <a:t>https://www.reuters.com/world/what-know-about-russias-upcoming-parliamentary-election-2026-09-15/</a:t>
            </a:r>
          </a:p>
          <a:p xmlns:a="http://schemas.openxmlformats.org/drawingml/2006/main">
            <a:r>
              <a:t>https://www.reuters.com/world/europe/how-putin-may-leverage-predictable-outcome-russias-elections-2026-09-18/</a:t>
            </a:r>
          </a:p>
          <a:p xmlns:a="http://schemas.openxmlformats.org/drawingml/2006/main">
            <a:r>
              <a:t>https://ru.wikipedia.org/wiki/Медведев,_Дмитрий_Анатольевич</a:t>
            </a:r>
          </a:p>
          <a:p xmlns:a="http://schemas.openxmlformats.org/drawingml/2006/main">
            <a:r>
              <a:t>https://tass.ru/ekonomika/3941450</a:t>
            </a:r>
          </a:p>
          <a:p xmlns:a="http://schemas.openxmlformats.org/drawingml/2006/main">
            <a:r>
              <a:t>http://archive.government.ru/docs/21653/print/</a:t>
            </a:r>
          </a:p>
          <a:p xmlns:a="http://schemas.openxmlformats.org/drawingml/2006/main">
            <a:r>
              <a:t>https://netfreedom.org.ua/ru/dmytro-anatoliiovych-medvediev-biohrafiia-posady-i-sanktsii/</a:t>
            </a:r>
          </a:p>
          <a:p xmlns:a="http://schemas.openxmlformats.org/drawingml/2006/main">
            <a:r>
              <a:t>https://verstka.media/czeli-svo-kak-kreml-menyal-ih-na-protyazhenii-tryoh-let-vojny</a:t>
            </a:r>
          </a:p>
          <a:p xmlns:a="http://schemas.openxmlformats.org/drawingml/2006/main">
            <a:r>
              <a:t>http://www.scrf.gov.ru/news/allnews/3820/</a:t>
            </a:r>
          </a:p>
          <a:p xmlns:a="http://schemas.openxmlformats.org/drawingml/2006/main">
            <a:r>
              <a:t>http://scrf.gov.ru/news/allnews/3837/</a:t>
            </a:r>
          </a:p>
          <a:p xmlns:a="http://schemas.openxmlformats.org/drawingml/2006/main">
            <a:r>
              <a:t>https://baike.baidu.com/ru/item/%D0%94%D0%BC%D0%B8%D1%82%D1%80%D0%B8%D0%B9%20%D0%90%D0%BD%D0%B0%D1%82%D0%BE%D0%BB%D1%8C%D0%B5%D0%B2%D0%B8%D1%87%20%D0%9C%D0%B5%D0%B4%D0%B2%D0%B5%D0%B4%D0%B5%D0%B2/3254451</a:t>
            </a:r>
          </a:p>
          <a:p xmlns:a="http://schemas.openxmlformats.org/drawingml/2006/main">
            <a:r>
              <a:t>https://tass.ru/politika/5889577</a:t>
            </a:r>
          </a:p>
          <a:p xmlns:a="http://schemas.openxmlformats.org/drawingml/2006/main">
            <a:r>
              <a:t>https://meduza.io/feature/2023/06/26/chto-proizoshlo-s-dmitriem-medvedevym</a:t>
            </a:r>
          </a:p>
          <a:p xmlns:a="http://schemas.openxmlformats.org/drawingml/2006/main">
            <a:r>
              <a:t>https://www.bbc.com/russian/articles/c6evw7d22lv0o</a:t>
            </a:r>
          </a:p>
          <a:p xmlns:a="http://schemas.openxmlformats.org/drawingml/2006/main">
            <a:r>
              <a:t>https://er.ru/activity/news/dmitrij-medvedev-edinaya-rossiya-ne-dopustit-razrusheniya-cennostnyh-osnov-strany</a:t>
            </a:r>
          </a:p>
          <a:p xmlns:a="http://schemas.openxmlformats.org/drawingml/2006/main">
            <a:r>
              <a:t>https://en.wikipedia.org/wiki/Media_freedom_in_Russia</a:t>
            </a:r>
          </a:p>
          <a:p xmlns:a="http://schemas.openxmlformats.org/drawingml/2006/main">
            <a:r>
              <a:t>https://government.ru/gov/persons/151/travel/?area=KHA</a:t>
            </a:r>
          </a:p>
          <a:p xmlns:a="http://schemas.openxmlformats.org/drawingml/2006/main">
            <a:r>
              <a:t>http://government.ru/gov/persons/151/biography/</a:t>
            </a:r>
          </a:p>
          <a:p xmlns:a="http://schemas.openxmlformats.org/drawingml/2006/main">
            <a:r>
              <a:t>https://www.reuters.com/world/europe/who-is-russias-mikhail-mishustin-2024-05-10/</a:t>
            </a:r>
          </a:p>
          <a:p xmlns:a="http://schemas.openxmlformats.org/drawingml/2006/main">
            <a:r>
              <a:t>https://www.kommersant.ru/doc/4220798</a:t>
            </a:r>
          </a:p>
          <a:p xmlns:a="http://schemas.openxmlformats.org/drawingml/2006/main">
            <a:r>
              <a:t>https://www.vedomosti.ru/politics/galleries/2026/03/03/1179718-nalogi-pod-kontrolem</a:t>
            </a:r>
          </a:p>
          <a:p xmlns:a="http://schemas.openxmlformats.org/drawingml/2006/main">
            <a:r>
              <a:t>http://government.ru/gov/persons/151/travel/?page=5</a:t>
            </a:r>
          </a:p>
          <a:p xmlns:a="http://schemas.openxmlformats.org/drawingml/2006/main">
            <a:r>
              <a:t>http://government.ru/news/46476/</a:t>
            </a:r>
          </a:p>
          <a:p xmlns:a="http://schemas.openxmlformats.org/drawingml/2006/main">
            <a:r>
              <a:t>http://government.ru/news/52063/</a:t>
            </a:r>
          </a:p>
          <a:p xmlns:a="http://schemas.openxmlformats.org/drawingml/2006/main">
            <a:r>
              <a:t>http://government.ru/news/52851/</a:t>
            </a:r>
          </a:p>
          <a:p xmlns:a="http://schemas.openxmlformats.org/drawingml/2006/main">
            <a:r>
              <a:t>https://nangs.org/news/society/kabmin-privlek-otdelnye-gosorgany-k-ukrepleniyu-traditsionnykh-tsennostej</a:t>
            </a:r>
          </a:p>
          <a:p xmlns:a="http://schemas.openxmlformats.org/drawingml/2006/main">
            <a:r>
              <a:t>http://government.ru/news/57315/</a:t>
            </a:r>
          </a:p>
          <a:p xmlns:a="http://schemas.openxmlformats.org/drawingml/2006/main">
            <a:r>
              <a:t>https://www.rbc.ru/person/617bf30d9a7947f92ee2d266</a:t>
            </a:r>
          </a:p>
          <a:p xmlns:a="http://schemas.openxmlformats.org/drawingml/2006/main">
            <a:r>
              <a:t>https://mid.ru/ru/press_service/video/view/1848395/</a:t>
            </a:r>
          </a:p>
          <a:p xmlns:a="http://schemas.openxmlformats.org/drawingml/2006/main">
            <a:r>
              <a:t>https://mid.ru/ru/foreign_policy/international_organizations/1932076/</a:t>
            </a:r>
          </a:p>
          <a:p xmlns:a="http://schemas.openxmlformats.org/drawingml/2006/main">
            <a:r>
              <a:t>https://mid.ru/ru/press_service/minister_speeches/1991476/</a:t>
            </a:r>
          </a:p>
          <a:p xmlns:a="http://schemas.openxmlformats.org/drawingml/2006/main">
            <a:r>
              <a:t>https://www.mid.ru/ru/press_service/vizity-ministra/1922112/</a:t>
            </a:r>
          </a:p>
          <a:p xmlns:a="http://schemas.openxmlformats.org/drawingml/2006/main">
            <a:r>
              <a:t>https://www.mid.ru/ru/foreign_policy/news/1927568/</a:t>
            </a:r>
          </a:p>
          <a:p xmlns:a="http://schemas.openxmlformats.org/drawingml/2006/main">
            <a:r>
              <a:t>https://mid.ru/ru/foreign_policy/news/1912973/</a:t>
            </a:r>
          </a:p>
          <a:p xmlns:a="http://schemas.openxmlformats.org/drawingml/2006/main">
            <a:r>
              <a:t>https://www.reuters.com/world/europe/russias-lavrov-says-moscow-committed-us-proposals-peace-rejects-europes-2026-06-15/</a:t>
            </a:r>
          </a:p>
          <a:p xmlns:a="http://schemas.openxmlformats.org/drawingml/2006/main">
            <a:r>
              <a:t>https://www.reuters.com/world/lavrov-says-russia-is-ready-resume-talks-with-ukraine-point-where-they-left-off-2026-06-23/</a:t>
            </a:r>
          </a:p>
          <a:p xmlns:a="http://schemas.openxmlformats.org/drawingml/2006/main">
            <a:r>
              <a:t>https://mid.ru/ru/press_service/video/view/1799184/</a:t>
            </a:r>
          </a:p>
          <a:p xmlns:a="http://schemas.openxmlformats.org/drawingml/2006/main">
            <a:r>
              <a:t>https://en.wikipedia.org/wiki/Sergey_Lavrov</a:t>
            </a:r>
          </a:p>
          <a:p xmlns:a="http://schemas.openxmlformats.org/drawingml/2006/main">
            <a:r>
              <a:t>https://www.garant.ru/products/ipo/prime/doc/70627660/</a:t>
            </a:r>
          </a:p>
          <a:p xmlns:a="http://schemas.openxmlformats.org/drawingml/2006/main">
            <a:r>
              <a:t>https://www.rbc.ru/person/617fc0679a794761d6170b80</a:t>
            </a:r>
          </a:p>
          <a:p xmlns:a="http://schemas.openxmlformats.org/drawingml/2006/main">
            <a:r>
              <a:t>http://www.kremlin.ru/acts/bank/50544</a:t>
            </a:r>
          </a:p>
          <a:p xmlns:a="http://schemas.openxmlformats.org/drawingml/2006/main">
            <a:r>
              <a:t>http://special.kremlin.ru/events/president/news/74019</a:t>
            </a:r>
          </a:p>
          <a:p xmlns:a="http://schemas.openxmlformats.org/drawingml/2006/main">
            <a:r>
              <a:t>https://www.interfax.ru/russia/960081</a:t>
            </a:r>
          </a:p>
          <a:p xmlns:a="http://schemas.openxmlformats.org/drawingml/2006/main">
            <a:r>
              <a:t>https://www.rbc.ru/politics/21/09/2022/632ab17c9a794781413c8582</a:t>
            </a:r>
          </a:p>
          <a:p xmlns:a="http://schemas.openxmlformats.org/drawingml/2006/main">
            <a:r>
              <a:t>https://www.bbc.com/russian/articles/c72p0jq04gjo</a:t>
            </a:r>
          </a:p>
          <a:p xmlns:a="http://schemas.openxmlformats.org/drawingml/2006/main">
            <a:r>
              <a:t>https://meduza.io/feature/2024/05/12/putin-uvolil-shoygu-s-posta-ministra-oborony-i-perevel-v-sovbez</a:t>
            </a:r>
          </a:p>
          <a:p xmlns:a="http://schemas.openxmlformats.org/drawingml/2006/main">
            <a:r>
              <a:t>https://paodkb.org/events/sergey-shoygu-naznachen-sekretarem-soveta-bezopasnosti-rf</a:t>
            </a:r>
          </a:p>
          <a:p xmlns:a="http://schemas.openxmlformats.org/drawingml/2006/main">
            <a:r>
              <a:t>https://base.garant.ru/409005084/</a:t>
            </a:r>
          </a:p>
          <a:p xmlns:a="http://schemas.openxmlformats.org/drawingml/2006/main">
            <a:r>
              <a:t>http://special.kremlin.ru/supplement/6345</a:t>
            </a:r>
          </a:p>
          <a:p xmlns:a="http://schemas.openxmlformats.org/drawingml/2006/main">
            <a:r>
              <a:t>http://en.kremlin.ru/supplement/6345</a:t>
            </a:r>
          </a:p>
          <a:p xmlns:a="http://schemas.openxmlformats.org/drawingml/2006/main">
            <a:r>
              <a:t>https://www.kp.ru/daily/27656.5/5040576/</a:t>
            </a:r>
          </a:p>
          <a:p xmlns:a="http://schemas.openxmlformats.org/drawingml/2006/main">
            <a:r>
              <a:t>https://www.fontanka.ru/2025/06/10/75574928/</a:t>
            </a:r>
          </a:p>
          <a:p xmlns:a="http://schemas.openxmlformats.org/drawingml/2006/main">
            <a:r>
              <a:t>https://tass.ru/politika/25506737</a:t>
            </a:r>
          </a:p>
          <a:p xmlns:a="http://schemas.openxmlformats.org/drawingml/2006/main">
            <a:r>
              <a:t>https://www.rbc.ru/person/6181419c9a7947df128a22f7</a:t>
            </a:r>
          </a:p>
          <a:p xmlns:a="http://schemas.openxmlformats.org/drawingml/2006/main">
            <a:r>
              <a:t>https://www.rbc.ru/economics/31/05/2021/60b3de5d9a7947f2883f7aa0</a:t>
            </a:r>
          </a:p>
          <a:p xmlns:a="http://schemas.openxmlformats.org/drawingml/2006/main">
            <a:r>
              <a:t>https://www.rbc.ru/politics/13/05/2024/6641109a9a7947ab8eebcf7f</a:t>
            </a:r>
          </a:p>
          <a:p xmlns:a="http://schemas.openxmlformats.org/drawingml/2006/main">
            <a:r>
              <a:t>https://www.rbc.ru/business/13/06/2023/6482d3389a79473805ee8978</a:t>
            </a:r>
          </a:p>
          <a:p xmlns:a="http://schemas.openxmlformats.org/drawingml/2006/main">
            <a:r>
              <a:t>https://thebell.io/kuda-vedet-ekonomiku-andrej-belousov-zagadki-dmitriya-medvedeva-i-sposoby-perezhit-sanktsii</a:t>
            </a:r>
          </a:p>
          <a:p xmlns:a="http://schemas.openxmlformats.org/drawingml/2006/main">
            <a:r>
              <a:t>https://72.ru/text/politics/2024/05/14/73575386/</a:t>
            </a:r>
          </a:p>
          <a:p xmlns:a="http://schemas.openxmlformats.org/drawingml/2006/main">
            <a:r>
              <a:t>https://tass.ru/armiya-i-opk/22683223</a:t>
            </a:r>
          </a:p>
          <a:p xmlns:a="http://schemas.openxmlformats.org/drawingml/2006/main">
            <a:r>
              <a:t>https://www.rbc.ru/society/12/12/2017/5a2f9b5a9a79473649fe0042</a:t>
            </a:r>
          </a:p>
          <a:p xmlns:a="http://schemas.openxmlformats.org/drawingml/2006/main">
            <a:r>
              <a:t>https://www.istorex.org/post/russia-december-2024-february-2025</a:t>
            </a:r>
          </a:p>
          <a:p xmlns:a="http://schemas.openxmlformats.org/drawingml/2006/main">
            <a:r>
              <a:t>https://rosinform.ru/news/andrej-belousov-osoboe-znachenie-pridayom-obespecheniyu-voennoj-bezopasnosti-soyuznogo-gosudarstva</a:t>
            </a:r>
          </a:p>
          <a:p xmlns:a="http://schemas.openxmlformats.org/drawingml/2006/main">
            <a:r>
              <a:t>https://xn--b1apnk.xn--p1ai/tpost/nsk7vo4xh1-vstrecha-s-ministrom-oboroni-rossii-i-os</a:t>
            </a:r>
          </a:p>
          <a:p xmlns:a="http://schemas.openxmlformats.org/drawingml/2006/main">
            <a:r>
              <a:t>https://www.rbc.ru/person/62d120d89a79475f0ddd8b5e</a:t>
            </a:r>
          </a:p>
          <a:p xmlns:a="http://schemas.openxmlformats.org/drawingml/2006/main">
            <a:r>
              <a:t>http://scrf.gov.ru/news/allnews/2148/</a:t>
            </a:r>
          </a:p>
          <a:p xmlns:a="http://schemas.openxmlformats.org/drawingml/2006/main">
            <a:r>
              <a:t>https://www.rbc.ru/politics/14/05/2024/6643287b9a7947a8f0b8ba78</a:t>
            </a:r>
          </a:p>
          <a:p xmlns:a="http://schemas.openxmlformats.org/drawingml/2006/main">
            <a:r>
              <a:t>https://tass.ru/info/20789699</a:t>
            </a:r>
          </a:p>
          <a:p xmlns:a="http://schemas.openxmlformats.org/drawingml/2006/main">
            <a:r>
              <a:t>https://marine.org.ru/structure/person/56/</a:t>
            </a:r>
          </a:p>
          <a:p xmlns:a="http://schemas.openxmlformats.org/drawingml/2006/main">
            <a:r>
              <a:t>https://marine.org.ru/publication/smi/16108/</a:t>
            </a:r>
          </a:p>
          <a:p xmlns:a="http://schemas.openxmlformats.org/drawingml/2006/main">
            <a:r>
              <a:t>https://www.svoboda.org/a/30676123.html</a:t>
            </a:r>
          </a:p>
          <a:p xmlns:a="http://schemas.openxmlformats.org/drawingml/2006/main">
            <a:r>
              <a:t>https://aif.ru/society/safety/kuklovodstvo_k_deystviyu_nikolay_patrushev_o_metodah_cvetnyh_revolyuciy</a:t>
            </a:r>
          </a:p>
          <a:p xmlns:a="http://schemas.openxmlformats.org/drawingml/2006/main">
            <a:r>
              <a:t>https://vkrizis.info/vlast/czennosti-razmyvaniya/</a:t>
            </a:r>
          </a:p>
          <a:p xmlns:a="http://schemas.openxmlformats.org/drawingml/2006/main">
            <a:r>
              <a:t>https://infranomica.ru/2026/05/19/selskoe-hozyajstvo-est-rezultat-budet-i-pishha/</a:t>
            </a:r>
          </a:p>
          <a:p xmlns:a="http://schemas.openxmlformats.org/drawingml/2006/main">
            <a:r>
              <a:t>https://www.rbc.ru/person/660400989a79471b36dbb514</a:t>
            </a:r>
          </a:p>
          <a:p xmlns:a="http://schemas.openxmlformats.org/drawingml/2006/main">
            <a:r>
              <a:t>http://special.kremlin.ru/catalog/persons/100/events</a:t>
            </a:r>
          </a:p>
          <a:p xmlns:a="http://schemas.openxmlformats.org/drawingml/2006/main">
            <a:r>
              <a:t>https://nac.gov.ru/view/eb008ff4-1608-4b47-b2a9-3d604c1833c2</a:t>
            </a:r>
          </a:p>
          <a:p xmlns:a="http://schemas.openxmlformats.org/drawingml/2006/main">
            <a:r>
              <a:t>http://pfo.gov.ru/press/events/113336/</a:t>
            </a:r>
          </a:p>
          <a:p xmlns:a="http://schemas.openxmlformats.org/drawingml/2006/main">
            <a:r>
              <a:t>https://www.opensanctions.org/entities/Q516824/</a:t>
            </a:r>
          </a:p>
          <a:p xmlns:a="http://schemas.openxmlformats.org/drawingml/2006/main">
            <a:r>
              <a:t>https://www.agents.media/ssha-poprobuyut-vozobnovit-peregovory-o-mire-v-ukraine-cherez-glavu-fsb-che-vedomstvo-kak-schitaetsya-svoimi-dokladami-podtolknulo-putina-k-vojne/</a:t>
            </a:r>
          </a:p>
          <a:p xmlns:a="http://schemas.openxmlformats.org/drawingml/2006/main">
            <a:r>
              <a:t>https://letters.kremlin.ru/news/receptions/by-section/assignments/by-person/260</a:t>
            </a:r>
          </a:p>
          <a:p xmlns:a="http://schemas.openxmlformats.org/drawingml/2006/main">
            <a:r>
              <a:t>https://www.kommersant.ru/doc/3612580</a:t>
            </a:r>
          </a:p>
          <a:p xmlns:a="http://schemas.openxmlformats.org/drawingml/2006/main">
            <a:r>
              <a:t>https://fbk.info/ru/investigations/kirienko-kholyi-putina</a:t>
            </a:r>
          </a:p>
          <a:p xmlns:a="http://schemas.openxmlformats.org/drawingml/2006/main">
            <a:r>
              <a:t>https://utro02.tv/2022/05/24/kolebaniya-kirienok/</a:t>
            </a:r>
          </a:p>
          <a:p xmlns:a="http://schemas.openxmlformats.org/drawingml/2006/main">
            <a:r>
              <a:t>https://meduza.io/feature/2023/12/19/on-peresidel-v-svoem-kresle-v-kremle-i-pravitelstve-obsuzhdayut-chto-sergey-kirienko-mozhet-lishitsya-dolzhnosti-v-ap-posle-vyborov-prezidenta</a:t>
            </a:r>
          </a:p>
          <a:p xmlns:a="http://schemas.openxmlformats.org/drawingml/2006/main">
            <a:r>
              <a:t>https://verstka.media/kak-rossiya-prodvigaet-svoyu-molodezhnuyu-politiku-na-okkupirovannyh-territoriyah</a:t>
            </a:r>
          </a:p>
          <a:p xmlns:a="http://schemas.openxmlformats.org/drawingml/2006/main">
            <a:r>
              <a:t>https://dnrnews.ru/society/2025/09/04/1167117.html</a:t>
            </a:r>
          </a:p>
          <a:p xmlns:a="http://schemas.openxmlformats.org/drawingml/2006/main">
            <a:r>
              <a:t>https://www.tadviser.ru/index.php/%D0%9F%D0%B5%D1%80%D1%81%D0%BE%D0%BD%D0%B0:%D0%9A%D0%B8%D1%80%D0%B8%D0%B5%D0%BD%D0%BA%D0%BE_%D0%A1%D0%B5%D1%80%D0%B3%D0%B5%D0%B9_%D0%92%D0%BB%D0%B0%D0%B4%D0%B8%D0%BB%D0%B5%D0%BD%D0%BE%D0%B2%D0%B8%D1%87</a:t>
            </a:r>
          </a:p>
          <a:p xmlns:a="http://schemas.openxmlformats.org/drawingml/2006/main">
            <a:r>
              <a:t>https://tass.ru/politika/18225741</a:t>
            </a:r>
          </a:p>
          <a:p xmlns:a="http://schemas.openxmlformats.org/drawingml/2006/main">
            <a:r>
              <a:t>https://www.kommersant.ru/doc/6187168</a:t>
            </a:r>
          </a:p>
          <a:p xmlns:a="http://schemas.openxmlformats.org/drawingml/2006/main">
            <a:r>
              <a:t>https://duma.gov.ru/news/63383/</a:t>
            </a:r>
          </a:p>
          <a:p xmlns:a="http://schemas.openxmlformats.org/drawingml/2006/main">
            <a:r>
              <a:t>http://duma.gov.ru/en/duma/persons/99100829/news/</a:t>
            </a:r>
          </a:p>
          <a:p xmlns:a="http://schemas.openxmlformats.org/drawingml/2006/main">
            <a:r>
              <a:t>http://duma.gov.ru/en/news/62248/</a:t>
            </a:r>
          </a:p>
          <a:p xmlns:a="http://schemas.openxmlformats.org/drawingml/2006/main">
            <a:r>
              <a:t>http://duma.gov.ru/en/news/61352/</a:t>
            </a:r>
          </a:p>
          <a:p xmlns:a="http://schemas.openxmlformats.org/drawingml/2006/main">
            <a:r>
              <a:t>http://duma.gov.ru/en/news/64178/</a:t>
            </a:r>
          </a:p>
          <a:p xmlns:a="http://schemas.openxmlformats.org/drawingml/2006/main">
            <a:r>
              <a:t>http://duma.gov.ru/en/news/64216</a:t>
            </a:r>
          </a:p>
          <a:p xmlns:a="http://schemas.openxmlformats.org/drawingml/2006/main">
            <a:r>
              <a:t>http://duma.gov.ru/en/news/64239</a:t>
            </a:r>
          </a:p>
          <a:p xmlns:a="http://schemas.openxmlformats.org/drawingml/2006/main">
            <a:r>
              <a:t>https://en.wikipedia.org/wiki/Vyacheslav_Volodin</a:t>
            </a:r>
          </a:p>
          <a:p xmlns:a="http://schemas.openxmlformats.org/drawingml/2006/main">
            <a:r>
              <a:t>http://duma.gov.ru/news/56060/</a:t>
            </a:r>
          </a:p>
          <a:p xmlns:a="http://schemas.openxmlformats.org/drawingml/2006/main">
            <a:r>
              <a:t>http://duma.gov.ru/news/60448/</a:t>
            </a:r>
          </a:p>
          <a:p xmlns:a="http://schemas.openxmlformats.org/drawingml/2006/main">
            <a:r>
              <a:t>http://duma.gov.ru/news/61362/</a:t>
            </a:r>
          </a:p>
          <a:p xmlns:a="http://schemas.openxmlformats.org/drawingml/2006/main">
            <a:r>
              <a:t>http://duma.gov.ru/news/61384/</a:t>
            </a:r>
          </a:p>
          <a:p xmlns:a="http://schemas.openxmlformats.org/drawingml/2006/main">
            <a:r>
              <a:t>http://duma.gov.ru/news/61874/</a:t>
            </a:r>
          </a:p>
          <a:p xmlns:a="http://schemas.openxmlformats.org/drawingml/2006/main">
            <a:r>
              <a:t>http://duma.gov.ru/news/62022/</a:t>
            </a:r>
          </a:p>
          <a:p xmlns:a="http://schemas.openxmlformats.org/drawingml/2006/main">
            <a:r>
              <a:t>http://duma.gov.ru/news/63772/</a:t>
            </a:r>
          </a:p>
          <a:p xmlns:a="http://schemas.openxmlformats.org/drawingml/2006/main">
            <a:r>
              <a:t>https://council.gov.ru/events/news/160466/</a:t>
            </a:r>
          </a:p>
          <a:p xmlns:a="http://schemas.openxmlformats.org/drawingml/2006/main">
            <a:r>
              <a:t>http://council.gov.ru/structure/persons/257/</a:t>
            </a:r>
          </a:p>
          <a:p xmlns:a="http://schemas.openxmlformats.org/drawingml/2006/main">
            <a:r>
              <a:t>https://interaffairs.ru/news/show/16199</a:t>
            </a:r>
          </a:p>
          <a:p xmlns:a="http://schemas.openxmlformats.org/drawingml/2006/main">
            <a:r>
              <a:t>https://www.rbc.ru/person/617fb5ef9a79475c6cfc4502</a:t>
            </a:r>
          </a:p>
          <a:p xmlns:a="http://schemas.openxmlformats.org/drawingml/2006/main">
            <a:r>
              <a:t>https://vksrs.com/publications/matvienko-rasskazala-o-neobkhodimosti-protivostoyat-geroizatsii-natsistov/</a:t>
            </a:r>
          </a:p>
          <a:p xmlns:a="http://schemas.openxmlformats.org/drawingml/2006/main">
            <a:r>
              <a:t>https://absatz.media/politika/158438-valentine-matvienko-77-istoriya-uspeha-put-k-vershine-i-samye-yarkie-zayavleniya</a:t>
            </a:r>
          </a:p>
          <a:p xmlns:a="http://schemas.openxmlformats.org/drawingml/2006/main">
            <a:r>
              <a:t>https://www.rbc.ru/society/14/10/2026/6acf597c9a794743e0478a15?from=short_news</a:t>
            </a:r>
          </a:p>
          <a:p xmlns:a="http://schemas.openxmlformats.org/drawingml/2006/main">
            <a:r>
              <a:t>https://senatinform.ru/news/sf_stremitsya_byt_maksimalno_otkrytym_dlya_raboty_zhurnalistov_matvienko/</a:t>
            </a:r>
          </a:p>
          <a:p xmlns:a="http://schemas.openxmlformats.org/drawingml/2006/main">
            <a:r>
              <a:t>https://eparlament.irzs.ru/Files/getFile/11853</a:t>
            </a:r>
          </a:p>
          <a:p xmlns:a="http://schemas.openxmlformats.org/drawingml/2006/main">
            <a:r>
              <a:t>http://special.council.gov.ru/activity/meetings/170703/transcript/</a:t>
            </a:r>
          </a:p>
          <a:p xmlns:a="http://schemas.openxmlformats.org/drawingml/2006/main">
            <a:r>
              <a:t>https://bookonlime.ru/lecture/12-razvitie-ekonomicheskih-otnosheniy-i-strategicheskoe-planirovanie-v-cifrovoy-ekonomike-2</a:t>
            </a:r>
          </a:p>
          <a:p xmlns:a="http://schemas.openxmlformats.org/drawingml/2006/main">
            <a:r>
              <a:t>https://ru.wikipedia.org/wiki/Песков,_Дмитрий_Сергеевич</a:t>
            </a:r>
          </a:p>
          <a:p xmlns:a="http://schemas.openxmlformats.org/drawingml/2006/main">
            <a:r>
              <a:t>https://www.reuters.com/world/europe/kremlin-says-ukraine-is-now-paying-price-its-own-attacks-russia-2026-09-28/</a:t>
            </a:r>
          </a:p>
          <a:p xmlns:a="http://schemas.openxmlformats.org/drawingml/2006/main">
            <a:r>
              <a:t>https://www.reuters.com/world/europe/kremlin-rejects-le-penbardella-rebuke-says-russia-is-no-threat-france-2026-09-21/</a:t>
            </a:r>
          </a:p>
          <a:p xmlns:a="http://schemas.openxmlformats.org/drawingml/2006/main">
            <a:r>
              <a:t>https://theins.ru/antifake/295208</a:t>
            </a:r>
          </a:p>
          <a:p xmlns:a="http://schemas.openxmlformats.org/drawingml/2006/main">
            <a:r>
              <a:t>https://expert.ru/news/v-kremle-otvetili-na-slova-donalda-trampa-o-rossiyskom-vmeshatelstve</a:t>
            </a:r>
          </a:p>
          <a:p xmlns:a="http://schemas.openxmlformats.org/drawingml/2006/main">
            <a:r>
              <a:t>https://www.dw.com/ru/dmitrij-peskov/t-18146676/page-1</a:t>
            </a:r>
          </a:p>
          <a:p xmlns:a="http://schemas.openxmlformats.org/drawingml/2006/main">
            <a:r>
              <a:t>https://www.pnp.ru/person/dmitriy--peskov/</a:t>
            </a:r>
          </a:p>
          <a:p xmlns:a="http://schemas.openxmlformats.org/drawingml/2006/main">
            <a:r>
              <a:t>https://www.rbc.ua/ukr/dossier/peskov-19032015</a:t>
            </a:r>
          </a:p>
          <a:p xmlns:a="http://schemas.openxmlformats.org/drawingml/2006/main">
            <a:r>
              <a:t>https://www.rbc.ru/politics/12/10/2026/6accae3bb18f4460834ce063</a:t>
            </a:r>
          </a:p>
          <a:p xmlns:a="http://schemas.openxmlformats.org/drawingml/2006/main">
            <a:r>
              <a:t>https://tass.ru/politika/20355193</a:t>
            </a:r>
          </a:p>
          <a:p xmlns:a="http://schemas.openxmlformats.org/drawingml/2006/main">
            <a:r>
              <a:t>https://www.m24.ru/news/06052024/689412</a:t>
            </a:r>
          </a:p>
          <a:p xmlns:a="http://schemas.openxmlformats.org/drawingml/2006/main">
            <a:r>
              <a:t>http://www.kremlin.ru/acts/bank/48502</a:t>
            </a:r>
          </a:p>
          <a:p xmlns:a="http://schemas.openxmlformats.org/drawingml/2006/main">
            <a:r>
              <a:t>https://www.m24.ru/news/11022025/769070</a:t>
            </a:r>
          </a:p>
          <a:p xmlns:a="http://schemas.openxmlformats.org/drawingml/2006/main">
            <a:r>
              <a:t>https://www.m24.ru/news/23042026/894202</a:t>
            </a:r>
          </a:p>
          <a:p xmlns:a="http://schemas.openxmlformats.org/drawingml/2006/main">
            <a:r>
              <a:t>https://cbr.ru/about_br/nabiullinaes/</a:t>
            </a:r>
          </a:p>
          <a:p xmlns:a="http://schemas.openxmlformats.org/drawingml/2006/main">
            <a:r>
              <a:t>https://cbr.ru/press/event/?id=12840</a:t>
            </a:r>
          </a:p>
          <a:p xmlns:a="http://schemas.openxmlformats.org/drawingml/2006/main">
            <a:r>
              <a:t>https://www.cbr.ru/press/event/?id=12904</a:t>
            </a:r>
          </a:p>
          <a:p xmlns:a="http://schemas.openxmlformats.org/drawingml/2006/main">
            <a:r>
              <a:t>https://cbr.ru/press/event/?id=14033</a:t>
            </a:r>
          </a:p>
          <a:p xmlns:a="http://schemas.openxmlformats.org/drawingml/2006/main">
            <a:r>
              <a:t>https://www.cbr.ru/press/event/?id=12764</a:t>
            </a:r>
          </a:p>
          <a:p xmlns:a="http://schemas.openxmlformats.org/drawingml/2006/main">
            <a:r>
              <a:t>https://kazanfirst.ru/articles/534335</a:t>
            </a:r>
          </a:p>
          <a:p xmlns:a="http://schemas.openxmlformats.org/drawingml/2006/main">
            <a:r>
              <a:t>https://www.rbc.ru/person/65e831449a79476cbfd8e5fd</a:t>
            </a:r>
          </a:p>
          <a:p xmlns:a="http://schemas.openxmlformats.org/drawingml/2006/main">
            <a:r>
              <a:t>https://www.interfax.ru/russia/955290</a:t>
            </a:r>
          </a:p>
          <a:p xmlns:a="http://schemas.openxmlformats.org/drawingml/2006/main">
            <a:r>
              <a:t>https://minfin.gov.ru/ru/press-center/?id_4=38548-intervyu_ministra_finansov_antona_siluanova_gazete_argumenty_i_fakty</a:t>
            </a:r>
          </a:p>
          <a:p xmlns:a="http://schemas.openxmlformats.org/drawingml/2006/main">
            <a:r>
              <a:t>https://minfin.gov.ru/ru/press-center/?id_4=37667-vystuplenie_antona_siluanova_na_plenarnom_zasedanii_v_gosudarstvennoi_dume</a:t>
            </a:r>
          </a:p>
          <a:p xmlns:a="http://schemas.openxmlformats.org/drawingml/2006/main">
            <a:r>
              <a:t>https://www.rbc.ru/economics/24/10/2022/63529d159a7947efb82a59eb</a:t>
            </a:r>
          </a:p>
          <a:p xmlns:a="http://schemas.openxmlformats.org/drawingml/2006/main">
            <a:r>
              <a:t>https://www.rbc.ru/newspaper/2020/02/21/5e4e83289a79474bcf9f8cf9</a:t>
            </a:r>
          </a:p>
          <a:p xmlns:a="http://schemas.openxmlformats.org/drawingml/2006/main">
            <a:r>
              <a:t>https://www.rbc.ru/economics/20/02/2020/5e4e91919a79475559478893</a:t>
            </a:r>
          </a:p>
          <a:p xmlns:a="http://schemas.openxmlformats.org/drawingml/2006/main">
            <a:r>
              <a:t>https://minfin.gov.ru/ru/press-center/?id_4=39336-anton_siluanov_predstavil_na_parlamentskikh_slushaniyakh_v_sovete_federatsii_proekt_byudzheta_na_2025-2027_gg.</a:t>
            </a:r>
          </a:p>
          <a:p xmlns:a="http://schemas.openxmlformats.org/drawingml/2006/main">
            <a:r>
              <a:t>https://www.interfax.ru/amp/1035506</a:t>
            </a:r>
          </a:p>
          <a:p xmlns:a="http://schemas.openxmlformats.org/drawingml/2006/main">
            <a:r>
              <a:t>https://tass.ru/ekonomika/28198121</a:t>
            </a:r>
          </a:p>
          <a:p xmlns:a="http://schemas.openxmlformats.org/drawingml/2006/main">
            <a:r>
              <a:t>https://www.rbc.ru/person/65b9f4369a7947ec8a7f242a</a:t>
            </a:r>
          </a:p>
          <a:p xmlns:a="http://schemas.openxmlformats.org/drawingml/2006/main">
            <a:r>
              <a:t>https://www.bfm.ru/news/435050</a:t>
            </a:r>
          </a:p>
          <a:p xmlns:a="http://schemas.openxmlformats.org/drawingml/2006/main">
            <a:r>
              <a:t>https://ru.ruwiki.ru/wiki/%D0%93%D0%BE%D0%BB%D0%B8%D0%BA%D0%BE%D0%B2%D0%B0,_%D0%A2%D0%B0%D1%82%D1%8C%D1%8F%D0%BD%D0%B0_%D0%90%D0%BB%D0%B5%D0%BA%D1%81%D0%B5%D0%B5%D0%B2%D0%BD%D0%B0</a:t>
            </a:r>
          </a:p>
          <a:p xmlns:a="http://schemas.openxmlformats.org/drawingml/2006/main">
            <a:r>
              <a:t>http://www.kremlin.ru/events/president/transcripts/deliberations%20/77439</a:t>
            </a:r>
          </a:p>
          <a:p xmlns:a="http://schemas.openxmlformats.org/drawingml/2006/main">
            <a:r>
              <a:t>https://xn--90aivcdt6dxbc.xn--p1ai/articles/news/prezident-zdravookhranenie-zanimaet-klyuchevoe-mesto-v-sotsialnoy-politike-rossii/</a:t>
            </a:r>
          </a:p>
          <a:p xmlns:a="http://schemas.openxmlformats.org/drawingml/2006/main">
            <a:r>
              <a:t>https://xn--90aivcdt6dxbc.xn--p1ai/articles/news/tatyana-golikova-edinaya-rossiya-nadezhnyy-soyuznik-i-partner-pravitelstva/</a:t>
            </a:r>
          </a:p>
          <a:p xmlns:a="http://schemas.openxmlformats.org/drawingml/2006/main">
            <a:r>
              <a:t>http://government.ru/news/58648/</a:t>
            </a:r>
          </a:p>
          <a:p xmlns:a="http://schemas.openxmlformats.org/drawingml/2006/main">
            <a:r>
              <a:t>http://government.ru/news/54912/</a:t>
            </a:r>
          </a:p>
          <a:p xmlns:a="http://schemas.openxmlformats.org/drawingml/2006/main">
            <a:r>
              <a:t>http://government.ru/news/58000/</a:t>
            </a:r>
          </a:p>
          <a:p xmlns:a="http://schemas.openxmlformats.org/drawingml/2006/main">
            <a:r>
              <a:t>https://tass.ru/politika/28141547</a:t>
            </a:r>
          </a:p>
          <a:p xmlns:a="http://schemas.openxmlformats.org/drawingml/2006/main">
            <a:r>
              <a:t>https://duma.gov.ru/media/files/smUklOtuNPyzwTneQGCfFUHHIsilAqcm.pdf</a:t>
            </a:r>
          </a:p>
          <a:p xmlns:a="http://schemas.openxmlformats.org/drawingml/2006/main">
            <a:r>
              <a:t>https://kprf.ru/dep/gosduma/activities/187187.html</a:t>
            </a:r>
          </a:p>
          <a:p xmlns:a="http://schemas.openxmlformats.org/drawingml/2006/main">
            <a:r>
              <a:t>http://msk.kprf.ru/2022/08/22/222866/</a:t>
            </a:r>
          </a:p>
          <a:p xmlns:a="http://schemas.openxmlformats.org/drawingml/2006/main">
            <a:r>
              <a:t>https://kprf.ru/party-live/cknews/235903.html</a:t>
            </a:r>
          </a:p>
          <a:p xmlns:a="http://schemas.openxmlformats.org/drawingml/2006/main">
            <a:r>
              <a:t>https://kprf.ru/dep/gosduma/activities/236198.html/print</a:t>
            </a:r>
          </a:p>
          <a:p xmlns:a="http://schemas.openxmlformats.org/drawingml/2006/main">
            <a:r>
              <a:t>https://kprf.ru/dep/gosduma/activities/239812.html</a:t>
            </a:r>
          </a:p>
          <a:p xmlns:a="http://schemas.openxmlformats.org/drawingml/2006/main">
            <a:r>
              <a:t>https://kprf-don.ru/index.php/news/facts/12501-2025-09-15-12-58-35.html</a:t>
            </a:r>
          </a:p>
          <a:p xmlns:a="http://schemas.openxmlformats.org/drawingml/2006/main">
            <a:r>
              <a:t>https://kprf.ru/dep/gosduma/activities/237529.html</a:t>
            </a:r>
          </a:p>
          <a:p xmlns:a="http://schemas.openxmlformats.org/drawingml/2006/main">
            <a:r>
              <a:t>https://novayagazeta.ru/articles/2025/09/19/putin-udivilsia-khodu-zapushchennoi-im-vesnoi-munitsipalnoi-reformy-posle-slov-ziuganova-kak-regiony-dlia-nee-lomali-cherez-koleno-a-tatarstan-otkazalsia-ee-ispolniat-news</a:t>
            </a:r>
          </a:p>
          <a:p xmlns:a="http://schemas.openxmlformats.org/drawingml/2006/main">
            <a:r>
              <a:t>https://kprf.ru/official/2025/11/15/15-noiabria-2025-oda-sostoialsia-ii-noiabrskii-plenum-tsk-kprf/473.html</a:t>
            </a:r>
          </a:p>
          <a:p xmlns:a="http://schemas.openxmlformats.org/drawingml/2006/main">
            <a:r>
              <a:t>https://www.rbc.ru/person/617bfbb79a7947fc327a3bcb</a:t>
            </a:r>
          </a:p>
          <a:p xmlns:a="http://schemas.openxmlformats.org/drawingml/2006/main">
            <a:r>
              <a:t>https://www.bbc.com/russian/features-60873381</a:t>
            </a:r>
          </a:p>
          <a:p xmlns:a="http://schemas.openxmlformats.org/drawingml/2006/main">
            <a:r>
              <a:t>https://www.svoboda.org/a/umer-lider-partii-ldpr-vladimir-zhirinovskiy-nekrolog/31770134.html</a:t>
            </a:r>
          </a:p>
          <a:p xmlns:a="http://schemas.openxmlformats.org/drawingml/2006/main">
            <a:r>
              <a:t>https://www.rbc.ru/politics/06/04/2022/624d661b9a79473f7416fe26</a:t>
            </a:r>
          </a:p>
          <a:p xmlns:a="http://schemas.openxmlformats.org/drawingml/2006/main">
            <a:r>
              <a:t>https://tass.ru/politika/3392889</a:t>
            </a:r>
          </a:p>
          <a:p xmlns:a="http://schemas.openxmlformats.org/drawingml/2006/main">
            <a:r>
              <a:t>https://www.pnp.ru/politics/2016/06/28/v-centre-predvybornoy-programmy-ldpr-russkiy-vopros.html</a:t>
            </a:r>
          </a:p>
          <a:p xmlns:a="http://schemas.openxmlformats.org/drawingml/2006/main">
            <a:r>
              <a:t>https://ldpr.ru/party/history/</a:t>
            </a:r>
          </a:p>
          <a:p xmlns:a="http://schemas.openxmlformats.org/drawingml/2006/main">
            <a:r>
              <a:t>https://govoritmoskva.ru/interviews/1023/</a:t>
            </a:r>
          </a:p>
          <a:p xmlns:a="http://schemas.openxmlformats.org/drawingml/2006/main">
            <a:r>
              <a:t>https://www.gazeta.ru/politics/2017/03/17_a_10580999.shtml</a:t>
            </a:r>
          </a:p>
          <a:p xmlns:a="http://schemas.openxmlformats.org/drawingml/2006/main">
            <a:r>
              <a:t>https://ldpr.ru/upload/iblock/c88/1d6dstdexz6aw7dnwoubeobhr3mnwa1j/a799616e688866c49f2ef6b5b8cfe5c00d45080ae85ce0e5f6d36e2e010681d9.pdf</a:t>
            </a:r>
          </a:p>
          <a:p xmlns:a="http://schemas.openxmlformats.org/drawingml/2006/main">
            <a:r>
              <a:t>https://www.kommersant.ru/doc/3579566</a:t>
            </a:r>
          </a:p>
          <a:p xmlns:a="http://schemas.openxmlformats.org/drawingml/2006/main">
            <a:r>
              <a:t>https://spb.ldpr.ru/event/243915/</a:t>
            </a:r>
          </a:p>
          <a:p xmlns:a="http://schemas.openxmlformats.org/drawingml/2006/main">
            <a:r>
              <a:t>https://kursk.ldpr.ru/event/341398</a:t>
            </a:r>
          </a:p>
          <a:p xmlns:a="http://schemas.openxmlformats.org/drawingml/2006/main">
            <a:r>
              <a:t>https://cyberleninka.ru/article/n/sravnitelnyy-analiz-predvybornyh-programm-ldpr-na-vyborah-2021-g-i-l-e-slutskogo-na-vyborah-2024-g</a:t>
            </a:r>
          </a:p>
          <a:p xmlns:a="http://schemas.openxmlformats.org/drawingml/2006/main">
            <a:r>
              <a:t>https://kcr.ldpr.ru/event/347999/</a:t>
            </a:r>
          </a:p>
          <a:p xmlns:a="http://schemas.openxmlformats.org/drawingml/2006/main">
            <a:r>
              <a:t>https://msknews77.ru/society/2025/09/25/73500.html</a:t>
            </a:r>
          </a:p>
          <a:p xmlns:a="http://schemas.openxmlformats.org/drawingml/2006/main">
            <a:r>
              <a:t>https://bagaevka-press.ru/besplatnyj-zemelnyj-uchastok-dlya-semej-inicziativa-ldpr/</a:t>
            </a:r>
          </a:p>
          <a:p xmlns:a="http://schemas.openxmlformats.org/drawingml/2006/main">
            <a:r>
              <a:t>https://ldpr.ru/event/437527/</a:t>
            </a:r>
          </a:p>
          <a:p xmlns:a="http://schemas.openxmlformats.org/drawingml/2006/main">
            <a:r>
              <a:t>https://rg62.info/2025/11/01/leonid-sluczkij-vstupilsya-za-multserial-masha-i-medved/</a:t>
            </a:r>
          </a:p>
          <a:p xmlns:a="http://schemas.openxmlformats.org/drawingml/2006/main">
            <a:r>
              <a:t>https://mironov.ru/officially</a:t>
            </a:r>
          </a:p>
          <a:p xmlns:a="http://schemas.openxmlformats.org/drawingml/2006/main">
            <a:r>
              <a:t>https://mironov.ru/bio</a:t>
            </a:r>
          </a:p>
          <a:p xmlns:a="http://schemas.openxmlformats.org/drawingml/2006/main">
            <a:r>
              <a:t>https://mironov-online.ru/category/zayavleniya/</a:t>
            </a:r>
          </a:p>
          <a:p xmlns:a="http://schemas.openxmlformats.org/drawingml/2006/main">
            <a:r>
              <a:t>https://www.rbc.ru/person/69806d279a7947baf86c32c5</a:t>
            </a:r>
          </a:p>
          <a:p xmlns:a="http://schemas.openxmlformats.org/drawingml/2006/main">
            <a:r>
              <a:t>https://spravedlivo.ru/16303010</a:t>
            </a:r>
          </a:p>
          <a:p xmlns:a="http://schemas.openxmlformats.org/drawingml/2006/main">
            <a:r>
              <a:t>http://mironov.ru/15133910</a:t>
            </a:r>
          </a:p>
          <a:p xmlns:a="http://schemas.openxmlformats.org/drawingml/2006/main">
            <a:r>
              <a:t>http://www.special.spravedlivo.ru/5_140609.html</a:t>
            </a:r>
          </a:p>
          <a:p xmlns:a="http://schemas.openxmlformats.org/drawingml/2006/main">
            <a:r>
              <a:t>https://spravedlivo.ru/14681110</a:t>
            </a:r>
          </a:p>
          <a:p xmlns:a="http://schemas.openxmlformats.org/drawingml/2006/main">
            <a:r>
              <a:t>https://radiokp.ru/podcast/dialogi-na-radio-kp/759263</a:t>
            </a:r>
          </a:p>
          <a:p xmlns:a="http://schemas.openxmlformats.org/drawingml/2006/main">
            <a:r>
              <a:t>https://mironov.ru/51339910</a:t>
            </a:r>
          </a:p>
          <a:p xmlns:a="http://schemas.openxmlformats.org/drawingml/2006/main">
            <a:r>
              <a:t>https://mironov-online.ru/news/mironov-na-ukraine-idet-bitva-za-budushhee-vsego-chelovechestva-i-pobeda-v-nej-budet-za-rossiej/</a:t>
            </a:r>
          </a:p>
          <a:p xmlns:a="http://schemas.openxmlformats.org/drawingml/2006/main">
            <a:r>
              <a:t>https://spravedlivo.ru/12544510</a:t>
            </a:r>
          </a:p>
          <a:p xmlns:a="http://schemas.openxmlformats.org/drawingml/2006/main">
            <a:r>
              <a:t>https://www.rbc.ru/person/6aa3ef199a79475758621730</a:t>
            </a:r>
          </a:p>
          <a:p xmlns:a="http://schemas.openxmlformats.org/drawingml/2006/main">
            <a:r>
              <a:t>https://www.rbc.ru/politics/24/09/2021/614da73f9a7947b5e3d9399f</a:t>
            </a:r>
          </a:p>
          <a:p xmlns:a="http://schemas.openxmlformats.org/drawingml/2006/main">
            <a:r>
              <a:t>https://amp.rbc.ru/rbcnews/base/14/08/2026/6a957dfb9a79476ae3d823ba</a:t>
            </a:r>
          </a:p>
          <a:p xmlns:a="http://schemas.openxmlformats.org/drawingml/2006/main">
            <a:r>
              <a:t>https://en.wikipedia.org/wiki/Alexey_Nechayev</a:t>
            </a:r>
          </a:p>
          <a:p xmlns:a="http://schemas.openxmlformats.org/drawingml/2006/main">
            <a:r>
              <a:t>https://www.gazeta.ru/politics/23422027/novye-lyudi-na-vyborah-2026-goda.shtml</a:t>
            </a:r>
          </a:p>
          <a:p xmlns:a="http://schemas.openxmlformats.org/drawingml/2006/main">
            <a:r>
              <a:t>https://vremya-bir.ru/2026/03/07/dvenadtsat-shagov-k-strane-v-kotoroj-hochetsya-zhit/</a:t>
            </a:r>
          </a:p>
          <a:p xmlns:a="http://schemas.openxmlformats.org/drawingml/2006/main">
            <a:r>
              <a:t>https://www.rbc.ru/politics/08/09/2026/6aa023ec9a79471e4fd55d3c</a:t>
            </a:r>
          </a:p>
          <a:p xmlns:a="http://schemas.openxmlformats.org/drawingml/2006/main">
            <a:r>
              <a:t>https://www.interfax.ru/interview/1074248</a:t>
            </a:r>
          </a:p>
          <a:p xmlns:a="http://schemas.openxmlformats.org/drawingml/2006/main">
            <a:r>
              <a:t>https://www.interfax.ru/amp/1074248</a:t>
            </a:r>
          </a:p>
          <a:p xmlns:a="http://schemas.openxmlformats.org/drawingml/2006/main">
            <a:r>
              <a:t>https://www.vedomosti.ru/politics/articles/2026/09/09/1227352-novie-lyudi-sformulirovali-programmu</a:t>
            </a:r>
          </a:p>
          <a:p xmlns:a="http://schemas.openxmlformats.org/drawingml/2006/main">
            <a:r>
              <a:t>https://dddkursk.ru/lenta/2026/07/30/129483/</a:t>
            </a:r>
          </a:p>
          <a:p xmlns:a="http://schemas.openxmlformats.org/drawingml/2006/main">
            <a:r>
              <a:t>https://volga.news/article/803292.html</a:t>
            </a:r>
          </a:p>
          <a:p xmlns:a="http://schemas.openxmlformats.org/drawingml/2006/main">
            <a:r>
              <a:t>https://ru.wikipedia.org/wiki/%D0%9D%D0%B5%D1%87%D0%B0%D0%B5%D0%B2,_%D0%90%D0%BB%D0%B5%D0%BA%D1%81%D0%B5%D0%B9_%D0%93%D0%B5%D0%BD%D0%BD%D0%B0%D0%B4%D1%8C%D0%B5%D0%B2%D0%B8%D1%87</a:t>
            </a:r>
          </a:p>
          <a:p xmlns:a="http://schemas.openxmlformats.org/drawingml/2006/main">
            <a:r>
              <a:t>https://www.davankov2024.ru/page_biography/</a:t>
            </a:r>
          </a:p>
          <a:p xmlns:a="http://schemas.openxmlformats.org/drawingml/2006/main">
            <a:r>
              <a:t>https://davankov2024.ru/program</a:t>
            </a:r>
          </a:p>
          <a:p xmlns:a="http://schemas.openxmlformats.org/drawingml/2006/main">
            <a:r>
              <a:t>http://vote.duma.gov.ru/?convocation=AAAAAAA8&amp;deputy=99113489&amp;sort=date_desc</a:t>
            </a:r>
          </a:p>
          <a:p xmlns:a="http://schemas.openxmlformats.org/drawingml/2006/main">
            <a:r>
              <a:t>https://holod.media/2024/02/14/vladislav-davankov/</a:t>
            </a:r>
          </a:p>
          <a:p xmlns:a="http://schemas.openxmlformats.org/drawingml/2006/main">
            <a:r>
              <a:t>https://davankov2024.ru/</a:t>
            </a:r>
          </a:p>
          <a:p xmlns:a="http://schemas.openxmlformats.org/drawingml/2006/main">
            <a:r>
              <a:t>https://novayagazeta.eu/articles/2024/02/15/davankov-predstavil-predvybornuiu-programmu-bez-amnistii-politzakliuchennykh-i-s-namereniem-dobitsia-mira-na-nashikh-usloviiakh-news</a:t>
            </a:r>
          </a:p>
          <a:p xmlns:a="http://schemas.openxmlformats.org/drawingml/2006/main">
            <a:r>
              <a:t>https://www.kavkaz-uzel.eu/articles/398113</a:t>
            </a:r>
          </a:p>
          <a:p xmlns:a="http://schemas.openxmlformats.org/drawingml/2006/main">
            <a:r>
              <a:t>https://echofm.online/portret-dnya/portret-dnya-vladislav-davankov-kandidat-v-prezidenty-rossii</a:t>
            </a:r>
          </a:p>
          <a:p xmlns:a="http://schemas.openxmlformats.org/drawingml/2006/main">
            <a:r>
              <a:t>https://t.me/s/davankov?before=788</a:t>
            </a:r>
          </a:p>
          <a:p xmlns:a="http://schemas.openxmlformats.org/drawingml/2006/main">
            <a:r>
              <a:t>https://zaharprilepin.ru/ru/bio/</a:t>
            </a:r>
          </a:p>
          <a:p xmlns:a="http://schemas.openxmlformats.org/drawingml/2006/main">
            <a:r>
              <a:t>https://zaharprilepin.ru/ru/video/zapisi-vistuplenij/intervju/</a:t>
            </a:r>
          </a:p>
          <a:p xmlns:a="http://schemas.openxmlformats.org/drawingml/2006/main">
            <a:r>
              <a:t>https://zaharprilepin.ru/ru/pressa/intervyu/na-harkov.html</a:t>
            </a:r>
          </a:p>
          <a:p xmlns:a="http://schemas.openxmlformats.org/drawingml/2006/main">
            <a:r>
              <a:t>https://www.kommersant.ru/doc/4141912</a:t>
            </a:r>
          </a:p>
          <a:p xmlns:a="http://schemas.openxmlformats.org/drawingml/2006/main">
            <a:r>
              <a:t>https://novayagazeta.eu/articles/2023/05/06/plokhoi-uchenik-limonova</a:t>
            </a:r>
          </a:p>
          <a:p xmlns:a="http://schemas.openxmlformats.org/drawingml/2006/main">
            <a:r>
              <a:t>https://tass.ru/politika/11761037</a:t>
            </a:r>
          </a:p>
          <a:p xmlns:a="http://schemas.openxmlformats.org/drawingml/2006/main">
            <a:r>
              <a:t>https://www.nn.ru/text/politics/2021/10/11/70186523/</a:t>
            </a:r>
          </a:p>
          <a:p xmlns:a="http://schemas.openxmlformats.org/drawingml/2006/main">
            <a:r>
              <a:t>https://www.zaks.ru/new/archive/view/267194</a:t>
            </a:r>
          </a:p>
          <a:p xmlns:a="http://schemas.openxmlformats.org/drawingml/2006/main">
            <a:r>
              <a:t>https://spravedlivo.ru/11288710</a:t>
            </a:r>
          </a:p>
          <a:p xmlns:a="http://schemas.openxmlformats.org/drawingml/2006/main">
            <a:r>
              <a:t>https://www.kommersant.ru/doc/4241515</a:t>
            </a:r>
          </a:p>
          <a:p xmlns:a="http://schemas.openxmlformats.org/drawingml/2006/main">
            <a:r>
              <a:t>https://zaharprilepin.ru/ru/pressa/intervyu/radio-komsomolskaja-pravda-10022021.html</a:t>
            </a:r>
          </a:p>
          <a:p xmlns:a="http://schemas.openxmlformats.org/drawingml/2006/main">
            <a:r>
              <a:t>https://pozneronline.ru/2024/04/36826/</a:t>
            </a:r>
          </a:p>
          <a:p xmlns:a="http://schemas.openxmlformats.org/drawingml/2006/main">
            <a:r>
              <a:t>https://www.rbc.ru/person/62a85a259a7947b9ae5d6360</a:t>
            </a:r>
          </a:p>
          <a:p xmlns:a="http://schemas.openxmlformats.org/drawingml/2006/main">
            <a:r>
              <a:t>https://tass.ru/encyclopedia/person/poklonskaya-natalya-vladimirovna</a:t>
            </a:r>
          </a:p>
          <a:p xmlns:a="http://schemas.openxmlformats.org/drawingml/2006/main">
            <a:r>
              <a:t>https://tass.ru/tag/poklonskaya-natalya-vladimirovna</a:t>
            </a:r>
          </a:p>
          <a:p xmlns:a="http://schemas.openxmlformats.org/drawingml/2006/main">
            <a:r>
              <a:t>https://www.bbc.com/russian/features-44801571</a:t>
            </a:r>
          </a:p>
          <a:p xmlns:a="http://schemas.openxmlformats.org/drawingml/2006/main">
            <a:r>
              <a:t>https://www.rbc.ru/rbcfreenews/5ba8bd499a794792294ba05d</a:t>
            </a:r>
          </a:p>
          <a:p xmlns:a="http://schemas.openxmlformats.org/drawingml/2006/main">
            <a:r>
              <a:t>https://www.dp.ru/a/2018/08/31/Poklonskaja_otreazirovala</a:t>
            </a:r>
          </a:p>
          <a:p xmlns:a="http://schemas.openxmlformats.org/drawingml/2006/main">
            <a:r>
              <a:t>https://www.themoscowtimes.com/2022/06/13/former-crimea-prosecutor-dismissed-after-anti-war-comments-a77983</a:t>
            </a:r>
          </a:p>
          <a:p xmlns:a="http://schemas.openxmlformats.org/drawingml/2006/main">
            <a:r>
              <a:t>https://www.rbc.ru/politics/30/06/2023/649dee189a79473e3fdc8906</a:t>
            </a:r>
          </a:p>
          <a:p xmlns:a="http://schemas.openxmlformats.org/drawingml/2006/main">
            <a:r>
              <a:t>http://council.gov.ru/structure/persons/1044/</a:t>
            </a:r>
          </a:p>
          <a:p xmlns:a="http://schemas.openxmlformats.org/drawingml/2006/main">
            <a:r>
              <a:t>http://council.gov.ru/services/reference/9156/</a:t>
            </a:r>
          </a:p>
          <a:p xmlns:a="http://schemas.openxmlformats.org/drawingml/2006/main">
            <a:r>
              <a:t>http://council.gov.ru/events/news/135415/</a:t>
            </a:r>
          </a:p>
          <a:p xmlns:a="http://schemas.openxmlformats.org/drawingml/2006/main">
            <a:r>
              <a:t>https://24smi.org/celebrity/1156-elena-mizulina.html</a:t>
            </a:r>
          </a:p>
          <a:p xmlns:a="http://schemas.openxmlformats.org/drawingml/2006/main">
            <a:r>
              <a:t>https://www.bfometr.ru/blog/elena-mizulina</a:t>
            </a:r>
          </a:p>
          <a:p xmlns:a="http://schemas.openxmlformats.org/drawingml/2006/main">
            <a:r>
              <a:t>https://www.rbc.ru/society/30/03/2018/5abe1b849a79470dc3826f68</a:t>
            </a:r>
          </a:p>
          <a:p xmlns:a="http://schemas.openxmlformats.org/drawingml/2006/main">
            <a:r>
              <a:t>https://uznayvse.ru/znamenitosti/biografiya-elena-mizulina.html</a:t>
            </a:r>
          </a:p>
          <a:p xmlns:a="http://schemas.openxmlformats.org/drawingml/2006/main">
            <a:r>
              <a:t>https://radiokp.ru/people/elena-mizulina</a:t>
            </a:r>
          </a:p>
          <a:p xmlns:a="http://schemas.openxmlformats.org/drawingml/2006/main">
            <a:r>
              <a:t>https://ru.wikipedia.org/wiki/%D0%9C%D0%B8%D0%B7%D1%83%D0%BB%D0%B8%D0%BD%D0%B0,_%D0%95%D0%BB%D0%B5%D0%BD%D0%B0_%D0%91%D0%BE%D1%80%D0%B8%D1%81%D0%BE%D0%B2%D0%BD%D0%B0</a:t>
            </a:r>
          </a:p>
          <a:p xmlns:a="http://schemas.openxmlformats.org/drawingml/2006/main">
            <a:r>
              <a:t>https://ru.wikipedia.org/wiki/Милонов,_Виталий_Валентинович</a:t>
            </a:r>
          </a:p>
          <a:p xmlns:a="http://schemas.openxmlformats.org/drawingml/2006/main">
            <a:r>
              <a:t>https://tass.ru/encyclopedia/person/milonov-vitaliy-valentinovich</a:t>
            </a:r>
          </a:p>
          <a:p xmlns:a="http://schemas.openxmlformats.org/drawingml/2006/main">
            <a:r>
              <a:t>https://www.pnp.ru/person/vitaliy-milonov/</a:t>
            </a:r>
          </a:p>
          <a:p xmlns:a="http://schemas.openxmlformats.org/drawingml/2006/main">
            <a:r>
              <a:t>https://www.zaks.ru/new/person/view/172</a:t>
            </a:r>
          </a:p>
          <a:p xmlns:a="http://schemas.openxmlformats.org/drawingml/2006/main">
            <a:r>
              <a:t>https://svpressa.ru/persons/vitaliy-milonov/</a:t>
            </a:r>
          </a:p>
          <a:p xmlns:a="http://schemas.openxmlformats.org/drawingml/2006/main">
            <a:r>
              <a:t>https://stuki-druki.com/authors/Milonov-Vitaliy.php</a:t>
            </a:r>
          </a:p>
          <a:p xmlns:a="http://schemas.openxmlformats.org/drawingml/2006/main">
            <a:r>
              <a:t>https://pa.inion.ru/persons/7104/</a:t>
            </a:r>
          </a:p>
          <a:p xmlns:a="http://schemas.openxmlformats.org/drawingml/2006/main">
            <a:r>
              <a:t>https://pa.inion.ru/documents/16503/</a:t>
            </a:r>
          </a:p>
          <a:p xmlns:a="http://schemas.openxmlformats.org/drawingml/2006/main">
            <a:r>
              <a:t>https://pa.inion.ru/documents/27860/</a:t>
            </a:r>
          </a:p>
          <a:p xmlns:a="http://schemas.openxmlformats.org/drawingml/2006/main">
            <a:r>
              <a:t>https://kprf.ru/personal/ostanina</a:t>
            </a:r>
          </a:p>
          <a:p xmlns:a="http://schemas.openxmlformats.org/drawingml/2006/main">
            <a:r>
              <a:t>https://pa.inion.ru/documents/25577/</a:t>
            </a:r>
          </a:p>
          <a:p xmlns:a="http://schemas.openxmlformats.org/drawingml/2006/main">
            <a:r>
              <a:t>https://kprf.ru/dep/gosduma/activities/245108.html</a:t>
            </a:r>
          </a:p>
          <a:p xmlns:a="http://schemas.openxmlformats.org/drawingml/2006/main">
            <a:r>
              <a:t>https://www.pnp.ru/social/zashhita-detskogo-byudzheta-kruzhki-sokhranit-vyplaty-iz-matkapitala-uvelichit.html</a:t>
            </a:r>
          </a:p>
          <a:p xmlns:a="http://schemas.openxmlformats.org/drawingml/2006/main">
            <a:r>
              <a:t>https://www.pnp.ru/state-duma/nina-ostanina-o-byudzhete-na-2027-2029-gody-semeynoy-ipoteke-i-matkapitale.html</a:t>
            </a:r>
          </a:p>
          <a:p xmlns:a="http://schemas.openxmlformats.org/drawingml/2006/main">
            <a:r>
              <a:t>https://uznayvse.ru/znamenitosti/biografiya-nina-ostanina.html</a:t>
            </a:r>
          </a:p>
          <a:p xmlns:a="http://schemas.openxmlformats.org/drawingml/2006/main">
            <a:r>
              <a:t>https://dumatv.ru/news/ostanina--borba-za-mirovozzrencheskii-suverenitet-stanovitsya-gosudarstvennoi-politikoi</a:t>
            </a:r>
          </a:p>
          <a:p xmlns:a="http://schemas.openxmlformats.org/drawingml/2006/main">
            <a:r>
              <a:t>https://kprf.ru/dep/gosduma/activities/242132.html</a:t>
            </a:r>
          </a:p>
          <a:p xmlns:a="http://schemas.openxmlformats.org/drawingml/2006/main">
            <a:r>
              <a:t>https://www.business-gazeta.ru/article/625616</a:t>
            </a:r>
          </a:p>
          <a:p xmlns:a="http://schemas.openxmlformats.org/drawingml/2006/main">
            <a:r>
              <a:t>https://www.kommersant.ru/doc/3235400</a:t>
            </a:r>
          </a:p>
          <a:p xmlns:a="http://schemas.openxmlformats.org/drawingml/2006/main">
            <a:r>
              <a:t>https://www.rbc.ru/person/67d838f09a7947cdef0b1a95</a:t>
            </a:r>
          </a:p>
          <a:p xmlns:a="http://schemas.openxmlformats.org/drawingml/2006/main">
            <a:r>
              <a:t>https://www.vedomosti.ru/politics/articles/2020/03/10/824795-tereshkova-predlozhila</a:t>
            </a:r>
          </a:p>
          <a:p xmlns:a="http://schemas.openxmlformats.org/drawingml/2006/main">
            <a:r>
              <a:t>http://duma.gov.ru/news/49164/</a:t>
            </a:r>
          </a:p>
          <a:p xmlns:a="http://schemas.openxmlformats.org/drawingml/2006/main">
            <a:r>
              <a:t>https://meduza.io/news/2020/03/12/delayut-vse-dlya-togo-chtoby-gadosti-delat-tereshkova-o-protivnikah-popravki-obnulyayuschey-sroki-putina</a:t>
            </a:r>
          </a:p>
          <a:p xmlns:a="http://schemas.openxmlformats.org/drawingml/2006/main">
            <a:r>
              <a:t>https://meduza.io/feature/2020/03/10/gosduma-neozhidanno-dlya-sebya-obespechila-putina-novymi-prezidentskimi-srokami</a:t>
            </a:r>
          </a:p>
          <a:p xmlns:a="http://schemas.openxmlformats.org/drawingml/2006/main">
            <a:r>
              <a:t>https://hinshtein.ru/biography/</a:t>
            </a:r>
          </a:p>
          <a:p xmlns:a="http://schemas.openxmlformats.org/drawingml/2006/main">
            <a:r>
              <a:t>https://www.vedomosti.ru/politics/articles/2024/12/06/1079852-kto-takoi-aleksandr-hinshtein</a:t>
            </a:r>
          </a:p>
          <a:p xmlns:a="http://schemas.openxmlformats.org/drawingml/2006/main">
            <a:r>
              <a:t>https://www.rbc.ru/person/6752d12a9a7947d62166795e</a:t>
            </a:r>
          </a:p>
          <a:p xmlns:a="http://schemas.openxmlformats.org/drawingml/2006/main">
            <a:r>
              <a:t>https://www.rbc.ru/politics/06/12/2024/675207239a7947e74994842e</a:t>
            </a:r>
          </a:p>
          <a:p xmlns:a="http://schemas.openxmlformats.org/drawingml/2006/main">
            <a:r>
              <a:t>https://hinshtein.ru/news/aleksandr-hinshtejn-podvyol-itogi-goda-raboty-komiteta-gosdumy-po-informpolitike-informatsionnym-tehnologiyam-i-svyazi/</a:t>
            </a:r>
          </a:p>
          <a:p xmlns:a="http://schemas.openxmlformats.org/drawingml/2006/main">
            <a:r>
              <a:t>https://hinshtein.ru/news/a-hinshtejn-itogi-raboty-za-vii-sozyv/</a:t>
            </a:r>
          </a:p>
          <a:p xmlns:a="http://schemas.openxmlformats.org/drawingml/2006/main">
            <a:r>
              <a:t>https://www.kommersant.ru/doc/4660427</a:t>
            </a:r>
          </a:p>
          <a:p xmlns:a="http://schemas.openxmlformats.org/drawingml/2006/main">
            <a:r>
              <a:t>https://www.kommersant.ru/doc/4104004</a:t>
            </a:r>
          </a:p>
          <a:p xmlns:a="http://schemas.openxmlformats.org/drawingml/2006/main">
            <a:r>
              <a:t>https://www.nvgazeta.ru/news/12383/634260/</a:t>
            </a:r>
          </a:p>
          <a:p xmlns:a="http://schemas.openxmlformats.org/drawingml/2006/main">
            <a:r>
              <a:t>https://kpravda.ru/2025/02/11/kursk-poluchit-dengi-iz-gosbyudzheta-na-restavracziyu-istoricheskoj-kreposti/</a:t>
            </a:r>
          </a:p>
          <a:p xmlns:a="http://schemas.openxmlformats.org/drawingml/2006/main">
            <a:r>
              <a:t>https://tass.ru/obschestvo/24001633</a:t>
            </a:r>
          </a:p>
          <a:p xmlns:a="http://schemas.openxmlformats.org/drawingml/2006/main">
            <a:r>
              <a:t>https://www.kommersant.ru/doc/7737032</a:t>
            </a:r>
          </a:p>
          <a:p xmlns:a="http://schemas.openxmlformats.org/drawingml/2006/main">
            <a:r>
              <a:t>https://kpravda.ru/2025/03/21/edinaya-rossiya-pomozhet-v-restavraczii-kurskih-pamyatnikov/</a:t>
            </a:r>
          </a:p>
          <a:p xmlns:a="http://schemas.openxmlformats.org/drawingml/2006/main">
            <a:r>
              <a:t>https://news-kursk.ru/society/2025/07/13/65824.html</a:t>
            </a:r>
          </a:p>
          <a:p xmlns:a="http://schemas.openxmlformats.org/drawingml/2006/main">
            <a:r>
              <a:t>https://news.ru/russia/v-kurske-budet-alleya-geroev-hinshtejn-o-muzee-i-memoriale-zhertvam-vsu</a:t>
            </a:r>
          </a:p>
          <a:p xmlns:a="http://schemas.openxmlformats.org/drawingml/2006/main">
            <a:r>
              <a:t>https://ru.wikipedia.org/wiki/Пушков,_Алексей_Константинович</a:t>
            </a:r>
          </a:p>
          <a:p xmlns:a="http://schemas.openxmlformats.org/drawingml/2006/main">
            <a:r>
              <a:t>http://council.gov.ru/structure/persons/1316/</a:t>
            </a:r>
          </a:p>
          <a:p xmlns:a="http://schemas.openxmlformats.org/drawingml/2006/main">
            <a:r>
              <a:t>http://council.gov.ru/media/files/xjE2QHRAivCH7onABehAcG7OsnrO6DYb.pdf</a:t>
            </a:r>
          </a:p>
          <a:p xmlns:a="http://schemas.openxmlformats.org/drawingml/2006/main">
            <a:r>
              <a:t>https://base.garant.ru/406310971/</a:t>
            </a:r>
          </a:p>
          <a:p xmlns:a="http://schemas.openxmlformats.org/drawingml/2006/main">
            <a:r>
              <a:t>https://russiancouncil.ru/aleksey-pushkov/</a:t>
            </a:r>
          </a:p>
          <a:p xmlns:a="http://schemas.openxmlformats.org/drawingml/2006/main">
            <a:r>
              <a:t>http://legislation.council.gov.ru/events/announce/</a:t>
            </a:r>
          </a:p>
          <a:p xmlns:a="http://schemas.openxmlformats.org/drawingml/2006/main">
            <a:r>
              <a:t>http://council.gov.ru/events/news/173810/</a:t>
            </a:r>
          </a:p>
          <a:p xmlns:a="http://schemas.openxmlformats.org/drawingml/2006/main">
            <a:r>
              <a:t>http://www.council.gov.ru/events/news/175997/</a:t>
            </a:r>
          </a:p>
          <a:p xmlns:a="http://schemas.openxmlformats.org/drawingml/2006/main">
            <a:r>
              <a:t>http://council.gov.ru/media/report/pdf/HtoXfAAzeBJ8JwN0eAduo3rejTAYhqvB.pdf</a:t>
            </a:r>
          </a:p>
          <a:p xmlns:a="http://schemas.openxmlformats.org/drawingml/2006/main">
            <a:r>
              <a:t>http://council.gov.ru/events/news/164749/</a:t>
            </a:r>
          </a:p>
          <a:p xmlns:a="http://schemas.openxmlformats.org/drawingml/2006/main">
            <a:r>
              <a:t>https://t.me/s/alexey_pushkov?before=14914</a:t>
            </a:r>
          </a:p>
          <a:p xmlns:a="http://schemas.openxmlformats.org/drawingml/2006/main">
            <a:r>
              <a:t>http://legislation.council.gov.ru/events/multimedia/video/302078/</a:t>
            </a:r>
          </a:p>
          <a:p xmlns:a="http://schemas.openxmlformats.org/drawingml/2006/main">
            <a:r>
              <a:t>http://council.gov.ru/media/report/pdf/e8Awe3U6hNouHwSvME53OSPGGWxTeVAl.pdf</a:t>
            </a:r>
          </a:p>
          <a:p xmlns:a="http://schemas.openxmlformats.org/drawingml/2006/main">
            <a:r>
              <a:t>https://www.vedomosti.ru/person/1178385-kosachev-konstantin</a:t>
            </a:r>
          </a:p>
          <a:p xmlns:a="http://schemas.openxmlformats.org/drawingml/2006/main">
            <a:r>
              <a:t>https://www.interfax.ru/interview/812963</a:t>
            </a:r>
          </a:p>
          <a:p xmlns:a="http://schemas.openxmlformats.org/drawingml/2006/main">
            <a:r>
              <a:t>https://senatinform.ru/news/yuzhnuyu_osetiyu_neobkhodimo_vyvodit_iz_iskusstvennoy_izolyatsii_schitayut_rossiyskie_senatory_/</a:t>
            </a:r>
          </a:p>
          <a:p xmlns:a="http://schemas.openxmlformats.org/drawingml/2006/main">
            <a:r>
              <a:t>https://senatinform.ru/news/kosachyev_rossiya_gotova_rabotat_s_mps_s_uchyetom_ozabochennostey_nashey_strany/</a:t>
            </a:r>
          </a:p>
          <a:p xmlns:a="http://schemas.openxmlformats.org/drawingml/2006/main">
            <a:r>
              <a:t>https://www.bfm.ru/person/61</a:t>
            </a:r>
          </a:p>
          <a:p xmlns:a="http://schemas.openxmlformats.org/drawingml/2006/main">
            <a:r>
              <a:t>https://svpressa.ru/persons/konstantin-kosachev/</a:t>
            </a:r>
          </a:p>
          <a:p xmlns:a="http://schemas.openxmlformats.org/drawingml/2006/main">
            <a:r>
              <a:t>https://www.pnp.ru/person/konstantin-kosachev/</a:t>
            </a:r>
          </a:p>
          <a:p xmlns:a="http://schemas.openxmlformats.org/drawingml/2006/main">
            <a:r>
              <a:t>https://www.pnp.ru/politics/konstantin-kosachev-dlya-ssha-voyna-s-rossiey-eto-samoubiystvo.html</a:t>
            </a:r>
          </a:p>
          <a:p xmlns:a="http://schemas.openxmlformats.org/drawingml/2006/main">
            <a:r>
              <a:t>https://www.mlg.ru/ratings/vlast/senators/10844/</a:t>
            </a:r>
          </a:p>
          <a:p xmlns:a="http://schemas.openxmlformats.org/drawingml/2006/main">
            <a:r>
              <a:t>http://council.gov.ru/events/news/173506/</a:t>
            </a:r>
          </a:p>
          <a:p xmlns:a="http://schemas.openxmlformats.org/drawingml/2006/main">
            <a:r>
              <a:t>https://t.me/s/Kosachev62</a:t>
            </a:r>
          </a:p>
          <a:p xmlns:a="http://schemas.openxmlformats.org/drawingml/2006/main">
            <a:r>
              <a:t>http://council.gov.ru/events/news/177602/</a:t>
            </a:r>
          </a:p>
          <a:p xmlns:a="http://schemas.openxmlformats.org/drawingml/2006/main">
            <a:r>
              <a:t>https://vmeste-rf.tv/programs/205/konstantin-kosachev-sotrudnichestvo-rossii-i-efiopii-itogi-vizita-delegatsii-sf/</a:t>
            </a:r>
          </a:p>
          <a:p xmlns:a="http://schemas.openxmlformats.org/drawingml/2006/main">
            <a:r>
              <a:t>https://www.rbc.ru/person/64b8e1909a79474f30e86f98</a:t>
            </a:r>
          </a:p>
          <a:p xmlns:a="http://schemas.openxmlformats.org/drawingml/2006/main">
            <a:r>
              <a:t>https://www.kommersant.ru/doc/6041063</a:t>
            </a:r>
          </a:p>
          <a:p xmlns:a="http://schemas.openxmlformats.org/drawingml/2006/main">
            <a:r>
              <a:t>https://www.mos.ru/mayor/themes/6907050/</a:t>
            </a:r>
          </a:p>
          <a:p xmlns:a="http://schemas.openxmlformats.org/drawingml/2006/main">
            <a:r>
              <a:t>https://www.mos.ru/mayor/themes/7037050/</a:t>
            </a:r>
          </a:p>
          <a:p xmlns:a="http://schemas.openxmlformats.org/drawingml/2006/main">
            <a:r>
              <a:t>https://www.mos.ru/mayor/themes/8822050/</a:t>
            </a:r>
          </a:p>
          <a:p xmlns:a="http://schemas.openxmlformats.org/drawingml/2006/main">
            <a:r>
              <a:t>http://special.kremlin.ru/catalog/persons/38/events/70467</a:t>
            </a:r>
          </a:p>
          <a:p xmlns:a="http://schemas.openxmlformats.org/drawingml/2006/main">
            <a:r>
              <a:t>https://www.mos.ru/upload/content/files/15af077500dcc5a1547bf728abf25669/15Zakong_Moskviot17_05_2017N14Odopolnitelnihgaranti.pdf</a:t>
            </a:r>
          </a:p>
          <a:p xmlns:a="http://schemas.openxmlformats.org/drawingml/2006/main">
            <a:r>
              <a:t>https://www.rbc.ru/politics/03/05/2023/645245159a794763ce66d990</a:t>
            </a:r>
          </a:p>
          <a:p xmlns:a="http://schemas.openxmlformats.org/drawingml/2006/main">
            <a:r>
              <a:t>https://www.dw.com/ru/ataka-dronov-v-moskve-i-podmoskove-cto-izvestno/a-65771767</a:t>
            </a:r>
          </a:p>
          <a:p xmlns:a="http://schemas.openxmlformats.org/drawingml/2006/main">
            <a:r>
              <a:t>https://www.rbc.ru/politics/01/08/2023/64c856ce9a79471a722e13ad</a:t>
            </a:r>
          </a:p>
          <a:p xmlns:a="http://schemas.openxmlformats.org/drawingml/2006/main">
            <a:r>
              <a:t>https://www.rbc.ru/politics/23/08/2023/64e54f299a794789ddb55c65</a:t>
            </a:r>
          </a:p>
          <a:p xmlns:a="http://schemas.openxmlformats.org/drawingml/2006/main">
            <a:r>
              <a:t>https://ru.wikipedia.org/wiki/Беглов,_Александр_Дмитриевич</a:t>
            </a:r>
          </a:p>
          <a:p xmlns:a="http://schemas.openxmlformats.org/drawingml/2006/main">
            <a:r>
              <a:t>https://www.gov.spb.ru/governor/</a:t>
            </a:r>
          </a:p>
          <a:p xmlns:a="http://schemas.openxmlformats.org/drawingml/2006/main">
            <a:r>
              <a:t>https://www.rbc.ru/politics/30/05/2019/5cf02cf09a79475ed4d2fa3f</a:t>
            </a:r>
          </a:p>
          <a:p xmlns:a="http://schemas.openxmlformats.org/drawingml/2006/main">
            <a:r>
              <a:t>https://www.themoscowtimes.com/2019/09/11/st-petersburg-re-elects-governor-beglov-after-controversial-campaign-a67240</a:t>
            </a:r>
          </a:p>
          <a:p xmlns:a="http://schemas.openxmlformats.org/drawingml/2006/main">
            <a:r>
              <a:t>https://www.gov.spb.ru/press/governor/188637/</a:t>
            </a:r>
          </a:p>
          <a:p xmlns:a="http://schemas.openxmlformats.org/drawingml/2006/main">
            <a:r>
              <a:t>https://www.gov.spb.ru/press/governor/213661/</a:t>
            </a:r>
          </a:p>
          <a:p xmlns:a="http://schemas.openxmlformats.org/drawingml/2006/main">
            <a:r>
              <a:t>https://www.gov.spb.ru/press/governor/258831/</a:t>
            </a:r>
          </a:p>
          <a:p xmlns:a="http://schemas.openxmlformats.org/drawingml/2006/main">
            <a:r>
              <a:t>https://www.gov.spb.ru/governor/interview/7333/</a:t>
            </a:r>
          </a:p>
          <a:p xmlns:a="http://schemas.openxmlformats.org/drawingml/2006/main">
            <a:r>
              <a:t>https://tass.ru/interviews/21839179</a:t>
            </a:r>
          </a:p>
          <a:p xmlns:a="http://schemas.openxmlformats.org/drawingml/2006/main">
            <a:r>
              <a:t>https://www.gov.spb.ru/press/governor/236663/</a:t>
            </a:r>
          </a:p>
          <a:p xmlns:a="http://schemas.openxmlformats.org/drawingml/2006/main">
            <a:r>
              <a:t>https://tvspb.ru/news/2022/09/21/aleksandr-beglov-ukaz-prezidenta-o-chastichnoj-mobilizaczii-byl-trudnym-no-neobhodimym-shagom</a:t>
            </a:r>
          </a:p>
          <a:p xmlns:a="http://schemas.openxmlformats.org/drawingml/2006/main">
            <a:r>
              <a:t>https://spbvedomosti.ru/news/gorod/gubernator-aleksandr-beglov-obyavil-o-zavershenii-chastichnoy-mobilizatsii/</a:t>
            </a:r>
          </a:p>
          <a:p xmlns:a="http://schemas.openxmlformats.org/drawingml/2006/main">
            <a:r>
              <a:t>https://www.gov.spb.ru/press/governor/253716/</a:t>
            </a:r>
          </a:p>
          <a:p xmlns:a="http://schemas.openxmlformats.org/drawingml/2006/main">
            <a:r>
              <a:t>https://www.gov.spb.ru/press/governor/290070/</a:t>
            </a:r>
          </a:p>
          <a:p xmlns:a="http://schemas.openxmlformats.org/drawingml/2006/main">
            <a:r>
              <a:t>https://spbdnevnik.ru/news/2022-10-06/aleksandr-beglov-rasskazal-o-prizyve-po-mobilizatsii-peterburzhtsa-s-odnoy-pochkoy</a:t>
            </a:r>
          </a:p>
          <a:p xmlns:a="http://schemas.openxmlformats.org/drawingml/2006/main">
            <a:r>
              <a:t>https://www.rbc.ru/person/62c5c0899a79470082fa57eb</a:t>
            </a:r>
          </a:p>
          <a:p xmlns:a="http://schemas.openxmlformats.org/drawingml/2006/main">
            <a:r>
              <a:t>https://www.kavkaz-uzel.eu/articles/85366</a:t>
            </a:r>
          </a:p>
          <a:p xmlns:a="http://schemas.openxmlformats.org/drawingml/2006/main">
            <a:r>
              <a:t>https://news.ru/regions/my-dolzhny-zabrat-vsyu-ukrainu-chto-kadyrov-govoril-ob-svo-rossii-putine</a:t>
            </a:r>
          </a:p>
          <a:p xmlns:a="http://schemas.openxmlformats.org/drawingml/2006/main">
            <a:r>
              <a:t>https://minval.az/k/ramzan-kadyrov</a:t>
            </a:r>
          </a:p>
          <a:p xmlns:a="http://schemas.openxmlformats.org/drawingml/2006/main">
            <a:r>
              <a:t>http://publication.pravo.gov.ru/document/2000202609160002</a:t>
            </a:r>
          </a:p>
          <a:p xmlns:a="http://schemas.openxmlformats.org/drawingml/2006/main">
            <a:r>
              <a:t>https://vestikavkaza.ru/amp/291219</a:t>
            </a:r>
          </a:p>
          <a:p xmlns:a="http://schemas.openxmlformats.org/drawingml/2006/main">
            <a:r>
              <a:t>https://tass.ru/obschestvo/25968415</a:t>
            </a:r>
          </a:p>
          <a:p xmlns:a="http://schemas.openxmlformats.org/drawingml/2006/main">
            <a:r>
              <a:t>https://www.rbc.ru/rbcfreenews/694558f89a794775c8b05d2e</a:t>
            </a:r>
          </a:p>
          <a:p xmlns:a="http://schemas.openxmlformats.org/drawingml/2006/main">
            <a:r>
              <a:t>https://rais.tatarstan.ru/biografiya.htm</a:t>
            </a:r>
          </a:p>
          <a:p xmlns:a="http://schemas.openxmlformats.org/drawingml/2006/main">
            <a:r>
              <a:t>https://rt.rbc.ru/tatarstan/freenews/68c7f77d9a79472be550408e</a:t>
            </a:r>
          </a:p>
          <a:p xmlns:a="http://schemas.openxmlformats.org/drawingml/2006/main">
            <a:r>
              <a:t>https://rt.rbc.ru/tatarstan/freenews/68c90bdc9a794783273a16b6</a:t>
            </a:r>
          </a:p>
          <a:p xmlns:a="http://schemas.openxmlformats.org/drawingml/2006/main">
            <a:r>
              <a:t>https://tass.ru/politika/25045679</a:t>
            </a:r>
          </a:p>
          <a:p xmlns:a="http://schemas.openxmlformats.org/drawingml/2006/main">
            <a:r>
              <a:t>https://tass.ru/info/25058299</a:t>
            </a:r>
          </a:p>
          <a:p xmlns:a="http://schemas.openxmlformats.org/drawingml/2006/main">
            <a:r>
              <a:t>https://tatarstan.ru/index.htm/news/2454245.htm</a:t>
            </a:r>
          </a:p>
          <a:p xmlns:a="http://schemas.openxmlformats.org/drawingml/2006/main">
            <a:r>
              <a:t>https://izbirkom.tatarstan.ru/file/pub/pub_4719790.docx</a:t>
            </a:r>
          </a:p>
          <a:p xmlns:a="http://schemas.openxmlformats.org/drawingml/2006/main">
            <a:r>
              <a:t>http://www.pfo.gov.ru/press/events/112125/</a:t>
            </a:r>
          </a:p>
          <a:p xmlns:a="http://schemas.openxmlformats.org/drawingml/2006/main">
            <a:r>
              <a:t>https://www.tatar-inform.ru/news/rustam-minnixanov-sankcii-ne-koncatsya-poka-my-ne-stanem-samodostatocnymi-5896958</a:t>
            </a:r>
          </a:p>
          <a:p xmlns:a="http://schemas.openxmlformats.org/drawingml/2006/main">
            <a:r>
              <a:t>https://tatarstan.ru/index.htm/news/1916025.htm</a:t>
            </a:r>
          </a:p>
          <a:p xmlns:a="http://schemas.openxmlformats.org/drawingml/2006/main">
            <a:r>
              <a:t>https://kitaphane.tatarstan.ru/digital.htm</a:t>
            </a:r>
          </a:p>
          <a:p xmlns:a="http://schemas.openxmlformats.org/drawingml/2006/main">
            <a:r>
              <a:t>https://kt.tatarstan.ru/index.htm/news/2266706.htm</a:t>
            </a:r>
          </a:p>
          <a:p xmlns:a="http://schemas.openxmlformats.org/drawingml/2006/main">
            <a:r>
              <a:t>https://tatarstan.ru/index.htm/news/2460505.htm</a:t>
            </a:r>
          </a:p>
          <a:p xmlns:a="http://schemas.openxmlformats.org/drawingml/2006/main">
            <a:r>
              <a:t>https://digital.tatarstan.ru/index.htm/news/2460691.htm</a:t>
            </a:r>
          </a:p>
          <a:p xmlns:a="http://schemas.openxmlformats.org/drawingml/2006/main">
            <a:r>
              <a:t>https://amp.rbc.ru/rbcnews/politics/09/07/2020/5f06bbb69a79475c40a9a094</a:t>
            </a:r>
          </a:p>
          <a:p xmlns:a="http://schemas.openxmlformats.org/drawingml/2006/main">
            <a:r>
              <a:t>https://1kas.sudrf.ru/modules.php?name=sud_delo&amp;name_op=doc&amp;number=39453936&amp;delo_id=2450001&amp;case_type=0&amp;new=2450001&amp;text_number=1&amp;srv_num=1</a:t>
            </a:r>
          </a:p>
          <a:p xmlns:a="http://schemas.openxmlformats.org/drawingml/2006/main">
            <a:r>
              <a:t>https://www.interfax.ru/russia/982916</a:t>
            </a:r>
          </a:p>
          <a:p xmlns:a="http://schemas.openxmlformats.org/drawingml/2006/main">
            <a:r>
              <a:t>https://www.svoboda.org/a/sud-ostavil-v-sile-prigovor-habarovskomu-eks-gubernatoru-sergeyu-furgalu/32686024.html</a:t>
            </a:r>
          </a:p>
          <a:p xmlns:a="http://schemas.openxmlformats.org/drawingml/2006/main">
            <a:r>
              <a:t>https://www.dw.com/ru/kommentarij-furgal-peresidit-putina/a-64670560</a:t>
            </a:r>
          </a:p>
          <a:p xmlns:a="http://schemas.openxmlformats.org/drawingml/2006/main">
            <a:r>
              <a:t>https://www.kommersant.ru/doc/3896415</a:t>
            </a:r>
          </a:p>
          <a:p xmlns:a="http://schemas.openxmlformats.org/drawingml/2006/main">
            <a:r>
              <a:t>https://todaykhv.ru/news/policy/19386/</a:t>
            </a:r>
          </a:p>
          <a:p xmlns:a="http://schemas.openxmlformats.org/drawingml/2006/main">
            <a:r>
              <a:t>https://meduza.io/feature/2018/09/19/ya-dumayu-chto-situatsiya-kak-v-primorie-u-nas-ne-povtoritsya</a:t>
            </a:r>
          </a:p>
          <a:p xmlns:a="http://schemas.openxmlformats.org/drawingml/2006/main">
            <a:r>
              <a:t>https://govoritmoskva.ru/news/174327/</a:t>
            </a:r>
          </a:p>
          <a:p xmlns:a="http://schemas.openxmlformats.org/drawingml/2006/main">
            <a:r>
              <a:t>https://todaykhv.ru/news/policy/22426/?sphrase_id=2620206</a:t>
            </a:r>
          </a:p>
          <a:p xmlns:a="http://schemas.openxmlformats.org/drawingml/2006/main">
            <a:r>
              <a:t>https://ru.wikipedia.org/wiki/%D0%A4%D1%83%D1%80%D0%B3%D0%B0%D0%BB,_%D0%A1%D0%B5%D1%80%D0%B3%D0%B5%D0%B9_%D0%98%D0%B2%D0%B0%D0%BD%D0%BE%D0%B2%D0%B8%D1%87</a:t>
            </a:r>
          </a:p>
          <a:p xmlns:a="http://schemas.openxmlformats.org/drawingml/2006/main">
            <a:r>
              <a:t>https://novayagazeta.ru/articles/2018/09/18/77870-ne-dopuschu-zdes-revolyutsii</a:t>
            </a:r>
          </a:p>
          <a:p xmlns:a="http://schemas.openxmlformats.org/drawingml/2006/main">
            <a:r>
              <a:t>https://opkhv.ru/publications/4888</a:t>
            </a:r>
          </a:p>
          <a:p xmlns:a="http://schemas.openxmlformats.org/drawingml/2006/main">
            <a:r>
              <a:t>https://meduza.io/feature/2019/08/26/partiya-vlasti-zdes-ldpr</a:t>
            </a:r>
          </a:p>
          <a:p xmlns:a="http://schemas.openxmlformats.org/drawingml/2006/main">
            <a:r>
              <a:t>https://tass.ru/obschestvo/5946495</a:t>
            </a:r>
          </a:p>
          <a:p xmlns:a="http://schemas.openxmlformats.org/drawingml/2006/main">
            <a:r>
              <a:t>https://amurmedia.ru/news/775590/</a:t>
            </a:r>
          </a:p>
          <a:p xmlns:a="http://schemas.openxmlformats.org/drawingml/2006/main">
            <a:r>
              <a:t>https://www.eastrussia.ru/material/ne-planiruyushchim-pereezzhat-sovetuyu-pomolchat/</a:t>
            </a:r>
          </a:p>
          <a:p xmlns:a="http://schemas.openxmlformats.org/drawingml/2006/main">
            <a:r>
              <a:t>https://www.dw.com/ru/v-habarovske-priznali-ekstremistskim-dvizenie-v-zasitu-furgala/a-68334442</a:t>
            </a:r>
          </a:p>
          <a:p xmlns:a="http://schemas.openxmlformats.org/drawingml/2006/main">
            <a:r>
              <a:t>https://www.rbc.ru/person/66475fec9a79475c4d9443ad</a:t>
            </a:r>
          </a:p>
          <a:p xmlns:a="http://schemas.openxmlformats.org/drawingml/2006/main">
            <a:r>
              <a:t>https://tass.ru/info/12453099</a:t>
            </a:r>
          </a:p>
          <a:p xmlns:a="http://schemas.openxmlformats.org/drawingml/2006/main">
            <a:r>
              <a:t>https://tass.ru/info/9007455</a:t>
            </a:r>
          </a:p>
          <a:p xmlns:a="http://schemas.openxmlformats.org/drawingml/2006/main">
            <a:r>
              <a:t>https://tass.ru/info/20795009</a:t>
            </a:r>
          </a:p>
          <a:p xmlns:a="http://schemas.openxmlformats.org/drawingml/2006/main">
            <a:r>
              <a:t>https://tass.ru/encyclopedia/person/degtyarev-mihail-vladimirovich</a:t>
            </a:r>
          </a:p>
          <a:p xmlns:a="http://schemas.openxmlformats.org/drawingml/2006/main">
            <a:r>
              <a:t>https://www.rbc.ru/politics/20/07/2020/5f1586289a794722b2457d61</a:t>
            </a:r>
          </a:p>
          <a:p xmlns:a="http://schemas.openxmlformats.org/drawingml/2006/main">
            <a:r>
              <a:t>https://www.minsport.gov.ru/press-center/news/intervyu-mihaila-degtyareva-gazete-kommersant/</a:t>
            </a:r>
          </a:p>
          <a:p xmlns:a="http://schemas.openxmlformats.org/drawingml/2006/main">
            <a:r>
              <a:t>https://minsport.gov.ru/press-center/news/mihail-degtyarev-nashe-mesto-za-stolom-a-ne-v-perednej/</a:t>
            </a:r>
          </a:p>
          <a:p xmlns:a="http://schemas.openxmlformats.org/drawingml/2006/main">
            <a:r>
              <a:t>https://news.ru/vlast/degtyarev-prizval-ne-doveryat-evrope-provedenie-sorevnovanij</a:t>
            </a:r>
          </a:p>
          <a:p xmlns:a="http://schemas.openxmlformats.org/drawingml/2006/main">
            <a:r>
              <a:t>https://www.interfax.ru/presscenter/622170</a:t>
            </a:r>
          </a:p>
          <a:p xmlns:a="http://schemas.openxmlformats.org/drawingml/2006/main">
            <a:r>
              <a:t>https://tass.ru/interviews/13152777</a:t>
            </a:r>
          </a:p>
          <a:p xmlns:a="http://schemas.openxmlformats.org/drawingml/2006/main">
            <a:r>
              <a:t>https://www.sports.ru/others/blogs/3302024.html</a:t>
            </a:r>
          </a:p>
          <a:p xmlns:a="http://schemas.openxmlformats.org/drawingml/2006/main">
            <a:r>
              <a:t>https://www.vremyan.ru/news/556863</a:t>
            </a:r>
          </a:p>
          <a:p xmlns:a="http://schemas.openxmlformats.org/drawingml/2006/main">
            <a:r>
              <a:t>https://kprf.ru/personal/levchenko</a:t>
            </a:r>
          </a:p>
          <a:p xmlns:a="http://schemas.openxmlformats.org/drawingml/2006/main">
            <a:r>
              <a:t>https://www.rbc.ru/politics/23/06/2020/5ef0bd949a7947b3cd3dcba6</a:t>
            </a:r>
          </a:p>
          <a:p xmlns:a="http://schemas.openxmlformats.org/drawingml/2006/main">
            <a:r>
              <a:t>https://kprf.ru/party-live/regnews/194838.html</a:t>
            </a:r>
          </a:p>
          <a:p xmlns:a="http://schemas.openxmlformats.org/drawingml/2006/main">
            <a:r>
              <a:t>https://liveangarsk.ru/news/20191214/v-slozhivsheisya</a:t>
            </a:r>
          </a:p>
          <a:p xmlns:a="http://schemas.openxmlformats.org/drawingml/2006/main">
            <a:r>
              <a:t>https://kprf.ru/dep/gosduma/activities/240271.html</a:t>
            </a:r>
          </a:p>
          <a:p xmlns:a="http://schemas.openxmlformats.org/drawingml/2006/main">
            <a:r>
              <a:t>https://kprf.ru/dep/gosduma/activities/241686.html</a:t>
            </a:r>
          </a:p>
          <a:p xmlns:a="http://schemas.openxmlformats.org/drawingml/2006/main">
            <a:r>
              <a:t>https://altairk.ru/new/policy/the_message_of_the_governor</a:t>
            </a:r>
          </a:p>
          <a:p xmlns:a="http://schemas.openxmlformats.org/drawingml/2006/main">
            <a:r>
              <a:t>https://kto-irkutsk.ru/2026/07/20/sergej-levchenko-deyatelnost-i-zayavleniya-i-ix-ocenka/</a:t>
            </a:r>
          </a:p>
          <a:p xmlns:a="http://schemas.openxmlformats.org/drawingml/2006/main">
            <a:r>
              <a:t>https://ru.wikipedia.org/wiki/%D0%9B%D0%B5%D0%B2%D1%87%D0%B5%D0%BD%D0%BA%D0%BE,_%D0%A1%D0%B5%D1%80%D0%B3%D0%B5%D0%B9_%D0%93%D0%B5%D0%BE%D1%80%D0%B3%D0%B8%D0%B5%D0%B2%D0%B8%D1%87</a:t>
            </a:r>
          </a:p>
          <a:p xmlns:a="http://schemas.openxmlformats.org/drawingml/2006/main">
            <a:r>
              <a:t>https://www.newsru.com/dossiers/10330/</a:t>
            </a:r>
          </a:p>
          <a:p xmlns:a="http://schemas.openxmlformats.org/drawingml/2006/main">
            <a:r>
              <a:t>https://www.interfax.ru/russia/714300</a:t>
            </a:r>
          </a:p>
          <a:p xmlns:a="http://schemas.openxmlformats.org/drawingml/2006/main">
            <a:r>
              <a:t>https://www.rbc.ru/politics/14/09/2020/5f5e7dfb9a79477f7753d651</a:t>
            </a:r>
          </a:p>
          <a:p xmlns:a="http://schemas.openxmlformats.org/drawingml/2006/main">
            <a:r>
              <a:t>https://www.rline.tv/podrobnosti/2019-10-06-sergey-levchenko-za-chetyre-goda-sdelano-bolshe-chem-za-predydushchie-15-let/</a:t>
            </a:r>
          </a:p>
          <a:p xmlns:a="http://schemas.openxmlformats.org/drawingml/2006/main">
            <a:r>
              <a:t>https://vs19.ru/verhovny-sovet/deputati/670-konovalov-valentin-olegovich</a:t>
            </a:r>
          </a:p>
          <a:p xmlns:a="http://schemas.openxmlformats.org/drawingml/2006/main">
            <a:r>
              <a:t>https://meduza.io/feature/2018/09/10/etu-vlast-nichego-ne-spaset</a:t>
            </a:r>
          </a:p>
          <a:p xmlns:a="http://schemas.openxmlformats.org/drawingml/2006/main">
            <a:r>
              <a:t>https://kprf.ru/party-live/regnews/188553.html</a:t>
            </a:r>
          </a:p>
          <a:p xmlns:a="http://schemas.openxmlformats.org/drawingml/2006/main">
            <a:r>
              <a:t>https://www.kommersant.ru/doc/4441936</a:t>
            </a:r>
          </a:p>
          <a:p xmlns:a="http://schemas.openxmlformats.org/drawingml/2006/main">
            <a:r>
              <a:t>http://www.youtube.com/watch?v=eO6lUkFCAqM</a:t>
            </a:r>
          </a:p>
          <a:p xmlns:a="http://schemas.openxmlformats.org/drawingml/2006/main">
            <a:r>
              <a:t>https://ru.wikipedia.org/wiki/%D0%92%D1%8B%D0%B1%D0%BE%D1%80%D1%8B_%D0%B3%D0%BB%D0%B0%D0%B2%D1%8B_%D0%A0%D0%B5%D1%81%D0%BF%D1%83%D0%B1%D0%BB%D0%B8%D0%BA%D0%B8_%D0%A5%D0%B0%D0%BA%D0%B0%D1%81%D0%B8%D1%8F_(2018)</a:t>
            </a:r>
          </a:p>
          <a:p xmlns:a="http://schemas.openxmlformats.org/drawingml/2006/main">
            <a:r>
              <a:t>https://ok.ru/group/51615057903766/topic/157744983021718</a:t>
            </a:r>
          </a:p>
          <a:p xmlns:a="http://schemas.openxmlformats.org/drawingml/2006/main">
            <a:r>
              <a:t>https://kprf.ru/party-live/cknews/245343.html</a:t>
            </a:r>
          </a:p>
          <a:p xmlns:a="http://schemas.openxmlformats.org/drawingml/2006/main">
            <a:r>
              <a:t>https://r-19.ru/news/politika/190680/</a:t>
            </a:r>
          </a:p>
          <a:p xmlns:a="http://schemas.openxmlformats.org/drawingml/2006/main">
            <a:r>
              <a:t>https://r-19.ru/news/ekonomika/193031/</a:t>
            </a:r>
          </a:p>
          <a:p xmlns:a="http://schemas.openxmlformats.org/drawingml/2006/main">
            <a:r>
              <a:t>https://19rusinfo.ru/ekonomika/118670-otchjot</a:t>
            </a:r>
          </a:p>
          <a:p xmlns:a="http://schemas.openxmlformats.org/drawingml/2006/main">
            <a:r>
              <a:t>https://iditena.ru/candidates/konovalov-valentin-olegovich/</a:t>
            </a:r>
          </a:p>
          <a:p xmlns:a="http://schemas.openxmlformats.org/drawingml/2006/main">
            <a:r>
              <a:t>https://56.kprf.ru/deyatelnost/tpost/gjjjuy1zi1-glava-hakasii-valentin-konovalov-dal-int</a:t>
            </a:r>
          </a:p>
          <a:p xmlns:a="http://schemas.openxmlformats.org/drawingml/2006/main">
            <a:r>
              <a:t>https://meduza.io/feature/2019/05/31/strana-pobedivshego-kommunista</a:t>
            </a:r>
          </a:p>
          <a:p xmlns:a="http://schemas.openxmlformats.org/drawingml/2006/main">
            <a:r>
              <a:t>https://xn--80aac0c2a.xn--p1acf/2026/08/22/vstrecha-s-uchastiem-valentina-konovalova-i-alekseya-kornienko-proshla-v-habarovske</a:t>
            </a:r>
          </a:p>
          <a:p xmlns:a="http://schemas.openxmlformats.org/drawingml/2006/main">
            <a:r>
              <a:t>https://www.vedomosti.ru/politics/characters/2026/07/06/1211370-valentin-konovalov-rossiya-na-moskve-ne-zakanchivaetsya?from=newsline</a:t>
            </a:r>
          </a:p>
          <a:p xmlns:a="http://schemas.openxmlformats.org/drawingml/2006/main">
            <a:r>
              <a:t>https://www.vedomosti.ru/person/1215197-aksenov-sergei</a:t>
            </a:r>
          </a:p>
          <a:p xmlns:a="http://schemas.openxmlformats.org/drawingml/2006/main">
            <a:r>
              <a:t>https://www.rbc.ru/person/65f020599a79475815e702c9</a:t>
            </a:r>
          </a:p>
          <a:p xmlns:a="http://schemas.openxmlformats.org/drawingml/2006/main">
            <a:r>
              <a:t>http://crimea.gov.ru/news/30_03_18_10</a:t>
            </a:r>
          </a:p>
          <a:p xmlns:a="http://schemas.openxmlformats.org/drawingml/2006/main">
            <a:r>
              <a:t>https://www.npr.org/sections/parallels/2018/01/27/581114772/putins-man-in-crimea-we-ve-returned-to-russia-forever</a:t>
            </a:r>
          </a:p>
          <a:p xmlns:a="http://schemas.openxmlformats.org/drawingml/2006/main">
            <a:r>
              <a:t>http://crimea.gov.ru/en/news/26_02_19_6</a:t>
            </a:r>
          </a:p>
          <a:p xmlns:a="http://schemas.openxmlformats.org/drawingml/2006/main">
            <a:r>
              <a:t>https://antifashist.com/item/kto-polomal-infopole-kryma-i-ne-otvechaet-na-voprosy.html</a:t>
            </a:r>
          </a:p>
          <a:p xmlns:a="http://schemas.openxmlformats.org/drawingml/2006/main">
            <a:r>
              <a:t>https://ru.krymr.com/a/news/27913548.html</a:t>
            </a:r>
          </a:p>
          <a:p xmlns:a="http://schemas.openxmlformats.org/drawingml/2006/main">
            <a:r>
              <a:t>https://simfch.ru/2022/03/02/glava-respubliki-krym-sergej-aksyonov-prizval-krymchan-k-informaczionnoj-mobilizaczii-otkrytomu-i-publichnomu-vyrazheniyu-svoej-patrioticheskoj-poziczii/</a:t>
            </a:r>
          </a:p>
          <a:p xmlns:a="http://schemas.openxmlformats.org/drawingml/2006/main">
            <a:r>
              <a:t>https://www.rbc.ru/politics/29/05/2023/64749e389a7947f3de98dff2</a:t>
            </a:r>
          </a:p>
          <a:p xmlns:a="http://schemas.openxmlformats.org/drawingml/2006/main">
            <a:r>
              <a:t>https://ru.krymr.com/a/krym-sergey-aksenov-pvo-prilety-bavovna-bezopasnost-pvo-udar/32631709.html</a:t>
            </a:r>
          </a:p>
          <a:p xmlns:a="http://schemas.openxmlformats.org/drawingml/2006/main">
            <a:r>
              <a:t>https://rostov.rbc.ru/rostov/interview/18/03/2024/65f75c4f9a7947c8b475ab94</a:t>
            </a:r>
          </a:p>
          <a:p xmlns:a="http://schemas.openxmlformats.org/drawingml/2006/main">
            <a:r>
              <a:t>https://www.kommersant.ru/doc/7715230</a:t>
            </a:r>
          </a:p>
          <a:p xmlns:a="http://schemas.openxmlformats.org/drawingml/2006/main">
            <a:r>
              <a:t>https://www.kommersant.ru/doc/5154319</a:t>
            </a:r>
          </a:p>
          <a:p xmlns:a="http://schemas.openxmlformats.org/drawingml/2006/main">
            <a:r>
              <a:t>https://www.rbc.ru/person/660290b19a7947801fe9439b</a:t>
            </a:r>
          </a:p>
          <a:p xmlns:a="http://schemas.openxmlformats.org/drawingml/2006/main">
            <a:r>
              <a:t>https://www.kommersant.ru/doc/3759211</a:t>
            </a:r>
          </a:p>
          <a:p xmlns:a="http://schemas.openxmlformats.org/drawingml/2006/main">
            <a:r>
              <a:t>https://tass.ru/info/6656656</a:t>
            </a:r>
          </a:p>
          <a:p xmlns:a="http://schemas.openxmlformats.org/drawingml/2006/main">
            <a:r>
              <a:t>https://sevastopol.er.ru/pages/otchet-gubernatora-sevastopolya-mihaila-razvozhaeva</a:t>
            </a:r>
          </a:p>
          <a:p xmlns:a="http://schemas.openxmlformats.org/drawingml/2006/main">
            <a:r>
              <a:t>http://special.kremlin.ru/catalog/persons/579/events/76271</a:t>
            </a:r>
          </a:p>
          <a:p xmlns:a="http://schemas.openxmlformats.org/drawingml/2006/main">
            <a:r>
              <a:t>https://sevastopol.su/news/chastnyy-biznes-vlozhil-v-sevastopol-250-mlrd-rubley-za-tri-goda</a:t>
            </a:r>
          </a:p>
          <a:p xmlns:a="http://schemas.openxmlformats.org/drawingml/2006/main">
            <a:r>
              <a:t>https://sevastopol.su/news/v-sevastopole-ocenili-perspektivy-mikhaila-razvozhaeva-na-sleduyuschikh-vyborakh</a:t>
            </a:r>
          </a:p>
          <a:p xmlns:a="http://schemas.openxmlformats.org/drawingml/2006/main">
            <a:r>
              <a:t>https://tass.ru/interviews/10248577</a:t>
            </a:r>
          </a:p>
          <a:p xmlns:a="http://schemas.openxmlformats.org/drawingml/2006/main">
            <a:r>
              <a:t>https://news.ru/russia/u-nas-smelye-plany-gubernator-sevastopolya-razvozzhaev-o-budushem-goroda</a:t>
            </a:r>
          </a:p>
          <a:p xmlns:a="http://schemas.openxmlformats.org/drawingml/2006/main">
            <a:r>
              <a:t>http://kremlin.ru/events/administration/80838</a:t>
            </a:r>
          </a:p>
          <a:p xmlns:a="http://schemas.openxmlformats.org/drawingml/2006/main">
            <a:r>
              <a:t>https://tass.ru/kultura/28214691</a:t>
            </a:r>
          </a:p>
          <a:p xmlns:a="http://schemas.openxmlformats.org/drawingml/2006/main">
            <a:r>
              <a:t>http://kremlin.ru/events/administration/80591</a:t>
            </a:r>
          </a:p>
          <a:p xmlns:a="http://schemas.openxmlformats.org/drawingml/2006/main">
            <a:r>
              <a:t>https://governors.ru/glava-regiona/Belgorodskaya-oblast/Gladkov-Vyacheslav-Vladimirovich</a:t>
            </a:r>
          </a:p>
          <a:p xmlns:a="http://schemas.openxmlformats.org/drawingml/2006/main">
            <a:r>
              <a:t>https://ru.wikipedia.org/wiki/%D0%93%D0%BB%D0%B0%D0%B4%D0%BA%D0%BE%D0%B2,_%D0%92%D1%8F%D1%87%D0%B5%D1%81%D0%BB%D0%B0%D0%B2_%D0%92%D0%BB%D0%B0%D0%B4%D0%B8%D0%BC%D0%B8%D1%80%D0%BE%D0%B2%D0%B8%D1%87</a:t>
            </a:r>
          </a:p>
          <a:p xmlns:a="http://schemas.openxmlformats.org/drawingml/2006/main">
            <a:r>
              <a:t>http://council.gov.ru/structure/persons/1543/</a:t>
            </a:r>
          </a:p>
          <a:p xmlns:a="http://schemas.openxmlformats.org/drawingml/2006/main">
            <a:r>
              <a:t>https://ufa.rbc.ru/person/648345539a794760fd0c17e8</a:t>
            </a:r>
          </a:p>
          <a:p xmlns:a="http://schemas.openxmlformats.org/drawingml/2006/main">
            <a:r>
              <a:t>https://www.kommersant.ru/doc/8571119</a:t>
            </a:r>
          </a:p>
          <a:p xmlns:a="http://schemas.openxmlformats.org/drawingml/2006/main">
            <a:r>
              <a:t>https://www.kommersant.ru/doc/8655079</a:t>
            </a:r>
          </a:p>
          <a:p xmlns:a="http://schemas.openxmlformats.org/drawingml/2006/main">
            <a:r>
              <a:t>https://tass.ru/info/27861241</a:t>
            </a:r>
          </a:p>
          <a:p xmlns:a="http://schemas.openxmlformats.org/drawingml/2006/main">
            <a:r>
              <a:t>https://meduza.io/feature/2023/06/08/emu-by-vse-eto-razgresti</a:t>
            </a:r>
          </a:p>
          <a:p xmlns:a="http://schemas.openxmlformats.org/drawingml/2006/main">
            <a:r>
              <a:t>http://www.kremlin.ru/events/president/transcripts/66288</a:t>
            </a:r>
          </a:p>
          <a:p xmlns:a="http://schemas.openxmlformats.org/drawingml/2006/main">
            <a:r>
              <a:t>https://www.belpressa.ru/politics/vlast/62665.html</a:t>
            </a:r>
          </a:p>
          <a:p xmlns:a="http://schemas.openxmlformats.org/drawingml/2006/main">
            <a:r>
              <a:t>https://www.belpressa.ru/politics/vlast/71368.html</a:t>
            </a:r>
          </a:p>
          <a:p xmlns:a="http://schemas.openxmlformats.org/drawingml/2006/main">
            <a:r>
              <a:t>https://www.belnovosti.ru/politika/gubernator/127077.html</a:t>
            </a:r>
          </a:p>
          <a:p xmlns:a="http://schemas.openxmlformats.org/drawingml/2006/main">
            <a:r>
              <a:t>https://chr.plus.rbc.ru/news/694b9fb67a8aa90f9c2ce17d</a:t>
            </a:r>
          </a:p>
          <a:p xmlns:a="http://schemas.openxmlformats.org/drawingml/2006/main">
            <a:r>
              <a:t>https://www.belpressa.ru/society/bezopasnost/43348.html</a:t>
            </a:r>
          </a:p>
          <a:p xmlns:a="http://schemas.openxmlformats.org/drawingml/2006/main">
            <a:r>
              <a:t>https://www.rbc.ru/politics/07/03/2023/640758bf9a7947f6af99d464</a:t>
            </a:r>
          </a:p>
          <a:p xmlns:a="http://schemas.openxmlformats.org/drawingml/2006/main">
            <a:r>
              <a:t>https://www.rbc.ru/politics/24/05/2023/646d22029a794797c4bac4bf</a:t>
            </a:r>
          </a:p>
          <a:p xmlns:a="http://schemas.openxmlformats.org/drawingml/2006/main">
            <a:r>
              <a:t>https://www.bbc.com/russian/articles/c70dkd0pvrlo</a:t>
            </a:r>
          </a:p>
          <a:p xmlns:a="http://schemas.openxmlformats.org/drawingml/2006/main">
            <a:r>
              <a:t>https://www.go31.ru/news/proisshestviya/kak-nikto-drugoy-ponimaem-chto-takoe-agressiya-so-storony-ukrainy-gladkov-o-proryve-granitsy-v-kursk/</a:t>
            </a:r>
          </a:p>
          <a:p xmlns:a="http://schemas.openxmlformats.org/drawingml/2006/main">
            <a:r>
              <a:t>https://echofm.online/portret-dnya/portret-dnya-vyacheslav-gladkov-gubernator-belgorodskoj-oblasti-prognozy-o-sudbe-kotorogo-raznyatsya-ot-posta-posla-v-abhazii-do-ugolovnogo-dela</a:t>
            </a:r>
          </a:p>
          <a:p xmlns:a="http://schemas.openxmlformats.org/drawingml/2006/main">
            <a:r>
              <a:t>https://www.kommersant.ru/doc/3917861</a:t>
            </a:r>
          </a:p>
          <a:p xmlns:a="http://schemas.openxmlformats.org/drawingml/2006/main">
            <a:r>
              <a:t>https://minstroyrf.gov.ru/press/okolo-40-kontsessionnykh-soglasheniy-v-rossii-deystvuet-v-sfere-zhkkh/</a:t>
            </a:r>
          </a:p>
          <a:p xmlns:a="http://schemas.openxmlformats.org/drawingml/2006/main">
            <a:r>
              <a:t>https://newsroom24.ru/murmansk/news/politics/2026/news_323931/</a:t>
            </a:r>
          </a:p>
          <a:p xmlns:a="http://schemas.openxmlformats.org/drawingml/2006/main">
            <a:r>
              <a:t>https://murmansk.ru/52053</a:t>
            </a:r>
          </a:p>
          <a:p xmlns:a="http://schemas.openxmlformats.org/drawingml/2006/main">
            <a:r>
              <a:t>https://51.ru/text/gorod/2026/01/22/76228112/</a:t>
            </a:r>
          </a:p>
          <a:p xmlns:a="http://schemas.openxmlformats.org/drawingml/2006/main">
            <a:r>
              <a:t>https://www.murman.ru/news/2026/05/02/2334/</a:t>
            </a:r>
          </a:p>
          <a:p xmlns:a="http://schemas.openxmlformats.org/drawingml/2006/main">
            <a:r>
              <a:t>https://murman.ru/news/2026/09/06/2141/</a:t>
            </a:r>
          </a:p>
          <a:p xmlns:a="http://schemas.openxmlformats.org/drawingml/2006/main">
            <a:r>
              <a:t>https://www.murman.ru/news/2026/09/13/2242/</a:t>
            </a:r>
          </a:p>
          <a:p xmlns:a="http://schemas.openxmlformats.org/drawingml/2006/main">
            <a:r>
              <a:t>https://ru.wikipedia.org/wiki/%D0%A7%D0%B8%D0%B1%D0%B8%D1%81,_%D0%90%D0%BD%D0%B4%D1%80%D0%B5%D0%B9_%D0%92%D0%BB%D0%B0%D0%B4%D0%B8%D0%BC%D0%B8%D1%80%D0%BE%D0%B2%D0%B8%D1%87</a:t>
            </a:r>
          </a:p>
          <a:p xmlns:a="http://schemas.openxmlformats.org/drawingml/2006/main">
            <a:r>
              <a:t>https://tass.ru/obschestvo/23491353</a:t>
            </a:r>
          </a:p>
          <a:p xmlns:a="http://schemas.openxmlformats.org/drawingml/2006/main">
            <a:r>
              <a:t>https://www.murman.ru/news/2026/09/03/2243/</a:t>
            </a:r>
          </a:p>
          <a:p xmlns:a="http://schemas.openxmlformats.org/drawingml/2006/main">
            <a:r>
              <a:t>https://msp.citymurmansk.ru/news/2026/09/03/0930/</a:t>
            </a:r>
          </a:p>
          <a:p xmlns:a="http://schemas.openxmlformats.org/drawingml/2006/main">
            <a:r>
              <a:t>http://kremlin.ru/events/president/letters/80916</a:t>
            </a:r>
          </a:p>
          <a:p xmlns:a="http://schemas.openxmlformats.org/drawingml/2006/main">
            <a:r>
              <a:t>https://www.murmansk.kp.ru/daily/277813.4/5300258/</a:t>
            </a:r>
          </a:p>
          <a:p xmlns:a="http://schemas.openxmlformats.org/drawingml/2006/main">
            <a:r>
              <a:t>https://www.fontanka.ru/2021/07/27/70046798/</a:t>
            </a:r>
          </a:p>
          <a:p xmlns:a="http://schemas.openxmlformats.org/drawingml/2006/main">
            <a:r>
              <a:t>https://www.kommersant.ru/doc/4639758</a:t>
            </a:r>
          </a:p>
          <a:p xmlns:a="http://schemas.openxmlformats.org/drawingml/2006/main">
            <a:r>
              <a:t>https://www.bbc.com/russian/news-55614829</a:t>
            </a:r>
          </a:p>
          <a:p xmlns:a="http://schemas.openxmlformats.org/drawingml/2006/main">
            <a:r>
              <a:t>https://newpeople.ru/Deputy/sardana-avksenteva</a:t>
            </a:r>
          </a:p>
          <a:p xmlns:a="http://schemas.openxmlformats.org/drawingml/2006/main">
            <a:r>
              <a:t>https://www.pnp.ru/economics/kontrol-za-koncessionnymi-soglasheniyami-predlozhili-usilit.html</a:t>
            </a:r>
          </a:p>
          <a:p xmlns:a="http://schemas.openxmlformats.org/drawingml/2006/main">
            <a:r>
              <a:t>https://www.ng.ru/politics/2024-12-05/1_9150_right.html</a:t>
            </a:r>
          </a:p>
          <a:p xmlns:a="http://schemas.openxmlformats.org/drawingml/2006/main">
            <a:r>
              <a:t>https://news.ru/society/v-novyh-lyudyah-rasskazali-o-glavnyh-zadachah-partii-pered-vyborami</a:t>
            </a:r>
          </a:p>
          <a:p xmlns:a="http://schemas.openxmlformats.org/drawingml/2006/main">
            <a:r>
              <a:t>https://www.kommersant.ru/doc/8939397</a:t>
            </a:r>
          </a:p>
          <a:p xmlns:a="http://schemas.openxmlformats.org/drawingml/2006/main">
            <a:r>
              <a:t>https://tass.ru/info/5220823</a:t>
            </a:r>
          </a:p>
          <a:p xmlns:a="http://schemas.openxmlformats.org/drawingml/2006/main">
            <a:r>
              <a:t>https://tass.ru/info/15547711</a:t>
            </a:r>
          </a:p>
          <a:p xmlns:a="http://schemas.openxmlformats.org/drawingml/2006/main">
            <a:r>
              <a:t>https://www.bbc.com/russian/features-62661643</a:t>
            </a:r>
          </a:p>
          <a:p xmlns:a="http://schemas.openxmlformats.org/drawingml/2006/main">
            <a:r>
              <a:t>https://www.kommersant.ru/doc/3298219</a:t>
            </a:r>
          </a:p>
          <a:p xmlns:a="http://schemas.openxmlformats.org/drawingml/2006/main">
            <a:r>
              <a:t>https://www.svoboda.org/a/31217129.html</a:t>
            </a:r>
          </a:p>
          <a:p xmlns:a="http://schemas.openxmlformats.org/drawingml/2006/main">
            <a:r>
              <a:t>https://www.interfax.ru/russia/902059</a:t>
            </a:r>
          </a:p>
          <a:p xmlns:a="http://schemas.openxmlformats.org/drawingml/2006/main">
            <a:r>
              <a:t>https://www.bfm.ru/news/525620</a:t>
            </a:r>
          </a:p>
          <a:p xmlns:a="http://schemas.openxmlformats.org/drawingml/2006/main">
            <a:r>
              <a:t>https://novayagazeta.ru/articles/2023/03/16/do-urovnia-myshei-media</a:t>
            </a:r>
          </a:p>
          <a:p xmlns:a="http://schemas.openxmlformats.org/drawingml/2006/main">
            <a:r>
              <a:t>https://tjournal.ru/71076</a:t>
            </a:r>
          </a:p>
          <a:p xmlns:a="http://schemas.openxmlformats.org/drawingml/2006/main">
            <a:r>
              <a:t>https://www.nakanune.ru/articles/111648/</a:t>
            </a:r>
          </a:p>
          <a:p xmlns:a="http://schemas.openxmlformats.org/drawingml/2006/main">
            <a:r>
              <a:t>https://adcmemorial.org/statyi/kolonki/neprotivlenie-rasizmu/</a:t>
            </a:r>
          </a:p>
          <a:p xmlns:a="http://schemas.openxmlformats.org/drawingml/2006/main">
            <a:r>
              <a:t>https://www.svoboda.org/a/royzman-i-drugie-zhiteli-ekaterinburga/31997151.html</a:t>
            </a:r>
          </a:p>
          <a:p xmlns:a="http://schemas.openxmlformats.org/drawingml/2006/main">
            <a:r>
              <a:t>https://www.e1.ru/text/politics/2022/02/24/70466417/</a:t>
            </a:r>
          </a:p>
          <a:p xmlns:a="http://schemas.openxmlformats.org/drawingml/2006/main">
            <a:r>
              <a:t>https://www.dw.com/ru/kommentarij-evgenij-rojzman-i-sila-pravdy/a-62917754</a:t>
            </a:r>
          </a:p>
          <a:p xmlns:a="http://schemas.openxmlformats.org/drawingml/2006/main">
            <a:r>
              <a:t>https://meduza.io/paragraph/2022/08/26/priehali-moskvichi-i-dumali-chto-zdes-duraki-sobralis</a:t>
            </a:r>
          </a:p>
          <a:p xmlns:a="http://schemas.openxmlformats.org/drawingml/2006/main">
            <a:r>
              <a:t>https://znamlit.ru/publication.php?id=7379</a:t>
            </a:r>
          </a:p>
          <a:p xmlns:a="http://schemas.openxmlformats.org/drawingml/2006/main">
            <a:r>
              <a:t>https://tass.ru/interviews/6080499</a:t>
            </a:r>
          </a:p>
          <a:p xmlns:a="http://schemas.openxmlformats.org/drawingml/2006/main">
            <a:r>
              <a:t>https://45.ru/text/politics/2024/09/09/73952072/</a:t>
            </a:r>
          </a:p>
          <a:p xmlns:a="http://schemas.openxmlformats.org/drawingml/2006/main">
            <a:r>
              <a:t>http://special.kremlin.ru/events/president/news/70638</a:t>
            </a:r>
          </a:p>
          <a:p xmlns:a="http://schemas.openxmlformats.org/drawingml/2006/main">
            <a:r>
              <a:t>https://ura.news/news/1053132902</a:t>
            </a:r>
          </a:p>
          <a:p xmlns:a="http://schemas.openxmlformats.org/drawingml/2006/main">
            <a:r>
              <a:t>https://ura.news/articles/1036276564</a:t>
            </a:r>
          </a:p>
          <a:p xmlns:a="http://schemas.openxmlformats.org/drawingml/2006/main">
            <a:r>
              <a:t>https://tass.ru/novosti-regionov/28187431</a:t>
            </a:r>
          </a:p>
          <a:p xmlns:a="http://schemas.openxmlformats.org/drawingml/2006/main">
            <a:r>
              <a:t>https://fedpress.ru/person/1753607</a:t>
            </a:r>
          </a:p>
          <a:p xmlns:a="http://schemas.openxmlformats.org/drawingml/2006/main">
            <a:r>
              <a:t>https://eburg.mk.ru/social/2026/10/14/zhiteley-zauralya-predupredili-o-lozhnykh-videorolikakh-s-gubernatorom.html</a:t>
            </a:r>
          </a:p>
          <a:p xmlns:a="http://schemas.openxmlformats.org/drawingml/2006/main">
            <a:r>
              <a:t>https://regnum.ru/news/3530808</a:t>
            </a:r>
          </a:p>
          <a:p xmlns:a="http://schemas.openxmlformats.org/drawingml/2006/main">
            <a:r>
              <a:t>https://kurganvera.ru/news/vrns/mitropolit-daniil-i-vadim-shumkov-vozglavili-delegatsiyu-kurganskoy-oblasti-na-vsemirnom-russkom-sob/</a:t>
            </a:r>
          </a:p>
          <a:p xmlns:a="http://schemas.openxmlformats.org/drawingml/2006/main">
            <a:r>
              <a:t>https://45.ru/text/politics/2026/06/26/76499700/</a:t>
            </a:r>
          </a:p>
          <a:p xmlns:a="http://schemas.openxmlformats.org/drawingml/2006/main">
            <a:r>
              <a:t>https://niva-kurtamysh.com/news/obshchestvo/vystuplenie-gubernatora-kurganskoy-oblasti-vadima-shumkova</a:t>
            </a:r>
          </a:p>
          <a:p xmlns:a="http://schemas.openxmlformats.org/drawingml/2006/main">
            <a:r>
              <a:t>https://t.me/s/kurganskayaobl?before=42616</a:t>
            </a:r>
          </a:p>
          <a:p xmlns:a="http://schemas.openxmlformats.org/drawingml/2006/main">
            <a:r>
              <a:t>https://www.bbc.com/russian/news-54368577</a:t>
            </a:r>
          </a:p>
          <a:p xmlns:a="http://schemas.openxmlformats.org/drawingml/2006/main">
            <a:r>
              <a:t>https://www.bbc.com/russian/articles/cp0769dp15eo</a:t>
            </a:r>
          </a:p>
          <a:p xmlns:a="http://schemas.openxmlformats.org/drawingml/2006/main">
            <a:r>
              <a:t>https://navalny.com/materials/blogpost-6017</a:t>
            </a:r>
          </a:p>
          <a:p xmlns:a="http://schemas.openxmlformats.org/drawingml/2006/main">
            <a:r>
              <a:t>https://www.bbc.com/russian/news-58563592</a:t>
            </a:r>
          </a:p>
          <a:p xmlns:a="http://schemas.openxmlformats.org/drawingml/2006/main">
            <a:r>
              <a:t>https://navalny.com/materials/blogpost-6544</a:t>
            </a:r>
          </a:p>
          <a:p xmlns:a="http://schemas.openxmlformats.org/drawingml/2006/main">
            <a:r>
              <a:t>https://www.bbc.com/russian/news-58270043</a:t>
            </a:r>
          </a:p>
          <a:p xmlns:a="http://schemas.openxmlformats.org/drawingml/2006/main">
            <a:r>
              <a:t>https://www.bbc.com/russian/articles/cvg3p9l1e5ro</a:t>
            </a:r>
          </a:p>
          <a:p xmlns:a="http://schemas.openxmlformats.org/drawingml/2006/main">
            <a:r>
              <a:t>https://www.bbc.com/russian/features-54435835</a:t>
            </a:r>
          </a:p>
          <a:p xmlns:a="http://schemas.openxmlformats.org/drawingml/2006/main">
            <a:r>
              <a:t>https://2018.navalny.com/platform/7/</a:t>
            </a:r>
          </a:p>
          <a:p xmlns:a="http://schemas.openxmlformats.org/drawingml/2006/main">
            <a:r>
              <a:t>https://2018.navalny.com/platform/3/</a:t>
            </a:r>
          </a:p>
          <a:p xmlns:a="http://schemas.openxmlformats.org/drawingml/2006/main">
            <a:r>
              <a:t>https://2018.navalny.com/platform/10/</a:t>
            </a:r>
          </a:p>
          <a:p xmlns:a="http://schemas.openxmlformats.org/drawingml/2006/main">
            <a:r>
              <a:t>https://2018.navalny.com/platform/9/</a:t>
            </a:r>
          </a:p>
          <a:p xmlns:a="http://schemas.openxmlformats.org/drawingml/2006/main">
            <a:r>
              <a:t>https://navalny.com/editorials/aleksey-navalnyy-protiv-voyny</a:t>
            </a:r>
          </a:p>
          <a:p xmlns:a="http://schemas.openxmlformats.org/drawingml/2006/main">
            <a:r>
              <a:t>https://navalny.com/?p=149</a:t>
            </a:r>
          </a:p>
          <a:p xmlns:a="http://schemas.openxmlformats.org/drawingml/2006/main">
            <a:r>
              <a:t>https://www.interfax.ru/russia/876151</a:t>
            </a:r>
          </a:p>
          <a:p xmlns:a="http://schemas.openxmlformats.org/drawingml/2006/main">
            <a:r>
              <a:t>https://www.dw.com/ru/srok-ne-za-fejk-a-za-politiku-reakcii-v-frg-i-rf-na-prigovor-asinu/a-64049957</a:t>
            </a:r>
          </a:p>
          <a:p xmlns:a="http://schemas.openxmlformats.org/drawingml/2006/main">
            <a:r>
              <a:t>https://www.lemonde.fr/en/international/article/2025/05/27/russian-opposition-figure-ilya-yashin-if-ukraine-is-handed-over-to-putin-it-will-be-a-tragedy-and-the-prologue-to-a-global-confrontation_6741728_4.html</a:t>
            </a:r>
          </a:p>
          <a:p xmlns:a="http://schemas.openxmlformats.org/drawingml/2006/main">
            <a:r>
              <a:t>https://www.bbc.com/russian/articles/crgl69w9472o</a:t>
            </a:r>
          </a:p>
          <a:p xmlns:a="http://schemas.openxmlformats.org/drawingml/2006/main">
            <a:r>
              <a:t>https://www.svoboda.org/a/yashin-court/32165539.html</a:t>
            </a:r>
          </a:p>
          <a:p xmlns:a="http://schemas.openxmlformats.org/drawingml/2006/main">
            <a:r>
              <a:t>https://www.dw.com/ru/ila-asin-putin-predvoditel-sil-mrakobesia/a-69923731</a:t>
            </a:r>
          </a:p>
          <a:p xmlns:a="http://schemas.openxmlformats.org/drawingml/2006/main">
            <a:r>
              <a:t>https://novayagazeta.eu/articles/2025/08/01/my-ne-mozhem-trebovat-no-mozhem-obiasniat</a:t>
            </a:r>
          </a:p>
          <a:p xmlns:a="http://schemas.openxmlformats.org/drawingml/2006/main">
            <a:r>
              <a:t>https://meduza.io/feature/2019/07/20/to-chto-putin-ne-smog-sdelat-za-20-let-sobyanin-sdelal-za-mesyats</a:t>
            </a:r>
          </a:p>
          <a:p xmlns:a="http://schemas.openxmlformats.org/drawingml/2006/main">
            <a:r>
              <a:t>https://novayagazeta.eu/articles/2024/11/18/pochuvstvovat-sebia-ne-odinokimi</a:t>
            </a:r>
          </a:p>
          <a:p xmlns:a="http://schemas.openxmlformats.org/drawingml/2006/main">
            <a:r>
              <a:t>https://www.svoboda.org/a/voyna-putin-i-politzaklyuchennye-iljya-yashin-o-svoih-planah/33177839.html</a:t>
            </a:r>
          </a:p>
          <a:p xmlns:a="http://schemas.openxmlformats.org/drawingml/2006/main">
            <a:r>
              <a:t>https://www.dw.com/ru/asin-sejcas-nevozmozno-obedinit-rossijskuu-oppoziciu-da-i-ne-nuzno/a-70291088</a:t>
            </a:r>
          </a:p>
          <a:p xmlns:a="http://schemas.openxmlformats.org/drawingml/2006/main">
            <a:r>
              <a:t>https://www.dw.com/ru/vladimir-karamurza/t-37465233</a:t>
            </a:r>
          </a:p>
          <a:p xmlns:a="http://schemas.openxmlformats.org/drawingml/2006/main">
            <a:r>
              <a:t>https://ovd.info/persons/kara-murza-vladimir-vladimirovich</a:t>
            </a:r>
          </a:p>
          <a:p xmlns:a="http://schemas.openxmlformats.org/drawingml/2006/main">
            <a:r>
              <a:t>https://ovd.info/2024/08/03/kogo-rossiya-vydala-v-ramkakh-obmena-zaklyuchennymi-s-zapadom-istorii-osvobozhdennykh</a:t>
            </a:r>
          </a:p>
          <a:p xmlns:a="http://schemas.openxmlformats.org/drawingml/2006/main">
            <a:r>
              <a:t>https://www.svoboda.org/a/kara-murza-obmen/33059121.html</a:t>
            </a:r>
          </a:p>
          <a:p xmlns:a="http://schemas.openxmlformats.org/drawingml/2006/main">
            <a:r>
              <a:t>https://novayagazeta.ru/articles/2024/08/16/prezident-baiden-prinial-osvobozhdennogo-v-rezultate-obmena-politzakliuchennogo-vladimira-kara-murzu-s-semei-v-belom-dome-news</a:t>
            </a:r>
          </a:p>
          <a:p xmlns:a="http://schemas.openxmlformats.org/drawingml/2006/main">
            <a:r>
              <a:t>https://genevasummit.org/speech/vladimir-kara-murza-speaks-at-2018-geneva-summit-main-event/</a:t>
            </a:r>
          </a:p>
          <a:p xmlns:a="http://schemas.openxmlformats.org/drawingml/2006/main">
            <a:r>
              <a:t>https://humanrights.ca/event-series/presidents-lecture-series</a:t>
            </a:r>
          </a:p>
          <a:p xmlns:a="http://schemas.openxmlformats.org/drawingml/2006/main">
            <a:r>
              <a:t>https://www.radiofrance.fr/franceinter/podcasts/l-info-de-france-inter/la-democratie-doit-etre-protegee-chaque-minute-de-chaque-jour-declare-l-opposant-russe-vladimir-kara-mourza-8105094</a:t>
            </a:r>
          </a:p>
          <a:p xmlns:a="http://schemas.openxmlformats.org/drawingml/2006/main">
            <a:r>
              <a:t>https://georgetownvoice.com/2025/10/08/dissident-in-residence-vladimir-kara-murza-applies-past-lessons-to-present-day-in-recent-event-discussing-democracy/</a:t>
            </a:r>
          </a:p>
          <a:p xmlns:a="http://schemas.openxmlformats.org/drawingml/2006/main">
            <a:r>
              <a:t>https://www.oscepa.org/en/documents/winter-meetings/2025-vienna/speeches-36/5176-vladimir-kara-murza-address-to-the-osce-pa-winter-meeting-in-vienna-21-february-2025/file</a:t>
            </a:r>
          </a:p>
          <a:p xmlns:a="http://schemas.openxmlformats.org/drawingml/2006/main">
            <a:r>
              <a:t>https://hrf.org/wp-content/uploads/2024/10/VKM-%E2%80%93-Statement-of-Facts-and-Levinson-Analysis.pdf</a:t>
            </a:r>
          </a:p>
          <a:p xmlns:a="http://schemas.openxmlformats.org/drawingml/2006/main">
            <a:r>
              <a:t>https://www.govinfo.gov/content/pkg/CREC-2024-06-11/html/CREC-2024-06-11-pt1-PgH3699.htm</a:t>
            </a:r>
          </a:p>
          <a:p xmlns:a="http://schemas.openxmlformats.org/drawingml/2006/main">
            <a:r>
              <a:t>https://antiwarcommittee.info/en/statement-on-the-persecution-of-vladimir-kara-murza/</a:t>
            </a:r>
          </a:p>
          <a:p xmlns:a="http://schemas.openxmlformats.org/drawingml/2006/main">
            <a:r>
              <a:t>https://www.norway.no/en/missions/osce/norway-and-the-osce/statements/statements-with--norwegian-alignment-2024/joint-statement-on-vladimir-kara-murza/</a:t>
            </a:r>
          </a:p>
          <a:p xmlns:a="http://schemas.openxmlformats.org/drawingml/2006/main">
            <a:r>
              <a:t>https://www.aljazeera.com/news/2025/4/23/kremlin-critic-decried-for-racist-rant-on-minorities-fighting-for-russia</a:t>
            </a:r>
          </a:p>
          <a:p xmlns:a="http://schemas.openxmlformats.org/drawingml/2006/main">
            <a:r>
              <a:t>https://www.rmc.edu/news/former-political-prisoner-vladimir-kara-murza-offers-vision-of-hope-for-russian-democracy/</a:t>
            </a:r>
          </a:p>
          <a:p xmlns:a="http://schemas.openxmlformats.org/drawingml/2006/main">
            <a:r>
              <a:t>https://2018.yavlinsky.ru/campaign/</a:t>
            </a:r>
          </a:p>
          <a:p xmlns:a="http://schemas.openxmlformats.org/drawingml/2006/main">
            <a:r>
              <a:t>http://2018.yavlinsky.ru/programm/</a:t>
            </a:r>
          </a:p>
          <a:p xmlns:a="http://schemas.openxmlformats.org/drawingml/2006/main">
            <a:r>
              <a:t>https://campaign2018.yavlinsky.ru/</a:t>
            </a:r>
          </a:p>
          <a:p xmlns:a="http://schemas.openxmlformats.org/drawingml/2006/main">
            <a:r>
              <a:t>https://www.yavlinsky.ru/position/war/</a:t>
            </a:r>
          </a:p>
          <a:p xmlns:a="http://schemas.openxmlformats.org/drawingml/2006/main">
            <a:r>
              <a:t>https://www.yavlinsky.ru/position/cease-fire/</a:t>
            </a:r>
          </a:p>
          <a:p xmlns:a="http://schemas.openxmlformats.org/drawingml/2006/main">
            <a:r>
              <a:t>https://www.yavlinsky.ru/article_tax/ukraina/</a:t>
            </a:r>
          </a:p>
          <a:p xmlns:a="http://schemas.openxmlformats.org/drawingml/2006/main">
            <a:r>
              <a:t>https://www.yavlinsky.ru/biografiya/</a:t>
            </a:r>
          </a:p>
          <a:p xmlns:a="http://schemas.openxmlformats.org/drawingml/2006/main">
            <a:r>
              <a:t>https://www.yabloko.ru/publikatsii/2018/02/15_0</a:t>
            </a:r>
          </a:p>
          <a:p xmlns:a="http://schemas.openxmlformats.org/drawingml/2006/main">
            <a:r>
              <a:t>https://www.yabloko.ru/publikatsii/2018/06/19</a:t>
            </a:r>
          </a:p>
          <a:p xmlns:a="http://schemas.openxmlformats.org/drawingml/2006/main">
            <a:r>
              <a:t>https://www.yavlinsky.ru/article/eto-referendum/</a:t>
            </a:r>
          </a:p>
          <a:p xmlns:a="http://schemas.openxmlformats.org/drawingml/2006/main">
            <a:r>
              <a:t>https://www.svoboda.org/a/27801792.html</a:t>
            </a:r>
          </a:p>
          <a:p xmlns:a="http://schemas.openxmlformats.org/drawingml/2006/main">
            <a:r>
              <a:t>https://www.svoboda.org/a/29294829.html</a:t>
            </a:r>
          </a:p>
          <a:p xmlns:a="http://schemas.openxmlformats.org/drawingml/2006/main">
            <a:r>
              <a:t>https://www.yavlinsky.ru/article/intervyu-g-yavlinskogo-zhertvy-budut-proryva-net/</a:t>
            </a:r>
          </a:p>
          <a:p xmlns:a="http://schemas.openxmlformats.org/drawingml/2006/main">
            <a:r>
              <a:t>https://www.yavlinsky.ru/article/my-budem-idti-do-kontsa/</a:t>
            </a:r>
          </a:p>
          <a:p xmlns:a="http://schemas.openxmlformats.org/drawingml/2006/main">
            <a:r>
              <a:t>https://www.yavlinsky.ru/article/prezidentskie-vybory-1996-30-let-spustya/</a:t>
            </a:r>
          </a:p>
          <a:p xmlns:a="http://schemas.openxmlformats.org/drawingml/2006/main">
            <a:r>
              <a:t>https://www.forbes.ru/interview/45575-reformatory-prihodyat-k-vlasti-grigorii-yavlinskii</a:t>
            </a:r>
          </a:p>
          <a:p xmlns:a="http://schemas.openxmlformats.org/drawingml/2006/main">
            <a:r>
              <a:t>https://www.bbc.com/russian/articles/cy8ee2wngd8o</a:t>
            </a:r>
          </a:p>
          <a:p xmlns:a="http://schemas.openxmlformats.org/drawingml/2006/main">
            <a:r>
              <a:t>https://www.yabloko.ru/regnews/Pskov/2019/01/21-0</a:t>
            </a:r>
          </a:p>
          <a:p xmlns:a="http://schemas.openxmlformats.org/drawingml/2006/main">
            <a:r>
              <a:t>https://www.yabloko.ru/publikatsii/2019/06/14</a:t>
            </a:r>
          </a:p>
          <a:p xmlns:a="http://schemas.openxmlformats.org/drawingml/2006/main">
            <a:r>
              <a:t>https://zona.media/article/2019/02/27/pskov</a:t>
            </a:r>
          </a:p>
          <a:p xmlns:a="http://schemas.openxmlformats.org/drawingml/2006/main">
            <a:r>
              <a:t>https://spektr.press/ya-otvechayu-za-vse-mnoj-skazannoe-no-ne-otvechayu-za-izvraschenie-skazannogo-lev-shlosberg-o-travle-i-setkah-telegram-kanalov-odnokletochnyh-politikah-reshivshih-pobedit-putina-rukami-u/</a:t>
            </a:r>
          </a:p>
          <a:p xmlns:a="http://schemas.openxmlformats.org/drawingml/2006/main">
            <a:r>
              <a:t>https://www.yabloko.ru/Persons/shlosberg.html</a:t>
            </a:r>
          </a:p>
          <a:p xmlns:a="http://schemas.openxmlformats.org/drawingml/2006/main">
            <a:r>
              <a:t>https://pln-pskov.ru/politics/314872.html</a:t>
            </a:r>
          </a:p>
          <a:p xmlns:a="http://schemas.openxmlformats.org/drawingml/2006/main">
            <a:r>
              <a:t>https://www.yabloko.ru/publikatsii/2022/02/18-0</a:t>
            </a:r>
          </a:p>
          <a:p xmlns:a="http://schemas.openxmlformats.org/drawingml/2006/main">
            <a:r>
              <a:t>https://ru.krymr.com/a/rossiya-putin-voyna-repressii-lev-shlosberg-intervyu/31806389.html</a:t>
            </a:r>
          </a:p>
          <a:p xmlns:a="http://schemas.openxmlformats.org/drawingml/2006/main">
            <a:r>
              <a:t>https://www.currenttime.tv/a/politika-vlastey-chtoby-lyudi-perestali-govorit-o-spetsialnoy-voennoy-operatsii-lev-shlosberg-o-dele-protiv-nego-i-nikolaya-kuzmina/31807396.html</a:t>
            </a:r>
          </a:p>
          <a:p xmlns:a="http://schemas.openxmlformats.org/drawingml/2006/main">
            <a:r>
              <a:t>https://zona.media/article/2026/08/14/schlosberg</a:t>
            </a:r>
          </a:p>
          <a:p xmlns:a="http://schemas.openxmlformats.org/drawingml/2006/main">
            <a:r>
              <a:t>https://www.svoboda.org/a/lishniy-zalozhnik-vot-chto-im-vazhno-arest-lva-shlosberga/33615624.html</a:t>
            </a:r>
          </a:p>
          <a:p xmlns:a="http://schemas.openxmlformats.org/drawingml/2006/main">
            <a:r>
              <a:t>https://novayagazeta.eu/articles/2026/08/17/ostavshiisia</a:t>
            </a:r>
          </a:p>
          <a:p xmlns:a="http://schemas.openxmlformats.org/drawingml/2006/main">
            <a:r>
              <a:t>https://www.yabloko.ru/content/vishnevskii_boris_lazarevich</a:t>
            </a:r>
          </a:p>
          <a:p xmlns:a="http://schemas.openxmlformats.org/drawingml/2006/main">
            <a:r>
              <a:t>https://www.dp.ru/a/2018/06/18/Aktivnaja_storona_konflikt</a:t>
            </a:r>
          </a:p>
          <a:p xmlns:a="http://schemas.openxmlformats.org/drawingml/2006/main">
            <a:r>
              <a:t>https://www.bbc.com/russian/features-58481940</a:t>
            </a:r>
          </a:p>
          <a:p xmlns:a="http://schemas.openxmlformats.org/drawingml/2006/main">
            <a:r>
              <a:t>https://www.dp.ru/a/2023/01/16/Deputat_Peterburga_Vishnev</a:t>
            </a:r>
          </a:p>
          <a:p xmlns:a="http://schemas.openxmlformats.org/drawingml/2006/main">
            <a:r>
              <a:t>https://echofm.online/portret-dnya/portret-dnya-boris-vishnevskij-peterburgskij-politik</a:t>
            </a:r>
          </a:p>
          <a:p xmlns:a="http://schemas.openxmlformats.org/drawingml/2006/main">
            <a:r>
              <a:t>https://spb.yabloko.ru/people/vishnevskij-boris-lazarevich/</a:t>
            </a:r>
          </a:p>
          <a:p xmlns:a="http://schemas.openxmlformats.org/drawingml/2006/main">
            <a:r>
              <a:t>https://www.dp.ru/a/2026/08/26/bitva-nachalas-gde-v-peterburge</a:t>
            </a:r>
          </a:p>
          <a:p xmlns:a="http://schemas.openxmlformats.org/drawingml/2006/main">
            <a:r>
              <a:t>https://www.yabloko.ru/regnews/Spb/2022/02/21</a:t>
            </a:r>
          </a:p>
          <a:p xmlns:a="http://schemas.openxmlformats.org/drawingml/2006/main">
            <a:r>
              <a:t>https://www.yabloko.ru/cat-news/2021/08/06-0</a:t>
            </a:r>
          </a:p>
          <a:p xmlns:a="http://schemas.openxmlformats.org/drawingml/2006/main">
            <a:r>
              <a:t>https://www.rbc.ru/spb_sz/16/01/2023/63c53d9c9a7947d9bef4b853</a:t>
            </a:r>
          </a:p>
          <a:p xmlns:a="http://schemas.openxmlformats.org/drawingml/2006/main">
            <a:r>
              <a:t>https://www.rbc.ru/politics/06/05/2024/6638a8609a79472c01075a2c</a:t>
            </a:r>
          </a:p>
          <a:p xmlns:a="http://schemas.openxmlformats.org/drawingml/2006/main">
            <a:r>
              <a:t>https://www.svoboda.org/a/politika-dmitriya-gudkova-deportirovali-iz-gruzii-v-kiev/31679697.html</a:t>
            </a:r>
          </a:p>
          <a:p xmlns:a="http://schemas.openxmlformats.org/drawingml/2006/main">
            <a:r>
              <a:t>https://ru.krymr.com/a/dmitriy-gudkov-ob-otyezde-iz-rossii/31295079.html</a:t>
            </a:r>
          </a:p>
          <a:p xmlns:a="http://schemas.openxmlformats.org/drawingml/2006/main">
            <a:r>
              <a:t>https://daily.afisha.ru/news/114366-syn-politika-dmitriya-gudkova-pokonchil-s-soboy-v-emigracii/amp/</a:t>
            </a:r>
          </a:p>
          <a:p xmlns:a="http://schemas.openxmlformats.org/drawingml/2006/main">
            <a:r>
              <a:t>https://life.ru/t/dmitriygudkov</a:t>
            </a:r>
          </a:p>
          <a:p xmlns:a="http://schemas.openxmlformats.org/drawingml/2006/main">
            <a:r>
              <a:t>https://uk.wikipedia.org/wiki/%D0%93%D1%83%D0%B4%D0%BA%D0%BE%D0%B2_%D0%94%D0%BC%D0%B8%D1%82%D1%80%D1%96%D0%B9_%D0%93%D0%B5%D0%BD%D0%B0%D0%B4%D1%96%D0%B9%D0%BE%D0%B2%D0%B8%D1%87</a:t>
            </a:r>
          </a:p>
          <a:p xmlns:a="http://schemas.openxmlformats.org/drawingml/2006/main">
            <a:r>
              <a:t>https://mt.gazeta.ru/blog/43692366076/Syin-byivshego-deputata-Gosdumyi-Dmitriya-Gudkova-pokonchil-s-so?utm_referrer=mirtesen.ru</a:t>
            </a:r>
          </a:p>
          <a:p xmlns:a="http://schemas.openxmlformats.org/drawingml/2006/main">
            <a:r>
              <a:t>https://www.bbc.com/russian/news-57381443</a:t>
            </a:r>
          </a:p>
          <a:p xmlns:a="http://schemas.openxmlformats.org/drawingml/2006/main">
            <a:r>
              <a:t>https://www.themoscowtimes.com/2021/06/06/kremlin-critic-dmitry-gudkov-flees-to-ukraine-a74123</a:t>
            </a:r>
          </a:p>
          <a:p xmlns:a="http://schemas.openxmlformats.org/drawingml/2006/main">
            <a:r>
              <a:t>https://www.yabloko.ru/publikatsii/2016/09/15</a:t>
            </a:r>
          </a:p>
          <a:p xmlns:a="http://schemas.openxmlformats.org/drawingml/2006/main">
            <a:r>
              <a:t>https://novayagazeta.ru/articles/2018/03/21/75886-ya-privyk-lyudyam-verit</a:t>
            </a:r>
          </a:p>
          <a:p xmlns:a="http://schemas.openxmlformats.org/drawingml/2006/main">
            <a:r>
              <a:t>https://www.rbc.ru/politics/15/03/2018/5aaa98049a7947d12d63f1e1</a:t>
            </a:r>
          </a:p>
          <a:p xmlns:a="http://schemas.openxmlformats.org/drawingml/2006/main">
            <a:r>
              <a:t>https://rus.team/people/gudkov-dmitrij-gennadevich</a:t>
            </a:r>
          </a:p>
          <a:p xmlns:a="http://schemas.openxmlformats.org/drawingml/2006/main">
            <a:r>
              <a:t>https://www.azattyqasia.org/a/chto-proiskhodit-v-donbasse-/31863310/lbl0lbi299676.html</a:t>
            </a:r>
          </a:p>
          <a:p xmlns:a="http://schemas.openxmlformats.org/drawingml/2006/main">
            <a:r>
              <a:t>https://www.dw.com/ru/dmitrij-gudkov-putin-na-storone-partii-vojny-no-pri-etom-on-trus-21092022/video-63193199</a:t>
            </a:r>
          </a:p>
          <a:p xmlns:a="http://schemas.openxmlformats.org/drawingml/2006/main">
            <a:r>
              <a:t>https://ru.wikinews.org/wiki/%D0%9A%D0%B0%D1%82%D0%B5%D0%B3%D0%BE%D1%80%D0%B8%D1%8F:%D0%93%D0%B5%D0%BD%D0%BD%D0%B0%D0%B4%D0%B8%D0%B9_%D0%93%D1%83%D0%B4%D0%BA%D0%BE%D0%B2</a:t>
            </a:r>
          </a:p>
          <a:p xmlns:a="http://schemas.openxmlformats.org/drawingml/2006/main">
            <a:r>
              <a:t>https://en.wikipedia.org/wiki/Gennady_Gudkov</a:t>
            </a:r>
          </a:p>
          <a:p xmlns:a="http://schemas.openxmlformats.org/drawingml/2006/main">
            <a:r>
              <a:t>https://x.com/gudkov_g</a:t>
            </a:r>
          </a:p>
          <a:p xmlns:a="http://schemas.openxmlformats.org/drawingml/2006/main">
            <a:r>
              <a:t>https://www.dw.com/ru/chto-dmitrij-gudkov-nameren-delat-v-ukraine-i-vernetsja-li-v-rossiju/a-57830619</a:t>
            </a:r>
          </a:p>
          <a:p xmlns:a="http://schemas.openxmlformats.org/drawingml/2006/main">
            <a:r>
              <a:t>https://ru.wikipedia.org/wiki/%D0%93%D1%83%D0%B4%D0%BA%D0%BE%D0%B2,_%D0%93%D0%B5%D0%BD%D0%BD%D0%B0%D0%B4%D0%B8%D0%B9_%D0%92%D0%BB%D0%B0%D0%B4%D0%B8%D0%BC%D0%B8%D1%80%D0%BE%D0%B2%D0%B8%D1%87</a:t>
            </a:r>
          </a:p>
          <a:p xmlns:a="http://schemas.openxmlformats.org/drawingml/2006/main">
            <a:r>
              <a:t>https://ru.wikipedia.org/wiki/%D0%93%D1%83%D0%B4%D0%BA%D0%BE%D0%B2,_%D0%94%D0%BC%D0%B8%D1%82%D1%80%D0%B8%D0%B9_%D0%93%D0%B5%D0%BD%D0%BD%D0%B0%D0%B4%D1%8C%D0%B5%D0%B2%D0%B8%D1%87</a:t>
            </a:r>
          </a:p>
          <a:p xmlns:a="http://schemas.openxmlformats.org/drawingml/2006/main">
            <a:r>
              <a:t>https://utro02.tv/2022/10/31/navstrechu-sezdu-gennadij-gudkov-o-vyborah-obedinenii-oppoziczii-i-razdelenii-vlasti/</a:t>
            </a:r>
          </a:p>
          <a:p xmlns:a="http://schemas.openxmlformats.org/drawingml/2006/main">
            <a:r>
              <a:t>https://www.unian.net/war/rossiyskiy-oppozicioner-gudkov-putin-nachinaet-ponimat-chto-nastupaet-zh-pa-12031263.html</a:t>
            </a:r>
          </a:p>
          <a:p xmlns:a="http://schemas.openxmlformats.org/drawingml/2006/main">
            <a:r>
              <a:t>https://bntnews.bg/genadiy-gudkov-86846tag.html</a:t>
            </a:r>
          </a:p>
          <a:p xmlns:a="http://schemas.openxmlformats.org/drawingml/2006/main">
            <a:r>
              <a:t>https://tass.ru/encyclopedia/person/gudkov-dmitriy-gennadevich</a:t>
            </a:r>
          </a:p>
          <a:p xmlns:a="http://schemas.openxmlformats.org/drawingml/2006/main">
            <a:r>
              <a:t>https://www.kasparov.com/garry-kasparov-on-putin-and-the-virus-of-imperialism-wsj-free-expression-april-11-2022/</a:t>
            </a:r>
          </a:p>
          <a:p xmlns:a="http://schemas.openxmlformats.org/drawingml/2006/main">
            <a:r>
              <a:t>https://www.ilmessaggero.it/en/garry_kasparov_from_chess_champion_to_kremlin_critic-9797261.html</a:t>
            </a:r>
          </a:p>
          <a:p xmlns:a="http://schemas.openxmlformats.org/drawingml/2006/main">
            <a:r>
              <a:t>https://www.kasparov.com/category/russia/</a:t>
            </a:r>
          </a:p>
          <a:p xmlns:a="http://schemas.openxmlformats.org/drawingml/2006/main">
            <a:r>
              <a:t>https://www.kasparov.com/category/politics/</a:t>
            </a:r>
          </a:p>
          <a:p xmlns:a="http://schemas.openxmlformats.org/drawingml/2006/main">
            <a:r>
              <a:t>https://en.wikipedia.org/wiki/Political_views_of_Garry_Kasparov</a:t>
            </a:r>
          </a:p>
          <a:p xmlns:a="http://schemas.openxmlformats.org/drawingml/2006/main">
            <a:r>
              <a:t>https://www.dw.com/ru/kasparov-v-intervu-dw-vse-cto-delal-delaet-i-budet-delat-tramp-pomogaet-putinu/a-79633734</a:t>
            </a:r>
          </a:p>
          <a:p xmlns:a="http://schemas.openxmlformats.org/drawingml/2006/main">
            <a:r>
              <a:t>https://www.kasparov.com/</a:t>
            </a:r>
          </a:p>
          <a:p xmlns:a="http://schemas.openxmlformats.org/drawingml/2006/main">
            <a:r>
              <a:t>https://www.kasparov.com/a-conversation-with-garry-kasparov-thought-economics-with-vikas-shas-may-21-2017/</a:t>
            </a:r>
          </a:p>
          <a:p xmlns:a="http://schemas.openxmlformats.org/drawingml/2006/main">
            <a:r>
              <a:t>https://www.kasparov.com/new-yorker-interview-the-chess-grandmaster-and-political-activist-on-putin-trump-and-how-we-are-living-again-through-the-eighteen-fifties/</a:t>
            </a:r>
          </a:p>
          <a:p xmlns:a="http://schemas.openxmlformats.org/drawingml/2006/main">
            <a:r>
              <a:t>https://www.cnbc.com/2017/02/13/the-full-interview-with-former-world-chess-champion-garry-kasparov-on-trump-putin.html</a:t>
            </a:r>
          </a:p>
          <a:p xmlns:a="http://schemas.openxmlformats.org/drawingml/2006/main">
            <a:r>
              <a:t>https://www.reuters.com/world/europe/kasparov-calls-world-powers-throw-russia-back-into-stone-age-2022-03-03/</a:t>
            </a:r>
          </a:p>
          <a:p xmlns:a="http://schemas.openxmlformats.org/drawingml/2006/main">
            <a:r>
              <a:t>https://khodorkovsky.com/open-russia-manifesto/</a:t>
            </a:r>
          </a:p>
          <a:p xmlns:a="http://schemas.openxmlformats.org/drawingml/2006/main">
            <a:r>
              <a:t>https://khodorkovsky.com/programmes/initiatives/openrussia/</a:t>
            </a:r>
          </a:p>
          <a:p xmlns:a="http://schemas.openxmlformats.org/drawingml/2006/main">
            <a:r>
              <a:t>https://khodorkovsky.com/page/65/?m</a:t>
            </a:r>
          </a:p>
          <a:p xmlns:a="http://schemas.openxmlformats.org/drawingml/2006/main">
            <a:r>
              <a:t>https://khodorkovsky.com/page/80/?m</a:t>
            </a:r>
          </a:p>
          <a:p xmlns:a="http://schemas.openxmlformats.org/drawingml/2006/main">
            <a:r>
              <a:t>https://angliya.com/publication/mihail-hodorkovskiy-ne-priznayu-razdelenie-lyudey-na-osnovanii-politicheskih-vzglyadov/</a:t>
            </a:r>
          </a:p>
          <a:p xmlns:a="http://schemas.openxmlformats.org/drawingml/2006/main">
            <a:r>
              <a:t>https://www.dw.com/ru/mihail-hodorkovski-bojus-jeta-vojna-ne-budet-poslednej/a-61314556</a:t>
            </a:r>
          </a:p>
          <a:p xmlns:a="http://schemas.openxmlformats.org/drawingml/2006/main">
            <a:r>
              <a:t>https://ru.euronews.com/2022/06/21/ru-khodorkovsky-interview</a:t>
            </a:r>
          </a:p>
          <a:p xmlns:a="http://schemas.openxmlformats.org/drawingml/2006/main">
            <a:r>
              <a:t>https://ru.euronews.com/2022/06/23/mikhail-khodorkovsky</a:t>
            </a:r>
          </a:p>
          <a:p xmlns:a="http://schemas.openxmlformats.org/drawingml/2006/main">
            <a:r>
              <a:t>https://poligonmedia.io/mihail-hodorkovskij-putin-ne-pobedil/</a:t>
            </a:r>
          </a:p>
          <a:p xmlns:a="http://schemas.openxmlformats.org/drawingml/2006/main">
            <a:r>
              <a:t>https://www.pap.pl/ru/russian/news/khodorkovskiy-u-putina-est-prichiny-vesti-peregovory-o-prekraschenii-voyny-na-ukraine</a:t>
            </a:r>
          </a:p>
          <a:p xmlns:a="http://schemas.openxmlformats.org/drawingml/2006/main">
            <a:r>
              <a:t>https://milov.org/cat/debates</a:t>
            </a:r>
          </a:p>
          <a:p xmlns:a="http://schemas.openxmlformats.org/drawingml/2006/main">
            <a:r>
              <a:t>https://milov.org/entry/4188</a:t>
            </a:r>
          </a:p>
          <a:p xmlns:a="http://schemas.openxmlformats.org/drawingml/2006/main">
            <a:r>
              <a:t>https://milov.org/cat/international</a:t>
            </a:r>
          </a:p>
          <a:p xmlns:a="http://schemas.openxmlformats.org/drawingml/2006/main">
            <a:r>
              <a:t>https://tvrain.tv/teleshow/amerikanskie_gonki/tramp_vynashivaet_ideju_primiritsja_s_putinym-453802/</a:t>
            </a:r>
          </a:p>
          <a:p xmlns:a="http://schemas.openxmlformats.org/drawingml/2006/main">
            <a:r>
              <a:t>https://www.currenttime.tv/a/vladimir-milov-interview/31505887.html</a:t>
            </a:r>
          </a:p>
          <a:p xmlns:a="http://schemas.openxmlformats.org/drawingml/2006/main">
            <a:r>
              <a:t>https://ovd.info/express-news/2021/07/27/roskomnadzor-potreboval-ot-youtube-zablokirovat-kanaly-troikh-soratnikov</a:t>
            </a:r>
          </a:p>
          <a:p xmlns:a="http://schemas.openxmlformats.org/drawingml/2006/main">
            <a:r>
              <a:t>https://www.dw.com/ru/sud-v-moskve-prigovoril-vladimira-milova-k-8-godam-kolonii/a-67415717</a:t>
            </a:r>
          </a:p>
          <a:p xmlns:a="http://schemas.openxmlformats.org/drawingml/2006/main">
            <a:r>
              <a:t>https://ru.wikipedia.org/wiki/%D0%9C%D0%B8%D0%BB%D0%BE%D0%B2,_%D0%92%D0%BB%D0%B0%D0%B4%D0%B8%D0%BC%D0%B8%D1%80_%D0%A1%D1%82%D0%B0%D0%BD%D0%B8%D1%81%D0%BB%D0%B0%D0%B2%D0%BE%D0%B2%D0%B8%D1%87</a:t>
            </a:r>
          </a:p>
          <a:p xmlns:a="http://schemas.openxmlformats.org/drawingml/2006/main">
            <a:r>
              <a:t>https://gordonua.com/news/worldnews/milov-merkel-molodec-poteryala-vsego-7-8-v-polzu-svezhey-antiimmigrantskoy-partii-na-fone-migrantskogo-krizisa-208758.html</a:t>
            </a:r>
          </a:p>
          <a:p xmlns:a="http://schemas.openxmlformats.org/drawingml/2006/main">
            <a:r>
              <a:t>https://echofm.online/programs/hochu-skazat/hochu-skazat-larina-69</a:t>
            </a:r>
          </a:p>
          <a:p xmlns:a="http://schemas.openxmlformats.org/drawingml/2006/main">
            <a:r>
              <a:t>https://www.hoover.org/plus/research/russian-opposition-and-ukraine-conversation-vladimir-milov</a:t>
            </a:r>
          </a:p>
          <a:p xmlns:a="http://schemas.openxmlformats.org/drawingml/2006/main">
            <a:r>
              <a:t>https://www.golosameriki.com/a/washington-dialogue-russian-opposition-conference/7648250.html</a:t>
            </a:r>
          </a:p>
          <a:p xmlns:a="http://schemas.openxmlformats.org/drawingml/2006/main">
            <a:r>
              <a:t>https://glavred.info/chat/1337-vladimir-milov.html</a:t>
            </a:r>
          </a:p>
          <a:p xmlns:a="http://schemas.openxmlformats.org/drawingml/2006/main">
            <a:r>
              <a:t>https://www.interfax.ru/moscow/669378</a:t>
            </a:r>
          </a:p>
          <a:p xmlns:a="http://schemas.openxmlformats.org/drawingml/2006/main">
            <a:r>
              <a:t>https://tass.ru/politika/6670439</a:t>
            </a:r>
          </a:p>
          <a:p xmlns:a="http://schemas.openxmlformats.org/drawingml/2006/main">
            <a:r>
              <a:t>https://www.rbc.ru/politics/16/07/2019/5d2c8b3b9a794799a7c7d413</a:t>
            </a:r>
          </a:p>
          <a:p xmlns:a="http://schemas.openxmlformats.org/drawingml/2006/main">
            <a:r>
              <a:t>https://www.bbc.com/russian/news-56269079</a:t>
            </a:r>
          </a:p>
          <a:p xmlns:a="http://schemas.openxmlformats.org/drawingml/2006/main">
            <a:r>
              <a:t>https://ovd.info/express-news/2020/12/28/s-yurista-fbk-kotoraya-provela-pochti-dvoe-sutok-v-ivs-pytalis-vzyat</a:t>
            </a:r>
          </a:p>
          <a:p xmlns:a="http://schemas.openxmlformats.org/drawingml/2006/main">
            <a:r>
              <a:t>https://ovd.info/express-news/2021/02/26/prokuratura-utverdila-obvinenie-sobol-po-delu-o-proniknovenii-v-kvartiru</a:t>
            </a:r>
          </a:p>
          <a:p xmlns:a="http://schemas.openxmlformats.org/drawingml/2006/main">
            <a:r>
              <a:t>https://ovd.info/express-news/2020/12/29/protiv-alekseya-navalnogo-vozbudili-ugolovnoe-delo-o-moshennichestve-iz-za</a:t>
            </a:r>
          </a:p>
          <a:p xmlns:a="http://schemas.openxmlformats.org/drawingml/2006/main">
            <a:r>
              <a:t>https://www.currenttime.tv/a/sobol/31723600.html</a:t>
            </a:r>
          </a:p>
          <a:p xmlns:a="http://schemas.openxmlformats.org/drawingml/2006/main">
            <a:r>
              <a:t>https://www.currenttime.tv/interview/episodes/2022/2/26</a:t>
            </a:r>
          </a:p>
          <a:p xmlns:a="http://schemas.openxmlformats.org/drawingml/2006/main">
            <a:r>
              <a:t>https://ochevidcy.com/putin-budet-vorovat-do-groba/</a:t>
            </a:r>
          </a:p>
          <a:p xmlns:a="http://schemas.openxmlformats.org/drawingml/2006/main">
            <a:r>
              <a:t>https://www.svoboda.org/a/32881433.html</a:t>
            </a:r>
          </a:p>
          <a:p xmlns:a="http://schemas.openxmlformats.org/drawingml/2006/main">
            <a:r>
              <a:t>https://echofm.online/programs/idyom-po-zvyozdam/idyom-po-zvezdam-s-lyubovyu-sobol</a:t>
            </a:r>
          </a:p>
          <a:p xmlns:a="http://schemas.openxmlformats.org/drawingml/2006/main">
            <a:r>
              <a:t>https://x.com/SobolLubov</a:t>
            </a:r>
          </a:p>
          <a:p xmlns:a="http://schemas.openxmlformats.org/drawingml/2006/main">
            <a:r>
              <a:t>https://stuki-druki.com/authors/sobol-lubov.php</a:t>
            </a:r>
          </a:p>
          <a:p xmlns:a="http://schemas.openxmlformats.org/drawingml/2006/main">
            <a:r>
              <a:t>https://www.interfax.ru/elections2018/593143</a:t>
            </a:r>
          </a:p>
          <a:p xmlns:a="http://schemas.openxmlformats.org/drawingml/2006/main">
            <a:r>
              <a:t>https://elections2018.tass.ru/candidate/sobchak</a:t>
            </a:r>
          </a:p>
          <a:p xmlns:a="http://schemas.openxmlformats.org/drawingml/2006/main">
            <a:r>
              <a:t>https://www.interfax.ru/elections2018/604186</a:t>
            </a:r>
          </a:p>
          <a:p xmlns:a="http://schemas.openxmlformats.org/drawingml/2006/main">
            <a:r>
              <a:t>https://www.interfax.ru/elections2018/604908</a:t>
            </a:r>
          </a:p>
          <a:p xmlns:a="http://schemas.openxmlformats.org/drawingml/2006/main">
            <a:r>
              <a:t>https://www.consultant.ru/law/hotdocs/53066.html</a:t>
            </a:r>
          </a:p>
          <a:p xmlns:a="http://schemas.openxmlformats.org/drawingml/2006/main">
            <a:r>
              <a:t>https://www.rbc.ru/newspaper/2018/03/20/5aae9ca49a794739b02918a0</a:t>
            </a:r>
          </a:p>
          <a:p xmlns:a="http://schemas.openxmlformats.org/drawingml/2006/main">
            <a:r>
              <a:t>https://www.interfax.ru/elections2018/604136</a:t>
            </a:r>
          </a:p>
          <a:p xmlns:a="http://schemas.openxmlformats.org/drawingml/2006/main">
            <a:r>
              <a:t>https://www.interfax.ru/elections2018/604190</a:t>
            </a:r>
          </a:p>
          <a:p xmlns:a="http://schemas.openxmlformats.org/drawingml/2006/main">
            <a:r>
              <a:t>https://www.rbc.ru/economics/25/12/2017/5a4025f19a79472e3f5f4ad9?from=right_column_materials_3</a:t>
            </a:r>
          </a:p>
          <a:p xmlns:a="http://schemas.openxmlformats.org/drawingml/2006/main">
            <a:r>
              <a:t>https://news.ru/show-business/otezd-iz-rf-vybory-svo-v-chem-priznalas-kseniya-sobchak-v-novom-intervyu</a:t>
            </a:r>
          </a:p>
          <a:p xmlns:a="http://schemas.openxmlformats.org/drawingml/2006/main">
            <a:r>
              <a:t>https://rtvi.com/news/sobchak-otvetila-na-vopros-putin-ili-zelenskij/</a:t>
            </a:r>
          </a:p>
          <a:p xmlns:a="http://schemas.openxmlformats.org/drawingml/2006/main">
            <a:r>
              <a:t>https://informator.ua/ru/kompromissy-iz-rf-legitimnost-zelenskogo-i-gotovnost-pozhat-ruku-putinu-o-chem-govoril-arestovich-v-intervyu-sobchak</a:t>
            </a:r>
          </a:p>
          <a:p xmlns:a="http://schemas.openxmlformats.org/drawingml/2006/main">
            <a:r>
              <a:t>https://rassvet-party.info/</a:t>
            </a:r>
          </a:p>
          <a:p xmlns:a="http://schemas.openxmlformats.org/drawingml/2006/main">
            <a:r>
              <a:t>https://en.wikipedia.org/wiki/Yekaterina_Duntsova</a:t>
            </a:r>
          </a:p>
          <a:p xmlns:a="http://schemas.openxmlformats.org/drawingml/2006/main">
            <a:r>
              <a:t>https://www.dw.com/ru/cto-nuzno-znat-o-ekaterine-duncovoj-kotoraa-hocet-stat-prezidentom-rf/a-67832425</a:t>
            </a:r>
          </a:p>
          <a:p xmlns:a="http://schemas.openxmlformats.org/drawingml/2006/main">
            <a:r>
              <a:t>https://baj.media/ru/ya-gotova-idti-do-konca-zhurnalistka-iz-rossiyskoy-provincii-reshila-stat-prezidentom-i-2/</a:t>
            </a:r>
          </a:p>
          <a:p xmlns:a="http://schemas.openxmlformats.org/drawingml/2006/main">
            <a:r>
              <a:t>https://echofm.online/portret-dnya/portret-dnya-ekaterina-dunczova-reshivshaya-vydvinutsya-kandidatom-v-prezidenty-rossii-zhurnalistka-iz-rzheva</a:t>
            </a:r>
          </a:p>
          <a:p xmlns:a="http://schemas.openxmlformats.org/drawingml/2006/main">
            <a:r>
              <a:t>https://novayagazeta.eu/articles/2024/03/15/zlost-i-nenavist-vsem-nadoeli</a:t>
            </a:r>
          </a:p>
          <a:p xmlns:a="http://schemas.openxmlformats.org/drawingml/2006/main">
            <a:r>
              <a:t>https://altapress.ru/politika/story/kto-takaya-ekaterina-duntsova-kotoraya-sobiraetsya-stat-poslednim-prezidentom-rossii-i-kto-eshche-hochet-ballotirovatsya-336526</a:t>
            </a:r>
          </a:p>
          <a:p xmlns:a="http://schemas.openxmlformats.org/drawingml/2006/main">
            <a:r>
              <a:t>https://cherta.media/interview/ekaterina-duncova-kandidat-v-prezidenty/</a:t>
            </a:r>
          </a:p>
          <a:p xmlns:a="http://schemas.openxmlformats.org/drawingml/2006/main">
            <a:r>
              <a:t>https://novayagazeta.eu/articles/2023/12/05/zachem-ia-budu-stoiat-na-barrikadakh-esli-mogu-zanimatsia-realnymi-delami</a:t>
            </a:r>
          </a:p>
          <a:p xmlns:a="http://schemas.openxmlformats.org/drawingml/2006/main">
            <a:r>
              <a:t>https://holod.media/2023/12/20/ekaterina-duntsova-view/</a:t>
            </a:r>
          </a:p>
          <a:p xmlns:a="http://schemas.openxmlformats.org/drawingml/2006/main">
            <a:r>
              <a:t>https://www.dw.com/ru/ekaterina-duncova-o-sozdanii-partii-rassvet-my-mezdu-dvuh-ognej/a-68992724</a:t>
            </a:r>
          </a:p>
          <a:p xmlns:a="http://schemas.openxmlformats.org/drawingml/2006/main">
            <a:r>
              <a:t>https://rassvet-party.info/static/program.pdf</a:t>
            </a:r>
          </a:p>
          <a:p xmlns:a="http://schemas.openxmlformats.org/drawingml/2006/main">
            <a:r>
              <a:t>https://www.currenttime.tv/a/ekaterina-duntsova-o-sozdanii-partii-i-svoem-zaderzhanii/32775510.html</a:t>
            </a:r>
          </a:p>
          <a:p xmlns:a="http://schemas.openxmlformats.org/drawingml/2006/main">
            <a:r>
              <a:t>https://duntsovainitiative.1c-umi.ru/galereya/</a:t>
            </a:r>
          </a:p>
          <a:p xmlns:a="http://schemas.openxmlformats.org/drawingml/2006/main">
            <a:r>
              <a:t>https://rassvet-party.info/static/manifest.pdf</a:t>
            </a:r>
          </a:p>
          <a:p xmlns:a="http://schemas.openxmlformats.org/drawingml/2006/main">
            <a:r>
              <a:t>https://www.rbc.ru/person/65afb4a99a79470e434da73d</a:t>
            </a:r>
          </a:p>
          <a:p xmlns:a="http://schemas.openxmlformats.org/drawingml/2006/main">
            <a:r>
              <a:t>https://www.bbc.com/russian/articles/c84npr0wxx9o</a:t>
            </a:r>
          </a:p>
          <a:p xmlns:a="http://schemas.openxmlformats.org/drawingml/2006/main">
            <a:r>
              <a:t>https://www.rbc.ru/politics/08/02/2024/65c3749b9a79479ef5fe7934</a:t>
            </a:r>
          </a:p>
          <a:p xmlns:a="http://schemas.openxmlformats.org/drawingml/2006/main">
            <a:r>
              <a:t>https://www.business-gazeta.ru/article/622600</a:t>
            </a:r>
          </a:p>
          <a:p xmlns:a="http://schemas.openxmlformats.org/drawingml/2006/main">
            <a:r>
              <a:t>https://semnasem.org/articles/2024/02/02/poslednij-sredi-antivoennyh-kto-takoj-boris-nadezhdin-kotoryj-vse-eshe-nadeetsya-stat-prezidentom</a:t>
            </a:r>
          </a:p>
          <a:p xmlns:a="http://schemas.openxmlformats.org/drawingml/2006/main">
            <a:r>
              <a:t>https://novayagazeta.eu/articles/2024/02/03/17-marta-nachalo-kontsa-epokhi-putina</a:t>
            </a:r>
          </a:p>
          <a:p xmlns:a="http://schemas.openxmlformats.org/drawingml/2006/main">
            <a:r>
              <a:t>https://www.youtube.com/watch?v=mGMdgxBCdns</a:t>
            </a:r>
          </a:p>
          <a:p xmlns:a="http://schemas.openxmlformats.org/drawingml/2006/main">
            <a:r>
              <a:t>https://www.dw.com/ru/boris-nadezdin-moj-rejting-rastet-na-5-v-nedelu/a-68154251</a:t>
            </a:r>
          </a:p>
          <a:p xmlns:a="http://schemas.openxmlformats.org/drawingml/2006/main">
            <a:r>
              <a:t>https://ovd.info/express-news/2026/07/17/u-menya-dva-puti-lenina-ili-navalnogo-chto-nuzhno-znat-o-borise-nadezhdine</a:t>
            </a:r>
          </a:p>
          <a:p xmlns:a="http://schemas.openxmlformats.org/drawingml/2006/main">
            <a:r>
              <a:t>https://www.rbc.ru/person/65afb4a99a79470e434da73d?ysclid=mrt22n99to603501119</a:t>
            </a:r>
          </a:p>
          <a:p xmlns:a="http://schemas.openxmlformats.org/drawingml/2006/main">
            <a:r>
              <a:t>https://www.youtube.com/watch?v=UNytg_H_1pY</a:t>
            </a:r>
          </a:p>
          <a:p xmlns:a="http://schemas.openxmlformats.org/drawingml/2006/main">
            <a:r>
              <a:t>https://www.youtube.com/watch?v=DwTC5bilf_8</a:t>
            </a:r>
          </a:p>
          <a:p xmlns:a="http://schemas.openxmlformats.org/drawingml/2006/main">
            <a:r>
              <a:t>https://www.youtube.com/watch?v=sG4_THnT9W0</a:t>
            </a:r>
          </a:p>
          <a:p xmlns:a="http://schemas.openxmlformats.org/drawingml/2006/main">
            <a:r>
              <a:t>https://www.rbc.ru/rbcfreenews/6586cdf49a79479c3cd3d4b3</a:t>
            </a:r>
          </a:p>
          <a:p xmlns:a="http://schemas.openxmlformats.org/drawingml/2006/main">
            <a:r>
              <a:t>https://kprf.ru/activity/elections/223485.html/print</a:t>
            </a:r>
          </a:p>
          <a:p xmlns:a="http://schemas.openxmlformats.org/drawingml/2006/main">
            <a:r>
              <a:t>http://msk.kprf.ru/2024/01/24/247473/</a:t>
            </a:r>
          </a:p>
          <a:p xmlns:a="http://schemas.openxmlformats.org/drawingml/2006/main">
            <a:r>
              <a:t>https://www.dw.com/ru/vybory-prezidenta-rossii-2024/a-68528003</a:t>
            </a:r>
          </a:p>
          <a:p xmlns:a="http://schemas.openxmlformats.org/drawingml/2006/main">
            <a:r>
              <a:t>https://ru.wikipedia.org/wiki/%D0%A5%D0%B0%D1%80%D0%B8%D1%82%D0%BE%D0%BD%D0%BE%D0%B2,_%D0%9D%D0%B8%D0%BA%D0%BE%D0%BB%D0%B0%D0%B9_%D0%9C%D0%B8%D1%85%D0%B0%D0%B9%D0%BB%D0%BE%D0%B2%D0%B8%D1%87</a:t>
            </a:r>
          </a:p>
          <a:p xmlns:a="http://schemas.openxmlformats.org/drawingml/2006/main">
            <a:r>
              <a:t>https://kprf.ru/party-live/cknews/225170.html</a:t>
            </a:r>
          </a:p>
          <a:p xmlns:a="http://schemas.openxmlformats.org/drawingml/2006/main">
            <a:r>
              <a:t>https://kprf.ru/dep/gosduma/activities/232802.html</a:t>
            </a:r>
          </a:p>
          <a:p xmlns:a="http://schemas.openxmlformats.org/drawingml/2006/main">
            <a:r>
              <a:t>https://kprf35.com/2024/02/17/32710/</a:t>
            </a:r>
          </a:p>
          <a:p xmlns:a="http://schemas.openxmlformats.org/drawingml/2006/main">
            <a:r>
              <a:t>https://www.pkokprf.ru/news/view/35448</a:t>
            </a:r>
          </a:p>
          <a:p xmlns:a="http://schemas.openxmlformats.org/drawingml/2006/main">
            <a:r>
              <a:t>https://altkprf.ru/upload/iblock/eea/jiv0wm7hzk6gq4qdxw0r5wvp7zwb6luk.pdf</a:t>
            </a:r>
          </a:p>
          <a:p xmlns:a="http://schemas.openxmlformats.org/drawingml/2006/main">
            <a:r>
              <a:t>https://kprf.ru/activity/army/224789.html</a:t>
            </a:r>
          </a:p>
          <a:p xmlns:a="http://schemas.openxmlformats.org/drawingml/2006/main">
            <a:r>
              <a:t>https://gazeta-pravda.ru/issue/24-31517-711-marta-2024-goda-/alternativa-polupravde/</a:t>
            </a:r>
          </a:p>
          <a:p xmlns:a="http://schemas.openxmlformats.org/drawingml/2006/main">
            <a:r>
              <a:t>https://spbpalata.ru/?p=13755</a:t>
            </a:r>
          </a:p>
          <a:p xmlns:a="http://schemas.openxmlformats.org/drawingml/2006/main">
            <a:r>
              <a:t>https://kprf.ru/activity/elections/171941.html</a:t>
            </a:r>
          </a:p>
          <a:p xmlns:a="http://schemas.openxmlformats.org/drawingml/2006/main">
            <a:r>
              <a:t>https://kprf.ru/party-live/cknews/171994.html</a:t>
            </a:r>
          </a:p>
          <a:p xmlns:a="http://schemas.openxmlformats.org/drawingml/2006/main">
            <a:r>
              <a:t>https://elections2018.tass.ru/candidate/grudinin</a:t>
            </a:r>
          </a:p>
          <a:p xmlns:a="http://schemas.openxmlformats.org/drawingml/2006/main">
            <a:r>
              <a:t>https://www.bbc.com/russian/features-43105617</a:t>
            </a:r>
          </a:p>
          <a:p xmlns:a="http://schemas.openxmlformats.org/drawingml/2006/main">
            <a:r>
              <a:t>https://www.rbc.ru/politics/24/07/2021/60fbe35b9a794716f25253a0</a:t>
            </a:r>
          </a:p>
          <a:p xmlns:a="http://schemas.openxmlformats.org/drawingml/2006/main">
            <a:r>
              <a:t>https://kprf.ru/dep/reg/204410.html</a:t>
            </a:r>
          </a:p>
          <a:p xmlns:a="http://schemas.openxmlformats.org/drawingml/2006/main">
            <a:r>
              <a:t>https://msk.kprf.ru/2021/09/16/168273/</a:t>
            </a:r>
          </a:p>
          <a:p xmlns:a="http://schemas.openxmlformats.org/drawingml/2006/main">
            <a:r>
              <a:t>https://svpressa.ru/persons/pavel-grudinin/</a:t>
            </a:r>
          </a:p>
          <a:p xmlns:a="http://schemas.openxmlformats.org/drawingml/2006/main">
            <a:r>
              <a:t>https://carnegieendowment.org/ru/russia-eurasia/posts/2018/02/kuda-privedut-ekonomiku-rossii-20-shagov-grudinina</a:t>
            </a:r>
          </a:p>
          <a:p xmlns:a="http://schemas.openxmlformats.org/drawingml/2006/main">
            <a:r>
              <a:t>https://www.kompas-rf.ru/2018/01/2980/</a:t>
            </a:r>
          </a:p>
          <a:p xmlns:a="http://schemas.openxmlformats.org/drawingml/2006/main">
            <a:r>
              <a:t>https://www.svoboda.org/a/30073365.html</a:t>
            </a:r>
          </a:p>
          <a:p xmlns:a="http://schemas.openxmlformats.org/drawingml/2006/main">
            <a:r>
              <a:t>https://kandidativprezidenti.ru/programma-grudinina-2018/</a:t>
            </a:r>
          </a:p>
          <a:p xmlns:a="http://schemas.openxmlformats.org/drawingml/2006/main">
            <a:r>
              <a:t>https://mbk-news.appspot.com/suzhet/za-lenina-i-protiv-ege/</a:t>
            </a:r>
          </a:p>
          <a:p xmlns:a="http://schemas.openxmlformats.org/drawingml/2006/main">
            <a:r>
              <a:t>https://www.amnesty.org/ru/latest/research/2021/06/zayavlenie-rossijskaya-federacziya-obvinitelnyj-prigovor-nikolayu-platoshkinu-dolzhen-byt-otmenyon/</a:t>
            </a:r>
          </a:p>
          <a:p xmlns:a="http://schemas.openxmlformats.org/drawingml/2006/main">
            <a:r>
              <a:t>https://zona.media/article/2021/05/20/nikolay-nikolaevitch</a:t>
            </a:r>
          </a:p>
          <a:p xmlns:a="http://schemas.openxmlformats.org/drawingml/2006/main">
            <a:r>
              <a:t>https://novayagazeta.ru/articles/2020/06/05/85705-sotsialisticheskiy-prizyv</a:t>
            </a:r>
          </a:p>
          <a:p xmlns:a="http://schemas.openxmlformats.org/drawingml/2006/main">
            <a:r>
              <a:t>https://www.revda-info.ru/2020/08/26/v-revde-poyavilos-otdelenie-dvizheniya-za-novyj-sotsializm-ego-lider-sejchas-pod-arestom</a:t>
            </a:r>
          </a:p>
          <a:p xmlns:a="http://schemas.openxmlformats.org/drawingml/2006/main">
            <a:r>
              <a:t>https://new-socialism.org/o-dvizhenii/programma/</a:t>
            </a:r>
          </a:p>
          <a:p xmlns:a="http://schemas.openxmlformats.org/drawingml/2006/main">
            <a:r>
              <a:t>https://new-socialism.org/o-dvizhenii/lider/</a:t>
            </a:r>
          </a:p>
          <a:p xmlns:a="http://schemas.openxmlformats.org/drawingml/2006/main">
            <a:r>
              <a:t>https://www.themoscowtimes.com/2024/01/19/ilya-ponomaryov-we-have-to-capture-the-kremlin-there-is-no-other-way-a83772</a:t>
            </a:r>
          </a:p>
          <a:p xmlns:a="http://schemas.openxmlformats.org/drawingml/2006/main">
            <a:r>
              <a:t>https://www.dw.com/ru/cto-izvestno-o-rossijskih-podrazdeleniah-v-sostave-vsu/a-63915634</a:t>
            </a:r>
          </a:p>
          <a:p xmlns:a="http://schemas.openxmlformats.org/drawingml/2006/main">
            <a:r>
              <a:t>https://www.svoboda.org/a/32321226.html</a:t>
            </a:r>
          </a:p>
          <a:p xmlns:a="http://schemas.openxmlformats.org/drawingml/2006/main">
            <a:r>
              <a:t>https://hromadske.ua/ru/posts/nasha-cel-moskva-my-dolzhny-sbrosit-putina-rossijskie-partizany-mif-ili-pravda</a:t>
            </a:r>
          </a:p>
          <a:p xmlns:a="http://schemas.openxmlformats.org/drawingml/2006/main">
            <a:r>
              <a:t>https://epravda.com.ua/rus/publications/2018/06/11/637572/</a:t>
            </a:r>
          </a:p>
          <a:p xmlns:a="http://schemas.openxmlformats.org/drawingml/2006/main">
            <a:r>
              <a:t>https://pointmedia.io/story/672b355fdc48800406e0f515</a:t>
            </a:r>
          </a:p>
          <a:p xmlns:a="http://schemas.openxmlformats.org/drawingml/2006/main">
            <a:r>
              <a:t>https://ru.wikipedia.org/wiki/%D0%9B%D0%B5%D0%B3%D0%B8%D0%BE%D0%BD_%C2%AB%D0%A1%D0%B2%D0%BE%D0%B1%D0%BE%D0%B4%D0%B0_%D0%A0%D0%BE%D1%81%D1%81%D0%B8%D0%B8%C2%BB</a:t>
            </a:r>
          </a:p>
          <a:p xmlns:a="http://schemas.openxmlformats.org/drawingml/2006/main">
            <a:r>
              <a:t>https://ru.wikipedia.org/wiki/%D0%9F%D0%BE%D0%BD%D0%BE%D0%BC%D0%B0%D1%80%D1%91%D0%B2,_%D0%98%D0%BB%D1%8C%D1%8F_%D0%92%D0%BB%D0%B0%D0%B4%D0%B8%D0%BC%D0%B8%D1%80%D0%BE%D0%B2%D0%B8%D1%87</a:t>
            </a:r>
          </a:p>
          <a:p xmlns:a="http://schemas.openxmlformats.org/drawingml/2006/main">
            <a:r>
              <a:t>https://russophob.ru/person/ponomarev_ilya_vladimirovich</a:t>
            </a:r>
          </a:p>
          <a:p xmlns:a="http://schemas.openxmlformats.org/drawingml/2006/main">
            <a:r>
              <a:t>https://www.svoboda.org/a/32063164.html</a:t>
            </a:r>
          </a:p>
          <a:p xmlns:a="http://schemas.openxmlformats.org/drawingml/2006/main">
            <a:r>
              <a:t>https://www.kpbs.org/news/news/international/2023/03/26/a-scrappy-newscast-in-kyiv-aimed-at-russians-counters-putins-propaganda-machine</a:t>
            </a:r>
          </a:p>
          <a:p xmlns:a="http://schemas.openxmlformats.org/drawingml/2006/main">
            <a:r>
              <a:t>https://ovd.info/express-news/2022/10/02/politik-leonid-gozman-uekhal-iz-rossii-posle-dvukh-administrativnykh</a:t>
            </a:r>
          </a:p>
          <a:p xmlns:a="http://schemas.openxmlformats.org/drawingml/2006/main">
            <a:r>
              <a:t>https://ovd.info/express-news/2022/08/30/politika-leonida-gozmana-arestovali-na-15-sutok-iz-za-posta-v-feysbuke</a:t>
            </a:r>
          </a:p>
          <a:p xmlns:a="http://schemas.openxmlformats.org/drawingml/2006/main">
            <a:r>
              <a:t>https://www.rbc.ru/politics/15/07/2022/62d1b3f39a7947299cdeb6a4</a:t>
            </a:r>
          </a:p>
          <a:p xmlns:a="http://schemas.openxmlformats.org/drawingml/2006/main">
            <a:r>
              <a:t>https://novayagazeta.eu/articles/2022/07/15/sk-doprosil-politika-leonida-gozmana-kak-podozrevaemogo-po-delu-o-neuvedomlenii-o-vtorom-grazhdanstve-news</a:t>
            </a:r>
          </a:p>
          <a:p xmlns:a="http://schemas.openxmlformats.org/drawingml/2006/main">
            <a:r>
              <a:t>https://www.rbc.ru/politics/15/02/2024/65cdc9e09a7947a2995026fa</a:t>
            </a:r>
          </a:p>
          <a:p xmlns:a="http://schemas.openxmlformats.org/drawingml/2006/main">
            <a:r>
              <a:t>https://ovd.info/express-news/2025/01/22/leonida-gozmana-i-rovshana-askerova-vnesli-v-reestr-terroristov-i</a:t>
            </a:r>
          </a:p>
          <a:p xmlns:a="http://schemas.openxmlformats.org/drawingml/2006/main">
            <a:r>
              <a:t>https://www.rbc.ru/opinion-authors/gozman</a:t>
            </a:r>
          </a:p>
          <a:p xmlns:a="http://schemas.openxmlformats.org/drawingml/2006/main">
            <a:r>
              <a:t>https://novayagazeta.eu/articles/2022/07/25/ovd-info-v-moskve-zaderzhali-politika-leonida-gozmana-news</a:t>
            </a:r>
          </a:p>
          <a:p xmlns:a="http://schemas.openxmlformats.org/drawingml/2006/main">
            <a:r>
              <a:t>https://gefter.ru/archive/23487</a:t>
            </a:r>
          </a:p>
          <a:p xmlns:a="http://schemas.openxmlformats.org/drawingml/2006/main">
            <a:r>
              <a:t>https://www.svoboda.org/a/31147156.html</a:t>
            </a:r>
          </a:p>
          <a:p xmlns:a="http://schemas.openxmlformats.org/drawingml/2006/main">
            <a:r>
              <a:t>https://uatv.ua/gozman-putin-zagnal-rossiyu-v-ugol-sleduyushhij-shag-repressii/</a:t>
            </a:r>
          </a:p>
          <a:p xmlns:a="http://schemas.openxmlformats.org/drawingml/2006/main">
            <a:r>
              <a:t>https://echofm.online/programs/hochu-skazat/hochu-skazat-odin-protiv-vseh-kak-ne-dat-strahu-pobedit-sebya</a:t>
            </a:r>
          </a:p>
          <a:p xmlns:a="http://schemas.openxmlformats.org/drawingml/2006/main">
            <a:r>
              <a:t>https://www.svoboda.org/a/leonid-gozman-russkih-lyudey-neljzya-mazatj-odnoy-chernoy-kraskoy-/32732625.html</a:t>
            </a:r>
          </a:p>
          <a:p xmlns:a="http://schemas.openxmlformats.org/drawingml/2006/main">
            <a:r>
              <a:t>https://novayagazeta.eu/articles/2022/07/18/prepiatstvovat-prosveshcheniiu-liudei-vlast-budet-pulemiotami</a:t>
            </a:r>
          </a:p>
          <a:p xmlns:a="http://schemas.openxmlformats.org/drawingml/2006/main">
            <a:r>
              <a:t>https://www.svoboda.org/a/29652429.html</a:t>
            </a:r>
          </a:p>
          <a:p xmlns:a="http://schemas.openxmlformats.org/drawingml/2006/main">
            <a:r>
              <a:t>https://novayagazeta.eu/articles/2022/04/26/nesobliudenie-rezhima</a:t>
            </a:r>
          </a:p>
          <a:p xmlns:a="http://schemas.openxmlformats.org/drawingml/2006/main">
            <a:r>
              <a:t>https://novayagazeta.eu/articles/2022/07/21/zapiski-ugolovnika</a:t>
            </a:r>
          </a:p>
          <a:p xmlns:a="http://schemas.openxmlformats.org/drawingml/2006/main">
            <a:r>
              <a:t>https://novayagazeta.ru/authors/2349</a:t>
            </a:r>
          </a:p>
          <a:p xmlns:a="http://schemas.openxmlformats.org/drawingml/2006/main">
            <a:r>
              <a:t>https://www.rbc.ru/politics/10/08/2017/598c8d6d9a79474cff05cbab</a:t>
            </a:r>
          </a:p>
          <a:p xmlns:a="http://schemas.openxmlformats.org/drawingml/2006/main">
            <a:r>
              <a:t>https://www.bbc.com/russian/news-40853405</a:t>
            </a:r>
          </a:p>
          <a:p xmlns:a="http://schemas.openxmlformats.org/drawingml/2006/main">
            <a:r>
              <a:t>https://www.rbc.ru/politics/10/08/2017/598c0a8e9a7947569574ba10?from=right_column_materials_1</a:t>
            </a:r>
          </a:p>
          <a:p xmlns:a="http://schemas.openxmlformats.org/drawingml/2006/main">
            <a:r>
              <a:t>https://www.vedomosti.ru/politics/articles/2017/08/10/728820-udaltsov</a:t>
            </a:r>
          </a:p>
          <a:p xmlns:a="http://schemas.openxmlformats.org/drawingml/2006/main">
            <a:r>
              <a:t>https://www.interfax.ru/elections2018/598382</a:t>
            </a:r>
          </a:p>
          <a:p xmlns:a="http://schemas.openxmlformats.org/drawingml/2006/main">
            <a:r>
              <a:t>https://sotaproject.com/article/sergeia-udaltsova-opiat-pytaiutsia-posadit-khotia-on-vsego-lish-prosit-putina-postroit-sotsializm</a:t>
            </a:r>
          </a:p>
          <a:p xmlns:a="http://schemas.openxmlformats.org/drawingml/2006/main">
            <a:r>
              <a:t>https://www.gazeta.ru/tags/person/sergei_udaltsov.shtml</a:t>
            </a:r>
          </a:p>
          <a:p xmlns:a="http://schemas.openxmlformats.org/drawingml/2006/main">
            <a:r>
              <a:t>https://www.kommersant.ru/doc/8317316</a:t>
            </a:r>
          </a:p>
          <a:p xmlns:a="http://schemas.openxmlformats.org/drawingml/2006/main">
            <a:r>
              <a:t>https://www.kommersant.ru/doc/8972418</a:t>
            </a:r>
          </a:p>
          <a:p xmlns:a="http://schemas.openxmlformats.org/drawingml/2006/main">
            <a:r>
              <a:t>https://holod.media/2023/09/12/udaltsov-interview/</a:t>
            </a:r>
          </a:p>
          <a:p xmlns:a="http://schemas.openxmlformats.org/drawingml/2006/main">
            <a:r>
              <a:t>https://meduza.io/feature/2024/01/11/sergey-udaltsov-zaderzhan-po-obvineniyu-v-opravdanii-terrorizma</a:t>
            </a:r>
          </a:p>
          <a:p xmlns:a="http://schemas.openxmlformats.org/drawingml/2006/main">
            <a:r>
              <a:t>https://ref-book.sova-center.ru/index.php/%D0%94%D1%80%D1%83%D0%B3%D0%B0%D1%8F_%D0%A0%D0%BE%D1%81%D1%81%D0%B8%D1%8F,_%D0%BF%D0%B0%D1%80%D1%82%D0%B8%D1%8F</a:t>
            </a:r>
          </a:p>
          <a:p xmlns:a="http://schemas.openxmlformats.org/drawingml/2006/main">
            <a:r>
              <a:t>https://www.rbc.ru/society/17/03/2020/5e71048d9a79473925ab81a7</a:t>
            </a:r>
          </a:p>
          <a:p xmlns:a="http://schemas.openxmlformats.org/drawingml/2006/main">
            <a:r>
              <a:t>https://rt.rbc.ru/society/18/03/2020/5e71acc49a794773553f824e</a:t>
            </a:r>
          </a:p>
          <a:p xmlns:a="http://schemas.openxmlformats.org/drawingml/2006/main">
            <a:r>
              <a:t>https://www.bostonglobe.com/metro/obituaries/2020/03/18/russian-author-political-activist-eduard-limonov-dies/jnjHywBRjVTTgnlsqI12vN/story.html</a:t>
            </a:r>
          </a:p>
          <a:p xmlns:a="http://schemas.openxmlformats.org/drawingml/2006/main">
            <a:r>
              <a:t>https://nsn.fm/society/poslednee-intervu-pisatelya-i-politika-eduarda-limonova</a:t>
            </a:r>
          </a:p>
          <a:p xmlns:a="http://schemas.openxmlformats.org/drawingml/2006/main">
            <a:r>
              <a:t>http://www.grso.ru/person/limonov-eduard.html</a:t>
            </a:r>
          </a:p>
          <a:p xmlns:a="http://schemas.openxmlformats.org/drawingml/2006/main">
            <a:r>
              <a:t>https://ru.wikipedia.org/wiki/%D0%94%D1%80%D1%83%D0%B3%D0%B0%D1%8F_%D0%A0%D0%BE%D1%81%D1%81%D0%B8%D1%8F_%D0%AD._%D0%92._%D0%9B%D0%B8%D0%BC%D0%BE%D0%BD%D0%BE%D0%B2%D0%B0</a:t>
            </a:r>
          </a:p>
          <a:p xmlns:a="http://schemas.openxmlformats.org/drawingml/2006/main">
            <a:r>
              <a:t>https://novayagazeta.ru/articles/2017/03/12/71752-puteshestvie-natsbolov-k-putinu-i-obratno</a:t>
            </a:r>
          </a:p>
          <a:p xmlns:a="http://schemas.openxmlformats.org/drawingml/2006/main">
            <a:r>
              <a:t>https://mediabrest.by/news/lyudi/umer-eduard-limonov-chem-zapomnilsya-pisatel</a:t>
            </a:r>
          </a:p>
          <a:p xmlns:a="http://schemas.openxmlformats.org/drawingml/2006/main">
            <a:r>
              <a:t>https://www.limonow.de/read/EL_2013-2018_T.html</a:t>
            </a:r>
          </a:p>
          <a:p xmlns:a="http://schemas.openxmlformats.org/drawingml/2006/main">
            <a:r>
              <a:t>https://www.infpol.ru/203662-ot-ubezhdennogo-antisovetchika-do-kolumnista-rt/</a:t>
            </a:r>
          </a:p>
          <a:p xmlns:a="http://schemas.openxmlformats.org/drawingml/2006/main">
            <a:r>
              <a:t>https://www.bbc.com/russian/articles/c2eg90d7gg9o</a:t>
            </a:r>
          </a:p>
          <a:p xmlns:a="http://schemas.openxmlformats.org/drawingml/2006/main">
            <a:r>
              <a:t>https://www.dw.com/ru/mosgorsud-prigovoril-igora-girkina-strelkova-k-4-godam-kolonii/a-68080937</a:t>
            </a:r>
          </a:p>
          <a:p xmlns:a="http://schemas.openxmlformats.org/drawingml/2006/main">
            <a:r>
              <a:t>https://www.fontanka.ru/2023/07/21/72520253</a:t>
            </a:r>
          </a:p>
          <a:p xmlns:a="http://schemas.openxmlformats.org/drawingml/2006/main">
            <a:r>
              <a:t>https://www.svoboda.org/a/strelkov-iz-sizo-opasayusj-amnistii-kak-u-prigozhina-/32722083.html</a:t>
            </a:r>
          </a:p>
          <a:p xmlns:a="http://schemas.openxmlformats.org/drawingml/2006/main">
            <a:r>
              <a:t>https://ru.themoscowtimes.com/2023/12/07/girkin-zayavil-chto-opasaetsya-povtorit-sudbu-prigozhina-a115592</a:t>
            </a:r>
          </a:p>
          <a:p xmlns:a="http://schemas.openxmlformats.org/drawingml/2006/main">
            <a:r>
              <a:t>https://ru.krymr.com/a/boing-mn17-10-let-podozrevayemyye-obvinyayemyye-vinovnyye/33040170.html</a:t>
            </a:r>
          </a:p>
          <a:p xmlns:a="http://schemas.openxmlformats.org/drawingml/2006/main">
            <a:r>
              <a:t>https://charter97.org/ru/news/2023/7/22/556802/</a:t>
            </a:r>
          </a:p>
          <a:p xmlns:a="http://schemas.openxmlformats.org/drawingml/2006/main">
            <a:r>
              <a:t>https://t.me/s/pgubarev?after=622</a:t>
            </a:r>
          </a:p>
          <a:p xmlns:a="http://schemas.openxmlformats.org/drawingml/2006/main">
            <a:r>
              <a:t>https://rabkor.ru/columns/debates/2023/05/23/angry_patriots_of_an_imaginary_country/</a:t>
            </a:r>
          </a:p>
          <a:p xmlns:a="http://schemas.openxmlformats.org/drawingml/2006/main">
            <a:r>
              <a:t>https://www.bbc.com/news/world-60947877</a:t>
            </a:r>
          </a:p>
          <a:p xmlns:a="http://schemas.openxmlformats.org/drawingml/2006/main">
            <a:r>
              <a:t>https://www.reuters.com/world/europe/russian-mercenary-boss-courts-putin-with-ukrainian-battlefield-success-2023-01-13/</a:t>
            </a:r>
          </a:p>
          <a:p xmlns:a="http://schemas.openxmlformats.org/drawingml/2006/main">
            <a:r>
              <a:t>https://www.reuters.com/world/europe/russias-wagner-mercenaries-halt-prisoner-recruitment-campaign-founder-prigozhin-2023-02-09/</a:t>
            </a:r>
          </a:p>
          <a:p xmlns:a="http://schemas.openxmlformats.org/drawingml/2006/main">
            <a:r>
              <a:t>https://www.reuters.com/investigates/special-report/ukraine-crisis-russia-wagner/</a:t>
            </a:r>
          </a:p>
          <a:p xmlns:a="http://schemas.openxmlformats.org/drawingml/2006/main">
            <a:r>
              <a:t>https://www.reuters.com/world/europe/russias-wagner-chief-prigozhin-says-ukraine-counteroffensive-already-under-way-2023-05-03/</a:t>
            </a:r>
          </a:p>
          <a:p xmlns:a="http://schemas.openxmlformats.org/drawingml/2006/main">
            <a:r>
              <a:t>https://www.bbc.com/russian/media-66023357</a:t>
            </a:r>
          </a:p>
          <a:p xmlns:a="http://schemas.openxmlformats.org/drawingml/2006/main">
            <a:r>
              <a:t>https://www.reuters.com/world/europe/russias-prigozhin-his-own-words-mutiny-2023-06-26/</a:t>
            </a:r>
          </a:p>
          <a:p xmlns:a="http://schemas.openxmlformats.org/drawingml/2006/main">
            <a:r>
              <a:t>https://x.com/Reuters/status/1632709213641113601</a:t>
            </a:r>
          </a:p>
          <a:p xmlns:a="http://schemas.openxmlformats.org/drawingml/2006/main">
            <a:r>
              <a:t>https://www.reuters.com/world/europe/russian-mercenary-boss-says-moscows-war-ukraine-based-lies-2023-06-23/</a:t>
            </a:r>
          </a:p>
          <a:p xmlns:a="http://schemas.openxmlformats.org/drawingml/2006/main">
            <a:r>
              <a:t>https://www.rbc.ru/spb_sz/02/10/2026/6abfb91afd4c7ff957d9cbe8</a:t>
            </a:r>
          </a:p>
          <a:p xmlns:a="http://schemas.openxmlformats.org/drawingml/2006/main">
            <a:r>
              <a:t>https://www.zaks.ru/new/person/view/639</a:t>
            </a:r>
          </a:p>
          <a:p xmlns:a="http://schemas.openxmlformats.org/drawingml/2006/main">
            <a:r>
              <a:t>https://www.zaks.ru/new/archive/view/219520</a:t>
            </a:r>
          </a:p>
          <a:p xmlns:a="http://schemas.openxmlformats.org/drawingml/2006/main">
            <a:r>
              <a:t>https://tvspb.ru/news/2016/09/27/novyij-sostav-parlamenta-kto-zajmet-kresla-v-zakonodatelnom-sobranii-vi-sozyiva</a:t>
            </a:r>
          </a:p>
          <a:p xmlns:a="http://schemas.openxmlformats.org/drawingml/2006/main">
            <a:r>
              <a:t>https://tass.ru/politika/20994233</a:t>
            </a:r>
          </a:p>
          <a:p xmlns:a="http://schemas.openxmlformats.org/drawingml/2006/main">
            <a:r>
              <a:t>https://www.zaks.ru/new/archive/view/265712</a:t>
            </a:r>
          </a:p>
          <a:p xmlns:a="http://schemas.openxmlformats.org/drawingml/2006/main">
            <a:r>
              <a:t>https://www.zaks.ru/new/archive/view/269374</a:t>
            </a:r>
          </a:p>
          <a:p xmlns:a="http://schemas.openxmlformats.org/drawingml/2006/main">
            <a:r>
              <a:t>https://www.dp.ru/a/2026/10/02/oksana-dmitrieva-proigrala</a:t>
            </a:r>
          </a:p>
          <a:p xmlns:a="http://schemas.openxmlformats.org/drawingml/2006/main">
            <a:r>
              <a:t>https://ru.wikipedia.org/wiki/%D0%9F%D0%B0%D1%80%D1%82%D0%B8%D1%8F_%D1%80%D0%BE%D1%81%D1%82%D0%B0</a:t>
            </a:r>
          </a:p>
          <a:p xmlns:a="http://schemas.openxmlformats.org/drawingml/2006/main">
            <a:r>
              <a:t>https://dmitrieva.org/category/gosduma/zakonoproekty/</a:t>
            </a:r>
          </a:p>
          <a:p xmlns:a="http://schemas.openxmlformats.org/drawingml/2006/main">
            <a:r>
              <a:t>https://t.me/s/oxdmitrieva?before=1072</a:t>
            </a:r>
          </a:p>
          <a:p xmlns:a="http://schemas.openxmlformats.org/drawingml/2006/main">
            <a:r>
              <a:t>http://api.duma.gov.ru/api/transcriptFull/2023-09-28</a:t>
            </a:r>
          </a:p>
          <a:p xmlns:a="http://schemas.openxmlformats.org/drawingml/2006/main">
            <a:r>
              <a:t>https://www.fontanka.ru/2026/09/04/76623983/</a:t>
            </a:r>
          </a:p>
          <a:p xmlns:a="http://schemas.openxmlformats.org/drawingml/2006/main">
            <a:r>
              <a:t>https://www.vedomosti.ru/politics/articles/2026/03/10/1181644-deputat-semi-sozivov-oksana-dmitrieva-snova-poidet-v-gosdumu</a:t>
            </a:r>
          </a:p>
          <a:p xmlns:a="http://schemas.openxmlformats.org/drawingml/2006/main">
            <a:r>
              <a:t>https://www.kommersant.ru/doc/8497588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Числа: metadata.json, scores.csv, loadings.csv и утверждённая матрица оценок.</a:t>
            </a:r>
          </a:p>
          <a:p xmlns:a="http://schemas.openxmlformats.org/drawingml/2006/main">
            <a:r>
              <a:t>Изучаемое пространство: Публичный политический образ российских политиков и иных заметных политических акторов, включая деятелей за рубежом, активных хотя бы в части периода. Не рейтинг популярности..</a:t>
            </a:r>
          </a:p>
          <a:p xmlns:a="http://schemas.openxmlformats.org/drawingml/2006/main">
            <a:r>
              <a:t>Оценщик: llm_exploratory.</a:t>
            </a:r>
          </a:p>
          <a:p xmlns:a="http://schemas.openxmlformats.org/drawingml/2006/main">
            <a:r>
              <a:t>Исходные URL:</a:t>
            </a:r>
          </a:p>
          <a:p xmlns:a="http://schemas.openxmlformats.org/drawingml/2006/main">
            <a:r>
              <a:t>https://kremlin.ru/structure/president</a:t>
            </a:r>
          </a:p>
          <a:p xmlns:a="http://schemas.openxmlformats.org/drawingml/2006/main">
            <a:r>
              <a:t>http://www.special.kremlin.ru/events/president/transcripts/67843</a:t>
            </a:r>
          </a:p>
          <a:p xmlns:a="http://schemas.openxmlformats.org/drawingml/2006/main">
            <a:r>
              <a:t>http://en.kremlin.ru/events/president/news/70315</a:t>
            </a:r>
          </a:p>
          <a:p xmlns:a="http://schemas.openxmlformats.org/drawingml/2006/main">
            <a:r>
              <a:t>http://special.kremlin.ru/events/president/transcripts/70565</a:t>
            </a:r>
          </a:p>
          <a:p xmlns:a="http://schemas.openxmlformats.org/drawingml/2006/main">
            <a:r>
              <a:t>http://special.kremlin.ru/events/president/transcripts/72994</a:t>
            </a:r>
          </a:p>
          <a:p xmlns:a="http://schemas.openxmlformats.org/drawingml/2006/main">
            <a:r>
              <a:t>http://kremlin.ru/events/president/news/73585</a:t>
            </a:r>
          </a:p>
          <a:p xmlns:a="http://schemas.openxmlformats.org/drawingml/2006/main">
            <a:r>
              <a:t>http://special.kremlin.ru/events/president/transcripts/75762</a:t>
            </a:r>
          </a:p>
          <a:p xmlns:a="http://schemas.openxmlformats.org/drawingml/2006/main">
            <a:r>
              <a:t>http://www.special.kremlin.ru/events/president/transcripts/76899</a:t>
            </a:r>
          </a:p>
          <a:p xmlns:a="http://schemas.openxmlformats.org/drawingml/2006/main">
            <a:r>
              <a:t>http://special.kremlin.ru/events/president/transcripts/80017</a:t>
            </a:r>
          </a:p>
          <a:p xmlns:a="http://schemas.openxmlformats.org/drawingml/2006/main">
            <a:r>
              <a:t>http://www.special.kremlin.ru/events/president/transcripts/72084</a:t>
            </a:r>
          </a:p>
          <a:p xmlns:a="http://schemas.openxmlformats.org/drawingml/2006/main">
            <a:r>
              <a:t>http://www.special.kremlin.ru/events/president/transcripts/80172</a:t>
            </a:r>
          </a:p>
          <a:p xmlns:a="http://schemas.openxmlformats.org/drawingml/2006/main">
            <a:r>
              <a:t>https://www.diva-portal.org/smash/get/diva2:2035197/FULLTEXT01.pdf</a:t>
            </a:r>
          </a:p>
          <a:p xmlns:a="http://schemas.openxmlformats.org/drawingml/2006/main">
            <a:r>
              <a:t>https://www.reuters.com/world/what-know-about-russias-upcoming-parliamentary-election-2026-09-15/</a:t>
            </a:r>
          </a:p>
          <a:p xmlns:a="http://schemas.openxmlformats.org/drawingml/2006/main">
            <a:r>
              <a:t>https://www.reuters.com/world/europe/how-putin-may-leverage-predictable-outcome-russias-elections-2026-09-18/</a:t>
            </a:r>
          </a:p>
          <a:p xmlns:a="http://schemas.openxmlformats.org/drawingml/2006/main">
            <a:r>
              <a:t>https://ru.wikipedia.org/wiki/Медведев,_Дмитрий_Анатольевич</a:t>
            </a:r>
          </a:p>
          <a:p xmlns:a="http://schemas.openxmlformats.org/drawingml/2006/main">
            <a:r>
              <a:t>https://tass.ru/ekonomika/3941450</a:t>
            </a:r>
          </a:p>
          <a:p xmlns:a="http://schemas.openxmlformats.org/drawingml/2006/main">
            <a:r>
              <a:t>http://archive.government.ru/docs/21653/print/</a:t>
            </a:r>
          </a:p>
          <a:p xmlns:a="http://schemas.openxmlformats.org/drawingml/2006/main">
            <a:r>
              <a:t>https://netfreedom.org.ua/ru/dmytro-anatoliiovych-medvediev-biohrafiia-posady-i-sanktsii/</a:t>
            </a:r>
          </a:p>
          <a:p xmlns:a="http://schemas.openxmlformats.org/drawingml/2006/main">
            <a:r>
              <a:t>https://verstka.media/czeli-svo-kak-kreml-menyal-ih-na-protyazhenii-tryoh-let-vojny</a:t>
            </a:r>
          </a:p>
          <a:p xmlns:a="http://schemas.openxmlformats.org/drawingml/2006/main">
            <a:r>
              <a:t>http://www.scrf.gov.ru/news/allnews/3820/</a:t>
            </a:r>
          </a:p>
          <a:p xmlns:a="http://schemas.openxmlformats.org/drawingml/2006/main">
            <a:r>
              <a:t>http://scrf.gov.ru/news/allnews/3837/</a:t>
            </a:r>
          </a:p>
          <a:p xmlns:a="http://schemas.openxmlformats.org/drawingml/2006/main">
            <a:r>
              <a:t>https://baike.baidu.com/ru/item/%D0%94%D0%BC%D0%B8%D1%82%D1%80%D0%B8%D0%B9%20%D0%90%D0%BD%D0%B0%D1%82%D0%BE%D0%BB%D1%8C%D0%B5%D0%B2%D0%B8%D1%87%20%D0%9C%D0%B5%D0%B4%D0%B2%D0%B5%D0%B4%D0%B5%D0%B2/3254451</a:t>
            </a:r>
          </a:p>
          <a:p xmlns:a="http://schemas.openxmlformats.org/drawingml/2006/main">
            <a:r>
              <a:t>https://tass.ru/politika/5889577</a:t>
            </a:r>
          </a:p>
          <a:p xmlns:a="http://schemas.openxmlformats.org/drawingml/2006/main">
            <a:r>
              <a:t>https://meduza.io/feature/2023/06/26/chto-proizoshlo-s-dmitriem-medvedevym</a:t>
            </a:r>
          </a:p>
          <a:p xmlns:a="http://schemas.openxmlformats.org/drawingml/2006/main">
            <a:r>
              <a:t>https://www.bbc.com/russian/articles/c6evw7d22lv0o</a:t>
            </a:r>
          </a:p>
          <a:p xmlns:a="http://schemas.openxmlformats.org/drawingml/2006/main">
            <a:r>
              <a:t>https://er.ru/activity/news/dmitrij-medvedev-edinaya-rossiya-ne-dopustit-razrusheniya-cennostnyh-osnov-strany</a:t>
            </a:r>
          </a:p>
          <a:p xmlns:a="http://schemas.openxmlformats.org/drawingml/2006/main">
            <a:r>
              <a:t>https://en.wikipedia.org/wiki/Media_freedom_in_Russia</a:t>
            </a:r>
          </a:p>
          <a:p xmlns:a="http://schemas.openxmlformats.org/drawingml/2006/main">
            <a:r>
              <a:t>https://government.ru/gov/persons/151/travel/?area=KHA</a:t>
            </a:r>
          </a:p>
          <a:p xmlns:a="http://schemas.openxmlformats.org/drawingml/2006/main">
            <a:r>
              <a:t>http://government.ru/gov/persons/151/biography/</a:t>
            </a:r>
          </a:p>
          <a:p xmlns:a="http://schemas.openxmlformats.org/drawingml/2006/main">
            <a:r>
              <a:t>https://www.reuters.com/world/europe/who-is-russias-mikhail-mishustin-2024-05-10/</a:t>
            </a:r>
          </a:p>
          <a:p xmlns:a="http://schemas.openxmlformats.org/drawingml/2006/main">
            <a:r>
              <a:t>https://www.kommersant.ru/doc/4220798</a:t>
            </a:r>
          </a:p>
          <a:p xmlns:a="http://schemas.openxmlformats.org/drawingml/2006/main">
            <a:r>
              <a:t>https://www.vedomosti.ru/politics/galleries/2026/03/03/1179718-nalogi-pod-kontrolem</a:t>
            </a:r>
          </a:p>
          <a:p xmlns:a="http://schemas.openxmlformats.org/drawingml/2006/main">
            <a:r>
              <a:t>http://government.ru/gov/persons/151/travel/?page=5</a:t>
            </a:r>
          </a:p>
          <a:p xmlns:a="http://schemas.openxmlformats.org/drawingml/2006/main">
            <a:r>
              <a:t>http://government.ru/news/46476/</a:t>
            </a:r>
          </a:p>
          <a:p xmlns:a="http://schemas.openxmlformats.org/drawingml/2006/main">
            <a:r>
              <a:t>http://government.ru/news/52063/</a:t>
            </a:r>
          </a:p>
          <a:p xmlns:a="http://schemas.openxmlformats.org/drawingml/2006/main">
            <a:r>
              <a:t>http://government.ru/news/52851/</a:t>
            </a:r>
          </a:p>
          <a:p xmlns:a="http://schemas.openxmlformats.org/drawingml/2006/main">
            <a:r>
              <a:t>https://nangs.org/news/society/kabmin-privlek-otdelnye-gosorgany-k-ukrepleniyu-traditsionnykh-tsennostej</a:t>
            </a:r>
          </a:p>
          <a:p xmlns:a="http://schemas.openxmlformats.org/drawingml/2006/main">
            <a:r>
              <a:t>http://government.ru/news/57315/</a:t>
            </a:r>
          </a:p>
          <a:p xmlns:a="http://schemas.openxmlformats.org/drawingml/2006/main">
            <a:r>
              <a:t>https://www.rbc.ru/person/617bf30d9a7947f92ee2d266</a:t>
            </a:r>
          </a:p>
          <a:p xmlns:a="http://schemas.openxmlformats.org/drawingml/2006/main">
            <a:r>
              <a:t>https://mid.ru/ru/press_service/video/view/1848395/</a:t>
            </a:r>
          </a:p>
          <a:p xmlns:a="http://schemas.openxmlformats.org/drawingml/2006/main">
            <a:r>
              <a:t>https://mid.ru/ru/foreign_policy/international_organizations/1932076/</a:t>
            </a:r>
          </a:p>
          <a:p xmlns:a="http://schemas.openxmlformats.org/drawingml/2006/main">
            <a:r>
              <a:t>https://mid.ru/ru/press_service/minister_speeches/1991476/</a:t>
            </a:r>
          </a:p>
          <a:p xmlns:a="http://schemas.openxmlformats.org/drawingml/2006/main">
            <a:r>
              <a:t>https://www.mid.ru/ru/press_service/vizity-ministra/1922112/</a:t>
            </a:r>
          </a:p>
          <a:p xmlns:a="http://schemas.openxmlformats.org/drawingml/2006/main">
            <a:r>
              <a:t>https://www.mid.ru/ru/foreign_policy/news/1927568/</a:t>
            </a:r>
          </a:p>
          <a:p xmlns:a="http://schemas.openxmlformats.org/drawingml/2006/main">
            <a:r>
              <a:t>https://mid.ru/ru/foreign_policy/news/1912973/</a:t>
            </a:r>
          </a:p>
          <a:p xmlns:a="http://schemas.openxmlformats.org/drawingml/2006/main">
            <a:r>
              <a:t>https://www.reuters.com/world/europe/russias-lavrov-says-moscow-committed-us-proposals-peace-rejects-europes-2026-06-15/</a:t>
            </a:r>
          </a:p>
          <a:p xmlns:a="http://schemas.openxmlformats.org/drawingml/2006/main">
            <a:r>
              <a:t>https://www.reuters.com/world/lavrov-says-russia-is-ready-resume-talks-with-ukraine-point-where-they-left-off-2026-06-23/</a:t>
            </a:r>
          </a:p>
          <a:p xmlns:a="http://schemas.openxmlformats.org/drawingml/2006/main">
            <a:r>
              <a:t>https://mid.ru/ru/press_service/video/view/1799184/</a:t>
            </a:r>
          </a:p>
          <a:p xmlns:a="http://schemas.openxmlformats.org/drawingml/2006/main">
            <a:r>
              <a:t>https://en.wikipedia.org/wiki/Sergey_Lavrov</a:t>
            </a:r>
          </a:p>
          <a:p xmlns:a="http://schemas.openxmlformats.org/drawingml/2006/main">
            <a:r>
              <a:t>https://www.garant.ru/products/ipo/prime/doc/70627660/</a:t>
            </a:r>
          </a:p>
          <a:p xmlns:a="http://schemas.openxmlformats.org/drawingml/2006/main">
            <a:r>
              <a:t>https://www.rbc.ru/person/617fc0679a794761d6170b80</a:t>
            </a:r>
          </a:p>
          <a:p xmlns:a="http://schemas.openxmlformats.org/drawingml/2006/main">
            <a:r>
              <a:t>http://www.kremlin.ru/acts/bank/50544</a:t>
            </a:r>
          </a:p>
          <a:p xmlns:a="http://schemas.openxmlformats.org/drawingml/2006/main">
            <a:r>
              <a:t>http://special.kremlin.ru/events/president/news/74019</a:t>
            </a:r>
          </a:p>
          <a:p xmlns:a="http://schemas.openxmlformats.org/drawingml/2006/main">
            <a:r>
              <a:t>https://www.interfax.ru/russia/960081</a:t>
            </a:r>
          </a:p>
          <a:p xmlns:a="http://schemas.openxmlformats.org/drawingml/2006/main">
            <a:r>
              <a:t>https://www.rbc.ru/politics/21/09/2022/632ab17c9a794781413c8582</a:t>
            </a:r>
          </a:p>
          <a:p xmlns:a="http://schemas.openxmlformats.org/drawingml/2006/main">
            <a:r>
              <a:t>https://www.bbc.com/russian/articles/c72p0jq04gjo</a:t>
            </a:r>
          </a:p>
          <a:p xmlns:a="http://schemas.openxmlformats.org/drawingml/2006/main">
            <a:r>
              <a:t>https://meduza.io/feature/2024/05/12/putin-uvolil-shoygu-s-posta-ministra-oborony-i-perevel-v-sovbez</a:t>
            </a:r>
          </a:p>
          <a:p xmlns:a="http://schemas.openxmlformats.org/drawingml/2006/main">
            <a:r>
              <a:t>https://paodkb.org/events/sergey-shoygu-naznachen-sekretarem-soveta-bezopasnosti-rf</a:t>
            </a:r>
          </a:p>
          <a:p xmlns:a="http://schemas.openxmlformats.org/drawingml/2006/main">
            <a:r>
              <a:t>https://base.garant.ru/409005084/</a:t>
            </a:r>
          </a:p>
          <a:p xmlns:a="http://schemas.openxmlformats.org/drawingml/2006/main">
            <a:r>
              <a:t>http://special.kremlin.ru/supplement/6345</a:t>
            </a:r>
          </a:p>
          <a:p xmlns:a="http://schemas.openxmlformats.org/drawingml/2006/main">
            <a:r>
              <a:t>http://en.kremlin.ru/supplement/6345</a:t>
            </a:r>
          </a:p>
          <a:p xmlns:a="http://schemas.openxmlformats.org/drawingml/2006/main">
            <a:r>
              <a:t>https://www.kp.ru/daily/27656.5/5040576/</a:t>
            </a:r>
          </a:p>
          <a:p xmlns:a="http://schemas.openxmlformats.org/drawingml/2006/main">
            <a:r>
              <a:t>https://www.fontanka.ru/2025/06/10/75574928/</a:t>
            </a:r>
          </a:p>
          <a:p xmlns:a="http://schemas.openxmlformats.org/drawingml/2006/main">
            <a:r>
              <a:t>https://tass.ru/politika/25506737</a:t>
            </a:r>
          </a:p>
          <a:p xmlns:a="http://schemas.openxmlformats.org/drawingml/2006/main">
            <a:r>
              <a:t>https://www.rbc.ru/person/6181419c9a7947df128a22f7</a:t>
            </a:r>
          </a:p>
          <a:p xmlns:a="http://schemas.openxmlformats.org/drawingml/2006/main">
            <a:r>
              <a:t>https://www.rbc.ru/economics/31/05/2021/60b3de5d9a7947f2883f7aa0</a:t>
            </a:r>
          </a:p>
          <a:p xmlns:a="http://schemas.openxmlformats.org/drawingml/2006/main">
            <a:r>
              <a:t>https://www.rbc.ru/politics/13/05/2024/6641109a9a7947ab8eebcf7f</a:t>
            </a:r>
          </a:p>
          <a:p xmlns:a="http://schemas.openxmlformats.org/drawingml/2006/main">
            <a:r>
              <a:t>https://www.rbc.ru/business/13/06/2023/6482d3389a79473805ee8978</a:t>
            </a:r>
          </a:p>
          <a:p xmlns:a="http://schemas.openxmlformats.org/drawingml/2006/main">
            <a:r>
              <a:t>https://thebell.io/kuda-vedet-ekonomiku-andrej-belousov-zagadki-dmitriya-medvedeva-i-sposoby-perezhit-sanktsii</a:t>
            </a:r>
          </a:p>
          <a:p xmlns:a="http://schemas.openxmlformats.org/drawingml/2006/main">
            <a:r>
              <a:t>https://72.ru/text/politics/2024/05/14/73575386/</a:t>
            </a:r>
          </a:p>
          <a:p xmlns:a="http://schemas.openxmlformats.org/drawingml/2006/main">
            <a:r>
              <a:t>https://tass.ru/armiya-i-opk/22683223</a:t>
            </a:r>
          </a:p>
          <a:p xmlns:a="http://schemas.openxmlformats.org/drawingml/2006/main">
            <a:r>
              <a:t>https://www.rbc.ru/society/12/12/2017/5a2f9b5a9a79473649fe0042</a:t>
            </a:r>
          </a:p>
          <a:p xmlns:a="http://schemas.openxmlformats.org/drawingml/2006/main">
            <a:r>
              <a:t>https://www.istorex.org/post/russia-december-2024-february-2025</a:t>
            </a:r>
          </a:p>
          <a:p xmlns:a="http://schemas.openxmlformats.org/drawingml/2006/main">
            <a:r>
              <a:t>https://rosinform.ru/news/andrej-belousov-osoboe-znachenie-pridayom-obespecheniyu-voennoj-bezopasnosti-soyuznogo-gosudarstva</a:t>
            </a:r>
          </a:p>
          <a:p xmlns:a="http://schemas.openxmlformats.org/drawingml/2006/main">
            <a:r>
              <a:t>https://xn--b1apnk.xn--p1ai/tpost/nsk7vo4xh1-vstrecha-s-ministrom-oboroni-rossii-i-os</a:t>
            </a:r>
          </a:p>
          <a:p xmlns:a="http://schemas.openxmlformats.org/drawingml/2006/main">
            <a:r>
              <a:t>https://www.rbc.ru/person/62d120d89a79475f0ddd8b5e</a:t>
            </a:r>
          </a:p>
          <a:p xmlns:a="http://schemas.openxmlformats.org/drawingml/2006/main">
            <a:r>
              <a:t>http://scrf.gov.ru/news/allnews/2148/</a:t>
            </a:r>
          </a:p>
          <a:p xmlns:a="http://schemas.openxmlformats.org/drawingml/2006/main">
            <a:r>
              <a:t>https://www.rbc.ru/politics/14/05/2024/6643287b9a7947a8f0b8ba78</a:t>
            </a:r>
          </a:p>
          <a:p xmlns:a="http://schemas.openxmlformats.org/drawingml/2006/main">
            <a:r>
              <a:t>https://tass.ru/info/20789699</a:t>
            </a:r>
          </a:p>
          <a:p xmlns:a="http://schemas.openxmlformats.org/drawingml/2006/main">
            <a:r>
              <a:t>https://marine.org.ru/structure/person/56/</a:t>
            </a:r>
          </a:p>
          <a:p xmlns:a="http://schemas.openxmlformats.org/drawingml/2006/main">
            <a:r>
              <a:t>https://marine.org.ru/publication/smi/16108/</a:t>
            </a:r>
          </a:p>
          <a:p xmlns:a="http://schemas.openxmlformats.org/drawingml/2006/main">
            <a:r>
              <a:t>https://www.svoboda.org/a/30676123.html</a:t>
            </a:r>
          </a:p>
          <a:p xmlns:a="http://schemas.openxmlformats.org/drawingml/2006/main">
            <a:r>
              <a:t>https://aif.ru/society/safety/kuklovodstvo_k_deystviyu_nikolay_patrushev_o_metodah_cvetnyh_revolyuciy</a:t>
            </a:r>
          </a:p>
          <a:p xmlns:a="http://schemas.openxmlformats.org/drawingml/2006/main">
            <a:r>
              <a:t>https://vkrizis.info/vlast/czennosti-razmyvaniya/</a:t>
            </a:r>
          </a:p>
          <a:p xmlns:a="http://schemas.openxmlformats.org/drawingml/2006/main">
            <a:r>
              <a:t>https://infranomica.ru/2026/05/19/selskoe-hozyajstvo-est-rezultat-budet-i-pishha/</a:t>
            </a:r>
          </a:p>
          <a:p xmlns:a="http://schemas.openxmlformats.org/drawingml/2006/main">
            <a:r>
              <a:t>https://www.rbc.ru/person/660400989a79471b36dbb514</a:t>
            </a:r>
          </a:p>
          <a:p xmlns:a="http://schemas.openxmlformats.org/drawingml/2006/main">
            <a:r>
              <a:t>http://special.kremlin.ru/catalog/persons/100/events</a:t>
            </a:r>
          </a:p>
          <a:p xmlns:a="http://schemas.openxmlformats.org/drawingml/2006/main">
            <a:r>
              <a:t>https://nac.gov.ru/view/eb008ff4-1608-4b47-b2a9-3d604c1833c2</a:t>
            </a:r>
          </a:p>
          <a:p xmlns:a="http://schemas.openxmlformats.org/drawingml/2006/main">
            <a:r>
              <a:t>http://pfo.gov.ru/press/events/113336/</a:t>
            </a:r>
          </a:p>
          <a:p xmlns:a="http://schemas.openxmlformats.org/drawingml/2006/main">
            <a:r>
              <a:t>https://www.opensanctions.org/entities/Q516824/</a:t>
            </a:r>
          </a:p>
          <a:p xmlns:a="http://schemas.openxmlformats.org/drawingml/2006/main">
            <a:r>
              <a:t>https://www.agents.media/ssha-poprobuyut-vozobnovit-peregovory-o-mire-v-ukraine-cherez-glavu-fsb-che-vedomstvo-kak-schitaetsya-svoimi-dokladami-podtolknulo-putina-k-vojne/</a:t>
            </a:r>
          </a:p>
          <a:p xmlns:a="http://schemas.openxmlformats.org/drawingml/2006/main">
            <a:r>
              <a:t>https://letters.kremlin.ru/news/receptions/by-section/assignments/by-person/260</a:t>
            </a:r>
          </a:p>
          <a:p xmlns:a="http://schemas.openxmlformats.org/drawingml/2006/main">
            <a:r>
              <a:t>https://www.kommersant.ru/doc/3612580</a:t>
            </a:r>
          </a:p>
          <a:p xmlns:a="http://schemas.openxmlformats.org/drawingml/2006/main">
            <a:r>
              <a:t>https://fbk.info/ru/investigations/kirienko-kholyi-putina</a:t>
            </a:r>
          </a:p>
          <a:p xmlns:a="http://schemas.openxmlformats.org/drawingml/2006/main">
            <a:r>
              <a:t>https://utro02.tv/2022/05/24/kolebaniya-kirienok/</a:t>
            </a:r>
          </a:p>
          <a:p xmlns:a="http://schemas.openxmlformats.org/drawingml/2006/main">
            <a:r>
              <a:t>https://meduza.io/feature/2023/12/19/on-peresidel-v-svoem-kresle-v-kremle-i-pravitelstve-obsuzhdayut-chto-sergey-kirienko-mozhet-lishitsya-dolzhnosti-v-ap-posle-vyborov-prezidenta</a:t>
            </a:r>
          </a:p>
          <a:p xmlns:a="http://schemas.openxmlformats.org/drawingml/2006/main">
            <a:r>
              <a:t>https://verstka.media/kak-rossiya-prodvigaet-svoyu-molodezhnuyu-politiku-na-okkupirovannyh-territoriyah</a:t>
            </a:r>
          </a:p>
          <a:p xmlns:a="http://schemas.openxmlformats.org/drawingml/2006/main">
            <a:r>
              <a:t>https://dnrnews.ru/society/2025/09/04/1167117.html</a:t>
            </a:r>
          </a:p>
          <a:p xmlns:a="http://schemas.openxmlformats.org/drawingml/2006/main">
            <a:r>
              <a:t>https://www.tadviser.ru/index.php/%D0%9F%D0%B5%D1%80%D1%81%D0%BE%D0%BD%D0%B0:%D0%9A%D0%B8%D1%80%D0%B8%D0%B5%D0%BD%D0%BA%D0%BE_%D0%A1%D0%B5%D1%80%D0%B3%D0%B5%D0%B9_%D0%92%D0%BB%D0%B0%D0%B4%D0%B8%D0%BB%D0%B5%D0%BD%D0%BE%D0%B2%D0%B8%D1%87</a:t>
            </a:r>
          </a:p>
          <a:p xmlns:a="http://schemas.openxmlformats.org/drawingml/2006/main">
            <a:r>
              <a:t>https://tass.ru/politika/18225741</a:t>
            </a:r>
          </a:p>
          <a:p xmlns:a="http://schemas.openxmlformats.org/drawingml/2006/main">
            <a:r>
              <a:t>https://www.kommersant.ru/doc/6187168</a:t>
            </a:r>
          </a:p>
          <a:p xmlns:a="http://schemas.openxmlformats.org/drawingml/2006/main">
            <a:r>
              <a:t>https://duma.gov.ru/news/63383/</a:t>
            </a:r>
          </a:p>
          <a:p xmlns:a="http://schemas.openxmlformats.org/drawingml/2006/main">
            <a:r>
              <a:t>http://duma.gov.ru/en/duma/persons/99100829/news/</a:t>
            </a:r>
          </a:p>
          <a:p xmlns:a="http://schemas.openxmlformats.org/drawingml/2006/main">
            <a:r>
              <a:t>http://duma.gov.ru/en/news/62248/</a:t>
            </a:r>
          </a:p>
          <a:p xmlns:a="http://schemas.openxmlformats.org/drawingml/2006/main">
            <a:r>
              <a:t>http://duma.gov.ru/en/news/61352/</a:t>
            </a:r>
          </a:p>
          <a:p xmlns:a="http://schemas.openxmlformats.org/drawingml/2006/main">
            <a:r>
              <a:t>http://duma.gov.ru/en/news/64178/</a:t>
            </a:r>
          </a:p>
          <a:p xmlns:a="http://schemas.openxmlformats.org/drawingml/2006/main">
            <a:r>
              <a:t>http://duma.gov.ru/en/news/64216</a:t>
            </a:r>
          </a:p>
          <a:p xmlns:a="http://schemas.openxmlformats.org/drawingml/2006/main">
            <a:r>
              <a:t>http://duma.gov.ru/en/news/64239</a:t>
            </a:r>
          </a:p>
          <a:p xmlns:a="http://schemas.openxmlformats.org/drawingml/2006/main">
            <a:r>
              <a:t>https://en.wikipedia.org/wiki/Vyacheslav_Volodin</a:t>
            </a:r>
          </a:p>
          <a:p xmlns:a="http://schemas.openxmlformats.org/drawingml/2006/main">
            <a:r>
              <a:t>http://duma.gov.ru/news/56060/</a:t>
            </a:r>
          </a:p>
          <a:p xmlns:a="http://schemas.openxmlformats.org/drawingml/2006/main">
            <a:r>
              <a:t>http://duma.gov.ru/news/60448/</a:t>
            </a:r>
          </a:p>
          <a:p xmlns:a="http://schemas.openxmlformats.org/drawingml/2006/main">
            <a:r>
              <a:t>http://duma.gov.ru/news/61362/</a:t>
            </a:r>
          </a:p>
          <a:p xmlns:a="http://schemas.openxmlformats.org/drawingml/2006/main">
            <a:r>
              <a:t>http://duma.gov.ru/news/61384/</a:t>
            </a:r>
          </a:p>
          <a:p xmlns:a="http://schemas.openxmlformats.org/drawingml/2006/main">
            <a:r>
              <a:t>http://duma.gov.ru/news/61874/</a:t>
            </a:r>
          </a:p>
          <a:p xmlns:a="http://schemas.openxmlformats.org/drawingml/2006/main">
            <a:r>
              <a:t>http://duma.gov.ru/news/62022/</a:t>
            </a:r>
          </a:p>
          <a:p xmlns:a="http://schemas.openxmlformats.org/drawingml/2006/main">
            <a:r>
              <a:t>http://duma.gov.ru/news/63772/</a:t>
            </a:r>
          </a:p>
          <a:p xmlns:a="http://schemas.openxmlformats.org/drawingml/2006/main">
            <a:r>
              <a:t>https://council.gov.ru/events/news/160466/</a:t>
            </a:r>
          </a:p>
          <a:p xmlns:a="http://schemas.openxmlformats.org/drawingml/2006/main">
            <a:r>
              <a:t>http://council.gov.ru/structure/persons/257/</a:t>
            </a:r>
          </a:p>
          <a:p xmlns:a="http://schemas.openxmlformats.org/drawingml/2006/main">
            <a:r>
              <a:t>https://interaffairs.ru/news/show/16199</a:t>
            </a:r>
          </a:p>
          <a:p xmlns:a="http://schemas.openxmlformats.org/drawingml/2006/main">
            <a:r>
              <a:t>https://www.rbc.ru/person/617fb5ef9a79475c6cfc4502</a:t>
            </a:r>
          </a:p>
          <a:p xmlns:a="http://schemas.openxmlformats.org/drawingml/2006/main">
            <a:r>
              <a:t>https://vksrs.com/publications/matvienko-rasskazala-o-neobkhodimosti-protivostoyat-geroizatsii-natsistov/</a:t>
            </a:r>
          </a:p>
          <a:p xmlns:a="http://schemas.openxmlformats.org/drawingml/2006/main">
            <a:r>
              <a:t>https://absatz.media/politika/158438-valentine-matvienko-77-istoriya-uspeha-put-k-vershine-i-samye-yarkie-zayavleniya</a:t>
            </a:r>
          </a:p>
          <a:p xmlns:a="http://schemas.openxmlformats.org/drawingml/2006/main">
            <a:r>
              <a:t>https://www.rbc.ru/society/14/10/2026/6acf597c9a794743e0478a15?from=short_news</a:t>
            </a:r>
          </a:p>
          <a:p xmlns:a="http://schemas.openxmlformats.org/drawingml/2006/main">
            <a:r>
              <a:t>https://senatinform.ru/news/sf_stremitsya_byt_maksimalno_otkrytym_dlya_raboty_zhurnalistov_matvienko/</a:t>
            </a:r>
          </a:p>
          <a:p xmlns:a="http://schemas.openxmlformats.org/drawingml/2006/main">
            <a:r>
              <a:t>https://eparlament.irzs.ru/Files/getFile/11853</a:t>
            </a:r>
          </a:p>
          <a:p xmlns:a="http://schemas.openxmlformats.org/drawingml/2006/main">
            <a:r>
              <a:t>http://special.council.gov.ru/activity/meetings/170703/transcript/</a:t>
            </a:r>
          </a:p>
          <a:p xmlns:a="http://schemas.openxmlformats.org/drawingml/2006/main">
            <a:r>
              <a:t>https://bookonlime.ru/lecture/12-razvitie-ekonomicheskih-otnosheniy-i-strategicheskoe-planirovanie-v-cifrovoy-ekonomike-2</a:t>
            </a:r>
          </a:p>
          <a:p xmlns:a="http://schemas.openxmlformats.org/drawingml/2006/main">
            <a:r>
              <a:t>https://ru.wikipedia.org/wiki/Песков,_Дмитрий_Сергеевич</a:t>
            </a:r>
          </a:p>
          <a:p xmlns:a="http://schemas.openxmlformats.org/drawingml/2006/main">
            <a:r>
              <a:t>https://www.reuters.com/world/europe/kremlin-says-ukraine-is-now-paying-price-its-own-attacks-russia-2026-09-28/</a:t>
            </a:r>
          </a:p>
          <a:p xmlns:a="http://schemas.openxmlformats.org/drawingml/2006/main">
            <a:r>
              <a:t>https://www.reuters.com/world/europe/kremlin-rejects-le-penbardella-rebuke-says-russia-is-no-threat-france-2026-09-21/</a:t>
            </a:r>
          </a:p>
          <a:p xmlns:a="http://schemas.openxmlformats.org/drawingml/2006/main">
            <a:r>
              <a:t>https://theins.ru/antifake/295208</a:t>
            </a:r>
          </a:p>
          <a:p xmlns:a="http://schemas.openxmlformats.org/drawingml/2006/main">
            <a:r>
              <a:t>https://expert.ru/news/v-kremle-otvetili-na-slova-donalda-trampa-o-rossiyskom-vmeshatelstve</a:t>
            </a:r>
          </a:p>
          <a:p xmlns:a="http://schemas.openxmlformats.org/drawingml/2006/main">
            <a:r>
              <a:t>https://www.dw.com/ru/dmitrij-peskov/t-18146676/page-1</a:t>
            </a:r>
          </a:p>
          <a:p xmlns:a="http://schemas.openxmlformats.org/drawingml/2006/main">
            <a:r>
              <a:t>https://www.pnp.ru/person/dmitriy--peskov/</a:t>
            </a:r>
          </a:p>
          <a:p xmlns:a="http://schemas.openxmlformats.org/drawingml/2006/main">
            <a:r>
              <a:t>https://www.rbc.ua/ukr/dossier/peskov-19032015</a:t>
            </a:r>
          </a:p>
          <a:p xmlns:a="http://schemas.openxmlformats.org/drawingml/2006/main">
            <a:r>
              <a:t>https://www.rbc.ru/politics/12/10/2026/6accae3bb18f4460834ce063</a:t>
            </a:r>
          </a:p>
          <a:p xmlns:a="http://schemas.openxmlformats.org/drawingml/2006/main">
            <a:r>
              <a:t>https://tass.ru/politika/20355193</a:t>
            </a:r>
          </a:p>
          <a:p xmlns:a="http://schemas.openxmlformats.org/drawingml/2006/main">
            <a:r>
              <a:t>https://www.m24.ru/news/06052024/689412</a:t>
            </a:r>
          </a:p>
          <a:p xmlns:a="http://schemas.openxmlformats.org/drawingml/2006/main">
            <a:r>
              <a:t>http://www.kremlin.ru/acts/bank/48502</a:t>
            </a:r>
          </a:p>
          <a:p xmlns:a="http://schemas.openxmlformats.org/drawingml/2006/main">
            <a:r>
              <a:t>https://www.m24.ru/news/11022025/769070</a:t>
            </a:r>
          </a:p>
          <a:p xmlns:a="http://schemas.openxmlformats.org/drawingml/2006/main">
            <a:r>
              <a:t>https://www.m24.ru/news/23042026/894202</a:t>
            </a:r>
          </a:p>
          <a:p xmlns:a="http://schemas.openxmlformats.org/drawingml/2006/main">
            <a:r>
              <a:t>https://cbr.ru/about_br/nabiullinaes/</a:t>
            </a:r>
          </a:p>
          <a:p xmlns:a="http://schemas.openxmlformats.org/drawingml/2006/main">
            <a:r>
              <a:t>https://cbr.ru/press/event/?id=12840</a:t>
            </a:r>
          </a:p>
          <a:p xmlns:a="http://schemas.openxmlformats.org/drawingml/2006/main">
            <a:r>
              <a:t>https://www.cbr.ru/press/event/?id=12904</a:t>
            </a:r>
          </a:p>
          <a:p xmlns:a="http://schemas.openxmlformats.org/drawingml/2006/main">
            <a:r>
              <a:t>https://cbr.ru/press/event/?id=14033</a:t>
            </a:r>
          </a:p>
          <a:p xmlns:a="http://schemas.openxmlformats.org/drawingml/2006/main">
            <a:r>
              <a:t>https://www.cbr.ru/press/event/?id=12764</a:t>
            </a:r>
          </a:p>
          <a:p xmlns:a="http://schemas.openxmlformats.org/drawingml/2006/main">
            <a:r>
              <a:t>https://kazanfirst.ru/articles/534335</a:t>
            </a:r>
          </a:p>
          <a:p xmlns:a="http://schemas.openxmlformats.org/drawingml/2006/main">
            <a:r>
              <a:t>https://www.rbc.ru/person/65e831449a79476cbfd8e5fd</a:t>
            </a:r>
          </a:p>
          <a:p xmlns:a="http://schemas.openxmlformats.org/drawingml/2006/main">
            <a:r>
              <a:t>https://www.interfax.ru/russia/955290</a:t>
            </a:r>
          </a:p>
          <a:p xmlns:a="http://schemas.openxmlformats.org/drawingml/2006/main">
            <a:r>
              <a:t>https://minfin.gov.ru/ru/press-center/?id_4=38548-intervyu_ministra_finansov_antona_siluanova_gazete_argumenty_i_fakty</a:t>
            </a:r>
          </a:p>
          <a:p xmlns:a="http://schemas.openxmlformats.org/drawingml/2006/main">
            <a:r>
              <a:t>https://minfin.gov.ru/ru/press-center/?id_4=37667-vystuplenie_antona_siluanova_na_plenarnom_zasedanii_v_gosudarstvennoi_dume</a:t>
            </a:r>
          </a:p>
          <a:p xmlns:a="http://schemas.openxmlformats.org/drawingml/2006/main">
            <a:r>
              <a:t>https://www.rbc.ru/economics/24/10/2022/63529d159a7947efb82a59eb</a:t>
            </a:r>
          </a:p>
          <a:p xmlns:a="http://schemas.openxmlformats.org/drawingml/2006/main">
            <a:r>
              <a:t>https://www.rbc.ru/newspaper/2020/02/21/5e4e83289a79474bcf9f8cf9</a:t>
            </a:r>
          </a:p>
          <a:p xmlns:a="http://schemas.openxmlformats.org/drawingml/2006/main">
            <a:r>
              <a:t>https://www.rbc.ru/economics/20/02/2020/5e4e91919a79475559478893</a:t>
            </a:r>
          </a:p>
          <a:p xmlns:a="http://schemas.openxmlformats.org/drawingml/2006/main">
            <a:r>
              <a:t>https://minfin.gov.ru/ru/press-center/?id_4=39336-anton_siluanov_predstavil_na_parlamentskikh_slushaniyakh_v_sovete_federatsii_proekt_byudzheta_na_2025-2027_gg.</a:t>
            </a:r>
          </a:p>
          <a:p xmlns:a="http://schemas.openxmlformats.org/drawingml/2006/main">
            <a:r>
              <a:t>https://www.interfax.ru/amp/1035506</a:t>
            </a:r>
          </a:p>
          <a:p xmlns:a="http://schemas.openxmlformats.org/drawingml/2006/main">
            <a:r>
              <a:t>https://tass.ru/ekonomika/28198121</a:t>
            </a:r>
          </a:p>
          <a:p xmlns:a="http://schemas.openxmlformats.org/drawingml/2006/main">
            <a:r>
              <a:t>https://www.rbc.ru/person/65b9f4369a7947ec8a7f242a</a:t>
            </a:r>
          </a:p>
          <a:p xmlns:a="http://schemas.openxmlformats.org/drawingml/2006/main">
            <a:r>
              <a:t>https://www.bfm.ru/news/435050</a:t>
            </a:r>
          </a:p>
          <a:p xmlns:a="http://schemas.openxmlformats.org/drawingml/2006/main">
            <a:r>
              <a:t>https://ru.ruwiki.ru/wiki/%D0%93%D0%BE%D0%BB%D0%B8%D0%BA%D0%BE%D0%B2%D0%B0,_%D0%A2%D0%B0%D1%82%D1%8C%D1%8F%D0%BD%D0%B0_%D0%90%D0%BB%D0%B5%D0%BA%D1%81%D0%B5%D0%B5%D0%B2%D0%BD%D0%B0</a:t>
            </a:r>
          </a:p>
          <a:p xmlns:a="http://schemas.openxmlformats.org/drawingml/2006/main">
            <a:r>
              <a:t>http://www.kremlin.ru/events/president/transcripts/deliberations%20/77439</a:t>
            </a:r>
          </a:p>
          <a:p xmlns:a="http://schemas.openxmlformats.org/drawingml/2006/main">
            <a:r>
              <a:t>https://xn--90aivcdt6dxbc.xn--p1ai/articles/news/prezident-zdravookhranenie-zanimaet-klyuchevoe-mesto-v-sotsialnoy-politike-rossii/</a:t>
            </a:r>
          </a:p>
          <a:p xmlns:a="http://schemas.openxmlformats.org/drawingml/2006/main">
            <a:r>
              <a:t>https://xn--90aivcdt6dxbc.xn--p1ai/articles/news/tatyana-golikova-edinaya-rossiya-nadezhnyy-soyuznik-i-partner-pravitelstva/</a:t>
            </a:r>
          </a:p>
          <a:p xmlns:a="http://schemas.openxmlformats.org/drawingml/2006/main">
            <a:r>
              <a:t>http://government.ru/news/58648/</a:t>
            </a:r>
          </a:p>
          <a:p xmlns:a="http://schemas.openxmlformats.org/drawingml/2006/main">
            <a:r>
              <a:t>http://government.ru/news/54912/</a:t>
            </a:r>
          </a:p>
          <a:p xmlns:a="http://schemas.openxmlformats.org/drawingml/2006/main">
            <a:r>
              <a:t>http://government.ru/news/58000/</a:t>
            </a:r>
          </a:p>
          <a:p xmlns:a="http://schemas.openxmlformats.org/drawingml/2006/main">
            <a:r>
              <a:t>https://tass.ru/politika/28141547</a:t>
            </a:r>
          </a:p>
          <a:p xmlns:a="http://schemas.openxmlformats.org/drawingml/2006/main">
            <a:r>
              <a:t>https://duma.gov.ru/media/files/smUklOtuNPyzwTneQGCfFUHHIsilAqcm.pdf</a:t>
            </a:r>
          </a:p>
          <a:p xmlns:a="http://schemas.openxmlformats.org/drawingml/2006/main">
            <a:r>
              <a:t>https://kprf.ru/dep/gosduma/activities/187187.html</a:t>
            </a:r>
          </a:p>
          <a:p xmlns:a="http://schemas.openxmlformats.org/drawingml/2006/main">
            <a:r>
              <a:t>http://msk.kprf.ru/2022/08/22/222866/</a:t>
            </a:r>
          </a:p>
          <a:p xmlns:a="http://schemas.openxmlformats.org/drawingml/2006/main">
            <a:r>
              <a:t>https://kprf.ru/party-live/cknews/235903.html</a:t>
            </a:r>
          </a:p>
          <a:p xmlns:a="http://schemas.openxmlformats.org/drawingml/2006/main">
            <a:r>
              <a:t>https://kprf.ru/dep/gosduma/activities/236198.html/print</a:t>
            </a:r>
          </a:p>
          <a:p xmlns:a="http://schemas.openxmlformats.org/drawingml/2006/main">
            <a:r>
              <a:t>https://kprf.ru/dep/gosduma/activities/239812.html</a:t>
            </a:r>
          </a:p>
          <a:p xmlns:a="http://schemas.openxmlformats.org/drawingml/2006/main">
            <a:r>
              <a:t>https://kprf-don.ru/index.php/news/facts/12501-2025-09-15-12-58-35.html</a:t>
            </a:r>
          </a:p>
          <a:p xmlns:a="http://schemas.openxmlformats.org/drawingml/2006/main">
            <a:r>
              <a:t>https://kprf.ru/dep/gosduma/activities/237529.html</a:t>
            </a:r>
          </a:p>
          <a:p xmlns:a="http://schemas.openxmlformats.org/drawingml/2006/main">
            <a:r>
              <a:t>https://novayagazeta.ru/articles/2025/09/19/putin-udivilsia-khodu-zapushchennoi-im-vesnoi-munitsipalnoi-reformy-posle-slov-ziuganova-kak-regiony-dlia-nee-lomali-cherez-koleno-a-tatarstan-otkazalsia-ee-ispolniat-news</a:t>
            </a:r>
          </a:p>
          <a:p xmlns:a="http://schemas.openxmlformats.org/drawingml/2006/main">
            <a:r>
              <a:t>https://kprf.ru/official/2025/11/15/15-noiabria-2025-oda-sostoialsia-ii-noiabrskii-plenum-tsk-kprf/473.html</a:t>
            </a:r>
          </a:p>
          <a:p xmlns:a="http://schemas.openxmlformats.org/drawingml/2006/main">
            <a:r>
              <a:t>https://www.rbc.ru/person/617bfbb79a7947fc327a3bcb</a:t>
            </a:r>
          </a:p>
          <a:p xmlns:a="http://schemas.openxmlformats.org/drawingml/2006/main">
            <a:r>
              <a:t>https://www.bbc.com/russian/features-60873381</a:t>
            </a:r>
          </a:p>
          <a:p xmlns:a="http://schemas.openxmlformats.org/drawingml/2006/main">
            <a:r>
              <a:t>https://www.svoboda.org/a/umer-lider-partii-ldpr-vladimir-zhirinovskiy-nekrolog/31770134.html</a:t>
            </a:r>
          </a:p>
          <a:p xmlns:a="http://schemas.openxmlformats.org/drawingml/2006/main">
            <a:r>
              <a:t>https://www.rbc.ru/politics/06/04/2022/624d661b9a79473f7416fe26</a:t>
            </a:r>
          </a:p>
          <a:p xmlns:a="http://schemas.openxmlformats.org/drawingml/2006/main">
            <a:r>
              <a:t>https://tass.ru/politika/3392889</a:t>
            </a:r>
          </a:p>
          <a:p xmlns:a="http://schemas.openxmlformats.org/drawingml/2006/main">
            <a:r>
              <a:t>https://www.pnp.ru/politics/2016/06/28/v-centre-predvybornoy-programmy-ldpr-russkiy-vopros.html</a:t>
            </a:r>
          </a:p>
          <a:p xmlns:a="http://schemas.openxmlformats.org/drawingml/2006/main">
            <a:r>
              <a:t>https://ldpr.ru/party/history/</a:t>
            </a:r>
          </a:p>
          <a:p xmlns:a="http://schemas.openxmlformats.org/drawingml/2006/main">
            <a:r>
              <a:t>https://govoritmoskva.ru/interviews/1023/</a:t>
            </a:r>
          </a:p>
          <a:p xmlns:a="http://schemas.openxmlformats.org/drawingml/2006/main">
            <a:r>
              <a:t>https://www.gazeta.ru/politics/2017/03/17_a_10580999.shtml</a:t>
            </a:r>
          </a:p>
          <a:p xmlns:a="http://schemas.openxmlformats.org/drawingml/2006/main">
            <a:r>
              <a:t>https://ldpr.ru/upload/iblock/c88/1d6dstdexz6aw7dnwoubeobhr3mnwa1j/a799616e688866c49f2ef6b5b8cfe5c00d45080ae85ce0e5f6d36e2e010681d9.pdf</a:t>
            </a:r>
          </a:p>
          <a:p xmlns:a="http://schemas.openxmlformats.org/drawingml/2006/main">
            <a:r>
              <a:t>https://www.kommersant.ru/doc/3579566</a:t>
            </a:r>
          </a:p>
          <a:p xmlns:a="http://schemas.openxmlformats.org/drawingml/2006/main">
            <a:r>
              <a:t>https://spb.ldpr.ru/event/243915/</a:t>
            </a:r>
          </a:p>
          <a:p xmlns:a="http://schemas.openxmlformats.org/drawingml/2006/main">
            <a:r>
              <a:t>https://kursk.ldpr.ru/event/341398</a:t>
            </a:r>
          </a:p>
          <a:p xmlns:a="http://schemas.openxmlformats.org/drawingml/2006/main">
            <a:r>
              <a:t>https://cyberleninka.ru/article/n/sravnitelnyy-analiz-predvybornyh-programm-ldpr-na-vyborah-2021-g-i-l-e-slutskogo-na-vyborah-2024-g</a:t>
            </a:r>
          </a:p>
          <a:p xmlns:a="http://schemas.openxmlformats.org/drawingml/2006/main">
            <a:r>
              <a:t>https://kcr.ldpr.ru/event/347999/</a:t>
            </a:r>
          </a:p>
          <a:p xmlns:a="http://schemas.openxmlformats.org/drawingml/2006/main">
            <a:r>
              <a:t>https://msknews77.ru/society/2025/09/25/73500.html</a:t>
            </a:r>
          </a:p>
          <a:p xmlns:a="http://schemas.openxmlformats.org/drawingml/2006/main">
            <a:r>
              <a:t>https://bagaevka-press.ru/besplatnyj-zemelnyj-uchastok-dlya-semej-inicziativa-ldpr/</a:t>
            </a:r>
          </a:p>
          <a:p xmlns:a="http://schemas.openxmlformats.org/drawingml/2006/main">
            <a:r>
              <a:t>https://ldpr.ru/event/437527/</a:t>
            </a:r>
          </a:p>
          <a:p xmlns:a="http://schemas.openxmlformats.org/drawingml/2006/main">
            <a:r>
              <a:t>https://rg62.info/2025/11/01/leonid-sluczkij-vstupilsya-za-multserial-masha-i-medved/</a:t>
            </a:r>
          </a:p>
          <a:p xmlns:a="http://schemas.openxmlformats.org/drawingml/2006/main">
            <a:r>
              <a:t>https://mironov.ru/officially</a:t>
            </a:r>
          </a:p>
          <a:p xmlns:a="http://schemas.openxmlformats.org/drawingml/2006/main">
            <a:r>
              <a:t>https://mironov.ru/bio</a:t>
            </a:r>
          </a:p>
          <a:p xmlns:a="http://schemas.openxmlformats.org/drawingml/2006/main">
            <a:r>
              <a:t>https://mironov-online.ru/category/zayavleniya/</a:t>
            </a:r>
          </a:p>
          <a:p xmlns:a="http://schemas.openxmlformats.org/drawingml/2006/main">
            <a:r>
              <a:t>https://www.rbc.ru/person/69806d279a7947baf86c32c5</a:t>
            </a:r>
          </a:p>
          <a:p xmlns:a="http://schemas.openxmlformats.org/drawingml/2006/main">
            <a:r>
              <a:t>https://spravedlivo.ru/16303010</a:t>
            </a:r>
          </a:p>
          <a:p xmlns:a="http://schemas.openxmlformats.org/drawingml/2006/main">
            <a:r>
              <a:t>http://mironov.ru/15133910</a:t>
            </a:r>
          </a:p>
          <a:p xmlns:a="http://schemas.openxmlformats.org/drawingml/2006/main">
            <a:r>
              <a:t>http://www.special.spravedlivo.ru/5_140609.html</a:t>
            </a:r>
          </a:p>
          <a:p xmlns:a="http://schemas.openxmlformats.org/drawingml/2006/main">
            <a:r>
              <a:t>https://spravedlivo.ru/14681110</a:t>
            </a:r>
          </a:p>
          <a:p xmlns:a="http://schemas.openxmlformats.org/drawingml/2006/main">
            <a:r>
              <a:t>https://radiokp.ru/podcast/dialogi-na-radio-kp/759263</a:t>
            </a:r>
          </a:p>
          <a:p xmlns:a="http://schemas.openxmlformats.org/drawingml/2006/main">
            <a:r>
              <a:t>https://mironov.ru/51339910</a:t>
            </a:r>
          </a:p>
          <a:p xmlns:a="http://schemas.openxmlformats.org/drawingml/2006/main">
            <a:r>
              <a:t>https://mironov-online.ru/news/mironov-na-ukraine-idet-bitva-za-budushhee-vsego-chelovechestva-i-pobeda-v-nej-budet-za-rossiej/</a:t>
            </a:r>
          </a:p>
          <a:p xmlns:a="http://schemas.openxmlformats.org/drawingml/2006/main">
            <a:r>
              <a:t>https://spravedlivo.ru/12544510</a:t>
            </a:r>
          </a:p>
          <a:p xmlns:a="http://schemas.openxmlformats.org/drawingml/2006/main">
            <a:r>
              <a:t>https://www.rbc.ru/person/6aa3ef199a79475758621730</a:t>
            </a:r>
          </a:p>
          <a:p xmlns:a="http://schemas.openxmlformats.org/drawingml/2006/main">
            <a:r>
              <a:t>https://www.rbc.ru/politics/24/09/2021/614da73f9a7947b5e3d9399f</a:t>
            </a:r>
          </a:p>
          <a:p xmlns:a="http://schemas.openxmlformats.org/drawingml/2006/main">
            <a:r>
              <a:t>https://amp.rbc.ru/rbcnews/base/14/08/2026/6a957dfb9a79476ae3d823ba</a:t>
            </a:r>
          </a:p>
          <a:p xmlns:a="http://schemas.openxmlformats.org/drawingml/2006/main">
            <a:r>
              <a:t>https://en.wikipedia.org/wiki/Alexey_Nechayev</a:t>
            </a:r>
          </a:p>
          <a:p xmlns:a="http://schemas.openxmlformats.org/drawingml/2006/main">
            <a:r>
              <a:t>https://www.gazeta.ru/politics/23422027/novye-lyudi-na-vyborah-2026-goda.shtml</a:t>
            </a:r>
          </a:p>
          <a:p xmlns:a="http://schemas.openxmlformats.org/drawingml/2006/main">
            <a:r>
              <a:t>https://vremya-bir.ru/2026/03/07/dvenadtsat-shagov-k-strane-v-kotoroj-hochetsya-zhit/</a:t>
            </a:r>
          </a:p>
          <a:p xmlns:a="http://schemas.openxmlformats.org/drawingml/2006/main">
            <a:r>
              <a:t>https://www.rbc.ru/politics/08/09/2026/6aa023ec9a79471e4fd55d3c</a:t>
            </a:r>
          </a:p>
          <a:p xmlns:a="http://schemas.openxmlformats.org/drawingml/2006/main">
            <a:r>
              <a:t>https://www.interfax.ru/interview/1074248</a:t>
            </a:r>
          </a:p>
          <a:p xmlns:a="http://schemas.openxmlformats.org/drawingml/2006/main">
            <a:r>
              <a:t>https://www.interfax.ru/amp/1074248</a:t>
            </a:r>
          </a:p>
          <a:p xmlns:a="http://schemas.openxmlformats.org/drawingml/2006/main">
            <a:r>
              <a:t>https://www.vedomosti.ru/politics/articles/2026/09/09/1227352-novie-lyudi-sformulirovali-programmu</a:t>
            </a:r>
          </a:p>
          <a:p xmlns:a="http://schemas.openxmlformats.org/drawingml/2006/main">
            <a:r>
              <a:t>https://dddkursk.ru/lenta/2026/07/30/129483/</a:t>
            </a:r>
          </a:p>
          <a:p xmlns:a="http://schemas.openxmlformats.org/drawingml/2006/main">
            <a:r>
              <a:t>https://volga.news/article/803292.html</a:t>
            </a:r>
          </a:p>
          <a:p xmlns:a="http://schemas.openxmlformats.org/drawingml/2006/main">
            <a:r>
              <a:t>https://ru.wikipedia.org/wiki/%D0%9D%D0%B5%D1%87%D0%B0%D0%B5%D0%B2,_%D0%90%D0%BB%D0%B5%D0%BA%D1%81%D0%B5%D0%B9_%D0%93%D0%B5%D0%BD%D0%BD%D0%B0%D0%B4%D1%8C%D0%B5%D0%B2%D0%B8%D1%87</a:t>
            </a:r>
          </a:p>
          <a:p xmlns:a="http://schemas.openxmlformats.org/drawingml/2006/main">
            <a:r>
              <a:t>https://www.davankov2024.ru/page_biography/</a:t>
            </a:r>
          </a:p>
          <a:p xmlns:a="http://schemas.openxmlformats.org/drawingml/2006/main">
            <a:r>
              <a:t>https://davankov2024.ru/program</a:t>
            </a:r>
          </a:p>
          <a:p xmlns:a="http://schemas.openxmlformats.org/drawingml/2006/main">
            <a:r>
              <a:t>http://vote.duma.gov.ru/?convocation=AAAAAAA8&amp;deputy=99113489&amp;sort=date_desc</a:t>
            </a:r>
          </a:p>
          <a:p xmlns:a="http://schemas.openxmlformats.org/drawingml/2006/main">
            <a:r>
              <a:t>https://holod.media/2024/02/14/vladislav-davankov/</a:t>
            </a:r>
          </a:p>
          <a:p xmlns:a="http://schemas.openxmlformats.org/drawingml/2006/main">
            <a:r>
              <a:t>https://davankov2024.ru/</a:t>
            </a:r>
          </a:p>
          <a:p xmlns:a="http://schemas.openxmlformats.org/drawingml/2006/main">
            <a:r>
              <a:t>https://novayagazeta.eu/articles/2024/02/15/davankov-predstavil-predvybornuiu-programmu-bez-amnistii-politzakliuchennykh-i-s-namereniem-dobitsia-mira-na-nashikh-usloviiakh-news</a:t>
            </a:r>
          </a:p>
          <a:p xmlns:a="http://schemas.openxmlformats.org/drawingml/2006/main">
            <a:r>
              <a:t>https://www.kavkaz-uzel.eu/articles/398113</a:t>
            </a:r>
          </a:p>
          <a:p xmlns:a="http://schemas.openxmlformats.org/drawingml/2006/main">
            <a:r>
              <a:t>https://echofm.online/portret-dnya/portret-dnya-vladislav-davankov-kandidat-v-prezidenty-rossii</a:t>
            </a:r>
          </a:p>
          <a:p xmlns:a="http://schemas.openxmlformats.org/drawingml/2006/main">
            <a:r>
              <a:t>https://t.me/s/davankov?before=788</a:t>
            </a:r>
          </a:p>
          <a:p xmlns:a="http://schemas.openxmlformats.org/drawingml/2006/main">
            <a:r>
              <a:t>https://zaharprilepin.ru/ru/bio/</a:t>
            </a:r>
          </a:p>
          <a:p xmlns:a="http://schemas.openxmlformats.org/drawingml/2006/main">
            <a:r>
              <a:t>https://zaharprilepin.ru/ru/video/zapisi-vistuplenij/intervju/</a:t>
            </a:r>
          </a:p>
          <a:p xmlns:a="http://schemas.openxmlformats.org/drawingml/2006/main">
            <a:r>
              <a:t>https://zaharprilepin.ru/ru/pressa/intervyu/na-harkov.html</a:t>
            </a:r>
          </a:p>
          <a:p xmlns:a="http://schemas.openxmlformats.org/drawingml/2006/main">
            <a:r>
              <a:t>https://www.kommersant.ru/doc/4141912</a:t>
            </a:r>
          </a:p>
          <a:p xmlns:a="http://schemas.openxmlformats.org/drawingml/2006/main">
            <a:r>
              <a:t>https://novayagazeta.eu/articles/2023/05/06/plokhoi-uchenik-limonova</a:t>
            </a:r>
          </a:p>
          <a:p xmlns:a="http://schemas.openxmlformats.org/drawingml/2006/main">
            <a:r>
              <a:t>https://tass.ru/politika/11761037</a:t>
            </a:r>
          </a:p>
          <a:p xmlns:a="http://schemas.openxmlformats.org/drawingml/2006/main">
            <a:r>
              <a:t>https://www.nn.ru/text/politics/2021/10/11/70186523/</a:t>
            </a:r>
          </a:p>
          <a:p xmlns:a="http://schemas.openxmlformats.org/drawingml/2006/main">
            <a:r>
              <a:t>https://www.zaks.ru/new/archive/view/267194</a:t>
            </a:r>
          </a:p>
          <a:p xmlns:a="http://schemas.openxmlformats.org/drawingml/2006/main">
            <a:r>
              <a:t>https://spravedlivo.ru/11288710</a:t>
            </a:r>
          </a:p>
          <a:p xmlns:a="http://schemas.openxmlformats.org/drawingml/2006/main">
            <a:r>
              <a:t>https://www.kommersant.ru/doc/4241515</a:t>
            </a:r>
          </a:p>
          <a:p xmlns:a="http://schemas.openxmlformats.org/drawingml/2006/main">
            <a:r>
              <a:t>https://zaharprilepin.ru/ru/pressa/intervyu/radio-komsomolskaja-pravda-10022021.html</a:t>
            </a:r>
          </a:p>
          <a:p xmlns:a="http://schemas.openxmlformats.org/drawingml/2006/main">
            <a:r>
              <a:t>https://pozneronline.ru/2024/04/36826/</a:t>
            </a:r>
          </a:p>
          <a:p xmlns:a="http://schemas.openxmlformats.org/drawingml/2006/main">
            <a:r>
              <a:t>https://www.rbc.ru/person/62a85a259a7947b9ae5d6360</a:t>
            </a:r>
          </a:p>
          <a:p xmlns:a="http://schemas.openxmlformats.org/drawingml/2006/main">
            <a:r>
              <a:t>https://tass.ru/encyclopedia/person/poklonskaya-natalya-vladimirovna</a:t>
            </a:r>
          </a:p>
          <a:p xmlns:a="http://schemas.openxmlformats.org/drawingml/2006/main">
            <a:r>
              <a:t>https://tass.ru/tag/poklonskaya-natalya-vladimirovna</a:t>
            </a:r>
          </a:p>
          <a:p xmlns:a="http://schemas.openxmlformats.org/drawingml/2006/main">
            <a:r>
              <a:t>https://www.bbc.com/russian/features-44801571</a:t>
            </a:r>
          </a:p>
          <a:p xmlns:a="http://schemas.openxmlformats.org/drawingml/2006/main">
            <a:r>
              <a:t>https://www.rbc.ru/rbcfreenews/5ba8bd499a794792294ba05d</a:t>
            </a:r>
          </a:p>
          <a:p xmlns:a="http://schemas.openxmlformats.org/drawingml/2006/main">
            <a:r>
              <a:t>https://www.dp.ru/a/2018/08/31/Poklonskaja_otreazirovala</a:t>
            </a:r>
          </a:p>
          <a:p xmlns:a="http://schemas.openxmlformats.org/drawingml/2006/main">
            <a:r>
              <a:t>https://www.themoscowtimes.com/2022/06/13/former-crimea-prosecutor-dismissed-after-anti-war-comments-a77983</a:t>
            </a:r>
          </a:p>
          <a:p xmlns:a="http://schemas.openxmlformats.org/drawingml/2006/main">
            <a:r>
              <a:t>https://www.rbc.ru/politics/30/06/2023/649dee189a79473e3fdc8906</a:t>
            </a:r>
          </a:p>
          <a:p xmlns:a="http://schemas.openxmlformats.org/drawingml/2006/main">
            <a:r>
              <a:t>http://council.gov.ru/structure/persons/1044/</a:t>
            </a:r>
          </a:p>
          <a:p xmlns:a="http://schemas.openxmlformats.org/drawingml/2006/main">
            <a:r>
              <a:t>http://council.gov.ru/services/reference/9156/</a:t>
            </a:r>
          </a:p>
          <a:p xmlns:a="http://schemas.openxmlformats.org/drawingml/2006/main">
            <a:r>
              <a:t>http://council.gov.ru/events/news/135415/</a:t>
            </a:r>
          </a:p>
          <a:p xmlns:a="http://schemas.openxmlformats.org/drawingml/2006/main">
            <a:r>
              <a:t>https://24smi.org/celebrity/1156-elena-mizulina.html</a:t>
            </a:r>
          </a:p>
          <a:p xmlns:a="http://schemas.openxmlformats.org/drawingml/2006/main">
            <a:r>
              <a:t>https://www.bfometr.ru/blog/elena-mizulina</a:t>
            </a:r>
          </a:p>
          <a:p xmlns:a="http://schemas.openxmlformats.org/drawingml/2006/main">
            <a:r>
              <a:t>https://www.rbc.ru/society/30/03/2018/5abe1b849a79470dc3826f68</a:t>
            </a:r>
          </a:p>
          <a:p xmlns:a="http://schemas.openxmlformats.org/drawingml/2006/main">
            <a:r>
              <a:t>https://uznayvse.ru/znamenitosti/biografiya-elena-mizulina.html</a:t>
            </a:r>
          </a:p>
          <a:p xmlns:a="http://schemas.openxmlformats.org/drawingml/2006/main">
            <a:r>
              <a:t>https://radiokp.ru/people/elena-mizulina</a:t>
            </a:r>
          </a:p>
          <a:p xmlns:a="http://schemas.openxmlformats.org/drawingml/2006/main">
            <a:r>
              <a:t>https://ru.wikipedia.org/wiki/%D0%9C%D0%B8%D0%B7%D1%83%D0%BB%D0%B8%D0%BD%D0%B0,_%D0%95%D0%BB%D0%B5%D0%BD%D0%B0_%D0%91%D0%BE%D1%80%D0%B8%D1%81%D0%BE%D0%B2%D0%BD%D0%B0</a:t>
            </a:r>
          </a:p>
          <a:p xmlns:a="http://schemas.openxmlformats.org/drawingml/2006/main">
            <a:r>
              <a:t>https://ru.wikipedia.org/wiki/Милонов,_Виталий_Валентинович</a:t>
            </a:r>
          </a:p>
          <a:p xmlns:a="http://schemas.openxmlformats.org/drawingml/2006/main">
            <a:r>
              <a:t>https://tass.ru/encyclopedia/person/milonov-vitaliy-valentinovich</a:t>
            </a:r>
          </a:p>
          <a:p xmlns:a="http://schemas.openxmlformats.org/drawingml/2006/main">
            <a:r>
              <a:t>https://www.pnp.ru/person/vitaliy-milonov/</a:t>
            </a:r>
          </a:p>
          <a:p xmlns:a="http://schemas.openxmlformats.org/drawingml/2006/main">
            <a:r>
              <a:t>https://www.zaks.ru/new/person/view/172</a:t>
            </a:r>
          </a:p>
          <a:p xmlns:a="http://schemas.openxmlformats.org/drawingml/2006/main">
            <a:r>
              <a:t>https://svpressa.ru/persons/vitaliy-milonov/</a:t>
            </a:r>
          </a:p>
          <a:p xmlns:a="http://schemas.openxmlformats.org/drawingml/2006/main">
            <a:r>
              <a:t>https://stuki-druki.com/authors/Milonov-Vitaliy.php</a:t>
            </a:r>
          </a:p>
          <a:p xmlns:a="http://schemas.openxmlformats.org/drawingml/2006/main">
            <a:r>
              <a:t>https://pa.inion.ru/persons/7104/</a:t>
            </a:r>
          </a:p>
          <a:p xmlns:a="http://schemas.openxmlformats.org/drawingml/2006/main">
            <a:r>
              <a:t>https://pa.inion.ru/documents/16503/</a:t>
            </a:r>
          </a:p>
          <a:p xmlns:a="http://schemas.openxmlformats.org/drawingml/2006/main">
            <a:r>
              <a:t>https://pa.inion.ru/documents/27860/</a:t>
            </a:r>
          </a:p>
          <a:p xmlns:a="http://schemas.openxmlformats.org/drawingml/2006/main">
            <a:r>
              <a:t>https://kprf.ru/personal/ostanina</a:t>
            </a:r>
          </a:p>
          <a:p xmlns:a="http://schemas.openxmlformats.org/drawingml/2006/main">
            <a:r>
              <a:t>https://pa.inion.ru/documents/25577/</a:t>
            </a:r>
          </a:p>
          <a:p xmlns:a="http://schemas.openxmlformats.org/drawingml/2006/main">
            <a:r>
              <a:t>https://kprf.ru/dep/gosduma/activities/245108.html</a:t>
            </a:r>
          </a:p>
          <a:p xmlns:a="http://schemas.openxmlformats.org/drawingml/2006/main">
            <a:r>
              <a:t>https://www.pnp.ru/social/zashhita-detskogo-byudzheta-kruzhki-sokhranit-vyplaty-iz-matkapitala-uvelichit.html</a:t>
            </a:r>
          </a:p>
          <a:p xmlns:a="http://schemas.openxmlformats.org/drawingml/2006/main">
            <a:r>
              <a:t>https://www.pnp.ru/state-duma/nina-ostanina-o-byudzhete-na-2027-2029-gody-semeynoy-ipoteke-i-matkapitale.html</a:t>
            </a:r>
          </a:p>
          <a:p xmlns:a="http://schemas.openxmlformats.org/drawingml/2006/main">
            <a:r>
              <a:t>https://uznayvse.ru/znamenitosti/biografiya-nina-ostanina.html</a:t>
            </a:r>
          </a:p>
          <a:p xmlns:a="http://schemas.openxmlformats.org/drawingml/2006/main">
            <a:r>
              <a:t>https://dumatv.ru/news/ostanina--borba-za-mirovozzrencheskii-suverenitet-stanovitsya-gosudarstvennoi-politikoi</a:t>
            </a:r>
          </a:p>
          <a:p xmlns:a="http://schemas.openxmlformats.org/drawingml/2006/main">
            <a:r>
              <a:t>https://kprf.ru/dep/gosduma/activities/242132.html</a:t>
            </a:r>
          </a:p>
          <a:p xmlns:a="http://schemas.openxmlformats.org/drawingml/2006/main">
            <a:r>
              <a:t>https://www.business-gazeta.ru/article/625616</a:t>
            </a:r>
          </a:p>
          <a:p xmlns:a="http://schemas.openxmlformats.org/drawingml/2006/main">
            <a:r>
              <a:t>https://www.kommersant.ru/doc/3235400</a:t>
            </a:r>
          </a:p>
          <a:p xmlns:a="http://schemas.openxmlformats.org/drawingml/2006/main">
            <a:r>
              <a:t>https://www.rbc.ru/person/67d838f09a7947cdef0b1a95</a:t>
            </a:r>
          </a:p>
          <a:p xmlns:a="http://schemas.openxmlformats.org/drawingml/2006/main">
            <a:r>
              <a:t>https://www.vedomosti.ru/politics/articles/2020/03/10/824795-tereshkova-predlozhila</a:t>
            </a:r>
          </a:p>
          <a:p xmlns:a="http://schemas.openxmlformats.org/drawingml/2006/main">
            <a:r>
              <a:t>http://duma.gov.ru/news/49164/</a:t>
            </a:r>
          </a:p>
          <a:p xmlns:a="http://schemas.openxmlformats.org/drawingml/2006/main">
            <a:r>
              <a:t>https://meduza.io/news/2020/03/12/delayut-vse-dlya-togo-chtoby-gadosti-delat-tereshkova-o-protivnikah-popravki-obnulyayuschey-sroki-putina</a:t>
            </a:r>
          </a:p>
          <a:p xmlns:a="http://schemas.openxmlformats.org/drawingml/2006/main">
            <a:r>
              <a:t>https://meduza.io/feature/2020/03/10/gosduma-neozhidanno-dlya-sebya-obespechila-putina-novymi-prezidentskimi-srokami</a:t>
            </a:r>
          </a:p>
          <a:p xmlns:a="http://schemas.openxmlformats.org/drawingml/2006/main">
            <a:r>
              <a:t>https://hinshtein.ru/biography/</a:t>
            </a:r>
          </a:p>
          <a:p xmlns:a="http://schemas.openxmlformats.org/drawingml/2006/main">
            <a:r>
              <a:t>https://www.vedomosti.ru/politics/articles/2024/12/06/1079852-kto-takoi-aleksandr-hinshtein</a:t>
            </a:r>
          </a:p>
          <a:p xmlns:a="http://schemas.openxmlformats.org/drawingml/2006/main">
            <a:r>
              <a:t>https://www.rbc.ru/person/6752d12a9a7947d62166795e</a:t>
            </a:r>
          </a:p>
          <a:p xmlns:a="http://schemas.openxmlformats.org/drawingml/2006/main">
            <a:r>
              <a:t>https://www.rbc.ru/politics/06/12/2024/675207239a7947e74994842e</a:t>
            </a:r>
          </a:p>
          <a:p xmlns:a="http://schemas.openxmlformats.org/drawingml/2006/main">
            <a:r>
              <a:t>https://hinshtein.ru/news/aleksandr-hinshtejn-podvyol-itogi-goda-raboty-komiteta-gosdumy-po-informpolitike-informatsionnym-tehnologiyam-i-svyazi/</a:t>
            </a:r>
          </a:p>
          <a:p xmlns:a="http://schemas.openxmlformats.org/drawingml/2006/main">
            <a:r>
              <a:t>https://hinshtein.ru/news/a-hinshtejn-itogi-raboty-za-vii-sozyv/</a:t>
            </a:r>
          </a:p>
          <a:p xmlns:a="http://schemas.openxmlformats.org/drawingml/2006/main">
            <a:r>
              <a:t>https://www.kommersant.ru/doc/4660427</a:t>
            </a:r>
          </a:p>
          <a:p xmlns:a="http://schemas.openxmlformats.org/drawingml/2006/main">
            <a:r>
              <a:t>https://www.kommersant.ru/doc/4104004</a:t>
            </a:r>
          </a:p>
          <a:p xmlns:a="http://schemas.openxmlformats.org/drawingml/2006/main">
            <a:r>
              <a:t>https://www.nvgazeta.ru/news/12383/634260/</a:t>
            </a:r>
          </a:p>
          <a:p xmlns:a="http://schemas.openxmlformats.org/drawingml/2006/main">
            <a:r>
              <a:t>https://kpravda.ru/2025/02/11/kursk-poluchit-dengi-iz-gosbyudzheta-na-restavracziyu-istoricheskoj-kreposti/</a:t>
            </a:r>
          </a:p>
          <a:p xmlns:a="http://schemas.openxmlformats.org/drawingml/2006/main">
            <a:r>
              <a:t>https://tass.ru/obschestvo/24001633</a:t>
            </a:r>
          </a:p>
          <a:p xmlns:a="http://schemas.openxmlformats.org/drawingml/2006/main">
            <a:r>
              <a:t>https://www.kommersant.ru/doc/7737032</a:t>
            </a:r>
          </a:p>
          <a:p xmlns:a="http://schemas.openxmlformats.org/drawingml/2006/main">
            <a:r>
              <a:t>https://kpravda.ru/2025/03/21/edinaya-rossiya-pomozhet-v-restavraczii-kurskih-pamyatnikov/</a:t>
            </a:r>
          </a:p>
          <a:p xmlns:a="http://schemas.openxmlformats.org/drawingml/2006/main">
            <a:r>
              <a:t>https://news-kursk.ru/society/2025/07/13/65824.html</a:t>
            </a:r>
          </a:p>
          <a:p xmlns:a="http://schemas.openxmlformats.org/drawingml/2006/main">
            <a:r>
              <a:t>https://news.ru/russia/v-kurske-budet-alleya-geroev-hinshtejn-o-muzee-i-memoriale-zhertvam-vsu</a:t>
            </a:r>
          </a:p>
          <a:p xmlns:a="http://schemas.openxmlformats.org/drawingml/2006/main">
            <a:r>
              <a:t>https://ru.wikipedia.org/wiki/Пушков,_Алексей_Константинович</a:t>
            </a:r>
          </a:p>
          <a:p xmlns:a="http://schemas.openxmlformats.org/drawingml/2006/main">
            <a:r>
              <a:t>http://council.gov.ru/structure/persons/1316/</a:t>
            </a:r>
          </a:p>
          <a:p xmlns:a="http://schemas.openxmlformats.org/drawingml/2006/main">
            <a:r>
              <a:t>http://council.gov.ru/media/files/xjE2QHRAivCH7onABehAcG7OsnrO6DYb.pdf</a:t>
            </a:r>
          </a:p>
          <a:p xmlns:a="http://schemas.openxmlformats.org/drawingml/2006/main">
            <a:r>
              <a:t>https://base.garant.ru/406310971/</a:t>
            </a:r>
          </a:p>
          <a:p xmlns:a="http://schemas.openxmlformats.org/drawingml/2006/main">
            <a:r>
              <a:t>https://russiancouncil.ru/aleksey-pushkov/</a:t>
            </a:r>
          </a:p>
          <a:p xmlns:a="http://schemas.openxmlformats.org/drawingml/2006/main">
            <a:r>
              <a:t>http://legislation.council.gov.ru/events/announce/</a:t>
            </a:r>
          </a:p>
          <a:p xmlns:a="http://schemas.openxmlformats.org/drawingml/2006/main">
            <a:r>
              <a:t>http://council.gov.ru/events/news/173810/</a:t>
            </a:r>
          </a:p>
          <a:p xmlns:a="http://schemas.openxmlformats.org/drawingml/2006/main">
            <a:r>
              <a:t>http://www.council.gov.ru/events/news/175997/</a:t>
            </a:r>
          </a:p>
          <a:p xmlns:a="http://schemas.openxmlformats.org/drawingml/2006/main">
            <a:r>
              <a:t>http://council.gov.ru/media/report/pdf/HtoXfAAzeBJ8JwN0eAduo3rejTAYhqvB.pdf</a:t>
            </a:r>
          </a:p>
          <a:p xmlns:a="http://schemas.openxmlformats.org/drawingml/2006/main">
            <a:r>
              <a:t>http://council.gov.ru/events/news/164749/</a:t>
            </a:r>
          </a:p>
          <a:p xmlns:a="http://schemas.openxmlformats.org/drawingml/2006/main">
            <a:r>
              <a:t>https://t.me/s/alexey_pushkov?before=14914</a:t>
            </a:r>
          </a:p>
          <a:p xmlns:a="http://schemas.openxmlformats.org/drawingml/2006/main">
            <a:r>
              <a:t>http://legislation.council.gov.ru/events/multimedia/video/302078/</a:t>
            </a:r>
          </a:p>
          <a:p xmlns:a="http://schemas.openxmlformats.org/drawingml/2006/main">
            <a:r>
              <a:t>http://council.gov.ru/media/report/pdf/e8Awe3U6hNouHwSvME53OSPGGWxTeVAl.pdf</a:t>
            </a:r>
          </a:p>
          <a:p xmlns:a="http://schemas.openxmlformats.org/drawingml/2006/main">
            <a:r>
              <a:t>https://www.vedomosti.ru/person/1178385-kosachev-konstantin</a:t>
            </a:r>
          </a:p>
          <a:p xmlns:a="http://schemas.openxmlformats.org/drawingml/2006/main">
            <a:r>
              <a:t>https://www.interfax.ru/interview/812963</a:t>
            </a:r>
          </a:p>
          <a:p xmlns:a="http://schemas.openxmlformats.org/drawingml/2006/main">
            <a:r>
              <a:t>https://senatinform.ru/news/yuzhnuyu_osetiyu_neobkhodimo_vyvodit_iz_iskusstvennoy_izolyatsii_schitayut_rossiyskie_senatory_/</a:t>
            </a:r>
          </a:p>
          <a:p xmlns:a="http://schemas.openxmlformats.org/drawingml/2006/main">
            <a:r>
              <a:t>https://senatinform.ru/news/kosachyev_rossiya_gotova_rabotat_s_mps_s_uchyetom_ozabochennostey_nashey_strany/</a:t>
            </a:r>
          </a:p>
          <a:p xmlns:a="http://schemas.openxmlformats.org/drawingml/2006/main">
            <a:r>
              <a:t>https://www.bfm.ru/person/61</a:t>
            </a:r>
          </a:p>
          <a:p xmlns:a="http://schemas.openxmlformats.org/drawingml/2006/main">
            <a:r>
              <a:t>https://svpressa.ru/persons/konstantin-kosachev/</a:t>
            </a:r>
          </a:p>
          <a:p xmlns:a="http://schemas.openxmlformats.org/drawingml/2006/main">
            <a:r>
              <a:t>https://www.pnp.ru/person/konstantin-kosachev/</a:t>
            </a:r>
          </a:p>
          <a:p xmlns:a="http://schemas.openxmlformats.org/drawingml/2006/main">
            <a:r>
              <a:t>https://www.pnp.ru/politics/konstantin-kosachev-dlya-ssha-voyna-s-rossiey-eto-samoubiystvo.html</a:t>
            </a:r>
          </a:p>
          <a:p xmlns:a="http://schemas.openxmlformats.org/drawingml/2006/main">
            <a:r>
              <a:t>https://www.mlg.ru/ratings/vlast/senators/10844/</a:t>
            </a:r>
          </a:p>
          <a:p xmlns:a="http://schemas.openxmlformats.org/drawingml/2006/main">
            <a:r>
              <a:t>http://council.gov.ru/events/news/173506/</a:t>
            </a:r>
          </a:p>
          <a:p xmlns:a="http://schemas.openxmlformats.org/drawingml/2006/main">
            <a:r>
              <a:t>https://t.me/s/Kosachev62</a:t>
            </a:r>
          </a:p>
          <a:p xmlns:a="http://schemas.openxmlformats.org/drawingml/2006/main">
            <a:r>
              <a:t>http://council.gov.ru/events/news/177602/</a:t>
            </a:r>
          </a:p>
          <a:p xmlns:a="http://schemas.openxmlformats.org/drawingml/2006/main">
            <a:r>
              <a:t>https://vmeste-rf.tv/programs/205/konstantin-kosachev-sotrudnichestvo-rossii-i-efiopii-itogi-vizita-delegatsii-sf/</a:t>
            </a:r>
          </a:p>
          <a:p xmlns:a="http://schemas.openxmlformats.org/drawingml/2006/main">
            <a:r>
              <a:t>https://www.rbc.ru/person/64b8e1909a79474f30e86f98</a:t>
            </a:r>
          </a:p>
          <a:p xmlns:a="http://schemas.openxmlformats.org/drawingml/2006/main">
            <a:r>
              <a:t>https://www.kommersant.ru/doc/6041063</a:t>
            </a:r>
          </a:p>
          <a:p xmlns:a="http://schemas.openxmlformats.org/drawingml/2006/main">
            <a:r>
              <a:t>https://www.mos.ru/mayor/themes/6907050/</a:t>
            </a:r>
          </a:p>
          <a:p xmlns:a="http://schemas.openxmlformats.org/drawingml/2006/main">
            <a:r>
              <a:t>https://www.mos.ru/mayor/themes/7037050/</a:t>
            </a:r>
          </a:p>
          <a:p xmlns:a="http://schemas.openxmlformats.org/drawingml/2006/main">
            <a:r>
              <a:t>https://www.mos.ru/mayor/themes/8822050/</a:t>
            </a:r>
          </a:p>
          <a:p xmlns:a="http://schemas.openxmlformats.org/drawingml/2006/main">
            <a:r>
              <a:t>http://special.kremlin.ru/catalog/persons/38/events/70467</a:t>
            </a:r>
          </a:p>
          <a:p xmlns:a="http://schemas.openxmlformats.org/drawingml/2006/main">
            <a:r>
              <a:t>https://www.mos.ru/upload/content/files/15af077500dcc5a1547bf728abf25669/15Zakong_Moskviot17_05_2017N14Odopolnitelnihgaranti.pdf</a:t>
            </a:r>
          </a:p>
          <a:p xmlns:a="http://schemas.openxmlformats.org/drawingml/2006/main">
            <a:r>
              <a:t>https://www.rbc.ru/politics/03/05/2023/645245159a794763ce66d990</a:t>
            </a:r>
          </a:p>
          <a:p xmlns:a="http://schemas.openxmlformats.org/drawingml/2006/main">
            <a:r>
              <a:t>https://www.dw.com/ru/ataka-dronov-v-moskve-i-podmoskove-cto-izvestno/a-65771767</a:t>
            </a:r>
          </a:p>
          <a:p xmlns:a="http://schemas.openxmlformats.org/drawingml/2006/main">
            <a:r>
              <a:t>https://www.rbc.ru/politics/01/08/2023/64c856ce9a79471a722e13ad</a:t>
            </a:r>
          </a:p>
          <a:p xmlns:a="http://schemas.openxmlformats.org/drawingml/2006/main">
            <a:r>
              <a:t>https://www.rbc.ru/politics/23/08/2023/64e54f299a794789ddb55c65</a:t>
            </a:r>
          </a:p>
          <a:p xmlns:a="http://schemas.openxmlformats.org/drawingml/2006/main">
            <a:r>
              <a:t>https://ru.wikipedia.org/wiki/Беглов,_Александр_Дмитриевич</a:t>
            </a:r>
          </a:p>
          <a:p xmlns:a="http://schemas.openxmlformats.org/drawingml/2006/main">
            <a:r>
              <a:t>https://www.gov.spb.ru/governor/</a:t>
            </a:r>
          </a:p>
          <a:p xmlns:a="http://schemas.openxmlformats.org/drawingml/2006/main">
            <a:r>
              <a:t>https://www.rbc.ru/politics/30/05/2019/5cf02cf09a79475ed4d2fa3f</a:t>
            </a:r>
          </a:p>
          <a:p xmlns:a="http://schemas.openxmlformats.org/drawingml/2006/main">
            <a:r>
              <a:t>https://www.themoscowtimes.com/2019/09/11/st-petersburg-re-elects-governor-beglov-after-controversial-campaign-a67240</a:t>
            </a:r>
          </a:p>
          <a:p xmlns:a="http://schemas.openxmlformats.org/drawingml/2006/main">
            <a:r>
              <a:t>https://www.gov.spb.ru/press/governor/188637/</a:t>
            </a:r>
          </a:p>
          <a:p xmlns:a="http://schemas.openxmlformats.org/drawingml/2006/main">
            <a:r>
              <a:t>https://www.gov.spb.ru/press/governor/213661/</a:t>
            </a:r>
          </a:p>
          <a:p xmlns:a="http://schemas.openxmlformats.org/drawingml/2006/main">
            <a:r>
              <a:t>https://www.gov.spb.ru/press/governor/258831/</a:t>
            </a:r>
          </a:p>
          <a:p xmlns:a="http://schemas.openxmlformats.org/drawingml/2006/main">
            <a:r>
              <a:t>https://www.gov.spb.ru/governor/interview/7333/</a:t>
            </a:r>
          </a:p>
          <a:p xmlns:a="http://schemas.openxmlformats.org/drawingml/2006/main">
            <a:r>
              <a:t>https://tass.ru/interviews/21839179</a:t>
            </a:r>
          </a:p>
          <a:p xmlns:a="http://schemas.openxmlformats.org/drawingml/2006/main">
            <a:r>
              <a:t>https://www.gov.spb.ru/press/governor/236663/</a:t>
            </a:r>
          </a:p>
          <a:p xmlns:a="http://schemas.openxmlformats.org/drawingml/2006/main">
            <a:r>
              <a:t>https://tvspb.ru/news/2022/09/21/aleksandr-beglov-ukaz-prezidenta-o-chastichnoj-mobilizaczii-byl-trudnym-no-neobhodimym-shagom</a:t>
            </a:r>
          </a:p>
          <a:p xmlns:a="http://schemas.openxmlformats.org/drawingml/2006/main">
            <a:r>
              <a:t>https://spbvedomosti.ru/news/gorod/gubernator-aleksandr-beglov-obyavil-o-zavershenii-chastichnoy-mobilizatsii/</a:t>
            </a:r>
          </a:p>
          <a:p xmlns:a="http://schemas.openxmlformats.org/drawingml/2006/main">
            <a:r>
              <a:t>https://www.gov.spb.ru/press/governor/253716/</a:t>
            </a:r>
          </a:p>
          <a:p xmlns:a="http://schemas.openxmlformats.org/drawingml/2006/main">
            <a:r>
              <a:t>https://www.gov.spb.ru/press/governor/290070/</a:t>
            </a:r>
          </a:p>
          <a:p xmlns:a="http://schemas.openxmlformats.org/drawingml/2006/main">
            <a:r>
              <a:t>https://spbdnevnik.ru/news/2022-10-06/aleksandr-beglov-rasskazal-o-prizyve-po-mobilizatsii-peterburzhtsa-s-odnoy-pochkoy</a:t>
            </a:r>
          </a:p>
          <a:p xmlns:a="http://schemas.openxmlformats.org/drawingml/2006/main">
            <a:r>
              <a:t>https://www.rbc.ru/person/62c5c0899a79470082fa57eb</a:t>
            </a:r>
          </a:p>
          <a:p xmlns:a="http://schemas.openxmlformats.org/drawingml/2006/main">
            <a:r>
              <a:t>https://www.kavkaz-uzel.eu/articles/85366</a:t>
            </a:r>
          </a:p>
          <a:p xmlns:a="http://schemas.openxmlformats.org/drawingml/2006/main">
            <a:r>
              <a:t>https://news.ru/regions/my-dolzhny-zabrat-vsyu-ukrainu-chto-kadyrov-govoril-ob-svo-rossii-putine</a:t>
            </a:r>
          </a:p>
          <a:p xmlns:a="http://schemas.openxmlformats.org/drawingml/2006/main">
            <a:r>
              <a:t>https://minval.az/k/ramzan-kadyrov</a:t>
            </a:r>
          </a:p>
          <a:p xmlns:a="http://schemas.openxmlformats.org/drawingml/2006/main">
            <a:r>
              <a:t>http://publication.pravo.gov.ru/document/2000202609160002</a:t>
            </a:r>
          </a:p>
          <a:p xmlns:a="http://schemas.openxmlformats.org/drawingml/2006/main">
            <a:r>
              <a:t>https://vestikavkaza.ru/amp/291219</a:t>
            </a:r>
          </a:p>
          <a:p xmlns:a="http://schemas.openxmlformats.org/drawingml/2006/main">
            <a:r>
              <a:t>https://tass.ru/obschestvo/25968415</a:t>
            </a:r>
          </a:p>
          <a:p xmlns:a="http://schemas.openxmlformats.org/drawingml/2006/main">
            <a:r>
              <a:t>https://www.rbc.ru/rbcfreenews/694558f89a794775c8b05d2e</a:t>
            </a:r>
          </a:p>
          <a:p xmlns:a="http://schemas.openxmlformats.org/drawingml/2006/main">
            <a:r>
              <a:t>https://rais.tatarstan.ru/biografiya.htm</a:t>
            </a:r>
          </a:p>
          <a:p xmlns:a="http://schemas.openxmlformats.org/drawingml/2006/main">
            <a:r>
              <a:t>https://rt.rbc.ru/tatarstan/freenews/68c7f77d9a79472be550408e</a:t>
            </a:r>
          </a:p>
          <a:p xmlns:a="http://schemas.openxmlformats.org/drawingml/2006/main">
            <a:r>
              <a:t>https://rt.rbc.ru/tatarstan/freenews/68c90bdc9a794783273a16b6</a:t>
            </a:r>
          </a:p>
          <a:p xmlns:a="http://schemas.openxmlformats.org/drawingml/2006/main">
            <a:r>
              <a:t>https://tass.ru/politika/25045679</a:t>
            </a:r>
          </a:p>
          <a:p xmlns:a="http://schemas.openxmlformats.org/drawingml/2006/main">
            <a:r>
              <a:t>https://tass.ru/info/25058299</a:t>
            </a:r>
          </a:p>
          <a:p xmlns:a="http://schemas.openxmlformats.org/drawingml/2006/main">
            <a:r>
              <a:t>https://tatarstan.ru/index.htm/news/2454245.htm</a:t>
            </a:r>
          </a:p>
          <a:p xmlns:a="http://schemas.openxmlformats.org/drawingml/2006/main">
            <a:r>
              <a:t>https://izbirkom.tatarstan.ru/file/pub/pub_4719790.docx</a:t>
            </a:r>
          </a:p>
          <a:p xmlns:a="http://schemas.openxmlformats.org/drawingml/2006/main">
            <a:r>
              <a:t>http://www.pfo.gov.ru/press/events/112125/</a:t>
            </a:r>
          </a:p>
          <a:p xmlns:a="http://schemas.openxmlformats.org/drawingml/2006/main">
            <a:r>
              <a:t>https://www.tatar-inform.ru/news/rustam-minnixanov-sankcii-ne-koncatsya-poka-my-ne-stanem-samodostatocnymi-5896958</a:t>
            </a:r>
          </a:p>
          <a:p xmlns:a="http://schemas.openxmlformats.org/drawingml/2006/main">
            <a:r>
              <a:t>https://tatarstan.ru/index.htm/news/1916025.htm</a:t>
            </a:r>
          </a:p>
          <a:p xmlns:a="http://schemas.openxmlformats.org/drawingml/2006/main">
            <a:r>
              <a:t>https://kitaphane.tatarstan.ru/digital.htm</a:t>
            </a:r>
          </a:p>
          <a:p xmlns:a="http://schemas.openxmlformats.org/drawingml/2006/main">
            <a:r>
              <a:t>https://kt.tatarstan.ru/index.htm/news/2266706.htm</a:t>
            </a:r>
          </a:p>
          <a:p xmlns:a="http://schemas.openxmlformats.org/drawingml/2006/main">
            <a:r>
              <a:t>https://tatarstan.ru/index.htm/news/2460505.htm</a:t>
            </a:r>
          </a:p>
          <a:p xmlns:a="http://schemas.openxmlformats.org/drawingml/2006/main">
            <a:r>
              <a:t>https://digital.tatarstan.ru/index.htm/news/2460691.htm</a:t>
            </a:r>
          </a:p>
          <a:p xmlns:a="http://schemas.openxmlformats.org/drawingml/2006/main">
            <a:r>
              <a:t>https://amp.rbc.ru/rbcnews/politics/09/07/2020/5f06bbb69a79475c40a9a094</a:t>
            </a:r>
          </a:p>
          <a:p xmlns:a="http://schemas.openxmlformats.org/drawingml/2006/main">
            <a:r>
              <a:t>https://1kas.sudrf.ru/modules.php?name=sud_delo&amp;name_op=doc&amp;number=39453936&amp;delo_id=2450001&amp;case_type=0&amp;new=2450001&amp;text_number=1&amp;srv_num=1</a:t>
            </a:r>
          </a:p>
          <a:p xmlns:a="http://schemas.openxmlformats.org/drawingml/2006/main">
            <a:r>
              <a:t>https://www.interfax.ru/russia/982916</a:t>
            </a:r>
          </a:p>
          <a:p xmlns:a="http://schemas.openxmlformats.org/drawingml/2006/main">
            <a:r>
              <a:t>https://www.svoboda.org/a/sud-ostavil-v-sile-prigovor-habarovskomu-eks-gubernatoru-sergeyu-furgalu/32686024.html</a:t>
            </a:r>
          </a:p>
          <a:p xmlns:a="http://schemas.openxmlformats.org/drawingml/2006/main">
            <a:r>
              <a:t>https://www.dw.com/ru/kommentarij-furgal-peresidit-putina/a-64670560</a:t>
            </a:r>
          </a:p>
          <a:p xmlns:a="http://schemas.openxmlformats.org/drawingml/2006/main">
            <a:r>
              <a:t>https://www.kommersant.ru/doc/3896415</a:t>
            </a:r>
          </a:p>
          <a:p xmlns:a="http://schemas.openxmlformats.org/drawingml/2006/main">
            <a:r>
              <a:t>https://todaykhv.ru/news/policy/19386/</a:t>
            </a:r>
          </a:p>
          <a:p xmlns:a="http://schemas.openxmlformats.org/drawingml/2006/main">
            <a:r>
              <a:t>https://meduza.io/feature/2018/09/19/ya-dumayu-chto-situatsiya-kak-v-primorie-u-nas-ne-povtoritsya</a:t>
            </a:r>
          </a:p>
          <a:p xmlns:a="http://schemas.openxmlformats.org/drawingml/2006/main">
            <a:r>
              <a:t>https://govoritmoskva.ru/news/174327/</a:t>
            </a:r>
          </a:p>
          <a:p xmlns:a="http://schemas.openxmlformats.org/drawingml/2006/main">
            <a:r>
              <a:t>https://todaykhv.ru/news/policy/22426/?sphrase_id=2620206</a:t>
            </a:r>
          </a:p>
          <a:p xmlns:a="http://schemas.openxmlformats.org/drawingml/2006/main">
            <a:r>
              <a:t>https://ru.wikipedia.org/wiki/%D0%A4%D1%83%D1%80%D0%B3%D0%B0%D0%BB,_%D0%A1%D0%B5%D1%80%D0%B3%D0%B5%D0%B9_%D0%98%D0%B2%D0%B0%D0%BD%D0%BE%D0%B2%D0%B8%D1%87</a:t>
            </a:r>
          </a:p>
          <a:p xmlns:a="http://schemas.openxmlformats.org/drawingml/2006/main">
            <a:r>
              <a:t>https://novayagazeta.ru/articles/2018/09/18/77870-ne-dopuschu-zdes-revolyutsii</a:t>
            </a:r>
          </a:p>
          <a:p xmlns:a="http://schemas.openxmlformats.org/drawingml/2006/main">
            <a:r>
              <a:t>https://opkhv.ru/publications/4888</a:t>
            </a:r>
          </a:p>
          <a:p xmlns:a="http://schemas.openxmlformats.org/drawingml/2006/main">
            <a:r>
              <a:t>https://meduza.io/feature/2019/08/26/partiya-vlasti-zdes-ldpr</a:t>
            </a:r>
          </a:p>
          <a:p xmlns:a="http://schemas.openxmlformats.org/drawingml/2006/main">
            <a:r>
              <a:t>https://tass.ru/obschestvo/5946495</a:t>
            </a:r>
          </a:p>
          <a:p xmlns:a="http://schemas.openxmlformats.org/drawingml/2006/main">
            <a:r>
              <a:t>https://amurmedia.ru/news/775590/</a:t>
            </a:r>
          </a:p>
          <a:p xmlns:a="http://schemas.openxmlformats.org/drawingml/2006/main">
            <a:r>
              <a:t>https://www.eastrussia.ru/material/ne-planiruyushchim-pereezzhat-sovetuyu-pomolchat/</a:t>
            </a:r>
          </a:p>
          <a:p xmlns:a="http://schemas.openxmlformats.org/drawingml/2006/main">
            <a:r>
              <a:t>https://www.dw.com/ru/v-habarovske-priznali-ekstremistskim-dvizenie-v-zasitu-furgala/a-68334442</a:t>
            </a:r>
          </a:p>
          <a:p xmlns:a="http://schemas.openxmlformats.org/drawingml/2006/main">
            <a:r>
              <a:t>https://www.rbc.ru/person/66475fec9a79475c4d9443ad</a:t>
            </a:r>
          </a:p>
          <a:p xmlns:a="http://schemas.openxmlformats.org/drawingml/2006/main">
            <a:r>
              <a:t>https://tass.ru/info/12453099</a:t>
            </a:r>
          </a:p>
          <a:p xmlns:a="http://schemas.openxmlformats.org/drawingml/2006/main">
            <a:r>
              <a:t>https://tass.ru/info/9007455</a:t>
            </a:r>
          </a:p>
          <a:p xmlns:a="http://schemas.openxmlformats.org/drawingml/2006/main">
            <a:r>
              <a:t>https://tass.ru/info/20795009</a:t>
            </a:r>
          </a:p>
          <a:p xmlns:a="http://schemas.openxmlformats.org/drawingml/2006/main">
            <a:r>
              <a:t>https://tass.ru/encyclopedia/person/degtyarev-mihail-vladimirovich</a:t>
            </a:r>
          </a:p>
          <a:p xmlns:a="http://schemas.openxmlformats.org/drawingml/2006/main">
            <a:r>
              <a:t>https://www.rbc.ru/politics/20/07/2020/5f1586289a794722b2457d61</a:t>
            </a:r>
          </a:p>
          <a:p xmlns:a="http://schemas.openxmlformats.org/drawingml/2006/main">
            <a:r>
              <a:t>https://www.minsport.gov.ru/press-center/news/intervyu-mihaila-degtyareva-gazete-kommersant/</a:t>
            </a:r>
          </a:p>
          <a:p xmlns:a="http://schemas.openxmlformats.org/drawingml/2006/main">
            <a:r>
              <a:t>https://minsport.gov.ru/press-center/news/mihail-degtyarev-nashe-mesto-za-stolom-a-ne-v-perednej/</a:t>
            </a:r>
          </a:p>
          <a:p xmlns:a="http://schemas.openxmlformats.org/drawingml/2006/main">
            <a:r>
              <a:t>https://news.ru/vlast/degtyarev-prizval-ne-doveryat-evrope-provedenie-sorevnovanij</a:t>
            </a:r>
          </a:p>
          <a:p xmlns:a="http://schemas.openxmlformats.org/drawingml/2006/main">
            <a:r>
              <a:t>https://www.interfax.ru/presscenter/622170</a:t>
            </a:r>
          </a:p>
          <a:p xmlns:a="http://schemas.openxmlformats.org/drawingml/2006/main">
            <a:r>
              <a:t>https://tass.ru/interviews/13152777</a:t>
            </a:r>
          </a:p>
          <a:p xmlns:a="http://schemas.openxmlformats.org/drawingml/2006/main">
            <a:r>
              <a:t>https://www.sports.ru/others/blogs/3302024.html</a:t>
            </a:r>
          </a:p>
          <a:p xmlns:a="http://schemas.openxmlformats.org/drawingml/2006/main">
            <a:r>
              <a:t>https://www.vremyan.ru/news/556863</a:t>
            </a:r>
          </a:p>
          <a:p xmlns:a="http://schemas.openxmlformats.org/drawingml/2006/main">
            <a:r>
              <a:t>https://kprf.ru/personal/levchenko</a:t>
            </a:r>
          </a:p>
          <a:p xmlns:a="http://schemas.openxmlformats.org/drawingml/2006/main">
            <a:r>
              <a:t>https://www.rbc.ru/politics/23/06/2020/5ef0bd949a7947b3cd3dcba6</a:t>
            </a:r>
          </a:p>
          <a:p xmlns:a="http://schemas.openxmlformats.org/drawingml/2006/main">
            <a:r>
              <a:t>https://kprf.ru/party-live/regnews/194838.html</a:t>
            </a:r>
          </a:p>
          <a:p xmlns:a="http://schemas.openxmlformats.org/drawingml/2006/main">
            <a:r>
              <a:t>https://liveangarsk.ru/news/20191214/v-slozhivsheisya</a:t>
            </a:r>
          </a:p>
          <a:p xmlns:a="http://schemas.openxmlformats.org/drawingml/2006/main">
            <a:r>
              <a:t>https://kprf.ru/dep/gosduma/activities/240271.html</a:t>
            </a:r>
          </a:p>
          <a:p xmlns:a="http://schemas.openxmlformats.org/drawingml/2006/main">
            <a:r>
              <a:t>https://kprf.ru/dep/gosduma/activities/241686.html</a:t>
            </a:r>
          </a:p>
          <a:p xmlns:a="http://schemas.openxmlformats.org/drawingml/2006/main">
            <a:r>
              <a:t>https://altairk.ru/new/policy/the_message_of_the_governor</a:t>
            </a:r>
          </a:p>
          <a:p xmlns:a="http://schemas.openxmlformats.org/drawingml/2006/main">
            <a:r>
              <a:t>https://kto-irkutsk.ru/2026/07/20/sergej-levchenko-deyatelnost-i-zayavleniya-i-ix-ocenka/</a:t>
            </a:r>
          </a:p>
          <a:p xmlns:a="http://schemas.openxmlformats.org/drawingml/2006/main">
            <a:r>
              <a:t>https://ru.wikipedia.org/wiki/%D0%9B%D0%B5%D0%B2%D1%87%D0%B5%D0%BD%D0%BA%D0%BE,_%D0%A1%D0%B5%D1%80%D0%B3%D0%B5%D0%B9_%D0%93%D0%B5%D0%BE%D1%80%D0%B3%D0%B8%D0%B5%D0%B2%D0%B8%D1%87</a:t>
            </a:r>
          </a:p>
          <a:p xmlns:a="http://schemas.openxmlformats.org/drawingml/2006/main">
            <a:r>
              <a:t>https://www.newsru.com/dossiers/10330/</a:t>
            </a:r>
          </a:p>
          <a:p xmlns:a="http://schemas.openxmlformats.org/drawingml/2006/main">
            <a:r>
              <a:t>https://www.interfax.ru/russia/714300</a:t>
            </a:r>
          </a:p>
          <a:p xmlns:a="http://schemas.openxmlformats.org/drawingml/2006/main">
            <a:r>
              <a:t>https://www.rbc.ru/politics/14/09/2020/5f5e7dfb9a79477f7753d651</a:t>
            </a:r>
          </a:p>
          <a:p xmlns:a="http://schemas.openxmlformats.org/drawingml/2006/main">
            <a:r>
              <a:t>https://www.rline.tv/podrobnosti/2019-10-06-sergey-levchenko-za-chetyre-goda-sdelano-bolshe-chem-za-predydushchie-15-let/</a:t>
            </a:r>
          </a:p>
          <a:p xmlns:a="http://schemas.openxmlformats.org/drawingml/2006/main">
            <a:r>
              <a:t>https://vs19.ru/verhovny-sovet/deputati/670-konovalov-valentin-olegovich</a:t>
            </a:r>
          </a:p>
          <a:p xmlns:a="http://schemas.openxmlformats.org/drawingml/2006/main">
            <a:r>
              <a:t>https://meduza.io/feature/2018/09/10/etu-vlast-nichego-ne-spaset</a:t>
            </a:r>
          </a:p>
          <a:p xmlns:a="http://schemas.openxmlformats.org/drawingml/2006/main">
            <a:r>
              <a:t>https://kprf.ru/party-live/regnews/188553.html</a:t>
            </a:r>
          </a:p>
          <a:p xmlns:a="http://schemas.openxmlformats.org/drawingml/2006/main">
            <a:r>
              <a:t>https://www.kommersant.ru/doc/4441936</a:t>
            </a:r>
          </a:p>
          <a:p xmlns:a="http://schemas.openxmlformats.org/drawingml/2006/main">
            <a:r>
              <a:t>http://www.youtube.com/watch?v=eO6lUkFCAqM</a:t>
            </a:r>
          </a:p>
          <a:p xmlns:a="http://schemas.openxmlformats.org/drawingml/2006/main">
            <a:r>
              <a:t>https://ru.wikipedia.org/wiki/%D0%92%D1%8B%D0%B1%D0%BE%D1%80%D1%8B_%D0%B3%D0%BB%D0%B0%D0%B2%D1%8B_%D0%A0%D0%B5%D1%81%D0%BF%D1%83%D0%B1%D0%BB%D0%B8%D0%BA%D0%B8_%D0%A5%D0%B0%D0%BA%D0%B0%D1%81%D0%B8%D1%8F_(2018)</a:t>
            </a:r>
          </a:p>
          <a:p xmlns:a="http://schemas.openxmlformats.org/drawingml/2006/main">
            <a:r>
              <a:t>https://ok.ru/group/51615057903766/topic/157744983021718</a:t>
            </a:r>
          </a:p>
          <a:p xmlns:a="http://schemas.openxmlformats.org/drawingml/2006/main">
            <a:r>
              <a:t>https://kprf.ru/party-live/cknews/245343.html</a:t>
            </a:r>
          </a:p>
          <a:p xmlns:a="http://schemas.openxmlformats.org/drawingml/2006/main">
            <a:r>
              <a:t>https://r-19.ru/news/politika/190680/</a:t>
            </a:r>
          </a:p>
          <a:p xmlns:a="http://schemas.openxmlformats.org/drawingml/2006/main">
            <a:r>
              <a:t>https://r-19.ru/news/ekonomika/193031/</a:t>
            </a:r>
          </a:p>
          <a:p xmlns:a="http://schemas.openxmlformats.org/drawingml/2006/main">
            <a:r>
              <a:t>https://19rusinfo.ru/ekonomika/118670-otchjot</a:t>
            </a:r>
          </a:p>
          <a:p xmlns:a="http://schemas.openxmlformats.org/drawingml/2006/main">
            <a:r>
              <a:t>https://iditena.ru/candidates/konovalov-valentin-olegovich/</a:t>
            </a:r>
          </a:p>
          <a:p xmlns:a="http://schemas.openxmlformats.org/drawingml/2006/main">
            <a:r>
              <a:t>https://56.kprf.ru/deyatelnost/tpost/gjjjuy1zi1-glava-hakasii-valentin-konovalov-dal-int</a:t>
            </a:r>
          </a:p>
          <a:p xmlns:a="http://schemas.openxmlformats.org/drawingml/2006/main">
            <a:r>
              <a:t>https://meduza.io/feature/2019/05/31/strana-pobedivshego-kommunista</a:t>
            </a:r>
          </a:p>
          <a:p xmlns:a="http://schemas.openxmlformats.org/drawingml/2006/main">
            <a:r>
              <a:t>https://xn--80aac0c2a.xn--p1acf/2026/08/22/vstrecha-s-uchastiem-valentina-konovalova-i-alekseya-kornienko-proshla-v-habarovske</a:t>
            </a:r>
          </a:p>
          <a:p xmlns:a="http://schemas.openxmlformats.org/drawingml/2006/main">
            <a:r>
              <a:t>https://www.vedomosti.ru/politics/characters/2026/07/06/1211370-valentin-konovalov-rossiya-na-moskve-ne-zakanchivaetsya?from=newsline</a:t>
            </a:r>
          </a:p>
          <a:p xmlns:a="http://schemas.openxmlformats.org/drawingml/2006/main">
            <a:r>
              <a:t>https://www.vedomosti.ru/person/1215197-aksenov-sergei</a:t>
            </a:r>
          </a:p>
          <a:p xmlns:a="http://schemas.openxmlformats.org/drawingml/2006/main">
            <a:r>
              <a:t>https://www.rbc.ru/person/65f020599a79475815e702c9</a:t>
            </a:r>
          </a:p>
          <a:p xmlns:a="http://schemas.openxmlformats.org/drawingml/2006/main">
            <a:r>
              <a:t>http://crimea.gov.ru/news/30_03_18_10</a:t>
            </a:r>
          </a:p>
          <a:p xmlns:a="http://schemas.openxmlformats.org/drawingml/2006/main">
            <a:r>
              <a:t>https://www.npr.org/sections/parallels/2018/01/27/581114772/putins-man-in-crimea-we-ve-returned-to-russia-forever</a:t>
            </a:r>
          </a:p>
          <a:p xmlns:a="http://schemas.openxmlformats.org/drawingml/2006/main">
            <a:r>
              <a:t>http://crimea.gov.ru/en/news/26_02_19_6</a:t>
            </a:r>
          </a:p>
          <a:p xmlns:a="http://schemas.openxmlformats.org/drawingml/2006/main">
            <a:r>
              <a:t>https://antifashist.com/item/kto-polomal-infopole-kryma-i-ne-otvechaet-na-voprosy.html</a:t>
            </a:r>
          </a:p>
          <a:p xmlns:a="http://schemas.openxmlformats.org/drawingml/2006/main">
            <a:r>
              <a:t>https://ru.krymr.com/a/news/27913548.html</a:t>
            </a:r>
          </a:p>
          <a:p xmlns:a="http://schemas.openxmlformats.org/drawingml/2006/main">
            <a:r>
              <a:t>https://simfch.ru/2022/03/02/glava-respubliki-krym-sergej-aksyonov-prizval-krymchan-k-informaczionnoj-mobilizaczii-otkrytomu-i-publichnomu-vyrazheniyu-svoej-patrioticheskoj-poziczii/</a:t>
            </a:r>
          </a:p>
          <a:p xmlns:a="http://schemas.openxmlformats.org/drawingml/2006/main">
            <a:r>
              <a:t>https://www.rbc.ru/politics/29/05/2023/64749e389a7947f3de98dff2</a:t>
            </a:r>
          </a:p>
          <a:p xmlns:a="http://schemas.openxmlformats.org/drawingml/2006/main">
            <a:r>
              <a:t>https://ru.krymr.com/a/krym-sergey-aksenov-pvo-prilety-bavovna-bezopasnost-pvo-udar/32631709.html</a:t>
            </a:r>
          </a:p>
          <a:p xmlns:a="http://schemas.openxmlformats.org/drawingml/2006/main">
            <a:r>
              <a:t>https://rostov.rbc.ru/rostov/interview/18/03/2024/65f75c4f9a7947c8b475ab94</a:t>
            </a:r>
          </a:p>
          <a:p xmlns:a="http://schemas.openxmlformats.org/drawingml/2006/main">
            <a:r>
              <a:t>https://www.kommersant.ru/doc/7715230</a:t>
            </a:r>
          </a:p>
          <a:p xmlns:a="http://schemas.openxmlformats.org/drawingml/2006/main">
            <a:r>
              <a:t>https://www.kommersant.ru/doc/5154319</a:t>
            </a:r>
          </a:p>
          <a:p xmlns:a="http://schemas.openxmlformats.org/drawingml/2006/main">
            <a:r>
              <a:t>https://www.rbc.ru/person/660290b19a7947801fe9439b</a:t>
            </a:r>
          </a:p>
          <a:p xmlns:a="http://schemas.openxmlformats.org/drawingml/2006/main">
            <a:r>
              <a:t>https://www.kommersant.ru/doc/3759211</a:t>
            </a:r>
          </a:p>
          <a:p xmlns:a="http://schemas.openxmlformats.org/drawingml/2006/main">
            <a:r>
              <a:t>https://tass.ru/info/6656656</a:t>
            </a:r>
          </a:p>
          <a:p xmlns:a="http://schemas.openxmlformats.org/drawingml/2006/main">
            <a:r>
              <a:t>https://sevastopol.er.ru/pages/otchet-gubernatora-sevastopolya-mihaila-razvozhaeva</a:t>
            </a:r>
          </a:p>
          <a:p xmlns:a="http://schemas.openxmlformats.org/drawingml/2006/main">
            <a:r>
              <a:t>http://special.kremlin.ru/catalog/persons/579/events/76271</a:t>
            </a:r>
          </a:p>
          <a:p xmlns:a="http://schemas.openxmlformats.org/drawingml/2006/main">
            <a:r>
              <a:t>https://sevastopol.su/news/chastnyy-biznes-vlozhil-v-sevastopol-250-mlrd-rubley-za-tri-goda</a:t>
            </a:r>
          </a:p>
          <a:p xmlns:a="http://schemas.openxmlformats.org/drawingml/2006/main">
            <a:r>
              <a:t>https://sevastopol.su/news/v-sevastopole-ocenili-perspektivy-mikhaila-razvozhaeva-na-sleduyuschikh-vyborakh</a:t>
            </a:r>
          </a:p>
          <a:p xmlns:a="http://schemas.openxmlformats.org/drawingml/2006/main">
            <a:r>
              <a:t>https://tass.ru/interviews/10248577</a:t>
            </a:r>
          </a:p>
          <a:p xmlns:a="http://schemas.openxmlformats.org/drawingml/2006/main">
            <a:r>
              <a:t>https://news.ru/russia/u-nas-smelye-plany-gubernator-sevastopolya-razvozzhaev-o-budushem-goroda</a:t>
            </a:r>
          </a:p>
          <a:p xmlns:a="http://schemas.openxmlformats.org/drawingml/2006/main">
            <a:r>
              <a:t>http://kremlin.ru/events/administration/80838</a:t>
            </a:r>
          </a:p>
          <a:p xmlns:a="http://schemas.openxmlformats.org/drawingml/2006/main">
            <a:r>
              <a:t>https://tass.ru/kultura/28214691</a:t>
            </a:r>
          </a:p>
          <a:p xmlns:a="http://schemas.openxmlformats.org/drawingml/2006/main">
            <a:r>
              <a:t>http://kremlin.ru/events/administration/80591</a:t>
            </a:r>
          </a:p>
          <a:p xmlns:a="http://schemas.openxmlformats.org/drawingml/2006/main">
            <a:r>
              <a:t>https://governors.ru/glava-regiona/Belgorodskaya-oblast/Gladkov-Vyacheslav-Vladimirovich</a:t>
            </a:r>
          </a:p>
          <a:p xmlns:a="http://schemas.openxmlformats.org/drawingml/2006/main">
            <a:r>
              <a:t>https://ru.wikipedia.org/wiki/%D0%93%D0%BB%D0%B0%D0%B4%D0%BA%D0%BE%D0%B2,_%D0%92%D1%8F%D1%87%D0%B5%D1%81%D0%BB%D0%B0%D0%B2_%D0%92%D0%BB%D0%B0%D0%B4%D0%B8%D0%BC%D0%B8%D1%80%D0%BE%D0%B2%D0%B8%D1%87</a:t>
            </a:r>
          </a:p>
          <a:p xmlns:a="http://schemas.openxmlformats.org/drawingml/2006/main">
            <a:r>
              <a:t>http://council.gov.ru/structure/persons/1543/</a:t>
            </a:r>
          </a:p>
          <a:p xmlns:a="http://schemas.openxmlformats.org/drawingml/2006/main">
            <a:r>
              <a:t>https://ufa.rbc.ru/person/648345539a794760fd0c17e8</a:t>
            </a:r>
          </a:p>
          <a:p xmlns:a="http://schemas.openxmlformats.org/drawingml/2006/main">
            <a:r>
              <a:t>https://www.kommersant.ru/doc/8571119</a:t>
            </a:r>
          </a:p>
          <a:p xmlns:a="http://schemas.openxmlformats.org/drawingml/2006/main">
            <a:r>
              <a:t>https://www.kommersant.ru/doc/8655079</a:t>
            </a:r>
          </a:p>
          <a:p xmlns:a="http://schemas.openxmlformats.org/drawingml/2006/main">
            <a:r>
              <a:t>https://tass.ru/info/27861241</a:t>
            </a:r>
          </a:p>
          <a:p xmlns:a="http://schemas.openxmlformats.org/drawingml/2006/main">
            <a:r>
              <a:t>https://meduza.io/feature/2023/06/08/emu-by-vse-eto-razgresti</a:t>
            </a:r>
          </a:p>
          <a:p xmlns:a="http://schemas.openxmlformats.org/drawingml/2006/main">
            <a:r>
              <a:t>http://www.kremlin.ru/events/president/transcripts/66288</a:t>
            </a:r>
          </a:p>
          <a:p xmlns:a="http://schemas.openxmlformats.org/drawingml/2006/main">
            <a:r>
              <a:t>https://www.belpressa.ru/politics/vlast/62665.html</a:t>
            </a:r>
          </a:p>
          <a:p xmlns:a="http://schemas.openxmlformats.org/drawingml/2006/main">
            <a:r>
              <a:t>https://www.belpressa.ru/politics/vlast/71368.html</a:t>
            </a:r>
          </a:p>
          <a:p xmlns:a="http://schemas.openxmlformats.org/drawingml/2006/main">
            <a:r>
              <a:t>https://www.belnovosti.ru/politika/gubernator/127077.html</a:t>
            </a:r>
          </a:p>
          <a:p xmlns:a="http://schemas.openxmlformats.org/drawingml/2006/main">
            <a:r>
              <a:t>https://chr.plus.rbc.ru/news/694b9fb67a8aa90f9c2ce17d</a:t>
            </a:r>
          </a:p>
          <a:p xmlns:a="http://schemas.openxmlformats.org/drawingml/2006/main">
            <a:r>
              <a:t>https://www.belpressa.ru/society/bezopasnost/43348.html</a:t>
            </a:r>
          </a:p>
          <a:p xmlns:a="http://schemas.openxmlformats.org/drawingml/2006/main">
            <a:r>
              <a:t>https://www.rbc.ru/politics/07/03/2023/640758bf9a7947f6af99d464</a:t>
            </a:r>
          </a:p>
          <a:p xmlns:a="http://schemas.openxmlformats.org/drawingml/2006/main">
            <a:r>
              <a:t>https://www.rbc.ru/politics/24/05/2023/646d22029a794797c4bac4bf</a:t>
            </a:r>
          </a:p>
          <a:p xmlns:a="http://schemas.openxmlformats.org/drawingml/2006/main">
            <a:r>
              <a:t>https://www.bbc.com/russian/articles/c70dkd0pvrlo</a:t>
            </a:r>
          </a:p>
          <a:p xmlns:a="http://schemas.openxmlformats.org/drawingml/2006/main">
            <a:r>
              <a:t>https://www.go31.ru/news/proisshestviya/kak-nikto-drugoy-ponimaem-chto-takoe-agressiya-so-storony-ukrainy-gladkov-o-proryve-granitsy-v-kursk/</a:t>
            </a:r>
          </a:p>
          <a:p xmlns:a="http://schemas.openxmlformats.org/drawingml/2006/main">
            <a:r>
              <a:t>https://echofm.online/portret-dnya/portret-dnya-vyacheslav-gladkov-gubernator-belgorodskoj-oblasti-prognozy-o-sudbe-kotorogo-raznyatsya-ot-posta-posla-v-abhazii-do-ugolovnogo-dela</a:t>
            </a:r>
          </a:p>
          <a:p xmlns:a="http://schemas.openxmlformats.org/drawingml/2006/main">
            <a:r>
              <a:t>https://www.kommersant.ru/doc/3917861</a:t>
            </a:r>
          </a:p>
          <a:p xmlns:a="http://schemas.openxmlformats.org/drawingml/2006/main">
            <a:r>
              <a:t>https://minstroyrf.gov.ru/press/okolo-40-kontsessionnykh-soglasheniy-v-rossii-deystvuet-v-sfere-zhkkh/</a:t>
            </a:r>
          </a:p>
          <a:p xmlns:a="http://schemas.openxmlformats.org/drawingml/2006/main">
            <a:r>
              <a:t>https://newsroom24.ru/murmansk/news/politics/2026/news_323931/</a:t>
            </a:r>
          </a:p>
          <a:p xmlns:a="http://schemas.openxmlformats.org/drawingml/2006/main">
            <a:r>
              <a:t>https://murmansk.ru/52053</a:t>
            </a:r>
          </a:p>
          <a:p xmlns:a="http://schemas.openxmlformats.org/drawingml/2006/main">
            <a:r>
              <a:t>https://51.ru/text/gorod/2026/01/22/76228112/</a:t>
            </a:r>
          </a:p>
          <a:p xmlns:a="http://schemas.openxmlformats.org/drawingml/2006/main">
            <a:r>
              <a:t>https://www.murman.ru/news/2026/05/02/2334/</a:t>
            </a:r>
          </a:p>
          <a:p xmlns:a="http://schemas.openxmlformats.org/drawingml/2006/main">
            <a:r>
              <a:t>https://murman.ru/news/2026/09/06/2141/</a:t>
            </a:r>
          </a:p>
          <a:p xmlns:a="http://schemas.openxmlformats.org/drawingml/2006/main">
            <a:r>
              <a:t>https://www.murman.ru/news/2026/09/13/2242/</a:t>
            </a:r>
          </a:p>
          <a:p xmlns:a="http://schemas.openxmlformats.org/drawingml/2006/main">
            <a:r>
              <a:t>https://ru.wikipedia.org/wiki/%D0%A7%D0%B8%D0%B1%D0%B8%D1%81,_%D0%90%D0%BD%D0%B4%D1%80%D0%B5%D0%B9_%D0%92%D0%BB%D0%B0%D0%B4%D0%B8%D0%BC%D0%B8%D1%80%D0%BE%D0%B2%D0%B8%D1%87</a:t>
            </a:r>
          </a:p>
          <a:p xmlns:a="http://schemas.openxmlformats.org/drawingml/2006/main">
            <a:r>
              <a:t>https://tass.ru/obschestvo/23491353</a:t>
            </a:r>
          </a:p>
          <a:p xmlns:a="http://schemas.openxmlformats.org/drawingml/2006/main">
            <a:r>
              <a:t>https://www.murman.ru/news/2026/09/03/2243/</a:t>
            </a:r>
          </a:p>
          <a:p xmlns:a="http://schemas.openxmlformats.org/drawingml/2006/main">
            <a:r>
              <a:t>https://msp.citymurmansk.ru/news/2026/09/03/0930/</a:t>
            </a:r>
          </a:p>
          <a:p xmlns:a="http://schemas.openxmlformats.org/drawingml/2006/main">
            <a:r>
              <a:t>http://kremlin.ru/events/president/letters/80916</a:t>
            </a:r>
          </a:p>
          <a:p xmlns:a="http://schemas.openxmlformats.org/drawingml/2006/main">
            <a:r>
              <a:t>https://www.murmansk.kp.ru/daily/277813.4/5300258/</a:t>
            </a:r>
          </a:p>
          <a:p xmlns:a="http://schemas.openxmlformats.org/drawingml/2006/main">
            <a:r>
              <a:t>https://www.fontanka.ru/2021/07/27/70046798/</a:t>
            </a:r>
          </a:p>
          <a:p xmlns:a="http://schemas.openxmlformats.org/drawingml/2006/main">
            <a:r>
              <a:t>https://www.kommersant.ru/doc/4639758</a:t>
            </a:r>
          </a:p>
          <a:p xmlns:a="http://schemas.openxmlformats.org/drawingml/2006/main">
            <a:r>
              <a:t>https://www.bbc.com/russian/news-55614829</a:t>
            </a:r>
          </a:p>
          <a:p xmlns:a="http://schemas.openxmlformats.org/drawingml/2006/main">
            <a:r>
              <a:t>https://newpeople.ru/Deputy/sardana-avksenteva</a:t>
            </a:r>
          </a:p>
          <a:p xmlns:a="http://schemas.openxmlformats.org/drawingml/2006/main">
            <a:r>
              <a:t>https://www.pnp.ru/economics/kontrol-za-koncessionnymi-soglasheniyami-predlozhili-usilit.html</a:t>
            </a:r>
          </a:p>
          <a:p xmlns:a="http://schemas.openxmlformats.org/drawingml/2006/main">
            <a:r>
              <a:t>https://www.ng.ru/politics/2024-12-05/1_9150_right.html</a:t>
            </a:r>
          </a:p>
          <a:p xmlns:a="http://schemas.openxmlformats.org/drawingml/2006/main">
            <a:r>
              <a:t>https://news.ru/society/v-novyh-lyudyah-rasskazali-o-glavnyh-zadachah-partii-pered-vyborami</a:t>
            </a:r>
          </a:p>
          <a:p xmlns:a="http://schemas.openxmlformats.org/drawingml/2006/main">
            <a:r>
              <a:t>https://www.kommersant.ru/doc/8939397</a:t>
            </a:r>
          </a:p>
          <a:p xmlns:a="http://schemas.openxmlformats.org/drawingml/2006/main">
            <a:r>
              <a:t>https://tass.ru/info/5220823</a:t>
            </a:r>
          </a:p>
          <a:p xmlns:a="http://schemas.openxmlformats.org/drawingml/2006/main">
            <a:r>
              <a:t>https://tass.ru/info/15547711</a:t>
            </a:r>
          </a:p>
          <a:p xmlns:a="http://schemas.openxmlformats.org/drawingml/2006/main">
            <a:r>
              <a:t>https://www.bbc.com/russian/features-62661643</a:t>
            </a:r>
          </a:p>
          <a:p xmlns:a="http://schemas.openxmlformats.org/drawingml/2006/main">
            <a:r>
              <a:t>https://www.kommersant.ru/doc/3298219</a:t>
            </a:r>
          </a:p>
          <a:p xmlns:a="http://schemas.openxmlformats.org/drawingml/2006/main">
            <a:r>
              <a:t>https://www.svoboda.org/a/31217129.html</a:t>
            </a:r>
          </a:p>
          <a:p xmlns:a="http://schemas.openxmlformats.org/drawingml/2006/main">
            <a:r>
              <a:t>https://www.interfax.ru/russia/902059</a:t>
            </a:r>
          </a:p>
          <a:p xmlns:a="http://schemas.openxmlformats.org/drawingml/2006/main">
            <a:r>
              <a:t>https://www.bfm.ru/news/525620</a:t>
            </a:r>
          </a:p>
          <a:p xmlns:a="http://schemas.openxmlformats.org/drawingml/2006/main">
            <a:r>
              <a:t>https://novayagazeta.ru/articles/2023/03/16/do-urovnia-myshei-media</a:t>
            </a:r>
          </a:p>
          <a:p xmlns:a="http://schemas.openxmlformats.org/drawingml/2006/main">
            <a:r>
              <a:t>https://tjournal.ru/71076</a:t>
            </a:r>
          </a:p>
          <a:p xmlns:a="http://schemas.openxmlformats.org/drawingml/2006/main">
            <a:r>
              <a:t>https://www.nakanune.ru/articles/111648/</a:t>
            </a:r>
          </a:p>
          <a:p xmlns:a="http://schemas.openxmlformats.org/drawingml/2006/main">
            <a:r>
              <a:t>https://adcmemorial.org/statyi/kolonki/neprotivlenie-rasizmu/</a:t>
            </a:r>
          </a:p>
          <a:p xmlns:a="http://schemas.openxmlformats.org/drawingml/2006/main">
            <a:r>
              <a:t>https://www.svoboda.org/a/royzman-i-drugie-zhiteli-ekaterinburga/31997151.html</a:t>
            </a:r>
          </a:p>
          <a:p xmlns:a="http://schemas.openxmlformats.org/drawingml/2006/main">
            <a:r>
              <a:t>https://www.e1.ru/text/politics/2022/02/24/70466417/</a:t>
            </a:r>
          </a:p>
          <a:p xmlns:a="http://schemas.openxmlformats.org/drawingml/2006/main">
            <a:r>
              <a:t>https://www.dw.com/ru/kommentarij-evgenij-rojzman-i-sila-pravdy/a-62917754</a:t>
            </a:r>
          </a:p>
          <a:p xmlns:a="http://schemas.openxmlformats.org/drawingml/2006/main">
            <a:r>
              <a:t>https://meduza.io/paragraph/2022/08/26/priehali-moskvichi-i-dumali-chto-zdes-duraki-sobralis</a:t>
            </a:r>
          </a:p>
          <a:p xmlns:a="http://schemas.openxmlformats.org/drawingml/2006/main">
            <a:r>
              <a:t>https://znamlit.ru/publication.php?id=7379</a:t>
            </a:r>
          </a:p>
          <a:p xmlns:a="http://schemas.openxmlformats.org/drawingml/2006/main">
            <a:r>
              <a:t>https://tass.ru/interviews/6080499</a:t>
            </a:r>
          </a:p>
          <a:p xmlns:a="http://schemas.openxmlformats.org/drawingml/2006/main">
            <a:r>
              <a:t>https://45.ru/text/politics/2024/09/09/73952072/</a:t>
            </a:r>
          </a:p>
          <a:p xmlns:a="http://schemas.openxmlformats.org/drawingml/2006/main">
            <a:r>
              <a:t>http://special.kremlin.ru/events/president/news/70638</a:t>
            </a:r>
          </a:p>
          <a:p xmlns:a="http://schemas.openxmlformats.org/drawingml/2006/main">
            <a:r>
              <a:t>https://ura.news/news/1053132902</a:t>
            </a:r>
          </a:p>
          <a:p xmlns:a="http://schemas.openxmlformats.org/drawingml/2006/main">
            <a:r>
              <a:t>https://ura.news/articles/1036276564</a:t>
            </a:r>
          </a:p>
          <a:p xmlns:a="http://schemas.openxmlformats.org/drawingml/2006/main">
            <a:r>
              <a:t>https://tass.ru/novosti-regionov/28187431</a:t>
            </a:r>
          </a:p>
          <a:p xmlns:a="http://schemas.openxmlformats.org/drawingml/2006/main">
            <a:r>
              <a:t>https://fedpress.ru/person/1753607</a:t>
            </a:r>
          </a:p>
          <a:p xmlns:a="http://schemas.openxmlformats.org/drawingml/2006/main">
            <a:r>
              <a:t>https://eburg.mk.ru/social/2026/10/14/zhiteley-zauralya-predupredili-o-lozhnykh-videorolikakh-s-gubernatorom.html</a:t>
            </a:r>
          </a:p>
          <a:p xmlns:a="http://schemas.openxmlformats.org/drawingml/2006/main">
            <a:r>
              <a:t>https://regnum.ru/news/3530808</a:t>
            </a:r>
          </a:p>
          <a:p xmlns:a="http://schemas.openxmlformats.org/drawingml/2006/main">
            <a:r>
              <a:t>https://kurganvera.ru/news/vrns/mitropolit-daniil-i-vadim-shumkov-vozglavili-delegatsiyu-kurganskoy-oblasti-na-vsemirnom-russkom-sob/</a:t>
            </a:r>
          </a:p>
          <a:p xmlns:a="http://schemas.openxmlformats.org/drawingml/2006/main">
            <a:r>
              <a:t>https://45.ru/text/politics/2026/06/26/76499700/</a:t>
            </a:r>
          </a:p>
          <a:p xmlns:a="http://schemas.openxmlformats.org/drawingml/2006/main">
            <a:r>
              <a:t>https://niva-kurtamysh.com/news/obshchestvo/vystuplenie-gubernatora-kurganskoy-oblasti-vadima-shumkova</a:t>
            </a:r>
          </a:p>
          <a:p xmlns:a="http://schemas.openxmlformats.org/drawingml/2006/main">
            <a:r>
              <a:t>https://t.me/s/kurganskayaobl?before=42616</a:t>
            </a:r>
          </a:p>
          <a:p xmlns:a="http://schemas.openxmlformats.org/drawingml/2006/main">
            <a:r>
              <a:t>https://www.bbc.com/russian/news-54368577</a:t>
            </a:r>
          </a:p>
          <a:p xmlns:a="http://schemas.openxmlformats.org/drawingml/2006/main">
            <a:r>
              <a:t>https://www.bbc.com/russian/articles/cp0769dp15eo</a:t>
            </a:r>
          </a:p>
          <a:p xmlns:a="http://schemas.openxmlformats.org/drawingml/2006/main">
            <a:r>
              <a:t>https://navalny.com/materials/blogpost-6017</a:t>
            </a:r>
          </a:p>
          <a:p xmlns:a="http://schemas.openxmlformats.org/drawingml/2006/main">
            <a:r>
              <a:t>https://www.bbc.com/russian/news-58563592</a:t>
            </a:r>
          </a:p>
          <a:p xmlns:a="http://schemas.openxmlformats.org/drawingml/2006/main">
            <a:r>
              <a:t>https://navalny.com/materials/blogpost-6544</a:t>
            </a:r>
          </a:p>
          <a:p xmlns:a="http://schemas.openxmlformats.org/drawingml/2006/main">
            <a:r>
              <a:t>https://www.bbc.com/russian/news-58270043</a:t>
            </a:r>
          </a:p>
          <a:p xmlns:a="http://schemas.openxmlformats.org/drawingml/2006/main">
            <a:r>
              <a:t>https://www.bbc.com/russian/articles/cvg3p9l1e5ro</a:t>
            </a:r>
          </a:p>
          <a:p xmlns:a="http://schemas.openxmlformats.org/drawingml/2006/main">
            <a:r>
              <a:t>https://www.bbc.com/russian/features-54435835</a:t>
            </a:r>
          </a:p>
          <a:p xmlns:a="http://schemas.openxmlformats.org/drawingml/2006/main">
            <a:r>
              <a:t>https://2018.navalny.com/platform/7/</a:t>
            </a:r>
          </a:p>
          <a:p xmlns:a="http://schemas.openxmlformats.org/drawingml/2006/main">
            <a:r>
              <a:t>https://2018.navalny.com/platform/3/</a:t>
            </a:r>
          </a:p>
          <a:p xmlns:a="http://schemas.openxmlformats.org/drawingml/2006/main">
            <a:r>
              <a:t>https://2018.navalny.com/platform/10/</a:t>
            </a:r>
          </a:p>
          <a:p xmlns:a="http://schemas.openxmlformats.org/drawingml/2006/main">
            <a:r>
              <a:t>https://2018.navalny.com/platform/9/</a:t>
            </a:r>
          </a:p>
          <a:p xmlns:a="http://schemas.openxmlformats.org/drawingml/2006/main">
            <a:r>
              <a:t>https://navalny.com/editorials/aleksey-navalnyy-protiv-voyny</a:t>
            </a:r>
          </a:p>
          <a:p xmlns:a="http://schemas.openxmlformats.org/drawingml/2006/main">
            <a:r>
              <a:t>https://navalny.com/?p=149</a:t>
            </a:r>
          </a:p>
          <a:p xmlns:a="http://schemas.openxmlformats.org/drawingml/2006/main">
            <a:r>
              <a:t>https://www.interfax.ru/russia/876151</a:t>
            </a:r>
          </a:p>
          <a:p xmlns:a="http://schemas.openxmlformats.org/drawingml/2006/main">
            <a:r>
              <a:t>https://www.dw.com/ru/srok-ne-za-fejk-a-za-politiku-reakcii-v-frg-i-rf-na-prigovor-asinu/a-64049957</a:t>
            </a:r>
          </a:p>
          <a:p xmlns:a="http://schemas.openxmlformats.org/drawingml/2006/main">
            <a:r>
              <a:t>https://www.lemonde.fr/en/international/article/2025/05/27/russian-opposition-figure-ilya-yashin-if-ukraine-is-handed-over-to-putin-it-will-be-a-tragedy-and-the-prologue-to-a-global-confrontation_6741728_4.html</a:t>
            </a:r>
          </a:p>
          <a:p xmlns:a="http://schemas.openxmlformats.org/drawingml/2006/main">
            <a:r>
              <a:t>https://www.bbc.com/russian/articles/crgl69w9472o</a:t>
            </a:r>
          </a:p>
          <a:p xmlns:a="http://schemas.openxmlformats.org/drawingml/2006/main">
            <a:r>
              <a:t>https://www.svoboda.org/a/yashin-court/32165539.html</a:t>
            </a:r>
          </a:p>
          <a:p xmlns:a="http://schemas.openxmlformats.org/drawingml/2006/main">
            <a:r>
              <a:t>https://www.dw.com/ru/ila-asin-putin-predvoditel-sil-mrakobesia/a-69923731</a:t>
            </a:r>
          </a:p>
          <a:p xmlns:a="http://schemas.openxmlformats.org/drawingml/2006/main">
            <a:r>
              <a:t>https://novayagazeta.eu/articles/2025/08/01/my-ne-mozhem-trebovat-no-mozhem-obiasniat</a:t>
            </a:r>
          </a:p>
          <a:p xmlns:a="http://schemas.openxmlformats.org/drawingml/2006/main">
            <a:r>
              <a:t>https://meduza.io/feature/2019/07/20/to-chto-putin-ne-smog-sdelat-za-20-let-sobyanin-sdelal-za-mesyats</a:t>
            </a:r>
          </a:p>
          <a:p xmlns:a="http://schemas.openxmlformats.org/drawingml/2006/main">
            <a:r>
              <a:t>https://novayagazeta.eu/articles/2024/11/18/pochuvstvovat-sebia-ne-odinokimi</a:t>
            </a:r>
          </a:p>
          <a:p xmlns:a="http://schemas.openxmlformats.org/drawingml/2006/main">
            <a:r>
              <a:t>https://www.svoboda.org/a/voyna-putin-i-politzaklyuchennye-iljya-yashin-o-svoih-planah/33177839.html</a:t>
            </a:r>
          </a:p>
          <a:p xmlns:a="http://schemas.openxmlformats.org/drawingml/2006/main">
            <a:r>
              <a:t>https://www.dw.com/ru/asin-sejcas-nevozmozno-obedinit-rossijskuu-oppoziciu-da-i-ne-nuzno/a-70291088</a:t>
            </a:r>
          </a:p>
          <a:p xmlns:a="http://schemas.openxmlformats.org/drawingml/2006/main">
            <a:r>
              <a:t>https://www.dw.com/ru/vladimir-karamurza/t-37465233</a:t>
            </a:r>
          </a:p>
          <a:p xmlns:a="http://schemas.openxmlformats.org/drawingml/2006/main">
            <a:r>
              <a:t>https://ovd.info/persons/kara-murza-vladimir-vladimirovich</a:t>
            </a:r>
          </a:p>
          <a:p xmlns:a="http://schemas.openxmlformats.org/drawingml/2006/main">
            <a:r>
              <a:t>https://ovd.info/2024/08/03/kogo-rossiya-vydala-v-ramkakh-obmena-zaklyuchennymi-s-zapadom-istorii-osvobozhdennykh</a:t>
            </a:r>
          </a:p>
          <a:p xmlns:a="http://schemas.openxmlformats.org/drawingml/2006/main">
            <a:r>
              <a:t>https://www.svoboda.org/a/kara-murza-obmen/33059121.html</a:t>
            </a:r>
          </a:p>
          <a:p xmlns:a="http://schemas.openxmlformats.org/drawingml/2006/main">
            <a:r>
              <a:t>https://novayagazeta.ru/articles/2024/08/16/prezident-baiden-prinial-osvobozhdennogo-v-rezultate-obmena-politzakliuchennogo-vladimira-kara-murzu-s-semei-v-belom-dome-news</a:t>
            </a:r>
          </a:p>
          <a:p xmlns:a="http://schemas.openxmlformats.org/drawingml/2006/main">
            <a:r>
              <a:t>https://genevasummit.org/speech/vladimir-kara-murza-speaks-at-2018-geneva-summit-main-event/</a:t>
            </a:r>
          </a:p>
          <a:p xmlns:a="http://schemas.openxmlformats.org/drawingml/2006/main">
            <a:r>
              <a:t>https://humanrights.ca/event-series/presidents-lecture-series</a:t>
            </a:r>
          </a:p>
          <a:p xmlns:a="http://schemas.openxmlformats.org/drawingml/2006/main">
            <a:r>
              <a:t>https://www.radiofrance.fr/franceinter/podcasts/l-info-de-france-inter/la-democratie-doit-etre-protegee-chaque-minute-de-chaque-jour-declare-l-opposant-russe-vladimir-kara-mourza-8105094</a:t>
            </a:r>
          </a:p>
          <a:p xmlns:a="http://schemas.openxmlformats.org/drawingml/2006/main">
            <a:r>
              <a:t>https://georgetownvoice.com/2025/10/08/dissident-in-residence-vladimir-kara-murza-applies-past-lessons-to-present-day-in-recent-event-discussing-democracy/</a:t>
            </a:r>
          </a:p>
          <a:p xmlns:a="http://schemas.openxmlformats.org/drawingml/2006/main">
            <a:r>
              <a:t>https://www.oscepa.org/en/documents/winter-meetings/2025-vienna/speeches-36/5176-vladimir-kara-murza-address-to-the-osce-pa-winter-meeting-in-vienna-21-february-2025/file</a:t>
            </a:r>
          </a:p>
          <a:p xmlns:a="http://schemas.openxmlformats.org/drawingml/2006/main">
            <a:r>
              <a:t>https://hrf.org/wp-content/uploads/2024/10/VKM-%E2%80%93-Statement-of-Facts-and-Levinson-Analysis.pdf</a:t>
            </a:r>
          </a:p>
          <a:p xmlns:a="http://schemas.openxmlformats.org/drawingml/2006/main">
            <a:r>
              <a:t>https://www.govinfo.gov/content/pkg/CREC-2024-06-11/html/CREC-2024-06-11-pt1-PgH3699.htm</a:t>
            </a:r>
          </a:p>
          <a:p xmlns:a="http://schemas.openxmlformats.org/drawingml/2006/main">
            <a:r>
              <a:t>https://antiwarcommittee.info/en/statement-on-the-persecution-of-vladimir-kara-murza/</a:t>
            </a:r>
          </a:p>
          <a:p xmlns:a="http://schemas.openxmlformats.org/drawingml/2006/main">
            <a:r>
              <a:t>https://www.norway.no/en/missions/osce/norway-and-the-osce/statements/statements-with--norwegian-alignment-2024/joint-statement-on-vladimir-kara-murza/</a:t>
            </a:r>
          </a:p>
          <a:p xmlns:a="http://schemas.openxmlformats.org/drawingml/2006/main">
            <a:r>
              <a:t>https://www.aljazeera.com/news/2025/4/23/kremlin-critic-decried-for-racist-rant-on-minorities-fighting-for-russia</a:t>
            </a:r>
          </a:p>
          <a:p xmlns:a="http://schemas.openxmlformats.org/drawingml/2006/main">
            <a:r>
              <a:t>https://www.rmc.edu/news/former-political-prisoner-vladimir-kara-murza-offers-vision-of-hope-for-russian-democracy/</a:t>
            </a:r>
          </a:p>
          <a:p xmlns:a="http://schemas.openxmlformats.org/drawingml/2006/main">
            <a:r>
              <a:t>https://2018.yavlinsky.ru/campaign/</a:t>
            </a:r>
          </a:p>
          <a:p xmlns:a="http://schemas.openxmlformats.org/drawingml/2006/main">
            <a:r>
              <a:t>http://2018.yavlinsky.ru/programm/</a:t>
            </a:r>
          </a:p>
          <a:p xmlns:a="http://schemas.openxmlformats.org/drawingml/2006/main">
            <a:r>
              <a:t>https://campaign2018.yavlinsky.ru/</a:t>
            </a:r>
          </a:p>
          <a:p xmlns:a="http://schemas.openxmlformats.org/drawingml/2006/main">
            <a:r>
              <a:t>https://www.yavlinsky.ru/position/war/</a:t>
            </a:r>
          </a:p>
          <a:p xmlns:a="http://schemas.openxmlformats.org/drawingml/2006/main">
            <a:r>
              <a:t>https://www.yavlinsky.ru/position/cease-fire/</a:t>
            </a:r>
          </a:p>
          <a:p xmlns:a="http://schemas.openxmlformats.org/drawingml/2006/main">
            <a:r>
              <a:t>https://www.yavlinsky.ru/article_tax/ukraina/</a:t>
            </a:r>
          </a:p>
          <a:p xmlns:a="http://schemas.openxmlformats.org/drawingml/2006/main">
            <a:r>
              <a:t>https://www.yavlinsky.ru/biografiya/</a:t>
            </a:r>
          </a:p>
          <a:p xmlns:a="http://schemas.openxmlformats.org/drawingml/2006/main">
            <a:r>
              <a:t>https://www.yabloko.ru/publikatsii/2018/02/15_0</a:t>
            </a:r>
          </a:p>
          <a:p xmlns:a="http://schemas.openxmlformats.org/drawingml/2006/main">
            <a:r>
              <a:t>https://www.yabloko.ru/publikatsii/2018/06/19</a:t>
            </a:r>
          </a:p>
          <a:p xmlns:a="http://schemas.openxmlformats.org/drawingml/2006/main">
            <a:r>
              <a:t>https://www.yavlinsky.ru/article/eto-referendum/</a:t>
            </a:r>
          </a:p>
          <a:p xmlns:a="http://schemas.openxmlformats.org/drawingml/2006/main">
            <a:r>
              <a:t>https://www.svoboda.org/a/27801792.html</a:t>
            </a:r>
          </a:p>
          <a:p xmlns:a="http://schemas.openxmlformats.org/drawingml/2006/main">
            <a:r>
              <a:t>https://www.svoboda.org/a/29294829.html</a:t>
            </a:r>
          </a:p>
          <a:p xmlns:a="http://schemas.openxmlformats.org/drawingml/2006/main">
            <a:r>
              <a:t>https://www.yavlinsky.ru/article/intervyu-g-yavlinskogo-zhertvy-budut-proryva-net/</a:t>
            </a:r>
          </a:p>
          <a:p xmlns:a="http://schemas.openxmlformats.org/drawingml/2006/main">
            <a:r>
              <a:t>https://www.yavlinsky.ru/article/my-budem-idti-do-kontsa/</a:t>
            </a:r>
          </a:p>
          <a:p xmlns:a="http://schemas.openxmlformats.org/drawingml/2006/main">
            <a:r>
              <a:t>https://www.yavlinsky.ru/article/prezidentskie-vybory-1996-30-let-spustya/</a:t>
            </a:r>
          </a:p>
          <a:p xmlns:a="http://schemas.openxmlformats.org/drawingml/2006/main">
            <a:r>
              <a:t>https://www.forbes.ru/interview/45575-reformatory-prihodyat-k-vlasti-grigorii-yavlinskii</a:t>
            </a:r>
          </a:p>
          <a:p xmlns:a="http://schemas.openxmlformats.org/drawingml/2006/main">
            <a:r>
              <a:t>https://www.bbc.com/russian/articles/cy8ee2wngd8o</a:t>
            </a:r>
          </a:p>
          <a:p xmlns:a="http://schemas.openxmlformats.org/drawingml/2006/main">
            <a:r>
              <a:t>https://www.yabloko.ru/regnews/Pskov/2019/01/21-0</a:t>
            </a:r>
          </a:p>
          <a:p xmlns:a="http://schemas.openxmlformats.org/drawingml/2006/main">
            <a:r>
              <a:t>https://www.yabloko.ru/publikatsii/2019/06/14</a:t>
            </a:r>
          </a:p>
          <a:p xmlns:a="http://schemas.openxmlformats.org/drawingml/2006/main">
            <a:r>
              <a:t>https://zona.media/article/2019/02/27/pskov</a:t>
            </a:r>
          </a:p>
          <a:p xmlns:a="http://schemas.openxmlformats.org/drawingml/2006/main">
            <a:r>
              <a:t>https://spektr.press/ya-otvechayu-za-vse-mnoj-skazannoe-no-ne-otvechayu-za-izvraschenie-skazannogo-lev-shlosberg-o-travle-i-setkah-telegram-kanalov-odnokletochnyh-politikah-reshivshih-pobedit-putina-rukami-u/</a:t>
            </a:r>
          </a:p>
          <a:p xmlns:a="http://schemas.openxmlformats.org/drawingml/2006/main">
            <a:r>
              <a:t>https://www.yabloko.ru/Persons/shlosberg.html</a:t>
            </a:r>
          </a:p>
          <a:p xmlns:a="http://schemas.openxmlformats.org/drawingml/2006/main">
            <a:r>
              <a:t>https://pln-pskov.ru/politics/314872.html</a:t>
            </a:r>
          </a:p>
          <a:p xmlns:a="http://schemas.openxmlformats.org/drawingml/2006/main">
            <a:r>
              <a:t>https://www.yabloko.ru/publikatsii/2022/02/18-0</a:t>
            </a:r>
          </a:p>
          <a:p xmlns:a="http://schemas.openxmlformats.org/drawingml/2006/main">
            <a:r>
              <a:t>https://ru.krymr.com/a/rossiya-putin-voyna-repressii-lev-shlosberg-intervyu/31806389.html</a:t>
            </a:r>
          </a:p>
          <a:p xmlns:a="http://schemas.openxmlformats.org/drawingml/2006/main">
            <a:r>
              <a:t>https://www.currenttime.tv/a/politika-vlastey-chtoby-lyudi-perestali-govorit-o-spetsialnoy-voennoy-operatsii-lev-shlosberg-o-dele-protiv-nego-i-nikolaya-kuzmina/31807396.html</a:t>
            </a:r>
          </a:p>
          <a:p xmlns:a="http://schemas.openxmlformats.org/drawingml/2006/main">
            <a:r>
              <a:t>https://zona.media/article/2026/08/14/schlosberg</a:t>
            </a:r>
          </a:p>
          <a:p xmlns:a="http://schemas.openxmlformats.org/drawingml/2006/main">
            <a:r>
              <a:t>https://www.svoboda.org/a/lishniy-zalozhnik-vot-chto-im-vazhno-arest-lva-shlosberga/33615624.html</a:t>
            </a:r>
          </a:p>
          <a:p xmlns:a="http://schemas.openxmlformats.org/drawingml/2006/main">
            <a:r>
              <a:t>https://novayagazeta.eu/articles/2026/08/17/ostavshiisia</a:t>
            </a:r>
          </a:p>
          <a:p xmlns:a="http://schemas.openxmlformats.org/drawingml/2006/main">
            <a:r>
              <a:t>https://www.yabloko.ru/content/vishnevskii_boris_lazarevich</a:t>
            </a:r>
          </a:p>
          <a:p xmlns:a="http://schemas.openxmlformats.org/drawingml/2006/main">
            <a:r>
              <a:t>https://www.dp.ru/a/2018/06/18/Aktivnaja_storona_konflikt</a:t>
            </a:r>
          </a:p>
          <a:p xmlns:a="http://schemas.openxmlformats.org/drawingml/2006/main">
            <a:r>
              <a:t>https://www.bbc.com/russian/features-58481940</a:t>
            </a:r>
          </a:p>
          <a:p xmlns:a="http://schemas.openxmlformats.org/drawingml/2006/main">
            <a:r>
              <a:t>https://www.dp.ru/a/2023/01/16/Deputat_Peterburga_Vishnev</a:t>
            </a:r>
          </a:p>
          <a:p xmlns:a="http://schemas.openxmlformats.org/drawingml/2006/main">
            <a:r>
              <a:t>https://echofm.online/portret-dnya/portret-dnya-boris-vishnevskij-peterburgskij-politik</a:t>
            </a:r>
          </a:p>
          <a:p xmlns:a="http://schemas.openxmlformats.org/drawingml/2006/main">
            <a:r>
              <a:t>https://spb.yabloko.ru/people/vishnevskij-boris-lazarevich/</a:t>
            </a:r>
          </a:p>
          <a:p xmlns:a="http://schemas.openxmlformats.org/drawingml/2006/main">
            <a:r>
              <a:t>https://www.dp.ru/a/2026/08/26/bitva-nachalas-gde-v-peterburge</a:t>
            </a:r>
          </a:p>
          <a:p xmlns:a="http://schemas.openxmlformats.org/drawingml/2006/main">
            <a:r>
              <a:t>https://www.yabloko.ru/regnews/Spb/2022/02/21</a:t>
            </a:r>
          </a:p>
          <a:p xmlns:a="http://schemas.openxmlformats.org/drawingml/2006/main">
            <a:r>
              <a:t>https://www.yabloko.ru/cat-news/2021/08/06-0</a:t>
            </a:r>
          </a:p>
          <a:p xmlns:a="http://schemas.openxmlformats.org/drawingml/2006/main">
            <a:r>
              <a:t>https://www.rbc.ru/spb_sz/16/01/2023/63c53d9c9a7947d9bef4b853</a:t>
            </a:r>
          </a:p>
          <a:p xmlns:a="http://schemas.openxmlformats.org/drawingml/2006/main">
            <a:r>
              <a:t>https://www.rbc.ru/politics/06/05/2024/6638a8609a79472c01075a2c</a:t>
            </a:r>
          </a:p>
          <a:p xmlns:a="http://schemas.openxmlformats.org/drawingml/2006/main">
            <a:r>
              <a:t>https://www.svoboda.org/a/politika-dmitriya-gudkova-deportirovali-iz-gruzii-v-kiev/31679697.html</a:t>
            </a:r>
          </a:p>
          <a:p xmlns:a="http://schemas.openxmlformats.org/drawingml/2006/main">
            <a:r>
              <a:t>https://ru.krymr.com/a/dmitriy-gudkov-ob-otyezde-iz-rossii/31295079.html</a:t>
            </a:r>
          </a:p>
          <a:p xmlns:a="http://schemas.openxmlformats.org/drawingml/2006/main">
            <a:r>
              <a:t>https://daily.afisha.ru/news/114366-syn-politika-dmitriya-gudkova-pokonchil-s-soboy-v-emigracii/amp/</a:t>
            </a:r>
          </a:p>
          <a:p xmlns:a="http://schemas.openxmlformats.org/drawingml/2006/main">
            <a:r>
              <a:t>https://life.ru/t/dmitriygudkov</a:t>
            </a:r>
          </a:p>
          <a:p xmlns:a="http://schemas.openxmlformats.org/drawingml/2006/main">
            <a:r>
              <a:t>https://uk.wikipedia.org/wiki/%D0%93%D1%83%D0%B4%D0%BA%D0%BE%D0%B2_%D0%94%D0%BC%D0%B8%D1%82%D1%80%D1%96%D0%B9_%D0%93%D0%B5%D0%BD%D0%B0%D0%B4%D1%96%D0%B9%D0%BE%D0%B2%D0%B8%D1%87</a:t>
            </a:r>
          </a:p>
          <a:p xmlns:a="http://schemas.openxmlformats.org/drawingml/2006/main">
            <a:r>
              <a:t>https://mt.gazeta.ru/blog/43692366076/Syin-byivshego-deputata-Gosdumyi-Dmitriya-Gudkova-pokonchil-s-so?utm_referrer=mirtesen.ru</a:t>
            </a:r>
          </a:p>
          <a:p xmlns:a="http://schemas.openxmlformats.org/drawingml/2006/main">
            <a:r>
              <a:t>https://www.bbc.com/russian/news-57381443</a:t>
            </a:r>
          </a:p>
          <a:p xmlns:a="http://schemas.openxmlformats.org/drawingml/2006/main">
            <a:r>
              <a:t>https://www.themoscowtimes.com/2021/06/06/kremlin-critic-dmitry-gudkov-flees-to-ukraine-a74123</a:t>
            </a:r>
          </a:p>
          <a:p xmlns:a="http://schemas.openxmlformats.org/drawingml/2006/main">
            <a:r>
              <a:t>https://www.yabloko.ru/publikatsii/2016/09/15</a:t>
            </a:r>
          </a:p>
          <a:p xmlns:a="http://schemas.openxmlformats.org/drawingml/2006/main">
            <a:r>
              <a:t>https://novayagazeta.ru/articles/2018/03/21/75886-ya-privyk-lyudyam-verit</a:t>
            </a:r>
          </a:p>
          <a:p xmlns:a="http://schemas.openxmlformats.org/drawingml/2006/main">
            <a:r>
              <a:t>https://www.rbc.ru/politics/15/03/2018/5aaa98049a7947d12d63f1e1</a:t>
            </a:r>
          </a:p>
          <a:p xmlns:a="http://schemas.openxmlformats.org/drawingml/2006/main">
            <a:r>
              <a:t>https://rus.team/people/gudkov-dmitrij-gennadevich</a:t>
            </a:r>
          </a:p>
          <a:p xmlns:a="http://schemas.openxmlformats.org/drawingml/2006/main">
            <a:r>
              <a:t>https://www.azattyqasia.org/a/chto-proiskhodit-v-donbasse-/31863310/lbl0lbi299676.html</a:t>
            </a:r>
          </a:p>
          <a:p xmlns:a="http://schemas.openxmlformats.org/drawingml/2006/main">
            <a:r>
              <a:t>https://www.dw.com/ru/dmitrij-gudkov-putin-na-storone-partii-vojny-no-pri-etom-on-trus-21092022/video-63193199</a:t>
            </a:r>
          </a:p>
          <a:p xmlns:a="http://schemas.openxmlformats.org/drawingml/2006/main">
            <a:r>
              <a:t>https://ru.wikinews.org/wiki/%D0%9A%D0%B0%D1%82%D0%B5%D0%B3%D0%BE%D1%80%D0%B8%D1%8F:%D0%93%D0%B5%D0%BD%D0%BD%D0%B0%D0%B4%D0%B8%D0%B9_%D0%93%D1%83%D0%B4%D0%BA%D0%BE%D0%B2</a:t>
            </a:r>
          </a:p>
          <a:p xmlns:a="http://schemas.openxmlformats.org/drawingml/2006/main">
            <a:r>
              <a:t>https://en.wikipedia.org/wiki/Gennady_Gudkov</a:t>
            </a:r>
          </a:p>
          <a:p xmlns:a="http://schemas.openxmlformats.org/drawingml/2006/main">
            <a:r>
              <a:t>https://x.com/gudkov_g</a:t>
            </a:r>
          </a:p>
          <a:p xmlns:a="http://schemas.openxmlformats.org/drawingml/2006/main">
            <a:r>
              <a:t>https://www.dw.com/ru/chto-dmitrij-gudkov-nameren-delat-v-ukraine-i-vernetsja-li-v-rossiju/a-57830619</a:t>
            </a:r>
          </a:p>
          <a:p xmlns:a="http://schemas.openxmlformats.org/drawingml/2006/main">
            <a:r>
              <a:t>https://ru.wikipedia.org/wiki/%D0%93%D1%83%D0%B4%D0%BA%D0%BE%D0%B2,_%D0%93%D0%B5%D0%BD%D0%BD%D0%B0%D0%B4%D0%B8%D0%B9_%D0%92%D0%BB%D0%B0%D0%B4%D0%B8%D0%BC%D0%B8%D1%80%D0%BE%D0%B2%D0%B8%D1%87</a:t>
            </a:r>
          </a:p>
          <a:p xmlns:a="http://schemas.openxmlformats.org/drawingml/2006/main">
            <a:r>
              <a:t>https://ru.wikipedia.org/wiki/%D0%93%D1%83%D0%B4%D0%BA%D0%BE%D0%B2,_%D0%94%D0%BC%D0%B8%D1%82%D1%80%D0%B8%D0%B9_%D0%93%D0%B5%D0%BD%D0%BD%D0%B0%D0%B4%D1%8C%D0%B5%D0%B2%D0%B8%D1%87</a:t>
            </a:r>
          </a:p>
          <a:p xmlns:a="http://schemas.openxmlformats.org/drawingml/2006/main">
            <a:r>
              <a:t>https://utro02.tv/2022/10/31/navstrechu-sezdu-gennadij-gudkov-o-vyborah-obedinenii-oppoziczii-i-razdelenii-vlasti/</a:t>
            </a:r>
          </a:p>
          <a:p xmlns:a="http://schemas.openxmlformats.org/drawingml/2006/main">
            <a:r>
              <a:t>https://www.unian.net/war/rossiyskiy-oppozicioner-gudkov-putin-nachinaet-ponimat-chto-nastupaet-zh-pa-12031263.html</a:t>
            </a:r>
          </a:p>
          <a:p xmlns:a="http://schemas.openxmlformats.org/drawingml/2006/main">
            <a:r>
              <a:t>https://bntnews.bg/genadiy-gudkov-86846tag.html</a:t>
            </a:r>
          </a:p>
          <a:p xmlns:a="http://schemas.openxmlformats.org/drawingml/2006/main">
            <a:r>
              <a:t>https://tass.ru/encyclopedia/person/gudkov-dmitriy-gennadevich</a:t>
            </a:r>
          </a:p>
          <a:p xmlns:a="http://schemas.openxmlformats.org/drawingml/2006/main">
            <a:r>
              <a:t>https://www.kasparov.com/garry-kasparov-on-putin-and-the-virus-of-imperialism-wsj-free-expression-april-11-2022/</a:t>
            </a:r>
          </a:p>
          <a:p xmlns:a="http://schemas.openxmlformats.org/drawingml/2006/main">
            <a:r>
              <a:t>https://www.ilmessaggero.it/en/garry_kasparov_from_chess_champion_to_kremlin_critic-9797261.html</a:t>
            </a:r>
          </a:p>
          <a:p xmlns:a="http://schemas.openxmlformats.org/drawingml/2006/main">
            <a:r>
              <a:t>https://www.kasparov.com/category/russia/</a:t>
            </a:r>
          </a:p>
          <a:p xmlns:a="http://schemas.openxmlformats.org/drawingml/2006/main">
            <a:r>
              <a:t>https://www.kasparov.com/category/politics/</a:t>
            </a:r>
          </a:p>
          <a:p xmlns:a="http://schemas.openxmlformats.org/drawingml/2006/main">
            <a:r>
              <a:t>https://en.wikipedia.org/wiki/Political_views_of_Garry_Kasparov</a:t>
            </a:r>
          </a:p>
          <a:p xmlns:a="http://schemas.openxmlformats.org/drawingml/2006/main">
            <a:r>
              <a:t>https://www.dw.com/ru/kasparov-v-intervu-dw-vse-cto-delal-delaet-i-budet-delat-tramp-pomogaet-putinu/a-79633734</a:t>
            </a:r>
          </a:p>
          <a:p xmlns:a="http://schemas.openxmlformats.org/drawingml/2006/main">
            <a:r>
              <a:t>https://www.kasparov.com/</a:t>
            </a:r>
          </a:p>
          <a:p xmlns:a="http://schemas.openxmlformats.org/drawingml/2006/main">
            <a:r>
              <a:t>https://www.kasparov.com/a-conversation-with-garry-kasparov-thought-economics-with-vikas-shas-may-21-2017/</a:t>
            </a:r>
          </a:p>
          <a:p xmlns:a="http://schemas.openxmlformats.org/drawingml/2006/main">
            <a:r>
              <a:t>https://www.kasparov.com/new-yorker-interview-the-chess-grandmaster-and-political-activist-on-putin-trump-and-how-we-are-living-again-through-the-eighteen-fifties/</a:t>
            </a:r>
          </a:p>
          <a:p xmlns:a="http://schemas.openxmlformats.org/drawingml/2006/main">
            <a:r>
              <a:t>https://www.cnbc.com/2017/02/13/the-full-interview-with-former-world-chess-champion-garry-kasparov-on-trump-putin.html</a:t>
            </a:r>
          </a:p>
          <a:p xmlns:a="http://schemas.openxmlformats.org/drawingml/2006/main">
            <a:r>
              <a:t>https://www.reuters.com/world/europe/kasparov-calls-world-powers-throw-russia-back-into-stone-age-2022-03-03/</a:t>
            </a:r>
          </a:p>
          <a:p xmlns:a="http://schemas.openxmlformats.org/drawingml/2006/main">
            <a:r>
              <a:t>https://khodorkovsky.com/open-russia-manifesto/</a:t>
            </a:r>
          </a:p>
          <a:p xmlns:a="http://schemas.openxmlformats.org/drawingml/2006/main">
            <a:r>
              <a:t>https://khodorkovsky.com/programmes/initiatives/openrussia/</a:t>
            </a:r>
          </a:p>
          <a:p xmlns:a="http://schemas.openxmlformats.org/drawingml/2006/main">
            <a:r>
              <a:t>https://khodorkovsky.com/page/65/?m</a:t>
            </a:r>
          </a:p>
          <a:p xmlns:a="http://schemas.openxmlformats.org/drawingml/2006/main">
            <a:r>
              <a:t>https://khodorkovsky.com/page/80/?m</a:t>
            </a:r>
          </a:p>
          <a:p xmlns:a="http://schemas.openxmlformats.org/drawingml/2006/main">
            <a:r>
              <a:t>https://angliya.com/publication/mihail-hodorkovskiy-ne-priznayu-razdelenie-lyudey-na-osnovanii-politicheskih-vzglyadov/</a:t>
            </a:r>
          </a:p>
          <a:p xmlns:a="http://schemas.openxmlformats.org/drawingml/2006/main">
            <a:r>
              <a:t>https://www.dw.com/ru/mihail-hodorkovski-bojus-jeta-vojna-ne-budet-poslednej/a-61314556</a:t>
            </a:r>
          </a:p>
          <a:p xmlns:a="http://schemas.openxmlformats.org/drawingml/2006/main">
            <a:r>
              <a:t>https://ru.euronews.com/2022/06/21/ru-khodorkovsky-interview</a:t>
            </a:r>
          </a:p>
          <a:p xmlns:a="http://schemas.openxmlformats.org/drawingml/2006/main">
            <a:r>
              <a:t>https://ru.euronews.com/2022/06/23/mikhail-khodorkovsky</a:t>
            </a:r>
          </a:p>
          <a:p xmlns:a="http://schemas.openxmlformats.org/drawingml/2006/main">
            <a:r>
              <a:t>https://poligonmedia.io/mihail-hodorkovskij-putin-ne-pobedil/</a:t>
            </a:r>
          </a:p>
          <a:p xmlns:a="http://schemas.openxmlformats.org/drawingml/2006/main">
            <a:r>
              <a:t>https://www.pap.pl/ru/russian/news/khodorkovskiy-u-putina-est-prichiny-vesti-peregovory-o-prekraschenii-voyny-na-ukraine</a:t>
            </a:r>
          </a:p>
          <a:p xmlns:a="http://schemas.openxmlformats.org/drawingml/2006/main">
            <a:r>
              <a:t>https://milov.org/cat/debates</a:t>
            </a:r>
          </a:p>
          <a:p xmlns:a="http://schemas.openxmlformats.org/drawingml/2006/main">
            <a:r>
              <a:t>https://milov.org/entry/4188</a:t>
            </a:r>
          </a:p>
          <a:p xmlns:a="http://schemas.openxmlformats.org/drawingml/2006/main">
            <a:r>
              <a:t>https://milov.org/cat/international</a:t>
            </a:r>
          </a:p>
          <a:p xmlns:a="http://schemas.openxmlformats.org/drawingml/2006/main">
            <a:r>
              <a:t>https://tvrain.tv/teleshow/amerikanskie_gonki/tramp_vynashivaet_ideju_primiritsja_s_putinym-453802/</a:t>
            </a:r>
          </a:p>
          <a:p xmlns:a="http://schemas.openxmlformats.org/drawingml/2006/main">
            <a:r>
              <a:t>https://www.currenttime.tv/a/vladimir-milov-interview/31505887.html</a:t>
            </a:r>
          </a:p>
          <a:p xmlns:a="http://schemas.openxmlformats.org/drawingml/2006/main">
            <a:r>
              <a:t>https://ovd.info/express-news/2021/07/27/roskomnadzor-potreboval-ot-youtube-zablokirovat-kanaly-troikh-soratnikov</a:t>
            </a:r>
          </a:p>
          <a:p xmlns:a="http://schemas.openxmlformats.org/drawingml/2006/main">
            <a:r>
              <a:t>https://www.dw.com/ru/sud-v-moskve-prigovoril-vladimira-milova-k-8-godam-kolonii/a-67415717</a:t>
            </a:r>
          </a:p>
          <a:p xmlns:a="http://schemas.openxmlformats.org/drawingml/2006/main">
            <a:r>
              <a:t>https://ru.wikipedia.org/wiki/%D0%9C%D0%B8%D0%BB%D0%BE%D0%B2,_%D0%92%D0%BB%D0%B0%D0%B4%D0%B8%D0%BC%D0%B8%D1%80_%D0%A1%D1%82%D0%B0%D0%BD%D0%B8%D1%81%D0%BB%D0%B0%D0%B2%D0%BE%D0%B2%D0%B8%D1%87</a:t>
            </a:r>
          </a:p>
          <a:p xmlns:a="http://schemas.openxmlformats.org/drawingml/2006/main">
            <a:r>
              <a:t>https://gordonua.com/news/worldnews/milov-merkel-molodec-poteryala-vsego-7-8-v-polzu-svezhey-antiimmigrantskoy-partii-na-fone-migrantskogo-krizisa-208758.html</a:t>
            </a:r>
          </a:p>
          <a:p xmlns:a="http://schemas.openxmlformats.org/drawingml/2006/main">
            <a:r>
              <a:t>https://echofm.online/programs/hochu-skazat/hochu-skazat-larina-69</a:t>
            </a:r>
          </a:p>
          <a:p xmlns:a="http://schemas.openxmlformats.org/drawingml/2006/main">
            <a:r>
              <a:t>https://www.hoover.org/plus/research/russian-opposition-and-ukraine-conversation-vladimir-milov</a:t>
            </a:r>
          </a:p>
          <a:p xmlns:a="http://schemas.openxmlformats.org/drawingml/2006/main">
            <a:r>
              <a:t>https://www.golosameriki.com/a/washington-dialogue-russian-opposition-conference/7648250.html</a:t>
            </a:r>
          </a:p>
          <a:p xmlns:a="http://schemas.openxmlformats.org/drawingml/2006/main">
            <a:r>
              <a:t>https://glavred.info/chat/1337-vladimir-milov.html</a:t>
            </a:r>
          </a:p>
          <a:p xmlns:a="http://schemas.openxmlformats.org/drawingml/2006/main">
            <a:r>
              <a:t>https://www.interfax.ru/moscow/669378</a:t>
            </a:r>
          </a:p>
          <a:p xmlns:a="http://schemas.openxmlformats.org/drawingml/2006/main">
            <a:r>
              <a:t>https://tass.ru/politika/6670439</a:t>
            </a:r>
          </a:p>
          <a:p xmlns:a="http://schemas.openxmlformats.org/drawingml/2006/main">
            <a:r>
              <a:t>https://www.rbc.ru/politics/16/07/2019/5d2c8b3b9a794799a7c7d413</a:t>
            </a:r>
          </a:p>
          <a:p xmlns:a="http://schemas.openxmlformats.org/drawingml/2006/main">
            <a:r>
              <a:t>https://www.bbc.com/russian/news-56269079</a:t>
            </a:r>
          </a:p>
          <a:p xmlns:a="http://schemas.openxmlformats.org/drawingml/2006/main">
            <a:r>
              <a:t>https://ovd.info/express-news/2020/12/28/s-yurista-fbk-kotoraya-provela-pochti-dvoe-sutok-v-ivs-pytalis-vzyat</a:t>
            </a:r>
          </a:p>
          <a:p xmlns:a="http://schemas.openxmlformats.org/drawingml/2006/main">
            <a:r>
              <a:t>https://ovd.info/express-news/2021/02/26/prokuratura-utverdila-obvinenie-sobol-po-delu-o-proniknovenii-v-kvartiru</a:t>
            </a:r>
          </a:p>
          <a:p xmlns:a="http://schemas.openxmlformats.org/drawingml/2006/main">
            <a:r>
              <a:t>https://ovd.info/express-news/2020/12/29/protiv-alekseya-navalnogo-vozbudili-ugolovnoe-delo-o-moshennichestve-iz-za</a:t>
            </a:r>
          </a:p>
          <a:p xmlns:a="http://schemas.openxmlformats.org/drawingml/2006/main">
            <a:r>
              <a:t>https://www.currenttime.tv/a/sobol/31723600.html</a:t>
            </a:r>
          </a:p>
          <a:p xmlns:a="http://schemas.openxmlformats.org/drawingml/2006/main">
            <a:r>
              <a:t>https://www.currenttime.tv/interview/episodes/2022/2/26</a:t>
            </a:r>
          </a:p>
          <a:p xmlns:a="http://schemas.openxmlformats.org/drawingml/2006/main">
            <a:r>
              <a:t>https://ochevidcy.com/putin-budet-vorovat-do-groba/</a:t>
            </a:r>
          </a:p>
          <a:p xmlns:a="http://schemas.openxmlformats.org/drawingml/2006/main">
            <a:r>
              <a:t>https://www.svoboda.org/a/32881433.html</a:t>
            </a:r>
          </a:p>
          <a:p xmlns:a="http://schemas.openxmlformats.org/drawingml/2006/main">
            <a:r>
              <a:t>https://echofm.online/programs/idyom-po-zvyozdam/idyom-po-zvezdam-s-lyubovyu-sobol</a:t>
            </a:r>
          </a:p>
          <a:p xmlns:a="http://schemas.openxmlformats.org/drawingml/2006/main">
            <a:r>
              <a:t>https://x.com/SobolLubov</a:t>
            </a:r>
          </a:p>
          <a:p xmlns:a="http://schemas.openxmlformats.org/drawingml/2006/main">
            <a:r>
              <a:t>https://stuki-druki.com/authors/sobol-lubov.php</a:t>
            </a:r>
          </a:p>
          <a:p xmlns:a="http://schemas.openxmlformats.org/drawingml/2006/main">
            <a:r>
              <a:t>https://www.interfax.ru/elections2018/593143</a:t>
            </a:r>
          </a:p>
          <a:p xmlns:a="http://schemas.openxmlformats.org/drawingml/2006/main">
            <a:r>
              <a:t>https://elections2018.tass.ru/candidate/sobchak</a:t>
            </a:r>
          </a:p>
          <a:p xmlns:a="http://schemas.openxmlformats.org/drawingml/2006/main">
            <a:r>
              <a:t>https://www.interfax.ru/elections2018/604186</a:t>
            </a:r>
          </a:p>
          <a:p xmlns:a="http://schemas.openxmlformats.org/drawingml/2006/main">
            <a:r>
              <a:t>https://www.interfax.ru/elections2018/604908</a:t>
            </a:r>
          </a:p>
          <a:p xmlns:a="http://schemas.openxmlformats.org/drawingml/2006/main">
            <a:r>
              <a:t>https://www.consultant.ru/law/hotdocs/53066.html</a:t>
            </a:r>
          </a:p>
          <a:p xmlns:a="http://schemas.openxmlformats.org/drawingml/2006/main">
            <a:r>
              <a:t>https://www.rbc.ru/newspaper/2018/03/20/5aae9ca49a794739b02918a0</a:t>
            </a:r>
          </a:p>
          <a:p xmlns:a="http://schemas.openxmlformats.org/drawingml/2006/main">
            <a:r>
              <a:t>https://www.interfax.ru/elections2018/604136</a:t>
            </a:r>
          </a:p>
          <a:p xmlns:a="http://schemas.openxmlformats.org/drawingml/2006/main">
            <a:r>
              <a:t>https://www.interfax.ru/elections2018/604190</a:t>
            </a:r>
          </a:p>
          <a:p xmlns:a="http://schemas.openxmlformats.org/drawingml/2006/main">
            <a:r>
              <a:t>https://www.rbc.ru/economics/25/12/2017/5a4025f19a79472e3f5f4ad9?from=right_column_materials_3</a:t>
            </a:r>
          </a:p>
          <a:p xmlns:a="http://schemas.openxmlformats.org/drawingml/2006/main">
            <a:r>
              <a:t>https://news.ru/show-business/otezd-iz-rf-vybory-svo-v-chem-priznalas-kseniya-sobchak-v-novom-intervyu</a:t>
            </a:r>
          </a:p>
          <a:p xmlns:a="http://schemas.openxmlformats.org/drawingml/2006/main">
            <a:r>
              <a:t>https://rtvi.com/news/sobchak-otvetila-na-vopros-putin-ili-zelenskij/</a:t>
            </a:r>
          </a:p>
          <a:p xmlns:a="http://schemas.openxmlformats.org/drawingml/2006/main">
            <a:r>
              <a:t>https://informator.ua/ru/kompromissy-iz-rf-legitimnost-zelenskogo-i-gotovnost-pozhat-ruku-putinu-o-chem-govoril-arestovich-v-intervyu-sobchak</a:t>
            </a:r>
          </a:p>
          <a:p xmlns:a="http://schemas.openxmlformats.org/drawingml/2006/main">
            <a:r>
              <a:t>https://rassvet-party.info/</a:t>
            </a:r>
          </a:p>
          <a:p xmlns:a="http://schemas.openxmlformats.org/drawingml/2006/main">
            <a:r>
              <a:t>https://en.wikipedia.org/wiki/Yekaterina_Duntsova</a:t>
            </a:r>
          </a:p>
          <a:p xmlns:a="http://schemas.openxmlformats.org/drawingml/2006/main">
            <a:r>
              <a:t>https://www.dw.com/ru/cto-nuzno-znat-o-ekaterine-duncovoj-kotoraa-hocet-stat-prezidentom-rf/a-67832425</a:t>
            </a:r>
          </a:p>
          <a:p xmlns:a="http://schemas.openxmlformats.org/drawingml/2006/main">
            <a:r>
              <a:t>https://baj.media/ru/ya-gotova-idti-do-konca-zhurnalistka-iz-rossiyskoy-provincii-reshila-stat-prezidentom-i-2/</a:t>
            </a:r>
          </a:p>
          <a:p xmlns:a="http://schemas.openxmlformats.org/drawingml/2006/main">
            <a:r>
              <a:t>https://echofm.online/portret-dnya/portret-dnya-ekaterina-dunczova-reshivshaya-vydvinutsya-kandidatom-v-prezidenty-rossii-zhurnalistka-iz-rzheva</a:t>
            </a:r>
          </a:p>
          <a:p xmlns:a="http://schemas.openxmlformats.org/drawingml/2006/main">
            <a:r>
              <a:t>https://novayagazeta.eu/articles/2024/03/15/zlost-i-nenavist-vsem-nadoeli</a:t>
            </a:r>
          </a:p>
          <a:p xmlns:a="http://schemas.openxmlformats.org/drawingml/2006/main">
            <a:r>
              <a:t>https://altapress.ru/politika/story/kto-takaya-ekaterina-duntsova-kotoraya-sobiraetsya-stat-poslednim-prezidentom-rossii-i-kto-eshche-hochet-ballotirovatsya-336526</a:t>
            </a:r>
          </a:p>
          <a:p xmlns:a="http://schemas.openxmlformats.org/drawingml/2006/main">
            <a:r>
              <a:t>https://cherta.media/interview/ekaterina-duncova-kandidat-v-prezidenty/</a:t>
            </a:r>
          </a:p>
          <a:p xmlns:a="http://schemas.openxmlformats.org/drawingml/2006/main">
            <a:r>
              <a:t>https://novayagazeta.eu/articles/2023/12/05/zachem-ia-budu-stoiat-na-barrikadakh-esli-mogu-zanimatsia-realnymi-delami</a:t>
            </a:r>
          </a:p>
          <a:p xmlns:a="http://schemas.openxmlformats.org/drawingml/2006/main">
            <a:r>
              <a:t>https://holod.media/2023/12/20/ekaterina-duntsova-view/</a:t>
            </a:r>
          </a:p>
          <a:p xmlns:a="http://schemas.openxmlformats.org/drawingml/2006/main">
            <a:r>
              <a:t>https://www.dw.com/ru/ekaterina-duncova-o-sozdanii-partii-rassvet-my-mezdu-dvuh-ognej/a-68992724</a:t>
            </a:r>
          </a:p>
          <a:p xmlns:a="http://schemas.openxmlformats.org/drawingml/2006/main">
            <a:r>
              <a:t>https://rassvet-party.info/static/program.pdf</a:t>
            </a:r>
          </a:p>
          <a:p xmlns:a="http://schemas.openxmlformats.org/drawingml/2006/main">
            <a:r>
              <a:t>https://www.currenttime.tv/a/ekaterina-duntsova-o-sozdanii-partii-i-svoem-zaderzhanii/32775510.html</a:t>
            </a:r>
          </a:p>
          <a:p xmlns:a="http://schemas.openxmlformats.org/drawingml/2006/main">
            <a:r>
              <a:t>https://duntsovainitiative.1c-umi.ru/galereya/</a:t>
            </a:r>
          </a:p>
          <a:p xmlns:a="http://schemas.openxmlformats.org/drawingml/2006/main">
            <a:r>
              <a:t>https://rassvet-party.info/static/manifest.pdf</a:t>
            </a:r>
          </a:p>
          <a:p xmlns:a="http://schemas.openxmlformats.org/drawingml/2006/main">
            <a:r>
              <a:t>https://www.rbc.ru/person/65afb4a99a79470e434da73d</a:t>
            </a:r>
          </a:p>
          <a:p xmlns:a="http://schemas.openxmlformats.org/drawingml/2006/main">
            <a:r>
              <a:t>https://www.bbc.com/russian/articles/c84npr0wxx9o</a:t>
            </a:r>
          </a:p>
          <a:p xmlns:a="http://schemas.openxmlformats.org/drawingml/2006/main">
            <a:r>
              <a:t>https://www.rbc.ru/politics/08/02/2024/65c3749b9a79479ef5fe7934</a:t>
            </a:r>
          </a:p>
          <a:p xmlns:a="http://schemas.openxmlformats.org/drawingml/2006/main">
            <a:r>
              <a:t>https://www.business-gazeta.ru/article/622600</a:t>
            </a:r>
          </a:p>
          <a:p xmlns:a="http://schemas.openxmlformats.org/drawingml/2006/main">
            <a:r>
              <a:t>https://semnasem.org/articles/2024/02/02/poslednij-sredi-antivoennyh-kto-takoj-boris-nadezhdin-kotoryj-vse-eshe-nadeetsya-stat-prezidentom</a:t>
            </a:r>
          </a:p>
          <a:p xmlns:a="http://schemas.openxmlformats.org/drawingml/2006/main">
            <a:r>
              <a:t>https://novayagazeta.eu/articles/2024/02/03/17-marta-nachalo-kontsa-epokhi-putina</a:t>
            </a:r>
          </a:p>
          <a:p xmlns:a="http://schemas.openxmlformats.org/drawingml/2006/main">
            <a:r>
              <a:t>https://www.youtube.com/watch?v=mGMdgxBCdns</a:t>
            </a:r>
          </a:p>
          <a:p xmlns:a="http://schemas.openxmlformats.org/drawingml/2006/main">
            <a:r>
              <a:t>https://www.dw.com/ru/boris-nadezdin-moj-rejting-rastet-na-5-v-nedelu/a-68154251</a:t>
            </a:r>
          </a:p>
          <a:p xmlns:a="http://schemas.openxmlformats.org/drawingml/2006/main">
            <a:r>
              <a:t>https://ovd.info/express-news/2026/07/17/u-menya-dva-puti-lenina-ili-navalnogo-chto-nuzhno-znat-o-borise-nadezhdine</a:t>
            </a:r>
          </a:p>
          <a:p xmlns:a="http://schemas.openxmlformats.org/drawingml/2006/main">
            <a:r>
              <a:t>https://www.rbc.ru/person/65afb4a99a79470e434da73d?ysclid=mrt22n99to603501119</a:t>
            </a:r>
          </a:p>
          <a:p xmlns:a="http://schemas.openxmlformats.org/drawingml/2006/main">
            <a:r>
              <a:t>https://www.youtube.com/watch?v=UNytg_H_1pY</a:t>
            </a:r>
          </a:p>
          <a:p xmlns:a="http://schemas.openxmlformats.org/drawingml/2006/main">
            <a:r>
              <a:t>https://www.youtube.com/watch?v=DwTC5bilf_8</a:t>
            </a:r>
          </a:p>
          <a:p xmlns:a="http://schemas.openxmlformats.org/drawingml/2006/main">
            <a:r>
              <a:t>https://www.youtube.com/watch?v=sG4_THnT9W0</a:t>
            </a:r>
          </a:p>
          <a:p xmlns:a="http://schemas.openxmlformats.org/drawingml/2006/main">
            <a:r>
              <a:t>https://www.rbc.ru/rbcfreenews/6586cdf49a79479c3cd3d4b3</a:t>
            </a:r>
          </a:p>
          <a:p xmlns:a="http://schemas.openxmlformats.org/drawingml/2006/main">
            <a:r>
              <a:t>https://kprf.ru/activity/elections/223485.html/print</a:t>
            </a:r>
          </a:p>
          <a:p xmlns:a="http://schemas.openxmlformats.org/drawingml/2006/main">
            <a:r>
              <a:t>http://msk.kprf.ru/2024/01/24/247473/</a:t>
            </a:r>
          </a:p>
          <a:p xmlns:a="http://schemas.openxmlformats.org/drawingml/2006/main">
            <a:r>
              <a:t>https://www.dw.com/ru/vybory-prezidenta-rossii-2024/a-68528003</a:t>
            </a:r>
          </a:p>
          <a:p xmlns:a="http://schemas.openxmlformats.org/drawingml/2006/main">
            <a:r>
              <a:t>https://ru.wikipedia.org/wiki/%D0%A5%D0%B0%D1%80%D0%B8%D1%82%D0%BE%D0%BD%D0%BE%D0%B2,_%D0%9D%D0%B8%D0%BA%D0%BE%D0%BB%D0%B0%D0%B9_%D0%9C%D0%B8%D1%85%D0%B0%D0%B9%D0%BB%D0%BE%D0%B2%D0%B8%D1%87</a:t>
            </a:r>
          </a:p>
          <a:p xmlns:a="http://schemas.openxmlformats.org/drawingml/2006/main">
            <a:r>
              <a:t>https://kprf.ru/party-live/cknews/225170.html</a:t>
            </a:r>
          </a:p>
          <a:p xmlns:a="http://schemas.openxmlformats.org/drawingml/2006/main">
            <a:r>
              <a:t>https://kprf.ru/dep/gosduma/activities/232802.html</a:t>
            </a:r>
          </a:p>
          <a:p xmlns:a="http://schemas.openxmlformats.org/drawingml/2006/main">
            <a:r>
              <a:t>https://kprf35.com/2024/02/17/32710/</a:t>
            </a:r>
          </a:p>
          <a:p xmlns:a="http://schemas.openxmlformats.org/drawingml/2006/main">
            <a:r>
              <a:t>https://www.pkokprf.ru/news/view/35448</a:t>
            </a:r>
          </a:p>
          <a:p xmlns:a="http://schemas.openxmlformats.org/drawingml/2006/main">
            <a:r>
              <a:t>https://altkprf.ru/upload/iblock/eea/jiv0wm7hzk6gq4qdxw0r5wvp7zwb6luk.pdf</a:t>
            </a:r>
          </a:p>
          <a:p xmlns:a="http://schemas.openxmlformats.org/drawingml/2006/main">
            <a:r>
              <a:t>https://kprf.ru/activity/army/224789.html</a:t>
            </a:r>
          </a:p>
          <a:p xmlns:a="http://schemas.openxmlformats.org/drawingml/2006/main">
            <a:r>
              <a:t>https://gazeta-pravda.ru/issue/24-31517-711-marta-2024-goda-/alternativa-polupravde/</a:t>
            </a:r>
          </a:p>
          <a:p xmlns:a="http://schemas.openxmlformats.org/drawingml/2006/main">
            <a:r>
              <a:t>https://spbpalata.ru/?p=13755</a:t>
            </a:r>
          </a:p>
          <a:p xmlns:a="http://schemas.openxmlformats.org/drawingml/2006/main">
            <a:r>
              <a:t>https://kprf.ru/activity/elections/171941.html</a:t>
            </a:r>
          </a:p>
          <a:p xmlns:a="http://schemas.openxmlformats.org/drawingml/2006/main">
            <a:r>
              <a:t>https://kprf.ru/party-live/cknews/171994.html</a:t>
            </a:r>
          </a:p>
          <a:p xmlns:a="http://schemas.openxmlformats.org/drawingml/2006/main">
            <a:r>
              <a:t>https://elections2018.tass.ru/candidate/grudinin</a:t>
            </a:r>
          </a:p>
          <a:p xmlns:a="http://schemas.openxmlformats.org/drawingml/2006/main">
            <a:r>
              <a:t>https://www.bbc.com/russian/features-43105617</a:t>
            </a:r>
          </a:p>
          <a:p xmlns:a="http://schemas.openxmlformats.org/drawingml/2006/main">
            <a:r>
              <a:t>https://www.rbc.ru/politics/24/07/2021/60fbe35b9a794716f25253a0</a:t>
            </a:r>
          </a:p>
          <a:p xmlns:a="http://schemas.openxmlformats.org/drawingml/2006/main">
            <a:r>
              <a:t>https://kprf.ru/dep/reg/204410.html</a:t>
            </a:r>
          </a:p>
          <a:p xmlns:a="http://schemas.openxmlformats.org/drawingml/2006/main">
            <a:r>
              <a:t>https://msk.kprf.ru/2021/09/16/168273/</a:t>
            </a:r>
          </a:p>
          <a:p xmlns:a="http://schemas.openxmlformats.org/drawingml/2006/main">
            <a:r>
              <a:t>https://svpressa.ru/persons/pavel-grudinin/</a:t>
            </a:r>
          </a:p>
          <a:p xmlns:a="http://schemas.openxmlformats.org/drawingml/2006/main">
            <a:r>
              <a:t>https://carnegieendowment.org/ru/russia-eurasia/posts/2018/02/kuda-privedut-ekonomiku-rossii-20-shagov-grudinina</a:t>
            </a:r>
          </a:p>
          <a:p xmlns:a="http://schemas.openxmlformats.org/drawingml/2006/main">
            <a:r>
              <a:t>https://www.kompas-rf.ru/2018/01/2980/</a:t>
            </a:r>
          </a:p>
          <a:p xmlns:a="http://schemas.openxmlformats.org/drawingml/2006/main">
            <a:r>
              <a:t>https://www.svoboda.org/a/30073365.html</a:t>
            </a:r>
          </a:p>
          <a:p xmlns:a="http://schemas.openxmlformats.org/drawingml/2006/main">
            <a:r>
              <a:t>https://kandidativprezidenti.ru/programma-grudinina-2018/</a:t>
            </a:r>
          </a:p>
          <a:p xmlns:a="http://schemas.openxmlformats.org/drawingml/2006/main">
            <a:r>
              <a:t>https://mbk-news.appspot.com/suzhet/za-lenina-i-protiv-ege/</a:t>
            </a:r>
          </a:p>
          <a:p xmlns:a="http://schemas.openxmlformats.org/drawingml/2006/main">
            <a:r>
              <a:t>https://www.amnesty.org/ru/latest/research/2021/06/zayavlenie-rossijskaya-federacziya-obvinitelnyj-prigovor-nikolayu-platoshkinu-dolzhen-byt-otmenyon/</a:t>
            </a:r>
          </a:p>
          <a:p xmlns:a="http://schemas.openxmlformats.org/drawingml/2006/main">
            <a:r>
              <a:t>https://zona.media/article/2021/05/20/nikolay-nikolaevitch</a:t>
            </a:r>
          </a:p>
          <a:p xmlns:a="http://schemas.openxmlformats.org/drawingml/2006/main">
            <a:r>
              <a:t>https://novayagazeta.ru/articles/2020/06/05/85705-sotsialisticheskiy-prizyv</a:t>
            </a:r>
          </a:p>
          <a:p xmlns:a="http://schemas.openxmlformats.org/drawingml/2006/main">
            <a:r>
              <a:t>https://www.revda-info.ru/2020/08/26/v-revde-poyavilos-otdelenie-dvizheniya-za-novyj-sotsializm-ego-lider-sejchas-pod-arestom</a:t>
            </a:r>
          </a:p>
          <a:p xmlns:a="http://schemas.openxmlformats.org/drawingml/2006/main">
            <a:r>
              <a:t>https://new-socialism.org/o-dvizhenii/programma/</a:t>
            </a:r>
          </a:p>
          <a:p xmlns:a="http://schemas.openxmlformats.org/drawingml/2006/main">
            <a:r>
              <a:t>https://new-socialism.org/o-dvizhenii/lider/</a:t>
            </a:r>
          </a:p>
          <a:p xmlns:a="http://schemas.openxmlformats.org/drawingml/2006/main">
            <a:r>
              <a:t>https://www.themoscowtimes.com/2024/01/19/ilya-ponomaryov-we-have-to-capture-the-kremlin-there-is-no-other-way-a83772</a:t>
            </a:r>
          </a:p>
          <a:p xmlns:a="http://schemas.openxmlformats.org/drawingml/2006/main">
            <a:r>
              <a:t>https://www.dw.com/ru/cto-izvestno-o-rossijskih-podrazdeleniah-v-sostave-vsu/a-63915634</a:t>
            </a:r>
          </a:p>
          <a:p xmlns:a="http://schemas.openxmlformats.org/drawingml/2006/main">
            <a:r>
              <a:t>https://www.svoboda.org/a/32321226.html</a:t>
            </a:r>
          </a:p>
          <a:p xmlns:a="http://schemas.openxmlformats.org/drawingml/2006/main">
            <a:r>
              <a:t>https://hromadske.ua/ru/posts/nasha-cel-moskva-my-dolzhny-sbrosit-putina-rossijskie-partizany-mif-ili-pravda</a:t>
            </a:r>
          </a:p>
          <a:p xmlns:a="http://schemas.openxmlformats.org/drawingml/2006/main">
            <a:r>
              <a:t>https://epravda.com.ua/rus/publications/2018/06/11/637572/</a:t>
            </a:r>
          </a:p>
          <a:p xmlns:a="http://schemas.openxmlformats.org/drawingml/2006/main">
            <a:r>
              <a:t>https://pointmedia.io/story/672b355fdc48800406e0f515</a:t>
            </a:r>
          </a:p>
          <a:p xmlns:a="http://schemas.openxmlformats.org/drawingml/2006/main">
            <a:r>
              <a:t>https://ru.wikipedia.org/wiki/%D0%9B%D0%B5%D0%B3%D0%B8%D0%BE%D0%BD_%C2%AB%D0%A1%D0%B2%D0%BE%D0%B1%D0%BE%D0%B4%D0%B0_%D0%A0%D0%BE%D1%81%D1%81%D0%B8%D0%B8%C2%BB</a:t>
            </a:r>
          </a:p>
          <a:p xmlns:a="http://schemas.openxmlformats.org/drawingml/2006/main">
            <a:r>
              <a:t>https://ru.wikipedia.org/wiki/%D0%9F%D0%BE%D0%BD%D0%BE%D0%BC%D0%B0%D1%80%D1%91%D0%B2,_%D0%98%D0%BB%D1%8C%D1%8F_%D0%92%D0%BB%D0%B0%D0%B4%D0%B8%D0%BC%D0%B8%D1%80%D0%BE%D0%B2%D0%B8%D1%87</a:t>
            </a:r>
          </a:p>
          <a:p xmlns:a="http://schemas.openxmlformats.org/drawingml/2006/main">
            <a:r>
              <a:t>https://russophob.ru/person/ponomarev_ilya_vladimirovich</a:t>
            </a:r>
          </a:p>
          <a:p xmlns:a="http://schemas.openxmlformats.org/drawingml/2006/main">
            <a:r>
              <a:t>https://www.svoboda.org/a/32063164.html</a:t>
            </a:r>
          </a:p>
          <a:p xmlns:a="http://schemas.openxmlformats.org/drawingml/2006/main">
            <a:r>
              <a:t>https://www.kpbs.org/news/news/international/2023/03/26/a-scrappy-newscast-in-kyiv-aimed-at-russians-counters-putins-propaganda-machine</a:t>
            </a:r>
          </a:p>
          <a:p xmlns:a="http://schemas.openxmlformats.org/drawingml/2006/main">
            <a:r>
              <a:t>https://ovd.info/express-news/2022/10/02/politik-leonid-gozman-uekhal-iz-rossii-posle-dvukh-administrativnykh</a:t>
            </a:r>
          </a:p>
          <a:p xmlns:a="http://schemas.openxmlformats.org/drawingml/2006/main">
            <a:r>
              <a:t>https://ovd.info/express-news/2022/08/30/politika-leonida-gozmana-arestovali-na-15-sutok-iz-za-posta-v-feysbuke</a:t>
            </a:r>
          </a:p>
          <a:p xmlns:a="http://schemas.openxmlformats.org/drawingml/2006/main">
            <a:r>
              <a:t>https://www.rbc.ru/politics/15/07/2022/62d1b3f39a7947299cdeb6a4</a:t>
            </a:r>
          </a:p>
          <a:p xmlns:a="http://schemas.openxmlformats.org/drawingml/2006/main">
            <a:r>
              <a:t>https://novayagazeta.eu/articles/2022/07/15/sk-doprosil-politika-leonida-gozmana-kak-podozrevaemogo-po-delu-o-neuvedomlenii-o-vtorom-grazhdanstve-news</a:t>
            </a:r>
          </a:p>
          <a:p xmlns:a="http://schemas.openxmlformats.org/drawingml/2006/main">
            <a:r>
              <a:t>https://www.rbc.ru/politics/15/02/2024/65cdc9e09a7947a2995026fa</a:t>
            </a:r>
          </a:p>
          <a:p xmlns:a="http://schemas.openxmlformats.org/drawingml/2006/main">
            <a:r>
              <a:t>https://ovd.info/express-news/2025/01/22/leonida-gozmana-i-rovshana-askerova-vnesli-v-reestr-terroristov-i</a:t>
            </a:r>
          </a:p>
          <a:p xmlns:a="http://schemas.openxmlformats.org/drawingml/2006/main">
            <a:r>
              <a:t>https://www.rbc.ru/opinion-authors/gozman</a:t>
            </a:r>
          </a:p>
          <a:p xmlns:a="http://schemas.openxmlformats.org/drawingml/2006/main">
            <a:r>
              <a:t>https://novayagazeta.eu/articles/2022/07/25/ovd-info-v-moskve-zaderzhali-politika-leonida-gozmana-news</a:t>
            </a:r>
          </a:p>
          <a:p xmlns:a="http://schemas.openxmlformats.org/drawingml/2006/main">
            <a:r>
              <a:t>https://gefter.ru/archive/23487</a:t>
            </a:r>
          </a:p>
          <a:p xmlns:a="http://schemas.openxmlformats.org/drawingml/2006/main">
            <a:r>
              <a:t>https://www.svoboda.org/a/31147156.html</a:t>
            </a:r>
          </a:p>
          <a:p xmlns:a="http://schemas.openxmlformats.org/drawingml/2006/main">
            <a:r>
              <a:t>https://uatv.ua/gozman-putin-zagnal-rossiyu-v-ugol-sleduyushhij-shag-repressii/</a:t>
            </a:r>
          </a:p>
          <a:p xmlns:a="http://schemas.openxmlformats.org/drawingml/2006/main">
            <a:r>
              <a:t>https://echofm.online/programs/hochu-skazat/hochu-skazat-odin-protiv-vseh-kak-ne-dat-strahu-pobedit-sebya</a:t>
            </a:r>
          </a:p>
          <a:p xmlns:a="http://schemas.openxmlformats.org/drawingml/2006/main">
            <a:r>
              <a:t>https://www.svoboda.org/a/leonid-gozman-russkih-lyudey-neljzya-mazatj-odnoy-chernoy-kraskoy-/32732625.html</a:t>
            </a:r>
          </a:p>
          <a:p xmlns:a="http://schemas.openxmlformats.org/drawingml/2006/main">
            <a:r>
              <a:t>https://novayagazeta.eu/articles/2022/07/18/prepiatstvovat-prosveshcheniiu-liudei-vlast-budet-pulemiotami</a:t>
            </a:r>
          </a:p>
          <a:p xmlns:a="http://schemas.openxmlformats.org/drawingml/2006/main">
            <a:r>
              <a:t>https://www.svoboda.org/a/29652429.html</a:t>
            </a:r>
          </a:p>
          <a:p xmlns:a="http://schemas.openxmlformats.org/drawingml/2006/main">
            <a:r>
              <a:t>https://novayagazeta.eu/articles/2022/04/26/nesobliudenie-rezhima</a:t>
            </a:r>
          </a:p>
          <a:p xmlns:a="http://schemas.openxmlformats.org/drawingml/2006/main">
            <a:r>
              <a:t>https://novayagazeta.eu/articles/2022/07/21/zapiski-ugolovnika</a:t>
            </a:r>
          </a:p>
          <a:p xmlns:a="http://schemas.openxmlformats.org/drawingml/2006/main">
            <a:r>
              <a:t>https://novayagazeta.ru/authors/2349</a:t>
            </a:r>
          </a:p>
          <a:p xmlns:a="http://schemas.openxmlformats.org/drawingml/2006/main">
            <a:r>
              <a:t>https://www.rbc.ru/politics/10/08/2017/598c8d6d9a79474cff05cbab</a:t>
            </a:r>
          </a:p>
          <a:p xmlns:a="http://schemas.openxmlformats.org/drawingml/2006/main">
            <a:r>
              <a:t>https://www.bbc.com/russian/news-40853405</a:t>
            </a:r>
          </a:p>
          <a:p xmlns:a="http://schemas.openxmlformats.org/drawingml/2006/main">
            <a:r>
              <a:t>https://www.rbc.ru/politics/10/08/2017/598c0a8e9a7947569574ba10?from=right_column_materials_1</a:t>
            </a:r>
          </a:p>
          <a:p xmlns:a="http://schemas.openxmlformats.org/drawingml/2006/main">
            <a:r>
              <a:t>https://www.vedomosti.ru/politics/articles/2017/08/10/728820-udaltsov</a:t>
            </a:r>
          </a:p>
          <a:p xmlns:a="http://schemas.openxmlformats.org/drawingml/2006/main">
            <a:r>
              <a:t>https://www.interfax.ru/elections2018/598382</a:t>
            </a:r>
          </a:p>
          <a:p xmlns:a="http://schemas.openxmlformats.org/drawingml/2006/main">
            <a:r>
              <a:t>https://sotaproject.com/article/sergeia-udaltsova-opiat-pytaiutsia-posadit-khotia-on-vsego-lish-prosit-putina-postroit-sotsializm</a:t>
            </a:r>
          </a:p>
          <a:p xmlns:a="http://schemas.openxmlformats.org/drawingml/2006/main">
            <a:r>
              <a:t>https://www.gazeta.ru/tags/person/sergei_udaltsov.shtml</a:t>
            </a:r>
          </a:p>
          <a:p xmlns:a="http://schemas.openxmlformats.org/drawingml/2006/main">
            <a:r>
              <a:t>https://www.kommersant.ru/doc/8317316</a:t>
            </a:r>
          </a:p>
          <a:p xmlns:a="http://schemas.openxmlformats.org/drawingml/2006/main">
            <a:r>
              <a:t>https://www.kommersant.ru/doc/8972418</a:t>
            </a:r>
          </a:p>
          <a:p xmlns:a="http://schemas.openxmlformats.org/drawingml/2006/main">
            <a:r>
              <a:t>https://holod.media/2023/09/12/udaltsov-interview/</a:t>
            </a:r>
          </a:p>
          <a:p xmlns:a="http://schemas.openxmlformats.org/drawingml/2006/main">
            <a:r>
              <a:t>https://meduza.io/feature/2024/01/11/sergey-udaltsov-zaderzhan-po-obvineniyu-v-opravdanii-terrorizma</a:t>
            </a:r>
          </a:p>
          <a:p xmlns:a="http://schemas.openxmlformats.org/drawingml/2006/main">
            <a:r>
              <a:t>https://ref-book.sova-center.ru/index.php/%D0%94%D1%80%D1%83%D0%B3%D0%B0%D1%8F_%D0%A0%D0%BE%D1%81%D1%81%D0%B8%D1%8F,_%D0%BF%D0%B0%D1%80%D1%82%D0%B8%D1%8F</a:t>
            </a:r>
          </a:p>
          <a:p xmlns:a="http://schemas.openxmlformats.org/drawingml/2006/main">
            <a:r>
              <a:t>https://www.rbc.ru/society/17/03/2020/5e71048d9a79473925ab81a7</a:t>
            </a:r>
          </a:p>
          <a:p xmlns:a="http://schemas.openxmlformats.org/drawingml/2006/main">
            <a:r>
              <a:t>https://rt.rbc.ru/society/18/03/2020/5e71acc49a794773553f824e</a:t>
            </a:r>
          </a:p>
          <a:p xmlns:a="http://schemas.openxmlformats.org/drawingml/2006/main">
            <a:r>
              <a:t>https://www.bostonglobe.com/metro/obituaries/2020/03/18/russian-author-political-activist-eduard-limonov-dies/jnjHywBRjVTTgnlsqI12vN/story.html</a:t>
            </a:r>
          </a:p>
          <a:p xmlns:a="http://schemas.openxmlformats.org/drawingml/2006/main">
            <a:r>
              <a:t>https://nsn.fm/society/poslednee-intervu-pisatelya-i-politika-eduarda-limonova</a:t>
            </a:r>
          </a:p>
          <a:p xmlns:a="http://schemas.openxmlformats.org/drawingml/2006/main">
            <a:r>
              <a:t>http://www.grso.ru/person/limonov-eduard.html</a:t>
            </a:r>
          </a:p>
          <a:p xmlns:a="http://schemas.openxmlformats.org/drawingml/2006/main">
            <a:r>
              <a:t>https://ru.wikipedia.org/wiki/%D0%94%D1%80%D1%83%D0%B3%D0%B0%D1%8F_%D0%A0%D0%BE%D1%81%D1%81%D0%B8%D1%8F_%D0%AD._%D0%92._%D0%9B%D0%B8%D0%BC%D0%BE%D0%BD%D0%BE%D0%B2%D0%B0</a:t>
            </a:r>
          </a:p>
          <a:p xmlns:a="http://schemas.openxmlformats.org/drawingml/2006/main">
            <a:r>
              <a:t>https://novayagazeta.ru/articles/2017/03/12/71752-puteshestvie-natsbolov-k-putinu-i-obratno</a:t>
            </a:r>
          </a:p>
          <a:p xmlns:a="http://schemas.openxmlformats.org/drawingml/2006/main">
            <a:r>
              <a:t>https://mediabrest.by/news/lyudi/umer-eduard-limonov-chem-zapomnilsya-pisatel</a:t>
            </a:r>
          </a:p>
          <a:p xmlns:a="http://schemas.openxmlformats.org/drawingml/2006/main">
            <a:r>
              <a:t>https://www.limonow.de/read/EL_2013-2018_T.html</a:t>
            </a:r>
          </a:p>
          <a:p xmlns:a="http://schemas.openxmlformats.org/drawingml/2006/main">
            <a:r>
              <a:t>https://www.infpol.ru/203662-ot-ubezhdennogo-antisovetchika-do-kolumnista-rt/</a:t>
            </a:r>
          </a:p>
          <a:p xmlns:a="http://schemas.openxmlformats.org/drawingml/2006/main">
            <a:r>
              <a:t>https://www.bbc.com/russian/articles/c2eg90d7gg9o</a:t>
            </a:r>
          </a:p>
          <a:p xmlns:a="http://schemas.openxmlformats.org/drawingml/2006/main">
            <a:r>
              <a:t>https://www.dw.com/ru/mosgorsud-prigovoril-igora-girkina-strelkova-k-4-godam-kolonii/a-68080937</a:t>
            </a:r>
          </a:p>
          <a:p xmlns:a="http://schemas.openxmlformats.org/drawingml/2006/main">
            <a:r>
              <a:t>https://www.fontanka.ru/2023/07/21/72520253</a:t>
            </a:r>
          </a:p>
          <a:p xmlns:a="http://schemas.openxmlformats.org/drawingml/2006/main">
            <a:r>
              <a:t>https://www.svoboda.org/a/strelkov-iz-sizo-opasayusj-amnistii-kak-u-prigozhina-/32722083.html</a:t>
            </a:r>
          </a:p>
          <a:p xmlns:a="http://schemas.openxmlformats.org/drawingml/2006/main">
            <a:r>
              <a:t>https://ru.themoscowtimes.com/2023/12/07/girkin-zayavil-chto-opasaetsya-povtorit-sudbu-prigozhina-a115592</a:t>
            </a:r>
          </a:p>
          <a:p xmlns:a="http://schemas.openxmlformats.org/drawingml/2006/main">
            <a:r>
              <a:t>https://ru.krymr.com/a/boing-mn17-10-let-podozrevayemyye-obvinyayemyye-vinovnyye/33040170.html</a:t>
            </a:r>
          </a:p>
          <a:p xmlns:a="http://schemas.openxmlformats.org/drawingml/2006/main">
            <a:r>
              <a:t>https://charter97.org/ru/news/2023/7/22/556802/</a:t>
            </a:r>
          </a:p>
          <a:p xmlns:a="http://schemas.openxmlformats.org/drawingml/2006/main">
            <a:r>
              <a:t>https://t.me/s/pgubarev?after=622</a:t>
            </a:r>
          </a:p>
          <a:p xmlns:a="http://schemas.openxmlformats.org/drawingml/2006/main">
            <a:r>
              <a:t>https://rabkor.ru/columns/debates/2023/05/23/angry_patriots_of_an_imaginary_country/</a:t>
            </a:r>
          </a:p>
          <a:p xmlns:a="http://schemas.openxmlformats.org/drawingml/2006/main">
            <a:r>
              <a:t>https://www.bbc.com/news/world-60947877</a:t>
            </a:r>
          </a:p>
          <a:p xmlns:a="http://schemas.openxmlformats.org/drawingml/2006/main">
            <a:r>
              <a:t>https://www.reuters.com/world/europe/russian-mercenary-boss-courts-putin-with-ukrainian-battlefield-success-2023-01-13/</a:t>
            </a:r>
          </a:p>
          <a:p xmlns:a="http://schemas.openxmlformats.org/drawingml/2006/main">
            <a:r>
              <a:t>https://www.reuters.com/world/europe/russias-wagner-mercenaries-halt-prisoner-recruitment-campaign-founder-prigozhin-2023-02-09/</a:t>
            </a:r>
          </a:p>
          <a:p xmlns:a="http://schemas.openxmlformats.org/drawingml/2006/main">
            <a:r>
              <a:t>https://www.reuters.com/investigates/special-report/ukraine-crisis-russia-wagner/</a:t>
            </a:r>
          </a:p>
          <a:p xmlns:a="http://schemas.openxmlformats.org/drawingml/2006/main">
            <a:r>
              <a:t>https://www.reuters.com/world/europe/russias-wagner-chief-prigozhin-says-ukraine-counteroffensive-already-under-way-2023-05-03/</a:t>
            </a:r>
          </a:p>
          <a:p xmlns:a="http://schemas.openxmlformats.org/drawingml/2006/main">
            <a:r>
              <a:t>https://www.bbc.com/russian/media-66023357</a:t>
            </a:r>
          </a:p>
          <a:p xmlns:a="http://schemas.openxmlformats.org/drawingml/2006/main">
            <a:r>
              <a:t>https://www.reuters.com/world/europe/russias-prigozhin-his-own-words-mutiny-2023-06-26/</a:t>
            </a:r>
          </a:p>
          <a:p xmlns:a="http://schemas.openxmlformats.org/drawingml/2006/main">
            <a:r>
              <a:t>https://x.com/Reuters/status/1632709213641113601</a:t>
            </a:r>
          </a:p>
          <a:p xmlns:a="http://schemas.openxmlformats.org/drawingml/2006/main">
            <a:r>
              <a:t>https://www.reuters.com/world/europe/russian-mercenary-boss-says-moscows-war-ukraine-based-lies-2023-06-23/</a:t>
            </a:r>
          </a:p>
          <a:p xmlns:a="http://schemas.openxmlformats.org/drawingml/2006/main">
            <a:r>
              <a:t>https://www.rbc.ru/spb_sz/02/10/2026/6abfb91afd4c7ff957d9cbe8</a:t>
            </a:r>
          </a:p>
          <a:p xmlns:a="http://schemas.openxmlformats.org/drawingml/2006/main">
            <a:r>
              <a:t>https://www.zaks.ru/new/person/view/639</a:t>
            </a:r>
          </a:p>
          <a:p xmlns:a="http://schemas.openxmlformats.org/drawingml/2006/main">
            <a:r>
              <a:t>https://www.zaks.ru/new/archive/view/219520</a:t>
            </a:r>
          </a:p>
          <a:p xmlns:a="http://schemas.openxmlformats.org/drawingml/2006/main">
            <a:r>
              <a:t>https://tvspb.ru/news/2016/09/27/novyij-sostav-parlamenta-kto-zajmet-kresla-v-zakonodatelnom-sobranii-vi-sozyiva</a:t>
            </a:r>
          </a:p>
          <a:p xmlns:a="http://schemas.openxmlformats.org/drawingml/2006/main">
            <a:r>
              <a:t>https://tass.ru/politika/20994233</a:t>
            </a:r>
          </a:p>
          <a:p xmlns:a="http://schemas.openxmlformats.org/drawingml/2006/main">
            <a:r>
              <a:t>https://www.zaks.ru/new/archive/view/265712</a:t>
            </a:r>
          </a:p>
          <a:p xmlns:a="http://schemas.openxmlformats.org/drawingml/2006/main">
            <a:r>
              <a:t>https://www.zaks.ru/new/archive/view/269374</a:t>
            </a:r>
          </a:p>
          <a:p xmlns:a="http://schemas.openxmlformats.org/drawingml/2006/main">
            <a:r>
              <a:t>https://www.dp.ru/a/2026/10/02/oksana-dmitrieva-proigrala</a:t>
            </a:r>
          </a:p>
          <a:p xmlns:a="http://schemas.openxmlformats.org/drawingml/2006/main">
            <a:r>
              <a:t>https://ru.wikipedia.org/wiki/%D0%9F%D0%B0%D1%80%D1%82%D0%B8%D1%8F_%D1%80%D0%BE%D1%81%D1%82%D0%B0</a:t>
            </a:r>
          </a:p>
          <a:p xmlns:a="http://schemas.openxmlformats.org/drawingml/2006/main">
            <a:r>
              <a:t>https://dmitrieva.org/category/gosduma/zakonoproekty/</a:t>
            </a:r>
          </a:p>
          <a:p xmlns:a="http://schemas.openxmlformats.org/drawingml/2006/main">
            <a:r>
              <a:t>https://t.me/s/oxdmitrieva?before=1072</a:t>
            </a:r>
          </a:p>
          <a:p xmlns:a="http://schemas.openxmlformats.org/drawingml/2006/main">
            <a:r>
              <a:t>http://api.duma.gov.ru/api/transcriptFull/2023-09-28</a:t>
            </a:r>
          </a:p>
          <a:p xmlns:a="http://schemas.openxmlformats.org/drawingml/2006/main">
            <a:r>
              <a:t>https://www.fontanka.ru/2026/09/04/76623983/</a:t>
            </a:r>
          </a:p>
          <a:p xmlns:a="http://schemas.openxmlformats.org/drawingml/2006/main">
            <a:r>
              <a:t>https://www.vedomosti.ru/politics/articles/2026/03/10/1181644-deputat-semi-sozivov-oksana-dmitrieva-snova-poidet-v-gosdumu</a:t>
            </a:r>
          </a:p>
          <a:p xmlns:a="http://schemas.openxmlformats.org/drawingml/2006/main">
            <a:r>
              <a:t>https://www.kommersant.ru/doc/8497588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{"objects":{"seed":20261015,"perplexity":20.666666666666668,"input_dimensions":2,"n_points":63,"iterations":1000,"initialization":"pca"},"traits":{"seed":20261015,"perplexity":5.333333333333333,"input_dimensions":2,"n_points":17,"iterations":1000,"initialization":"pca"}}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Числа: metadata.json, scores.csv, loadings.csv и утверждённая матрица оценок.</a:t>
            </a:r>
          </a:p>
          <a:p xmlns:a="http://schemas.openxmlformats.org/drawingml/2006/main">
            <a:r>
              <a:t>Изучаемое пространство: Публичный политический образ российских политиков и иных заметных политических акторов, включая деятелей за рубежом, активных хотя бы в части периода. Не рейтинг популярности..</a:t>
            </a:r>
          </a:p>
          <a:p xmlns:a="http://schemas.openxmlformats.org/drawingml/2006/main">
            <a:r>
              <a:t>Оценщик: llm_exploratory.</a:t>
            </a:r>
          </a:p>
          <a:p xmlns:a="http://schemas.openxmlformats.org/drawingml/2006/main">
            <a:r>
              <a:t>Исходные URL:</a:t>
            </a:r>
          </a:p>
          <a:p xmlns:a="http://schemas.openxmlformats.org/drawingml/2006/main">
            <a:r>
              <a:t>https://kremlin.ru/structure/president</a:t>
            </a:r>
          </a:p>
          <a:p xmlns:a="http://schemas.openxmlformats.org/drawingml/2006/main">
            <a:r>
              <a:t>http://www.special.kremlin.ru/events/president/transcripts/67843</a:t>
            </a:r>
          </a:p>
          <a:p xmlns:a="http://schemas.openxmlformats.org/drawingml/2006/main">
            <a:r>
              <a:t>http://en.kremlin.ru/events/president/news/70315</a:t>
            </a:r>
          </a:p>
          <a:p xmlns:a="http://schemas.openxmlformats.org/drawingml/2006/main">
            <a:r>
              <a:t>http://special.kremlin.ru/events/president/transcripts/70565</a:t>
            </a:r>
          </a:p>
          <a:p xmlns:a="http://schemas.openxmlformats.org/drawingml/2006/main">
            <a:r>
              <a:t>http://special.kremlin.ru/events/president/transcripts/72994</a:t>
            </a:r>
          </a:p>
          <a:p xmlns:a="http://schemas.openxmlformats.org/drawingml/2006/main">
            <a:r>
              <a:t>http://kremlin.ru/events/president/news/73585</a:t>
            </a:r>
          </a:p>
          <a:p xmlns:a="http://schemas.openxmlformats.org/drawingml/2006/main">
            <a:r>
              <a:t>http://special.kremlin.ru/events/president/transcripts/75762</a:t>
            </a:r>
          </a:p>
          <a:p xmlns:a="http://schemas.openxmlformats.org/drawingml/2006/main">
            <a:r>
              <a:t>http://www.special.kremlin.ru/events/president/transcripts/76899</a:t>
            </a:r>
          </a:p>
          <a:p xmlns:a="http://schemas.openxmlformats.org/drawingml/2006/main">
            <a:r>
              <a:t>http://special.kremlin.ru/events/president/transcripts/80017</a:t>
            </a:r>
          </a:p>
          <a:p xmlns:a="http://schemas.openxmlformats.org/drawingml/2006/main">
            <a:r>
              <a:t>http://www.special.kremlin.ru/events/president/transcripts/72084</a:t>
            </a:r>
          </a:p>
          <a:p xmlns:a="http://schemas.openxmlformats.org/drawingml/2006/main">
            <a:r>
              <a:t>http://www.special.kremlin.ru/events/president/transcripts/80172</a:t>
            </a:r>
          </a:p>
          <a:p xmlns:a="http://schemas.openxmlformats.org/drawingml/2006/main">
            <a:r>
              <a:t>https://www.diva-portal.org/smash/get/diva2:2035197/FULLTEXT01.pdf</a:t>
            </a:r>
          </a:p>
          <a:p xmlns:a="http://schemas.openxmlformats.org/drawingml/2006/main">
            <a:r>
              <a:t>https://www.reuters.com/world/what-know-about-russias-upcoming-parliamentary-election-2026-09-15/</a:t>
            </a:r>
          </a:p>
          <a:p xmlns:a="http://schemas.openxmlformats.org/drawingml/2006/main">
            <a:r>
              <a:t>https://www.reuters.com/world/europe/how-putin-may-leverage-predictable-outcome-russias-elections-2026-09-18/</a:t>
            </a:r>
          </a:p>
          <a:p xmlns:a="http://schemas.openxmlformats.org/drawingml/2006/main">
            <a:r>
              <a:t>https://ru.wikipedia.org/wiki/Медведев,_Дмитрий_Анатольевич</a:t>
            </a:r>
          </a:p>
          <a:p xmlns:a="http://schemas.openxmlformats.org/drawingml/2006/main">
            <a:r>
              <a:t>https://tass.ru/ekonomika/3941450</a:t>
            </a:r>
          </a:p>
          <a:p xmlns:a="http://schemas.openxmlformats.org/drawingml/2006/main">
            <a:r>
              <a:t>http://archive.government.ru/docs/21653/print/</a:t>
            </a:r>
          </a:p>
          <a:p xmlns:a="http://schemas.openxmlformats.org/drawingml/2006/main">
            <a:r>
              <a:t>https://netfreedom.org.ua/ru/dmytro-anatoliiovych-medvediev-biohrafiia-posady-i-sanktsii/</a:t>
            </a:r>
          </a:p>
          <a:p xmlns:a="http://schemas.openxmlformats.org/drawingml/2006/main">
            <a:r>
              <a:t>https://verstka.media/czeli-svo-kak-kreml-menyal-ih-na-protyazhenii-tryoh-let-vojny</a:t>
            </a:r>
          </a:p>
          <a:p xmlns:a="http://schemas.openxmlformats.org/drawingml/2006/main">
            <a:r>
              <a:t>http://www.scrf.gov.ru/news/allnews/3820/</a:t>
            </a:r>
          </a:p>
          <a:p xmlns:a="http://schemas.openxmlformats.org/drawingml/2006/main">
            <a:r>
              <a:t>http://scrf.gov.ru/news/allnews/3837/</a:t>
            </a:r>
          </a:p>
          <a:p xmlns:a="http://schemas.openxmlformats.org/drawingml/2006/main">
            <a:r>
              <a:t>https://baike.baidu.com/ru/item/%D0%94%D0%BC%D0%B8%D1%82%D1%80%D0%B8%D0%B9%20%D0%90%D0%BD%D0%B0%D1%82%D0%BE%D0%BB%D1%8C%D0%B5%D0%B2%D0%B8%D1%87%20%D0%9C%D0%B5%D0%B4%D0%B2%D0%B5%D0%B4%D0%B5%D0%B2/3254451</a:t>
            </a:r>
          </a:p>
          <a:p xmlns:a="http://schemas.openxmlformats.org/drawingml/2006/main">
            <a:r>
              <a:t>https://tass.ru/politika/5889577</a:t>
            </a:r>
          </a:p>
          <a:p xmlns:a="http://schemas.openxmlformats.org/drawingml/2006/main">
            <a:r>
              <a:t>https://meduza.io/feature/2023/06/26/chto-proizoshlo-s-dmitriem-medvedevym</a:t>
            </a:r>
          </a:p>
          <a:p xmlns:a="http://schemas.openxmlformats.org/drawingml/2006/main">
            <a:r>
              <a:t>https://www.bbc.com/russian/articles/c6evw7d22lv0o</a:t>
            </a:r>
          </a:p>
          <a:p xmlns:a="http://schemas.openxmlformats.org/drawingml/2006/main">
            <a:r>
              <a:t>https://er.ru/activity/news/dmitrij-medvedev-edinaya-rossiya-ne-dopustit-razrusheniya-cennostnyh-osnov-strany</a:t>
            </a:r>
          </a:p>
          <a:p xmlns:a="http://schemas.openxmlformats.org/drawingml/2006/main">
            <a:r>
              <a:t>https://en.wikipedia.org/wiki/Media_freedom_in_Russia</a:t>
            </a:r>
          </a:p>
          <a:p xmlns:a="http://schemas.openxmlformats.org/drawingml/2006/main">
            <a:r>
              <a:t>https://government.ru/gov/persons/151/travel/?area=KHA</a:t>
            </a:r>
          </a:p>
          <a:p xmlns:a="http://schemas.openxmlformats.org/drawingml/2006/main">
            <a:r>
              <a:t>http://government.ru/gov/persons/151/biography/</a:t>
            </a:r>
          </a:p>
          <a:p xmlns:a="http://schemas.openxmlformats.org/drawingml/2006/main">
            <a:r>
              <a:t>https://www.reuters.com/world/europe/who-is-russias-mikhail-mishustin-2024-05-10/</a:t>
            </a:r>
          </a:p>
          <a:p xmlns:a="http://schemas.openxmlformats.org/drawingml/2006/main">
            <a:r>
              <a:t>https://www.kommersant.ru/doc/4220798</a:t>
            </a:r>
          </a:p>
          <a:p xmlns:a="http://schemas.openxmlformats.org/drawingml/2006/main">
            <a:r>
              <a:t>https://www.vedomosti.ru/politics/galleries/2026/03/03/1179718-nalogi-pod-kontrolem</a:t>
            </a:r>
          </a:p>
          <a:p xmlns:a="http://schemas.openxmlformats.org/drawingml/2006/main">
            <a:r>
              <a:t>http://government.ru/gov/persons/151/travel/?page=5</a:t>
            </a:r>
          </a:p>
          <a:p xmlns:a="http://schemas.openxmlformats.org/drawingml/2006/main">
            <a:r>
              <a:t>http://government.ru/news/46476/</a:t>
            </a:r>
          </a:p>
          <a:p xmlns:a="http://schemas.openxmlformats.org/drawingml/2006/main">
            <a:r>
              <a:t>http://government.ru/news/52063/</a:t>
            </a:r>
          </a:p>
          <a:p xmlns:a="http://schemas.openxmlformats.org/drawingml/2006/main">
            <a:r>
              <a:t>http://government.ru/news/52851/</a:t>
            </a:r>
          </a:p>
          <a:p xmlns:a="http://schemas.openxmlformats.org/drawingml/2006/main">
            <a:r>
              <a:t>https://nangs.org/news/society/kabmin-privlek-otdelnye-gosorgany-k-ukrepleniyu-traditsionnykh-tsennostej</a:t>
            </a:r>
          </a:p>
          <a:p xmlns:a="http://schemas.openxmlformats.org/drawingml/2006/main">
            <a:r>
              <a:t>http://government.ru/news/57315/</a:t>
            </a:r>
          </a:p>
          <a:p xmlns:a="http://schemas.openxmlformats.org/drawingml/2006/main">
            <a:r>
              <a:t>https://www.rbc.ru/person/617bf30d9a7947f92ee2d266</a:t>
            </a:r>
          </a:p>
          <a:p xmlns:a="http://schemas.openxmlformats.org/drawingml/2006/main">
            <a:r>
              <a:t>https://mid.ru/ru/press_service/video/view/1848395/</a:t>
            </a:r>
          </a:p>
          <a:p xmlns:a="http://schemas.openxmlformats.org/drawingml/2006/main">
            <a:r>
              <a:t>https://mid.ru/ru/foreign_policy/international_organizations/1932076/</a:t>
            </a:r>
          </a:p>
          <a:p xmlns:a="http://schemas.openxmlformats.org/drawingml/2006/main">
            <a:r>
              <a:t>https://mid.ru/ru/press_service/minister_speeches/1991476/</a:t>
            </a:r>
          </a:p>
          <a:p xmlns:a="http://schemas.openxmlformats.org/drawingml/2006/main">
            <a:r>
              <a:t>https://www.mid.ru/ru/press_service/vizity-ministra/1922112/</a:t>
            </a:r>
          </a:p>
          <a:p xmlns:a="http://schemas.openxmlformats.org/drawingml/2006/main">
            <a:r>
              <a:t>https://www.mid.ru/ru/foreign_policy/news/1927568/</a:t>
            </a:r>
          </a:p>
          <a:p xmlns:a="http://schemas.openxmlformats.org/drawingml/2006/main">
            <a:r>
              <a:t>https://mid.ru/ru/foreign_policy/news/1912973/</a:t>
            </a:r>
          </a:p>
          <a:p xmlns:a="http://schemas.openxmlformats.org/drawingml/2006/main">
            <a:r>
              <a:t>https://www.reuters.com/world/europe/russias-lavrov-says-moscow-committed-us-proposals-peace-rejects-europes-2026-06-15/</a:t>
            </a:r>
          </a:p>
          <a:p xmlns:a="http://schemas.openxmlformats.org/drawingml/2006/main">
            <a:r>
              <a:t>https://www.reuters.com/world/lavrov-says-russia-is-ready-resume-talks-with-ukraine-point-where-they-left-off-2026-06-23/</a:t>
            </a:r>
          </a:p>
          <a:p xmlns:a="http://schemas.openxmlformats.org/drawingml/2006/main">
            <a:r>
              <a:t>https://mid.ru/ru/press_service/video/view/1799184/</a:t>
            </a:r>
          </a:p>
          <a:p xmlns:a="http://schemas.openxmlformats.org/drawingml/2006/main">
            <a:r>
              <a:t>https://en.wikipedia.org/wiki/Sergey_Lavrov</a:t>
            </a:r>
          </a:p>
          <a:p xmlns:a="http://schemas.openxmlformats.org/drawingml/2006/main">
            <a:r>
              <a:t>https://www.garant.ru/products/ipo/prime/doc/70627660/</a:t>
            </a:r>
          </a:p>
          <a:p xmlns:a="http://schemas.openxmlformats.org/drawingml/2006/main">
            <a:r>
              <a:t>https://www.rbc.ru/person/617fc0679a794761d6170b80</a:t>
            </a:r>
          </a:p>
          <a:p xmlns:a="http://schemas.openxmlformats.org/drawingml/2006/main">
            <a:r>
              <a:t>http://www.kremlin.ru/acts/bank/50544</a:t>
            </a:r>
          </a:p>
          <a:p xmlns:a="http://schemas.openxmlformats.org/drawingml/2006/main">
            <a:r>
              <a:t>http://special.kremlin.ru/events/president/news/74019</a:t>
            </a:r>
          </a:p>
          <a:p xmlns:a="http://schemas.openxmlformats.org/drawingml/2006/main">
            <a:r>
              <a:t>https://www.interfax.ru/russia/960081</a:t>
            </a:r>
          </a:p>
          <a:p xmlns:a="http://schemas.openxmlformats.org/drawingml/2006/main">
            <a:r>
              <a:t>https://www.rbc.ru/politics/21/09/2022/632ab17c9a794781413c8582</a:t>
            </a:r>
          </a:p>
          <a:p xmlns:a="http://schemas.openxmlformats.org/drawingml/2006/main">
            <a:r>
              <a:t>https://www.bbc.com/russian/articles/c72p0jq04gjo</a:t>
            </a:r>
          </a:p>
          <a:p xmlns:a="http://schemas.openxmlformats.org/drawingml/2006/main">
            <a:r>
              <a:t>https://meduza.io/feature/2024/05/12/putin-uvolil-shoygu-s-posta-ministra-oborony-i-perevel-v-sovbez</a:t>
            </a:r>
          </a:p>
          <a:p xmlns:a="http://schemas.openxmlformats.org/drawingml/2006/main">
            <a:r>
              <a:t>https://paodkb.org/events/sergey-shoygu-naznachen-sekretarem-soveta-bezopasnosti-rf</a:t>
            </a:r>
          </a:p>
          <a:p xmlns:a="http://schemas.openxmlformats.org/drawingml/2006/main">
            <a:r>
              <a:t>https://base.garant.ru/409005084/</a:t>
            </a:r>
          </a:p>
          <a:p xmlns:a="http://schemas.openxmlformats.org/drawingml/2006/main">
            <a:r>
              <a:t>http://special.kremlin.ru/supplement/6345</a:t>
            </a:r>
          </a:p>
          <a:p xmlns:a="http://schemas.openxmlformats.org/drawingml/2006/main">
            <a:r>
              <a:t>http://en.kremlin.ru/supplement/6345</a:t>
            </a:r>
          </a:p>
          <a:p xmlns:a="http://schemas.openxmlformats.org/drawingml/2006/main">
            <a:r>
              <a:t>https://www.kp.ru/daily/27656.5/5040576/</a:t>
            </a:r>
          </a:p>
          <a:p xmlns:a="http://schemas.openxmlformats.org/drawingml/2006/main">
            <a:r>
              <a:t>https://www.fontanka.ru/2025/06/10/75574928/</a:t>
            </a:r>
          </a:p>
          <a:p xmlns:a="http://schemas.openxmlformats.org/drawingml/2006/main">
            <a:r>
              <a:t>https://tass.ru/politika/25506737</a:t>
            </a:r>
          </a:p>
          <a:p xmlns:a="http://schemas.openxmlformats.org/drawingml/2006/main">
            <a:r>
              <a:t>https://www.rbc.ru/person/6181419c9a7947df128a22f7</a:t>
            </a:r>
          </a:p>
          <a:p xmlns:a="http://schemas.openxmlformats.org/drawingml/2006/main">
            <a:r>
              <a:t>https://www.rbc.ru/economics/31/05/2021/60b3de5d9a7947f2883f7aa0</a:t>
            </a:r>
          </a:p>
          <a:p xmlns:a="http://schemas.openxmlformats.org/drawingml/2006/main">
            <a:r>
              <a:t>https://www.rbc.ru/politics/13/05/2024/6641109a9a7947ab8eebcf7f</a:t>
            </a:r>
          </a:p>
          <a:p xmlns:a="http://schemas.openxmlformats.org/drawingml/2006/main">
            <a:r>
              <a:t>https://www.rbc.ru/business/13/06/2023/6482d3389a79473805ee8978</a:t>
            </a:r>
          </a:p>
          <a:p xmlns:a="http://schemas.openxmlformats.org/drawingml/2006/main">
            <a:r>
              <a:t>https://thebell.io/kuda-vedet-ekonomiku-andrej-belousov-zagadki-dmitriya-medvedeva-i-sposoby-perezhit-sanktsii</a:t>
            </a:r>
          </a:p>
          <a:p xmlns:a="http://schemas.openxmlformats.org/drawingml/2006/main">
            <a:r>
              <a:t>https://72.ru/text/politics/2024/05/14/73575386/</a:t>
            </a:r>
          </a:p>
          <a:p xmlns:a="http://schemas.openxmlformats.org/drawingml/2006/main">
            <a:r>
              <a:t>https://tass.ru/armiya-i-opk/22683223</a:t>
            </a:r>
          </a:p>
          <a:p xmlns:a="http://schemas.openxmlformats.org/drawingml/2006/main">
            <a:r>
              <a:t>https://www.rbc.ru/society/12/12/2017/5a2f9b5a9a79473649fe0042</a:t>
            </a:r>
          </a:p>
          <a:p xmlns:a="http://schemas.openxmlformats.org/drawingml/2006/main">
            <a:r>
              <a:t>https://www.istorex.org/post/russia-december-2024-february-2025</a:t>
            </a:r>
          </a:p>
          <a:p xmlns:a="http://schemas.openxmlformats.org/drawingml/2006/main">
            <a:r>
              <a:t>https://rosinform.ru/news/andrej-belousov-osoboe-znachenie-pridayom-obespecheniyu-voennoj-bezopasnosti-soyuznogo-gosudarstva</a:t>
            </a:r>
          </a:p>
          <a:p xmlns:a="http://schemas.openxmlformats.org/drawingml/2006/main">
            <a:r>
              <a:t>https://xn--b1apnk.xn--p1ai/tpost/nsk7vo4xh1-vstrecha-s-ministrom-oboroni-rossii-i-os</a:t>
            </a:r>
          </a:p>
          <a:p xmlns:a="http://schemas.openxmlformats.org/drawingml/2006/main">
            <a:r>
              <a:t>https://www.rbc.ru/person/62d120d89a79475f0ddd8b5e</a:t>
            </a:r>
          </a:p>
          <a:p xmlns:a="http://schemas.openxmlformats.org/drawingml/2006/main">
            <a:r>
              <a:t>http://scrf.gov.ru/news/allnews/2148/</a:t>
            </a:r>
          </a:p>
          <a:p xmlns:a="http://schemas.openxmlformats.org/drawingml/2006/main">
            <a:r>
              <a:t>https://www.rbc.ru/politics/14/05/2024/6643287b9a7947a8f0b8ba78</a:t>
            </a:r>
          </a:p>
          <a:p xmlns:a="http://schemas.openxmlformats.org/drawingml/2006/main">
            <a:r>
              <a:t>https://tass.ru/info/20789699</a:t>
            </a:r>
          </a:p>
          <a:p xmlns:a="http://schemas.openxmlformats.org/drawingml/2006/main">
            <a:r>
              <a:t>https://marine.org.ru/structure/person/56/</a:t>
            </a:r>
          </a:p>
          <a:p xmlns:a="http://schemas.openxmlformats.org/drawingml/2006/main">
            <a:r>
              <a:t>https://marine.org.ru/publication/smi/16108/</a:t>
            </a:r>
          </a:p>
          <a:p xmlns:a="http://schemas.openxmlformats.org/drawingml/2006/main">
            <a:r>
              <a:t>https://www.svoboda.org/a/30676123.html</a:t>
            </a:r>
          </a:p>
          <a:p xmlns:a="http://schemas.openxmlformats.org/drawingml/2006/main">
            <a:r>
              <a:t>https://aif.ru/society/safety/kuklovodstvo_k_deystviyu_nikolay_patrushev_o_metodah_cvetnyh_revolyuciy</a:t>
            </a:r>
          </a:p>
          <a:p xmlns:a="http://schemas.openxmlformats.org/drawingml/2006/main">
            <a:r>
              <a:t>https://vkrizis.info/vlast/czennosti-razmyvaniya/</a:t>
            </a:r>
          </a:p>
          <a:p xmlns:a="http://schemas.openxmlformats.org/drawingml/2006/main">
            <a:r>
              <a:t>https://infranomica.ru/2026/05/19/selskoe-hozyajstvo-est-rezultat-budet-i-pishha/</a:t>
            </a:r>
          </a:p>
          <a:p xmlns:a="http://schemas.openxmlformats.org/drawingml/2006/main">
            <a:r>
              <a:t>https://www.rbc.ru/person/660400989a79471b36dbb514</a:t>
            </a:r>
          </a:p>
          <a:p xmlns:a="http://schemas.openxmlformats.org/drawingml/2006/main">
            <a:r>
              <a:t>http://special.kremlin.ru/catalog/persons/100/events</a:t>
            </a:r>
          </a:p>
          <a:p xmlns:a="http://schemas.openxmlformats.org/drawingml/2006/main">
            <a:r>
              <a:t>https://nac.gov.ru/view/eb008ff4-1608-4b47-b2a9-3d604c1833c2</a:t>
            </a:r>
          </a:p>
          <a:p xmlns:a="http://schemas.openxmlformats.org/drawingml/2006/main">
            <a:r>
              <a:t>http://pfo.gov.ru/press/events/113336/</a:t>
            </a:r>
          </a:p>
          <a:p xmlns:a="http://schemas.openxmlformats.org/drawingml/2006/main">
            <a:r>
              <a:t>https://www.opensanctions.org/entities/Q516824/</a:t>
            </a:r>
          </a:p>
          <a:p xmlns:a="http://schemas.openxmlformats.org/drawingml/2006/main">
            <a:r>
              <a:t>https://www.agents.media/ssha-poprobuyut-vozobnovit-peregovory-o-mire-v-ukraine-cherez-glavu-fsb-che-vedomstvo-kak-schitaetsya-svoimi-dokladami-podtolknulo-putina-k-vojne/</a:t>
            </a:r>
          </a:p>
          <a:p xmlns:a="http://schemas.openxmlformats.org/drawingml/2006/main">
            <a:r>
              <a:t>https://letters.kremlin.ru/news/receptions/by-section/assignments/by-person/260</a:t>
            </a:r>
          </a:p>
          <a:p xmlns:a="http://schemas.openxmlformats.org/drawingml/2006/main">
            <a:r>
              <a:t>https://www.kommersant.ru/doc/3612580</a:t>
            </a:r>
          </a:p>
          <a:p xmlns:a="http://schemas.openxmlformats.org/drawingml/2006/main">
            <a:r>
              <a:t>https://fbk.info/ru/investigations/kirienko-kholyi-putina</a:t>
            </a:r>
          </a:p>
          <a:p xmlns:a="http://schemas.openxmlformats.org/drawingml/2006/main">
            <a:r>
              <a:t>https://utro02.tv/2022/05/24/kolebaniya-kirienok/</a:t>
            </a:r>
          </a:p>
          <a:p xmlns:a="http://schemas.openxmlformats.org/drawingml/2006/main">
            <a:r>
              <a:t>https://meduza.io/feature/2023/12/19/on-peresidel-v-svoem-kresle-v-kremle-i-pravitelstve-obsuzhdayut-chto-sergey-kirienko-mozhet-lishitsya-dolzhnosti-v-ap-posle-vyborov-prezidenta</a:t>
            </a:r>
          </a:p>
          <a:p xmlns:a="http://schemas.openxmlformats.org/drawingml/2006/main">
            <a:r>
              <a:t>https://verstka.media/kak-rossiya-prodvigaet-svoyu-molodezhnuyu-politiku-na-okkupirovannyh-territoriyah</a:t>
            </a:r>
          </a:p>
          <a:p xmlns:a="http://schemas.openxmlformats.org/drawingml/2006/main">
            <a:r>
              <a:t>https://dnrnews.ru/society/2025/09/04/1167117.html</a:t>
            </a:r>
          </a:p>
          <a:p xmlns:a="http://schemas.openxmlformats.org/drawingml/2006/main">
            <a:r>
              <a:t>https://www.tadviser.ru/index.php/%D0%9F%D0%B5%D1%80%D1%81%D0%BE%D0%BD%D0%B0:%D0%9A%D0%B8%D1%80%D0%B8%D0%B5%D0%BD%D0%BA%D0%BE_%D0%A1%D0%B5%D1%80%D0%B3%D0%B5%D0%B9_%D0%92%D0%BB%D0%B0%D0%B4%D0%B8%D0%BB%D0%B5%D0%BD%D0%BE%D0%B2%D0%B8%D1%87</a:t>
            </a:r>
          </a:p>
          <a:p xmlns:a="http://schemas.openxmlformats.org/drawingml/2006/main">
            <a:r>
              <a:t>https://tass.ru/politika/18225741</a:t>
            </a:r>
          </a:p>
          <a:p xmlns:a="http://schemas.openxmlformats.org/drawingml/2006/main">
            <a:r>
              <a:t>https://www.kommersant.ru/doc/6187168</a:t>
            </a:r>
          </a:p>
          <a:p xmlns:a="http://schemas.openxmlformats.org/drawingml/2006/main">
            <a:r>
              <a:t>https://duma.gov.ru/news/63383/</a:t>
            </a:r>
          </a:p>
          <a:p xmlns:a="http://schemas.openxmlformats.org/drawingml/2006/main">
            <a:r>
              <a:t>http://duma.gov.ru/en/duma/persons/99100829/news/</a:t>
            </a:r>
          </a:p>
          <a:p xmlns:a="http://schemas.openxmlformats.org/drawingml/2006/main">
            <a:r>
              <a:t>http://duma.gov.ru/en/news/62248/</a:t>
            </a:r>
          </a:p>
          <a:p xmlns:a="http://schemas.openxmlformats.org/drawingml/2006/main">
            <a:r>
              <a:t>http://duma.gov.ru/en/news/61352/</a:t>
            </a:r>
          </a:p>
          <a:p xmlns:a="http://schemas.openxmlformats.org/drawingml/2006/main">
            <a:r>
              <a:t>http://duma.gov.ru/en/news/64178/</a:t>
            </a:r>
          </a:p>
          <a:p xmlns:a="http://schemas.openxmlformats.org/drawingml/2006/main">
            <a:r>
              <a:t>http://duma.gov.ru/en/news/64216</a:t>
            </a:r>
          </a:p>
          <a:p xmlns:a="http://schemas.openxmlformats.org/drawingml/2006/main">
            <a:r>
              <a:t>http://duma.gov.ru/en/news/64239</a:t>
            </a:r>
          </a:p>
          <a:p xmlns:a="http://schemas.openxmlformats.org/drawingml/2006/main">
            <a:r>
              <a:t>https://en.wikipedia.org/wiki/Vyacheslav_Volodin</a:t>
            </a:r>
          </a:p>
          <a:p xmlns:a="http://schemas.openxmlformats.org/drawingml/2006/main">
            <a:r>
              <a:t>http://duma.gov.ru/news/56060/</a:t>
            </a:r>
          </a:p>
          <a:p xmlns:a="http://schemas.openxmlformats.org/drawingml/2006/main">
            <a:r>
              <a:t>http://duma.gov.ru/news/60448/</a:t>
            </a:r>
          </a:p>
          <a:p xmlns:a="http://schemas.openxmlformats.org/drawingml/2006/main">
            <a:r>
              <a:t>http://duma.gov.ru/news/61362/</a:t>
            </a:r>
          </a:p>
          <a:p xmlns:a="http://schemas.openxmlformats.org/drawingml/2006/main">
            <a:r>
              <a:t>http://duma.gov.ru/news/61384/</a:t>
            </a:r>
          </a:p>
          <a:p xmlns:a="http://schemas.openxmlformats.org/drawingml/2006/main">
            <a:r>
              <a:t>http://duma.gov.ru/news/61874/</a:t>
            </a:r>
          </a:p>
          <a:p xmlns:a="http://schemas.openxmlformats.org/drawingml/2006/main">
            <a:r>
              <a:t>http://duma.gov.ru/news/62022/</a:t>
            </a:r>
          </a:p>
          <a:p xmlns:a="http://schemas.openxmlformats.org/drawingml/2006/main">
            <a:r>
              <a:t>http://duma.gov.ru/news/63772/</a:t>
            </a:r>
          </a:p>
          <a:p xmlns:a="http://schemas.openxmlformats.org/drawingml/2006/main">
            <a:r>
              <a:t>https://council.gov.ru/events/news/160466/</a:t>
            </a:r>
          </a:p>
          <a:p xmlns:a="http://schemas.openxmlformats.org/drawingml/2006/main">
            <a:r>
              <a:t>http://council.gov.ru/structure/persons/257/</a:t>
            </a:r>
          </a:p>
          <a:p xmlns:a="http://schemas.openxmlformats.org/drawingml/2006/main">
            <a:r>
              <a:t>https://interaffairs.ru/news/show/16199</a:t>
            </a:r>
          </a:p>
          <a:p xmlns:a="http://schemas.openxmlformats.org/drawingml/2006/main">
            <a:r>
              <a:t>https://www.rbc.ru/person/617fb5ef9a79475c6cfc4502</a:t>
            </a:r>
          </a:p>
          <a:p xmlns:a="http://schemas.openxmlformats.org/drawingml/2006/main">
            <a:r>
              <a:t>https://vksrs.com/publications/matvienko-rasskazala-o-neobkhodimosti-protivostoyat-geroizatsii-natsistov/</a:t>
            </a:r>
          </a:p>
          <a:p xmlns:a="http://schemas.openxmlformats.org/drawingml/2006/main">
            <a:r>
              <a:t>https://absatz.media/politika/158438-valentine-matvienko-77-istoriya-uspeha-put-k-vershine-i-samye-yarkie-zayavleniya</a:t>
            </a:r>
          </a:p>
          <a:p xmlns:a="http://schemas.openxmlformats.org/drawingml/2006/main">
            <a:r>
              <a:t>https://www.rbc.ru/society/14/10/2026/6acf597c9a794743e0478a15?from=short_news</a:t>
            </a:r>
          </a:p>
          <a:p xmlns:a="http://schemas.openxmlformats.org/drawingml/2006/main">
            <a:r>
              <a:t>https://senatinform.ru/news/sf_stremitsya_byt_maksimalno_otkrytym_dlya_raboty_zhurnalistov_matvienko/</a:t>
            </a:r>
          </a:p>
          <a:p xmlns:a="http://schemas.openxmlformats.org/drawingml/2006/main">
            <a:r>
              <a:t>https://eparlament.irzs.ru/Files/getFile/11853</a:t>
            </a:r>
          </a:p>
          <a:p xmlns:a="http://schemas.openxmlformats.org/drawingml/2006/main">
            <a:r>
              <a:t>http://special.council.gov.ru/activity/meetings/170703/transcript/</a:t>
            </a:r>
          </a:p>
          <a:p xmlns:a="http://schemas.openxmlformats.org/drawingml/2006/main">
            <a:r>
              <a:t>https://bookonlime.ru/lecture/12-razvitie-ekonomicheskih-otnosheniy-i-strategicheskoe-planirovanie-v-cifrovoy-ekonomike-2</a:t>
            </a:r>
          </a:p>
          <a:p xmlns:a="http://schemas.openxmlformats.org/drawingml/2006/main">
            <a:r>
              <a:t>https://ru.wikipedia.org/wiki/Песков,_Дмитрий_Сергеевич</a:t>
            </a:r>
          </a:p>
          <a:p xmlns:a="http://schemas.openxmlformats.org/drawingml/2006/main">
            <a:r>
              <a:t>https://www.reuters.com/world/europe/kremlin-says-ukraine-is-now-paying-price-its-own-attacks-russia-2026-09-28/</a:t>
            </a:r>
          </a:p>
          <a:p xmlns:a="http://schemas.openxmlformats.org/drawingml/2006/main">
            <a:r>
              <a:t>https://www.reuters.com/world/europe/kremlin-rejects-le-penbardella-rebuke-says-russia-is-no-threat-france-2026-09-21/</a:t>
            </a:r>
          </a:p>
          <a:p xmlns:a="http://schemas.openxmlformats.org/drawingml/2006/main">
            <a:r>
              <a:t>https://theins.ru/antifake/295208</a:t>
            </a:r>
          </a:p>
          <a:p xmlns:a="http://schemas.openxmlformats.org/drawingml/2006/main">
            <a:r>
              <a:t>https://expert.ru/news/v-kremle-otvetili-na-slova-donalda-trampa-o-rossiyskom-vmeshatelstve</a:t>
            </a:r>
          </a:p>
          <a:p xmlns:a="http://schemas.openxmlformats.org/drawingml/2006/main">
            <a:r>
              <a:t>https://www.dw.com/ru/dmitrij-peskov/t-18146676/page-1</a:t>
            </a:r>
          </a:p>
          <a:p xmlns:a="http://schemas.openxmlformats.org/drawingml/2006/main">
            <a:r>
              <a:t>https://www.pnp.ru/person/dmitriy--peskov/</a:t>
            </a:r>
          </a:p>
          <a:p xmlns:a="http://schemas.openxmlformats.org/drawingml/2006/main">
            <a:r>
              <a:t>https://www.rbc.ua/ukr/dossier/peskov-19032015</a:t>
            </a:r>
          </a:p>
          <a:p xmlns:a="http://schemas.openxmlformats.org/drawingml/2006/main">
            <a:r>
              <a:t>https://www.rbc.ru/politics/12/10/2026/6accae3bb18f4460834ce063</a:t>
            </a:r>
          </a:p>
          <a:p xmlns:a="http://schemas.openxmlformats.org/drawingml/2006/main">
            <a:r>
              <a:t>https://tass.ru/politika/20355193</a:t>
            </a:r>
          </a:p>
          <a:p xmlns:a="http://schemas.openxmlformats.org/drawingml/2006/main">
            <a:r>
              <a:t>https://www.m24.ru/news/06052024/689412</a:t>
            </a:r>
          </a:p>
          <a:p xmlns:a="http://schemas.openxmlformats.org/drawingml/2006/main">
            <a:r>
              <a:t>http://www.kremlin.ru/acts/bank/48502</a:t>
            </a:r>
          </a:p>
          <a:p xmlns:a="http://schemas.openxmlformats.org/drawingml/2006/main">
            <a:r>
              <a:t>https://www.m24.ru/news/11022025/769070</a:t>
            </a:r>
          </a:p>
          <a:p xmlns:a="http://schemas.openxmlformats.org/drawingml/2006/main">
            <a:r>
              <a:t>https://www.m24.ru/news/23042026/894202</a:t>
            </a:r>
          </a:p>
          <a:p xmlns:a="http://schemas.openxmlformats.org/drawingml/2006/main">
            <a:r>
              <a:t>https://cbr.ru/about_br/nabiullinaes/</a:t>
            </a:r>
          </a:p>
          <a:p xmlns:a="http://schemas.openxmlformats.org/drawingml/2006/main">
            <a:r>
              <a:t>https://cbr.ru/press/event/?id=12840</a:t>
            </a:r>
          </a:p>
          <a:p xmlns:a="http://schemas.openxmlformats.org/drawingml/2006/main">
            <a:r>
              <a:t>https://www.cbr.ru/press/event/?id=12904</a:t>
            </a:r>
          </a:p>
          <a:p xmlns:a="http://schemas.openxmlformats.org/drawingml/2006/main">
            <a:r>
              <a:t>https://cbr.ru/press/event/?id=14033</a:t>
            </a:r>
          </a:p>
          <a:p xmlns:a="http://schemas.openxmlformats.org/drawingml/2006/main">
            <a:r>
              <a:t>https://www.cbr.ru/press/event/?id=12764</a:t>
            </a:r>
          </a:p>
          <a:p xmlns:a="http://schemas.openxmlformats.org/drawingml/2006/main">
            <a:r>
              <a:t>https://kazanfirst.ru/articles/534335</a:t>
            </a:r>
          </a:p>
          <a:p xmlns:a="http://schemas.openxmlformats.org/drawingml/2006/main">
            <a:r>
              <a:t>https://www.rbc.ru/person/65e831449a79476cbfd8e5fd</a:t>
            </a:r>
          </a:p>
          <a:p xmlns:a="http://schemas.openxmlformats.org/drawingml/2006/main">
            <a:r>
              <a:t>https://www.interfax.ru/russia/955290</a:t>
            </a:r>
          </a:p>
          <a:p xmlns:a="http://schemas.openxmlformats.org/drawingml/2006/main">
            <a:r>
              <a:t>https://minfin.gov.ru/ru/press-center/?id_4=38548-intervyu_ministra_finansov_antona_siluanova_gazete_argumenty_i_fakty</a:t>
            </a:r>
          </a:p>
          <a:p xmlns:a="http://schemas.openxmlformats.org/drawingml/2006/main">
            <a:r>
              <a:t>https://minfin.gov.ru/ru/press-center/?id_4=37667-vystuplenie_antona_siluanova_na_plenarnom_zasedanii_v_gosudarstvennoi_dume</a:t>
            </a:r>
          </a:p>
          <a:p xmlns:a="http://schemas.openxmlformats.org/drawingml/2006/main">
            <a:r>
              <a:t>https://www.rbc.ru/economics/24/10/2022/63529d159a7947efb82a59eb</a:t>
            </a:r>
          </a:p>
          <a:p xmlns:a="http://schemas.openxmlformats.org/drawingml/2006/main">
            <a:r>
              <a:t>https://www.rbc.ru/newspaper/2020/02/21/5e4e83289a79474bcf9f8cf9</a:t>
            </a:r>
          </a:p>
          <a:p xmlns:a="http://schemas.openxmlformats.org/drawingml/2006/main">
            <a:r>
              <a:t>https://www.rbc.ru/economics/20/02/2020/5e4e91919a79475559478893</a:t>
            </a:r>
          </a:p>
          <a:p xmlns:a="http://schemas.openxmlformats.org/drawingml/2006/main">
            <a:r>
              <a:t>https://minfin.gov.ru/ru/press-center/?id_4=39336-anton_siluanov_predstavil_na_parlamentskikh_slushaniyakh_v_sovete_federatsii_proekt_byudzheta_na_2025-2027_gg.</a:t>
            </a:r>
          </a:p>
          <a:p xmlns:a="http://schemas.openxmlformats.org/drawingml/2006/main">
            <a:r>
              <a:t>https://www.interfax.ru/amp/1035506</a:t>
            </a:r>
          </a:p>
          <a:p xmlns:a="http://schemas.openxmlformats.org/drawingml/2006/main">
            <a:r>
              <a:t>https://tass.ru/ekonomika/28198121</a:t>
            </a:r>
          </a:p>
          <a:p xmlns:a="http://schemas.openxmlformats.org/drawingml/2006/main">
            <a:r>
              <a:t>https://www.rbc.ru/person/65b9f4369a7947ec8a7f242a</a:t>
            </a:r>
          </a:p>
          <a:p xmlns:a="http://schemas.openxmlformats.org/drawingml/2006/main">
            <a:r>
              <a:t>https://www.bfm.ru/news/435050</a:t>
            </a:r>
          </a:p>
          <a:p xmlns:a="http://schemas.openxmlformats.org/drawingml/2006/main">
            <a:r>
              <a:t>https://ru.ruwiki.ru/wiki/%D0%93%D0%BE%D0%BB%D0%B8%D0%BA%D0%BE%D0%B2%D0%B0,_%D0%A2%D0%B0%D1%82%D1%8C%D1%8F%D0%BD%D0%B0_%D0%90%D0%BB%D0%B5%D0%BA%D1%81%D0%B5%D0%B5%D0%B2%D0%BD%D0%B0</a:t>
            </a:r>
          </a:p>
          <a:p xmlns:a="http://schemas.openxmlformats.org/drawingml/2006/main">
            <a:r>
              <a:t>http://www.kremlin.ru/events/president/transcripts/deliberations%20/77439</a:t>
            </a:r>
          </a:p>
          <a:p xmlns:a="http://schemas.openxmlformats.org/drawingml/2006/main">
            <a:r>
              <a:t>https://xn--90aivcdt6dxbc.xn--p1ai/articles/news/prezident-zdravookhranenie-zanimaet-klyuchevoe-mesto-v-sotsialnoy-politike-rossii/</a:t>
            </a:r>
          </a:p>
          <a:p xmlns:a="http://schemas.openxmlformats.org/drawingml/2006/main">
            <a:r>
              <a:t>https://xn--90aivcdt6dxbc.xn--p1ai/articles/news/tatyana-golikova-edinaya-rossiya-nadezhnyy-soyuznik-i-partner-pravitelstva/</a:t>
            </a:r>
          </a:p>
          <a:p xmlns:a="http://schemas.openxmlformats.org/drawingml/2006/main">
            <a:r>
              <a:t>http://government.ru/news/58648/</a:t>
            </a:r>
          </a:p>
          <a:p xmlns:a="http://schemas.openxmlformats.org/drawingml/2006/main">
            <a:r>
              <a:t>http://government.ru/news/54912/</a:t>
            </a:r>
          </a:p>
          <a:p xmlns:a="http://schemas.openxmlformats.org/drawingml/2006/main">
            <a:r>
              <a:t>http://government.ru/news/58000/</a:t>
            </a:r>
          </a:p>
          <a:p xmlns:a="http://schemas.openxmlformats.org/drawingml/2006/main">
            <a:r>
              <a:t>https://tass.ru/politika/28141547</a:t>
            </a:r>
          </a:p>
          <a:p xmlns:a="http://schemas.openxmlformats.org/drawingml/2006/main">
            <a:r>
              <a:t>https://duma.gov.ru/media/files/smUklOtuNPyzwTneQGCfFUHHIsilAqcm.pdf</a:t>
            </a:r>
          </a:p>
          <a:p xmlns:a="http://schemas.openxmlformats.org/drawingml/2006/main">
            <a:r>
              <a:t>https://kprf.ru/dep/gosduma/activities/187187.html</a:t>
            </a:r>
          </a:p>
          <a:p xmlns:a="http://schemas.openxmlformats.org/drawingml/2006/main">
            <a:r>
              <a:t>http://msk.kprf.ru/2022/08/22/222866/</a:t>
            </a:r>
          </a:p>
          <a:p xmlns:a="http://schemas.openxmlformats.org/drawingml/2006/main">
            <a:r>
              <a:t>https://kprf.ru/party-live/cknews/235903.html</a:t>
            </a:r>
          </a:p>
          <a:p xmlns:a="http://schemas.openxmlformats.org/drawingml/2006/main">
            <a:r>
              <a:t>https://kprf.ru/dep/gosduma/activities/236198.html/print</a:t>
            </a:r>
          </a:p>
          <a:p xmlns:a="http://schemas.openxmlformats.org/drawingml/2006/main">
            <a:r>
              <a:t>https://kprf.ru/dep/gosduma/activities/239812.html</a:t>
            </a:r>
          </a:p>
          <a:p xmlns:a="http://schemas.openxmlformats.org/drawingml/2006/main">
            <a:r>
              <a:t>https://kprf-don.ru/index.php/news/facts/12501-2025-09-15-12-58-35.html</a:t>
            </a:r>
          </a:p>
          <a:p xmlns:a="http://schemas.openxmlformats.org/drawingml/2006/main">
            <a:r>
              <a:t>https://kprf.ru/dep/gosduma/activities/237529.html</a:t>
            </a:r>
          </a:p>
          <a:p xmlns:a="http://schemas.openxmlformats.org/drawingml/2006/main">
            <a:r>
              <a:t>https://novayagazeta.ru/articles/2025/09/19/putin-udivilsia-khodu-zapushchennoi-im-vesnoi-munitsipalnoi-reformy-posle-slov-ziuganova-kak-regiony-dlia-nee-lomali-cherez-koleno-a-tatarstan-otkazalsia-ee-ispolniat-news</a:t>
            </a:r>
          </a:p>
          <a:p xmlns:a="http://schemas.openxmlformats.org/drawingml/2006/main">
            <a:r>
              <a:t>https://kprf.ru/official/2025/11/15/15-noiabria-2025-oda-sostoialsia-ii-noiabrskii-plenum-tsk-kprf/473.html</a:t>
            </a:r>
          </a:p>
          <a:p xmlns:a="http://schemas.openxmlformats.org/drawingml/2006/main">
            <a:r>
              <a:t>https://www.rbc.ru/person/617bfbb79a7947fc327a3bcb</a:t>
            </a:r>
          </a:p>
          <a:p xmlns:a="http://schemas.openxmlformats.org/drawingml/2006/main">
            <a:r>
              <a:t>https://www.bbc.com/russian/features-60873381</a:t>
            </a:r>
          </a:p>
          <a:p xmlns:a="http://schemas.openxmlformats.org/drawingml/2006/main">
            <a:r>
              <a:t>https://www.svoboda.org/a/umer-lider-partii-ldpr-vladimir-zhirinovskiy-nekrolog/31770134.html</a:t>
            </a:r>
          </a:p>
          <a:p xmlns:a="http://schemas.openxmlformats.org/drawingml/2006/main">
            <a:r>
              <a:t>https://www.rbc.ru/politics/06/04/2022/624d661b9a79473f7416fe26</a:t>
            </a:r>
          </a:p>
          <a:p xmlns:a="http://schemas.openxmlformats.org/drawingml/2006/main">
            <a:r>
              <a:t>https://tass.ru/politika/3392889</a:t>
            </a:r>
          </a:p>
          <a:p xmlns:a="http://schemas.openxmlformats.org/drawingml/2006/main">
            <a:r>
              <a:t>https://www.pnp.ru/politics/2016/06/28/v-centre-predvybornoy-programmy-ldpr-russkiy-vopros.html</a:t>
            </a:r>
          </a:p>
          <a:p xmlns:a="http://schemas.openxmlformats.org/drawingml/2006/main">
            <a:r>
              <a:t>https://ldpr.ru/party/history/</a:t>
            </a:r>
          </a:p>
          <a:p xmlns:a="http://schemas.openxmlformats.org/drawingml/2006/main">
            <a:r>
              <a:t>https://govoritmoskva.ru/interviews/1023/</a:t>
            </a:r>
          </a:p>
          <a:p xmlns:a="http://schemas.openxmlformats.org/drawingml/2006/main">
            <a:r>
              <a:t>https://www.gazeta.ru/politics/2017/03/17_a_10580999.shtml</a:t>
            </a:r>
          </a:p>
          <a:p xmlns:a="http://schemas.openxmlformats.org/drawingml/2006/main">
            <a:r>
              <a:t>https://ldpr.ru/upload/iblock/c88/1d6dstdexz6aw7dnwoubeobhr3mnwa1j/a799616e688866c49f2ef6b5b8cfe5c00d45080ae85ce0e5f6d36e2e010681d9.pdf</a:t>
            </a:r>
          </a:p>
          <a:p xmlns:a="http://schemas.openxmlformats.org/drawingml/2006/main">
            <a:r>
              <a:t>https://www.kommersant.ru/doc/3579566</a:t>
            </a:r>
          </a:p>
          <a:p xmlns:a="http://schemas.openxmlformats.org/drawingml/2006/main">
            <a:r>
              <a:t>https://spb.ldpr.ru/event/243915/</a:t>
            </a:r>
          </a:p>
          <a:p xmlns:a="http://schemas.openxmlformats.org/drawingml/2006/main">
            <a:r>
              <a:t>https://kursk.ldpr.ru/event/341398</a:t>
            </a:r>
          </a:p>
          <a:p xmlns:a="http://schemas.openxmlformats.org/drawingml/2006/main">
            <a:r>
              <a:t>https://cyberleninka.ru/article/n/sravnitelnyy-analiz-predvybornyh-programm-ldpr-na-vyborah-2021-g-i-l-e-slutskogo-na-vyborah-2024-g</a:t>
            </a:r>
          </a:p>
          <a:p xmlns:a="http://schemas.openxmlformats.org/drawingml/2006/main">
            <a:r>
              <a:t>https://kcr.ldpr.ru/event/347999/</a:t>
            </a:r>
          </a:p>
          <a:p xmlns:a="http://schemas.openxmlformats.org/drawingml/2006/main">
            <a:r>
              <a:t>https://msknews77.ru/society/2025/09/25/73500.html</a:t>
            </a:r>
          </a:p>
          <a:p xmlns:a="http://schemas.openxmlformats.org/drawingml/2006/main">
            <a:r>
              <a:t>https://bagaevka-press.ru/besplatnyj-zemelnyj-uchastok-dlya-semej-inicziativa-ldpr/</a:t>
            </a:r>
          </a:p>
          <a:p xmlns:a="http://schemas.openxmlformats.org/drawingml/2006/main">
            <a:r>
              <a:t>https://ldpr.ru/event/437527/</a:t>
            </a:r>
          </a:p>
          <a:p xmlns:a="http://schemas.openxmlformats.org/drawingml/2006/main">
            <a:r>
              <a:t>https://rg62.info/2025/11/01/leonid-sluczkij-vstupilsya-za-multserial-masha-i-medved/</a:t>
            </a:r>
          </a:p>
          <a:p xmlns:a="http://schemas.openxmlformats.org/drawingml/2006/main">
            <a:r>
              <a:t>https://mironov.ru/officially</a:t>
            </a:r>
          </a:p>
          <a:p xmlns:a="http://schemas.openxmlformats.org/drawingml/2006/main">
            <a:r>
              <a:t>https://mironov.ru/bio</a:t>
            </a:r>
          </a:p>
          <a:p xmlns:a="http://schemas.openxmlformats.org/drawingml/2006/main">
            <a:r>
              <a:t>https://mironov-online.ru/category/zayavleniya/</a:t>
            </a:r>
          </a:p>
          <a:p xmlns:a="http://schemas.openxmlformats.org/drawingml/2006/main">
            <a:r>
              <a:t>https://www.rbc.ru/person/69806d279a7947baf86c32c5</a:t>
            </a:r>
          </a:p>
          <a:p xmlns:a="http://schemas.openxmlformats.org/drawingml/2006/main">
            <a:r>
              <a:t>https://spravedlivo.ru/16303010</a:t>
            </a:r>
          </a:p>
          <a:p xmlns:a="http://schemas.openxmlformats.org/drawingml/2006/main">
            <a:r>
              <a:t>http://mironov.ru/15133910</a:t>
            </a:r>
          </a:p>
          <a:p xmlns:a="http://schemas.openxmlformats.org/drawingml/2006/main">
            <a:r>
              <a:t>http://www.special.spravedlivo.ru/5_140609.html</a:t>
            </a:r>
          </a:p>
          <a:p xmlns:a="http://schemas.openxmlformats.org/drawingml/2006/main">
            <a:r>
              <a:t>https://spravedlivo.ru/14681110</a:t>
            </a:r>
          </a:p>
          <a:p xmlns:a="http://schemas.openxmlformats.org/drawingml/2006/main">
            <a:r>
              <a:t>https://radiokp.ru/podcast/dialogi-na-radio-kp/759263</a:t>
            </a:r>
          </a:p>
          <a:p xmlns:a="http://schemas.openxmlformats.org/drawingml/2006/main">
            <a:r>
              <a:t>https://mironov.ru/51339910</a:t>
            </a:r>
          </a:p>
          <a:p xmlns:a="http://schemas.openxmlformats.org/drawingml/2006/main">
            <a:r>
              <a:t>https://mironov-online.ru/news/mironov-na-ukraine-idet-bitva-za-budushhee-vsego-chelovechestva-i-pobeda-v-nej-budet-za-rossiej/</a:t>
            </a:r>
          </a:p>
          <a:p xmlns:a="http://schemas.openxmlformats.org/drawingml/2006/main">
            <a:r>
              <a:t>https://spravedlivo.ru/12544510</a:t>
            </a:r>
          </a:p>
          <a:p xmlns:a="http://schemas.openxmlformats.org/drawingml/2006/main">
            <a:r>
              <a:t>https://www.rbc.ru/person/6aa3ef199a79475758621730</a:t>
            </a:r>
          </a:p>
          <a:p xmlns:a="http://schemas.openxmlformats.org/drawingml/2006/main">
            <a:r>
              <a:t>https://www.rbc.ru/politics/24/09/2021/614da73f9a7947b5e3d9399f</a:t>
            </a:r>
          </a:p>
          <a:p xmlns:a="http://schemas.openxmlformats.org/drawingml/2006/main">
            <a:r>
              <a:t>https://amp.rbc.ru/rbcnews/base/14/08/2026/6a957dfb9a79476ae3d823ba</a:t>
            </a:r>
          </a:p>
          <a:p xmlns:a="http://schemas.openxmlformats.org/drawingml/2006/main">
            <a:r>
              <a:t>https://en.wikipedia.org/wiki/Alexey_Nechayev</a:t>
            </a:r>
          </a:p>
          <a:p xmlns:a="http://schemas.openxmlformats.org/drawingml/2006/main">
            <a:r>
              <a:t>https://www.gazeta.ru/politics/23422027/novye-lyudi-na-vyborah-2026-goda.shtml</a:t>
            </a:r>
          </a:p>
          <a:p xmlns:a="http://schemas.openxmlformats.org/drawingml/2006/main">
            <a:r>
              <a:t>https://vremya-bir.ru/2026/03/07/dvenadtsat-shagov-k-strane-v-kotoroj-hochetsya-zhit/</a:t>
            </a:r>
          </a:p>
          <a:p xmlns:a="http://schemas.openxmlformats.org/drawingml/2006/main">
            <a:r>
              <a:t>https://www.rbc.ru/politics/08/09/2026/6aa023ec9a79471e4fd55d3c</a:t>
            </a:r>
          </a:p>
          <a:p xmlns:a="http://schemas.openxmlformats.org/drawingml/2006/main">
            <a:r>
              <a:t>https://www.interfax.ru/interview/1074248</a:t>
            </a:r>
          </a:p>
          <a:p xmlns:a="http://schemas.openxmlformats.org/drawingml/2006/main">
            <a:r>
              <a:t>https://www.interfax.ru/amp/1074248</a:t>
            </a:r>
          </a:p>
          <a:p xmlns:a="http://schemas.openxmlformats.org/drawingml/2006/main">
            <a:r>
              <a:t>https://www.vedomosti.ru/politics/articles/2026/09/09/1227352-novie-lyudi-sformulirovali-programmu</a:t>
            </a:r>
          </a:p>
          <a:p xmlns:a="http://schemas.openxmlformats.org/drawingml/2006/main">
            <a:r>
              <a:t>https://dddkursk.ru/lenta/2026/07/30/129483/</a:t>
            </a:r>
          </a:p>
          <a:p xmlns:a="http://schemas.openxmlformats.org/drawingml/2006/main">
            <a:r>
              <a:t>https://volga.news/article/803292.html</a:t>
            </a:r>
          </a:p>
          <a:p xmlns:a="http://schemas.openxmlformats.org/drawingml/2006/main">
            <a:r>
              <a:t>https://ru.wikipedia.org/wiki/%D0%9D%D0%B5%D1%87%D0%B0%D0%B5%D0%B2,_%D0%90%D0%BB%D0%B5%D0%BA%D1%81%D0%B5%D0%B9_%D0%93%D0%B5%D0%BD%D0%BD%D0%B0%D0%B4%D1%8C%D0%B5%D0%B2%D0%B8%D1%87</a:t>
            </a:r>
          </a:p>
          <a:p xmlns:a="http://schemas.openxmlformats.org/drawingml/2006/main">
            <a:r>
              <a:t>https://www.davankov2024.ru/page_biography/</a:t>
            </a:r>
          </a:p>
          <a:p xmlns:a="http://schemas.openxmlformats.org/drawingml/2006/main">
            <a:r>
              <a:t>https://davankov2024.ru/program</a:t>
            </a:r>
          </a:p>
          <a:p xmlns:a="http://schemas.openxmlformats.org/drawingml/2006/main">
            <a:r>
              <a:t>http://vote.duma.gov.ru/?convocation=AAAAAAA8&amp;deputy=99113489&amp;sort=date_desc</a:t>
            </a:r>
          </a:p>
          <a:p xmlns:a="http://schemas.openxmlformats.org/drawingml/2006/main">
            <a:r>
              <a:t>https://holod.media/2024/02/14/vladislav-davankov/</a:t>
            </a:r>
          </a:p>
          <a:p xmlns:a="http://schemas.openxmlformats.org/drawingml/2006/main">
            <a:r>
              <a:t>https://davankov2024.ru/</a:t>
            </a:r>
          </a:p>
          <a:p xmlns:a="http://schemas.openxmlformats.org/drawingml/2006/main">
            <a:r>
              <a:t>https://novayagazeta.eu/articles/2024/02/15/davankov-predstavil-predvybornuiu-programmu-bez-amnistii-politzakliuchennykh-i-s-namereniem-dobitsia-mira-na-nashikh-usloviiakh-news</a:t>
            </a:r>
          </a:p>
          <a:p xmlns:a="http://schemas.openxmlformats.org/drawingml/2006/main">
            <a:r>
              <a:t>https://www.kavkaz-uzel.eu/articles/398113</a:t>
            </a:r>
          </a:p>
          <a:p xmlns:a="http://schemas.openxmlformats.org/drawingml/2006/main">
            <a:r>
              <a:t>https://echofm.online/portret-dnya/portret-dnya-vladislav-davankov-kandidat-v-prezidenty-rossii</a:t>
            </a:r>
          </a:p>
          <a:p xmlns:a="http://schemas.openxmlformats.org/drawingml/2006/main">
            <a:r>
              <a:t>https://t.me/s/davankov?before=788</a:t>
            </a:r>
          </a:p>
          <a:p xmlns:a="http://schemas.openxmlformats.org/drawingml/2006/main">
            <a:r>
              <a:t>https://zaharprilepin.ru/ru/bio/</a:t>
            </a:r>
          </a:p>
          <a:p xmlns:a="http://schemas.openxmlformats.org/drawingml/2006/main">
            <a:r>
              <a:t>https://zaharprilepin.ru/ru/video/zapisi-vistuplenij/intervju/</a:t>
            </a:r>
          </a:p>
          <a:p xmlns:a="http://schemas.openxmlformats.org/drawingml/2006/main">
            <a:r>
              <a:t>https://zaharprilepin.ru/ru/pressa/intervyu/na-harkov.html</a:t>
            </a:r>
          </a:p>
          <a:p xmlns:a="http://schemas.openxmlformats.org/drawingml/2006/main">
            <a:r>
              <a:t>https://www.kommersant.ru/doc/4141912</a:t>
            </a:r>
          </a:p>
          <a:p xmlns:a="http://schemas.openxmlformats.org/drawingml/2006/main">
            <a:r>
              <a:t>https://novayagazeta.eu/articles/2023/05/06/plokhoi-uchenik-limonova</a:t>
            </a:r>
          </a:p>
          <a:p xmlns:a="http://schemas.openxmlformats.org/drawingml/2006/main">
            <a:r>
              <a:t>https://tass.ru/politika/11761037</a:t>
            </a:r>
          </a:p>
          <a:p xmlns:a="http://schemas.openxmlformats.org/drawingml/2006/main">
            <a:r>
              <a:t>https://www.nn.ru/text/politics/2021/10/11/70186523/</a:t>
            </a:r>
          </a:p>
          <a:p xmlns:a="http://schemas.openxmlformats.org/drawingml/2006/main">
            <a:r>
              <a:t>https://www.zaks.ru/new/archive/view/267194</a:t>
            </a:r>
          </a:p>
          <a:p xmlns:a="http://schemas.openxmlformats.org/drawingml/2006/main">
            <a:r>
              <a:t>https://spravedlivo.ru/11288710</a:t>
            </a:r>
          </a:p>
          <a:p xmlns:a="http://schemas.openxmlformats.org/drawingml/2006/main">
            <a:r>
              <a:t>https://www.kommersant.ru/doc/4241515</a:t>
            </a:r>
          </a:p>
          <a:p xmlns:a="http://schemas.openxmlformats.org/drawingml/2006/main">
            <a:r>
              <a:t>https://zaharprilepin.ru/ru/pressa/intervyu/radio-komsomolskaja-pravda-10022021.html</a:t>
            </a:r>
          </a:p>
          <a:p xmlns:a="http://schemas.openxmlformats.org/drawingml/2006/main">
            <a:r>
              <a:t>https://pozneronline.ru/2024/04/36826/</a:t>
            </a:r>
          </a:p>
          <a:p xmlns:a="http://schemas.openxmlformats.org/drawingml/2006/main">
            <a:r>
              <a:t>https://www.rbc.ru/person/62a85a259a7947b9ae5d6360</a:t>
            </a:r>
          </a:p>
          <a:p xmlns:a="http://schemas.openxmlformats.org/drawingml/2006/main">
            <a:r>
              <a:t>https://tass.ru/encyclopedia/person/poklonskaya-natalya-vladimirovna</a:t>
            </a:r>
          </a:p>
          <a:p xmlns:a="http://schemas.openxmlformats.org/drawingml/2006/main">
            <a:r>
              <a:t>https://tass.ru/tag/poklonskaya-natalya-vladimirovna</a:t>
            </a:r>
          </a:p>
          <a:p xmlns:a="http://schemas.openxmlformats.org/drawingml/2006/main">
            <a:r>
              <a:t>https://www.bbc.com/russian/features-44801571</a:t>
            </a:r>
          </a:p>
          <a:p xmlns:a="http://schemas.openxmlformats.org/drawingml/2006/main">
            <a:r>
              <a:t>https://www.rbc.ru/rbcfreenews/5ba8bd499a794792294ba05d</a:t>
            </a:r>
          </a:p>
          <a:p xmlns:a="http://schemas.openxmlformats.org/drawingml/2006/main">
            <a:r>
              <a:t>https://www.dp.ru/a/2018/08/31/Poklonskaja_otreazirovala</a:t>
            </a:r>
          </a:p>
          <a:p xmlns:a="http://schemas.openxmlformats.org/drawingml/2006/main">
            <a:r>
              <a:t>https://www.themoscowtimes.com/2022/06/13/former-crimea-prosecutor-dismissed-after-anti-war-comments-a77983</a:t>
            </a:r>
          </a:p>
          <a:p xmlns:a="http://schemas.openxmlformats.org/drawingml/2006/main">
            <a:r>
              <a:t>https://www.rbc.ru/politics/30/06/2023/649dee189a79473e3fdc8906</a:t>
            </a:r>
          </a:p>
          <a:p xmlns:a="http://schemas.openxmlformats.org/drawingml/2006/main">
            <a:r>
              <a:t>http://council.gov.ru/structure/persons/1044/</a:t>
            </a:r>
          </a:p>
          <a:p xmlns:a="http://schemas.openxmlformats.org/drawingml/2006/main">
            <a:r>
              <a:t>http://council.gov.ru/services/reference/9156/</a:t>
            </a:r>
          </a:p>
          <a:p xmlns:a="http://schemas.openxmlformats.org/drawingml/2006/main">
            <a:r>
              <a:t>http://council.gov.ru/events/news/135415/</a:t>
            </a:r>
          </a:p>
          <a:p xmlns:a="http://schemas.openxmlformats.org/drawingml/2006/main">
            <a:r>
              <a:t>https://24smi.org/celebrity/1156-elena-mizulina.html</a:t>
            </a:r>
          </a:p>
          <a:p xmlns:a="http://schemas.openxmlformats.org/drawingml/2006/main">
            <a:r>
              <a:t>https://www.bfometr.ru/blog/elena-mizulina</a:t>
            </a:r>
          </a:p>
          <a:p xmlns:a="http://schemas.openxmlformats.org/drawingml/2006/main">
            <a:r>
              <a:t>https://www.rbc.ru/society/30/03/2018/5abe1b849a79470dc3826f68</a:t>
            </a:r>
          </a:p>
          <a:p xmlns:a="http://schemas.openxmlformats.org/drawingml/2006/main">
            <a:r>
              <a:t>https://uznayvse.ru/znamenitosti/biografiya-elena-mizulina.html</a:t>
            </a:r>
          </a:p>
          <a:p xmlns:a="http://schemas.openxmlformats.org/drawingml/2006/main">
            <a:r>
              <a:t>https://radiokp.ru/people/elena-mizulina</a:t>
            </a:r>
          </a:p>
          <a:p xmlns:a="http://schemas.openxmlformats.org/drawingml/2006/main">
            <a:r>
              <a:t>https://ru.wikipedia.org/wiki/%D0%9C%D0%B8%D0%B7%D1%83%D0%BB%D0%B8%D0%BD%D0%B0,_%D0%95%D0%BB%D0%B5%D0%BD%D0%B0_%D0%91%D0%BE%D1%80%D0%B8%D1%81%D0%BE%D0%B2%D0%BD%D0%B0</a:t>
            </a:r>
          </a:p>
          <a:p xmlns:a="http://schemas.openxmlformats.org/drawingml/2006/main">
            <a:r>
              <a:t>https://ru.wikipedia.org/wiki/Милонов,_Виталий_Валентинович</a:t>
            </a:r>
          </a:p>
          <a:p xmlns:a="http://schemas.openxmlformats.org/drawingml/2006/main">
            <a:r>
              <a:t>https://tass.ru/encyclopedia/person/milonov-vitaliy-valentinovich</a:t>
            </a:r>
          </a:p>
          <a:p xmlns:a="http://schemas.openxmlformats.org/drawingml/2006/main">
            <a:r>
              <a:t>https://www.pnp.ru/person/vitaliy-milonov/</a:t>
            </a:r>
          </a:p>
          <a:p xmlns:a="http://schemas.openxmlformats.org/drawingml/2006/main">
            <a:r>
              <a:t>https://www.zaks.ru/new/person/view/172</a:t>
            </a:r>
          </a:p>
          <a:p xmlns:a="http://schemas.openxmlformats.org/drawingml/2006/main">
            <a:r>
              <a:t>https://svpressa.ru/persons/vitaliy-milonov/</a:t>
            </a:r>
          </a:p>
          <a:p xmlns:a="http://schemas.openxmlformats.org/drawingml/2006/main">
            <a:r>
              <a:t>https://stuki-druki.com/authors/Milonov-Vitaliy.php</a:t>
            </a:r>
          </a:p>
          <a:p xmlns:a="http://schemas.openxmlformats.org/drawingml/2006/main">
            <a:r>
              <a:t>https://pa.inion.ru/persons/7104/</a:t>
            </a:r>
          </a:p>
          <a:p xmlns:a="http://schemas.openxmlformats.org/drawingml/2006/main">
            <a:r>
              <a:t>https://pa.inion.ru/documents/16503/</a:t>
            </a:r>
          </a:p>
          <a:p xmlns:a="http://schemas.openxmlformats.org/drawingml/2006/main">
            <a:r>
              <a:t>https://pa.inion.ru/documents/27860/</a:t>
            </a:r>
          </a:p>
          <a:p xmlns:a="http://schemas.openxmlformats.org/drawingml/2006/main">
            <a:r>
              <a:t>https://kprf.ru/personal/ostanina</a:t>
            </a:r>
          </a:p>
          <a:p xmlns:a="http://schemas.openxmlformats.org/drawingml/2006/main">
            <a:r>
              <a:t>https://pa.inion.ru/documents/25577/</a:t>
            </a:r>
          </a:p>
          <a:p xmlns:a="http://schemas.openxmlformats.org/drawingml/2006/main">
            <a:r>
              <a:t>https://kprf.ru/dep/gosduma/activities/245108.html</a:t>
            </a:r>
          </a:p>
          <a:p xmlns:a="http://schemas.openxmlformats.org/drawingml/2006/main">
            <a:r>
              <a:t>https://www.pnp.ru/social/zashhita-detskogo-byudzheta-kruzhki-sokhranit-vyplaty-iz-matkapitala-uvelichit.html</a:t>
            </a:r>
          </a:p>
          <a:p xmlns:a="http://schemas.openxmlformats.org/drawingml/2006/main">
            <a:r>
              <a:t>https://www.pnp.ru/state-duma/nina-ostanina-o-byudzhete-na-2027-2029-gody-semeynoy-ipoteke-i-matkapitale.html</a:t>
            </a:r>
          </a:p>
          <a:p xmlns:a="http://schemas.openxmlformats.org/drawingml/2006/main">
            <a:r>
              <a:t>https://uznayvse.ru/znamenitosti/biografiya-nina-ostanina.html</a:t>
            </a:r>
          </a:p>
          <a:p xmlns:a="http://schemas.openxmlformats.org/drawingml/2006/main">
            <a:r>
              <a:t>https://dumatv.ru/news/ostanina--borba-za-mirovozzrencheskii-suverenitet-stanovitsya-gosudarstvennoi-politikoi</a:t>
            </a:r>
          </a:p>
          <a:p xmlns:a="http://schemas.openxmlformats.org/drawingml/2006/main">
            <a:r>
              <a:t>https://kprf.ru/dep/gosduma/activities/242132.html</a:t>
            </a:r>
          </a:p>
          <a:p xmlns:a="http://schemas.openxmlformats.org/drawingml/2006/main">
            <a:r>
              <a:t>https://www.business-gazeta.ru/article/625616</a:t>
            </a:r>
          </a:p>
          <a:p xmlns:a="http://schemas.openxmlformats.org/drawingml/2006/main">
            <a:r>
              <a:t>https://www.kommersant.ru/doc/3235400</a:t>
            </a:r>
          </a:p>
          <a:p xmlns:a="http://schemas.openxmlformats.org/drawingml/2006/main">
            <a:r>
              <a:t>https://www.rbc.ru/person/67d838f09a7947cdef0b1a95</a:t>
            </a:r>
          </a:p>
          <a:p xmlns:a="http://schemas.openxmlformats.org/drawingml/2006/main">
            <a:r>
              <a:t>https://www.vedomosti.ru/politics/articles/2020/03/10/824795-tereshkova-predlozhila</a:t>
            </a:r>
          </a:p>
          <a:p xmlns:a="http://schemas.openxmlformats.org/drawingml/2006/main">
            <a:r>
              <a:t>http://duma.gov.ru/news/49164/</a:t>
            </a:r>
          </a:p>
          <a:p xmlns:a="http://schemas.openxmlformats.org/drawingml/2006/main">
            <a:r>
              <a:t>https://meduza.io/news/2020/03/12/delayut-vse-dlya-togo-chtoby-gadosti-delat-tereshkova-o-protivnikah-popravki-obnulyayuschey-sroki-putina</a:t>
            </a:r>
          </a:p>
          <a:p xmlns:a="http://schemas.openxmlformats.org/drawingml/2006/main">
            <a:r>
              <a:t>https://meduza.io/feature/2020/03/10/gosduma-neozhidanno-dlya-sebya-obespechila-putina-novymi-prezidentskimi-srokami</a:t>
            </a:r>
          </a:p>
          <a:p xmlns:a="http://schemas.openxmlformats.org/drawingml/2006/main">
            <a:r>
              <a:t>https://hinshtein.ru/biography/</a:t>
            </a:r>
          </a:p>
          <a:p xmlns:a="http://schemas.openxmlformats.org/drawingml/2006/main">
            <a:r>
              <a:t>https://www.vedomosti.ru/politics/articles/2024/12/06/1079852-kto-takoi-aleksandr-hinshtein</a:t>
            </a:r>
          </a:p>
          <a:p xmlns:a="http://schemas.openxmlformats.org/drawingml/2006/main">
            <a:r>
              <a:t>https://www.rbc.ru/person/6752d12a9a7947d62166795e</a:t>
            </a:r>
          </a:p>
          <a:p xmlns:a="http://schemas.openxmlformats.org/drawingml/2006/main">
            <a:r>
              <a:t>https://www.rbc.ru/politics/06/12/2024/675207239a7947e74994842e</a:t>
            </a:r>
          </a:p>
          <a:p xmlns:a="http://schemas.openxmlformats.org/drawingml/2006/main">
            <a:r>
              <a:t>https://hinshtein.ru/news/aleksandr-hinshtejn-podvyol-itogi-goda-raboty-komiteta-gosdumy-po-informpolitike-informatsionnym-tehnologiyam-i-svyazi/</a:t>
            </a:r>
          </a:p>
          <a:p xmlns:a="http://schemas.openxmlformats.org/drawingml/2006/main">
            <a:r>
              <a:t>https://hinshtein.ru/news/a-hinshtejn-itogi-raboty-za-vii-sozyv/</a:t>
            </a:r>
          </a:p>
          <a:p xmlns:a="http://schemas.openxmlformats.org/drawingml/2006/main">
            <a:r>
              <a:t>https://www.kommersant.ru/doc/4660427</a:t>
            </a:r>
          </a:p>
          <a:p xmlns:a="http://schemas.openxmlformats.org/drawingml/2006/main">
            <a:r>
              <a:t>https://www.kommersant.ru/doc/4104004</a:t>
            </a:r>
          </a:p>
          <a:p xmlns:a="http://schemas.openxmlformats.org/drawingml/2006/main">
            <a:r>
              <a:t>https://www.nvgazeta.ru/news/12383/634260/</a:t>
            </a:r>
          </a:p>
          <a:p xmlns:a="http://schemas.openxmlformats.org/drawingml/2006/main">
            <a:r>
              <a:t>https://kpravda.ru/2025/02/11/kursk-poluchit-dengi-iz-gosbyudzheta-na-restavracziyu-istoricheskoj-kreposti/</a:t>
            </a:r>
          </a:p>
          <a:p xmlns:a="http://schemas.openxmlformats.org/drawingml/2006/main">
            <a:r>
              <a:t>https://tass.ru/obschestvo/24001633</a:t>
            </a:r>
          </a:p>
          <a:p xmlns:a="http://schemas.openxmlformats.org/drawingml/2006/main">
            <a:r>
              <a:t>https://www.kommersant.ru/doc/7737032</a:t>
            </a:r>
          </a:p>
          <a:p xmlns:a="http://schemas.openxmlformats.org/drawingml/2006/main">
            <a:r>
              <a:t>https://kpravda.ru/2025/03/21/edinaya-rossiya-pomozhet-v-restavraczii-kurskih-pamyatnikov/</a:t>
            </a:r>
          </a:p>
          <a:p xmlns:a="http://schemas.openxmlformats.org/drawingml/2006/main">
            <a:r>
              <a:t>https://news-kursk.ru/society/2025/07/13/65824.html</a:t>
            </a:r>
          </a:p>
          <a:p xmlns:a="http://schemas.openxmlformats.org/drawingml/2006/main">
            <a:r>
              <a:t>https://news.ru/russia/v-kurske-budet-alleya-geroev-hinshtejn-o-muzee-i-memoriale-zhertvam-vsu</a:t>
            </a:r>
          </a:p>
          <a:p xmlns:a="http://schemas.openxmlformats.org/drawingml/2006/main">
            <a:r>
              <a:t>https://ru.wikipedia.org/wiki/Пушков,_Алексей_Константинович</a:t>
            </a:r>
          </a:p>
          <a:p xmlns:a="http://schemas.openxmlformats.org/drawingml/2006/main">
            <a:r>
              <a:t>http://council.gov.ru/structure/persons/1316/</a:t>
            </a:r>
          </a:p>
          <a:p xmlns:a="http://schemas.openxmlformats.org/drawingml/2006/main">
            <a:r>
              <a:t>http://council.gov.ru/media/files/xjE2QHRAivCH7onABehAcG7OsnrO6DYb.pdf</a:t>
            </a:r>
          </a:p>
          <a:p xmlns:a="http://schemas.openxmlformats.org/drawingml/2006/main">
            <a:r>
              <a:t>https://base.garant.ru/406310971/</a:t>
            </a:r>
          </a:p>
          <a:p xmlns:a="http://schemas.openxmlformats.org/drawingml/2006/main">
            <a:r>
              <a:t>https://russiancouncil.ru/aleksey-pushkov/</a:t>
            </a:r>
          </a:p>
          <a:p xmlns:a="http://schemas.openxmlformats.org/drawingml/2006/main">
            <a:r>
              <a:t>http://legislation.council.gov.ru/events/announce/</a:t>
            </a:r>
          </a:p>
          <a:p xmlns:a="http://schemas.openxmlformats.org/drawingml/2006/main">
            <a:r>
              <a:t>http://council.gov.ru/events/news/173810/</a:t>
            </a:r>
          </a:p>
          <a:p xmlns:a="http://schemas.openxmlformats.org/drawingml/2006/main">
            <a:r>
              <a:t>http://www.council.gov.ru/events/news/175997/</a:t>
            </a:r>
          </a:p>
          <a:p xmlns:a="http://schemas.openxmlformats.org/drawingml/2006/main">
            <a:r>
              <a:t>http://council.gov.ru/media/report/pdf/HtoXfAAzeBJ8JwN0eAduo3rejTAYhqvB.pdf</a:t>
            </a:r>
          </a:p>
          <a:p xmlns:a="http://schemas.openxmlformats.org/drawingml/2006/main">
            <a:r>
              <a:t>http://council.gov.ru/events/news/164749/</a:t>
            </a:r>
          </a:p>
          <a:p xmlns:a="http://schemas.openxmlformats.org/drawingml/2006/main">
            <a:r>
              <a:t>https://t.me/s/alexey_pushkov?before=14914</a:t>
            </a:r>
          </a:p>
          <a:p xmlns:a="http://schemas.openxmlformats.org/drawingml/2006/main">
            <a:r>
              <a:t>http://legislation.council.gov.ru/events/multimedia/video/302078/</a:t>
            </a:r>
          </a:p>
          <a:p xmlns:a="http://schemas.openxmlformats.org/drawingml/2006/main">
            <a:r>
              <a:t>http://council.gov.ru/media/report/pdf/e8Awe3U6hNouHwSvME53OSPGGWxTeVAl.pdf</a:t>
            </a:r>
          </a:p>
          <a:p xmlns:a="http://schemas.openxmlformats.org/drawingml/2006/main">
            <a:r>
              <a:t>https://www.vedomosti.ru/person/1178385-kosachev-konstantin</a:t>
            </a:r>
          </a:p>
          <a:p xmlns:a="http://schemas.openxmlformats.org/drawingml/2006/main">
            <a:r>
              <a:t>https://www.interfax.ru/interview/812963</a:t>
            </a:r>
          </a:p>
          <a:p xmlns:a="http://schemas.openxmlformats.org/drawingml/2006/main">
            <a:r>
              <a:t>https://senatinform.ru/news/yuzhnuyu_osetiyu_neobkhodimo_vyvodit_iz_iskusstvennoy_izolyatsii_schitayut_rossiyskie_senatory_/</a:t>
            </a:r>
          </a:p>
          <a:p xmlns:a="http://schemas.openxmlformats.org/drawingml/2006/main">
            <a:r>
              <a:t>https://senatinform.ru/news/kosachyev_rossiya_gotova_rabotat_s_mps_s_uchyetom_ozabochennostey_nashey_strany/</a:t>
            </a:r>
          </a:p>
          <a:p xmlns:a="http://schemas.openxmlformats.org/drawingml/2006/main">
            <a:r>
              <a:t>https://www.bfm.ru/person/61</a:t>
            </a:r>
          </a:p>
          <a:p xmlns:a="http://schemas.openxmlformats.org/drawingml/2006/main">
            <a:r>
              <a:t>https://svpressa.ru/persons/konstantin-kosachev/</a:t>
            </a:r>
          </a:p>
          <a:p xmlns:a="http://schemas.openxmlformats.org/drawingml/2006/main">
            <a:r>
              <a:t>https://www.pnp.ru/person/konstantin-kosachev/</a:t>
            </a:r>
          </a:p>
          <a:p xmlns:a="http://schemas.openxmlformats.org/drawingml/2006/main">
            <a:r>
              <a:t>https://www.pnp.ru/politics/konstantin-kosachev-dlya-ssha-voyna-s-rossiey-eto-samoubiystvo.html</a:t>
            </a:r>
          </a:p>
          <a:p xmlns:a="http://schemas.openxmlformats.org/drawingml/2006/main">
            <a:r>
              <a:t>https://www.mlg.ru/ratings/vlast/senators/10844/</a:t>
            </a:r>
          </a:p>
          <a:p xmlns:a="http://schemas.openxmlformats.org/drawingml/2006/main">
            <a:r>
              <a:t>http://council.gov.ru/events/news/173506/</a:t>
            </a:r>
          </a:p>
          <a:p xmlns:a="http://schemas.openxmlformats.org/drawingml/2006/main">
            <a:r>
              <a:t>https://t.me/s/Kosachev62</a:t>
            </a:r>
          </a:p>
          <a:p xmlns:a="http://schemas.openxmlformats.org/drawingml/2006/main">
            <a:r>
              <a:t>http://council.gov.ru/events/news/177602/</a:t>
            </a:r>
          </a:p>
          <a:p xmlns:a="http://schemas.openxmlformats.org/drawingml/2006/main">
            <a:r>
              <a:t>https://vmeste-rf.tv/programs/205/konstantin-kosachev-sotrudnichestvo-rossii-i-efiopii-itogi-vizita-delegatsii-sf/</a:t>
            </a:r>
          </a:p>
          <a:p xmlns:a="http://schemas.openxmlformats.org/drawingml/2006/main">
            <a:r>
              <a:t>https://www.rbc.ru/person/64b8e1909a79474f30e86f98</a:t>
            </a:r>
          </a:p>
          <a:p xmlns:a="http://schemas.openxmlformats.org/drawingml/2006/main">
            <a:r>
              <a:t>https://www.kommersant.ru/doc/6041063</a:t>
            </a:r>
          </a:p>
          <a:p xmlns:a="http://schemas.openxmlformats.org/drawingml/2006/main">
            <a:r>
              <a:t>https://www.mos.ru/mayor/themes/6907050/</a:t>
            </a:r>
          </a:p>
          <a:p xmlns:a="http://schemas.openxmlformats.org/drawingml/2006/main">
            <a:r>
              <a:t>https://www.mos.ru/mayor/themes/7037050/</a:t>
            </a:r>
          </a:p>
          <a:p xmlns:a="http://schemas.openxmlformats.org/drawingml/2006/main">
            <a:r>
              <a:t>https://www.mos.ru/mayor/themes/8822050/</a:t>
            </a:r>
          </a:p>
          <a:p xmlns:a="http://schemas.openxmlformats.org/drawingml/2006/main">
            <a:r>
              <a:t>http://special.kremlin.ru/catalog/persons/38/events/70467</a:t>
            </a:r>
          </a:p>
          <a:p xmlns:a="http://schemas.openxmlformats.org/drawingml/2006/main">
            <a:r>
              <a:t>https://www.mos.ru/upload/content/files/15af077500dcc5a1547bf728abf25669/15Zakong_Moskviot17_05_2017N14Odopolnitelnihgaranti.pdf</a:t>
            </a:r>
          </a:p>
          <a:p xmlns:a="http://schemas.openxmlformats.org/drawingml/2006/main">
            <a:r>
              <a:t>https://www.rbc.ru/politics/03/05/2023/645245159a794763ce66d990</a:t>
            </a:r>
          </a:p>
          <a:p xmlns:a="http://schemas.openxmlformats.org/drawingml/2006/main">
            <a:r>
              <a:t>https://www.dw.com/ru/ataka-dronov-v-moskve-i-podmoskove-cto-izvestno/a-65771767</a:t>
            </a:r>
          </a:p>
          <a:p xmlns:a="http://schemas.openxmlformats.org/drawingml/2006/main">
            <a:r>
              <a:t>https://www.rbc.ru/politics/01/08/2023/64c856ce9a79471a722e13ad</a:t>
            </a:r>
          </a:p>
          <a:p xmlns:a="http://schemas.openxmlformats.org/drawingml/2006/main">
            <a:r>
              <a:t>https://www.rbc.ru/politics/23/08/2023/64e54f299a794789ddb55c65</a:t>
            </a:r>
          </a:p>
          <a:p xmlns:a="http://schemas.openxmlformats.org/drawingml/2006/main">
            <a:r>
              <a:t>https://ru.wikipedia.org/wiki/Беглов,_Александр_Дмитриевич</a:t>
            </a:r>
          </a:p>
          <a:p xmlns:a="http://schemas.openxmlformats.org/drawingml/2006/main">
            <a:r>
              <a:t>https://www.gov.spb.ru/governor/</a:t>
            </a:r>
          </a:p>
          <a:p xmlns:a="http://schemas.openxmlformats.org/drawingml/2006/main">
            <a:r>
              <a:t>https://www.rbc.ru/politics/30/05/2019/5cf02cf09a79475ed4d2fa3f</a:t>
            </a:r>
          </a:p>
          <a:p xmlns:a="http://schemas.openxmlformats.org/drawingml/2006/main">
            <a:r>
              <a:t>https://www.themoscowtimes.com/2019/09/11/st-petersburg-re-elects-governor-beglov-after-controversial-campaign-a67240</a:t>
            </a:r>
          </a:p>
          <a:p xmlns:a="http://schemas.openxmlformats.org/drawingml/2006/main">
            <a:r>
              <a:t>https://www.gov.spb.ru/press/governor/188637/</a:t>
            </a:r>
          </a:p>
          <a:p xmlns:a="http://schemas.openxmlformats.org/drawingml/2006/main">
            <a:r>
              <a:t>https://www.gov.spb.ru/press/governor/213661/</a:t>
            </a:r>
          </a:p>
          <a:p xmlns:a="http://schemas.openxmlformats.org/drawingml/2006/main">
            <a:r>
              <a:t>https://www.gov.spb.ru/press/governor/258831/</a:t>
            </a:r>
          </a:p>
          <a:p xmlns:a="http://schemas.openxmlformats.org/drawingml/2006/main">
            <a:r>
              <a:t>https://www.gov.spb.ru/governor/interview/7333/</a:t>
            </a:r>
          </a:p>
          <a:p xmlns:a="http://schemas.openxmlformats.org/drawingml/2006/main">
            <a:r>
              <a:t>https://tass.ru/interviews/21839179</a:t>
            </a:r>
          </a:p>
          <a:p xmlns:a="http://schemas.openxmlformats.org/drawingml/2006/main">
            <a:r>
              <a:t>https://www.gov.spb.ru/press/governor/236663/</a:t>
            </a:r>
          </a:p>
          <a:p xmlns:a="http://schemas.openxmlformats.org/drawingml/2006/main">
            <a:r>
              <a:t>https://tvspb.ru/news/2022/09/21/aleksandr-beglov-ukaz-prezidenta-o-chastichnoj-mobilizaczii-byl-trudnym-no-neobhodimym-shagom</a:t>
            </a:r>
          </a:p>
          <a:p xmlns:a="http://schemas.openxmlformats.org/drawingml/2006/main">
            <a:r>
              <a:t>https://spbvedomosti.ru/news/gorod/gubernator-aleksandr-beglov-obyavil-o-zavershenii-chastichnoy-mobilizatsii/</a:t>
            </a:r>
          </a:p>
          <a:p xmlns:a="http://schemas.openxmlformats.org/drawingml/2006/main">
            <a:r>
              <a:t>https://www.gov.spb.ru/press/governor/253716/</a:t>
            </a:r>
          </a:p>
          <a:p xmlns:a="http://schemas.openxmlformats.org/drawingml/2006/main">
            <a:r>
              <a:t>https://www.gov.spb.ru/press/governor/290070/</a:t>
            </a:r>
          </a:p>
          <a:p xmlns:a="http://schemas.openxmlformats.org/drawingml/2006/main">
            <a:r>
              <a:t>https://spbdnevnik.ru/news/2022-10-06/aleksandr-beglov-rasskazal-o-prizyve-po-mobilizatsii-peterburzhtsa-s-odnoy-pochkoy</a:t>
            </a:r>
          </a:p>
          <a:p xmlns:a="http://schemas.openxmlformats.org/drawingml/2006/main">
            <a:r>
              <a:t>https://www.rbc.ru/person/62c5c0899a79470082fa57eb</a:t>
            </a:r>
          </a:p>
          <a:p xmlns:a="http://schemas.openxmlformats.org/drawingml/2006/main">
            <a:r>
              <a:t>https://www.kavkaz-uzel.eu/articles/85366</a:t>
            </a:r>
          </a:p>
          <a:p xmlns:a="http://schemas.openxmlformats.org/drawingml/2006/main">
            <a:r>
              <a:t>https://news.ru/regions/my-dolzhny-zabrat-vsyu-ukrainu-chto-kadyrov-govoril-ob-svo-rossii-putine</a:t>
            </a:r>
          </a:p>
          <a:p xmlns:a="http://schemas.openxmlformats.org/drawingml/2006/main">
            <a:r>
              <a:t>https://minval.az/k/ramzan-kadyrov</a:t>
            </a:r>
          </a:p>
          <a:p xmlns:a="http://schemas.openxmlformats.org/drawingml/2006/main">
            <a:r>
              <a:t>http://publication.pravo.gov.ru/document/2000202609160002</a:t>
            </a:r>
          </a:p>
          <a:p xmlns:a="http://schemas.openxmlformats.org/drawingml/2006/main">
            <a:r>
              <a:t>https://vestikavkaza.ru/amp/291219</a:t>
            </a:r>
          </a:p>
          <a:p xmlns:a="http://schemas.openxmlformats.org/drawingml/2006/main">
            <a:r>
              <a:t>https://tass.ru/obschestvo/25968415</a:t>
            </a:r>
          </a:p>
          <a:p xmlns:a="http://schemas.openxmlformats.org/drawingml/2006/main">
            <a:r>
              <a:t>https://www.rbc.ru/rbcfreenews/694558f89a794775c8b05d2e</a:t>
            </a:r>
          </a:p>
          <a:p xmlns:a="http://schemas.openxmlformats.org/drawingml/2006/main">
            <a:r>
              <a:t>https://rais.tatarstan.ru/biografiya.htm</a:t>
            </a:r>
          </a:p>
          <a:p xmlns:a="http://schemas.openxmlformats.org/drawingml/2006/main">
            <a:r>
              <a:t>https://rt.rbc.ru/tatarstan/freenews/68c7f77d9a79472be550408e</a:t>
            </a:r>
          </a:p>
          <a:p xmlns:a="http://schemas.openxmlformats.org/drawingml/2006/main">
            <a:r>
              <a:t>https://rt.rbc.ru/tatarstan/freenews/68c90bdc9a794783273a16b6</a:t>
            </a:r>
          </a:p>
          <a:p xmlns:a="http://schemas.openxmlformats.org/drawingml/2006/main">
            <a:r>
              <a:t>https://tass.ru/politika/25045679</a:t>
            </a:r>
          </a:p>
          <a:p xmlns:a="http://schemas.openxmlformats.org/drawingml/2006/main">
            <a:r>
              <a:t>https://tass.ru/info/25058299</a:t>
            </a:r>
          </a:p>
          <a:p xmlns:a="http://schemas.openxmlformats.org/drawingml/2006/main">
            <a:r>
              <a:t>https://tatarstan.ru/index.htm/news/2454245.htm</a:t>
            </a:r>
          </a:p>
          <a:p xmlns:a="http://schemas.openxmlformats.org/drawingml/2006/main">
            <a:r>
              <a:t>https://izbirkom.tatarstan.ru/file/pub/pub_4719790.docx</a:t>
            </a:r>
          </a:p>
          <a:p xmlns:a="http://schemas.openxmlformats.org/drawingml/2006/main">
            <a:r>
              <a:t>http://www.pfo.gov.ru/press/events/112125/</a:t>
            </a:r>
          </a:p>
          <a:p xmlns:a="http://schemas.openxmlformats.org/drawingml/2006/main">
            <a:r>
              <a:t>https://www.tatar-inform.ru/news/rustam-minnixanov-sankcii-ne-koncatsya-poka-my-ne-stanem-samodostatocnymi-5896958</a:t>
            </a:r>
          </a:p>
          <a:p xmlns:a="http://schemas.openxmlformats.org/drawingml/2006/main">
            <a:r>
              <a:t>https://tatarstan.ru/index.htm/news/1916025.htm</a:t>
            </a:r>
          </a:p>
          <a:p xmlns:a="http://schemas.openxmlformats.org/drawingml/2006/main">
            <a:r>
              <a:t>https://kitaphane.tatarstan.ru/digital.htm</a:t>
            </a:r>
          </a:p>
          <a:p xmlns:a="http://schemas.openxmlformats.org/drawingml/2006/main">
            <a:r>
              <a:t>https://kt.tatarstan.ru/index.htm/news/2266706.htm</a:t>
            </a:r>
          </a:p>
          <a:p xmlns:a="http://schemas.openxmlformats.org/drawingml/2006/main">
            <a:r>
              <a:t>https://tatarstan.ru/index.htm/news/2460505.htm</a:t>
            </a:r>
          </a:p>
          <a:p xmlns:a="http://schemas.openxmlformats.org/drawingml/2006/main">
            <a:r>
              <a:t>https://digital.tatarstan.ru/index.htm/news/2460691.htm</a:t>
            </a:r>
          </a:p>
          <a:p xmlns:a="http://schemas.openxmlformats.org/drawingml/2006/main">
            <a:r>
              <a:t>https://amp.rbc.ru/rbcnews/politics/09/07/2020/5f06bbb69a79475c40a9a094</a:t>
            </a:r>
          </a:p>
          <a:p xmlns:a="http://schemas.openxmlformats.org/drawingml/2006/main">
            <a:r>
              <a:t>https://1kas.sudrf.ru/modules.php?name=sud_delo&amp;name_op=doc&amp;number=39453936&amp;delo_id=2450001&amp;case_type=0&amp;new=2450001&amp;text_number=1&amp;srv_num=1</a:t>
            </a:r>
          </a:p>
          <a:p xmlns:a="http://schemas.openxmlformats.org/drawingml/2006/main">
            <a:r>
              <a:t>https://www.interfax.ru/russia/982916</a:t>
            </a:r>
          </a:p>
          <a:p xmlns:a="http://schemas.openxmlformats.org/drawingml/2006/main">
            <a:r>
              <a:t>https://www.svoboda.org/a/sud-ostavil-v-sile-prigovor-habarovskomu-eks-gubernatoru-sergeyu-furgalu/32686024.html</a:t>
            </a:r>
          </a:p>
          <a:p xmlns:a="http://schemas.openxmlformats.org/drawingml/2006/main">
            <a:r>
              <a:t>https://www.dw.com/ru/kommentarij-furgal-peresidit-putina/a-64670560</a:t>
            </a:r>
          </a:p>
          <a:p xmlns:a="http://schemas.openxmlformats.org/drawingml/2006/main">
            <a:r>
              <a:t>https://www.kommersant.ru/doc/3896415</a:t>
            </a:r>
          </a:p>
          <a:p xmlns:a="http://schemas.openxmlformats.org/drawingml/2006/main">
            <a:r>
              <a:t>https://todaykhv.ru/news/policy/19386/</a:t>
            </a:r>
          </a:p>
          <a:p xmlns:a="http://schemas.openxmlformats.org/drawingml/2006/main">
            <a:r>
              <a:t>https://meduza.io/feature/2018/09/19/ya-dumayu-chto-situatsiya-kak-v-primorie-u-nas-ne-povtoritsya</a:t>
            </a:r>
          </a:p>
          <a:p xmlns:a="http://schemas.openxmlformats.org/drawingml/2006/main">
            <a:r>
              <a:t>https://govoritmoskva.ru/news/174327/</a:t>
            </a:r>
          </a:p>
          <a:p xmlns:a="http://schemas.openxmlformats.org/drawingml/2006/main">
            <a:r>
              <a:t>https://todaykhv.ru/news/policy/22426/?sphrase_id=2620206</a:t>
            </a:r>
          </a:p>
          <a:p xmlns:a="http://schemas.openxmlformats.org/drawingml/2006/main">
            <a:r>
              <a:t>https://ru.wikipedia.org/wiki/%D0%A4%D1%83%D1%80%D0%B3%D0%B0%D0%BB,_%D0%A1%D0%B5%D1%80%D0%B3%D0%B5%D0%B9_%D0%98%D0%B2%D0%B0%D0%BD%D0%BE%D0%B2%D0%B8%D1%87</a:t>
            </a:r>
          </a:p>
          <a:p xmlns:a="http://schemas.openxmlformats.org/drawingml/2006/main">
            <a:r>
              <a:t>https://novayagazeta.ru/articles/2018/09/18/77870-ne-dopuschu-zdes-revolyutsii</a:t>
            </a:r>
          </a:p>
          <a:p xmlns:a="http://schemas.openxmlformats.org/drawingml/2006/main">
            <a:r>
              <a:t>https://opkhv.ru/publications/4888</a:t>
            </a:r>
          </a:p>
          <a:p xmlns:a="http://schemas.openxmlformats.org/drawingml/2006/main">
            <a:r>
              <a:t>https://meduza.io/feature/2019/08/26/partiya-vlasti-zdes-ldpr</a:t>
            </a:r>
          </a:p>
          <a:p xmlns:a="http://schemas.openxmlformats.org/drawingml/2006/main">
            <a:r>
              <a:t>https://tass.ru/obschestvo/5946495</a:t>
            </a:r>
          </a:p>
          <a:p xmlns:a="http://schemas.openxmlformats.org/drawingml/2006/main">
            <a:r>
              <a:t>https://amurmedia.ru/news/775590/</a:t>
            </a:r>
          </a:p>
          <a:p xmlns:a="http://schemas.openxmlformats.org/drawingml/2006/main">
            <a:r>
              <a:t>https://www.eastrussia.ru/material/ne-planiruyushchim-pereezzhat-sovetuyu-pomolchat/</a:t>
            </a:r>
          </a:p>
          <a:p xmlns:a="http://schemas.openxmlformats.org/drawingml/2006/main">
            <a:r>
              <a:t>https://www.dw.com/ru/v-habarovske-priznali-ekstremistskim-dvizenie-v-zasitu-furgala/a-68334442</a:t>
            </a:r>
          </a:p>
          <a:p xmlns:a="http://schemas.openxmlformats.org/drawingml/2006/main">
            <a:r>
              <a:t>https://www.rbc.ru/person/66475fec9a79475c4d9443ad</a:t>
            </a:r>
          </a:p>
          <a:p xmlns:a="http://schemas.openxmlformats.org/drawingml/2006/main">
            <a:r>
              <a:t>https://tass.ru/info/12453099</a:t>
            </a:r>
          </a:p>
          <a:p xmlns:a="http://schemas.openxmlformats.org/drawingml/2006/main">
            <a:r>
              <a:t>https://tass.ru/info/9007455</a:t>
            </a:r>
          </a:p>
          <a:p xmlns:a="http://schemas.openxmlformats.org/drawingml/2006/main">
            <a:r>
              <a:t>https://tass.ru/info/20795009</a:t>
            </a:r>
          </a:p>
          <a:p xmlns:a="http://schemas.openxmlformats.org/drawingml/2006/main">
            <a:r>
              <a:t>https://tass.ru/encyclopedia/person/degtyarev-mihail-vladimirovich</a:t>
            </a:r>
          </a:p>
          <a:p xmlns:a="http://schemas.openxmlformats.org/drawingml/2006/main">
            <a:r>
              <a:t>https://www.rbc.ru/politics/20/07/2020/5f1586289a794722b2457d61</a:t>
            </a:r>
          </a:p>
          <a:p xmlns:a="http://schemas.openxmlformats.org/drawingml/2006/main">
            <a:r>
              <a:t>https://www.minsport.gov.ru/press-center/news/intervyu-mihaila-degtyareva-gazete-kommersant/</a:t>
            </a:r>
          </a:p>
          <a:p xmlns:a="http://schemas.openxmlformats.org/drawingml/2006/main">
            <a:r>
              <a:t>https://minsport.gov.ru/press-center/news/mihail-degtyarev-nashe-mesto-za-stolom-a-ne-v-perednej/</a:t>
            </a:r>
          </a:p>
          <a:p xmlns:a="http://schemas.openxmlformats.org/drawingml/2006/main">
            <a:r>
              <a:t>https://news.ru/vlast/degtyarev-prizval-ne-doveryat-evrope-provedenie-sorevnovanij</a:t>
            </a:r>
          </a:p>
          <a:p xmlns:a="http://schemas.openxmlformats.org/drawingml/2006/main">
            <a:r>
              <a:t>https://www.interfax.ru/presscenter/622170</a:t>
            </a:r>
          </a:p>
          <a:p xmlns:a="http://schemas.openxmlformats.org/drawingml/2006/main">
            <a:r>
              <a:t>https://tass.ru/interviews/13152777</a:t>
            </a:r>
          </a:p>
          <a:p xmlns:a="http://schemas.openxmlformats.org/drawingml/2006/main">
            <a:r>
              <a:t>https://www.sports.ru/others/blogs/3302024.html</a:t>
            </a:r>
          </a:p>
          <a:p xmlns:a="http://schemas.openxmlformats.org/drawingml/2006/main">
            <a:r>
              <a:t>https://www.vremyan.ru/news/556863</a:t>
            </a:r>
          </a:p>
          <a:p xmlns:a="http://schemas.openxmlformats.org/drawingml/2006/main">
            <a:r>
              <a:t>https://kprf.ru/personal/levchenko</a:t>
            </a:r>
          </a:p>
          <a:p xmlns:a="http://schemas.openxmlformats.org/drawingml/2006/main">
            <a:r>
              <a:t>https://www.rbc.ru/politics/23/06/2020/5ef0bd949a7947b3cd3dcba6</a:t>
            </a:r>
          </a:p>
          <a:p xmlns:a="http://schemas.openxmlformats.org/drawingml/2006/main">
            <a:r>
              <a:t>https://kprf.ru/party-live/regnews/194838.html</a:t>
            </a:r>
          </a:p>
          <a:p xmlns:a="http://schemas.openxmlformats.org/drawingml/2006/main">
            <a:r>
              <a:t>https://liveangarsk.ru/news/20191214/v-slozhivsheisya</a:t>
            </a:r>
          </a:p>
          <a:p xmlns:a="http://schemas.openxmlformats.org/drawingml/2006/main">
            <a:r>
              <a:t>https://kprf.ru/dep/gosduma/activities/240271.html</a:t>
            </a:r>
          </a:p>
          <a:p xmlns:a="http://schemas.openxmlformats.org/drawingml/2006/main">
            <a:r>
              <a:t>https://kprf.ru/dep/gosduma/activities/241686.html</a:t>
            </a:r>
          </a:p>
          <a:p xmlns:a="http://schemas.openxmlformats.org/drawingml/2006/main">
            <a:r>
              <a:t>https://altairk.ru/new/policy/the_message_of_the_governor</a:t>
            </a:r>
          </a:p>
          <a:p xmlns:a="http://schemas.openxmlformats.org/drawingml/2006/main">
            <a:r>
              <a:t>https://kto-irkutsk.ru/2026/07/20/sergej-levchenko-deyatelnost-i-zayavleniya-i-ix-ocenka/</a:t>
            </a:r>
          </a:p>
          <a:p xmlns:a="http://schemas.openxmlformats.org/drawingml/2006/main">
            <a:r>
              <a:t>https://ru.wikipedia.org/wiki/%D0%9B%D0%B5%D0%B2%D1%87%D0%B5%D0%BD%D0%BA%D0%BE,_%D0%A1%D0%B5%D1%80%D0%B3%D0%B5%D0%B9_%D0%93%D0%B5%D0%BE%D1%80%D0%B3%D0%B8%D0%B5%D0%B2%D0%B8%D1%87</a:t>
            </a:r>
          </a:p>
          <a:p xmlns:a="http://schemas.openxmlformats.org/drawingml/2006/main">
            <a:r>
              <a:t>https://www.newsru.com/dossiers/10330/</a:t>
            </a:r>
          </a:p>
          <a:p xmlns:a="http://schemas.openxmlformats.org/drawingml/2006/main">
            <a:r>
              <a:t>https://www.interfax.ru/russia/714300</a:t>
            </a:r>
          </a:p>
          <a:p xmlns:a="http://schemas.openxmlformats.org/drawingml/2006/main">
            <a:r>
              <a:t>https://www.rbc.ru/politics/14/09/2020/5f5e7dfb9a79477f7753d651</a:t>
            </a:r>
          </a:p>
          <a:p xmlns:a="http://schemas.openxmlformats.org/drawingml/2006/main">
            <a:r>
              <a:t>https://www.rline.tv/podrobnosti/2019-10-06-sergey-levchenko-za-chetyre-goda-sdelano-bolshe-chem-za-predydushchie-15-let/</a:t>
            </a:r>
          </a:p>
          <a:p xmlns:a="http://schemas.openxmlformats.org/drawingml/2006/main">
            <a:r>
              <a:t>https://vs19.ru/verhovny-sovet/deputati/670-konovalov-valentin-olegovich</a:t>
            </a:r>
          </a:p>
          <a:p xmlns:a="http://schemas.openxmlformats.org/drawingml/2006/main">
            <a:r>
              <a:t>https://meduza.io/feature/2018/09/10/etu-vlast-nichego-ne-spaset</a:t>
            </a:r>
          </a:p>
          <a:p xmlns:a="http://schemas.openxmlformats.org/drawingml/2006/main">
            <a:r>
              <a:t>https://kprf.ru/party-live/regnews/188553.html</a:t>
            </a:r>
          </a:p>
          <a:p xmlns:a="http://schemas.openxmlformats.org/drawingml/2006/main">
            <a:r>
              <a:t>https://www.kommersant.ru/doc/4441936</a:t>
            </a:r>
          </a:p>
          <a:p xmlns:a="http://schemas.openxmlformats.org/drawingml/2006/main">
            <a:r>
              <a:t>http://www.youtube.com/watch?v=eO6lUkFCAqM</a:t>
            </a:r>
          </a:p>
          <a:p xmlns:a="http://schemas.openxmlformats.org/drawingml/2006/main">
            <a:r>
              <a:t>https://ru.wikipedia.org/wiki/%D0%92%D1%8B%D0%B1%D0%BE%D1%80%D1%8B_%D0%B3%D0%BB%D0%B0%D0%B2%D1%8B_%D0%A0%D0%B5%D1%81%D0%BF%D1%83%D0%B1%D0%BB%D0%B8%D0%BA%D0%B8_%D0%A5%D0%B0%D0%BA%D0%B0%D1%81%D0%B8%D1%8F_(2018)</a:t>
            </a:r>
          </a:p>
          <a:p xmlns:a="http://schemas.openxmlformats.org/drawingml/2006/main">
            <a:r>
              <a:t>https://ok.ru/group/51615057903766/topic/157744983021718</a:t>
            </a:r>
          </a:p>
          <a:p xmlns:a="http://schemas.openxmlformats.org/drawingml/2006/main">
            <a:r>
              <a:t>https://kprf.ru/party-live/cknews/245343.html</a:t>
            </a:r>
          </a:p>
          <a:p xmlns:a="http://schemas.openxmlformats.org/drawingml/2006/main">
            <a:r>
              <a:t>https://r-19.ru/news/politika/190680/</a:t>
            </a:r>
          </a:p>
          <a:p xmlns:a="http://schemas.openxmlformats.org/drawingml/2006/main">
            <a:r>
              <a:t>https://r-19.ru/news/ekonomika/193031/</a:t>
            </a:r>
          </a:p>
          <a:p xmlns:a="http://schemas.openxmlformats.org/drawingml/2006/main">
            <a:r>
              <a:t>https://19rusinfo.ru/ekonomika/118670-otchjot</a:t>
            </a:r>
          </a:p>
          <a:p xmlns:a="http://schemas.openxmlformats.org/drawingml/2006/main">
            <a:r>
              <a:t>https://iditena.ru/candidates/konovalov-valentin-olegovich/</a:t>
            </a:r>
          </a:p>
          <a:p xmlns:a="http://schemas.openxmlformats.org/drawingml/2006/main">
            <a:r>
              <a:t>https://56.kprf.ru/deyatelnost/tpost/gjjjuy1zi1-glava-hakasii-valentin-konovalov-dal-int</a:t>
            </a:r>
          </a:p>
          <a:p xmlns:a="http://schemas.openxmlformats.org/drawingml/2006/main">
            <a:r>
              <a:t>https://meduza.io/feature/2019/05/31/strana-pobedivshego-kommunista</a:t>
            </a:r>
          </a:p>
          <a:p xmlns:a="http://schemas.openxmlformats.org/drawingml/2006/main">
            <a:r>
              <a:t>https://xn--80aac0c2a.xn--p1acf/2026/08/22/vstrecha-s-uchastiem-valentina-konovalova-i-alekseya-kornienko-proshla-v-habarovske</a:t>
            </a:r>
          </a:p>
          <a:p xmlns:a="http://schemas.openxmlformats.org/drawingml/2006/main">
            <a:r>
              <a:t>https://www.vedomosti.ru/politics/characters/2026/07/06/1211370-valentin-konovalov-rossiya-na-moskve-ne-zakanchivaetsya?from=newsline</a:t>
            </a:r>
          </a:p>
          <a:p xmlns:a="http://schemas.openxmlformats.org/drawingml/2006/main">
            <a:r>
              <a:t>https://www.vedomosti.ru/person/1215197-aksenov-sergei</a:t>
            </a:r>
          </a:p>
          <a:p xmlns:a="http://schemas.openxmlformats.org/drawingml/2006/main">
            <a:r>
              <a:t>https://www.rbc.ru/person/65f020599a79475815e702c9</a:t>
            </a:r>
          </a:p>
          <a:p xmlns:a="http://schemas.openxmlformats.org/drawingml/2006/main">
            <a:r>
              <a:t>http://crimea.gov.ru/news/30_03_18_10</a:t>
            </a:r>
          </a:p>
          <a:p xmlns:a="http://schemas.openxmlformats.org/drawingml/2006/main">
            <a:r>
              <a:t>https://www.npr.org/sections/parallels/2018/01/27/581114772/putins-man-in-crimea-we-ve-returned-to-russia-forever</a:t>
            </a:r>
          </a:p>
          <a:p xmlns:a="http://schemas.openxmlformats.org/drawingml/2006/main">
            <a:r>
              <a:t>http://crimea.gov.ru/en/news/26_02_19_6</a:t>
            </a:r>
          </a:p>
          <a:p xmlns:a="http://schemas.openxmlformats.org/drawingml/2006/main">
            <a:r>
              <a:t>https://antifashist.com/item/kto-polomal-infopole-kryma-i-ne-otvechaet-na-voprosy.html</a:t>
            </a:r>
          </a:p>
          <a:p xmlns:a="http://schemas.openxmlformats.org/drawingml/2006/main">
            <a:r>
              <a:t>https://ru.krymr.com/a/news/27913548.html</a:t>
            </a:r>
          </a:p>
          <a:p xmlns:a="http://schemas.openxmlformats.org/drawingml/2006/main">
            <a:r>
              <a:t>https://simfch.ru/2022/03/02/glava-respubliki-krym-sergej-aksyonov-prizval-krymchan-k-informaczionnoj-mobilizaczii-otkrytomu-i-publichnomu-vyrazheniyu-svoej-patrioticheskoj-poziczii/</a:t>
            </a:r>
          </a:p>
          <a:p xmlns:a="http://schemas.openxmlformats.org/drawingml/2006/main">
            <a:r>
              <a:t>https://www.rbc.ru/politics/29/05/2023/64749e389a7947f3de98dff2</a:t>
            </a:r>
          </a:p>
          <a:p xmlns:a="http://schemas.openxmlformats.org/drawingml/2006/main">
            <a:r>
              <a:t>https://ru.krymr.com/a/krym-sergey-aksenov-pvo-prilety-bavovna-bezopasnost-pvo-udar/32631709.html</a:t>
            </a:r>
          </a:p>
          <a:p xmlns:a="http://schemas.openxmlformats.org/drawingml/2006/main">
            <a:r>
              <a:t>https://rostov.rbc.ru/rostov/interview/18/03/2024/65f75c4f9a7947c8b475ab94</a:t>
            </a:r>
          </a:p>
          <a:p xmlns:a="http://schemas.openxmlformats.org/drawingml/2006/main">
            <a:r>
              <a:t>https://www.kommersant.ru/doc/7715230</a:t>
            </a:r>
          </a:p>
          <a:p xmlns:a="http://schemas.openxmlformats.org/drawingml/2006/main">
            <a:r>
              <a:t>https://www.kommersant.ru/doc/5154319</a:t>
            </a:r>
          </a:p>
          <a:p xmlns:a="http://schemas.openxmlformats.org/drawingml/2006/main">
            <a:r>
              <a:t>https://www.rbc.ru/person/660290b19a7947801fe9439b</a:t>
            </a:r>
          </a:p>
          <a:p xmlns:a="http://schemas.openxmlformats.org/drawingml/2006/main">
            <a:r>
              <a:t>https://www.kommersant.ru/doc/3759211</a:t>
            </a:r>
          </a:p>
          <a:p xmlns:a="http://schemas.openxmlformats.org/drawingml/2006/main">
            <a:r>
              <a:t>https://tass.ru/info/6656656</a:t>
            </a:r>
          </a:p>
          <a:p xmlns:a="http://schemas.openxmlformats.org/drawingml/2006/main">
            <a:r>
              <a:t>https://sevastopol.er.ru/pages/otchet-gubernatora-sevastopolya-mihaila-razvozhaeva</a:t>
            </a:r>
          </a:p>
          <a:p xmlns:a="http://schemas.openxmlformats.org/drawingml/2006/main">
            <a:r>
              <a:t>http://special.kremlin.ru/catalog/persons/579/events/76271</a:t>
            </a:r>
          </a:p>
          <a:p xmlns:a="http://schemas.openxmlformats.org/drawingml/2006/main">
            <a:r>
              <a:t>https://sevastopol.su/news/chastnyy-biznes-vlozhil-v-sevastopol-250-mlrd-rubley-za-tri-goda</a:t>
            </a:r>
          </a:p>
          <a:p xmlns:a="http://schemas.openxmlformats.org/drawingml/2006/main">
            <a:r>
              <a:t>https://sevastopol.su/news/v-sevastopole-ocenili-perspektivy-mikhaila-razvozhaeva-na-sleduyuschikh-vyborakh</a:t>
            </a:r>
          </a:p>
          <a:p xmlns:a="http://schemas.openxmlformats.org/drawingml/2006/main">
            <a:r>
              <a:t>https://tass.ru/interviews/10248577</a:t>
            </a:r>
          </a:p>
          <a:p xmlns:a="http://schemas.openxmlformats.org/drawingml/2006/main">
            <a:r>
              <a:t>https://news.ru/russia/u-nas-smelye-plany-gubernator-sevastopolya-razvozzhaev-o-budushem-goroda</a:t>
            </a:r>
          </a:p>
          <a:p xmlns:a="http://schemas.openxmlformats.org/drawingml/2006/main">
            <a:r>
              <a:t>http://kremlin.ru/events/administration/80838</a:t>
            </a:r>
          </a:p>
          <a:p xmlns:a="http://schemas.openxmlformats.org/drawingml/2006/main">
            <a:r>
              <a:t>https://tass.ru/kultura/28214691</a:t>
            </a:r>
          </a:p>
          <a:p xmlns:a="http://schemas.openxmlformats.org/drawingml/2006/main">
            <a:r>
              <a:t>http://kremlin.ru/events/administration/80591</a:t>
            </a:r>
          </a:p>
          <a:p xmlns:a="http://schemas.openxmlformats.org/drawingml/2006/main">
            <a:r>
              <a:t>https://governors.ru/glava-regiona/Belgorodskaya-oblast/Gladkov-Vyacheslav-Vladimirovich</a:t>
            </a:r>
          </a:p>
          <a:p xmlns:a="http://schemas.openxmlformats.org/drawingml/2006/main">
            <a:r>
              <a:t>https://ru.wikipedia.org/wiki/%D0%93%D0%BB%D0%B0%D0%B4%D0%BA%D0%BE%D0%B2,_%D0%92%D1%8F%D1%87%D0%B5%D1%81%D0%BB%D0%B0%D0%B2_%D0%92%D0%BB%D0%B0%D0%B4%D0%B8%D0%BC%D0%B8%D1%80%D0%BE%D0%B2%D0%B8%D1%87</a:t>
            </a:r>
          </a:p>
          <a:p xmlns:a="http://schemas.openxmlformats.org/drawingml/2006/main">
            <a:r>
              <a:t>http://council.gov.ru/structure/persons/1543/</a:t>
            </a:r>
          </a:p>
          <a:p xmlns:a="http://schemas.openxmlformats.org/drawingml/2006/main">
            <a:r>
              <a:t>https://ufa.rbc.ru/person/648345539a794760fd0c17e8</a:t>
            </a:r>
          </a:p>
          <a:p xmlns:a="http://schemas.openxmlformats.org/drawingml/2006/main">
            <a:r>
              <a:t>https://www.kommersant.ru/doc/8571119</a:t>
            </a:r>
          </a:p>
          <a:p xmlns:a="http://schemas.openxmlformats.org/drawingml/2006/main">
            <a:r>
              <a:t>https://www.kommersant.ru/doc/8655079</a:t>
            </a:r>
          </a:p>
          <a:p xmlns:a="http://schemas.openxmlformats.org/drawingml/2006/main">
            <a:r>
              <a:t>https://tass.ru/info/27861241</a:t>
            </a:r>
          </a:p>
          <a:p xmlns:a="http://schemas.openxmlformats.org/drawingml/2006/main">
            <a:r>
              <a:t>https://meduza.io/feature/2023/06/08/emu-by-vse-eto-razgresti</a:t>
            </a:r>
          </a:p>
          <a:p xmlns:a="http://schemas.openxmlformats.org/drawingml/2006/main">
            <a:r>
              <a:t>http://www.kremlin.ru/events/president/transcripts/66288</a:t>
            </a:r>
          </a:p>
          <a:p xmlns:a="http://schemas.openxmlformats.org/drawingml/2006/main">
            <a:r>
              <a:t>https://www.belpressa.ru/politics/vlast/62665.html</a:t>
            </a:r>
          </a:p>
          <a:p xmlns:a="http://schemas.openxmlformats.org/drawingml/2006/main">
            <a:r>
              <a:t>https://www.belpressa.ru/politics/vlast/71368.html</a:t>
            </a:r>
          </a:p>
          <a:p xmlns:a="http://schemas.openxmlformats.org/drawingml/2006/main">
            <a:r>
              <a:t>https://www.belnovosti.ru/politika/gubernator/127077.html</a:t>
            </a:r>
          </a:p>
          <a:p xmlns:a="http://schemas.openxmlformats.org/drawingml/2006/main">
            <a:r>
              <a:t>https://chr.plus.rbc.ru/news/694b9fb67a8aa90f9c2ce17d</a:t>
            </a:r>
          </a:p>
          <a:p xmlns:a="http://schemas.openxmlformats.org/drawingml/2006/main">
            <a:r>
              <a:t>https://www.belpressa.ru/society/bezopasnost/43348.html</a:t>
            </a:r>
          </a:p>
          <a:p xmlns:a="http://schemas.openxmlformats.org/drawingml/2006/main">
            <a:r>
              <a:t>https://www.rbc.ru/politics/07/03/2023/640758bf9a7947f6af99d464</a:t>
            </a:r>
          </a:p>
          <a:p xmlns:a="http://schemas.openxmlformats.org/drawingml/2006/main">
            <a:r>
              <a:t>https://www.rbc.ru/politics/24/05/2023/646d22029a794797c4bac4bf</a:t>
            </a:r>
          </a:p>
          <a:p xmlns:a="http://schemas.openxmlformats.org/drawingml/2006/main">
            <a:r>
              <a:t>https://www.bbc.com/russian/articles/c70dkd0pvrlo</a:t>
            </a:r>
          </a:p>
          <a:p xmlns:a="http://schemas.openxmlformats.org/drawingml/2006/main">
            <a:r>
              <a:t>https://www.go31.ru/news/proisshestviya/kak-nikto-drugoy-ponimaem-chto-takoe-agressiya-so-storony-ukrainy-gladkov-o-proryve-granitsy-v-kursk/</a:t>
            </a:r>
          </a:p>
          <a:p xmlns:a="http://schemas.openxmlformats.org/drawingml/2006/main">
            <a:r>
              <a:t>https://echofm.online/portret-dnya/portret-dnya-vyacheslav-gladkov-gubernator-belgorodskoj-oblasti-prognozy-o-sudbe-kotorogo-raznyatsya-ot-posta-posla-v-abhazii-do-ugolovnogo-dela</a:t>
            </a:r>
          </a:p>
          <a:p xmlns:a="http://schemas.openxmlformats.org/drawingml/2006/main">
            <a:r>
              <a:t>https://www.kommersant.ru/doc/3917861</a:t>
            </a:r>
          </a:p>
          <a:p xmlns:a="http://schemas.openxmlformats.org/drawingml/2006/main">
            <a:r>
              <a:t>https://minstroyrf.gov.ru/press/okolo-40-kontsessionnykh-soglasheniy-v-rossii-deystvuet-v-sfere-zhkkh/</a:t>
            </a:r>
          </a:p>
          <a:p xmlns:a="http://schemas.openxmlformats.org/drawingml/2006/main">
            <a:r>
              <a:t>https://newsroom24.ru/murmansk/news/politics/2026/news_323931/</a:t>
            </a:r>
          </a:p>
          <a:p xmlns:a="http://schemas.openxmlformats.org/drawingml/2006/main">
            <a:r>
              <a:t>https://murmansk.ru/52053</a:t>
            </a:r>
          </a:p>
          <a:p xmlns:a="http://schemas.openxmlformats.org/drawingml/2006/main">
            <a:r>
              <a:t>https://51.ru/text/gorod/2026/01/22/76228112/</a:t>
            </a:r>
          </a:p>
          <a:p xmlns:a="http://schemas.openxmlformats.org/drawingml/2006/main">
            <a:r>
              <a:t>https://www.murman.ru/news/2026/05/02/2334/</a:t>
            </a:r>
          </a:p>
          <a:p xmlns:a="http://schemas.openxmlformats.org/drawingml/2006/main">
            <a:r>
              <a:t>https://murman.ru/news/2026/09/06/2141/</a:t>
            </a:r>
          </a:p>
          <a:p xmlns:a="http://schemas.openxmlformats.org/drawingml/2006/main">
            <a:r>
              <a:t>https://www.murman.ru/news/2026/09/13/2242/</a:t>
            </a:r>
          </a:p>
          <a:p xmlns:a="http://schemas.openxmlformats.org/drawingml/2006/main">
            <a:r>
              <a:t>https://ru.wikipedia.org/wiki/%D0%A7%D0%B8%D0%B1%D0%B8%D1%81,_%D0%90%D0%BD%D0%B4%D1%80%D0%B5%D0%B9_%D0%92%D0%BB%D0%B0%D0%B4%D0%B8%D0%BC%D0%B8%D1%80%D0%BE%D0%B2%D0%B8%D1%87</a:t>
            </a:r>
          </a:p>
          <a:p xmlns:a="http://schemas.openxmlformats.org/drawingml/2006/main">
            <a:r>
              <a:t>https://tass.ru/obschestvo/23491353</a:t>
            </a:r>
          </a:p>
          <a:p xmlns:a="http://schemas.openxmlformats.org/drawingml/2006/main">
            <a:r>
              <a:t>https://www.murman.ru/news/2026/09/03/2243/</a:t>
            </a:r>
          </a:p>
          <a:p xmlns:a="http://schemas.openxmlformats.org/drawingml/2006/main">
            <a:r>
              <a:t>https://msp.citymurmansk.ru/news/2026/09/03/0930/</a:t>
            </a:r>
          </a:p>
          <a:p xmlns:a="http://schemas.openxmlformats.org/drawingml/2006/main">
            <a:r>
              <a:t>http://kremlin.ru/events/president/letters/80916</a:t>
            </a:r>
          </a:p>
          <a:p xmlns:a="http://schemas.openxmlformats.org/drawingml/2006/main">
            <a:r>
              <a:t>https://www.murmansk.kp.ru/daily/277813.4/5300258/</a:t>
            </a:r>
          </a:p>
          <a:p xmlns:a="http://schemas.openxmlformats.org/drawingml/2006/main">
            <a:r>
              <a:t>https://www.fontanka.ru/2021/07/27/70046798/</a:t>
            </a:r>
          </a:p>
          <a:p xmlns:a="http://schemas.openxmlformats.org/drawingml/2006/main">
            <a:r>
              <a:t>https://www.kommersant.ru/doc/4639758</a:t>
            </a:r>
          </a:p>
          <a:p xmlns:a="http://schemas.openxmlformats.org/drawingml/2006/main">
            <a:r>
              <a:t>https://www.bbc.com/russian/news-55614829</a:t>
            </a:r>
          </a:p>
          <a:p xmlns:a="http://schemas.openxmlformats.org/drawingml/2006/main">
            <a:r>
              <a:t>https://newpeople.ru/Deputy/sardana-avksenteva</a:t>
            </a:r>
          </a:p>
          <a:p xmlns:a="http://schemas.openxmlformats.org/drawingml/2006/main">
            <a:r>
              <a:t>https://www.pnp.ru/economics/kontrol-za-koncessionnymi-soglasheniyami-predlozhili-usilit.html</a:t>
            </a:r>
          </a:p>
          <a:p xmlns:a="http://schemas.openxmlformats.org/drawingml/2006/main">
            <a:r>
              <a:t>https://www.ng.ru/politics/2024-12-05/1_9150_right.html</a:t>
            </a:r>
          </a:p>
          <a:p xmlns:a="http://schemas.openxmlformats.org/drawingml/2006/main">
            <a:r>
              <a:t>https://news.ru/society/v-novyh-lyudyah-rasskazali-o-glavnyh-zadachah-partii-pered-vyborami</a:t>
            </a:r>
          </a:p>
          <a:p xmlns:a="http://schemas.openxmlformats.org/drawingml/2006/main">
            <a:r>
              <a:t>https://www.kommersant.ru/doc/8939397</a:t>
            </a:r>
          </a:p>
          <a:p xmlns:a="http://schemas.openxmlformats.org/drawingml/2006/main">
            <a:r>
              <a:t>https://tass.ru/info/5220823</a:t>
            </a:r>
          </a:p>
          <a:p xmlns:a="http://schemas.openxmlformats.org/drawingml/2006/main">
            <a:r>
              <a:t>https://tass.ru/info/15547711</a:t>
            </a:r>
          </a:p>
          <a:p xmlns:a="http://schemas.openxmlformats.org/drawingml/2006/main">
            <a:r>
              <a:t>https://www.bbc.com/russian/features-62661643</a:t>
            </a:r>
          </a:p>
          <a:p xmlns:a="http://schemas.openxmlformats.org/drawingml/2006/main">
            <a:r>
              <a:t>https://www.kommersant.ru/doc/3298219</a:t>
            </a:r>
          </a:p>
          <a:p xmlns:a="http://schemas.openxmlformats.org/drawingml/2006/main">
            <a:r>
              <a:t>https://www.svoboda.org/a/31217129.html</a:t>
            </a:r>
          </a:p>
          <a:p xmlns:a="http://schemas.openxmlformats.org/drawingml/2006/main">
            <a:r>
              <a:t>https://www.interfax.ru/russia/902059</a:t>
            </a:r>
          </a:p>
          <a:p xmlns:a="http://schemas.openxmlformats.org/drawingml/2006/main">
            <a:r>
              <a:t>https://www.bfm.ru/news/525620</a:t>
            </a:r>
          </a:p>
          <a:p xmlns:a="http://schemas.openxmlformats.org/drawingml/2006/main">
            <a:r>
              <a:t>https://novayagazeta.ru/articles/2023/03/16/do-urovnia-myshei-media</a:t>
            </a:r>
          </a:p>
          <a:p xmlns:a="http://schemas.openxmlformats.org/drawingml/2006/main">
            <a:r>
              <a:t>https://tjournal.ru/71076</a:t>
            </a:r>
          </a:p>
          <a:p xmlns:a="http://schemas.openxmlformats.org/drawingml/2006/main">
            <a:r>
              <a:t>https://www.nakanune.ru/articles/111648/</a:t>
            </a:r>
          </a:p>
          <a:p xmlns:a="http://schemas.openxmlformats.org/drawingml/2006/main">
            <a:r>
              <a:t>https://adcmemorial.org/statyi/kolonki/neprotivlenie-rasizmu/</a:t>
            </a:r>
          </a:p>
          <a:p xmlns:a="http://schemas.openxmlformats.org/drawingml/2006/main">
            <a:r>
              <a:t>https://www.svoboda.org/a/royzman-i-drugie-zhiteli-ekaterinburga/31997151.html</a:t>
            </a:r>
          </a:p>
          <a:p xmlns:a="http://schemas.openxmlformats.org/drawingml/2006/main">
            <a:r>
              <a:t>https://www.e1.ru/text/politics/2022/02/24/70466417/</a:t>
            </a:r>
          </a:p>
          <a:p xmlns:a="http://schemas.openxmlformats.org/drawingml/2006/main">
            <a:r>
              <a:t>https://www.dw.com/ru/kommentarij-evgenij-rojzman-i-sila-pravdy/a-62917754</a:t>
            </a:r>
          </a:p>
          <a:p xmlns:a="http://schemas.openxmlformats.org/drawingml/2006/main">
            <a:r>
              <a:t>https://meduza.io/paragraph/2022/08/26/priehali-moskvichi-i-dumali-chto-zdes-duraki-sobralis</a:t>
            </a:r>
          </a:p>
          <a:p xmlns:a="http://schemas.openxmlformats.org/drawingml/2006/main">
            <a:r>
              <a:t>https://znamlit.ru/publication.php?id=7379</a:t>
            </a:r>
          </a:p>
          <a:p xmlns:a="http://schemas.openxmlformats.org/drawingml/2006/main">
            <a:r>
              <a:t>https://tass.ru/interviews/6080499</a:t>
            </a:r>
          </a:p>
          <a:p xmlns:a="http://schemas.openxmlformats.org/drawingml/2006/main">
            <a:r>
              <a:t>https://45.ru/text/politics/2024/09/09/73952072/</a:t>
            </a:r>
          </a:p>
          <a:p xmlns:a="http://schemas.openxmlformats.org/drawingml/2006/main">
            <a:r>
              <a:t>http://special.kremlin.ru/events/president/news/70638</a:t>
            </a:r>
          </a:p>
          <a:p xmlns:a="http://schemas.openxmlformats.org/drawingml/2006/main">
            <a:r>
              <a:t>https://ura.news/news/1053132902</a:t>
            </a:r>
          </a:p>
          <a:p xmlns:a="http://schemas.openxmlformats.org/drawingml/2006/main">
            <a:r>
              <a:t>https://ura.news/articles/1036276564</a:t>
            </a:r>
          </a:p>
          <a:p xmlns:a="http://schemas.openxmlformats.org/drawingml/2006/main">
            <a:r>
              <a:t>https://tass.ru/novosti-regionov/28187431</a:t>
            </a:r>
          </a:p>
          <a:p xmlns:a="http://schemas.openxmlformats.org/drawingml/2006/main">
            <a:r>
              <a:t>https://fedpress.ru/person/1753607</a:t>
            </a:r>
          </a:p>
          <a:p xmlns:a="http://schemas.openxmlformats.org/drawingml/2006/main">
            <a:r>
              <a:t>https://eburg.mk.ru/social/2026/10/14/zhiteley-zauralya-predupredili-o-lozhnykh-videorolikakh-s-gubernatorom.html</a:t>
            </a:r>
          </a:p>
          <a:p xmlns:a="http://schemas.openxmlformats.org/drawingml/2006/main">
            <a:r>
              <a:t>https://regnum.ru/news/3530808</a:t>
            </a:r>
          </a:p>
          <a:p xmlns:a="http://schemas.openxmlformats.org/drawingml/2006/main">
            <a:r>
              <a:t>https://kurganvera.ru/news/vrns/mitropolit-daniil-i-vadim-shumkov-vozglavili-delegatsiyu-kurganskoy-oblasti-na-vsemirnom-russkom-sob/</a:t>
            </a:r>
          </a:p>
          <a:p xmlns:a="http://schemas.openxmlformats.org/drawingml/2006/main">
            <a:r>
              <a:t>https://45.ru/text/politics/2026/06/26/76499700/</a:t>
            </a:r>
          </a:p>
          <a:p xmlns:a="http://schemas.openxmlformats.org/drawingml/2006/main">
            <a:r>
              <a:t>https://niva-kurtamysh.com/news/obshchestvo/vystuplenie-gubernatora-kurganskoy-oblasti-vadima-shumkova</a:t>
            </a:r>
          </a:p>
          <a:p xmlns:a="http://schemas.openxmlformats.org/drawingml/2006/main">
            <a:r>
              <a:t>https://t.me/s/kurganskayaobl?before=42616</a:t>
            </a:r>
          </a:p>
          <a:p xmlns:a="http://schemas.openxmlformats.org/drawingml/2006/main">
            <a:r>
              <a:t>https://www.bbc.com/russian/news-54368577</a:t>
            </a:r>
          </a:p>
          <a:p xmlns:a="http://schemas.openxmlformats.org/drawingml/2006/main">
            <a:r>
              <a:t>https://www.bbc.com/russian/articles/cp0769dp15eo</a:t>
            </a:r>
          </a:p>
          <a:p xmlns:a="http://schemas.openxmlformats.org/drawingml/2006/main">
            <a:r>
              <a:t>https://navalny.com/materials/blogpost-6017</a:t>
            </a:r>
          </a:p>
          <a:p xmlns:a="http://schemas.openxmlformats.org/drawingml/2006/main">
            <a:r>
              <a:t>https://www.bbc.com/russian/news-58563592</a:t>
            </a:r>
          </a:p>
          <a:p xmlns:a="http://schemas.openxmlformats.org/drawingml/2006/main">
            <a:r>
              <a:t>https://navalny.com/materials/blogpost-6544</a:t>
            </a:r>
          </a:p>
          <a:p xmlns:a="http://schemas.openxmlformats.org/drawingml/2006/main">
            <a:r>
              <a:t>https://www.bbc.com/russian/news-58270043</a:t>
            </a:r>
          </a:p>
          <a:p xmlns:a="http://schemas.openxmlformats.org/drawingml/2006/main">
            <a:r>
              <a:t>https://www.bbc.com/russian/articles/cvg3p9l1e5ro</a:t>
            </a:r>
          </a:p>
          <a:p xmlns:a="http://schemas.openxmlformats.org/drawingml/2006/main">
            <a:r>
              <a:t>https://www.bbc.com/russian/features-54435835</a:t>
            </a:r>
          </a:p>
          <a:p xmlns:a="http://schemas.openxmlformats.org/drawingml/2006/main">
            <a:r>
              <a:t>https://2018.navalny.com/platform/7/</a:t>
            </a:r>
          </a:p>
          <a:p xmlns:a="http://schemas.openxmlformats.org/drawingml/2006/main">
            <a:r>
              <a:t>https://2018.navalny.com/platform/3/</a:t>
            </a:r>
          </a:p>
          <a:p xmlns:a="http://schemas.openxmlformats.org/drawingml/2006/main">
            <a:r>
              <a:t>https://2018.navalny.com/platform/10/</a:t>
            </a:r>
          </a:p>
          <a:p xmlns:a="http://schemas.openxmlformats.org/drawingml/2006/main">
            <a:r>
              <a:t>https://2018.navalny.com/platform/9/</a:t>
            </a:r>
          </a:p>
          <a:p xmlns:a="http://schemas.openxmlformats.org/drawingml/2006/main">
            <a:r>
              <a:t>https://navalny.com/editorials/aleksey-navalnyy-protiv-voyny</a:t>
            </a:r>
          </a:p>
          <a:p xmlns:a="http://schemas.openxmlformats.org/drawingml/2006/main">
            <a:r>
              <a:t>https://navalny.com/?p=149</a:t>
            </a:r>
          </a:p>
          <a:p xmlns:a="http://schemas.openxmlformats.org/drawingml/2006/main">
            <a:r>
              <a:t>https://www.interfax.ru/russia/876151</a:t>
            </a:r>
          </a:p>
          <a:p xmlns:a="http://schemas.openxmlformats.org/drawingml/2006/main">
            <a:r>
              <a:t>https://www.dw.com/ru/srok-ne-za-fejk-a-za-politiku-reakcii-v-frg-i-rf-na-prigovor-asinu/a-64049957</a:t>
            </a:r>
          </a:p>
          <a:p xmlns:a="http://schemas.openxmlformats.org/drawingml/2006/main">
            <a:r>
              <a:t>https://www.lemonde.fr/en/international/article/2025/05/27/russian-opposition-figure-ilya-yashin-if-ukraine-is-handed-over-to-putin-it-will-be-a-tragedy-and-the-prologue-to-a-global-confrontation_6741728_4.html</a:t>
            </a:r>
          </a:p>
          <a:p xmlns:a="http://schemas.openxmlformats.org/drawingml/2006/main">
            <a:r>
              <a:t>https://www.bbc.com/russian/articles/crgl69w9472o</a:t>
            </a:r>
          </a:p>
          <a:p xmlns:a="http://schemas.openxmlformats.org/drawingml/2006/main">
            <a:r>
              <a:t>https://www.svoboda.org/a/yashin-court/32165539.html</a:t>
            </a:r>
          </a:p>
          <a:p xmlns:a="http://schemas.openxmlformats.org/drawingml/2006/main">
            <a:r>
              <a:t>https://www.dw.com/ru/ila-asin-putin-predvoditel-sil-mrakobesia/a-69923731</a:t>
            </a:r>
          </a:p>
          <a:p xmlns:a="http://schemas.openxmlformats.org/drawingml/2006/main">
            <a:r>
              <a:t>https://novayagazeta.eu/articles/2025/08/01/my-ne-mozhem-trebovat-no-mozhem-obiasniat</a:t>
            </a:r>
          </a:p>
          <a:p xmlns:a="http://schemas.openxmlformats.org/drawingml/2006/main">
            <a:r>
              <a:t>https://meduza.io/feature/2019/07/20/to-chto-putin-ne-smog-sdelat-za-20-let-sobyanin-sdelal-za-mesyats</a:t>
            </a:r>
          </a:p>
          <a:p xmlns:a="http://schemas.openxmlformats.org/drawingml/2006/main">
            <a:r>
              <a:t>https://novayagazeta.eu/articles/2024/11/18/pochuvstvovat-sebia-ne-odinokimi</a:t>
            </a:r>
          </a:p>
          <a:p xmlns:a="http://schemas.openxmlformats.org/drawingml/2006/main">
            <a:r>
              <a:t>https://www.svoboda.org/a/voyna-putin-i-politzaklyuchennye-iljya-yashin-o-svoih-planah/33177839.html</a:t>
            </a:r>
          </a:p>
          <a:p xmlns:a="http://schemas.openxmlformats.org/drawingml/2006/main">
            <a:r>
              <a:t>https://www.dw.com/ru/asin-sejcas-nevozmozno-obedinit-rossijskuu-oppoziciu-da-i-ne-nuzno/a-70291088</a:t>
            </a:r>
          </a:p>
          <a:p xmlns:a="http://schemas.openxmlformats.org/drawingml/2006/main">
            <a:r>
              <a:t>https://www.dw.com/ru/vladimir-karamurza/t-37465233</a:t>
            </a:r>
          </a:p>
          <a:p xmlns:a="http://schemas.openxmlformats.org/drawingml/2006/main">
            <a:r>
              <a:t>https://ovd.info/persons/kara-murza-vladimir-vladimirovich</a:t>
            </a:r>
          </a:p>
          <a:p xmlns:a="http://schemas.openxmlformats.org/drawingml/2006/main">
            <a:r>
              <a:t>https://ovd.info/2024/08/03/kogo-rossiya-vydala-v-ramkakh-obmena-zaklyuchennymi-s-zapadom-istorii-osvobozhdennykh</a:t>
            </a:r>
          </a:p>
          <a:p xmlns:a="http://schemas.openxmlformats.org/drawingml/2006/main">
            <a:r>
              <a:t>https://www.svoboda.org/a/kara-murza-obmen/33059121.html</a:t>
            </a:r>
          </a:p>
          <a:p xmlns:a="http://schemas.openxmlformats.org/drawingml/2006/main">
            <a:r>
              <a:t>https://novayagazeta.ru/articles/2024/08/16/prezident-baiden-prinial-osvobozhdennogo-v-rezultate-obmena-politzakliuchennogo-vladimira-kara-murzu-s-semei-v-belom-dome-news</a:t>
            </a:r>
          </a:p>
          <a:p xmlns:a="http://schemas.openxmlformats.org/drawingml/2006/main">
            <a:r>
              <a:t>https://genevasummit.org/speech/vladimir-kara-murza-speaks-at-2018-geneva-summit-main-event/</a:t>
            </a:r>
          </a:p>
          <a:p xmlns:a="http://schemas.openxmlformats.org/drawingml/2006/main">
            <a:r>
              <a:t>https://humanrights.ca/event-series/presidents-lecture-series</a:t>
            </a:r>
          </a:p>
          <a:p xmlns:a="http://schemas.openxmlformats.org/drawingml/2006/main">
            <a:r>
              <a:t>https://www.radiofrance.fr/franceinter/podcasts/l-info-de-france-inter/la-democratie-doit-etre-protegee-chaque-minute-de-chaque-jour-declare-l-opposant-russe-vladimir-kara-mourza-8105094</a:t>
            </a:r>
          </a:p>
          <a:p xmlns:a="http://schemas.openxmlformats.org/drawingml/2006/main">
            <a:r>
              <a:t>https://georgetownvoice.com/2025/10/08/dissident-in-residence-vladimir-kara-murza-applies-past-lessons-to-present-day-in-recent-event-discussing-democracy/</a:t>
            </a:r>
          </a:p>
          <a:p xmlns:a="http://schemas.openxmlformats.org/drawingml/2006/main">
            <a:r>
              <a:t>https://www.oscepa.org/en/documents/winter-meetings/2025-vienna/speeches-36/5176-vladimir-kara-murza-address-to-the-osce-pa-winter-meeting-in-vienna-21-february-2025/file</a:t>
            </a:r>
          </a:p>
          <a:p xmlns:a="http://schemas.openxmlformats.org/drawingml/2006/main">
            <a:r>
              <a:t>https://hrf.org/wp-content/uploads/2024/10/VKM-%E2%80%93-Statement-of-Facts-and-Levinson-Analysis.pdf</a:t>
            </a:r>
          </a:p>
          <a:p xmlns:a="http://schemas.openxmlformats.org/drawingml/2006/main">
            <a:r>
              <a:t>https://www.govinfo.gov/content/pkg/CREC-2024-06-11/html/CREC-2024-06-11-pt1-PgH3699.htm</a:t>
            </a:r>
          </a:p>
          <a:p xmlns:a="http://schemas.openxmlformats.org/drawingml/2006/main">
            <a:r>
              <a:t>https://antiwarcommittee.info/en/statement-on-the-persecution-of-vladimir-kara-murza/</a:t>
            </a:r>
          </a:p>
          <a:p xmlns:a="http://schemas.openxmlformats.org/drawingml/2006/main">
            <a:r>
              <a:t>https://www.norway.no/en/missions/osce/norway-and-the-osce/statements/statements-with--norwegian-alignment-2024/joint-statement-on-vladimir-kara-murza/</a:t>
            </a:r>
          </a:p>
          <a:p xmlns:a="http://schemas.openxmlformats.org/drawingml/2006/main">
            <a:r>
              <a:t>https://www.aljazeera.com/news/2025/4/23/kremlin-critic-decried-for-racist-rant-on-minorities-fighting-for-russia</a:t>
            </a:r>
          </a:p>
          <a:p xmlns:a="http://schemas.openxmlformats.org/drawingml/2006/main">
            <a:r>
              <a:t>https://www.rmc.edu/news/former-political-prisoner-vladimir-kara-murza-offers-vision-of-hope-for-russian-democracy/</a:t>
            </a:r>
          </a:p>
          <a:p xmlns:a="http://schemas.openxmlformats.org/drawingml/2006/main">
            <a:r>
              <a:t>https://2018.yavlinsky.ru/campaign/</a:t>
            </a:r>
          </a:p>
          <a:p xmlns:a="http://schemas.openxmlformats.org/drawingml/2006/main">
            <a:r>
              <a:t>http://2018.yavlinsky.ru/programm/</a:t>
            </a:r>
          </a:p>
          <a:p xmlns:a="http://schemas.openxmlformats.org/drawingml/2006/main">
            <a:r>
              <a:t>https://campaign2018.yavlinsky.ru/</a:t>
            </a:r>
          </a:p>
          <a:p xmlns:a="http://schemas.openxmlformats.org/drawingml/2006/main">
            <a:r>
              <a:t>https://www.yavlinsky.ru/position/war/</a:t>
            </a:r>
          </a:p>
          <a:p xmlns:a="http://schemas.openxmlformats.org/drawingml/2006/main">
            <a:r>
              <a:t>https://www.yavlinsky.ru/position/cease-fire/</a:t>
            </a:r>
          </a:p>
          <a:p xmlns:a="http://schemas.openxmlformats.org/drawingml/2006/main">
            <a:r>
              <a:t>https://www.yavlinsky.ru/article_tax/ukraina/</a:t>
            </a:r>
          </a:p>
          <a:p xmlns:a="http://schemas.openxmlformats.org/drawingml/2006/main">
            <a:r>
              <a:t>https://www.yavlinsky.ru/biografiya/</a:t>
            </a:r>
          </a:p>
          <a:p xmlns:a="http://schemas.openxmlformats.org/drawingml/2006/main">
            <a:r>
              <a:t>https://www.yabloko.ru/publikatsii/2018/02/15_0</a:t>
            </a:r>
          </a:p>
          <a:p xmlns:a="http://schemas.openxmlformats.org/drawingml/2006/main">
            <a:r>
              <a:t>https://www.yabloko.ru/publikatsii/2018/06/19</a:t>
            </a:r>
          </a:p>
          <a:p xmlns:a="http://schemas.openxmlformats.org/drawingml/2006/main">
            <a:r>
              <a:t>https://www.yavlinsky.ru/article/eto-referendum/</a:t>
            </a:r>
          </a:p>
          <a:p xmlns:a="http://schemas.openxmlformats.org/drawingml/2006/main">
            <a:r>
              <a:t>https://www.svoboda.org/a/27801792.html</a:t>
            </a:r>
          </a:p>
          <a:p xmlns:a="http://schemas.openxmlformats.org/drawingml/2006/main">
            <a:r>
              <a:t>https://www.svoboda.org/a/29294829.html</a:t>
            </a:r>
          </a:p>
          <a:p xmlns:a="http://schemas.openxmlformats.org/drawingml/2006/main">
            <a:r>
              <a:t>https://www.yavlinsky.ru/article/intervyu-g-yavlinskogo-zhertvy-budut-proryva-net/</a:t>
            </a:r>
          </a:p>
          <a:p xmlns:a="http://schemas.openxmlformats.org/drawingml/2006/main">
            <a:r>
              <a:t>https://www.yavlinsky.ru/article/my-budem-idti-do-kontsa/</a:t>
            </a:r>
          </a:p>
          <a:p xmlns:a="http://schemas.openxmlformats.org/drawingml/2006/main">
            <a:r>
              <a:t>https://www.yavlinsky.ru/article/prezidentskie-vybory-1996-30-let-spustya/</a:t>
            </a:r>
          </a:p>
          <a:p xmlns:a="http://schemas.openxmlformats.org/drawingml/2006/main">
            <a:r>
              <a:t>https://www.forbes.ru/interview/45575-reformatory-prihodyat-k-vlasti-grigorii-yavlinskii</a:t>
            </a:r>
          </a:p>
          <a:p xmlns:a="http://schemas.openxmlformats.org/drawingml/2006/main">
            <a:r>
              <a:t>https://www.bbc.com/russian/articles/cy8ee2wngd8o</a:t>
            </a:r>
          </a:p>
          <a:p xmlns:a="http://schemas.openxmlformats.org/drawingml/2006/main">
            <a:r>
              <a:t>https://www.yabloko.ru/regnews/Pskov/2019/01/21-0</a:t>
            </a:r>
          </a:p>
          <a:p xmlns:a="http://schemas.openxmlformats.org/drawingml/2006/main">
            <a:r>
              <a:t>https://www.yabloko.ru/publikatsii/2019/06/14</a:t>
            </a:r>
          </a:p>
          <a:p xmlns:a="http://schemas.openxmlformats.org/drawingml/2006/main">
            <a:r>
              <a:t>https://zona.media/article/2019/02/27/pskov</a:t>
            </a:r>
          </a:p>
          <a:p xmlns:a="http://schemas.openxmlformats.org/drawingml/2006/main">
            <a:r>
              <a:t>https://spektr.press/ya-otvechayu-za-vse-mnoj-skazannoe-no-ne-otvechayu-za-izvraschenie-skazannogo-lev-shlosberg-o-travle-i-setkah-telegram-kanalov-odnokletochnyh-politikah-reshivshih-pobedit-putina-rukami-u/</a:t>
            </a:r>
          </a:p>
          <a:p xmlns:a="http://schemas.openxmlformats.org/drawingml/2006/main">
            <a:r>
              <a:t>https://www.yabloko.ru/Persons/shlosberg.html</a:t>
            </a:r>
          </a:p>
          <a:p xmlns:a="http://schemas.openxmlformats.org/drawingml/2006/main">
            <a:r>
              <a:t>https://pln-pskov.ru/politics/314872.html</a:t>
            </a:r>
          </a:p>
          <a:p xmlns:a="http://schemas.openxmlformats.org/drawingml/2006/main">
            <a:r>
              <a:t>https://www.yabloko.ru/publikatsii/2022/02/18-0</a:t>
            </a:r>
          </a:p>
          <a:p xmlns:a="http://schemas.openxmlformats.org/drawingml/2006/main">
            <a:r>
              <a:t>https://ru.krymr.com/a/rossiya-putin-voyna-repressii-lev-shlosberg-intervyu/31806389.html</a:t>
            </a:r>
          </a:p>
          <a:p xmlns:a="http://schemas.openxmlformats.org/drawingml/2006/main">
            <a:r>
              <a:t>https://www.currenttime.tv/a/politika-vlastey-chtoby-lyudi-perestali-govorit-o-spetsialnoy-voennoy-operatsii-lev-shlosberg-o-dele-protiv-nego-i-nikolaya-kuzmina/31807396.html</a:t>
            </a:r>
          </a:p>
          <a:p xmlns:a="http://schemas.openxmlformats.org/drawingml/2006/main">
            <a:r>
              <a:t>https://zona.media/article/2026/08/14/schlosberg</a:t>
            </a:r>
          </a:p>
          <a:p xmlns:a="http://schemas.openxmlformats.org/drawingml/2006/main">
            <a:r>
              <a:t>https://www.svoboda.org/a/lishniy-zalozhnik-vot-chto-im-vazhno-arest-lva-shlosberga/33615624.html</a:t>
            </a:r>
          </a:p>
          <a:p xmlns:a="http://schemas.openxmlformats.org/drawingml/2006/main">
            <a:r>
              <a:t>https://novayagazeta.eu/articles/2026/08/17/ostavshiisia</a:t>
            </a:r>
          </a:p>
          <a:p xmlns:a="http://schemas.openxmlformats.org/drawingml/2006/main">
            <a:r>
              <a:t>https://www.yabloko.ru/content/vishnevskii_boris_lazarevich</a:t>
            </a:r>
          </a:p>
          <a:p xmlns:a="http://schemas.openxmlformats.org/drawingml/2006/main">
            <a:r>
              <a:t>https://www.dp.ru/a/2018/06/18/Aktivnaja_storona_konflikt</a:t>
            </a:r>
          </a:p>
          <a:p xmlns:a="http://schemas.openxmlformats.org/drawingml/2006/main">
            <a:r>
              <a:t>https://www.bbc.com/russian/features-58481940</a:t>
            </a:r>
          </a:p>
          <a:p xmlns:a="http://schemas.openxmlformats.org/drawingml/2006/main">
            <a:r>
              <a:t>https://www.dp.ru/a/2023/01/16/Deputat_Peterburga_Vishnev</a:t>
            </a:r>
          </a:p>
          <a:p xmlns:a="http://schemas.openxmlformats.org/drawingml/2006/main">
            <a:r>
              <a:t>https://echofm.online/portret-dnya/portret-dnya-boris-vishnevskij-peterburgskij-politik</a:t>
            </a:r>
          </a:p>
          <a:p xmlns:a="http://schemas.openxmlformats.org/drawingml/2006/main">
            <a:r>
              <a:t>https://spb.yabloko.ru/people/vishnevskij-boris-lazarevich/</a:t>
            </a:r>
          </a:p>
          <a:p xmlns:a="http://schemas.openxmlformats.org/drawingml/2006/main">
            <a:r>
              <a:t>https://www.dp.ru/a/2026/08/26/bitva-nachalas-gde-v-peterburge</a:t>
            </a:r>
          </a:p>
          <a:p xmlns:a="http://schemas.openxmlformats.org/drawingml/2006/main">
            <a:r>
              <a:t>https://www.yabloko.ru/regnews/Spb/2022/02/21</a:t>
            </a:r>
          </a:p>
          <a:p xmlns:a="http://schemas.openxmlformats.org/drawingml/2006/main">
            <a:r>
              <a:t>https://www.yabloko.ru/cat-news/2021/08/06-0</a:t>
            </a:r>
          </a:p>
          <a:p xmlns:a="http://schemas.openxmlformats.org/drawingml/2006/main">
            <a:r>
              <a:t>https://www.rbc.ru/spb_sz/16/01/2023/63c53d9c9a7947d9bef4b853</a:t>
            </a:r>
          </a:p>
          <a:p xmlns:a="http://schemas.openxmlformats.org/drawingml/2006/main">
            <a:r>
              <a:t>https://www.rbc.ru/politics/06/05/2024/6638a8609a79472c01075a2c</a:t>
            </a:r>
          </a:p>
          <a:p xmlns:a="http://schemas.openxmlformats.org/drawingml/2006/main">
            <a:r>
              <a:t>https://www.svoboda.org/a/politika-dmitriya-gudkova-deportirovali-iz-gruzii-v-kiev/31679697.html</a:t>
            </a:r>
          </a:p>
          <a:p xmlns:a="http://schemas.openxmlformats.org/drawingml/2006/main">
            <a:r>
              <a:t>https://ru.krymr.com/a/dmitriy-gudkov-ob-otyezde-iz-rossii/31295079.html</a:t>
            </a:r>
          </a:p>
          <a:p xmlns:a="http://schemas.openxmlformats.org/drawingml/2006/main">
            <a:r>
              <a:t>https://daily.afisha.ru/news/114366-syn-politika-dmitriya-gudkova-pokonchil-s-soboy-v-emigracii/amp/</a:t>
            </a:r>
          </a:p>
          <a:p xmlns:a="http://schemas.openxmlformats.org/drawingml/2006/main">
            <a:r>
              <a:t>https://life.ru/t/dmitriygudkov</a:t>
            </a:r>
          </a:p>
          <a:p xmlns:a="http://schemas.openxmlformats.org/drawingml/2006/main">
            <a:r>
              <a:t>https://uk.wikipedia.org/wiki/%D0%93%D1%83%D0%B4%D0%BA%D0%BE%D0%B2_%D0%94%D0%BC%D0%B8%D1%82%D1%80%D1%96%D0%B9_%D0%93%D0%B5%D0%BD%D0%B0%D0%B4%D1%96%D0%B9%D0%BE%D0%B2%D0%B8%D1%87</a:t>
            </a:r>
          </a:p>
          <a:p xmlns:a="http://schemas.openxmlformats.org/drawingml/2006/main">
            <a:r>
              <a:t>https://mt.gazeta.ru/blog/43692366076/Syin-byivshego-deputata-Gosdumyi-Dmitriya-Gudkova-pokonchil-s-so?utm_referrer=mirtesen.ru</a:t>
            </a:r>
          </a:p>
          <a:p xmlns:a="http://schemas.openxmlformats.org/drawingml/2006/main">
            <a:r>
              <a:t>https://www.bbc.com/russian/news-57381443</a:t>
            </a:r>
          </a:p>
          <a:p xmlns:a="http://schemas.openxmlformats.org/drawingml/2006/main">
            <a:r>
              <a:t>https://www.themoscowtimes.com/2021/06/06/kremlin-critic-dmitry-gudkov-flees-to-ukraine-a74123</a:t>
            </a:r>
          </a:p>
          <a:p xmlns:a="http://schemas.openxmlformats.org/drawingml/2006/main">
            <a:r>
              <a:t>https://www.yabloko.ru/publikatsii/2016/09/15</a:t>
            </a:r>
          </a:p>
          <a:p xmlns:a="http://schemas.openxmlformats.org/drawingml/2006/main">
            <a:r>
              <a:t>https://novayagazeta.ru/articles/2018/03/21/75886-ya-privyk-lyudyam-verit</a:t>
            </a:r>
          </a:p>
          <a:p xmlns:a="http://schemas.openxmlformats.org/drawingml/2006/main">
            <a:r>
              <a:t>https://www.rbc.ru/politics/15/03/2018/5aaa98049a7947d12d63f1e1</a:t>
            </a:r>
          </a:p>
          <a:p xmlns:a="http://schemas.openxmlformats.org/drawingml/2006/main">
            <a:r>
              <a:t>https://rus.team/people/gudkov-dmitrij-gennadevich</a:t>
            </a:r>
          </a:p>
          <a:p xmlns:a="http://schemas.openxmlformats.org/drawingml/2006/main">
            <a:r>
              <a:t>https://www.azattyqasia.org/a/chto-proiskhodit-v-donbasse-/31863310/lbl0lbi299676.html</a:t>
            </a:r>
          </a:p>
          <a:p xmlns:a="http://schemas.openxmlformats.org/drawingml/2006/main">
            <a:r>
              <a:t>https://www.dw.com/ru/dmitrij-gudkov-putin-na-storone-partii-vojny-no-pri-etom-on-trus-21092022/video-63193199</a:t>
            </a:r>
          </a:p>
          <a:p xmlns:a="http://schemas.openxmlformats.org/drawingml/2006/main">
            <a:r>
              <a:t>https://ru.wikinews.org/wiki/%D0%9A%D0%B0%D1%82%D0%B5%D0%B3%D0%BE%D1%80%D0%B8%D1%8F:%D0%93%D0%B5%D0%BD%D0%BD%D0%B0%D0%B4%D0%B8%D0%B9_%D0%93%D1%83%D0%B4%D0%BA%D0%BE%D0%B2</a:t>
            </a:r>
          </a:p>
          <a:p xmlns:a="http://schemas.openxmlformats.org/drawingml/2006/main">
            <a:r>
              <a:t>https://en.wikipedia.org/wiki/Gennady_Gudkov</a:t>
            </a:r>
          </a:p>
          <a:p xmlns:a="http://schemas.openxmlformats.org/drawingml/2006/main">
            <a:r>
              <a:t>https://x.com/gudkov_g</a:t>
            </a:r>
          </a:p>
          <a:p xmlns:a="http://schemas.openxmlformats.org/drawingml/2006/main">
            <a:r>
              <a:t>https://www.dw.com/ru/chto-dmitrij-gudkov-nameren-delat-v-ukraine-i-vernetsja-li-v-rossiju/a-57830619</a:t>
            </a:r>
          </a:p>
          <a:p xmlns:a="http://schemas.openxmlformats.org/drawingml/2006/main">
            <a:r>
              <a:t>https://ru.wikipedia.org/wiki/%D0%93%D1%83%D0%B4%D0%BA%D0%BE%D0%B2,_%D0%93%D0%B5%D0%BD%D0%BD%D0%B0%D0%B4%D0%B8%D0%B9_%D0%92%D0%BB%D0%B0%D0%B4%D0%B8%D0%BC%D0%B8%D1%80%D0%BE%D0%B2%D0%B8%D1%87</a:t>
            </a:r>
          </a:p>
          <a:p xmlns:a="http://schemas.openxmlformats.org/drawingml/2006/main">
            <a:r>
              <a:t>https://ru.wikipedia.org/wiki/%D0%93%D1%83%D0%B4%D0%BA%D0%BE%D0%B2,_%D0%94%D0%BC%D0%B8%D1%82%D1%80%D0%B8%D0%B9_%D0%93%D0%B5%D0%BD%D0%BD%D0%B0%D0%B4%D1%8C%D0%B5%D0%B2%D0%B8%D1%87</a:t>
            </a:r>
          </a:p>
          <a:p xmlns:a="http://schemas.openxmlformats.org/drawingml/2006/main">
            <a:r>
              <a:t>https://utro02.tv/2022/10/31/navstrechu-sezdu-gennadij-gudkov-o-vyborah-obedinenii-oppoziczii-i-razdelenii-vlasti/</a:t>
            </a:r>
          </a:p>
          <a:p xmlns:a="http://schemas.openxmlformats.org/drawingml/2006/main">
            <a:r>
              <a:t>https://www.unian.net/war/rossiyskiy-oppozicioner-gudkov-putin-nachinaet-ponimat-chto-nastupaet-zh-pa-12031263.html</a:t>
            </a:r>
          </a:p>
          <a:p xmlns:a="http://schemas.openxmlformats.org/drawingml/2006/main">
            <a:r>
              <a:t>https://bntnews.bg/genadiy-gudkov-86846tag.html</a:t>
            </a:r>
          </a:p>
          <a:p xmlns:a="http://schemas.openxmlformats.org/drawingml/2006/main">
            <a:r>
              <a:t>https://tass.ru/encyclopedia/person/gudkov-dmitriy-gennadevich</a:t>
            </a:r>
          </a:p>
          <a:p xmlns:a="http://schemas.openxmlformats.org/drawingml/2006/main">
            <a:r>
              <a:t>https://www.kasparov.com/garry-kasparov-on-putin-and-the-virus-of-imperialism-wsj-free-expression-april-11-2022/</a:t>
            </a:r>
          </a:p>
          <a:p xmlns:a="http://schemas.openxmlformats.org/drawingml/2006/main">
            <a:r>
              <a:t>https://www.ilmessaggero.it/en/garry_kasparov_from_chess_champion_to_kremlin_critic-9797261.html</a:t>
            </a:r>
          </a:p>
          <a:p xmlns:a="http://schemas.openxmlformats.org/drawingml/2006/main">
            <a:r>
              <a:t>https://www.kasparov.com/category/russia/</a:t>
            </a:r>
          </a:p>
          <a:p xmlns:a="http://schemas.openxmlformats.org/drawingml/2006/main">
            <a:r>
              <a:t>https://www.kasparov.com/category/politics/</a:t>
            </a:r>
          </a:p>
          <a:p xmlns:a="http://schemas.openxmlformats.org/drawingml/2006/main">
            <a:r>
              <a:t>https://en.wikipedia.org/wiki/Political_views_of_Garry_Kasparov</a:t>
            </a:r>
          </a:p>
          <a:p xmlns:a="http://schemas.openxmlformats.org/drawingml/2006/main">
            <a:r>
              <a:t>https://www.dw.com/ru/kasparov-v-intervu-dw-vse-cto-delal-delaet-i-budet-delat-tramp-pomogaet-putinu/a-79633734</a:t>
            </a:r>
          </a:p>
          <a:p xmlns:a="http://schemas.openxmlformats.org/drawingml/2006/main">
            <a:r>
              <a:t>https://www.kasparov.com/</a:t>
            </a:r>
          </a:p>
          <a:p xmlns:a="http://schemas.openxmlformats.org/drawingml/2006/main">
            <a:r>
              <a:t>https://www.kasparov.com/a-conversation-with-garry-kasparov-thought-economics-with-vikas-shas-may-21-2017/</a:t>
            </a:r>
          </a:p>
          <a:p xmlns:a="http://schemas.openxmlformats.org/drawingml/2006/main">
            <a:r>
              <a:t>https://www.kasparov.com/new-yorker-interview-the-chess-grandmaster-and-political-activist-on-putin-trump-and-how-we-are-living-again-through-the-eighteen-fifties/</a:t>
            </a:r>
          </a:p>
          <a:p xmlns:a="http://schemas.openxmlformats.org/drawingml/2006/main">
            <a:r>
              <a:t>https://www.cnbc.com/2017/02/13/the-full-interview-with-former-world-chess-champion-garry-kasparov-on-trump-putin.html</a:t>
            </a:r>
          </a:p>
          <a:p xmlns:a="http://schemas.openxmlformats.org/drawingml/2006/main">
            <a:r>
              <a:t>https://www.reuters.com/world/europe/kasparov-calls-world-powers-throw-russia-back-into-stone-age-2022-03-03/</a:t>
            </a:r>
          </a:p>
          <a:p xmlns:a="http://schemas.openxmlformats.org/drawingml/2006/main">
            <a:r>
              <a:t>https://khodorkovsky.com/open-russia-manifesto/</a:t>
            </a:r>
          </a:p>
          <a:p xmlns:a="http://schemas.openxmlformats.org/drawingml/2006/main">
            <a:r>
              <a:t>https://khodorkovsky.com/programmes/initiatives/openrussia/</a:t>
            </a:r>
          </a:p>
          <a:p xmlns:a="http://schemas.openxmlformats.org/drawingml/2006/main">
            <a:r>
              <a:t>https://khodorkovsky.com/page/65/?m</a:t>
            </a:r>
          </a:p>
          <a:p xmlns:a="http://schemas.openxmlformats.org/drawingml/2006/main">
            <a:r>
              <a:t>https://khodorkovsky.com/page/80/?m</a:t>
            </a:r>
          </a:p>
          <a:p xmlns:a="http://schemas.openxmlformats.org/drawingml/2006/main">
            <a:r>
              <a:t>https://angliya.com/publication/mihail-hodorkovskiy-ne-priznayu-razdelenie-lyudey-na-osnovanii-politicheskih-vzglyadov/</a:t>
            </a:r>
          </a:p>
          <a:p xmlns:a="http://schemas.openxmlformats.org/drawingml/2006/main">
            <a:r>
              <a:t>https://www.dw.com/ru/mihail-hodorkovski-bojus-jeta-vojna-ne-budet-poslednej/a-61314556</a:t>
            </a:r>
          </a:p>
          <a:p xmlns:a="http://schemas.openxmlformats.org/drawingml/2006/main">
            <a:r>
              <a:t>https://ru.euronews.com/2022/06/21/ru-khodorkovsky-interview</a:t>
            </a:r>
          </a:p>
          <a:p xmlns:a="http://schemas.openxmlformats.org/drawingml/2006/main">
            <a:r>
              <a:t>https://ru.euronews.com/2022/06/23/mikhail-khodorkovsky</a:t>
            </a:r>
          </a:p>
          <a:p xmlns:a="http://schemas.openxmlformats.org/drawingml/2006/main">
            <a:r>
              <a:t>https://poligonmedia.io/mihail-hodorkovskij-putin-ne-pobedil/</a:t>
            </a:r>
          </a:p>
          <a:p xmlns:a="http://schemas.openxmlformats.org/drawingml/2006/main">
            <a:r>
              <a:t>https://www.pap.pl/ru/russian/news/khodorkovskiy-u-putina-est-prichiny-vesti-peregovory-o-prekraschenii-voyny-na-ukraine</a:t>
            </a:r>
          </a:p>
          <a:p xmlns:a="http://schemas.openxmlformats.org/drawingml/2006/main">
            <a:r>
              <a:t>https://milov.org/cat/debates</a:t>
            </a:r>
          </a:p>
          <a:p xmlns:a="http://schemas.openxmlformats.org/drawingml/2006/main">
            <a:r>
              <a:t>https://milov.org/entry/4188</a:t>
            </a:r>
          </a:p>
          <a:p xmlns:a="http://schemas.openxmlformats.org/drawingml/2006/main">
            <a:r>
              <a:t>https://milov.org/cat/international</a:t>
            </a:r>
          </a:p>
          <a:p xmlns:a="http://schemas.openxmlformats.org/drawingml/2006/main">
            <a:r>
              <a:t>https://tvrain.tv/teleshow/amerikanskie_gonki/tramp_vynashivaet_ideju_primiritsja_s_putinym-453802/</a:t>
            </a:r>
          </a:p>
          <a:p xmlns:a="http://schemas.openxmlformats.org/drawingml/2006/main">
            <a:r>
              <a:t>https://www.currenttime.tv/a/vladimir-milov-interview/31505887.html</a:t>
            </a:r>
          </a:p>
          <a:p xmlns:a="http://schemas.openxmlformats.org/drawingml/2006/main">
            <a:r>
              <a:t>https://ovd.info/express-news/2021/07/27/roskomnadzor-potreboval-ot-youtube-zablokirovat-kanaly-troikh-soratnikov</a:t>
            </a:r>
          </a:p>
          <a:p xmlns:a="http://schemas.openxmlformats.org/drawingml/2006/main">
            <a:r>
              <a:t>https://www.dw.com/ru/sud-v-moskve-prigovoril-vladimira-milova-k-8-godam-kolonii/a-67415717</a:t>
            </a:r>
          </a:p>
          <a:p xmlns:a="http://schemas.openxmlformats.org/drawingml/2006/main">
            <a:r>
              <a:t>https://ru.wikipedia.org/wiki/%D0%9C%D0%B8%D0%BB%D0%BE%D0%B2,_%D0%92%D0%BB%D0%B0%D0%B4%D0%B8%D0%BC%D0%B8%D1%80_%D0%A1%D1%82%D0%B0%D0%BD%D0%B8%D1%81%D0%BB%D0%B0%D0%B2%D0%BE%D0%B2%D0%B8%D1%87</a:t>
            </a:r>
          </a:p>
          <a:p xmlns:a="http://schemas.openxmlformats.org/drawingml/2006/main">
            <a:r>
              <a:t>https://gordonua.com/news/worldnews/milov-merkel-molodec-poteryala-vsego-7-8-v-polzu-svezhey-antiimmigrantskoy-partii-na-fone-migrantskogo-krizisa-208758.html</a:t>
            </a:r>
          </a:p>
          <a:p xmlns:a="http://schemas.openxmlformats.org/drawingml/2006/main">
            <a:r>
              <a:t>https://echofm.online/programs/hochu-skazat/hochu-skazat-larina-69</a:t>
            </a:r>
          </a:p>
          <a:p xmlns:a="http://schemas.openxmlformats.org/drawingml/2006/main">
            <a:r>
              <a:t>https://www.hoover.org/plus/research/russian-opposition-and-ukraine-conversation-vladimir-milov</a:t>
            </a:r>
          </a:p>
          <a:p xmlns:a="http://schemas.openxmlformats.org/drawingml/2006/main">
            <a:r>
              <a:t>https://www.golosameriki.com/a/washington-dialogue-russian-opposition-conference/7648250.html</a:t>
            </a:r>
          </a:p>
          <a:p xmlns:a="http://schemas.openxmlformats.org/drawingml/2006/main">
            <a:r>
              <a:t>https://glavred.info/chat/1337-vladimir-milov.html</a:t>
            </a:r>
          </a:p>
          <a:p xmlns:a="http://schemas.openxmlformats.org/drawingml/2006/main">
            <a:r>
              <a:t>https://www.interfax.ru/moscow/669378</a:t>
            </a:r>
          </a:p>
          <a:p xmlns:a="http://schemas.openxmlformats.org/drawingml/2006/main">
            <a:r>
              <a:t>https://tass.ru/politika/6670439</a:t>
            </a:r>
          </a:p>
          <a:p xmlns:a="http://schemas.openxmlformats.org/drawingml/2006/main">
            <a:r>
              <a:t>https://www.rbc.ru/politics/16/07/2019/5d2c8b3b9a794799a7c7d413</a:t>
            </a:r>
          </a:p>
          <a:p xmlns:a="http://schemas.openxmlformats.org/drawingml/2006/main">
            <a:r>
              <a:t>https://www.bbc.com/russian/news-56269079</a:t>
            </a:r>
          </a:p>
          <a:p xmlns:a="http://schemas.openxmlformats.org/drawingml/2006/main">
            <a:r>
              <a:t>https://ovd.info/express-news/2020/12/28/s-yurista-fbk-kotoraya-provela-pochti-dvoe-sutok-v-ivs-pytalis-vzyat</a:t>
            </a:r>
          </a:p>
          <a:p xmlns:a="http://schemas.openxmlformats.org/drawingml/2006/main">
            <a:r>
              <a:t>https://ovd.info/express-news/2021/02/26/prokuratura-utverdila-obvinenie-sobol-po-delu-o-proniknovenii-v-kvartiru</a:t>
            </a:r>
          </a:p>
          <a:p xmlns:a="http://schemas.openxmlformats.org/drawingml/2006/main">
            <a:r>
              <a:t>https://ovd.info/express-news/2020/12/29/protiv-alekseya-navalnogo-vozbudili-ugolovnoe-delo-o-moshennichestve-iz-za</a:t>
            </a:r>
          </a:p>
          <a:p xmlns:a="http://schemas.openxmlformats.org/drawingml/2006/main">
            <a:r>
              <a:t>https://www.currenttime.tv/a/sobol/31723600.html</a:t>
            </a:r>
          </a:p>
          <a:p xmlns:a="http://schemas.openxmlformats.org/drawingml/2006/main">
            <a:r>
              <a:t>https://www.currenttime.tv/interview/episodes/2022/2/26</a:t>
            </a:r>
          </a:p>
          <a:p xmlns:a="http://schemas.openxmlformats.org/drawingml/2006/main">
            <a:r>
              <a:t>https://ochevidcy.com/putin-budet-vorovat-do-groba/</a:t>
            </a:r>
          </a:p>
          <a:p xmlns:a="http://schemas.openxmlformats.org/drawingml/2006/main">
            <a:r>
              <a:t>https://www.svoboda.org/a/32881433.html</a:t>
            </a:r>
          </a:p>
          <a:p xmlns:a="http://schemas.openxmlformats.org/drawingml/2006/main">
            <a:r>
              <a:t>https://echofm.online/programs/idyom-po-zvyozdam/idyom-po-zvezdam-s-lyubovyu-sobol</a:t>
            </a:r>
          </a:p>
          <a:p xmlns:a="http://schemas.openxmlformats.org/drawingml/2006/main">
            <a:r>
              <a:t>https://x.com/SobolLubov</a:t>
            </a:r>
          </a:p>
          <a:p xmlns:a="http://schemas.openxmlformats.org/drawingml/2006/main">
            <a:r>
              <a:t>https://stuki-druki.com/authors/sobol-lubov.php</a:t>
            </a:r>
          </a:p>
          <a:p xmlns:a="http://schemas.openxmlformats.org/drawingml/2006/main">
            <a:r>
              <a:t>https://www.interfax.ru/elections2018/593143</a:t>
            </a:r>
          </a:p>
          <a:p xmlns:a="http://schemas.openxmlformats.org/drawingml/2006/main">
            <a:r>
              <a:t>https://elections2018.tass.ru/candidate/sobchak</a:t>
            </a:r>
          </a:p>
          <a:p xmlns:a="http://schemas.openxmlformats.org/drawingml/2006/main">
            <a:r>
              <a:t>https://www.interfax.ru/elections2018/604186</a:t>
            </a:r>
          </a:p>
          <a:p xmlns:a="http://schemas.openxmlformats.org/drawingml/2006/main">
            <a:r>
              <a:t>https://www.interfax.ru/elections2018/604908</a:t>
            </a:r>
          </a:p>
          <a:p xmlns:a="http://schemas.openxmlformats.org/drawingml/2006/main">
            <a:r>
              <a:t>https://www.consultant.ru/law/hotdocs/53066.html</a:t>
            </a:r>
          </a:p>
          <a:p xmlns:a="http://schemas.openxmlformats.org/drawingml/2006/main">
            <a:r>
              <a:t>https://www.rbc.ru/newspaper/2018/03/20/5aae9ca49a794739b02918a0</a:t>
            </a:r>
          </a:p>
          <a:p xmlns:a="http://schemas.openxmlformats.org/drawingml/2006/main">
            <a:r>
              <a:t>https://www.interfax.ru/elections2018/604136</a:t>
            </a:r>
          </a:p>
          <a:p xmlns:a="http://schemas.openxmlformats.org/drawingml/2006/main">
            <a:r>
              <a:t>https://www.interfax.ru/elections2018/604190</a:t>
            </a:r>
          </a:p>
          <a:p xmlns:a="http://schemas.openxmlformats.org/drawingml/2006/main">
            <a:r>
              <a:t>https://www.rbc.ru/economics/25/12/2017/5a4025f19a79472e3f5f4ad9?from=right_column_materials_3</a:t>
            </a:r>
          </a:p>
          <a:p xmlns:a="http://schemas.openxmlformats.org/drawingml/2006/main">
            <a:r>
              <a:t>https://news.ru/show-business/otezd-iz-rf-vybory-svo-v-chem-priznalas-kseniya-sobchak-v-novom-intervyu</a:t>
            </a:r>
          </a:p>
          <a:p xmlns:a="http://schemas.openxmlformats.org/drawingml/2006/main">
            <a:r>
              <a:t>https://rtvi.com/news/sobchak-otvetila-na-vopros-putin-ili-zelenskij/</a:t>
            </a:r>
          </a:p>
          <a:p xmlns:a="http://schemas.openxmlformats.org/drawingml/2006/main">
            <a:r>
              <a:t>https://informator.ua/ru/kompromissy-iz-rf-legitimnost-zelenskogo-i-gotovnost-pozhat-ruku-putinu-o-chem-govoril-arestovich-v-intervyu-sobchak</a:t>
            </a:r>
          </a:p>
          <a:p xmlns:a="http://schemas.openxmlformats.org/drawingml/2006/main">
            <a:r>
              <a:t>https://rassvet-party.info/</a:t>
            </a:r>
          </a:p>
          <a:p xmlns:a="http://schemas.openxmlformats.org/drawingml/2006/main">
            <a:r>
              <a:t>https://en.wikipedia.org/wiki/Yekaterina_Duntsova</a:t>
            </a:r>
          </a:p>
          <a:p xmlns:a="http://schemas.openxmlformats.org/drawingml/2006/main">
            <a:r>
              <a:t>https://www.dw.com/ru/cto-nuzno-znat-o-ekaterine-duncovoj-kotoraa-hocet-stat-prezidentom-rf/a-67832425</a:t>
            </a:r>
          </a:p>
          <a:p xmlns:a="http://schemas.openxmlformats.org/drawingml/2006/main">
            <a:r>
              <a:t>https://baj.media/ru/ya-gotova-idti-do-konca-zhurnalistka-iz-rossiyskoy-provincii-reshila-stat-prezidentom-i-2/</a:t>
            </a:r>
          </a:p>
          <a:p xmlns:a="http://schemas.openxmlformats.org/drawingml/2006/main">
            <a:r>
              <a:t>https://echofm.online/portret-dnya/portret-dnya-ekaterina-dunczova-reshivshaya-vydvinutsya-kandidatom-v-prezidenty-rossii-zhurnalistka-iz-rzheva</a:t>
            </a:r>
          </a:p>
          <a:p xmlns:a="http://schemas.openxmlformats.org/drawingml/2006/main">
            <a:r>
              <a:t>https://novayagazeta.eu/articles/2024/03/15/zlost-i-nenavist-vsem-nadoeli</a:t>
            </a:r>
          </a:p>
          <a:p xmlns:a="http://schemas.openxmlformats.org/drawingml/2006/main">
            <a:r>
              <a:t>https://altapress.ru/politika/story/kto-takaya-ekaterina-duntsova-kotoraya-sobiraetsya-stat-poslednim-prezidentom-rossii-i-kto-eshche-hochet-ballotirovatsya-336526</a:t>
            </a:r>
          </a:p>
          <a:p xmlns:a="http://schemas.openxmlformats.org/drawingml/2006/main">
            <a:r>
              <a:t>https://cherta.media/interview/ekaterina-duncova-kandidat-v-prezidenty/</a:t>
            </a:r>
          </a:p>
          <a:p xmlns:a="http://schemas.openxmlformats.org/drawingml/2006/main">
            <a:r>
              <a:t>https://novayagazeta.eu/articles/2023/12/05/zachem-ia-budu-stoiat-na-barrikadakh-esli-mogu-zanimatsia-realnymi-delami</a:t>
            </a:r>
          </a:p>
          <a:p xmlns:a="http://schemas.openxmlformats.org/drawingml/2006/main">
            <a:r>
              <a:t>https://holod.media/2023/12/20/ekaterina-duntsova-view/</a:t>
            </a:r>
          </a:p>
          <a:p xmlns:a="http://schemas.openxmlformats.org/drawingml/2006/main">
            <a:r>
              <a:t>https://www.dw.com/ru/ekaterina-duncova-o-sozdanii-partii-rassvet-my-mezdu-dvuh-ognej/a-68992724</a:t>
            </a:r>
          </a:p>
          <a:p xmlns:a="http://schemas.openxmlformats.org/drawingml/2006/main">
            <a:r>
              <a:t>https://rassvet-party.info/static/program.pdf</a:t>
            </a:r>
          </a:p>
          <a:p xmlns:a="http://schemas.openxmlformats.org/drawingml/2006/main">
            <a:r>
              <a:t>https://www.currenttime.tv/a/ekaterina-duntsova-o-sozdanii-partii-i-svoem-zaderzhanii/32775510.html</a:t>
            </a:r>
          </a:p>
          <a:p xmlns:a="http://schemas.openxmlformats.org/drawingml/2006/main">
            <a:r>
              <a:t>https://duntsovainitiative.1c-umi.ru/galereya/</a:t>
            </a:r>
          </a:p>
          <a:p xmlns:a="http://schemas.openxmlformats.org/drawingml/2006/main">
            <a:r>
              <a:t>https://rassvet-party.info/static/manifest.pdf</a:t>
            </a:r>
          </a:p>
          <a:p xmlns:a="http://schemas.openxmlformats.org/drawingml/2006/main">
            <a:r>
              <a:t>https://www.rbc.ru/person/65afb4a99a79470e434da73d</a:t>
            </a:r>
          </a:p>
          <a:p xmlns:a="http://schemas.openxmlformats.org/drawingml/2006/main">
            <a:r>
              <a:t>https://www.bbc.com/russian/articles/c84npr0wxx9o</a:t>
            </a:r>
          </a:p>
          <a:p xmlns:a="http://schemas.openxmlformats.org/drawingml/2006/main">
            <a:r>
              <a:t>https://www.rbc.ru/politics/08/02/2024/65c3749b9a79479ef5fe7934</a:t>
            </a:r>
          </a:p>
          <a:p xmlns:a="http://schemas.openxmlformats.org/drawingml/2006/main">
            <a:r>
              <a:t>https://www.business-gazeta.ru/article/622600</a:t>
            </a:r>
          </a:p>
          <a:p xmlns:a="http://schemas.openxmlformats.org/drawingml/2006/main">
            <a:r>
              <a:t>https://semnasem.org/articles/2024/02/02/poslednij-sredi-antivoennyh-kto-takoj-boris-nadezhdin-kotoryj-vse-eshe-nadeetsya-stat-prezidentom</a:t>
            </a:r>
          </a:p>
          <a:p xmlns:a="http://schemas.openxmlformats.org/drawingml/2006/main">
            <a:r>
              <a:t>https://novayagazeta.eu/articles/2024/02/03/17-marta-nachalo-kontsa-epokhi-putina</a:t>
            </a:r>
          </a:p>
          <a:p xmlns:a="http://schemas.openxmlformats.org/drawingml/2006/main">
            <a:r>
              <a:t>https://www.youtube.com/watch?v=mGMdgxBCdns</a:t>
            </a:r>
          </a:p>
          <a:p xmlns:a="http://schemas.openxmlformats.org/drawingml/2006/main">
            <a:r>
              <a:t>https://www.dw.com/ru/boris-nadezdin-moj-rejting-rastet-na-5-v-nedelu/a-68154251</a:t>
            </a:r>
          </a:p>
          <a:p xmlns:a="http://schemas.openxmlformats.org/drawingml/2006/main">
            <a:r>
              <a:t>https://ovd.info/express-news/2026/07/17/u-menya-dva-puti-lenina-ili-navalnogo-chto-nuzhno-znat-o-borise-nadezhdine</a:t>
            </a:r>
          </a:p>
          <a:p xmlns:a="http://schemas.openxmlformats.org/drawingml/2006/main">
            <a:r>
              <a:t>https://www.rbc.ru/person/65afb4a99a79470e434da73d?ysclid=mrt22n99to603501119</a:t>
            </a:r>
          </a:p>
          <a:p xmlns:a="http://schemas.openxmlformats.org/drawingml/2006/main">
            <a:r>
              <a:t>https://www.youtube.com/watch?v=UNytg_H_1pY</a:t>
            </a:r>
          </a:p>
          <a:p xmlns:a="http://schemas.openxmlformats.org/drawingml/2006/main">
            <a:r>
              <a:t>https://www.youtube.com/watch?v=DwTC5bilf_8</a:t>
            </a:r>
          </a:p>
          <a:p xmlns:a="http://schemas.openxmlformats.org/drawingml/2006/main">
            <a:r>
              <a:t>https://www.youtube.com/watch?v=sG4_THnT9W0</a:t>
            </a:r>
          </a:p>
          <a:p xmlns:a="http://schemas.openxmlformats.org/drawingml/2006/main">
            <a:r>
              <a:t>https://www.rbc.ru/rbcfreenews/6586cdf49a79479c3cd3d4b3</a:t>
            </a:r>
          </a:p>
          <a:p xmlns:a="http://schemas.openxmlformats.org/drawingml/2006/main">
            <a:r>
              <a:t>https://kprf.ru/activity/elections/223485.html/print</a:t>
            </a:r>
          </a:p>
          <a:p xmlns:a="http://schemas.openxmlformats.org/drawingml/2006/main">
            <a:r>
              <a:t>http://msk.kprf.ru/2024/01/24/247473/</a:t>
            </a:r>
          </a:p>
          <a:p xmlns:a="http://schemas.openxmlformats.org/drawingml/2006/main">
            <a:r>
              <a:t>https://www.dw.com/ru/vybory-prezidenta-rossii-2024/a-68528003</a:t>
            </a:r>
          </a:p>
          <a:p xmlns:a="http://schemas.openxmlformats.org/drawingml/2006/main">
            <a:r>
              <a:t>https://ru.wikipedia.org/wiki/%D0%A5%D0%B0%D1%80%D0%B8%D1%82%D0%BE%D0%BD%D0%BE%D0%B2,_%D0%9D%D0%B8%D0%BA%D0%BE%D0%BB%D0%B0%D0%B9_%D0%9C%D0%B8%D1%85%D0%B0%D0%B9%D0%BB%D0%BE%D0%B2%D0%B8%D1%87</a:t>
            </a:r>
          </a:p>
          <a:p xmlns:a="http://schemas.openxmlformats.org/drawingml/2006/main">
            <a:r>
              <a:t>https://kprf.ru/party-live/cknews/225170.html</a:t>
            </a:r>
          </a:p>
          <a:p xmlns:a="http://schemas.openxmlformats.org/drawingml/2006/main">
            <a:r>
              <a:t>https://kprf.ru/dep/gosduma/activities/232802.html</a:t>
            </a:r>
          </a:p>
          <a:p xmlns:a="http://schemas.openxmlformats.org/drawingml/2006/main">
            <a:r>
              <a:t>https://kprf35.com/2024/02/17/32710/</a:t>
            </a:r>
          </a:p>
          <a:p xmlns:a="http://schemas.openxmlformats.org/drawingml/2006/main">
            <a:r>
              <a:t>https://www.pkokprf.ru/news/view/35448</a:t>
            </a:r>
          </a:p>
          <a:p xmlns:a="http://schemas.openxmlformats.org/drawingml/2006/main">
            <a:r>
              <a:t>https://altkprf.ru/upload/iblock/eea/jiv0wm7hzk6gq4qdxw0r5wvp7zwb6luk.pdf</a:t>
            </a:r>
          </a:p>
          <a:p xmlns:a="http://schemas.openxmlformats.org/drawingml/2006/main">
            <a:r>
              <a:t>https://kprf.ru/activity/army/224789.html</a:t>
            </a:r>
          </a:p>
          <a:p xmlns:a="http://schemas.openxmlformats.org/drawingml/2006/main">
            <a:r>
              <a:t>https://gazeta-pravda.ru/issue/24-31517-711-marta-2024-goda-/alternativa-polupravde/</a:t>
            </a:r>
          </a:p>
          <a:p xmlns:a="http://schemas.openxmlformats.org/drawingml/2006/main">
            <a:r>
              <a:t>https://spbpalata.ru/?p=13755</a:t>
            </a:r>
          </a:p>
          <a:p xmlns:a="http://schemas.openxmlformats.org/drawingml/2006/main">
            <a:r>
              <a:t>https://kprf.ru/activity/elections/171941.html</a:t>
            </a:r>
          </a:p>
          <a:p xmlns:a="http://schemas.openxmlformats.org/drawingml/2006/main">
            <a:r>
              <a:t>https://kprf.ru/party-live/cknews/171994.html</a:t>
            </a:r>
          </a:p>
          <a:p xmlns:a="http://schemas.openxmlformats.org/drawingml/2006/main">
            <a:r>
              <a:t>https://elections2018.tass.ru/candidate/grudinin</a:t>
            </a:r>
          </a:p>
          <a:p xmlns:a="http://schemas.openxmlformats.org/drawingml/2006/main">
            <a:r>
              <a:t>https://www.bbc.com/russian/features-43105617</a:t>
            </a:r>
          </a:p>
          <a:p xmlns:a="http://schemas.openxmlformats.org/drawingml/2006/main">
            <a:r>
              <a:t>https://www.rbc.ru/politics/24/07/2021/60fbe35b9a794716f25253a0</a:t>
            </a:r>
          </a:p>
          <a:p xmlns:a="http://schemas.openxmlformats.org/drawingml/2006/main">
            <a:r>
              <a:t>https://kprf.ru/dep/reg/204410.html</a:t>
            </a:r>
          </a:p>
          <a:p xmlns:a="http://schemas.openxmlformats.org/drawingml/2006/main">
            <a:r>
              <a:t>https://msk.kprf.ru/2021/09/16/168273/</a:t>
            </a:r>
          </a:p>
          <a:p xmlns:a="http://schemas.openxmlformats.org/drawingml/2006/main">
            <a:r>
              <a:t>https://svpressa.ru/persons/pavel-grudinin/</a:t>
            </a:r>
          </a:p>
          <a:p xmlns:a="http://schemas.openxmlformats.org/drawingml/2006/main">
            <a:r>
              <a:t>https://carnegieendowment.org/ru/russia-eurasia/posts/2018/02/kuda-privedut-ekonomiku-rossii-20-shagov-grudinina</a:t>
            </a:r>
          </a:p>
          <a:p xmlns:a="http://schemas.openxmlformats.org/drawingml/2006/main">
            <a:r>
              <a:t>https://www.kompas-rf.ru/2018/01/2980/</a:t>
            </a:r>
          </a:p>
          <a:p xmlns:a="http://schemas.openxmlformats.org/drawingml/2006/main">
            <a:r>
              <a:t>https://www.svoboda.org/a/30073365.html</a:t>
            </a:r>
          </a:p>
          <a:p xmlns:a="http://schemas.openxmlformats.org/drawingml/2006/main">
            <a:r>
              <a:t>https://kandidativprezidenti.ru/programma-grudinina-2018/</a:t>
            </a:r>
          </a:p>
          <a:p xmlns:a="http://schemas.openxmlformats.org/drawingml/2006/main">
            <a:r>
              <a:t>https://mbk-news.appspot.com/suzhet/za-lenina-i-protiv-ege/</a:t>
            </a:r>
          </a:p>
          <a:p xmlns:a="http://schemas.openxmlformats.org/drawingml/2006/main">
            <a:r>
              <a:t>https://www.amnesty.org/ru/latest/research/2021/06/zayavlenie-rossijskaya-federacziya-obvinitelnyj-prigovor-nikolayu-platoshkinu-dolzhen-byt-otmenyon/</a:t>
            </a:r>
          </a:p>
          <a:p xmlns:a="http://schemas.openxmlformats.org/drawingml/2006/main">
            <a:r>
              <a:t>https://zona.media/article/2021/05/20/nikolay-nikolaevitch</a:t>
            </a:r>
          </a:p>
          <a:p xmlns:a="http://schemas.openxmlformats.org/drawingml/2006/main">
            <a:r>
              <a:t>https://novayagazeta.ru/articles/2020/06/05/85705-sotsialisticheskiy-prizyv</a:t>
            </a:r>
          </a:p>
          <a:p xmlns:a="http://schemas.openxmlformats.org/drawingml/2006/main">
            <a:r>
              <a:t>https://www.revda-info.ru/2020/08/26/v-revde-poyavilos-otdelenie-dvizheniya-za-novyj-sotsializm-ego-lider-sejchas-pod-arestom</a:t>
            </a:r>
          </a:p>
          <a:p xmlns:a="http://schemas.openxmlformats.org/drawingml/2006/main">
            <a:r>
              <a:t>https://new-socialism.org/o-dvizhenii/programma/</a:t>
            </a:r>
          </a:p>
          <a:p xmlns:a="http://schemas.openxmlformats.org/drawingml/2006/main">
            <a:r>
              <a:t>https://new-socialism.org/o-dvizhenii/lider/</a:t>
            </a:r>
          </a:p>
          <a:p xmlns:a="http://schemas.openxmlformats.org/drawingml/2006/main">
            <a:r>
              <a:t>https://www.themoscowtimes.com/2024/01/19/ilya-ponomaryov-we-have-to-capture-the-kremlin-there-is-no-other-way-a83772</a:t>
            </a:r>
          </a:p>
          <a:p xmlns:a="http://schemas.openxmlformats.org/drawingml/2006/main">
            <a:r>
              <a:t>https://www.dw.com/ru/cto-izvestno-o-rossijskih-podrazdeleniah-v-sostave-vsu/a-63915634</a:t>
            </a:r>
          </a:p>
          <a:p xmlns:a="http://schemas.openxmlformats.org/drawingml/2006/main">
            <a:r>
              <a:t>https://www.svoboda.org/a/32321226.html</a:t>
            </a:r>
          </a:p>
          <a:p xmlns:a="http://schemas.openxmlformats.org/drawingml/2006/main">
            <a:r>
              <a:t>https://hromadske.ua/ru/posts/nasha-cel-moskva-my-dolzhny-sbrosit-putina-rossijskie-partizany-mif-ili-pravda</a:t>
            </a:r>
          </a:p>
          <a:p xmlns:a="http://schemas.openxmlformats.org/drawingml/2006/main">
            <a:r>
              <a:t>https://epravda.com.ua/rus/publications/2018/06/11/637572/</a:t>
            </a:r>
          </a:p>
          <a:p xmlns:a="http://schemas.openxmlformats.org/drawingml/2006/main">
            <a:r>
              <a:t>https://pointmedia.io/story/672b355fdc48800406e0f515</a:t>
            </a:r>
          </a:p>
          <a:p xmlns:a="http://schemas.openxmlformats.org/drawingml/2006/main">
            <a:r>
              <a:t>https://ru.wikipedia.org/wiki/%D0%9B%D0%B5%D0%B3%D0%B8%D0%BE%D0%BD_%C2%AB%D0%A1%D0%B2%D0%BE%D0%B1%D0%BE%D0%B4%D0%B0_%D0%A0%D0%BE%D1%81%D1%81%D0%B8%D0%B8%C2%BB</a:t>
            </a:r>
          </a:p>
          <a:p xmlns:a="http://schemas.openxmlformats.org/drawingml/2006/main">
            <a:r>
              <a:t>https://ru.wikipedia.org/wiki/%D0%9F%D0%BE%D0%BD%D0%BE%D0%BC%D0%B0%D1%80%D1%91%D0%B2,_%D0%98%D0%BB%D1%8C%D1%8F_%D0%92%D0%BB%D0%B0%D0%B4%D0%B8%D0%BC%D0%B8%D1%80%D0%BE%D0%B2%D0%B8%D1%87</a:t>
            </a:r>
          </a:p>
          <a:p xmlns:a="http://schemas.openxmlformats.org/drawingml/2006/main">
            <a:r>
              <a:t>https://russophob.ru/person/ponomarev_ilya_vladimirovich</a:t>
            </a:r>
          </a:p>
          <a:p xmlns:a="http://schemas.openxmlformats.org/drawingml/2006/main">
            <a:r>
              <a:t>https://www.svoboda.org/a/32063164.html</a:t>
            </a:r>
          </a:p>
          <a:p xmlns:a="http://schemas.openxmlformats.org/drawingml/2006/main">
            <a:r>
              <a:t>https://www.kpbs.org/news/news/international/2023/03/26/a-scrappy-newscast-in-kyiv-aimed-at-russians-counters-putins-propaganda-machine</a:t>
            </a:r>
          </a:p>
          <a:p xmlns:a="http://schemas.openxmlformats.org/drawingml/2006/main">
            <a:r>
              <a:t>https://ovd.info/express-news/2022/10/02/politik-leonid-gozman-uekhal-iz-rossii-posle-dvukh-administrativnykh</a:t>
            </a:r>
          </a:p>
          <a:p xmlns:a="http://schemas.openxmlformats.org/drawingml/2006/main">
            <a:r>
              <a:t>https://ovd.info/express-news/2022/08/30/politika-leonida-gozmana-arestovali-na-15-sutok-iz-za-posta-v-feysbuke</a:t>
            </a:r>
          </a:p>
          <a:p xmlns:a="http://schemas.openxmlformats.org/drawingml/2006/main">
            <a:r>
              <a:t>https://www.rbc.ru/politics/15/07/2022/62d1b3f39a7947299cdeb6a4</a:t>
            </a:r>
          </a:p>
          <a:p xmlns:a="http://schemas.openxmlformats.org/drawingml/2006/main">
            <a:r>
              <a:t>https://novayagazeta.eu/articles/2022/07/15/sk-doprosil-politika-leonida-gozmana-kak-podozrevaemogo-po-delu-o-neuvedomlenii-o-vtorom-grazhdanstve-news</a:t>
            </a:r>
          </a:p>
          <a:p xmlns:a="http://schemas.openxmlformats.org/drawingml/2006/main">
            <a:r>
              <a:t>https://www.rbc.ru/politics/15/02/2024/65cdc9e09a7947a2995026fa</a:t>
            </a:r>
          </a:p>
          <a:p xmlns:a="http://schemas.openxmlformats.org/drawingml/2006/main">
            <a:r>
              <a:t>https://ovd.info/express-news/2025/01/22/leonida-gozmana-i-rovshana-askerova-vnesli-v-reestr-terroristov-i</a:t>
            </a:r>
          </a:p>
          <a:p xmlns:a="http://schemas.openxmlformats.org/drawingml/2006/main">
            <a:r>
              <a:t>https://www.rbc.ru/opinion-authors/gozman</a:t>
            </a:r>
          </a:p>
          <a:p xmlns:a="http://schemas.openxmlformats.org/drawingml/2006/main">
            <a:r>
              <a:t>https://novayagazeta.eu/articles/2022/07/25/ovd-info-v-moskve-zaderzhali-politika-leonida-gozmana-news</a:t>
            </a:r>
          </a:p>
          <a:p xmlns:a="http://schemas.openxmlformats.org/drawingml/2006/main">
            <a:r>
              <a:t>https://gefter.ru/archive/23487</a:t>
            </a:r>
          </a:p>
          <a:p xmlns:a="http://schemas.openxmlformats.org/drawingml/2006/main">
            <a:r>
              <a:t>https://www.svoboda.org/a/31147156.html</a:t>
            </a:r>
          </a:p>
          <a:p xmlns:a="http://schemas.openxmlformats.org/drawingml/2006/main">
            <a:r>
              <a:t>https://uatv.ua/gozman-putin-zagnal-rossiyu-v-ugol-sleduyushhij-shag-repressii/</a:t>
            </a:r>
          </a:p>
          <a:p xmlns:a="http://schemas.openxmlformats.org/drawingml/2006/main">
            <a:r>
              <a:t>https://echofm.online/programs/hochu-skazat/hochu-skazat-odin-protiv-vseh-kak-ne-dat-strahu-pobedit-sebya</a:t>
            </a:r>
          </a:p>
          <a:p xmlns:a="http://schemas.openxmlformats.org/drawingml/2006/main">
            <a:r>
              <a:t>https://www.svoboda.org/a/leonid-gozman-russkih-lyudey-neljzya-mazatj-odnoy-chernoy-kraskoy-/32732625.html</a:t>
            </a:r>
          </a:p>
          <a:p xmlns:a="http://schemas.openxmlformats.org/drawingml/2006/main">
            <a:r>
              <a:t>https://novayagazeta.eu/articles/2022/07/18/prepiatstvovat-prosveshcheniiu-liudei-vlast-budet-pulemiotami</a:t>
            </a:r>
          </a:p>
          <a:p xmlns:a="http://schemas.openxmlformats.org/drawingml/2006/main">
            <a:r>
              <a:t>https://www.svoboda.org/a/29652429.html</a:t>
            </a:r>
          </a:p>
          <a:p xmlns:a="http://schemas.openxmlformats.org/drawingml/2006/main">
            <a:r>
              <a:t>https://novayagazeta.eu/articles/2022/04/26/nesobliudenie-rezhima</a:t>
            </a:r>
          </a:p>
          <a:p xmlns:a="http://schemas.openxmlformats.org/drawingml/2006/main">
            <a:r>
              <a:t>https://novayagazeta.eu/articles/2022/07/21/zapiski-ugolovnika</a:t>
            </a:r>
          </a:p>
          <a:p xmlns:a="http://schemas.openxmlformats.org/drawingml/2006/main">
            <a:r>
              <a:t>https://novayagazeta.ru/authors/2349</a:t>
            </a:r>
          </a:p>
          <a:p xmlns:a="http://schemas.openxmlformats.org/drawingml/2006/main">
            <a:r>
              <a:t>https://www.rbc.ru/politics/10/08/2017/598c8d6d9a79474cff05cbab</a:t>
            </a:r>
          </a:p>
          <a:p xmlns:a="http://schemas.openxmlformats.org/drawingml/2006/main">
            <a:r>
              <a:t>https://www.bbc.com/russian/news-40853405</a:t>
            </a:r>
          </a:p>
          <a:p xmlns:a="http://schemas.openxmlformats.org/drawingml/2006/main">
            <a:r>
              <a:t>https://www.rbc.ru/politics/10/08/2017/598c0a8e9a7947569574ba10?from=right_column_materials_1</a:t>
            </a:r>
          </a:p>
          <a:p xmlns:a="http://schemas.openxmlformats.org/drawingml/2006/main">
            <a:r>
              <a:t>https://www.vedomosti.ru/politics/articles/2017/08/10/728820-udaltsov</a:t>
            </a:r>
          </a:p>
          <a:p xmlns:a="http://schemas.openxmlformats.org/drawingml/2006/main">
            <a:r>
              <a:t>https://www.interfax.ru/elections2018/598382</a:t>
            </a:r>
          </a:p>
          <a:p xmlns:a="http://schemas.openxmlformats.org/drawingml/2006/main">
            <a:r>
              <a:t>https://sotaproject.com/article/sergeia-udaltsova-opiat-pytaiutsia-posadit-khotia-on-vsego-lish-prosit-putina-postroit-sotsializm</a:t>
            </a:r>
          </a:p>
          <a:p xmlns:a="http://schemas.openxmlformats.org/drawingml/2006/main">
            <a:r>
              <a:t>https://www.gazeta.ru/tags/person/sergei_udaltsov.shtml</a:t>
            </a:r>
          </a:p>
          <a:p xmlns:a="http://schemas.openxmlformats.org/drawingml/2006/main">
            <a:r>
              <a:t>https://www.kommersant.ru/doc/8317316</a:t>
            </a:r>
          </a:p>
          <a:p xmlns:a="http://schemas.openxmlformats.org/drawingml/2006/main">
            <a:r>
              <a:t>https://www.kommersant.ru/doc/8972418</a:t>
            </a:r>
          </a:p>
          <a:p xmlns:a="http://schemas.openxmlformats.org/drawingml/2006/main">
            <a:r>
              <a:t>https://holod.media/2023/09/12/udaltsov-interview/</a:t>
            </a:r>
          </a:p>
          <a:p xmlns:a="http://schemas.openxmlformats.org/drawingml/2006/main">
            <a:r>
              <a:t>https://meduza.io/feature/2024/01/11/sergey-udaltsov-zaderzhan-po-obvineniyu-v-opravdanii-terrorizma</a:t>
            </a:r>
          </a:p>
          <a:p xmlns:a="http://schemas.openxmlformats.org/drawingml/2006/main">
            <a:r>
              <a:t>https://ref-book.sova-center.ru/index.php/%D0%94%D1%80%D1%83%D0%B3%D0%B0%D1%8F_%D0%A0%D0%BE%D1%81%D1%81%D0%B8%D1%8F,_%D0%BF%D0%B0%D1%80%D1%82%D0%B8%D1%8F</a:t>
            </a:r>
          </a:p>
          <a:p xmlns:a="http://schemas.openxmlformats.org/drawingml/2006/main">
            <a:r>
              <a:t>https://www.rbc.ru/society/17/03/2020/5e71048d9a79473925ab81a7</a:t>
            </a:r>
          </a:p>
          <a:p xmlns:a="http://schemas.openxmlformats.org/drawingml/2006/main">
            <a:r>
              <a:t>https://rt.rbc.ru/society/18/03/2020/5e71acc49a794773553f824e</a:t>
            </a:r>
          </a:p>
          <a:p xmlns:a="http://schemas.openxmlformats.org/drawingml/2006/main">
            <a:r>
              <a:t>https://www.bostonglobe.com/metro/obituaries/2020/03/18/russian-author-political-activist-eduard-limonov-dies/jnjHywBRjVTTgnlsqI12vN/story.html</a:t>
            </a:r>
          </a:p>
          <a:p xmlns:a="http://schemas.openxmlformats.org/drawingml/2006/main">
            <a:r>
              <a:t>https://nsn.fm/society/poslednee-intervu-pisatelya-i-politika-eduarda-limonova</a:t>
            </a:r>
          </a:p>
          <a:p xmlns:a="http://schemas.openxmlformats.org/drawingml/2006/main">
            <a:r>
              <a:t>http://www.grso.ru/person/limonov-eduard.html</a:t>
            </a:r>
          </a:p>
          <a:p xmlns:a="http://schemas.openxmlformats.org/drawingml/2006/main">
            <a:r>
              <a:t>https://ru.wikipedia.org/wiki/%D0%94%D1%80%D1%83%D0%B3%D0%B0%D1%8F_%D0%A0%D0%BE%D1%81%D1%81%D0%B8%D1%8F_%D0%AD._%D0%92._%D0%9B%D0%B8%D0%BC%D0%BE%D0%BD%D0%BE%D0%B2%D0%B0</a:t>
            </a:r>
          </a:p>
          <a:p xmlns:a="http://schemas.openxmlformats.org/drawingml/2006/main">
            <a:r>
              <a:t>https://novayagazeta.ru/articles/2017/03/12/71752-puteshestvie-natsbolov-k-putinu-i-obratno</a:t>
            </a:r>
          </a:p>
          <a:p xmlns:a="http://schemas.openxmlformats.org/drawingml/2006/main">
            <a:r>
              <a:t>https://mediabrest.by/news/lyudi/umer-eduard-limonov-chem-zapomnilsya-pisatel</a:t>
            </a:r>
          </a:p>
          <a:p xmlns:a="http://schemas.openxmlformats.org/drawingml/2006/main">
            <a:r>
              <a:t>https://www.limonow.de/read/EL_2013-2018_T.html</a:t>
            </a:r>
          </a:p>
          <a:p xmlns:a="http://schemas.openxmlformats.org/drawingml/2006/main">
            <a:r>
              <a:t>https://www.infpol.ru/203662-ot-ubezhdennogo-antisovetchika-do-kolumnista-rt/</a:t>
            </a:r>
          </a:p>
          <a:p xmlns:a="http://schemas.openxmlformats.org/drawingml/2006/main">
            <a:r>
              <a:t>https://www.bbc.com/russian/articles/c2eg90d7gg9o</a:t>
            </a:r>
          </a:p>
          <a:p xmlns:a="http://schemas.openxmlformats.org/drawingml/2006/main">
            <a:r>
              <a:t>https://www.dw.com/ru/mosgorsud-prigovoril-igora-girkina-strelkova-k-4-godam-kolonii/a-68080937</a:t>
            </a:r>
          </a:p>
          <a:p xmlns:a="http://schemas.openxmlformats.org/drawingml/2006/main">
            <a:r>
              <a:t>https://www.fontanka.ru/2023/07/21/72520253</a:t>
            </a:r>
          </a:p>
          <a:p xmlns:a="http://schemas.openxmlformats.org/drawingml/2006/main">
            <a:r>
              <a:t>https://www.svoboda.org/a/strelkov-iz-sizo-opasayusj-amnistii-kak-u-prigozhina-/32722083.html</a:t>
            </a:r>
          </a:p>
          <a:p xmlns:a="http://schemas.openxmlformats.org/drawingml/2006/main">
            <a:r>
              <a:t>https://ru.themoscowtimes.com/2023/12/07/girkin-zayavil-chto-opasaetsya-povtorit-sudbu-prigozhina-a115592</a:t>
            </a:r>
          </a:p>
          <a:p xmlns:a="http://schemas.openxmlformats.org/drawingml/2006/main">
            <a:r>
              <a:t>https://ru.krymr.com/a/boing-mn17-10-let-podozrevayemyye-obvinyayemyye-vinovnyye/33040170.html</a:t>
            </a:r>
          </a:p>
          <a:p xmlns:a="http://schemas.openxmlformats.org/drawingml/2006/main">
            <a:r>
              <a:t>https://charter97.org/ru/news/2023/7/22/556802/</a:t>
            </a:r>
          </a:p>
          <a:p xmlns:a="http://schemas.openxmlformats.org/drawingml/2006/main">
            <a:r>
              <a:t>https://t.me/s/pgubarev?after=622</a:t>
            </a:r>
          </a:p>
          <a:p xmlns:a="http://schemas.openxmlformats.org/drawingml/2006/main">
            <a:r>
              <a:t>https://rabkor.ru/columns/debates/2023/05/23/angry_patriots_of_an_imaginary_country/</a:t>
            </a:r>
          </a:p>
          <a:p xmlns:a="http://schemas.openxmlformats.org/drawingml/2006/main">
            <a:r>
              <a:t>https://www.bbc.com/news/world-60947877</a:t>
            </a:r>
          </a:p>
          <a:p xmlns:a="http://schemas.openxmlformats.org/drawingml/2006/main">
            <a:r>
              <a:t>https://www.reuters.com/world/europe/russian-mercenary-boss-courts-putin-with-ukrainian-battlefield-success-2023-01-13/</a:t>
            </a:r>
          </a:p>
          <a:p xmlns:a="http://schemas.openxmlformats.org/drawingml/2006/main">
            <a:r>
              <a:t>https://www.reuters.com/world/europe/russias-wagner-mercenaries-halt-prisoner-recruitment-campaign-founder-prigozhin-2023-02-09/</a:t>
            </a:r>
          </a:p>
          <a:p xmlns:a="http://schemas.openxmlformats.org/drawingml/2006/main">
            <a:r>
              <a:t>https://www.reuters.com/investigates/special-report/ukraine-crisis-russia-wagner/</a:t>
            </a:r>
          </a:p>
          <a:p xmlns:a="http://schemas.openxmlformats.org/drawingml/2006/main">
            <a:r>
              <a:t>https://www.reuters.com/world/europe/russias-wagner-chief-prigozhin-says-ukraine-counteroffensive-already-under-way-2023-05-03/</a:t>
            </a:r>
          </a:p>
          <a:p xmlns:a="http://schemas.openxmlformats.org/drawingml/2006/main">
            <a:r>
              <a:t>https://www.bbc.com/russian/media-66023357</a:t>
            </a:r>
          </a:p>
          <a:p xmlns:a="http://schemas.openxmlformats.org/drawingml/2006/main">
            <a:r>
              <a:t>https://www.reuters.com/world/europe/russias-prigozhin-his-own-words-mutiny-2023-06-26/</a:t>
            </a:r>
          </a:p>
          <a:p xmlns:a="http://schemas.openxmlformats.org/drawingml/2006/main">
            <a:r>
              <a:t>https://x.com/Reuters/status/1632709213641113601</a:t>
            </a:r>
          </a:p>
          <a:p xmlns:a="http://schemas.openxmlformats.org/drawingml/2006/main">
            <a:r>
              <a:t>https://www.reuters.com/world/europe/russian-mercenary-boss-says-moscows-war-ukraine-based-lies-2023-06-23/</a:t>
            </a:r>
          </a:p>
          <a:p xmlns:a="http://schemas.openxmlformats.org/drawingml/2006/main">
            <a:r>
              <a:t>https://www.rbc.ru/spb_sz/02/10/2026/6abfb91afd4c7ff957d9cbe8</a:t>
            </a:r>
          </a:p>
          <a:p xmlns:a="http://schemas.openxmlformats.org/drawingml/2006/main">
            <a:r>
              <a:t>https://www.zaks.ru/new/person/view/639</a:t>
            </a:r>
          </a:p>
          <a:p xmlns:a="http://schemas.openxmlformats.org/drawingml/2006/main">
            <a:r>
              <a:t>https://www.zaks.ru/new/archive/view/219520</a:t>
            </a:r>
          </a:p>
          <a:p xmlns:a="http://schemas.openxmlformats.org/drawingml/2006/main">
            <a:r>
              <a:t>https://tvspb.ru/news/2016/09/27/novyij-sostav-parlamenta-kto-zajmet-kresla-v-zakonodatelnom-sobranii-vi-sozyiva</a:t>
            </a:r>
          </a:p>
          <a:p xmlns:a="http://schemas.openxmlformats.org/drawingml/2006/main">
            <a:r>
              <a:t>https://tass.ru/politika/20994233</a:t>
            </a:r>
          </a:p>
          <a:p xmlns:a="http://schemas.openxmlformats.org/drawingml/2006/main">
            <a:r>
              <a:t>https://www.zaks.ru/new/archive/view/265712</a:t>
            </a:r>
          </a:p>
          <a:p xmlns:a="http://schemas.openxmlformats.org/drawingml/2006/main">
            <a:r>
              <a:t>https://www.zaks.ru/new/archive/view/269374</a:t>
            </a:r>
          </a:p>
          <a:p xmlns:a="http://schemas.openxmlformats.org/drawingml/2006/main">
            <a:r>
              <a:t>https://www.dp.ru/a/2026/10/02/oksana-dmitrieva-proigrala</a:t>
            </a:r>
          </a:p>
          <a:p xmlns:a="http://schemas.openxmlformats.org/drawingml/2006/main">
            <a:r>
              <a:t>https://ru.wikipedia.org/wiki/%D0%9F%D0%B0%D1%80%D1%82%D0%B8%D1%8F_%D1%80%D0%BE%D1%81%D1%82%D0%B0</a:t>
            </a:r>
          </a:p>
          <a:p xmlns:a="http://schemas.openxmlformats.org/drawingml/2006/main">
            <a:r>
              <a:t>https://dmitrieva.org/category/gosduma/zakonoproekty/</a:t>
            </a:r>
          </a:p>
          <a:p xmlns:a="http://schemas.openxmlformats.org/drawingml/2006/main">
            <a:r>
              <a:t>https://t.me/s/oxdmitrieva?before=1072</a:t>
            </a:r>
          </a:p>
          <a:p xmlns:a="http://schemas.openxmlformats.org/drawingml/2006/main">
            <a:r>
              <a:t>http://api.duma.gov.ru/api/transcriptFull/2023-09-28</a:t>
            </a:r>
          </a:p>
          <a:p xmlns:a="http://schemas.openxmlformats.org/drawingml/2006/main">
            <a:r>
              <a:t>https://www.fontanka.ru/2026/09/04/76623983/</a:t>
            </a:r>
          </a:p>
          <a:p xmlns:a="http://schemas.openxmlformats.org/drawingml/2006/main">
            <a:r>
              <a:t>https://www.vedomosti.ru/politics/articles/2026/03/10/1181644-deputat-semi-sozivov-oksana-dmitrieva-snova-poidet-v-gosdumu</a:t>
            </a:r>
          </a:p>
          <a:p xmlns:a="http://schemas.openxmlformats.org/drawingml/2006/main">
            <a:r>
              <a:t>https://www.kommersant.ru/doc/8497588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"recommended_k": 3,</a:t>
            </a:r>
          </a:p>
          <a:p xmlns:a="http://schemas.openxmlformats.org/drawingml/2006/main">
            <a:r>
              <a:t>  "used_k": 3,</a:t>
            </a:r>
          </a:p>
          <a:p xmlns:a="http://schemas.openxmlformats.org/drawingml/2006/main">
            <a:r>
              <a:t>  "overridden": false,</a:t>
            </a:r>
          </a:p>
          <a:p xmlns:a="http://schemas.openxmlformats.org/drawingml/2006/main">
            <a:r>
              <a:t>  "stable_candidates_available": true,</a:t>
            </a:r>
          </a:p>
          <a:p xmlns:a="http://schemas.openxmlformats.org/drawingml/2006/main">
            <a:r>
              <a:t>  "minimum_size_preference": 4,</a:t>
            </a:r>
          </a:p>
          <a:p xmlns:a="http://schemas.openxmlformats.org/drawingml/2006/main">
            <a:r>
              <a:t>  "rule": "Prefer groups &gt;=max(3,ceil(0.05*n)), median resampling ARI&gt;=0.65 and every group's median Jaccard&gt;=0.60; among admissible candidates choose smallest k within 0.02 of the best silhouette. If none qualify, use size-admissible candidates, then all candidates, and explicitly mark uncertainty. User override is allowed.",</a:t>
            </a:r>
          </a:p>
          <a:p xmlns:a="http://schemas.openxmlformats.org/drawingml/2006/main">
            <a:r>
              <a:t>  "interpretation": "Numerical choice is a reviewable proposal; final grouping requires semantic interpretation. KMeans also partitions continuous spaces.",</a:t>
            </a:r>
          </a:p>
          <a:p xmlns:a="http://schemas.openxmlformats.org/drawingml/2006/main">
            <a:r>
              <a:t>  "selection_authority": "semantic_and_numerical_review",</a:t>
            </a:r>
          </a:p>
          <a:p xmlns:a="http://schemas.openxmlformats.org/drawingml/2006/main">
            <a:r>
              <a:t>  "content_recommended_k": 3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Числа: metadata.json, scores.csv, loadings.csv и утверждённая матрица оценок.</a:t>
            </a:r>
          </a:p>
          <a:p xmlns:a="http://schemas.openxmlformats.org/drawingml/2006/main">
            <a:r>
              <a:t>Изучаемое пространство: Публичный политический образ российских политиков и иных заметных политических акторов, включая деятелей за рубежом, активных хотя бы в части периода. Не рейтинг популярности..</a:t>
            </a:r>
          </a:p>
          <a:p xmlns:a="http://schemas.openxmlformats.org/drawingml/2006/main">
            <a:r>
              <a:t>Оценщик: llm_exploratory.</a:t>
            </a:r>
          </a:p>
          <a:p xmlns:a="http://schemas.openxmlformats.org/drawingml/2006/main">
            <a:r>
              <a:t>Исходные URL:</a:t>
            </a:r>
          </a:p>
          <a:p xmlns:a="http://schemas.openxmlformats.org/drawingml/2006/main">
            <a:r>
              <a:t>https://kremlin.ru/structure/president</a:t>
            </a:r>
          </a:p>
          <a:p xmlns:a="http://schemas.openxmlformats.org/drawingml/2006/main">
            <a:r>
              <a:t>http://www.special.kremlin.ru/events/president/transcripts/67843</a:t>
            </a:r>
          </a:p>
          <a:p xmlns:a="http://schemas.openxmlformats.org/drawingml/2006/main">
            <a:r>
              <a:t>http://en.kremlin.ru/events/president/news/70315</a:t>
            </a:r>
          </a:p>
          <a:p xmlns:a="http://schemas.openxmlformats.org/drawingml/2006/main">
            <a:r>
              <a:t>http://special.kremlin.ru/events/president/transcripts/70565</a:t>
            </a:r>
          </a:p>
          <a:p xmlns:a="http://schemas.openxmlformats.org/drawingml/2006/main">
            <a:r>
              <a:t>http://special.kremlin.ru/events/president/transcripts/72994</a:t>
            </a:r>
          </a:p>
          <a:p xmlns:a="http://schemas.openxmlformats.org/drawingml/2006/main">
            <a:r>
              <a:t>http://kremlin.ru/events/president/news/73585</a:t>
            </a:r>
          </a:p>
          <a:p xmlns:a="http://schemas.openxmlformats.org/drawingml/2006/main">
            <a:r>
              <a:t>http://special.kremlin.ru/events/president/transcripts/75762</a:t>
            </a:r>
          </a:p>
          <a:p xmlns:a="http://schemas.openxmlformats.org/drawingml/2006/main">
            <a:r>
              <a:t>http://www.special.kremlin.ru/events/president/transcripts/76899</a:t>
            </a:r>
          </a:p>
          <a:p xmlns:a="http://schemas.openxmlformats.org/drawingml/2006/main">
            <a:r>
              <a:t>http://special.kremlin.ru/events/president/transcripts/80017</a:t>
            </a:r>
          </a:p>
          <a:p xmlns:a="http://schemas.openxmlformats.org/drawingml/2006/main">
            <a:r>
              <a:t>http://www.special.kremlin.ru/events/president/transcripts/72084</a:t>
            </a:r>
          </a:p>
          <a:p xmlns:a="http://schemas.openxmlformats.org/drawingml/2006/main">
            <a:r>
              <a:t>http://www.special.kremlin.ru/events/president/transcripts/80172</a:t>
            </a:r>
          </a:p>
          <a:p xmlns:a="http://schemas.openxmlformats.org/drawingml/2006/main">
            <a:r>
              <a:t>https://www.diva-portal.org/smash/get/diva2:2035197/FULLTEXT01.pdf</a:t>
            </a:r>
          </a:p>
          <a:p xmlns:a="http://schemas.openxmlformats.org/drawingml/2006/main">
            <a:r>
              <a:t>https://www.reuters.com/world/what-know-about-russias-upcoming-parliamentary-election-2026-09-15/</a:t>
            </a:r>
          </a:p>
          <a:p xmlns:a="http://schemas.openxmlformats.org/drawingml/2006/main">
            <a:r>
              <a:t>https://www.reuters.com/world/europe/how-putin-may-leverage-predictable-outcome-russias-elections-2026-09-18/</a:t>
            </a:r>
          </a:p>
          <a:p xmlns:a="http://schemas.openxmlformats.org/drawingml/2006/main">
            <a:r>
              <a:t>https://ru.wikipedia.org/wiki/Медведев,_Дмитрий_Анатольевич</a:t>
            </a:r>
          </a:p>
          <a:p xmlns:a="http://schemas.openxmlformats.org/drawingml/2006/main">
            <a:r>
              <a:t>https://tass.ru/ekonomika/3941450</a:t>
            </a:r>
          </a:p>
          <a:p xmlns:a="http://schemas.openxmlformats.org/drawingml/2006/main">
            <a:r>
              <a:t>http://archive.government.ru/docs/21653/print/</a:t>
            </a:r>
          </a:p>
          <a:p xmlns:a="http://schemas.openxmlformats.org/drawingml/2006/main">
            <a:r>
              <a:t>https://netfreedom.org.ua/ru/dmytro-anatoliiovych-medvediev-biohrafiia-posady-i-sanktsii/</a:t>
            </a:r>
          </a:p>
          <a:p xmlns:a="http://schemas.openxmlformats.org/drawingml/2006/main">
            <a:r>
              <a:t>https://verstka.media/czeli-svo-kak-kreml-menyal-ih-na-protyazhenii-tryoh-let-vojny</a:t>
            </a:r>
          </a:p>
          <a:p xmlns:a="http://schemas.openxmlformats.org/drawingml/2006/main">
            <a:r>
              <a:t>http://www.scrf.gov.ru/news/allnews/3820/</a:t>
            </a:r>
          </a:p>
          <a:p xmlns:a="http://schemas.openxmlformats.org/drawingml/2006/main">
            <a:r>
              <a:t>http://scrf.gov.ru/news/allnews/3837/</a:t>
            </a:r>
          </a:p>
          <a:p xmlns:a="http://schemas.openxmlformats.org/drawingml/2006/main">
            <a:r>
              <a:t>https://baike.baidu.com/ru/item/%D0%94%D0%BC%D0%B8%D1%82%D1%80%D0%B8%D0%B9%20%D0%90%D0%BD%D0%B0%D1%82%D0%BE%D0%BB%D1%8C%D0%B5%D0%B2%D0%B8%D1%87%20%D0%9C%D0%B5%D0%B4%D0%B2%D0%B5%D0%B4%D0%B5%D0%B2/3254451</a:t>
            </a:r>
          </a:p>
          <a:p xmlns:a="http://schemas.openxmlformats.org/drawingml/2006/main">
            <a:r>
              <a:t>https://tass.ru/politika/5889577</a:t>
            </a:r>
          </a:p>
          <a:p xmlns:a="http://schemas.openxmlformats.org/drawingml/2006/main">
            <a:r>
              <a:t>https://meduza.io/feature/2023/06/26/chto-proizoshlo-s-dmitriem-medvedevym</a:t>
            </a:r>
          </a:p>
          <a:p xmlns:a="http://schemas.openxmlformats.org/drawingml/2006/main">
            <a:r>
              <a:t>https://www.bbc.com/russian/articles/c6evw7d22lv0o</a:t>
            </a:r>
          </a:p>
          <a:p xmlns:a="http://schemas.openxmlformats.org/drawingml/2006/main">
            <a:r>
              <a:t>https://er.ru/activity/news/dmitrij-medvedev-edinaya-rossiya-ne-dopustit-razrusheniya-cennostnyh-osnov-strany</a:t>
            </a:r>
          </a:p>
          <a:p xmlns:a="http://schemas.openxmlformats.org/drawingml/2006/main">
            <a:r>
              <a:t>https://en.wikipedia.org/wiki/Media_freedom_in_Russia</a:t>
            </a:r>
          </a:p>
          <a:p xmlns:a="http://schemas.openxmlformats.org/drawingml/2006/main">
            <a:r>
              <a:t>https://government.ru/gov/persons/151/travel/?area=KHA</a:t>
            </a:r>
          </a:p>
          <a:p xmlns:a="http://schemas.openxmlformats.org/drawingml/2006/main">
            <a:r>
              <a:t>http://government.ru/gov/persons/151/biography/</a:t>
            </a:r>
          </a:p>
          <a:p xmlns:a="http://schemas.openxmlformats.org/drawingml/2006/main">
            <a:r>
              <a:t>https://www.reuters.com/world/europe/who-is-russias-mikhail-mishustin-2024-05-10/</a:t>
            </a:r>
          </a:p>
          <a:p xmlns:a="http://schemas.openxmlformats.org/drawingml/2006/main">
            <a:r>
              <a:t>https://www.kommersant.ru/doc/4220798</a:t>
            </a:r>
          </a:p>
          <a:p xmlns:a="http://schemas.openxmlformats.org/drawingml/2006/main">
            <a:r>
              <a:t>https://www.vedomosti.ru/politics/galleries/2026/03/03/1179718-nalogi-pod-kontrolem</a:t>
            </a:r>
          </a:p>
          <a:p xmlns:a="http://schemas.openxmlformats.org/drawingml/2006/main">
            <a:r>
              <a:t>http://government.ru/gov/persons/151/travel/?page=5</a:t>
            </a:r>
          </a:p>
          <a:p xmlns:a="http://schemas.openxmlformats.org/drawingml/2006/main">
            <a:r>
              <a:t>http://government.ru/news/46476/</a:t>
            </a:r>
          </a:p>
          <a:p xmlns:a="http://schemas.openxmlformats.org/drawingml/2006/main">
            <a:r>
              <a:t>http://government.ru/news/52063/</a:t>
            </a:r>
          </a:p>
          <a:p xmlns:a="http://schemas.openxmlformats.org/drawingml/2006/main">
            <a:r>
              <a:t>http://government.ru/news/52851/</a:t>
            </a:r>
          </a:p>
          <a:p xmlns:a="http://schemas.openxmlformats.org/drawingml/2006/main">
            <a:r>
              <a:t>https://nangs.org/news/society/kabmin-privlek-otdelnye-gosorgany-k-ukrepleniyu-traditsionnykh-tsennostej</a:t>
            </a:r>
          </a:p>
          <a:p xmlns:a="http://schemas.openxmlformats.org/drawingml/2006/main">
            <a:r>
              <a:t>http://government.ru/news/57315/</a:t>
            </a:r>
          </a:p>
          <a:p xmlns:a="http://schemas.openxmlformats.org/drawingml/2006/main">
            <a:r>
              <a:t>https://www.rbc.ru/person/617bf30d9a7947f92ee2d266</a:t>
            </a:r>
          </a:p>
          <a:p xmlns:a="http://schemas.openxmlformats.org/drawingml/2006/main">
            <a:r>
              <a:t>https://mid.ru/ru/press_service/video/view/1848395/</a:t>
            </a:r>
          </a:p>
          <a:p xmlns:a="http://schemas.openxmlformats.org/drawingml/2006/main">
            <a:r>
              <a:t>https://mid.ru/ru/foreign_policy/international_organizations/1932076/</a:t>
            </a:r>
          </a:p>
          <a:p xmlns:a="http://schemas.openxmlformats.org/drawingml/2006/main">
            <a:r>
              <a:t>https://mid.ru/ru/press_service/minister_speeches/1991476/</a:t>
            </a:r>
          </a:p>
          <a:p xmlns:a="http://schemas.openxmlformats.org/drawingml/2006/main">
            <a:r>
              <a:t>https://www.mid.ru/ru/press_service/vizity-ministra/1922112/</a:t>
            </a:r>
          </a:p>
          <a:p xmlns:a="http://schemas.openxmlformats.org/drawingml/2006/main">
            <a:r>
              <a:t>https://www.mid.ru/ru/foreign_policy/news/1927568/</a:t>
            </a:r>
          </a:p>
          <a:p xmlns:a="http://schemas.openxmlformats.org/drawingml/2006/main">
            <a:r>
              <a:t>https://mid.ru/ru/foreign_policy/news/1912973/</a:t>
            </a:r>
          </a:p>
          <a:p xmlns:a="http://schemas.openxmlformats.org/drawingml/2006/main">
            <a:r>
              <a:t>https://www.reuters.com/world/europe/russias-lavrov-says-moscow-committed-us-proposals-peace-rejects-europes-2026-06-15/</a:t>
            </a:r>
          </a:p>
          <a:p xmlns:a="http://schemas.openxmlformats.org/drawingml/2006/main">
            <a:r>
              <a:t>https://www.reuters.com/world/lavrov-says-russia-is-ready-resume-talks-with-ukraine-point-where-they-left-off-2026-06-23/</a:t>
            </a:r>
          </a:p>
          <a:p xmlns:a="http://schemas.openxmlformats.org/drawingml/2006/main">
            <a:r>
              <a:t>https://mid.ru/ru/press_service/video/view/1799184/</a:t>
            </a:r>
          </a:p>
          <a:p xmlns:a="http://schemas.openxmlformats.org/drawingml/2006/main">
            <a:r>
              <a:t>https://en.wikipedia.org/wiki/Sergey_Lavrov</a:t>
            </a:r>
          </a:p>
          <a:p xmlns:a="http://schemas.openxmlformats.org/drawingml/2006/main">
            <a:r>
              <a:t>https://www.garant.ru/products/ipo/prime/doc/70627660/</a:t>
            </a:r>
          </a:p>
          <a:p xmlns:a="http://schemas.openxmlformats.org/drawingml/2006/main">
            <a:r>
              <a:t>https://www.rbc.ru/person/617fc0679a794761d6170b80</a:t>
            </a:r>
          </a:p>
          <a:p xmlns:a="http://schemas.openxmlformats.org/drawingml/2006/main">
            <a:r>
              <a:t>http://www.kremlin.ru/acts/bank/50544</a:t>
            </a:r>
          </a:p>
          <a:p xmlns:a="http://schemas.openxmlformats.org/drawingml/2006/main">
            <a:r>
              <a:t>http://special.kremlin.ru/events/president/news/74019</a:t>
            </a:r>
          </a:p>
          <a:p xmlns:a="http://schemas.openxmlformats.org/drawingml/2006/main">
            <a:r>
              <a:t>https://www.interfax.ru/russia/960081</a:t>
            </a:r>
          </a:p>
          <a:p xmlns:a="http://schemas.openxmlformats.org/drawingml/2006/main">
            <a:r>
              <a:t>https://www.rbc.ru/politics/21/09/2022/632ab17c9a794781413c8582</a:t>
            </a:r>
          </a:p>
          <a:p xmlns:a="http://schemas.openxmlformats.org/drawingml/2006/main">
            <a:r>
              <a:t>https://www.bbc.com/russian/articles/c72p0jq04gjo</a:t>
            </a:r>
          </a:p>
          <a:p xmlns:a="http://schemas.openxmlformats.org/drawingml/2006/main">
            <a:r>
              <a:t>https://meduza.io/feature/2024/05/12/putin-uvolil-shoygu-s-posta-ministra-oborony-i-perevel-v-sovbez</a:t>
            </a:r>
          </a:p>
          <a:p xmlns:a="http://schemas.openxmlformats.org/drawingml/2006/main">
            <a:r>
              <a:t>https://paodkb.org/events/sergey-shoygu-naznachen-sekretarem-soveta-bezopasnosti-rf</a:t>
            </a:r>
          </a:p>
          <a:p xmlns:a="http://schemas.openxmlformats.org/drawingml/2006/main">
            <a:r>
              <a:t>https://base.garant.ru/409005084/</a:t>
            </a:r>
          </a:p>
          <a:p xmlns:a="http://schemas.openxmlformats.org/drawingml/2006/main">
            <a:r>
              <a:t>http://special.kremlin.ru/supplement/6345</a:t>
            </a:r>
          </a:p>
          <a:p xmlns:a="http://schemas.openxmlformats.org/drawingml/2006/main">
            <a:r>
              <a:t>http://en.kremlin.ru/supplement/6345</a:t>
            </a:r>
          </a:p>
          <a:p xmlns:a="http://schemas.openxmlformats.org/drawingml/2006/main">
            <a:r>
              <a:t>https://www.kp.ru/daily/27656.5/5040576/</a:t>
            </a:r>
          </a:p>
          <a:p xmlns:a="http://schemas.openxmlformats.org/drawingml/2006/main">
            <a:r>
              <a:t>https://www.fontanka.ru/2025/06/10/75574928/</a:t>
            </a:r>
          </a:p>
          <a:p xmlns:a="http://schemas.openxmlformats.org/drawingml/2006/main">
            <a:r>
              <a:t>https://tass.ru/politika/25506737</a:t>
            </a:r>
          </a:p>
          <a:p xmlns:a="http://schemas.openxmlformats.org/drawingml/2006/main">
            <a:r>
              <a:t>https://www.rbc.ru/person/6181419c9a7947df128a22f7</a:t>
            </a:r>
          </a:p>
          <a:p xmlns:a="http://schemas.openxmlformats.org/drawingml/2006/main">
            <a:r>
              <a:t>https://www.rbc.ru/economics/31/05/2021/60b3de5d9a7947f2883f7aa0</a:t>
            </a:r>
          </a:p>
          <a:p xmlns:a="http://schemas.openxmlformats.org/drawingml/2006/main">
            <a:r>
              <a:t>https://www.rbc.ru/politics/13/05/2024/6641109a9a7947ab8eebcf7f</a:t>
            </a:r>
          </a:p>
          <a:p xmlns:a="http://schemas.openxmlformats.org/drawingml/2006/main">
            <a:r>
              <a:t>https://www.rbc.ru/business/13/06/2023/6482d3389a79473805ee8978</a:t>
            </a:r>
          </a:p>
          <a:p xmlns:a="http://schemas.openxmlformats.org/drawingml/2006/main">
            <a:r>
              <a:t>https://thebell.io/kuda-vedet-ekonomiku-andrej-belousov-zagadki-dmitriya-medvedeva-i-sposoby-perezhit-sanktsii</a:t>
            </a:r>
          </a:p>
          <a:p xmlns:a="http://schemas.openxmlformats.org/drawingml/2006/main">
            <a:r>
              <a:t>https://72.ru/text/politics/2024/05/14/73575386/</a:t>
            </a:r>
          </a:p>
          <a:p xmlns:a="http://schemas.openxmlformats.org/drawingml/2006/main">
            <a:r>
              <a:t>https://tass.ru/armiya-i-opk/22683223</a:t>
            </a:r>
          </a:p>
          <a:p xmlns:a="http://schemas.openxmlformats.org/drawingml/2006/main">
            <a:r>
              <a:t>https://www.rbc.ru/society/12/12/2017/5a2f9b5a9a79473649fe0042</a:t>
            </a:r>
          </a:p>
          <a:p xmlns:a="http://schemas.openxmlformats.org/drawingml/2006/main">
            <a:r>
              <a:t>https://www.istorex.org/post/russia-december-2024-february-2025</a:t>
            </a:r>
          </a:p>
          <a:p xmlns:a="http://schemas.openxmlformats.org/drawingml/2006/main">
            <a:r>
              <a:t>https://rosinform.ru/news/andrej-belousov-osoboe-znachenie-pridayom-obespecheniyu-voennoj-bezopasnosti-soyuznogo-gosudarstva</a:t>
            </a:r>
          </a:p>
          <a:p xmlns:a="http://schemas.openxmlformats.org/drawingml/2006/main">
            <a:r>
              <a:t>https://xn--b1apnk.xn--p1ai/tpost/nsk7vo4xh1-vstrecha-s-ministrom-oboroni-rossii-i-os</a:t>
            </a:r>
          </a:p>
          <a:p xmlns:a="http://schemas.openxmlformats.org/drawingml/2006/main">
            <a:r>
              <a:t>https://www.rbc.ru/person/62d120d89a79475f0ddd8b5e</a:t>
            </a:r>
          </a:p>
          <a:p xmlns:a="http://schemas.openxmlformats.org/drawingml/2006/main">
            <a:r>
              <a:t>http://scrf.gov.ru/news/allnews/2148/</a:t>
            </a:r>
          </a:p>
          <a:p xmlns:a="http://schemas.openxmlformats.org/drawingml/2006/main">
            <a:r>
              <a:t>https://www.rbc.ru/politics/14/05/2024/6643287b9a7947a8f0b8ba78</a:t>
            </a:r>
          </a:p>
          <a:p xmlns:a="http://schemas.openxmlformats.org/drawingml/2006/main">
            <a:r>
              <a:t>https://tass.ru/info/20789699</a:t>
            </a:r>
          </a:p>
          <a:p xmlns:a="http://schemas.openxmlformats.org/drawingml/2006/main">
            <a:r>
              <a:t>https://marine.org.ru/structure/person/56/</a:t>
            </a:r>
          </a:p>
          <a:p xmlns:a="http://schemas.openxmlformats.org/drawingml/2006/main">
            <a:r>
              <a:t>https://marine.org.ru/publication/smi/16108/</a:t>
            </a:r>
          </a:p>
          <a:p xmlns:a="http://schemas.openxmlformats.org/drawingml/2006/main">
            <a:r>
              <a:t>https://www.svoboda.org/a/30676123.html</a:t>
            </a:r>
          </a:p>
          <a:p xmlns:a="http://schemas.openxmlformats.org/drawingml/2006/main">
            <a:r>
              <a:t>https://aif.ru/society/safety/kuklovodstvo_k_deystviyu_nikolay_patrushev_o_metodah_cvetnyh_revolyuciy</a:t>
            </a:r>
          </a:p>
          <a:p xmlns:a="http://schemas.openxmlformats.org/drawingml/2006/main">
            <a:r>
              <a:t>https://vkrizis.info/vlast/czennosti-razmyvaniya/</a:t>
            </a:r>
          </a:p>
          <a:p xmlns:a="http://schemas.openxmlformats.org/drawingml/2006/main">
            <a:r>
              <a:t>https://infranomica.ru/2026/05/19/selskoe-hozyajstvo-est-rezultat-budet-i-pishha/</a:t>
            </a:r>
          </a:p>
          <a:p xmlns:a="http://schemas.openxmlformats.org/drawingml/2006/main">
            <a:r>
              <a:t>https://www.rbc.ru/person/660400989a79471b36dbb514</a:t>
            </a:r>
          </a:p>
          <a:p xmlns:a="http://schemas.openxmlformats.org/drawingml/2006/main">
            <a:r>
              <a:t>http://special.kremlin.ru/catalog/persons/100/events</a:t>
            </a:r>
          </a:p>
          <a:p xmlns:a="http://schemas.openxmlformats.org/drawingml/2006/main">
            <a:r>
              <a:t>https://nac.gov.ru/view/eb008ff4-1608-4b47-b2a9-3d604c1833c2</a:t>
            </a:r>
          </a:p>
          <a:p xmlns:a="http://schemas.openxmlformats.org/drawingml/2006/main">
            <a:r>
              <a:t>http://pfo.gov.ru/press/events/113336/</a:t>
            </a:r>
          </a:p>
          <a:p xmlns:a="http://schemas.openxmlformats.org/drawingml/2006/main">
            <a:r>
              <a:t>https://www.opensanctions.org/entities/Q516824/</a:t>
            </a:r>
          </a:p>
          <a:p xmlns:a="http://schemas.openxmlformats.org/drawingml/2006/main">
            <a:r>
              <a:t>https://www.agents.media/ssha-poprobuyut-vozobnovit-peregovory-o-mire-v-ukraine-cherez-glavu-fsb-che-vedomstvo-kak-schitaetsya-svoimi-dokladami-podtolknulo-putina-k-vojne/</a:t>
            </a:r>
          </a:p>
          <a:p xmlns:a="http://schemas.openxmlformats.org/drawingml/2006/main">
            <a:r>
              <a:t>https://letters.kremlin.ru/news/receptions/by-section/assignments/by-person/260</a:t>
            </a:r>
          </a:p>
          <a:p xmlns:a="http://schemas.openxmlformats.org/drawingml/2006/main">
            <a:r>
              <a:t>https://www.kommersant.ru/doc/3612580</a:t>
            </a:r>
          </a:p>
          <a:p xmlns:a="http://schemas.openxmlformats.org/drawingml/2006/main">
            <a:r>
              <a:t>https://fbk.info/ru/investigations/kirienko-kholyi-putina</a:t>
            </a:r>
          </a:p>
          <a:p xmlns:a="http://schemas.openxmlformats.org/drawingml/2006/main">
            <a:r>
              <a:t>https://utro02.tv/2022/05/24/kolebaniya-kirienok/</a:t>
            </a:r>
          </a:p>
          <a:p xmlns:a="http://schemas.openxmlformats.org/drawingml/2006/main">
            <a:r>
              <a:t>https://meduza.io/feature/2023/12/19/on-peresidel-v-svoem-kresle-v-kremle-i-pravitelstve-obsuzhdayut-chto-sergey-kirienko-mozhet-lishitsya-dolzhnosti-v-ap-posle-vyborov-prezidenta</a:t>
            </a:r>
          </a:p>
          <a:p xmlns:a="http://schemas.openxmlformats.org/drawingml/2006/main">
            <a:r>
              <a:t>https://verstka.media/kak-rossiya-prodvigaet-svoyu-molodezhnuyu-politiku-na-okkupirovannyh-territoriyah</a:t>
            </a:r>
          </a:p>
          <a:p xmlns:a="http://schemas.openxmlformats.org/drawingml/2006/main">
            <a:r>
              <a:t>https://dnrnews.ru/society/2025/09/04/1167117.html</a:t>
            </a:r>
          </a:p>
          <a:p xmlns:a="http://schemas.openxmlformats.org/drawingml/2006/main">
            <a:r>
              <a:t>https://www.tadviser.ru/index.php/%D0%9F%D0%B5%D1%80%D1%81%D0%BE%D0%BD%D0%B0:%D0%9A%D0%B8%D1%80%D0%B8%D0%B5%D0%BD%D0%BA%D0%BE_%D0%A1%D0%B5%D1%80%D0%B3%D0%B5%D0%B9_%D0%92%D0%BB%D0%B0%D0%B4%D0%B8%D0%BB%D0%B5%D0%BD%D0%BE%D0%B2%D0%B8%D1%87</a:t>
            </a:r>
          </a:p>
          <a:p xmlns:a="http://schemas.openxmlformats.org/drawingml/2006/main">
            <a:r>
              <a:t>https://tass.ru/politika/18225741</a:t>
            </a:r>
          </a:p>
          <a:p xmlns:a="http://schemas.openxmlformats.org/drawingml/2006/main">
            <a:r>
              <a:t>https://www.kommersant.ru/doc/6187168</a:t>
            </a:r>
          </a:p>
          <a:p xmlns:a="http://schemas.openxmlformats.org/drawingml/2006/main">
            <a:r>
              <a:t>https://duma.gov.ru/news/63383/</a:t>
            </a:r>
          </a:p>
          <a:p xmlns:a="http://schemas.openxmlformats.org/drawingml/2006/main">
            <a:r>
              <a:t>http://duma.gov.ru/en/duma/persons/99100829/news/</a:t>
            </a:r>
          </a:p>
          <a:p xmlns:a="http://schemas.openxmlformats.org/drawingml/2006/main">
            <a:r>
              <a:t>http://duma.gov.ru/en/news/62248/</a:t>
            </a:r>
          </a:p>
          <a:p xmlns:a="http://schemas.openxmlformats.org/drawingml/2006/main">
            <a:r>
              <a:t>http://duma.gov.ru/en/news/61352/</a:t>
            </a:r>
          </a:p>
          <a:p xmlns:a="http://schemas.openxmlformats.org/drawingml/2006/main">
            <a:r>
              <a:t>http://duma.gov.ru/en/news/64178/</a:t>
            </a:r>
          </a:p>
          <a:p xmlns:a="http://schemas.openxmlformats.org/drawingml/2006/main">
            <a:r>
              <a:t>http://duma.gov.ru/en/news/64216</a:t>
            </a:r>
          </a:p>
          <a:p xmlns:a="http://schemas.openxmlformats.org/drawingml/2006/main">
            <a:r>
              <a:t>http://duma.gov.ru/en/news/64239</a:t>
            </a:r>
          </a:p>
          <a:p xmlns:a="http://schemas.openxmlformats.org/drawingml/2006/main">
            <a:r>
              <a:t>https://en.wikipedia.org/wiki/Vyacheslav_Volodin</a:t>
            </a:r>
          </a:p>
          <a:p xmlns:a="http://schemas.openxmlformats.org/drawingml/2006/main">
            <a:r>
              <a:t>http://duma.gov.ru/news/56060/</a:t>
            </a:r>
          </a:p>
          <a:p xmlns:a="http://schemas.openxmlformats.org/drawingml/2006/main">
            <a:r>
              <a:t>http://duma.gov.ru/news/60448/</a:t>
            </a:r>
          </a:p>
          <a:p xmlns:a="http://schemas.openxmlformats.org/drawingml/2006/main">
            <a:r>
              <a:t>http://duma.gov.ru/news/61362/</a:t>
            </a:r>
          </a:p>
          <a:p xmlns:a="http://schemas.openxmlformats.org/drawingml/2006/main">
            <a:r>
              <a:t>http://duma.gov.ru/news/61384/</a:t>
            </a:r>
          </a:p>
          <a:p xmlns:a="http://schemas.openxmlformats.org/drawingml/2006/main">
            <a:r>
              <a:t>http://duma.gov.ru/news/61874/</a:t>
            </a:r>
          </a:p>
          <a:p xmlns:a="http://schemas.openxmlformats.org/drawingml/2006/main">
            <a:r>
              <a:t>http://duma.gov.ru/news/62022/</a:t>
            </a:r>
          </a:p>
          <a:p xmlns:a="http://schemas.openxmlformats.org/drawingml/2006/main">
            <a:r>
              <a:t>http://duma.gov.ru/news/63772/</a:t>
            </a:r>
          </a:p>
          <a:p xmlns:a="http://schemas.openxmlformats.org/drawingml/2006/main">
            <a:r>
              <a:t>https://council.gov.ru/events/news/160466/</a:t>
            </a:r>
          </a:p>
          <a:p xmlns:a="http://schemas.openxmlformats.org/drawingml/2006/main">
            <a:r>
              <a:t>http://council.gov.ru/structure/persons/257/</a:t>
            </a:r>
          </a:p>
          <a:p xmlns:a="http://schemas.openxmlformats.org/drawingml/2006/main">
            <a:r>
              <a:t>https://interaffairs.ru/news/show/16199</a:t>
            </a:r>
          </a:p>
          <a:p xmlns:a="http://schemas.openxmlformats.org/drawingml/2006/main">
            <a:r>
              <a:t>https://www.rbc.ru/person/617fb5ef9a79475c6cfc4502</a:t>
            </a:r>
          </a:p>
          <a:p xmlns:a="http://schemas.openxmlformats.org/drawingml/2006/main">
            <a:r>
              <a:t>https://vksrs.com/publications/matvienko-rasskazala-o-neobkhodimosti-protivostoyat-geroizatsii-natsistov/</a:t>
            </a:r>
          </a:p>
          <a:p xmlns:a="http://schemas.openxmlformats.org/drawingml/2006/main">
            <a:r>
              <a:t>https://absatz.media/politika/158438-valentine-matvienko-77-istoriya-uspeha-put-k-vershine-i-samye-yarkie-zayavleniya</a:t>
            </a:r>
          </a:p>
          <a:p xmlns:a="http://schemas.openxmlformats.org/drawingml/2006/main">
            <a:r>
              <a:t>https://www.rbc.ru/society/14/10/2026/6acf597c9a794743e0478a15?from=short_news</a:t>
            </a:r>
          </a:p>
          <a:p xmlns:a="http://schemas.openxmlformats.org/drawingml/2006/main">
            <a:r>
              <a:t>https://senatinform.ru/news/sf_stremitsya_byt_maksimalno_otkrytym_dlya_raboty_zhurnalistov_matvienko/</a:t>
            </a:r>
          </a:p>
          <a:p xmlns:a="http://schemas.openxmlformats.org/drawingml/2006/main">
            <a:r>
              <a:t>https://eparlament.irzs.ru/Files/getFile/11853</a:t>
            </a:r>
          </a:p>
          <a:p xmlns:a="http://schemas.openxmlformats.org/drawingml/2006/main">
            <a:r>
              <a:t>http://special.council.gov.ru/activity/meetings/170703/transcript/</a:t>
            </a:r>
          </a:p>
          <a:p xmlns:a="http://schemas.openxmlformats.org/drawingml/2006/main">
            <a:r>
              <a:t>https://bookonlime.ru/lecture/12-razvitie-ekonomicheskih-otnosheniy-i-strategicheskoe-planirovanie-v-cifrovoy-ekonomike-2</a:t>
            </a:r>
          </a:p>
          <a:p xmlns:a="http://schemas.openxmlformats.org/drawingml/2006/main">
            <a:r>
              <a:t>https://ru.wikipedia.org/wiki/Песков,_Дмитрий_Сергеевич</a:t>
            </a:r>
          </a:p>
          <a:p xmlns:a="http://schemas.openxmlformats.org/drawingml/2006/main">
            <a:r>
              <a:t>https://www.reuters.com/world/europe/kremlin-says-ukraine-is-now-paying-price-its-own-attacks-russia-2026-09-28/</a:t>
            </a:r>
          </a:p>
          <a:p xmlns:a="http://schemas.openxmlformats.org/drawingml/2006/main">
            <a:r>
              <a:t>https://www.reuters.com/world/europe/kremlin-rejects-le-penbardella-rebuke-says-russia-is-no-threat-france-2026-09-21/</a:t>
            </a:r>
          </a:p>
          <a:p xmlns:a="http://schemas.openxmlformats.org/drawingml/2006/main">
            <a:r>
              <a:t>https://theins.ru/antifake/295208</a:t>
            </a:r>
          </a:p>
          <a:p xmlns:a="http://schemas.openxmlformats.org/drawingml/2006/main">
            <a:r>
              <a:t>https://expert.ru/news/v-kremle-otvetili-na-slova-donalda-trampa-o-rossiyskom-vmeshatelstve</a:t>
            </a:r>
          </a:p>
          <a:p xmlns:a="http://schemas.openxmlformats.org/drawingml/2006/main">
            <a:r>
              <a:t>https://www.dw.com/ru/dmitrij-peskov/t-18146676/page-1</a:t>
            </a:r>
          </a:p>
          <a:p xmlns:a="http://schemas.openxmlformats.org/drawingml/2006/main">
            <a:r>
              <a:t>https://www.pnp.ru/person/dmitriy--peskov/</a:t>
            </a:r>
          </a:p>
          <a:p xmlns:a="http://schemas.openxmlformats.org/drawingml/2006/main">
            <a:r>
              <a:t>https://www.rbc.ua/ukr/dossier/peskov-19032015</a:t>
            </a:r>
          </a:p>
          <a:p xmlns:a="http://schemas.openxmlformats.org/drawingml/2006/main">
            <a:r>
              <a:t>https://www.rbc.ru/politics/12/10/2026/6accae3bb18f4460834ce063</a:t>
            </a:r>
          </a:p>
          <a:p xmlns:a="http://schemas.openxmlformats.org/drawingml/2006/main">
            <a:r>
              <a:t>https://tass.ru/politika/20355193</a:t>
            </a:r>
          </a:p>
          <a:p xmlns:a="http://schemas.openxmlformats.org/drawingml/2006/main">
            <a:r>
              <a:t>https://www.m24.ru/news/06052024/689412</a:t>
            </a:r>
          </a:p>
          <a:p xmlns:a="http://schemas.openxmlformats.org/drawingml/2006/main">
            <a:r>
              <a:t>http://www.kremlin.ru/acts/bank/48502</a:t>
            </a:r>
          </a:p>
          <a:p xmlns:a="http://schemas.openxmlformats.org/drawingml/2006/main">
            <a:r>
              <a:t>https://www.m24.ru/news/11022025/769070</a:t>
            </a:r>
          </a:p>
          <a:p xmlns:a="http://schemas.openxmlformats.org/drawingml/2006/main">
            <a:r>
              <a:t>https://www.m24.ru/news/23042026/894202</a:t>
            </a:r>
          </a:p>
          <a:p xmlns:a="http://schemas.openxmlformats.org/drawingml/2006/main">
            <a:r>
              <a:t>https://cbr.ru/about_br/nabiullinaes/</a:t>
            </a:r>
          </a:p>
          <a:p xmlns:a="http://schemas.openxmlformats.org/drawingml/2006/main">
            <a:r>
              <a:t>https://cbr.ru/press/event/?id=12840</a:t>
            </a:r>
          </a:p>
          <a:p xmlns:a="http://schemas.openxmlformats.org/drawingml/2006/main">
            <a:r>
              <a:t>https://www.cbr.ru/press/event/?id=12904</a:t>
            </a:r>
          </a:p>
          <a:p xmlns:a="http://schemas.openxmlformats.org/drawingml/2006/main">
            <a:r>
              <a:t>https://cbr.ru/press/event/?id=14033</a:t>
            </a:r>
          </a:p>
          <a:p xmlns:a="http://schemas.openxmlformats.org/drawingml/2006/main">
            <a:r>
              <a:t>https://www.cbr.ru/press/event/?id=12764</a:t>
            </a:r>
          </a:p>
          <a:p xmlns:a="http://schemas.openxmlformats.org/drawingml/2006/main">
            <a:r>
              <a:t>https://kazanfirst.ru/articles/534335</a:t>
            </a:r>
          </a:p>
          <a:p xmlns:a="http://schemas.openxmlformats.org/drawingml/2006/main">
            <a:r>
              <a:t>https://www.rbc.ru/person/65e831449a79476cbfd8e5fd</a:t>
            </a:r>
          </a:p>
          <a:p xmlns:a="http://schemas.openxmlformats.org/drawingml/2006/main">
            <a:r>
              <a:t>https://www.interfax.ru/russia/955290</a:t>
            </a:r>
          </a:p>
          <a:p xmlns:a="http://schemas.openxmlformats.org/drawingml/2006/main">
            <a:r>
              <a:t>https://minfin.gov.ru/ru/press-center/?id_4=38548-intervyu_ministra_finansov_antona_siluanova_gazete_argumenty_i_fakty</a:t>
            </a:r>
          </a:p>
          <a:p xmlns:a="http://schemas.openxmlformats.org/drawingml/2006/main">
            <a:r>
              <a:t>https://minfin.gov.ru/ru/press-center/?id_4=37667-vystuplenie_antona_siluanova_na_plenarnom_zasedanii_v_gosudarstvennoi_dume</a:t>
            </a:r>
          </a:p>
          <a:p xmlns:a="http://schemas.openxmlformats.org/drawingml/2006/main">
            <a:r>
              <a:t>https://www.rbc.ru/economics/24/10/2022/63529d159a7947efb82a59eb</a:t>
            </a:r>
          </a:p>
          <a:p xmlns:a="http://schemas.openxmlformats.org/drawingml/2006/main">
            <a:r>
              <a:t>https://www.rbc.ru/newspaper/2020/02/21/5e4e83289a79474bcf9f8cf9</a:t>
            </a:r>
          </a:p>
          <a:p xmlns:a="http://schemas.openxmlformats.org/drawingml/2006/main">
            <a:r>
              <a:t>https://www.rbc.ru/economics/20/02/2020/5e4e91919a79475559478893</a:t>
            </a:r>
          </a:p>
          <a:p xmlns:a="http://schemas.openxmlformats.org/drawingml/2006/main">
            <a:r>
              <a:t>https://minfin.gov.ru/ru/press-center/?id_4=39336-anton_siluanov_predstavil_na_parlamentskikh_slushaniyakh_v_sovete_federatsii_proekt_byudzheta_na_2025-2027_gg.</a:t>
            </a:r>
          </a:p>
          <a:p xmlns:a="http://schemas.openxmlformats.org/drawingml/2006/main">
            <a:r>
              <a:t>https://www.interfax.ru/amp/1035506</a:t>
            </a:r>
          </a:p>
          <a:p xmlns:a="http://schemas.openxmlformats.org/drawingml/2006/main">
            <a:r>
              <a:t>https://tass.ru/ekonomika/28198121</a:t>
            </a:r>
          </a:p>
          <a:p xmlns:a="http://schemas.openxmlformats.org/drawingml/2006/main">
            <a:r>
              <a:t>https://www.rbc.ru/person/65b9f4369a7947ec8a7f242a</a:t>
            </a:r>
          </a:p>
          <a:p xmlns:a="http://schemas.openxmlformats.org/drawingml/2006/main">
            <a:r>
              <a:t>https://www.bfm.ru/news/435050</a:t>
            </a:r>
          </a:p>
          <a:p xmlns:a="http://schemas.openxmlformats.org/drawingml/2006/main">
            <a:r>
              <a:t>https://ru.ruwiki.ru/wiki/%D0%93%D0%BE%D0%BB%D0%B8%D0%BA%D0%BE%D0%B2%D0%B0,_%D0%A2%D0%B0%D1%82%D1%8C%D1%8F%D0%BD%D0%B0_%D0%90%D0%BB%D0%B5%D0%BA%D1%81%D0%B5%D0%B5%D0%B2%D0%BD%D0%B0</a:t>
            </a:r>
          </a:p>
          <a:p xmlns:a="http://schemas.openxmlformats.org/drawingml/2006/main">
            <a:r>
              <a:t>http://www.kremlin.ru/events/president/transcripts/deliberations%20/77439</a:t>
            </a:r>
          </a:p>
          <a:p xmlns:a="http://schemas.openxmlformats.org/drawingml/2006/main">
            <a:r>
              <a:t>https://xn--90aivcdt6dxbc.xn--p1ai/articles/news/prezident-zdravookhranenie-zanimaet-klyuchevoe-mesto-v-sotsialnoy-politike-rossii/</a:t>
            </a:r>
          </a:p>
          <a:p xmlns:a="http://schemas.openxmlformats.org/drawingml/2006/main">
            <a:r>
              <a:t>https://xn--90aivcdt6dxbc.xn--p1ai/articles/news/tatyana-golikova-edinaya-rossiya-nadezhnyy-soyuznik-i-partner-pravitelstva/</a:t>
            </a:r>
          </a:p>
          <a:p xmlns:a="http://schemas.openxmlformats.org/drawingml/2006/main">
            <a:r>
              <a:t>http://government.ru/news/58648/</a:t>
            </a:r>
          </a:p>
          <a:p xmlns:a="http://schemas.openxmlformats.org/drawingml/2006/main">
            <a:r>
              <a:t>http://government.ru/news/54912/</a:t>
            </a:r>
          </a:p>
          <a:p xmlns:a="http://schemas.openxmlformats.org/drawingml/2006/main">
            <a:r>
              <a:t>http://government.ru/news/58000/</a:t>
            </a:r>
          </a:p>
          <a:p xmlns:a="http://schemas.openxmlformats.org/drawingml/2006/main">
            <a:r>
              <a:t>https://tass.ru/politika/28141547</a:t>
            </a:r>
          </a:p>
          <a:p xmlns:a="http://schemas.openxmlformats.org/drawingml/2006/main">
            <a:r>
              <a:t>https://duma.gov.ru/media/files/smUklOtuNPyzwTneQGCfFUHHIsilAqcm.pdf</a:t>
            </a:r>
          </a:p>
          <a:p xmlns:a="http://schemas.openxmlformats.org/drawingml/2006/main">
            <a:r>
              <a:t>https://kprf.ru/dep/gosduma/activities/187187.html</a:t>
            </a:r>
          </a:p>
          <a:p xmlns:a="http://schemas.openxmlformats.org/drawingml/2006/main">
            <a:r>
              <a:t>http://msk.kprf.ru/2022/08/22/222866/</a:t>
            </a:r>
          </a:p>
          <a:p xmlns:a="http://schemas.openxmlformats.org/drawingml/2006/main">
            <a:r>
              <a:t>https://kprf.ru/party-live/cknews/235903.html</a:t>
            </a:r>
          </a:p>
          <a:p xmlns:a="http://schemas.openxmlformats.org/drawingml/2006/main">
            <a:r>
              <a:t>https://kprf.ru/dep/gosduma/activities/236198.html/print</a:t>
            </a:r>
          </a:p>
          <a:p xmlns:a="http://schemas.openxmlformats.org/drawingml/2006/main">
            <a:r>
              <a:t>https://kprf.ru/dep/gosduma/activities/239812.html</a:t>
            </a:r>
          </a:p>
          <a:p xmlns:a="http://schemas.openxmlformats.org/drawingml/2006/main">
            <a:r>
              <a:t>https://kprf-don.ru/index.php/news/facts/12501-2025-09-15-12-58-35.html</a:t>
            </a:r>
          </a:p>
          <a:p xmlns:a="http://schemas.openxmlformats.org/drawingml/2006/main">
            <a:r>
              <a:t>https://kprf.ru/dep/gosduma/activities/237529.html</a:t>
            </a:r>
          </a:p>
          <a:p xmlns:a="http://schemas.openxmlformats.org/drawingml/2006/main">
            <a:r>
              <a:t>https://novayagazeta.ru/articles/2025/09/19/putin-udivilsia-khodu-zapushchennoi-im-vesnoi-munitsipalnoi-reformy-posle-slov-ziuganova-kak-regiony-dlia-nee-lomali-cherez-koleno-a-tatarstan-otkazalsia-ee-ispolniat-news</a:t>
            </a:r>
          </a:p>
          <a:p xmlns:a="http://schemas.openxmlformats.org/drawingml/2006/main">
            <a:r>
              <a:t>https://kprf.ru/official/2025/11/15/15-noiabria-2025-oda-sostoialsia-ii-noiabrskii-plenum-tsk-kprf/473.html</a:t>
            </a:r>
          </a:p>
          <a:p xmlns:a="http://schemas.openxmlformats.org/drawingml/2006/main">
            <a:r>
              <a:t>https://www.rbc.ru/person/617bfbb79a7947fc327a3bcb</a:t>
            </a:r>
          </a:p>
          <a:p xmlns:a="http://schemas.openxmlformats.org/drawingml/2006/main">
            <a:r>
              <a:t>https://www.bbc.com/russian/features-60873381</a:t>
            </a:r>
          </a:p>
          <a:p xmlns:a="http://schemas.openxmlformats.org/drawingml/2006/main">
            <a:r>
              <a:t>https://www.svoboda.org/a/umer-lider-partii-ldpr-vladimir-zhirinovskiy-nekrolog/31770134.html</a:t>
            </a:r>
          </a:p>
          <a:p xmlns:a="http://schemas.openxmlformats.org/drawingml/2006/main">
            <a:r>
              <a:t>https://www.rbc.ru/politics/06/04/2022/624d661b9a79473f7416fe26</a:t>
            </a:r>
          </a:p>
          <a:p xmlns:a="http://schemas.openxmlformats.org/drawingml/2006/main">
            <a:r>
              <a:t>https://tass.ru/politika/3392889</a:t>
            </a:r>
          </a:p>
          <a:p xmlns:a="http://schemas.openxmlformats.org/drawingml/2006/main">
            <a:r>
              <a:t>https://www.pnp.ru/politics/2016/06/28/v-centre-predvybornoy-programmy-ldpr-russkiy-vopros.html</a:t>
            </a:r>
          </a:p>
          <a:p xmlns:a="http://schemas.openxmlformats.org/drawingml/2006/main">
            <a:r>
              <a:t>https://ldpr.ru/party/history/</a:t>
            </a:r>
          </a:p>
          <a:p xmlns:a="http://schemas.openxmlformats.org/drawingml/2006/main">
            <a:r>
              <a:t>https://govoritmoskva.ru/interviews/1023/</a:t>
            </a:r>
          </a:p>
          <a:p xmlns:a="http://schemas.openxmlformats.org/drawingml/2006/main">
            <a:r>
              <a:t>https://www.gazeta.ru/politics/2017/03/17_a_10580999.shtml</a:t>
            </a:r>
          </a:p>
          <a:p xmlns:a="http://schemas.openxmlformats.org/drawingml/2006/main">
            <a:r>
              <a:t>https://ldpr.ru/upload/iblock/c88/1d6dstdexz6aw7dnwoubeobhr3mnwa1j/a799616e688866c49f2ef6b5b8cfe5c00d45080ae85ce0e5f6d36e2e010681d9.pdf</a:t>
            </a:r>
          </a:p>
          <a:p xmlns:a="http://schemas.openxmlformats.org/drawingml/2006/main">
            <a:r>
              <a:t>https://www.kommersant.ru/doc/3579566</a:t>
            </a:r>
          </a:p>
          <a:p xmlns:a="http://schemas.openxmlformats.org/drawingml/2006/main">
            <a:r>
              <a:t>https://spb.ldpr.ru/event/243915/</a:t>
            </a:r>
          </a:p>
          <a:p xmlns:a="http://schemas.openxmlformats.org/drawingml/2006/main">
            <a:r>
              <a:t>https://kursk.ldpr.ru/event/341398</a:t>
            </a:r>
          </a:p>
          <a:p xmlns:a="http://schemas.openxmlformats.org/drawingml/2006/main">
            <a:r>
              <a:t>https://cyberleninka.ru/article/n/sravnitelnyy-analiz-predvybornyh-programm-ldpr-na-vyborah-2021-g-i-l-e-slutskogo-na-vyborah-2024-g</a:t>
            </a:r>
          </a:p>
          <a:p xmlns:a="http://schemas.openxmlformats.org/drawingml/2006/main">
            <a:r>
              <a:t>https://kcr.ldpr.ru/event/347999/</a:t>
            </a:r>
          </a:p>
          <a:p xmlns:a="http://schemas.openxmlformats.org/drawingml/2006/main">
            <a:r>
              <a:t>https://msknews77.ru/society/2025/09/25/73500.html</a:t>
            </a:r>
          </a:p>
          <a:p xmlns:a="http://schemas.openxmlformats.org/drawingml/2006/main">
            <a:r>
              <a:t>https://bagaevka-press.ru/besplatnyj-zemelnyj-uchastok-dlya-semej-inicziativa-ldpr/</a:t>
            </a:r>
          </a:p>
          <a:p xmlns:a="http://schemas.openxmlformats.org/drawingml/2006/main">
            <a:r>
              <a:t>https://ldpr.ru/event/437527/</a:t>
            </a:r>
          </a:p>
          <a:p xmlns:a="http://schemas.openxmlformats.org/drawingml/2006/main">
            <a:r>
              <a:t>https://rg62.info/2025/11/01/leonid-sluczkij-vstupilsya-za-multserial-masha-i-medved/</a:t>
            </a:r>
          </a:p>
          <a:p xmlns:a="http://schemas.openxmlformats.org/drawingml/2006/main">
            <a:r>
              <a:t>https://mironov.ru/officially</a:t>
            </a:r>
          </a:p>
          <a:p xmlns:a="http://schemas.openxmlformats.org/drawingml/2006/main">
            <a:r>
              <a:t>https://mironov.ru/bio</a:t>
            </a:r>
          </a:p>
          <a:p xmlns:a="http://schemas.openxmlformats.org/drawingml/2006/main">
            <a:r>
              <a:t>https://mironov-online.ru/category/zayavleniya/</a:t>
            </a:r>
          </a:p>
          <a:p xmlns:a="http://schemas.openxmlformats.org/drawingml/2006/main">
            <a:r>
              <a:t>https://www.rbc.ru/person/69806d279a7947baf86c32c5</a:t>
            </a:r>
          </a:p>
          <a:p xmlns:a="http://schemas.openxmlformats.org/drawingml/2006/main">
            <a:r>
              <a:t>https://spravedlivo.ru/16303010</a:t>
            </a:r>
          </a:p>
          <a:p xmlns:a="http://schemas.openxmlformats.org/drawingml/2006/main">
            <a:r>
              <a:t>http://mironov.ru/15133910</a:t>
            </a:r>
          </a:p>
          <a:p xmlns:a="http://schemas.openxmlformats.org/drawingml/2006/main">
            <a:r>
              <a:t>http://www.special.spravedlivo.ru/5_140609.html</a:t>
            </a:r>
          </a:p>
          <a:p xmlns:a="http://schemas.openxmlformats.org/drawingml/2006/main">
            <a:r>
              <a:t>https://spravedlivo.ru/14681110</a:t>
            </a:r>
          </a:p>
          <a:p xmlns:a="http://schemas.openxmlformats.org/drawingml/2006/main">
            <a:r>
              <a:t>https://radiokp.ru/podcast/dialogi-na-radio-kp/759263</a:t>
            </a:r>
          </a:p>
          <a:p xmlns:a="http://schemas.openxmlformats.org/drawingml/2006/main">
            <a:r>
              <a:t>https://mironov.ru/51339910</a:t>
            </a:r>
          </a:p>
          <a:p xmlns:a="http://schemas.openxmlformats.org/drawingml/2006/main">
            <a:r>
              <a:t>https://mironov-online.ru/news/mironov-na-ukraine-idet-bitva-za-budushhee-vsego-chelovechestva-i-pobeda-v-nej-budet-za-rossiej/</a:t>
            </a:r>
          </a:p>
          <a:p xmlns:a="http://schemas.openxmlformats.org/drawingml/2006/main">
            <a:r>
              <a:t>https://spravedlivo.ru/12544510</a:t>
            </a:r>
          </a:p>
          <a:p xmlns:a="http://schemas.openxmlformats.org/drawingml/2006/main">
            <a:r>
              <a:t>https://www.rbc.ru/person/6aa3ef199a79475758621730</a:t>
            </a:r>
          </a:p>
          <a:p xmlns:a="http://schemas.openxmlformats.org/drawingml/2006/main">
            <a:r>
              <a:t>https://www.rbc.ru/politics/24/09/2021/614da73f9a7947b5e3d9399f</a:t>
            </a:r>
          </a:p>
          <a:p xmlns:a="http://schemas.openxmlformats.org/drawingml/2006/main">
            <a:r>
              <a:t>https://amp.rbc.ru/rbcnews/base/14/08/2026/6a957dfb9a79476ae3d823ba</a:t>
            </a:r>
          </a:p>
          <a:p xmlns:a="http://schemas.openxmlformats.org/drawingml/2006/main">
            <a:r>
              <a:t>https://en.wikipedia.org/wiki/Alexey_Nechayev</a:t>
            </a:r>
          </a:p>
          <a:p xmlns:a="http://schemas.openxmlformats.org/drawingml/2006/main">
            <a:r>
              <a:t>https://www.gazeta.ru/politics/23422027/novye-lyudi-na-vyborah-2026-goda.shtml</a:t>
            </a:r>
          </a:p>
          <a:p xmlns:a="http://schemas.openxmlformats.org/drawingml/2006/main">
            <a:r>
              <a:t>https://vremya-bir.ru/2026/03/07/dvenadtsat-shagov-k-strane-v-kotoroj-hochetsya-zhit/</a:t>
            </a:r>
          </a:p>
          <a:p xmlns:a="http://schemas.openxmlformats.org/drawingml/2006/main">
            <a:r>
              <a:t>https://www.rbc.ru/politics/08/09/2026/6aa023ec9a79471e4fd55d3c</a:t>
            </a:r>
          </a:p>
          <a:p xmlns:a="http://schemas.openxmlformats.org/drawingml/2006/main">
            <a:r>
              <a:t>https://www.interfax.ru/interview/1074248</a:t>
            </a:r>
          </a:p>
          <a:p xmlns:a="http://schemas.openxmlformats.org/drawingml/2006/main">
            <a:r>
              <a:t>https://www.interfax.ru/amp/1074248</a:t>
            </a:r>
          </a:p>
          <a:p xmlns:a="http://schemas.openxmlformats.org/drawingml/2006/main">
            <a:r>
              <a:t>https://www.vedomosti.ru/politics/articles/2026/09/09/1227352-novie-lyudi-sformulirovali-programmu</a:t>
            </a:r>
          </a:p>
          <a:p xmlns:a="http://schemas.openxmlformats.org/drawingml/2006/main">
            <a:r>
              <a:t>https://dddkursk.ru/lenta/2026/07/30/129483/</a:t>
            </a:r>
          </a:p>
          <a:p xmlns:a="http://schemas.openxmlformats.org/drawingml/2006/main">
            <a:r>
              <a:t>https://volga.news/article/803292.html</a:t>
            </a:r>
          </a:p>
          <a:p xmlns:a="http://schemas.openxmlformats.org/drawingml/2006/main">
            <a:r>
              <a:t>https://ru.wikipedia.org/wiki/%D0%9D%D0%B5%D1%87%D0%B0%D0%B5%D0%B2,_%D0%90%D0%BB%D0%B5%D0%BA%D1%81%D0%B5%D0%B9_%D0%93%D0%B5%D0%BD%D0%BD%D0%B0%D0%B4%D1%8C%D0%B5%D0%B2%D0%B8%D1%87</a:t>
            </a:r>
          </a:p>
          <a:p xmlns:a="http://schemas.openxmlformats.org/drawingml/2006/main">
            <a:r>
              <a:t>https://www.davankov2024.ru/page_biography/</a:t>
            </a:r>
          </a:p>
          <a:p xmlns:a="http://schemas.openxmlformats.org/drawingml/2006/main">
            <a:r>
              <a:t>https://davankov2024.ru/program</a:t>
            </a:r>
          </a:p>
          <a:p xmlns:a="http://schemas.openxmlformats.org/drawingml/2006/main">
            <a:r>
              <a:t>http://vote.duma.gov.ru/?convocation=AAAAAAA8&amp;deputy=99113489&amp;sort=date_desc</a:t>
            </a:r>
          </a:p>
          <a:p xmlns:a="http://schemas.openxmlformats.org/drawingml/2006/main">
            <a:r>
              <a:t>https://holod.media/2024/02/14/vladislav-davankov/</a:t>
            </a:r>
          </a:p>
          <a:p xmlns:a="http://schemas.openxmlformats.org/drawingml/2006/main">
            <a:r>
              <a:t>https://davankov2024.ru/</a:t>
            </a:r>
          </a:p>
          <a:p xmlns:a="http://schemas.openxmlformats.org/drawingml/2006/main">
            <a:r>
              <a:t>https://novayagazeta.eu/articles/2024/02/15/davankov-predstavil-predvybornuiu-programmu-bez-amnistii-politzakliuchennykh-i-s-namereniem-dobitsia-mira-na-nashikh-usloviiakh-news</a:t>
            </a:r>
          </a:p>
          <a:p xmlns:a="http://schemas.openxmlformats.org/drawingml/2006/main">
            <a:r>
              <a:t>https://www.kavkaz-uzel.eu/articles/398113</a:t>
            </a:r>
          </a:p>
          <a:p xmlns:a="http://schemas.openxmlformats.org/drawingml/2006/main">
            <a:r>
              <a:t>https://echofm.online/portret-dnya/portret-dnya-vladislav-davankov-kandidat-v-prezidenty-rossii</a:t>
            </a:r>
          </a:p>
          <a:p xmlns:a="http://schemas.openxmlformats.org/drawingml/2006/main">
            <a:r>
              <a:t>https://t.me/s/davankov?before=788</a:t>
            </a:r>
          </a:p>
          <a:p xmlns:a="http://schemas.openxmlformats.org/drawingml/2006/main">
            <a:r>
              <a:t>https://zaharprilepin.ru/ru/bio/</a:t>
            </a:r>
          </a:p>
          <a:p xmlns:a="http://schemas.openxmlformats.org/drawingml/2006/main">
            <a:r>
              <a:t>https://zaharprilepin.ru/ru/video/zapisi-vistuplenij/intervju/</a:t>
            </a:r>
          </a:p>
          <a:p xmlns:a="http://schemas.openxmlformats.org/drawingml/2006/main">
            <a:r>
              <a:t>https://zaharprilepin.ru/ru/pressa/intervyu/na-harkov.html</a:t>
            </a:r>
          </a:p>
          <a:p xmlns:a="http://schemas.openxmlformats.org/drawingml/2006/main">
            <a:r>
              <a:t>https://www.kommersant.ru/doc/4141912</a:t>
            </a:r>
          </a:p>
          <a:p xmlns:a="http://schemas.openxmlformats.org/drawingml/2006/main">
            <a:r>
              <a:t>https://novayagazeta.eu/articles/2023/05/06/plokhoi-uchenik-limonova</a:t>
            </a:r>
          </a:p>
          <a:p xmlns:a="http://schemas.openxmlformats.org/drawingml/2006/main">
            <a:r>
              <a:t>https://tass.ru/politika/11761037</a:t>
            </a:r>
          </a:p>
          <a:p xmlns:a="http://schemas.openxmlformats.org/drawingml/2006/main">
            <a:r>
              <a:t>https://www.nn.ru/text/politics/2021/10/11/70186523/</a:t>
            </a:r>
          </a:p>
          <a:p xmlns:a="http://schemas.openxmlformats.org/drawingml/2006/main">
            <a:r>
              <a:t>https://www.zaks.ru/new/archive/view/267194</a:t>
            </a:r>
          </a:p>
          <a:p xmlns:a="http://schemas.openxmlformats.org/drawingml/2006/main">
            <a:r>
              <a:t>https://spravedlivo.ru/11288710</a:t>
            </a:r>
          </a:p>
          <a:p xmlns:a="http://schemas.openxmlformats.org/drawingml/2006/main">
            <a:r>
              <a:t>https://www.kommersant.ru/doc/4241515</a:t>
            </a:r>
          </a:p>
          <a:p xmlns:a="http://schemas.openxmlformats.org/drawingml/2006/main">
            <a:r>
              <a:t>https://zaharprilepin.ru/ru/pressa/intervyu/radio-komsomolskaja-pravda-10022021.html</a:t>
            </a:r>
          </a:p>
          <a:p xmlns:a="http://schemas.openxmlformats.org/drawingml/2006/main">
            <a:r>
              <a:t>https://pozneronline.ru/2024/04/36826/</a:t>
            </a:r>
          </a:p>
          <a:p xmlns:a="http://schemas.openxmlformats.org/drawingml/2006/main">
            <a:r>
              <a:t>https://www.rbc.ru/person/62a85a259a7947b9ae5d6360</a:t>
            </a:r>
          </a:p>
          <a:p xmlns:a="http://schemas.openxmlformats.org/drawingml/2006/main">
            <a:r>
              <a:t>https://tass.ru/encyclopedia/person/poklonskaya-natalya-vladimirovna</a:t>
            </a:r>
          </a:p>
          <a:p xmlns:a="http://schemas.openxmlformats.org/drawingml/2006/main">
            <a:r>
              <a:t>https://tass.ru/tag/poklonskaya-natalya-vladimirovna</a:t>
            </a:r>
          </a:p>
          <a:p xmlns:a="http://schemas.openxmlformats.org/drawingml/2006/main">
            <a:r>
              <a:t>https://www.bbc.com/russian/features-44801571</a:t>
            </a:r>
          </a:p>
          <a:p xmlns:a="http://schemas.openxmlformats.org/drawingml/2006/main">
            <a:r>
              <a:t>https://www.rbc.ru/rbcfreenews/5ba8bd499a794792294ba05d</a:t>
            </a:r>
          </a:p>
          <a:p xmlns:a="http://schemas.openxmlformats.org/drawingml/2006/main">
            <a:r>
              <a:t>https://www.dp.ru/a/2018/08/31/Poklonskaja_otreazirovala</a:t>
            </a:r>
          </a:p>
          <a:p xmlns:a="http://schemas.openxmlformats.org/drawingml/2006/main">
            <a:r>
              <a:t>https://www.themoscowtimes.com/2022/06/13/former-crimea-prosecutor-dismissed-after-anti-war-comments-a77983</a:t>
            </a:r>
          </a:p>
          <a:p xmlns:a="http://schemas.openxmlformats.org/drawingml/2006/main">
            <a:r>
              <a:t>https://www.rbc.ru/politics/30/06/2023/649dee189a79473e3fdc8906</a:t>
            </a:r>
          </a:p>
          <a:p xmlns:a="http://schemas.openxmlformats.org/drawingml/2006/main">
            <a:r>
              <a:t>http://council.gov.ru/structure/persons/1044/</a:t>
            </a:r>
          </a:p>
          <a:p xmlns:a="http://schemas.openxmlformats.org/drawingml/2006/main">
            <a:r>
              <a:t>http://council.gov.ru/services/reference/9156/</a:t>
            </a:r>
          </a:p>
          <a:p xmlns:a="http://schemas.openxmlformats.org/drawingml/2006/main">
            <a:r>
              <a:t>http://council.gov.ru/events/news/135415/</a:t>
            </a:r>
          </a:p>
          <a:p xmlns:a="http://schemas.openxmlformats.org/drawingml/2006/main">
            <a:r>
              <a:t>https://24smi.org/celebrity/1156-elena-mizulina.html</a:t>
            </a:r>
          </a:p>
          <a:p xmlns:a="http://schemas.openxmlformats.org/drawingml/2006/main">
            <a:r>
              <a:t>https://www.bfometr.ru/blog/elena-mizulina</a:t>
            </a:r>
          </a:p>
          <a:p xmlns:a="http://schemas.openxmlformats.org/drawingml/2006/main">
            <a:r>
              <a:t>https://www.rbc.ru/society/30/03/2018/5abe1b849a79470dc3826f68</a:t>
            </a:r>
          </a:p>
          <a:p xmlns:a="http://schemas.openxmlformats.org/drawingml/2006/main">
            <a:r>
              <a:t>https://uznayvse.ru/znamenitosti/biografiya-elena-mizulina.html</a:t>
            </a:r>
          </a:p>
          <a:p xmlns:a="http://schemas.openxmlformats.org/drawingml/2006/main">
            <a:r>
              <a:t>https://radiokp.ru/people/elena-mizulina</a:t>
            </a:r>
          </a:p>
          <a:p xmlns:a="http://schemas.openxmlformats.org/drawingml/2006/main">
            <a:r>
              <a:t>https://ru.wikipedia.org/wiki/%D0%9C%D0%B8%D0%B7%D1%83%D0%BB%D0%B8%D0%BD%D0%B0,_%D0%95%D0%BB%D0%B5%D0%BD%D0%B0_%D0%91%D0%BE%D1%80%D0%B8%D1%81%D0%BE%D0%B2%D0%BD%D0%B0</a:t>
            </a:r>
          </a:p>
          <a:p xmlns:a="http://schemas.openxmlformats.org/drawingml/2006/main">
            <a:r>
              <a:t>https://ru.wikipedia.org/wiki/Милонов,_Виталий_Валентинович</a:t>
            </a:r>
          </a:p>
          <a:p xmlns:a="http://schemas.openxmlformats.org/drawingml/2006/main">
            <a:r>
              <a:t>https://tass.ru/encyclopedia/person/milonov-vitaliy-valentinovich</a:t>
            </a:r>
          </a:p>
          <a:p xmlns:a="http://schemas.openxmlformats.org/drawingml/2006/main">
            <a:r>
              <a:t>https://www.pnp.ru/person/vitaliy-milonov/</a:t>
            </a:r>
          </a:p>
          <a:p xmlns:a="http://schemas.openxmlformats.org/drawingml/2006/main">
            <a:r>
              <a:t>https://www.zaks.ru/new/person/view/172</a:t>
            </a:r>
          </a:p>
          <a:p xmlns:a="http://schemas.openxmlformats.org/drawingml/2006/main">
            <a:r>
              <a:t>https://svpressa.ru/persons/vitaliy-milonov/</a:t>
            </a:r>
          </a:p>
          <a:p xmlns:a="http://schemas.openxmlformats.org/drawingml/2006/main">
            <a:r>
              <a:t>https://stuki-druki.com/authors/Milonov-Vitaliy.php</a:t>
            </a:r>
          </a:p>
          <a:p xmlns:a="http://schemas.openxmlformats.org/drawingml/2006/main">
            <a:r>
              <a:t>https://pa.inion.ru/persons/7104/</a:t>
            </a:r>
          </a:p>
          <a:p xmlns:a="http://schemas.openxmlformats.org/drawingml/2006/main">
            <a:r>
              <a:t>https://pa.inion.ru/documents/16503/</a:t>
            </a:r>
          </a:p>
          <a:p xmlns:a="http://schemas.openxmlformats.org/drawingml/2006/main">
            <a:r>
              <a:t>https://pa.inion.ru/documents/27860/</a:t>
            </a:r>
          </a:p>
          <a:p xmlns:a="http://schemas.openxmlformats.org/drawingml/2006/main">
            <a:r>
              <a:t>https://kprf.ru/personal/ostanina</a:t>
            </a:r>
          </a:p>
          <a:p xmlns:a="http://schemas.openxmlformats.org/drawingml/2006/main">
            <a:r>
              <a:t>https://pa.inion.ru/documents/25577/</a:t>
            </a:r>
          </a:p>
          <a:p xmlns:a="http://schemas.openxmlformats.org/drawingml/2006/main">
            <a:r>
              <a:t>https://kprf.ru/dep/gosduma/activities/245108.html</a:t>
            </a:r>
          </a:p>
          <a:p xmlns:a="http://schemas.openxmlformats.org/drawingml/2006/main">
            <a:r>
              <a:t>https://www.pnp.ru/social/zashhita-detskogo-byudzheta-kruzhki-sokhranit-vyplaty-iz-matkapitala-uvelichit.html</a:t>
            </a:r>
          </a:p>
          <a:p xmlns:a="http://schemas.openxmlformats.org/drawingml/2006/main">
            <a:r>
              <a:t>https://www.pnp.ru/state-duma/nina-ostanina-o-byudzhete-na-2027-2029-gody-semeynoy-ipoteke-i-matkapitale.html</a:t>
            </a:r>
          </a:p>
          <a:p xmlns:a="http://schemas.openxmlformats.org/drawingml/2006/main">
            <a:r>
              <a:t>https://uznayvse.ru/znamenitosti/biografiya-nina-ostanina.html</a:t>
            </a:r>
          </a:p>
          <a:p xmlns:a="http://schemas.openxmlformats.org/drawingml/2006/main">
            <a:r>
              <a:t>https://dumatv.ru/news/ostanina--borba-za-mirovozzrencheskii-suverenitet-stanovitsya-gosudarstvennoi-politikoi</a:t>
            </a:r>
          </a:p>
          <a:p xmlns:a="http://schemas.openxmlformats.org/drawingml/2006/main">
            <a:r>
              <a:t>https://kprf.ru/dep/gosduma/activities/242132.html</a:t>
            </a:r>
          </a:p>
          <a:p xmlns:a="http://schemas.openxmlformats.org/drawingml/2006/main">
            <a:r>
              <a:t>https://www.business-gazeta.ru/article/625616</a:t>
            </a:r>
          </a:p>
          <a:p xmlns:a="http://schemas.openxmlformats.org/drawingml/2006/main">
            <a:r>
              <a:t>https://www.kommersant.ru/doc/3235400</a:t>
            </a:r>
          </a:p>
          <a:p xmlns:a="http://schemas.openxmlformats.org/drawingml/2006/main">
            <a:r>
              <a:t>https://www.rbc.ru/person/67d838f09a7947cdef0b1a95</a:t>
            </a:r>
          </a:p>
          <a:p xmlns:a="http://schemas.openxmlformats.org/drawingml/2006/main">
            <a:r>
              <a:t>https://www.vedomosti.ru/politics/articles/2020/03/10/824795-tereshkova-predlozhila</a:t>
            </a:r>
          </a:p>
          <a:p xmlns:a="http://schemas.openxmlformats.org/drawingml/2006/main">
            <a:r>
              <a:t>http://duma.gov.ru/news/49164/</a:t>
            </a:r>
          </a:p>
          <a:p xmlns:a="http://schemas.openxmlformats.org/drawingml/2006/main">
            <a:r>
              <a:t>https://meduza.io/news/2020/03/12/delayut-vse-dlya-togo-chtoby-gadosti-delat-tereshkova-o-protivnikah-popravki-obnulyayuschey-sroki-putina</a:t>
            </a:r>
          </a:p>
          <a:p xmlns:a="http://schemas.openxmlformats.org/drawingml/2006/main">
            <a:r>
              <a:t>https://meduza.io/feature/2020/03/10/gosduma-neozhidanno-dlya-sebya-obespechila-putina-novymi-prezidentskimi-srokami</a:t>
            </a:r>
          </a:p>
          <a:p xmlns:a="http://schemas.openxmlformats.org/drawingml/2006/main">
            <a:r>
              <a:t>https://hinshtein.ru/biography/</a:t>
            </a:r>
          </a:p>
          <a:p xmlns:a="http://schemas.openxmlformats.org/drawingml/2006/main">
            <a:r>
              <a:t>https://www.vedomosti.ru/politics/articles/2024/12/06/1079852-kto-takoi-aleksandr-hinshtein</a:t>
            </a:r>
          </a:p>
          <a:p xmlns:a="http://schemas.openxmlformats.org/drawingml/2006/main">
            <a:r>
              <a:t>https://www.rbc.ru/person/6752d12a9a7947d62166795e</a:t>
            </a:r>
          </a:p>
          <a:p xmlns:a="http://schemas.openxmlformats.org/drawingml/2006/main">
            <a:r>
              <a:t>https://www.rbc.ru/politics/06/12/2024/675207239a7947e74994842e</a:t>
            </a:r>
          </a:p>
          <a:p xmlns:a="http://schemas.openxmlformats.org/drawingml/2006/main">
            <a:r>
              <a:t>https://hinshtein.ru/news/aleksandr-hinshtejn-podvyol-itogi-goda-raboty-komiteta-gosdumy-po-informpolitike-informatsionnym-tehnologiyam-i-svyazi/</a:t>
            </a:r>
          </a:p>
          <a:p xmlns:a="http://schemas.openxmlformats.org/drawingml/2006/main">
            <a:r>
              <a:t>https://hinshtein.ru/news/a-hinshtejn-itogi-raboty-za-vii-sozyv/</a:t>
            </a:r>
          </a:p>
          <a:p xmlns:a="http://schemas.openxmlformats.org/drawingml/2006/main">
            <a:r>
              <a:t>https://www.kommersant.ru/doc/4660427</a:t>
            </a:r>
          </a:p>
          <a:p xmlns:a="http://schemas.openxmlformats.org/drawingml/2006/main">
            <a:r>
              <a:t>https://www.kommersant.ru/doc/4104004</a:t>
            </a:r>
          </a:p>
          <a:p xmlns:a="http://schemas.openxmlformats.org/drawingml/2006/main">
            <a:r>
              <a:t>https://www.nvgazeta.ru/news/12383/634260/</a:t>
            </a:r>
          </a:p>
          <a:p xmlns:a="http://schemas.openxmlformats.org/drawingml/2006/main">
            <a:r>
              <a:t>https://kpravda.ru/2025/02/11/kursk-poluchit-dengi-iz-gosbyudzheta-na-restavracziyu-istoricheskoj-kreposti/</a:t>
            </a:r>
          </a:p>
          <a:p xmlns:a="http://schemas.openxmlformats.org/drawingml/2006/main">
            <a:r>
              <a:t>https://tass.ru/obschestvo/24001633</a:t>
            </a:r>
          </a:p>
          <a:p xmlns:a="http://schemas.openxmlformats.org/drawingml/2006/main">
            <a:r>
              <a:t>https://www.kommersant.ru/doc/7737032</a:t>
            </a:r>
          </a:p>
          <a:p xmlns:a="http://schemas.openxmlformats.org/drawingml/2006/main">
            <a:r>
              <a:t>https://kpravda.ru/2025/03/21/edinaya-rossiya-pomozhet-v-restavraczii-kurskih-pamyatnikov/</a:t>
            </a:r>
          </a:p>
          <a:p xmlns:a="http://schemas.openxmlformats.org/drawingml/2006/main">
            <a:r>
              <a:t>https://news-kursk.ru/society/2025/07/13/65824.html</a:t>
            </a:r>
          </a:p>
          <a:p xmlns:a="http://schemas.openxmlformats.org/drawingml/2006/main">
            <a:r>
              <a:t>https://news.ru/russia/v-kurske-budet-alleya-geroev-hinshtejn-o-muzee-i-memoriale-zhertvam-vsu</a:t>
            </a:r>
          </a:p>
          <a:p xmlns:a="http://schemas.openxmlformats.org/drawingml/2006/main">
            <a:r>
              <a:t>https://ru.wikipedia.org/wiki/Пушков,_Алексей_Константинович</a:t>
            </a:r>
          </a:p>
          <a:p xmlns:a="http://schemas.openxmlformats.org/drawingml/2006/main">
            <a:r>
              <a:t>http://council.gov.ru/structure/persons/1316/</a:t>
            </a:r>
          </a:p>
          <a:p xmlns:a="http://schemas.openxmlformats.org/drawingml/2006/main">
            <a:r>
              <a:t>http://council.gov.ru/media/files/xjE2QHRAivCH7onABehAcG7OsnrO6DYb.pdf</a:t>
            </a:r>
          </a:p>
          <a:p xmlns:a="http://schemas.openxmlformats.org/drawingml/2006/main">
            <a:r>
              <a:t>https://base.garant.ru/406310971/</a:t>
            </a:r>
          </a:p>
          <a:p xmlns:a="http://schemas.openxmlformats.org/drawingml/2006/main">
            <a:r>
              <a:t>https://russiancouncil.ru/aleksey-pushkov/</a:t>
            </a:r>
          </a:p>
          <a:p xmlns:a="http://schemas.openxmlformats.org/drawingml/2006/main">
            <a:r>
              <a:t>http://legislation.council.gov.ru/events/announce/</a:t>
            </a:r>
          </a:p>
          <a:p xmlns:a="http://schemas.openxmlformats.org/drawingml/2006/main">
            <a:r>
              <a:t>http://council.gov.ru/events/news/173810/</a:t>
            </a:r>
          </a:p>
          <a:p xmlns:a="http://schemas.openxmlformats.org/drawingml/2006/main">
            <a:r>
              <a:t>http://www.council.gov.ru/events/news/175997/</a:t>
            </a:r>
          </a:p>
          <a:p xmlns:a="http://schemas.openxmlformats.org/drawingml/2006/main">
            <a:r>
              <a:t>http://council.gov.ru/media/report/pdf/HtoXfAAzeBJ8JwN0eAduo3rejTAYhqvB.pdf</a:t>
            </a:r>
          </a:p>
          <a:p xmlns:a="http://schemas.openxmlformats.org/drawingml/2006/main">
            <a:r>
              <a:t>http://council.gov.ru/events/news/164749/</a:t>
            </a:r>
          </a:p>
          <a:p xmlns:a="http://schemas.openxmlformats.org/drawingml/2006/main">
            <a:r>
              <a:t>https://t.me/s/alexey_pushkov?before=14914</a:t>
            </a:r>
          </a:p>
          <a:p xmlns:a="http://schemas.openxmlformats.org/drawingml/2006/main">
            <a:r>
              <a:t>http://legislation.council.gov.ru/events/multimedia/video/302078/</a:t>
            </a:r>
          </a:p>
          <a:p xmlns:a="http://schemas.openxmlformats.org/drawingml/2006/main">
            <a:r>
              <a:t>http://council.gov.ru/media/report/pdf/e8Awe3U6hNouHwSvME53OSPGGWxTeVAl.pdf</a:t>
            </a:r>
          </a:p>
          <a:p xmlns:a="http://schemas.openxmlformats.org/drawingml/2006/main">
            <a:r>
              <a:t>https://www.vedomosti.ru/person/1178385-kosachev-konstantin</a:t>
            </a:r>
          </a:p>
          <a:p xmlns:a="http://schemas.openxmlformats.org/drawingml/2006/main">
            <a:r>
              <a:t>https://www.interfax.ru/interview/812963</a:t>
            </a:r>
          </a:p>
          <a:p xmlns:a="http://schemas.openxmlformats.org/drawingml/2006/main">
            <a:r>
              <a:t>https://senatinform.ru/news/yuzhnuyu_osetiyu_neobkhodimo_vyvodit_iz_iskusstvennoy_izolyatsii_schitayut_rossiyskie_senatory_/</a:t>
            </a:r>
          </a:p>
          <a:p xmlns:a="http://schemas.openxmlformats.org/drawingml/2006/main">
            <a:r>
              <a:t>https://senatinform.ru/news/kosachyev_rossiya_gotova_rabotat_s_mps_s_uchyetom_ozabochennostey_nashey_strany/</a:t>
            </a:r>
          </a:p>
          <a:p xmlns:a="http://schemas.openxmlformats.org/drawingml/2006/main">
            <a:r>
              <a:t>https://www.bfm.ru/person/61</a:t>
            </a:r>
          </a:p>
          <a:p xmlns:a="http://schemas.openxmlformats.org/drawingml/2006/main">
            <a:r>
              <a:t>https://svpressa.ru/persons/konstantin-kosachev/</a:t>
            </a:r>
          </a:p>
          <a:p xmlns:a="http://schemas.openxmlformats.org/drawingml/2006/main">
            <a:r>
              <a:t>https://www.pnp.ru/person/konstantin-kosachev/</a:t>
            </a:r>
          </a:p>
          <a:p xmlns:a="http://schemas.openxmlformats.org/drawingml/2006/main">
            <a:r>
              <a:t>https://www.pnp.ru/politics/konstantin-kosachev-dlya-ssha-voyna-s-rossiey-eto-samoubiystvo.html</a:t>
            </a:r>
          </a:p>
          <a:p xmlns:a="http://schemas.openxmlformats.org/drawingml/2006/main">
            <a:r>
              <a:t>https://www.mlg.ru/ratings/vlast/senators/10844/</a:t>
            </a:r>
          </a:p>
          <a:p xmlns:a="http://schemas.openxmlformats.org/drawingml/2006/main">
            <a:r>
              <a:t>http://council.gov.ru/events/news/173506/</a:t>
            </a:r>
          </a:p>
          <a:p xmlns:a="http://schemas.openxmlformats.org/drawingml/2006/main">
            <a:r>
              <a:t>https://t.me/s/Kosachev62</a:t>
            </a:r>
          </a:p>
          <a:p xmlns:a="http://schemas.openxmlformats.org/drawingml/2006/main">
            <a:r>
              <a:t>http://council.gov.ru/events/news/177602/</a:t>
            </a:r>
          </a:p>
          <a:p xmlns:a="http://schemas.openxmlformats.org/drawingml/2006/main">
            <a:r>
              <a:t>https://vmeste-rf.tv/programs/205/konstantin-kosachev-sotrudnichestvo-rossii-i-efiopii-itogi-vizita-delegatsii-sf/</a:t>
            </a:r>
          </a:p>
          <a:p xmlns:a="http://schemas.openxmlformats.org/drawingml/2006/main">
            <a:r>
              <a:t>https://www.rbc.ru/person/64b8e1909a79474f30e86f98</a:t>
            </a:r>
          </a:p>
          <a:p xmlns:a="http://schemas.openxmlformats.org/drawingml/2006/main">
            <a:r>
              <a:t>https://www.kommersant.ru/doc/6041063</a:t>
            </a:r>
          </a:p>
          <a:p xmlns:a="http://schemas.openxmlformats.org/drawingml/2006/main">
            <a:r>
              <a:t>https://www.mos.ru/mayor/themes/6907050/</a:t>
            </a:r>
          </a:p>
          <a:p xmlns:a="http://schemas.openxmlformats.org/drawingml/2006/main">
            <a:r>
              <a:t>https://www.mos.ru/mayor/themes/7037050/</a:t>
            </a:r>
          </a:p>
          <a:p xmlns:a="http://schemas.openxmlformats.org/drawingml/2006/main">
            <a:r>
              <a:t>https://www.mos.ru/mayor/themes/8822050/</a:t>
            </a:r>
          </a:p>
          <a:p xmlns:a="http://schemas.openxmlformats.org/drawingml/2006/main">
            <a:r>
              <a:t>http://special.kremlin.ru/catalog/persons/38/events/70467</a:t>
            </a:r>
          </a:p>
          <a:p xmlns:a="http://schemas.openxmlformats.org/drawingml/2006/main">
            <a:r>
              <a:t>https://www.mos.ru/upload/content/files/15af077500dcc5a1547bf728abf25669/15Zakong_Moskviot17_05_2017N14Odopolnitelnihgaranti.pdf</a:t>
            </a:r>
          </a:p>
          <a:p xmlns:a="http://schemas.openxmlformats.org/drawingml/2006/main">
            <a:r>
              <a:t>https://www.rbc.ru/politics/03/05/2023/645245159a794763ce66d990</a:t>
            </a:r>
          </a:p>
          <a:p xmlns:a="http://schemas.openxmlformats.org/drawingml/2006/main">
            <a:r>
              <a:t>https://www.dw.com/ru/ataka-dronov-v-moskve-i-podmoskove-cto-izvestno/a-65771767</a:t>
            </a:r>
          </a:p>
          <a:p xmlns:a="http://schemas.openxmlformats.org/drawingml/2006/main">
            <a:r>
              <a:t>https://www.rbc.ru/politics/01/08/2023/64c856ce9a79471a722e13ad</a:t>
            </a:r>
          </a:p>
          <a:p xmlns:a="http://schemas.openxmlformats.org/drawingml/2006/main">
            <a:r>
              <a:t>https://www.rbc.ru/politics/23/08/2023/64e54f299a794789ddb55c65</a:t>
            </a:r>
          </a:p>
          <a:p xmlns:a="http://schemas.openxmlformats.org/drawingml/2006/main">
            <a:r>
              <a:t>https://ru.wikipedia.org/wiki/Беглов,_Александр_Дмитриевич</a:t>
            </a:r>
          </a:p>
          <a:p xmlns:a="http://schemas.openxmlformats.org/drawingml/2006/main">
            <a:r>
              <a:t>https://www.gov.spb.ru/governor/</a:t>
            </a:r>
          </a:p>
          <a:p xmlns:a="http://schemas.openxmlformats.org/drawingml/2006/main">
            <a:r>
              <a:t>https://www.rbc.ru/politics/30/05/2019/5cf02cf09a79475ed4d2fa3f</a:t>
            </a:r>
          </a:p>
          <a:p xmlns:a="http://schemas.openxmlformats.org/drawingml/2006/main">
            <a:r>
              <a:t>https://www.themoscowtimes.com/2019/09/11/st-petersburg-re-elects-governor-beglov-after-controversial-campaign-a67240</a:t>
            </a:r>
          </a:p>
          <a:p xmlns:a="http://schemas.openxmlformats.org/drawingml/2006/main">
            <a:r>
              <a:t>https://www.gov.spb.ru/press/governor/188637/</a:t>
            </a:r>
          </a:p>
          <a:p xmlns:a="http://schemas.openxmlformats.org/drawingml/2006/main">
            <a:r>
              <a:t>https://www.gov.spb.ru/press/governor/213661/</a:t>
            </a:r>
          </a:p>
          <a:p xmlns:a="http://schemas.openxmlformats.org/drawingml/2006/main">
            <a:r>
              <a:t>https://www.gov.spb.ru/press/governor/258831/</a:t>
            </a:r>
          </a:p>
          <a:p xmlns:a="http://schemas.openxmlformats.org/drawingml/2006/main">
            <a:r>
              <a:t>https://www.gov.spb.ru/governor/interview/7333/</a:t>
            </a:r>
          </a:p>
          <a:p xmlns:a="http://schemas.openxmlformats.org/drawingml/2006/main">
            <a:r>
              <a:t>https://tass.ru/interviews/21839179</a:t>
            </a:r>
          </a:p>
          <a:p xmlns:a="http://schemas.openxmlformats.org/drawingml/2006/main">
            <a:r>
              <a:t>https://www.gov.spb.ru/press/governor/236663/</a:t>
            </a:r>
          </a:p>
          <a:p xmlns:a="http://schemas.openxmlformats.org/drawingml/2006/main">
            <a:r>
              <a:t>https://tvspb.ru/news/2022/09/21/aleksandr-beglov-ukaz-prezidenta-o-chastichnoj-mobilizaczii-byl-trudnym-no-neobhodimym-shagom</a:t>
            </a:r>
          </a:p>
          <a:p xmlns:a="http://schemas.openxmlformats.org/drawingml/2006/main">
            <a:r>
              <a:t>https://spbvedomosti.ru/news/gorod/gubernator-aleksandr-beglov-obyavil-o-zavershenii-chastichnoy-mobilizatsii/</a:t>
            </a:r>
          </a:p>
          <a:p xmlns:a="http://schemas.openxmlformats.org/drawingml/2006/main">
            <a:r>
              <a:t>https://www.gov.spb.ru/press/governor/253716/</a:t>
            </a:r>
          </a:p>
          <a:p xmlns:a="http://schemas.openxmlformats.org/drawingml/2006/main">
            <a:r>
              <a:t>https://www.gov.spb.ru/press/governor/290070/</a:t>
            </a:r>
          </a:p>
          <a:p xmlns:a="http://schemas.openxmlformats.org/drawingml/2006/main">
            <a:r>
              <a:t>https://spbdnevnik.ru/news/2022-10-06/aleksandr-beglov-rasskazal-o-prizyve-po-mobilizatsii-peterburzhtsa-s-odnoy-pochkoy</a:t>
            </a:r>
          </a:p>
          <a:p xmlns:a="http://schemas.openxmlformats.org/drawingml/2006/main">
            <a:r>
              <a:t>https://www.rbc.ru/person/62c5c0899a79470082fa57eb</a:t>
            </a:r>
          </a:p>
          <a:p xmlns:a="http://schemas.openxmlformats.org/drawingml/2006/main">
            <a:r>
              <a:t>https://www.kavkaz-uzel.eu/articles/85366</a:t>
            </a:r>
          </a:p>
          <a:p xmlns:a="http://schemas.openxmlformats.org/drawingml/2006/main">
            <a:r>
              <a:t>https://news.ru/regions/my-dolzhny-zabrat-vsyu-ukrainu-chto-kadyrov-govoril-ob-svo-rossii-putine</a:t>
            </a:r>
          </a:p>
          <a:p xmlns:a="http://schemas.openxmlformats.org/drawingml/2006/main">
            <a:r>
              <a:t>https://minval.az/k/ramzan-kadyrov</a:t>
            </a:r>
          </a:p>
          <a:p xmlns:a="http://schemas.openxmlformats.org/drawingml/2006/main">
            <a:r>
              <a:t>http://publication.pravo.gov.ru/document/2000202609160002</a:t>
            </a:r>
          </a:p>
          <a:p xmlns:a="http://schemas.openxmlformats.org/drawingml/2006/main">
            <a:r>
              <a:t>https://vestikavkaza.ru/amp/291219</a:t>
            </a:r>
          </a:p>
          <a:p xmlns:a="http://schemas.openxmlformats.org/drawingml/2006/main">
            <a:r>
              <a:t>https://tass.ru/obschestvo/25968415</a:t>
            </a:r>
          </a:p>
          <a:p xmlns:a="http://schemas.openxmlformats.org/drawingml/2006/main">
            <a:r>
              <a:t>https://www.rbc.ru/rbcfreenews/694558f89a794775c8b05d2e</a:t>
            </a:r>
          </a:p>
          <a:p xmlns:a="http://schemas.openxmlformats.org/drawingml/2006/main">
            <a:r>
              <a:t>https://rais.tatarstan.ru/biografiya.htm</a:t>
            </a:r>
          </a:p>
          <a:p xmlns:a="http://schemas.openxmlformats.org/drawingml/2006/main">
            <a:r>
              <a:t>https://rt.rbc.ru/tatarstan/freenews/68c7f77d9a79472be550408e</a:t>
            </a:r>
          </a:p>
          <a:p xmlns:a="http://schemas.openxmlformats.org/drawingml/2006/main">
            <a:r>
              <a:t>https://rt.rbc.ru/tatarstan/freenews/68c90bdc9a794783273a16b6</a:t>
            </a:r>
          </a:p>
          <a:p xmlns:a="http://schemas.openxmlformats.org/drawingml/2006/main">
            <a:r>
              <a:t>https://tass.ru/politika/25045679</a:t>
            </a:r>
          </a:p>
          <a:p xmlns:a="http://schemas.openxmlformats.org/drawingml/2006/main">
            <a:r>
              <a:t>https://tass.ru/info/25058299</a:t>
            </a:r>
          </a:p>
          <a:p xmlns:a="http://schemas.openxmlformats.org/drawingml/2006/main">
            <a:r>
              <a:t>https://tatarstan.ru/index.htm/news/2454245.htm</a:t>
            </a:r>
          </a:p>
          <a:p xmlns:a="http://schemas.openxmlformats.org/drawingml/2006/main">
            <a:r>
              <a:t>https://izbirkom.tatarstan.ru/file/pub/pub_4719790.docx</a:t>
            </a:r>
          </a:p>
          <a:p xmlns:a="http://schemas.openxmlformats.org/drawingml/2006/main">
            <a:r>
              <a:t>http://www.pfo.gov.ru/press/events/112125/</a:t>
            </a:r>
          </a:p>
          <a:p xmlns:a="http://schemas.openxmlformats.org/drawingml/2006/main">
            <a:r>
              <a:t>https://www.tatar-inform.ru/news/rustam-minnixanov-sankcii-ne-koncatsya-poka-my-ne-stanem-samodostatocnymi-5896958</a:t>
            </a:r>
          </a:p>
          <a:p xmlns:a="http://schemas.openxmlformats.org/drawingml/2006/main">
            <a:r>
              <a:t>https://tatarstan.ru/index.htm/news/1916025.htm</a:t>
            </a:r>
          </a:p>
          <a:p xmlns:a="http://schemas.openxmlformats.org/drawingml/2006/main">
            <a:r>
              <a:t>https://kitaphane.tatarstan.ru/digital.htm</a:t>
            </a:r>
          </a:p>
          <a:p xmlns:a="http://schemas.openxmlformats.org/drawingml/2006/main">
            <a:r>
              <a:t>https://kt.tatarstan.ru/index.htm/news/2266706.htm</a:t>
            </a:r>
          </a:p>
          <a:p xmlns:a="http://schemas.openxmlformats.org/drawingml/2006/main">
            <a:r>
              <a:t>https://tatarstan.ru/index.htm/news/2460505.htm</a:t>
            </a:r>
          </a:p>
          <a:p xmlns:a="http://schemas.openxmlformats.org/drawingml/2006/main">
            <a:r>
              <a:t>https://digital.tatarstan.ru/index.htm/news/2460691.htm</a:t>
            </a:r>
          </a:p>
          <a:p xmlns:a="http://schemas.openxmlformats.org/drawingml/2006/main">
            <a:r>
              <a:t>https://amp.rbc.ru/rbcnews/politics/09/07/2020/5f06bbb69a79475c40a9a094</a:t>
            </a:r>
          </a:p>
          <a:p xmlns:a="http://schemas.openxmlformats.org/drawingml/2006/main">
            <a:r>
              <a:t>https://1kas.sudrf.ru/modules.php?name=sud_delo&amp;name_op=doc&amp;number=39453936&amp;delo_id=2450001&amp;case_type=0&amp;new=2450001&amp;text_number=1&amp;srv_num=1</a:t>
            </a:r>
          </a:p>
          <a:p xmlns:a="http://schemas.openxmlformats.org/drawingml/2006/main">
            <a:r>
              <a:t>https://www.interfax.ru/russia/982916</a:t>
            </a:r>
          </a:p>
          <a:p xmlns:a="http://schemas.openxmlformats.org/drawingml/2006/main">
            <a:r>
              <a:t>https://www.svoboda.org/a/sud-ostavil-v-sile-prigovor-habarovskomu-eks-gubernatoru-sergeyu-furgalu/32686024.html</a:t>
            </a:r>
          </a:p>
          <a:p xmlns:a="http://schemas.openxmlformats.org/drawingml/2006/main">
            <a:r>
              <a:t>https://www.dw.com/ru/kommentarij-furgal-peresidit-putina/a-64670560</a:t>
            </a:r>
          </a:p>
          <a:p xmlns:a="http://schemas.openxmlformats.org/drawingml/2006/main">
            <a:r>
              <a:t>https://www.kommersant.ru/doc/3896415</a:t>
            </a:r>
          </a:p>
          <a:p xmlns:a="http://schemas.openxmlformats.org/drawingml/2006/main">
            <a:r>
              <a:t>https://todaykhv.ru/news/policy/19386/</a:t>
            </a:r>
          </a:p>
          <a:p xmlns:a="http://schemas.openxmlformats.org/drawingml/2006/main">
            <a:r>
              <a:t>https://meduza.io/feature/2018/09/19/ya-dumayu-chto-situatsiya-kak-v-primorie-u-nas-ne-povtoritsya</a:t>
            </a:r>
          </a:p>
          <a:p xmlns:a="http://schemas.openxmlformats.org/drawingml/2006/main">
            <a:r>
              <a:t>https://govoritmoskva.ru/news/174327/</a:t>
            </a:r>
          </a:p>
          <a:p xmlns:a="http://schemas.openxmlformats.org/drawingml/2006/main">
            <a:r>
              <a:t>https://todaykhv.ru/news/policy/22426/?sphrase_id=2620206</a:t>
            </a:r>
          </a:p>
          <a:p xmlns:a="http://schemas.openxmlformats.org/drawingml/2006/main">
            <a:r>
              <a:t>https://ru.wikipedia.org/wiki/%D0%A4%D1%83%D1%80%D0%B3%D0%B0%D0%BB,_%D0%A1%D0%B5%D1%80%D0%B3%D0%B5%D0%B9_%D0%98%D0%B2%D0%B0%D0%BD%D0%BE%D0%B2%D0%B8%D1%87</a:t>
            </a:r>
          </a:p>
          <a:p xmlns:a="http://schemas.openxmlformats.org/drawingml/2006/main">
            <a:r>
              <a:t>https://novayagazeta.ru/articles/2018/09/18/77870-ne-dopuschu-zdes-revolyutsii</a:t>
            </a:r>
          </a:p>
          <a:p xmlns:a="http://schemas.openxmlformats.org/drawingml/2006/main">
            <a:r>
              <a:t>https://opkhv.ru/publications/4888</a:t>
            </a:r>
          </a:p>
          <a:p xmlns:a="http://schemas.openxmlformats.org/drawingml/2006/main">
            <a:r>
              <a:t>https://meduza.io/feature/2019/08/26/partiya-vlasti-zdes-ldpr</a:t>
            </a:r>
          </a:p>
          <a:p xmlns:a="http://schemas.openxmlformats.org/drawingml/2006/main">
            <a:r>
              <a:t>https://tass.ru/obschestvo/5946495</a:t>
            </a:r>
          </a:p>
          <a:p xmlns:a="http://schemas.openxmlformats.org/drawingml/2006/main">
            <a:r>
              <a:t>https://amurmedia.ru/news/775590/</a:t>
            </a:r>
          </a:p>
          <a:p xmlns:a="http://schemas.openxmlformats.org/drawingml/2006/main">
            <a:r>
              <a:t>https://www.eastrussia.ru/material/ne-planiruyushchim-pereezzhat-sovetuyu-pomolchat/</a:t>
            </a:r>
          </a:p>
          <a:p xmlns:a="http://schemas.openxmlformats.org/drawingml/2006/main">
            <a:r>
              <a:t>https://www.dw.com/ru/v-habarovske-priznali-ekstremistskim-dvizenie-v-zasitu-furgala/a-68334442</a:t>
            </a:r>
          </a:p>
          <a:p xmlns:a="http://schemas.openxmlformats.org/drawingml/2006/main">
            <a:r>
              <a:t>https://www.rbc.ru/person/66475fec9a79475c4d9443ad</a:t>
            </a:r>
          </a:p>
          <a:p xmlns:a="http://schemas.openxmlformats.org/drawingml/2006/main">
            <a:r>
              <a:t>https://tass.ru/info/12453099</a:t>
            </a:r>
          </a:p>
          <a:p xmlns:a="http://schemas.openxmlformats.org/drawingml/2006/main">
            <a:r>
              <a:t>https://tass.ru/info/9007455</a:t>
            </a:r>
          </a:p>
          <a:p xmlns:a="http://schemas.openxmlformats.org/drawingml/2006/main">
            <a:r>
              <a:t>https://tass.ru/info/20795009</a:t>
            </a:r>
          </a:p>
          <a:p xmlns:a="http://schemas.openxmlformats.org/drawingml/2006/main">
            <a:r>
              <a:t>https://tass.ru/encyclopedia/person/degtyarev-mihail-vladimirovich</a:t>
            </a:r>
          </a:p>
          <a:p xmlns:a="http://schemas.openxmlformats.org/drawingml/2006/main">
            <a:r>
              <a:t>https://www.rbc.ru/politics/20/07/2020/5f1586289a794722b2457d61</a:t>
            </a:r>
          </a:p>
          <a:p xmlns:a="http://schemas.openxmlformats.org/drawingml/2006/main">
            <a:r>
              <a:t>https://www.minsport.gov.ru/press-center/news/intervyu-mihaila-degtyareva-gazete-kommersant/</a:t>
            </a:r>
          </a:p>
          <a:p xmlns:a="http://schemas.openxmlformats.org/drawingml/2006/main">
            <a:r>
              <a:t>https://minsport.gov.ru/press-center/news/mihail-degtyarev-nashe-mesto-za-stolom-a-ne-v-perednej/</a:t>
            </a:r>
          </a:p>
          <a:p xmlns:a="http://schemas.openxmlformats.org/drawingml/2006/main">
            <a:r>
              <a:t>https://news.ru/vlast/degtyarev-prizval-ne-doveryat-evrope-provedenie-sorevnovanij</a:t>
            </a:r>
          </a:p>
          <a:p xmlns:a="http://schemas.openxmlformats.org/drawingml/2006/main">
            <a:r>
              <a:t>https://www.interfax.ru/presscenter/622170</a:t>
            </a:r>
          </a:p>
          <a:p xmlns:a="http://schemas.openxmlformats.org/drawingml/2006/main">
            <a:r>
              <a:t>https://tass.ru/interviews/13152777</a:t>
            </a:r>
          </a:p>
          <a:p xmlns:a="http://schemas.openxmlformats.org/drawingml/2006/main">
            <a:r>
              <a:t>https://www.sports.ru/others/blogs/3302024.html</a:t>
            </a:r>
          </a:p>
          <a:p xmlns:a="http://schemas.openxmlformats.org/drawingml/2006/main">
            <a:r>
              <a:t>https://www.vremyan.ru/news/556863</a:t>
            </a:r>
          </a:p>
          <a:p xmlns:a="http://schemas.openxmlformats.org/drawingml/2006/main">
            <a:r>
              <a:t>https://kprf.ru/personal/levchenko</a:t>
            </a:r>
          </a:p>
          <a:p xmlns:a="http://schemas.openxmlformats.org/drawingml/2006/main">
            <a:r>
              <a:t>https://www.rbc.ru/politics/23/06/2020/5ef0bd949a7947b3cd3dcba6</a:t>
            </a:r>
          </a:p>
          <a:p xmlns:a="http://schemas.openxmlformats.org/drawingml/2006/main">
            <a:r>
              <a:t>https://kprf.ru/party-live/regnews/194838.html</a:t>
            </a:r>
          </a:p>
          <a:p xmlns:a="http://schemas.openxmlformats.org/drawingml/2006/main">
            <a:r>
              <a:t>https://liveangarsk.ru/news/20191214/v-slozhivsheisya</a:t>
            </a:r>
          </a:p>
          <a:p xmlns:a="http://schemas.openxmlformats.org/drawingml/2006/main">
            <a:r>
              <a:t>https://kprf.ru/dep/gosduma/activities/240271.html</a:t>
            </a:r>
          </a:p>
          <a:p xmlns:a="http://schemas.openxmlformats.org/drawingml/2006/main">
            <a:r>
              <a:t>https://kprf.ru/dep/gosduma/activities/241686.html</a:t>
            </a:r>
          </a:p>
          <a:p xmlns:a="http://schemas.openxmlformats.org/drawingml/2006/main">
            <a:r>
              <a:t>https://altairk.ru/new/policy/the_message_of_the_governor</a:t>
            </a:r>
          </a:p>
          <a:p xmlns:a="http://schemas.openxmlformats.org/drawingml/2006/main">
            <a:r>
              <a:t>https://kto-irkutsk.ru/2026/07/20/sergej-levchenko-deyatelnost-i-zayavleniya-i-ix-ocenka/</a:t>
            </a:r>
          </a:p>
          <a:p xmlns:a="http://schemas.openxmlformats.org/drawingml/2006/main">
            <a:r>
              <a:t>https://ru.wikipedia.org/wiki/%D0%9B%D0%B5%D0%B2%D1%87%D0%B5%D0%BD%D0%BA%D0%BE,_%D0%A1%D0%B5%D1%80%D0%B3%D0%B5%D0%B9_%D0%93%D0%B5%D0%BE%D1%80%D0%B3%D0%B8%D0%B5%D0%B2%D0%B8%D1%87</a:t>
            </a:r>
          </a:p>
          <a:p xmlns:a="http://schemas.openxmlformats.org/drawingml/2006/main">
            <a:r>
              <a:t>https://www.newsru.com/dossiers/10330/</a:t>
            </a:r>
          </a:p>
          <a:p xmlns:a="http://schemas.openxmlformats.org/drawingml/2006/main">
            <a:r>
              <a:t>https://www.interfax.ru/russia/714300</a:t>
            </a:r>
          </a:p>
          <a:p xmlns:a="http://schemas.openxmlformats.org/drawingml/2006/main">
            <a:r>
              <a:t>https://www.rbc.ru/politics/14/09/2020/5f5e7dfb9a79477f7753d651</a:t>
            </a:r>
          </a:p>
          <a:p xmlns:a="http://schemas.openxmlformats.org/drawingml/2006/main">
            <a:r>
              <a:t>https://www.rline.tv/podrobnosti/2019-10-06-sergey-levchenko-za-chetyre-goda-sdelano-bolshe-chem-za-predydushchie-15-let/</a:t>
            </a:r>
          </a:p>
          <a:p xmlns:a="http://schemas.openxmlformats.org/drawingml/2006/main">
            <a:r>
              <a:t>https://vs19.ru/verhovny-sovet/deputati/670-konovalov-valentin-olegovich</a:t>
            </a:r>
          </a:p>
          <a:p xmlns:a="http://schemas.openxmlformats.org/drawingml/2006/main">
            <a:r>
              <a:t>https://meduza.io/feature/2018/09/10/etu-vlast-nichego-ne-spaset</a:t>
            </a:r>
          </a:p>
          <a:p xmlns:a="http://schemas.openxmlformats.org/drawingml/2006/main">
            <a:r>
              <a:t>https://kprf.ru/party-live/regnews/188553.html</a:t>
            </a:r>
          </a:p>
          <a:p xmlns:a="http://schemas.openxmlformats.org/drawingml/2006/main">
            <a:r>
              <a:t>https://www.kommersant.ru/doc/4441936</a:t>
            </a:r>
          </a:p>
          <a:p xmlns:a="http://schemas.openxmlformats.org/drawingml/2006/main">
            <a:r>
              <a:t>http://www.youtube.com/watch?v=eO6lUkFCAqM</a:t>
            </a:r>
          </a:p>
          <a:p xmlns:a="http://schemas.openxmlformats.org/drawingml/2006/main">
            <a:r>
              <a:t>https://ru.wikipedia.org/wiki/%D0%92%D1%8B%D0%B1%D0%BE%D1%80%D1%8B_%D0%B3%D0%BB%D0%B0%D0%B2%D1%8B_%D0%A0%D0%B5%D1%81%D0%BF%D1%83%D0%B1%D0%BB%D0%B8%D0%BA%D0%B8_%D0%A5%D0%B0%D0%BA%D0%B0%D1%81%D0%B8%D1%8F_(2018)</a:t>
            </a:r>
          </a:p>
          <a:p xmlns:a="http://schemas.openxmlformats.org/drawingml/2006/main">
            <a:r>
              <a:t>https://ok.ru/group/51615057903766/topic/157744983021718</a:t>
            </a:r>
          </a:p>
          <a:p xmlns:a="http://schemas.openxmlformats.org/drawingml/2006/main">
            <a:r>
              <a:t>https://kprf.ru/party-live/cknews/245343.html</a:t>
            </a:r>
          </a:p>
          <a:p xmlns:a="http://schemas.openxmlformats.org/drawingml/2006/main">
            <a:r>
              <a:t>https://r-19.ru/news/politika/190680/</a:t>
            </a:r>
          </a:p>
          <a:p xmlns:a="http://schemas.openxmlformats.org/drawingml/2006/main">
            <a:r>
              <a:t>https://r-19.ru/news/ekonomika/193031/</a:t>
            </a:r>
          </a:p>
          <a:p xmlns:a="http://schemas.openxmlformats.org/drawingml/2006/main">
            <a:r>
              <a:t>https://19rusinfo.ru/ekonomika/118670-otchjot</a:t>
            </a:r>
          </a:p>
          <a:p xmlns:a="http://schemas.openxmlformats.org/drawingml/2006/main">
            <a:r>
              <a:t>https://iditena.ru/candidates/konovalov-valentin-olegovich/</a:t>
            </a:r>
          </a:p>
          <a:p xmlns:a="http://schemas.openxmlformats.org/drawingml/2006/main">
            <a:r>
              <a:t>https://56.kprf.ru/deyatelnost/tpost/gjjjuy1zi1-glava-hakasii-valentin-konovalov-dal-int</a:t>
            </a:r>
          </a:p>
          <a:p xmlns:a="http://schemas.openxmlformats.org/drawingml/2006/main">
            <a:r>
              <a:t>https://meduza.io/feature/2019/05/31/strana-pobedivshego-kommunista</a:t>
            </a:r>
          </a:p>
          <a:p xmlns:a="http://schemas.openxmlformats.org/drawingml/2006/main">
            <a:r>
              <a:t>https://xn--80aac0c2a.xn--p1acf/2026/08/22/vstrecha-s-uchastiem-valentina-konovalova-i-alekseya-kornienko-proshla-v-habarovske</a:t>
            </a:r>
          </a:p>
          <a:p xmlns:a="http://schemas.openxmlformats.org/drawingml/2006/main">
            <a:r>
              <a:t>https://www.vedomosti.ru/politics/characters/2026/07/06/1211370-valentin-konovalov-rossiya-na-moskve-ne-zakanchivaetsya?from=newsline</a:t>
            </a:r>
          </a:p>
          <a:p xmlns:a="http://schemas.openxmlformats.org/drawingml/2006/main">
            <a:r>
              <a:t>https://www.vedomosti.ru/person/1215197-aksenov-sergei</a:t>
            </a:r>
          </a:p>
          <a:p xmlns:a="http://schemas.openxmlformats.org/drawingml/2006/main">
            <a:r>
              <a:t>https://www.rbc.ru/person/65f020599a79475815e702c9</a:t>
            </a:r>
          </a:p>
          <a:p xmlns:a="http://schemas.openxmlformats.org/drawingml/2006/main">
            <a:r>
              <a:t>http://crimea.gov.ru/news/30_03_18_10</a:t>
            </a:r>
          </a:p>
          <a:p xmlns:a="http://schemas.openxmlformats.org/drawingml/2006/main">
            <a:r>
              <a:t>https://www.npr.org/sections/parallels/2018/01/27/581114772/putins-man-in-crimea-we-ve-returned-to-russia-forever</a:t>
            </a:r>
          </a:p>
          <a:p xmlns:a="http://schemas.openxmlformats.org/drawingml/2006/main">
            <a:r>
              <a:t>http://crimea.gov.ru/en/news/26_02_19_6</a:t>
            </a:r>
          </a:p>
          <a:p xmlns:a="http://schemas.openxmlformats.org/drawingml/2006/main">
            <a:r>
              <a:t>https://antifashist.com/item/kto-polomal-infopole-kryma-i-ne-otvechaet-na-voprosy.html</a:t>
            </a:r>
          </a:p>
          <a:p xmlns:a="http://schemas.openxmlformats.org/drawingml/2006/main">
            <a:r>
              <a:t>https://ru.krymr.com/a/news/27913548.html</a:t>
            </a:r>
          </a:p>
          <a:p xmlns:a="http://schemas.openxmlformats.org/drawingml/2006/main">
            <a:r>
              <a:t>https://simfch.ru/2022/03/02/glava-respubliki-krym-sergej-aksyonov-prizval-krymchan-k-informaczionnoj-mobilizaczii-otkrytomu-i-publichnomu-vyrazheniyu-svoej-patrioticheskoj-poziczii/</a:t>
            </a:r>
          </a:p>
          <a:p xmlns:a="http://schemas.openxmlformats.org/drawingml/2006/main">
            <a:r>
              <a:t>https://www.rbc.ru/politics/29/05/2023/64749e389a7947f3de98dff2</a:t>
            </a:r>
          </a:p>
          <a:p xmlns:a="http://schemas.openxmlformats.org/drawingml/2006/main">
            <a:r>
              <a:t>https://ru.krymr.com/a/krym-sergey-aksenov-pvo-prilety-bavovna-bezopasnost-pvo-udar/32631709.html</a:t>
            </a:r>
          </a:p>
          <a:p xmlns:a="http://schemas.openxmlformats.org/drawingml/2006/main">
            <a:r>
              <a:t>https://rostov.rbc.ru/rostov/interview/18/03/2024/65f75c4f9a7947c8b475ab94</a:t>
            </a:r>
          </a:p>
          <a:p xmlns:a="http://schemas.openxmlformats.org/drawingml/2006/main">
            <a:r>
              <a:t>https://www.kommersant.ru/doc/7715230</a:t>
            </a:r>
          </a:p>
          <a:p xmlns:a="http://schemas.openxmlformats.org/drawingml/2006/main">
            <a:r>
              <a:t>https://www.kommersant.ru/doc/5154319</a:t>
            </a:r>
          </a:p>
          <a:p xmlns:a="http://schemas.openxmlformats.org/drawingml/2006/main">
            <a:r>
              <a:t>https://www.rbc.ru/person/660290b19a7947801fe9439b</a:t>
            </a:r>
          </a:p>
          <a:p xmlns:a="http://schemas.openxmlformats.org/drawingml/2006/main">
            <a:r>
              <a:t>https://www.kommersant.ru/doc/3759211</a:t>
            </a:r>
          </a:p>
          <a:p xmlns:a="http://schemas.openxmlformats.org/drawingml/2006/main">
            <a:r>
              <a:t>https://tass.ru/info/6656656</a:t>
            </a:r>
          </a:p>
          <a:p xmlns:a="http://schemas.openxmlformats.org/drawingml/2006/main">
            <a:r>
              <a:t>https://sevastopol.er.ru/pages/otchet-gubernatora-sevastopolya-mihaila-razvozhaeva</a:t>
            </a:r>
          </a:p>
          <a:p xmlns:a="http://schemas.openxmlformats.org/drawingml/2006/main">
            <a:r>
              <a:t>http://special.kremlin.ru/catalog/persons/579/events/76271</a:t>
            </a:r>
          </a:p>
          <a:p xmlns:a="http://schemas.openxmlformats.org/drawingml/2006/main">
            <a:r>
              <a:t>https://sevastopol.su/news/chastnyy-biznes-vlozhil-v-sevastopol-250-mlrd-rubley-za-tri-goda</a:t>
            </a:r>
          </a:p>
          <a:p xmlns:a="http://schemas.openxmlformats.org/drawingml/2006/main">
            <a:r>
              <a:t>https://sevastopol.su/news/v-sevastopole-ocenili-perspektivy-mikhaila-razvozhaeva-na-sleduyuschikh-vyborakh</a:t>
            </a:r>
          </a:p>
          <a:p xmlns:a="http://schemas.openxmlformats.org/drawingml/2006/main">
            <a:r>
              <a:t>https://tass.ru/interviews/10248577</a:t>
            </a:r>
          </a:p>
          <a:p xmlns:a="http://schemas.openxmlformats.org/drawingml/2006/main">
            <a:r>
              <a:t>https://news.ru/russia/u-nas-smelye-plany-gubernator-sevastopolya-razvozzhaev-o-budushem-goroda</a:t>
            </a:r>
          </a:p>
          <a:p xmlns:a="http://schemas.openxmlformats.org/drawingml/2006/main">
            <a:r>
              <a:t>http://kremlin.ru/events/administration/80838</a:t>
            </a:r>
          </a:p>
          <a:p xmlns:a="http://schemas.openxmlformats.org/drawingml/2006/main">
            <a:r>
              <a:t>https://tass.ru/kultura/28214691</a:t>
            </a:r>
          </a:p>
          <a:p xmlns:a="http://schemas.openxmlformats.org/drawingml/2006/main">
            <a:r>
              <a:t>http://kremlin.ru/events/administration/80591</a:t>
            </a:r>
          </a:p>
          <a:p xmlns:a="http://schemas.openxmlformats.org/drawingml/2006/main">
            <a:r>
              <a:t>https://governors.ru/glava-regiona/Belgorodskaya-oblast/Gladkov-Vyacheslav-Vladimirovich</a:t>
            </a:r>
          </a:p>
          <a:p xmlns:a="http://schemas.openxmlformats.org/drawingml/2006/main">
            <a:r>
              <a:t>https://ru.wikipedia.org/wiki/%D0%93%D0%BB%D0%B0%D0%B4%D0%BA%D0%BE%D0%B2,_%D0%92%D1%8F%D1%87%D0%B5%D1%81%D0%BB%D0%B0%D0%B2_%D0%92%D0%BB%D0%B0%D0%B4%D0%B8%D0%BC%D0%B8%D1%80%D0%BE%D0%B2%D0%B8%D1%87</a:t>
            </a:r>
          </a:p>
          <a:p xmlns:a="http://schemas.openxmlformats.org/drawingml/2006/main">
            <a:r>
              <a:t>http://council.gov.ru/structure/persons/1543/</a:t>
            </a:r>
          </a:p>
          <a:p xmlns:a="http://schemas.openxmlformats.org/drawingml/2006/main">
            <a:r>
              <a:t>https://ufa.rbc.ru/person/648345539a794760fd0c17e8</a:t>
            </a:r>
          </a:p>
          <a:p xmlns:a="http://schemas.openxmlformats.org/drawingml/2006/main">
            <a:r>
              <a:t>https://www.kommersant.ru/doc/8571119</a:t>
            </a:r>
          </a:p>
          <a:p xmlns:a="http://schemas.openxmlformats.org/drawingml/2006/main">
            <a:r>
              <a:t>https://www.kommersant.ru/doc/8655079</a:t>
            </a:r>
          </a:p>
          <a:p xmlns:a="http://schemas.openxmlformats.org/drawingml/2006/main">
            <a:r>
              <a:t>https://tass.ru/info/27861241</a:t>
            </a:r>
          </a:p>
          <a:p xmlns:a="http://schemas.openxmlformats.org/drawingml/2006/main">
            <a:r>
              <a:t>https://meduza.io/feature/2023/06/08/emu-by-vse-eto-razgresti</a:t>
            </a:r>
          </a:p>
          <a:p xmlns:a="http://schemas.openxmlformats.org/drawingml/2006/main">
            <a:r>
              <a:t>http://www.kremlin.ru/events/president/transcripts/66288</a:t>
            </a:r>
          </a:p>
          <a:p xmlns:a="http://schemas.openxmlformats.org/drawingml/2006/main">
            <a:r>
              <a:t>https://www.belpressa.ru/politics/vlast/62665.html</a:t>
            </a:r>
          </a:p>
          <a:p xmlns:a="http://schemas.openxmlformats.org/drawingml/2006/main">
            <a:r>
              <a:t>https://www.belpressa.ru/politics/vlast/71368.html</a:t>
            </a:r>
          </a:p>
          <a:p xmlns:a="http://schemas.openxmlformats.org/drawingml/2006/main">
            <a:r>
              <a:t>https://www.belnovosti.ru/politika/gubernator/127077.html</a:t>
            </a:r>
          </a:p>
          <a:p xmlns:a="http://schemas.openxmlformats.org/drawingml/2006/main">
            <a:r>
              <a:t>https://chr.plus.rbc.ru/news/694b9fb67a8aa90f9c2ce17d</a:t>
            </a:r>
          </a:p>
          <a:p xmlns:a="http://schemas.openxmlformats.org/drawingml/2006/main">
            <a:r>
              <a:t>https://www.belpressa.ru/society/bezopasnost/43348.html</a:t>
            </a:r>
          </a:p>
          <a:p xmlns:a="http://schemas.openxmlformats.org/drawingml/2006/main">
            <a:r>
              <a:t>https://www.rbc.ru/politics/07/03/2023/640758bf9a7947f6af99d464</a:t>
            </a:r>
          </a:p>
          <a:p xmlns:a="http://schemas.openxmlformats.org/drawingml/2006/main">
            <a:r>
              <a:t>https://www.rbc.ru/politics/24/05/2023/646d22029a794797c4bac4bf</a:t>
            </a:r>
          </a:p>
          <a:p xmlns:a="http://schemas.openxmlformats.org/drawingml/2006/main">
            <a:r>
              <a:t>https://www.bbc.com/russian/articles/c70dkd0pvrlo</a:t>
            </a:r>
          </a:p>
          <a:p xmlns:a="http://schemas.openxmlformats.org/drawingml/2006/main">
            <a:r>
              <a:t>https://www.go31.ru/news/proisshestviya/kak-nikto-drugoy-ponimaem-chto-takoe-agressiya-so-storony-ukrainy-gladkov-o-proryve-granitsy-v-kursk/</a:t>
            </a:r>
          </a:p>
          <a:p xmlns:a="http://schemas.openxmlformats.org/drawingml/2006/main">
            <a:r>
              <a:t>https://echofm.online/portret-dnya/portret-dnya-vyacheslav-gladkov-gubernator-belgorodskoj-oblasti-prognozy-o-sudbe-kotorogo-raznyatsya-ot-posta-posla-v-abhazii-do-ugolovnogo-dela</a:t>
            </a:r>
          </a:p>
          <a:p xmlns:a="http://schemas.openxmlformats.org/drawingml/2006/main">
            <a:r>
              <a:t>https://www.kommersant.ru/doc/3917861</a:t>
            </a:r>
          </a:p>
          <a:p xmlns:a="http://schemas.openxmlformats.org/drawingml/2006/main">
            <a:r>
              <a:t>https://minstroyrf.gov.ru/press/okolo-40-kontsessionnykh-soglasheniy-v-rossii-deystvuet-v-sfere-zhkkh/</a:t>
            </a:r>
          </a:p>
          <a:p xmlns:a="http://schemas.openxmlformats.org/drawingml/2006/main">
            <a:r>
              <a:t>https://newsroom24.ru/murmansk/news/politics/2026/news_323931/</a:t>
            </a:r>
          </a:p>
          <a:p xmlns:a="http://schemas.openxmlformats.org/drawingml/2006/main">
            <a:r>
              <a:t>https://murmansk.ru/52053</a:t>
            </a:r>
          </a:p>
          <a:p xmlns:a="http://schemas.openxmlformats.org/drawingml/2006/main">
            <a:r>
              <a:t>https://51.ru/text/gorod/2026/01/22/76228112/</a:t>
            </a:r>
          </a:p>
          <a:p xmlns:a="http://schemas.openxmlformats.org/drawingml/2006/main">
            <a:r>
              <a:t>https://www.murman.ru/news/2026/05/02/2334/</a:t>
            </a:r>
          </a:p>
          <a:p xmlns:a="http://schemas.openxmlformats.org/drawingml/2006/main">
            <a:r>
              <a:t>https://murman.ru/news/2026/09/06/2141/</a:t>
            </a:r>
          </a:p>
          <a:p xmlns:a="http://schemas.openxmlformats.org/drawingml/2006/main">
            <a:r>
              <a:t>https://www.murman.ru/news/2026/09/13/2242/</a:t>
            </a:r>
          </a:p>
          <a:p xmlns:a="http://schemas.openxmlformats.org/drawingml/2006/main">
            <a:r>
              <a:t>https://ru.wikipedia.org/wiki/%D0%A7%D0%B8%D0%B1%D0%B8%D1%81,_%D0%90%D0%BD%D0%B4%D1%80%D0%B5%D0%B9_%D0%92%D0%BB%D0%B0%D0%B4%D0%B8%D0%BC%D0%B8%D1%80%D0%BE%D0%B2%D0%B8%D1%87</a:t>
            </a:r>
          </a:p>
          <a:p xmlns:a="http://schemas.openxmlformats.org/drawingml/2006/main">
            <a:r>
              <a:t>https://tass.ru/obschestvo/23491353</a:t>
            </a:r>
          </a:p>
          <a:p xmlns:a="http://schemas.openxmlformats.org/drawingml/2006/main">
            <a:r>
              <a:t>https://www.murman.ru/news/2026/09/03/2243/</a:t>
            </a:r>
          </a:p>
          <a:p xmlns:a="http://schemas.openxmlformats.org/drawingml/2006/main">
            <a:r>
              <a:t>https://msp.citymurmansk.ru/news/2026/09/03/0930/</a:t>
            </a:r>
          </a:p>
          <a:p xmlns:a="http://schemas.openxmlformats.org/drawingml/2006/main">
            <a:r>
              <a:t>http://kremlin.ru/events/president/letters/80916</a:t>
            </a:r>
          </a:p>
          <a:p xmlns:a="http://schemas.openxmlformats.org/drawingml/2006/main">
            <a:r>
              <a:t>https://www.murmansk.kp.ru/daily/277813.4/5300258/</a:t>
            </a:r>
          </a:p>
          <a:p xmlns:a="http://schemas.openxmlformats.org/drawingml/2006/main">
            <a:r>
              <a:t>https://www.fontanka.ru/2021/07/27/70046798/</a:t>
            </a:r>
          </a:p>
          <a:p xmlns:a="http://schemas.openxmlformats.org/drawingml/2006/main">
            <a:r>
              <a:t>https://www.kommersant.ru/doc/4639758</a:t>
            </a:r>
          </a:p>
          <a:p xmlns:a="http://schemas.openxmlformats.org/drawingml/2006/main">
            <a:r>
              <a:t>https://www.bbc.com/russian/news-55614829</a:t>
            </a:r>
          </a:p>
          <a:p xmlns:a="http://schemas.openxmlformats.org/drawingml/2006/main">
            <a:r>
              <a:t>https://newpeople.ru/Deputy/sardana-avksenteva</a:t>
            </a:r>
          </a:p>
          <a:p xmlns:a="http://schemas.openxmlformats.org/drawingml/2006/main">
            <a:r>
              <a:t>https://www.pnp.ru/economics/kontrol-za-koncessionnymi-soglasheniyami-predlozhili-usilit.html</a:t>
            </a:r>
          </a:p>
          <a:p xmlns:a="http://schemas.openxmlformats.org/drawingml/2006/main">
            <a:r>
              <a:t>https://www.ng.ru/politics/2024-12-05/1_9150_right.html</a:t>
            </a:r>
          </a:p>
          <a:p xmlns:a="http://schemas.openxmlformats.org/drawingml/2006/main">
            <a:r>
              <a:t>https://news.ru/society/v-novyh-lyudyah-rasskazali-o-glavnyh-zadachah-partii-pered-vyborami</a:t>
            </a:r>
          </a:p>
          <a:p xmlns:a="http://schemas.openxmlformats.org/drawingml/2006/main">
            <a:r>
              <a:t>https://www.kommersant.ru/doc/8939397</a:t>
            </a:r>
          </a:p>
          <a:p xmlns:a="http://schemas.openxmlformats.org/drawingml/2006/main">
            <a:r>
              <a:t>https://tass.ru/info/5220823</a:t>
            </a:r>
          </a:p>
          <a:p xmlns:a="http://schemas.openxmlformats.org/drawingml/2006/main">
            <a:r>
              <a:t>https://tass.ru/info/15547711</a:t>
            </a:r>
          </a:p>
          <a:p xmlns:a="http://schemas.openxmlformats.org/drawingml/2006/main">
            <a:r>
              <a:t>https://www.bbc.com/russian/features-62661643</a:t>
            </a:r>
          </a:p>
          <a:p xmlns:a="http://schemas.openxmlformats.org/drawingml/2006/main">
            <a:r>
              <a:t>https://www.kommersant.ru/doc/3298219</a:t>
            </a:r>
          </a:p>
          <a:p xmlns:a="http://schemas.openxmlformats.org/drawingml/2006/main">
            <a:r>
              <a:t>https://www.svoboda.org/a/31217129.html</a:t>
            </a:r>
          </a:p>
          <a:p xmlns:a="http://schemas.openxmlformats.org/drawingml/2006/main">
            <a:r>
              <a:t>https://www.interfax.ru/russia/902059</a:t>
            </a:r>
          </a:p>
          <a:p xmlns:a="http://schemas.openxmlformats.org/drawingml/2006/main">
            <a:r>
              <a:t>https://www.bfm.ru/news/525620</a:t>
            </a:r>
          </a:p>
          <a:p xmlns:a="http://schemas.openxmlformats.org/drawingml/2006/main">
            <a:r>
              <a:t>https://novayagazeta.ru/articles/2023/03/16/do-urovnia-myshei-media</a:t>
            </a:r>
          </a:p>
          <a:p xmlns:a="http://schemas.openxmlformats.org/drawingml/2006/main">
            <a:r>
              <a:t>https://tjournal.ru/71076</a:t>
            </a:r>
          </a:p>
          <a:p xmlns:a="http://schemas.openxmlformats.org/drawingml/2006/main">
            <a:r>
              <a:t>https://www.nakanune.ru/articles/111648/</a:t>
            </a:r>
          </a:p>
          <a:p xmlns:a="http://schemas.openxmlformats.org/drawingml/2006/main">
            <a:r>
              <a:t>https://adcmemorial.org/statyi/kolonki/neprotivlenie-rasizmu/</a:t>
            </a:r>
          </a:p>
          <a:p xmlns:a="http://schemas.openxmlformats.org/drawingml/2006/main">
            <a:r>
              <a:t>https://www.svoboda.org/a/royzman-i-drugie-zhiteli-ekaterinburga/31997151.html</a:t>
            </a:r>
          </a:p>
          <a:p xmlns:a="http://schemas.openxmlformats.org/drawingml/2006/main">
            <a:r>
              <a:t>https://www.e1.ru/text/politics/2022/02/24/70466417/</a:t>
            </a:r>
          </a:p>
          <a:p xmlns:a="http://schemas.openxmlformats.org/drawingml/2006/main">
            <a:r>
              <a:t>https://www.dw.com/ru/kommentarij-evgenij-rojzman-i-sila-pravdy/a-62917754</a:t>
            </a:r>
          </a:p>
          <a:p xmlns:a="http://schemas.openxmlformats.org/drawingml/2006/main">
            <a:r>
              <a:t>https://meduza.io/paragraph/2022/08/26/priehali-moskvichi-i-dumali-chto-zdes-duraki-sobralis</a:t>
            </a:r>
          </a:p>
          <a:p xmlns:a="http://schemas.openxmlformats.org/drawingml/2006/main">
            <a:r>
              <a:t>https://znamlit.ru/publication.php?id=7379</a:t>
            </a:r>
          </a:p>
          <a:p xmlns:a="http://schemas.openxmlformats.org/drawingml/2006/main">
            <a:r>
              <a:t>https://tass.ru/interviews/6080499</a:t>
            </a:r>
          </a:p>
          <a:p xmlns:a="http://schemas.openxmlformats.org/drawingml/2006/main">
            <a:r>
              <a:t>https://45.ru/text/politics/2024/09/09/73952072/</a:t>
            </a:r>
          </a:p>
          <a:p xmlns:a="http://schemas.openxmlformats.org/drawingml/2006/main">
            <a:r>
              <a:t>http://special.kremlin.ru/events/president/news/70638</a:t>
            </a:r>
          </a:p>
          <a:p xmlns:a="http://schemas.openxmlformats.org/drawingml/2006/main">
            <a:r>
              <a:t>https://ura.news/news/1053132902</a:t>
            </a:r>
          </a:p>
          <a:p xmlns:a="http://schemas.openxmlformats.org/drawingml/2006/main">
            <a:r>
              <a:t>https://ura.news/articles/1036276564</a:t>
            </a:r>
          </a:p>
          <a:p xmlns:a="http://schemas.openxmlformats.org/drawingml/2006/main">
            <a:r>
              <a:t>https://tass.ru/novosti-regionov/28187431</a:t>
            </a:r>
          </a:p>
          <a:p xmlns:a="http://schemas.openxmlformats.org/drawingml/2006/main">
            <a:r>
              <a:t>https://fedpress.ru/person/1753607</a:t>
            </a:r>
          </a:p>
          <a:p xmlns:a="http://schemas.openxmlformats.org/drawingml/2006/main">
            <a:r>
              <a:t>https://eburg.mk.ru/social/2026/10/14/zhiteley-zauralya-predupredili-o-lozhnykh-videorolikakh-s-gubernatorom.html</a:t>
            </a:r>
          </a:p>
          <a:p xmlns:a="http://schemas.openxmlformats.org/drawingml/2006/main">
            <a:r>
              <a:t>https://regnum.ru/news/3530808</a:t>
            </a:r>
          </a:p>
          <a:p xmlns:a="http://schemas.openxmlformats.org/drawingml/2006/main">
            <a:r>
              <a:t>https://kurganvera.ru/news/vrns/mitropolit-daniil-i-vadim-shumkov-vozglavili-delegatsiyu-kurganskoy-oblasti-na-vsemirnom-russkom-sob/</a:t>
            </a:r>
          </a:p>
          <a:p xmlns:a="http://schemas.openxmlformats.org/drawingml/2006/main">
            <a:r>
              <a:t>https://45.ru/text/politics/2026/06/26/76499700/</a:t>
            </a:r>
          </a:p>
          <a:p xmlns:a="http://schemas.openxmlformats.org/drawingml/2006/main">
            <a:r>
              <a:t>https://niva-kurtamysh.com/news/obshchestvo/vystuplenie-gubernatora-kurganskoy-oblasti-vadima-shumkova</a:t>
            </a:r>
          </a:p>
          <a:p xmlns:a="http://schemas.openxmlformats.org/drawingml/2006/main">
            <a:r>
              <a:t>https://t.me/s/kurganskayaobl?before=42616</a:t>
            </a:r>
          </a:p>
          <a:p xmlns:a="http://schemas.openxmlformats.org/drawingml/2006/main">
            <a:r>
              <a:t>https://www.bbc.com/russian/news-54368577</a:t>
            </a:r>
          </a:p>
          <a:p xmlns:a="http://schemas.openxmlformats.org/drawingml/2006/main">
            <a:r>
              <a:t>https://www.bbc.com/russian/articles/cp0769dp15eo</a:t>
            </a:r>
          </a:p>
          <a:p xmlns:a="http://schemas.openxmlformats.org/drawingml/2006/main">
            <a:r>
              <a:t>https://navalny.com/materials/blogpost-6017</a:t>
            </a:r>
          </a:p>
          <a:p xmlns:a="http://schemas.openxmlformats.org/drawingml/2006/main">
            <a:r>
              <a:t>https://www.bbc.com/russian/news-58563592</a:t>
            </a:r>
          </a:p>
          <a:p xmlns:a="http://schemas.openxmlformats.org/drawingml/2006/main">
            <a:r>
              <a:t>https://navalny.com/materials/blogpost-6544</a:t>
            </a:r>
          </a:p>
          <a:p xmlns:a="http://schemas.openxmlformats.org/drawingml/2006/main">
            <a:r>
              <a:t>https://www.bbc.com/russian/news-58270043</a:t>
            </a:r>
          </a:p>
          <a:p xmlns:a="http://schemas.openxmlformats.org/drawingml/2006/main">
            <a:r>
              <a:t>https://www.bbc.com/russian/articles/cvg3p9l1e5ro</a:t>
            </a:r>
          </a:p>
          <a:p xmlns:a="http://schemas.openxmlformats.org/drawingml/2006/main">
            <a:r>
              <a:t>https://www.bbc.com/russian/features-54435835</a:t>
            </a:r>
          </a:p>
          <a:p xmlns:a="http://schemas.openxmlformats.org/drawingml/2006/main">
            <a:r>
              <a:t>https://2018.navalny.com/platform/7/</a:t>
            </a:r>
          </a:p>
          <a:p xmlns:a="http://schemas.openxmlformats.org/drawingml/2006/main">
            <a:r>
              <a:t>https://2018.navalny.com/platform/3/</a:t>
            </a:r>
          </a:p>
          <a:p xmlns:a="http://schemas.openxmlformats.org/drawingml/2006/main">
            <a:r>
              <a:t>https://2018.navalny.com/platform/10/</a:t>
            </a:r>
          </a:p>
          <a:p xmlns:a="http://schemas.openxmlformats.org/drawingml/2006/main">
            <a:r>
              <a:t>https://2018.navalny.com/platform/9/</a:t>
            </a:r>
          </a:p>
          <a:p xmlns:a="http://schemas.openxmlformats.org/drawingml/2006/main">
            <a:r>
              <a:t>https://navalny.com/editorials/aleksey-navalnyy-protiv-voyny</a:t>
            </a:r>
          </a:p>
          <a:p xmlns:a="http://schemas.openxmlformats.org/drawingml/2006/main">
            <a:r>
              <a:t>https://navalny.com/?p=149</a:t>
            </a:r>
          </a:p>
          <a:p xmlns:a="http://schemas.openxmlformats.org/drawingml/2006/main">
            <a:r>
              <a:t>https://www.interfax.ru/russia/876151</a:t>
            </a:r>
          </a:p>
          <a:p xmlns:a="http://schemas.openxmlformats.org/drawingml/2006/main">
            <a:r>
              <a:t>https://www.dw.com/ru/srok-ne-za-fejk-a-za-politiku-reakcii-v-frg-i-rf-na-prigovor-asinu/a-64049957</a:t>
            </a:r>
          </a:p>
          <a:p xmlns:a="http://schemas.openxmlformats.org/drawingml/2006/main">
            <a:r>
              <a:t>https://www.lemonde.fr/en/international/article/2025/05/27/russian-opposition-figure-ilya-yashin-if-ukraine-is-handed-over-to-putin-it-will-be-a-tragedy-and-the-prologue-to-a-global-confrontation_6741728_4.html</a:t>
            </a:r>
          </a:p>
          <a:p xmlns:a="http://schemas.openxmlformats.org/drawingml/2006/main">
            <a:r>
              <a:t>https://www.bbc.com/russian/articles/crgl69w9472o</a:t>
            </a:r>
          </a:p>
          <a:p xmlns:a="http://schemas.openxmlformats.org/drawingml/2006/main">
            <a:r>
              <a:t>https://www.svoboda.org/a/yashin-court/32165539.html</a:t>
            </a:r>
          </a:p>
          <a:p xmlns:a="http://schemas.openxmlformats.org/drawingml/2006/main">
            <a:r>
              <a:t>https://www.dw.com/ru/ila-asin-putin-predvoditel-sil-mrakobesia/a-69923731</a:t>
            </a:r>
          </a:p>
          <a:p xmlns:a="http://schemas.openxmlformats.org/drawingml/2006/main">
            <a:r>
              <a:t>https://novayagazeta.eu/articles/2025/08/01/my-ne-mozhem-trebovat-no-mozhem-obiasniat</a:t>
            </a:r>
          </a:p>
          <a:p xmlns:a="http://schemas.openxmlformats.org/drawingml/2006/main">
            <a:r>
              <a:t>https://meduza.io/feature/2019/07/20/to-chto-putin-ne-smog-sdelat-za-20-let-sobyanin-sdelal-za-mesyats</a:t>
            </a:r>
          </a:p>
          <a:p xmlns:a="http://schemas.openxmlformats.org/drawingml/2006/main">
            <a:r>
              <a:t>https://novayagazeta.eu/articles/2024/11/18/pochuvstvovat-sebia-ne-odinokimi</a:t>
            </a:r>
          </a:p>
          <a:p xmlns:a="http://schemas.openxmlformats.org/drawingml/2006/main">
            <a:r>
              <a:t>https://www.svoboda.org/a/voyna-putin-i-politzaklyuchennye-iljya-yashin-o-svoih-planah/33177839.html</a:t>
            </a:r>
          </a:p>
          <a:p xmlns:a="http://schemas.openxmlformats.org/drawingml/2006/main">
            <a:r>
              <a:t>https://www.dw.com/ru/asin-sejcas-nevozmozno-obedinit-rossijskuu-oppoziciu-da-i-ne-nuzno/a-70291088</a:t>
            </a:r>
          </a:p>
          <a:p xmlns:a="http://schemas.openxmlformats.org/drawingml/2006/main">
            <a:r>
              <a:t>https://www.dw.com/ru/vladimir-karamurza/t-37465233</a:t>
            </a:r>
          </a:p>
          <a:p xmlns:a="http://schemas.openxmlformats.org/drawingml/2006/main">
            <a:r>
              <a:t>https://ovd.info/persons/kara-murza-vladimir-vladimirovich</a:t>
            </a:r>
          </a:p>
          <a:p xmlns:a="http://schemas.openxmlformats.org/drawingml/2006/main">
            <a:r>
              <a:t>https://ovd.info/2024/08/03/kogo-rossiya-vydala-v-ramkakh-obmena-zaklyuchennymi-s-zapadom-istorii-osvobozhdennykh</a:t>
            </a:r>
          </a:p>
          <a:p xmlns:a="http://schemas.openxmlformats.org/drawingml/2006/main">
            <a:r>
              <a:t>https://www.svoboda.org/a/kara-murza-obmen/33059121.html</a:t>
            </a:r>
          </a:p>
          <a:p xmlns:a="http://schemas.openxmlformats.org/drawingml/2006/main">
            <a:r>
              <a:t>https://novayagazeta.ru/articles/2024/08/16/prezident-baiden-prinial-osvobozhdennogo-v-rezultate-obmena-politzakliuchennogo-vladimira-kara-murzu-s-semei-v-belom-dome-news</a:t>
            </a:r>
          </a:p>
          <a:p xmlns:a="http://schemas.openxmlformats.org/drawingml/2006/main">
            <a:r>
              <a:t>https://genevasummit.org/speech/vladimir-kara-murza-speaks-at-2018-geneva-summit-main-event/</a:t>
            </a:r>
          </a:p>
          <a:p xmlns:a="http://schemas.openxmlformats.org/drawingml/2006/main">
            <a:r>
              <a:t>https://humanrights.ca/event-series/presidents-lecture-series</a:t>
            </a:r>
          </a:p>
          <a:p xmlns:a="http://schemas.openxmlformats.org/drawingml/2006/main">
            <a:r>
              <a:t>https://www.radiofrance.fr/franceinter/podcasts/l-info-de-france-inter/la-democratie-doit-etre-protegee-chaque-minute-de-chaque-jour-declare-l-opposant-russe-vladimir-kara-mourza-8105094</a:t>
            </a:r>
          </a:p>
          <a:p xmlns:a="http://schemas.openxmlformats.org/drawingml/2006/main">
            <a:r>
              <a:t>https://georgetownvoice.com/2025/10/08/dissident-in-residence-vladimir-kara-murza-applies-past-lessons-to-present-day-in-recent-event-discussing-democracy/</a:t>
            </a:r>
          </a:p>
          <a:p xmlns:a="http://schemas.openxmlformats.org/drawingml/2006/main">
            <a:r>
              <a:t>https://www.oscepa.org/en/documents/winter-meetings/2025-vienna/speeches-36/5176-vladimir-kara-murza-address-to-the-osce-pa-winter-meeting-in-vienna-21-february-2025/file</a:t>
            </a:r>
          </a:p>
          <a:p xmlns:a="http://schemas.openxmlformats.org/drawingml/2006/main">
            <a:r>
              <a:t>https://hrf.org/wp-content/uploads/2024/10/VKM-%E2%80%93-Statement-of-Facts-and-Levinson-Analysis.pdf</a:t>
            </a:r>
          </a:p>
          <a:p xmlns:a="http://schemas.openxmlformats.org/drawingml/2006/main">
            <a:r>
              <a:t>https://www.govinfo.gov/content/pkg/CREC-2024-06-11/html/CREC-2024-06-11-pt1-PgH3699.htm</a:t>
            </a:r>
          </a:p>
          <a:p xmlns:a="http://schemas.openxmlformats.org/drawingml/2006/main">
            <a:r>
              <a:t>https://antiwarcommittee.info/en/statement-on-the-persecution-of-vladimir-kara-murza/</a:t>
            </a:r>
          </a:p>
          <a:p xmlns:a="http://schemas.openxmlformats.org/drawingml/2006/main">
            <a:r>
              <a:t>https://www.norway.no/en/missions/osce/norway-and-the-osce/statements/statements-with--norwegian-alignment-2024/joint-statement-on-vladimir-kara-murza/</a:t>
            </a:r>
          </a:p>
          <a:p xmlns:a="http://schemas.openxmlformats.org/drawingml/2006/main">
            <a:r>
              <a:t>https://www.aljazeera.com/news/2025/4/23/kremlin-critic-decried-for-racist-rant-on-minorities-fighting-for-russia</a:t>
            </a:r>
          </a:p>
          <a:p xmlns:a="http://schemas.openxmlformats.org/drawingml/2006/main">
            <a:r>
              <a:t>https://www.rmc.edu/news/former-political-prisoner-vladimir-kara-murza-offers-vision-of-hope-for-russian-democracy/</a:t>
            </a:r>
          </a:p>
          <a:p xmlns:a="http://schemas.openxmlformats.org/drawingml/2006/main">
            <a:r>
              <a:t>https://2018.yavlinsky.ru/campaign/</a:t>
            </a:r>
          </a:p>
          <a:p xmlns:a="http://schemas.openxmlformats.org/drawingml/2006/main">
            <a:r>
              <a:t>http://2018.yavlinsky.ru/programm/</a:t>
            </a:r>
          </a:p>
          <a:p xmlns:a="http://schemas.openxmlformats.org/drawingml/2006/main">
            <a:r>
              <a:t>https://campaign2018.yavlinsky.ru/</a:t>
            </a:r>
          </a:p>
          <a:p xmlns:a="http://schemas.openxmlformats.org/drawingml/2006/main">
            <a:r>
              <a:t>https://www.yavlinsky.ru/position/war/</a:t>
            </a:r>
          </a:p>
          <a:p xmlns:a="http://schemas.openxmlformats.org/drawingml/2006/main">
            <a:r>
              <a:t>https://www.yavlinsky.ru/position/cease-fire/</a:t>
            </a:r>
          </a:p>
          <a:p xmlns:a="http://schemas.openxmlformats.org/drawingml/2006/main">
            <a:r>
              <a:t>https://www.yavlinsky.ru/article_tax/ukraina/</a:t>
            </a:r>
          </a:p>
          <a:p xmlns:a="http://schemas.openxmlformats.org/drawingml/2006/main">
            <a:r>
              <a:t>https://www.yavlinsky.ru/biografiya/</a:t>
            </a:r>
          </a:p>
          <a:p xmlns:a="http://schemas.openxmlformats.org/drawingml/2006/main">
            <a:r>
              <a:t>https://www.yabloko.ru/publikatsii/2018/02/15_0</a:t>
            </a:r>
          </a:p>
          <a:p xmlns:a="http://schemas.openxmlformats.org/drawingml/2006/main">
            <a:r>
              <a:t>https://www.yabloko.ru/publikatsii/2018/06/19</a:t>
            </a:r>
          </a:p>
          <a:p xmlns:a="http://schemas.openxmlformats.org/drawingml/2006/main">
            <a:r>
              <a:t>https://www.yavlinsky.ru/article/eto-referendum/</a:t>
            </a:r>
          </a:p>
          <a:p xmlns:a="http://schemas.openxmlformats.org/drawingml/2006/main">
            <a:r>
              <a:t>https://www.svoboda.org/a/27801792.html</a:t>
            </a:r>
          </a:p>
          <a:p xmlns:a="http://schemas.openxmlformats.org/drawingml/2006/main">
            <a:r>
              <a:t>https://www.svoboda.org/a/29294829.html</a:t>
            </a:r>
          </a:p>
          <a:p xmlns:a="http://schemas.openxmlformats.org/drawingml/2006/main">
            <a:r>
              <a:t>https://www.yavlinsky.ru/article/intervyu-g-yavlinskogo-zhertvy-budut-proryva-net/</a:t>
            </a:r>
          </a:p>
          <a:p xmlns:a="http://schemas.openxmlformats.org/drawingml/2006/main">
            <a:r>
              <a:t>https://www.yavlinsky.ru/article/my-budem-idti-do-kontsa/</a:t>
            </a:r>
          </a:p>
          <a:p xmlns:a="http://schemas.openxmlformats.org/drawingml/2006/main">
            <a:r>
              <a:t>https://www.yavlinsky.ru/article/prezidentskie-vybory-1996-30-let-spustya/</a:t>
            </a:r>
          </a:p>
          <a:p xmlns:a="http://schemas.openxmlformats.org/drawingml/2006/main">
            <a:r>
              <a:t>https://www.forbes.ru/interview/45575-reformatory-prihodyat-k-vlasti-grigorii-yavlinskii</a:t>
            </a:r>
          </a:p>
          <a:p xmlns:a="http://schemas.openxmlformats.org/drawingml/2006/main">
            <a:r>
              <a:t>https://www.bbc.com/russian/articles/cy8ee2wngd8o</a:t>
            </a:r>
          </a:p>
          <a:p xmlns:a="http://schemas.openxmlformats.org/drawingml/2006/main">
            <a:r>
              <a:t>https://www.yabloko.ru/regnews/Pskov/2019/01/21-0</a:t>
            </a:r>
          </a:p>
          <a:p xmlns:a="http://schemas.openxmlformats.org/drawingml/2006/main">
            <a:r>
              <a:t>https://www.yabloko.ru/publikatsii/2019/06/14</a:t>
            </a:r>
          </a:p>
          <a:p xmlns:a="http://schemas.openxmlformats.org/drawingml/2006/main">
            <a:r>
              <a:t>https://zona.media/article/2019/02/27/pskov</a:t>
            </a:r>
          </a:p>
          <a:p xmlns:a="http://schemas.openxmlformats.org/drawingml/2006/main">
            <a:r>
              <a:t>https://spektr.press/ya-otvechayu-za-vse-mnoj-skazannoe-no-ne-otvechayu-za-izvraschenie-skazannogo-lev-shlosberg-o-travle-i-setkah-telegram-kanalov-odnokletochnyh-politikah-reshivshih-pobedit-putina-rukami-u/</a:t>
            </a:r>
          </a:p>
          <a:p xmlns:a="http://schemas.openxmlformats.org/drawingml/2006/main">
            <a:r>
              <a:t>https://www.yabloko.ru/Persons/shlosberg.html</a:t>
            </a:r>
          </a:p>
          <a:p xmlns:a="http://schemas.openxmlformats.org/drawingml/2006/main">
            <a:r>
              <a:t>https://pln-pskov.ru/politics/314872.html</a:t>
            </a:r>
          </a:p>
          <a:p xmlns:a="http://schemas.openxmlformats.org/drawingml/2006/main">
            <a:r>
              <a:t>https://www.yabloko.ru/publikatsii/2022/02/18-0</a:t>
            </a:r>
          </a:p>
          <a:p xmlns:a="http://schemas.openxmlformats.org/drawingml/2006/main">
            <a:r>
              <a:t>https://ru.krymr.com/a/rossiya-putin-voyna-repressii-lev-shlosberg-intervyu/31806389.html</a:t>
            </a:r>
          </a:p>
          <a:p xmlns:a="http://schemas.openxmlformats.org/drawingml/2006/main">
            <a:r>
              <a:t>https://www.currenttime.tv/a/politika-vlastey-chtoby-lyudi-perestali-govorit-o-spetsialnoy-voennoy-operatsii-lev-shlosberg-o-dele-protiv-nego-i-nikolaya-kuzmina/31807396.html</a:t>
            </a:r>
          </a:p>
          <a:p xmlns:a="http://schemas.openxmlformats.org/drawingml/2006/main">
            <a:r>
              <a:t>https://zona.media/article/2026/08/14/schlosberg</a:t>
            </a:r>
          </a:p>
          <a:p xmlns:a="http://schemas.openxmlformats.org/drawingml/2006/main">
            <a:r>
              <a:t>https://www.svoboda.org/a/lishniy-zalozhnik-vot-chto-im-vazhno-arest-lva-shlosberga/33615624.html</a:t>
            </a:r>
          </a:p>
          <a:p xmlns:a="http://schemas.openxmlformats.org/drawingml/2006/main">
            <a:r>
              <a:t>https://novayagazeta.eu/articles/2026/08/17/ostavshiisia</a:t>
            </a:r>
          </a:p>
          <a:p xmlns:a="http://schemas.openxmlformats.org/drawingml/2006/main">
            <a:r>
              <a:t>https://www.yabloko.ru/content/vishnevskii_boris_lazarevich</a:t>
            </a:r>
          </a:p>
          <a:p xmlns:a="http://schemas.openxmlformats.org/drawingml/2006/main">
            <a:r>
              <a:t>https://www.dp.ru/a/2018/06/18/Aktivnaja_storona_konflikt</a:t>
            </a:r>
          </a:p>
          <a:p xmlns:a="http://schemas.openxmlformats.org/drawingml/2006/main">
            <a:r>
              <a:t>https://www.bbc.com/russian/features-58481940</a:t>
            </a:r>
          </a:p>
          <a:p xmlns:a="http://schemas.openxmlformats.org/drawingml/2006/main">
            <a:r>
              <a:t>https://www.dp.ru/a/2023/01/16/Deputat_Peterburga_Vishnev</a:t>
            </a:r>
          </a:p>
          <a:p xmlns:a="http://schemas.openxmlformats.org/drawingml/2006/main">
            <a:r>
              <a:t>https://echofm.online/portret-dnya/portret-dnya-boris-vishnevskij-peterburgskij-politik</a:t>
            </a:r>
          </a:p>
          <a:p xmlns:a="http://schemas.openxmlformats.org/drawingml/2006/main">
            <a:r>
              <a:t>https://spb.yabloko.ru/people/vishnevskij-boris-lazarevich/</a:t>
            </a:r>
          </a:p>
          <a:p xmlns:a="http://schemas.openxmlformats.org/drawingml/2006/main">
            <a:r>
              <a:t>https://www.dp.ru/a/2026/08/26/bitva-nachalas-gde-v-peterburge</a:t>
            </a:r>
          </a:p>
          <a:p xmlns:a="http://schemas.openxmlformats.org/drawingml/2006/main">
            <a:r>
              <a:t>https://www.yabloko.ru/regnews/Spb/2022/02/21</a:t>
            </a:r>
          </a:p>
          <a:p xmlns:a="http://schemas.openxmlformats.org/drawingml/2006/main">
            <a:r>
              <a:t>https://www.yabloko.ru/cat-news/2021/08/06-0</a:t>
            </a:r>
          </a:p>
          <a:p xmlns:a="http://schemas.openxmlformats.org/drawingml/2006/main">
            <a:r>
              <a:t>https://www.rbc.ru/spb_sz/16/01/2023/63c53d9c9a7947d9bef4b853</a:t>
            </a:r>
          </a:p>
          <a:p xmlns:a="http://schemas.openxmlformats.org/drawingml/2006/main">
            <a:r>
              <a:t>https://www.rbc.ru/politics/06/05/2024/6638a8609a79472c01075a2c</a:t>
            </a:r>
          </a:p>
          <a:p xmlns:a="http://schemas.openxmlformats.org/drawingml/2006/main">
            <a:r>
              <a:t>https://www.svoboda.org/a/politika-dmitriya-gudkova-deportirovali-iz-gruzii-v-kiev/31679697.html</a:t>
            </a:r>
          </a:p>
          <a:p xmlns:a="http://schemas.openxmlformats.org/drawingml/2006/main">
            <a:r>
              <a:t>https://ru.krymr.com/a/dmitriy-gudkov-ob-otyezde-iz-rossii/31295079.html</a:t>
            </a:r>
          </a:p>
          <a:p xmlns:a="http://schemas.openxmlformats.org/drawingml/2006/main">
            <a:r>
              <a:t>https://daily.afisha.ru/news/114366-syn-politika-dmitriya-gudkova-pokonchil-s-soboy-v-emigracii/amp/</a:t>
            </a:r>
          </a:p>
          <a:p xmlns:a="http://schemas.openxmlformats.org/drawingml/2006/main">
            <a:r>
              <a:t>https://life.ru/t/dmitriygudkov</a:t>
            </a:r>
          </a:p>
          <a:p xmlns:a="http://schemas.openxmlformats.org/drawingml/2006/main">
            <a:r>
              <a:t>https://uk.wikipedia.org/wiki/%D0%93%D1%83%D0%B4%D0%BA%D0%BE%D0%B2_%D0%94%D0%BC%D0%B8%D1%82%D1%80%D1%96%D0%B9_%D0%93%D0%B5%D0%BD%D0%B0%D0%B4%D1%96%D0%B9%D0%BE%D0%B2%D0%B8%D1%87</a:t>
            </a:r>
          </a:p>
          <a:p xmlns:a="http://schemas.openxmlformats.org/drawingml/2006/main">
            <a:r>
              <a:t>https://mt.gazeta.ru/blog/43692366076/Syin-byivshego-deputata-Gosdumyi-Dmitriya-Gudkova-pokonchil-s-so?utm_referrer=mirtesen.ru</a:t>
            </a:r>
          </a:p>
          <a:p xmlns:a="http://schemas.openxmlformats.org/drawingml/2006/main">
            <a:r>
              <a:t>https://www.bbc.com/russian/news-57381443</a:t>
            </a:r>
          </a:p>
          <a:p xmlns:a="http://schemas.openxmlformats.org/drawingml/2006/main">
            <a:r>
              <a:t>https://www.themoscowtimes.com/2021/06/06/kremlin-critic-dmitry-gudkov-flees-to-ukraine-a74123</a:t>
            </a:r>
          </a:p>
          <a:p xmlns:a="http://schemas.openxmlformats.org/drawingml/2006/main">
            <a:r>
              <a:t>https://www.yabloko.ru/publikatsii/2016/09/15</a:t>
            </a:r>
          </a:p>
          <a:p xmlns:a="http://schemas.openxmlformats.org/drawingml/2006/main">
            <a:r>
              <a:t>https://novayagazeta.ru/articles/2018/03/21/75886-ya-privyk-lyudyam-verit</a:t>
            </a:r>
          </a:p>
          <a:p xmlns:a="http://schemas.openxmlformats.org/drawingml/2006/main">
            <a:r>
              <a:t>https://www.rbc.ru/politics/15/03/2018/5aaa98049a7947d12d63f1e1</a:t>
            </a:r>
          </a:p>
          <a:p xmlns:a="http://schemas.openxmlformats.org/drawingml/2006/main">
            <a:r>
              <a:t>https://rus.team/people/gudkov-dmitrij-gennadevich</a:t>
            </a:r>
          </a:p>
          <a:p xmlns:a="http://schemas.openxmlformats.org/drawingml/2006/main">
            <a:r>
              <a:t>https://www.azattyqasia.org/a/chto-proiskhodit-v-donbasse-/31863310/lbl0lbi299676.html</a:t>
            </a:r>
          </a:p>
          <a:p xmlns:a="http://schemas.openxmlformats.org/drawingml/2006/main">
            <a:r>
              <a:t>https://www.dw.com/ru/dmitrij-gudkov-putin-na-storone-partii-vojny-no-pri-etom-on-trus-21092022/video-63193199</a:t>
            </a:r>
          </a:p>
          <a:p xmlns:a="http://schemas.openxmlformats.org/drawingml/2006/main">
            <a:r>
              <a:t>https://ru.wikinews.org/wiki/%D0%9A%D0%B0%D1%82%D0%B5%D0%B3%D0%BE%D1%80%D0%B8%D1%8F:%D0%93%D0%B5%D0%BD%D0%BD%D0%B0%D0%B4%D0%B8%D0%B9_%D0%93%D1%83%D0%B4%D0%BA%D0%BE%D0%B2</a:t>
            </a:r>
          </a:p>
          <a:p xmlns:a="http://schemas.openxmlformats.org/drawingml/2006/main">
            <a:r>
              <a:t>https://en.wikipedia.org/wiki/Gennady_Gudkov</a:t>
            </a:r>
          </a:p>
          <a:p xmlns:a="http://schemas.openxmlformats.org/drawingml/2006/main">
            <a:r>
              <a:t>https://x.com/gudkov_g</a:t>
            </a:r>
          </a:p>
          <a:p xmlns:a="http://schemas.openxmlformats.org/drawingml/2006/main">
            <a:r>
              <a:t>https://www.dw.com/ru/chto-dmitrij-gudkov-nameren-delat-v-ukraine-i-vernetsja-li-v-rossiju/a-57830619</a:t>
            </a:r>
          </a:p>
          <a:p xmlns:a="http://schemas.openxmlformats.org/drawingml/2006/main">
            <a:r>
              <a:t>https://ru.wikipedia.org/wiki/%D0%93%D1%83%D0%B4%D0%BA%D0%BE%D0%B2,_%D0%93%D0%B5%D0%BD%D0%BD%D0%B0%D0%B4%D0%B8%D0%B9_%D0%92%D0%BB%D0%B0%D0%B4%D0%B8%D0%BC%D0%B8%D1%80%D0%BE%D0%B2%D0%B8%D1%87</a:t>
            </a:r>
          </a:p>
          <a:p xmlns:a="http://schemas.openxmlformats.org/drawingml/2006/main">
            <a:r>
              <a:t>https://ru.wikipedia.org/wiki/%D0%93%D1%83%D0%B4%D0%BA%D0%BE%D0%B2,_%D0%94%D0%BC%D0%B8%D1%82%D1%80%D0%B8%D0%B9_%D0%93%D0%B5%D0%BD%D0%BD%D0%B0%D0%B4%D1%8C%D0%B5%D0%B2%D0%B8%D1%87</a:t>
            </a:r>
          </a:p>
          <a:p xmlns:a="http://schemas.openxmlformats.org/drawingml/2006/main">
            <a:r>
              <a:t>https://utro02.tv/2022/10/31/navstrechu-sezdu-gennadij-gudkov-o-vyborah-obedinenii-oppoziczii-i-razdelenii-vlasti/</a:t>
            </a:r>
          </a:p>
          <a:p xmlns:a="http://schemas.openxmlformats.org/drawingml/2006/main">
            <a:r>
              <a:t>https://www.unian.net/war/rossiyskiy-oppozicioner-gudkov-putin-nachinaet-ponimat-chto-nastupaet-zh-pa-12031263.html</a:t>
            </a:r>
          </a:p>
          <a:p xmlns:a="http://schemas.openxmlformats.org/drawingml/2006/main">
            <a:r>
              <a:t>https://bntnews.bg/genadiy-gudkov-86846tag.html</a:t>
            </a:r>
          </a:p>
          <a:p xmlns:a="http://schemas.openxmlformats.org/drawingml/2006/main">
            <a:r>
              <a:t>https://tass.ru/encyclopedia/person/gudkov-dmitriy-gennadevich</a:t>
            </a:r>
          </a:p>
          <a:p xmlns:a="http://schemas.openxmlformats.org/drawingml/2006/main">
            <a:r>
              <a:t>https://www.kasparov.com/garry-kasparov-on-putin-and-the-virus-of-imperialism-wsj-free-expression-april-11-2022/</a:t>
            </a:r>
          </a:p>
          <a:p xmlns:a="http://schemas.openxmlformats.org/drawingml/2006/main">
            <a:r>
              <a:t>https://www.ilmessaggero.it/en/garry_kasparov_from_chess_champion_to_kremlin_critic-9797261.html</a:t>
            </a:r>
          </a:p>
          <a:p xmlns:a="http://schemas.openxmlformats.org/drawingml/2006/main">
            <a:r>
              <a:t>https://www.kasparov.com/category/russia/</a:t>
            </a:r>
          </a:p>
          <a:p xmlns:a="http://schemas.openxmlformats.org/drawingml/2006/main">
            <a:r>
              <a:t>https://www.kasparov.com/category/politics/</a:t>
            </a:r>
          </a:p>
          <a:p xmlns:a="http://schemas.openxmlformats.org/drawingml/2006/main">
            <a:r>
              <a:t>https://en.wikipedia.org/wiki/Political_views_of_Garry_Kasparov</a:t>
            </a:r>
          </a:p>
          <a:p xmlns:a="http://schemas.openxmlformats.org/drawingml/2006/main">
            <a:r>
              <a:t>https://www.dw.com/ru/kasparov-v-intervu-dw-vse-cto-delal-delaet-i-budet-delat-tramp-pomogaet-putinu/a-79633734</a:t>
            </a:r>
          </a:p>
          <a:p xmlns:a="http://schemas.openxmlformats.org/drawingml/2006/main">
            <a:r>
              <a:t>https://www.kasparov.com/</a:t>
            </a:r>
          </a:p>
          <a:p xmlns:a="http://schemas.openxmlformats.org/drawingml/2006/main">
            <a:r>
              <a:t>https://www.kasparov.com/a-conversation-with-garry-kasparov-thought-economics-with-vikas-shas-may-21-2017/</a:t>
            </a:r>
          </a:p>
          <a:p xmlns:a="http://schemas.openxmlformats.org/drawingml/2006/main">
            <a:r>
              <a:t>https://www.kasparov.com/new-yorker-interview-the-chess-grandmaster-and-political-activist-on-putin-trump-and-how-we-are-living-again-through-the-eighteen-fifties/</a:t>
            </a:r>
          </a:p>
          <a:p xmlns:a="http://schemas.openxmlformats.org/drawingml/2006/main">
            <a:r>
              <a:t>https://www.cnbc.com/2017/02/13/the-full-interview-with-former-world-chess-champion-garry-kasparov-on-trump-putin.html</a:t>
            </a:r>
          </a:p>
          <a:p xmlns:a="http://schemas.openxmlformats.org/drawingml/2006/main">
            <a:r>
              <a:t>https://www.reuters.com/world/europe/kasparov-calls-world-powers-throw-russia-back-into-stone-age-2022-03-03/</a:t>
            </a:r>
          </a:p>
          <a:p xmlns:a="http://schemas.openxmlformats.org/drawingml/2006/main">
            <a:r>
              <a:t>https://khodorkovsky.com/open-russia-manifesto/</a:t>
            </a:r>
          </a:p>
          <a:p xmlns:a="http://schemas.openxmlformats.org/drawingml/2006/main">
            <a:r>
              <a:t>https://khodorkovsky.com/programmes/initiatives/openrussia/</a:t>
            </a:r>
          </a:p>
          <a:p xmlns:a="http://schemas.openxmlformats.org/drawingml/2006/main">
            <a:r>
              <a:t>https://khodorkovsky.com/page/65/?m</a:t>
            </a:r>
          </a:p>
          <a:p xmlns:a="http://schemas.openxmlformats.org/drawingml/2006/main">
            <a:r>
              <a:t>https://khodorkovsky.com/page/80/?m</a:t>
            </a:r>
          </a:p>
          <a:p xmlns:a="http://schemas.openxmlformats.org/drawingml/2006/main">
            <a:r>
              <a:t>https://angliya.com/publication/mihail-hodorkovskiy-ne-priznayu-razdelenie-lyudey-na-osnovanii-politicheskih-vzglyadov/</a:t>
            </a:r>
          </a:p>
          <a:p xmlns:a="http://schemas.openxmlformats.org/drawingml/2006/main">
            <a:r>
              <a:t>https://www.dw.com/ru/mihail-hodorkovski-bojus-jeta-vojna-ne-budet-poslednej/a-61314556</a:t>
            </a:r>
          </a:p>
          <a:p xmlns:a="http://schemas.openxmlformats.org/drawingml/2006/main">
            <a:r>
              <a:t>https://ru.euronews.com/2022/06/21/ru-khodorkovsky-interview</a:t>
            </a:r>
          </a:p>
          <a:p xmlns:a="http://schemas.openxmlformats.org/drawingml/2006/main">
            <a:r>
              <a:t>https://ru.euronews.com/2022/06/23/mikhail-khodorkovsky</a:t>
            </a:r>
          </a:p>
          <a:p xmlns:a="http://schemas.openxmlformats.org/drawingml/2006/main">
            <a:r>
              <a:t>https://poligonmedia.io/mihail-hodorkovskij-putin-ne-pobedil/</a:t>
            </a:r>
          </a:p>
          <a:p xmlns:a="http://schemas.openxmlformats.org/drawingml/2006/main">
            <a:r>
              <a:t>https://www.pap.pl/ru/russian/news/khodorkovskiy-u-putina-est-prichiny-vesti-peregovory-o-prekraschenii-voyny-na-ukraine</a:t>
            </a:r>
          </a:p>
          <a:p xmlns:a="http://schemas.openxmlformats.org/drawingml/2006/main">
            <a:r>
              <a:t>https://milov.org/cat/debates</a:t>
            </a:r>
          </a:p>
          <a:p xmlns:a="http://schemas.openxmlformats.org/drawingml/2006/main">
            <a:r>
              <a:t>https://milov.org/entry/4188</a:t>
            </a:r>
          </a:p>
          <a:p xmlns:a="http://schemas.openxmlformats.org/drawingml/2006/main">
            <a:r>
              <a:t>https://milov.org/cat/international</a:t>
            </a:r>
          </a:p>
          <a:p xmlns:a="http://schemas.openxmlformats.org/drawingml/2006/main">
            <a:r>
              <a:t>https://tvrain.tv/teleshow/amerikanskie_gonki/tramp_vynashivaet_ideju_primiritsja_s_putinym-453802/</a:t>
            </a:r>
          </a:p>
          <a:p xmlns:a="http://schemas.openxmlformats.org/drawingml/2006/main">
            <a:r>
              <a:t>https://www.currenttime.tv/a/vladimir-milov-interview/31505887.html</a:t>
            </a:r>
          </a:p>
          <a:p xmlns:a="http://schemas.openxmlformats.org/drawingml/2006/main">
            <a:r>
              <a:t>https://ovd.info/express-news/2021/07/27/roskomnadzor-potreboval-ot-youtube-zablokirovat-kanaly-troikh-soratnikov</a:t>
            </a:r>
          </a:p>
          <a:p xmlns:a="http://schemas.openxmlformats.org/drawingml/2006/main">
            <a:r>
              <a:t>https://www.dw.com/ru/sud-v-moskve-prigovoril-vladimira-milova-k-8-godam-kolonii/a-67415717</a:t>
            </a:r>
          </a:p>
          <a:p xmlns:a="http://schemas.openxmlformats.org/drawingml/2006/main">
            <a:r>
              <a:t>https://ru.wikipedia.org/wiki/%D0%9C%D0%B8%D0%BB%D0%BE%D0%B2,_%D0%92%D0%BB%D0%B0%D0%B4%D0%B8%D0%BC%D0%B8%D1%80_%D0%A1%D1%82%D0%B0%D0%BD%D0%B8%D1%81%D0%BB%D0%B0%D0%B2%D0%BE%D0%B2%D0%B8%D1%87</a:t>
            </a:r>
          </a:p>
          <a:p xmlns:a="http://schemas.openxmlformats.org/drawingml/2006/main">
            <a:r>
              <a:t>https://gordonua.com/news/worldnews/milov-merkel-molodec-poteryala-vsego-7-8-v-polzu-svezhey-antiimmigrantskoy-partii-na-fone-migrantskogo-krizisa-208758.html</a:t>
            </a:r>
          </a:p>
          <a:p xmlns:a="http://schemas.openxmlformats.org/drawingml/2006/main">
            <a:r>
              <a:t>https://echofm.online/programs/hochu-skazat/hochu-skazat-larina-69</a:t>
            </a:r>
          </a:p>
          <a:p xmlns:a="http://schemas.openxmlformats.org/drawingml/2006/main">
            <a:r>
              <a:t>https://www.hoover.org/plus/research/russian-opposition-and-ukraine-conversation-vladimir-milov</a:t>
            </a:r>
          </a:p>
          <a:p xmlns:a="http://schemas.openxmlformats.org/drawingml/2006/main">
            <a:r>
              <a:t>https://www.golosameriki.com/a/washington-dialogue-russian-opposition-conference/7648250.html</a:t>
            </a:r>
          </a:p>
          <a:p xmlns:a="http://schemas.openxmlformats.org/drawingml/2006/main">
            <a:r>
              <a:t>https://glavred.info/chat/1337-vladimir-milov.html</a:t>
            </a:r>
          </a:p>
          <a:p xmlns:a="http://schemas.openxmlformats.org/drawingml/2006/main">
            <a:r>
              <a:t>https://www.interfax.ru/moscow/669378</a:t>
            </a:r>
          </a:p>
          <a:p xmlns:a="http://schemas.openxmlformats.org/drawingml/2006/main">
            <a:r>
              <a:t>https://tass.ru/politika/6670439</a:t>
            </a:r>
          </a:p>
          <a:p xmlns:a="http://schemas.openxmlformats.org/drawingml/2006/main">
            <a:r>
              <a:t>https://www.rbc.ru/politics/16/07/2019/5d2c8b3b9a794799a7c7d413</a:t>
            </a:r>
          </a:p>
          <a:p xmlns:a="http://schemas.openxmlformats.org/drawingml/2006/main">
            <a:r>
              <a:t>https://www.bbc.com/russian/news-56269079</a:t>
            </a:r>
          </a:p>
          <a:p xmlns:a="http://schemas.openxmlformats.org/drawingml/2006/main">
            <a:r>
              <a:t>https://ovd.info/express-news/2020/12/28/s-yurista-fbk-kotoraya-provela-pochti-dvoe-sutok-v-ivs-pytalis-vzyat</a:t>
            </a:r>
          </a:p>
          <a:p xmlns:a="http://schemas.openxmlformats.org/drawingml/2006/main">
            <a:r>
              <a:t>https://ovd.info/express-news/2021/02/26/prokuratura-utverdila-obvinenie-sobol-po-delu-o-proniknovenii-v-kvartiru</a:t>
            </a:r>
          </a:p>
          <a:p xmlns:a="http://schemas.openxmlformats.org/drawingml/2006/main">
            <a:r>
              <a:t>https://ovd.info/express-news/2020/12/29/protiv-alekseya-navalnogo-vozbudili-ugolovnoe-delo-o-moshennichestve-iz-za</a:t>
            </a:r>
          </a:p>
          <a:p xmlns:a="http://schemas.openxmlformats.org/drawingml/2006/main">
            <a:r>
              <a:t>https://www.currenttime.tv/a/sobol/31723600.html</a:t>
            </a:r>
          </a:p>
          <a:p xmlns:a="http://schemas.openxmlformats.org/drawingml/2006/main">
            <a:r>
              <a:t>https://www.currenttime.tv/interview/episodes/2022/2/26</a:t>
            </a:r>
          </a:p>
          <a:p xmlns:a="http://schemas.openxmlformats.org/drawingml/2006/main">
            <a:r>
              <a:t>https://ochevidcy.com/putin-budet-vorovat-do-groba/</a:t>
            </a:r>
          </a:p>
          <a:p xmlns:a="http://schemas.openxmlformats.org/drawingml/2006/main">
            <a:r>
              <a:t>https://www.svoboda.org/a/32881433.html</a:t>
            </a:r>
          </a:p>
          <a:p xmlns:a="http://schemas.openxmlformats.org/drawingml/2006/main">
            <a:r>
              <a:t>https://echofm.online/programs/idyom-po-zvyozdam/idyom-po-zvezdam-s-lyubovyu-sobol</a:t>
            </a:r>
          </a:p>
          <a:p xmlns:a="http://schemas.openxmlformats.org/drawingml/2006/main">
            <a:r>
              <a:t>https://x.com/SobolLubov</a:t>
            </a:r>
          </a:p>
          <a:p xmlns:a="http://schemas.openxmlformats.org/drawingml/2006/main">
            <a:r>
              <a:t>https://stuki-druki.com/authors/sobol-lubov.php</a:t>
            </a:r>
          </a:p>
          <a:p xmlns:a="http://schemas.openxmlformats.org/drawingml/2006/main">
            <a:r>
              <a:t>https://www.interfax.ru/elections2018/593143</a:t>
            </a:r>
          </a:p>
          <a:p xmlns:a="http://schemas.openxmlformats.org/drawingml/2006/main">
            <a:r>
              <a:t>https://elections2018.tass.ru/candidate/sobchak</a:t>
            </a:r>
          </a:p>
          <a:p xmlns:a="http://schemas.openxmlformats.org/drawingml/2006/main">
            <a:r>
              <a:t>https://www.interfax.ru/elections2018/604186</a:t>
            </a:r>
          </a:p>
          <a:p xmlns:a="http://schemas.openxmlformats.org/drawingml/2006/main">
            <a:r>
              <a:t>https://www.interfax.ru/elections2018/604908</a:t>
            </a:r>
          </a:p>
          <a:p xmlns:a="http://schemas.openxmlformats.org/drawingml/2006/main">
            <a:r>
              <a:t>https://www.consultant.ru/law/hotdocs/53066.html</a:t>
            </a:r>
          </a:p>
          <a:p xmlns:a="http://schemas.openxmlformats.org/drawingml/2006/main">
            <a:r>
              <a:t>https://www.rbc.ru/newspaper/2018/03/20/5aae9ca49a794739b02918a0</a:t>
            </a:r>
          </a:p>
          <a:p xmlns:a="http://schemas.openxmlformats.org/drawingml/2006/main">
            <a:r>
              <a:t>https://www.interfax.ru/elections2018/604136</a:t>
            </a:r>
          </a:p>
          <a:p xmlns:a="http://schemas.openxmlformats.org/drawingml/2006/main">
            <a:r>
              <a:t>https://www.interfax.ru/elections2018/604190</a:t>
            </a:r>
          </a:p>
          <a:p xmlns:a="http://schemas.openxmlformats.org/drawingml/2006/main">
            <a:r>
              <a:t>https://www.rbc.ru/economics/25/12/2017/5a4025f19a79472e3f5f4ad9?from=right_column_materials_3</a:t>
            </a:r>
          </a:p>
          <a:p xmlns:a="http://schemas.openxmlformats.org/drawingml/2006/main">
            <a:r>
              <a:t>https://news.ru/show-business/otezd-iz-rf-vybory-svo-v-chem-priznalas-kseniya-sobchak-v-novom-intervyu</a:t>
            </a:r>
          </a:p>
          <a:p xmlns:a="http://schemas.openxmlformats.org/drawingml/2006/main">
            <a:r>
              <a:t>https://rtvi.com/news/sobchak-otvetila-na-vopros-putin-ili-zelenskij/</a:t>
            </a:r>
          </a:p>
          <a:p xmlns:a="http://schemas.openxmlformats.org/drawingml/2006/main">
            <a:r>
              <a:t>https://informator.ua/ru/kompromissy-iz-rf-legitimnost-zelenskogo-i-gotovnost-pozhat-ruku-putinu-o-chem-govoril-arestovich-v-intervyu-sobchak</a:t>
            </a:r>
          </a:p>
          <a:p xmlns:a="http://schemas.openxmlformats.org/drawingml/2006/main">
            <a:r>
              <a:t>https://rassvet-party.info/</a:t>
            </a:r>
          </a:p>
          <a:p xmlns:a="http://schemas.openxmlformats.org/drawingml/2006/main">
            <a:r>
              <a:t>https://en.wikipedia.org/wiki/Yekaterina_Duntsova</a:t>
            </a:r>
          </a:p>
          <a:p xmlns:a="http://schemas.openxmlformats.org/drawingml/2006/main">
            <a:r>
              <a:t>https://www.dw.com/ru/cto-nuzno-znat-o-ekaterine-duncovoj-kotoraa-hocet-stat-prezidentom-rf/a-67832425</a:t>
            </a:r>
          </a:p>
          <a:p xmlns:a="http://schemas.openxmlformats.org/drawingml/2006/main">
            <a:r>
              <a:t>https://baj.media/ru/ya-gotova-idti-do-konca-zhurnalistka-iz-rossiyskoy-provincii-reshila-stat-prezidentom-i-2/</a:t>
            </a:r>
          </a:p>
          <a:p xmlns:a="http://schemas.openxmlformats.org/drawingml/2006/main">
            <a:r>
              <a:t>https://echofm.online/portret-dnya/portret-dnya-ekaterina-dunczova-reshivshaya-vydvinutsya-kandidatom-v-prezidenty-rossii-zhurnalistka-iz-rzheva</a:t>
            </a:r>
          </a:p>
          <a:p xmlns:a="http://schemas.openxmlformats.org/drawingml/2006/main">
            <a:r>
              <a:t>https://novayagazeta.eu/articles/2024/03/15/zlost-i-nenavist-vsem-nadoeli</a:t>
            </a:r>
          </a:p>
          <a:p xmlns:a="http://schemas.openxmlformats.org/drawingml/2006/main">
            <a:r>
              <a:t>https://altapress.ru/politika/story/kto-takaya-ekaterina-duntsova-kotoraya-sobiraetsya-stat-poslednim-prezidentom-rossii-i-kto-eshche-hochet-ballotirovatsya-336526</a:t>
            </a:r>
          </a:p>
          <a:p xmlns:a="http://schemas.openxmlformats.org/drawingml/2006/main">
            <a:r>
              <a:t>https://cherta.media/interview/ekaterina-duncova-kandidat-v-prezidenty/</a:t>
            </a:r>
          </a:p>
          <a:p xmlns:a="http://schemas.openxmlformats.org/drawingml/2006/main">
            <a:r>
              <a:t>https://novayagazeta.eu/articles/2023/12/05/zachem-ia-budu-stoiat-na-barrikadakh-esli-mogu-zanimatsia-realnymi-delami</a:t>
            </a:r>
          </a:p>
          <a:p xmlns:a="http://schemas.openxmlformats.org/drawingml/2006/main">
            <a:r>
              <a:t>https://holod.media/2023/12/20/ekaterina-duntsova-view/</a:t>
            </a:r>
          </a:p>
          <a:p xmlns:a="http://schemas.openxmlformats.org/drawingml/2006/main">
            <a:r>
              <a:t>https://www.dw.com/ru/ekaterina-duncova-o-sozdanii-partii-rassvet-my-mezdu-dvuh-ognej/a-68992724</a:t>
            </a:r>
          </a:p>
          <a:p xmlns:a="http://schemas.openxmlformats.org/drawingml/2006/main">
            <a:r>
              <a:t>https://rassvet-party.info/static/program.pdf</a:t>
            </a:r>
          </a:p>
          <a:p xmlns:a="http://schemas.openxmlformats.org/drawingml/2006/main">
            <a:r>
              <a:t>https://www.currenttime.tv/a/ekaterina-duntsova-o-sozdanii-partii-i-svoem-zaderzhanii/32775510.html</a:t>
            </a:r>
          </a:p>
          <a:p xmlns:a="http://schemas.openxmlformats.org/drawingml/2006/main">
            <a:r>
              <a:t>https://duntsovainitiative.1c-umi.ru/galereya/</a:t>
            </a:r>
          </a:p>
          <a:p xmlns:a="http://schemas.openxmlformats.org/drawingml/2006/main">
            <a:r>
              <a:t>https://rassvet-party.info/static/manifest.pdf</a:t>
            </a:r>
          </a:p>
          <a:p xmlns:a="http://schemas.openxmlformats.org/drawingml/2006/main">
            <a:r>
              <a:t>https://www.rbc.ru/person/65afb4a99a79470e434da73d</a:t>
            </a:r>
          </a:p>
          <a:p xmlns:a="http://schemas.openxmlformats.org/drawingml/2006/main">
            <a:r>
              <a:t>https://www.bbc.com/russian/articles/c84npr0wxx9o</a:t>
            </a:r>
          </a:p>
          <a:p xmlns:a="http://schemas.openxmlformats.org/drawingml/2006/main">
            <a:r>
              <a:t>https://www.rbc.ru/politics/08/02/2024/65c3749b9a79479ef5fe7934</a:t>
            </a:r>
          </a:p>
          <a:p xmlns:a="http://schemas.openxmlformats.org/drawingml/2006/main">
            <a:r>
              <a:t>https://www.business-gazeta.ru/article/622600</a:t>
            </a:r>
          </a:p>
          <a:p xmlns:a="http://schemas.openxmlformats.org/drawingml/2006/main">
            <a:r>
              <a:t>https://semnasem.org/articles/2024/02/02/poslednij-sredi-antivoennyh-kto-takoj-boris-nadezhdin-kotoryj-vse-eshe-nadeetsya-stat-prezidentom</a:t>
            </a:r>
          </a:p>
          <a:p xmlns:a="http://schemas.openxmlformats.org/drawingml/2006/main">
            <a:r>
              <a:t>https://novayagazeta.eu/articles/2024/02/03/17-marta-nachalo-kontsa-epokhi-putina</a:t>
            </a:r>
          </a:p>
          <a:p xmlns:a="http://schemas.openxmlformats.org/drawingml/2006/main">
            <a:r>
              <a:t>https://www.youtube.com/watch?v=mGMdgxBCdns</a:t>
            </a:r>
          </a:p>
          <a:p xmlns:a="http://schemas.openxmlformats.org/drawingml/2006/main">
            <a:r>
              <a:t>https://www.dw.com/ru/boris-nadezdin-moj-rejting-rastet-na-5-v-nedelu/a-68154251</a:t>
            </a:r>
          </a:p>
          <a:p xmlns:a="http://schemas.openxmlformats.org/drawingml/2006/main">
            <a:r>
              <a:t>https://ovd.info/express-news/2026/07/17/u-menya-dva-puti-lenina-ili-navalnogo-chto-nuzhno-znat-o-borise-nadezhdine</a:t>
            </a:r>
          </a:p>
          <a:p xmlns:a="http://schemas.openxmlformats.org/drawingml/2006/main">
            <a:r>
              <a:t>https://www.rbc.ru/person/65afb4a99a79470e434da73d?ysclid=mrt22n99to603501119</a:t>
            </a:r>
          </a:p>
          <a:p xmlns:a="http://schemas.openxmlformats.org/drawingml/2006/main">
            <a:r>
              <a:t>https://www.youtube.com/watch?v=UNytg_H_1pY</a:t>
            </a:r>
          </a:p>
          <a:p xmlns:a="http://schemas.openxmlformats.org/drawingml/2006/main">
            <a:r>
              <a:t>https://www.youtube.com/watch?v=DwTC5bilf_8</a:t>
            </a:r>
          </a:p>
          <a:p xmlns:a="http://schemas.openxmlformats.org/drawingml/2006/main">
            <a:r>
              <a:t>https://www.youtube.com/watch?v=sG4_THnT9W0</a:t>
            </a:r>
          </a:p>
          <a:p xmlns:a="http://schemas.openxmlformats.org/drawingml/2006/main">
            <a:r>
              <a:t>https://www.rbc.ru/rbcfreenews/6586cdf49a79479c3cd3d4b3</a:t>
            </a:r>
          </a:p>
          <a:p xmlns:a="http://schemas.openxmlformats.org/drawingml/2006/main">
            <a:r>
              <a:t>https://kprf.ru/activity/elections/223485.html/print</a:t>
            </a:r>
          </a:p>
          <a:p xmlns:a="http://schemas.openxmlformats.org/drawingml/2006/main">
            <a:r>
              <a:t>http://msk.kprf.ru/2024/01/24/247473/</a:t>
            </a:r>
          </a:p>
          <a:p xmlns:a="http://schemas.openxmlformats.org/drawingml/2006/main">
            <a:r>
              <a:t>https://www.dw.com/ru/vybory-prezidenta-rossii-2024/a-68528003</a:t>
            </a:r>
          </a:p>
          <a:p xmlns:a="http://schemas.openxmlformats.org/drawingml/2006/main">
            <a:r>
              <a:t>https://ru.wikipedia.org/wiki/%D0%A5%D0%B0%D1%80%D0%B8%D1%82%D0%BE%D0%BD%D0%BE%D0%B2,_%D0%9D%D0%B8%D0%BA%D0%BE%D0%BB%D0%B0%D0%B9_%D0%9C%D0%B8%D1%85%D0%B0%D0%B9%D0%BB%D0%BE%D0%B2%D0%B8%D1%87</a:t>
            </a:r>
          </a:p>
          <a:p xmlns:a="http://schemas.openxmlformats.org/drawingml/2006/main">
            <a:r>
              <a:t>https://kprf.ru/party-live/cknews/225170.html</a:t>
            </a:r>
          </a:p>
          <a:p xmlns:a="http://schemas.openxmlformats.org/drawingml/2006/main">
            <a:r>
              <a:t>https://kprf.ru/dep/gosduma/activities/232802.html</a:t>
            </a:r>
          </a:p>
          <a:p xmlns:a="http://schemas.openxmlformats.org/drawingml/2006/main">
            <a:r>
              <a:t>https://kprf35.com/2024/02/17/32710/</a:t>
            </a:r>
          </a:p>
          <a:p xmlns:a="http://schemas.openxmlformats.org/drawingml/2006/main">
            <a:r>
              <a:t>https://www.pkokprf.ru/news/view/35448</a:t>
            </a:r>
          </a:p>
          <a:p xmlns:a="http://schemas.openxmlformats.org/drawingml/2006/main">
            <a:r>
              <a:t>https://altkprf.ru/upload/iblock/eea/jiv0wm7hzk6gq4qdxw0r5wvp7zwb6luk.pdf</a:t>
            </a:r>
          </a:p>
          <a:p xmlns:a="http://schemas.openxmlformats.org/drawingml/2006/main">
            <a:r>
              <a:t>https://kprf.ru/activity/army/224789.html</a:t>
            </a:r>
          </a:p>
          <a:p xmlns:a="http://schemas.openxmlformats.org/drawingml/2006/main">
            <a:r>
              <a:t>https://gazeta-pravda.ru/issue/24-31517-711-marta-2024-goda-/alternativa-polupravde/</a:t>
            </a:r>
          </a:p>
          <a:p xmlns:a="http://schemas.openxmlformats.org/drawingml/2006/main">
            <a:r>
              <a:t>https://spbpalata.ru/?p=13755</a:t>
            </a:r>
          </a:p>
          <a:p xmlns:a="http://schemas.openxmlformats.org/drawingml/2006/main">
            <a:r>
              <a:t>https://kprf.ru/activity/elections/171941.html</a:t>
            </a:r>
          </a:p>
          <a:p xmlns:a="http://schemas.openxmlformats.org/drawingml/2006/main">
            <a:r>
              <a:t>https://kprf.ru/party-live/cknews/171994.html</a:t>
            </a:r>
          </a:p>
          <a:p xmlns:a="http://schemas.openxmlformats.org/drawingml/2006/main">
            <a:r>
              <a:t>https://elections2018.tass.ru/candidate/grudinin</a:t>
            </a:r>
          </a:p>
          <a:p xmlns:a="http://schemas.openxmlformats.org/drawingml/2006/main">
            <a:r>
              <a:t>https://www.bbc.com/russian/features-43105617</a:t>
            </a:r>
          </a:p>
          <a:p xmlns:a="http://schemas.openxmlformats.org/drawingml/2006/main">
            <a:r>
              <a:t>https://www.rbc.ru/politics/24/07/2021/60fbe35b9a794716f25253a0</a:t>
            </a:r>
          </a:p>
          <a:p xmlns:a="http://schemas.openxmlformats.org/drawingml/2006/main">
            <a:r>
              <a:t>https://kprf.ru/dep/reg/204410.html</a:t>
            </a:r>
          </a:p>
          <a:p xmlns:a="http://schemas.openxmlformats.org/drawingml/2006/main">
            <a:r>
              <a:t>https://msk.kprf.ru/2021/09/16/168273/</a:t>
            </a:r>
          </a:p>
          <a:p xmlns:a="http://schemas.openxmlformats.org/drawingml/2006/main">
            <a:r>
              <a:t>https://svpressa.ru/persons/pavel-grudinin/</a:t>
            </a:r>
          </a:p>
          <a:p xmlns:a="http://schemas.openxmlformats.org/drawingml/2006/main">
            <a:r>
              <a:t>https://carnegieendowment.org/ru/russia-eurasia/posts/2018/02/kuda-privedut-ekonomiku-rossii-20-shagov-grudinina</a:t>
            </a:r>
          </a:p>
          <a:p xmlns:a="http://schemas.openxmlformats.org/drawingml/2006/main">
            <a:r>
              <a:t>https://www.kompas-rf.ru/2018/01/2980/</a:t>
            </a:r>
          </a:p>
          <a:p xmlns:a="http://schemas.openxmlformats.org/drawingml/2006/main">
            <a:r>
              <a:t>https://www.svoboda.org/a/30073365.html</a:t>
            </a:r>
          </a:p>
          <a:p xmlns:a="http://schemas.openxmlformats.org/drawingml/2006/main">
            <a:r>
              <a:t>https://kandidativprezidenti.ru/programma-grudinina-2018/</a:t>
            </a:r>
          </a:p>
          <a:p xmlns:a="http://schemas.openxmlformats.org/drawingml/2006/main">
            <a:r>
              <a:t>https://mbk-news.appspot.com/suzhet/za-lenina-i-protiv-ege/</a:t>
            </a:r>
          </a:p>
          <a:p xmlns:a="http://schemas.openxmlformats.org/drawingml/2006/main">
            <a:r>
              <a:t>https://www.amnesty.org/ru/latest/research/2021/06/zayavlenie-rossijskaya-federacziya-obvinitelnyj-prigovor-nikolayu-platoshkinu-dolzhen-byt-otmenyon/</a:t>
            </a:r>
          </a:p>
          <a:p xmlns:a="http://schemas.openxmlformats.org/drawingml/2006/main">
            <a:r>
              <a:t>https://zona.media/article/2021/05/20/nikolay-nikolaevitch</a:t>
            </a:r>
          </a:p>
          <a:p xmlns:a="http://schemas.openxmlformats.org/drawingml/2006/main">
            <a:r>
              <a:t>https://novayagazeta.ru/articles/2020/06/05/85705-sotsialisticheskiy-prizyv</a:t>
            </a:r>
          </a:p>
          <a:p xmlns:a="http://schemas.openxmlformats.org/drawingml/2006/main">
            <a:r>
              <a:t>https://www.revda-info.ru/2020/08/26/v-revde-poyavilos-otdelenie-dvizheniya-za-novyj-sotsializm-ego-lider-sejchas-pod-arestom</a:t>
            </a:r>
          </a:p>
          <a:p xmlns:a="http://schemas.openxmlformats.org/drawingml/2006/main">
            <a:r>
              <a:t>https://new-socialism.org/o-dvizhenii/programma/</a:t>
            </a:r>
          </a:p>
          <a:p xmlns:a="http://schemas.openxmlformats.org/drawingml/2006/main">
            <a:r>
              <a:t>https://new-socialism.org/o-dvizhenii/lider/</a:t>
            </a:r>
          </a:p>
          <a:p xmlns:a="http://schemas.openxmlformats.org/drawingml/2006/main">
            <a:r>
              <a:t>https://www.themoscowtimes.com/2024/01/19/ilya-ponomaryov-we-have-to-capture-the-kremlin-there-is-no-other-way-a83772</a:t>
            </a:r>
          </a:p>
          <a:p xmlns:a="http://schemas.openxmlformats.org/drawingml/2006/main">
            <a:r>
              <a:t>https://www.dw.com/ru/cto-izvestno-o-rossijskih-podrazdeleniah-v-sostave-vsu/a-63915634</a:t>
            </a:r>
          </a:p>
          <a:p xmlns:a="http://schemas.openxmlformats.org/drawingml/2006/main">
            <a:r>
              <a:t>https://www.svoboda.org/a/32321226.html</a:t>
            </a:r>
          </a:p>
          <a:p xmlns:a="http://schemas.openxmlformats.org/drawingml/2006/main">
            <a:r>
              <a:t>https://hromadske.ua/ru/posts/nasha-cel-moskva-my-dolzhny-sbrosit-putina-rossijskie-partizany-mif-ili-pravda</a:t>
            </a:r>
          </a:p>
          <a:p xmlns:a="http://schemas.openxmlformats.org/drawingml/2006/main">
            <a:r>
              <a:t>https://epravda.com.ua/rus/publications/2018/06/11/637572/</a:t>
            </a:r>
          </a:p>
          <a:p xmlns:a="http://schemas.openxmlformats.org/drawingml/2006/main">
            <a:r>
              <a:t>https://pointmedia.io/story/672b355fdc48800406e0f515</a:t>
            </a:r>
          </a:p>
          <a:p xmlns:a="http://schemas.openxmlformats.org/drawingml/2006/main">
            <a:r>
              <a:t>https://ru.wikipedia.org/wiki/%D0%9B%D0%B5%D0%B3%D0%B8%D0%BE%D0%BD_%C2%AB%D0%A1%D0%B2%D0%BE%D0%B1%D0%BE%D0%B4%D0%B0_%D0%A0%D0%BE%D1%81%D1%81%D0%B8%D0%B8%C2%BB</a:t>
            </a:r>
          </a:p>
          <a:p xmlns:a="http://schemas.openxmlformats.org/drawingml/2006/main">
            <a:r>
              <a:t>https://ru.wikipedia.org/wiki/%D0%9F%D0%BE%D0%BD%D0%BE%D0%BC%D0%B0%D1%80%D1%91%D0%B2,_%D0%98%D0%BB%D1%8C%D1%8F_%D0%92%D0%BB%D0%B0%D0%B4%D0%B8%D0%BC%D0%B8%D1%80%D0%BE%D0%B2%D0%B8%D1%87</a:t>
            </a:r>
          </a:p>
          <a:p xmlns:a="http://schemas.openxmlformats.org/drawingml/2006/main">
            <a:r>
              <a:t>https://russophob.ru/person/ponomarev_ilya_vladimirovich</a:t>
            </a:r>
          </a:p>
          <a:p xmlns:a="http://schemas.openxmlformats.org/drawingml/2006/main">
            <a:r>
              <a:t>https://www.svoboda.org/a/32063164.html</a:t>
            </a:r>
          </a:p>
          <a:p xmlns:a="http://schemas.openxmlformats.org/drawingml/2006/main">
            <a:r>
              <a:t>https://www.kpbs.org/news/news/international/2023/03/26/a-scrappy-newscast-in-kyiv-aimed-at-russians-counters-putins-propaganda-machine</a:t>
            </a:r>
          </a:p>
          <a:p xmlns:a="http://schemas.openxmlformats.org/drawingml/2006/main">
            <a:r>
              <a:t>https://ovd.info/express-news/2022/10/02/politik-leonid-gozman-uekhal-iz-rossii-posle-dvukh-administrativnykh</a:t>
            </a:r>
          </a:p>
          <a:p xmlns:a="http://schemas.openxmlformats.org/drawingml/2006/main">
            <a:r>
              <a:t>https://ovd.info/express-news/2022/08/30/politika-leonida-gozmana-arestovali-na-15-sutok-iz-za-posta-v-feysbuke</a:t>
            </a:r>
          </a:p>
          <a:p xmlns:a="http://schemas.openxmlformats.org/drawingml/2006/main">
            <a:r>
              <a:t>https://www.rbc.ru/politics/15/07/2022/62d1b3f39a7947299cdeb6a4</a:t>
            </a:r>
          </a:p>
          <a:p xmlns:a="http://schemas.openxmlformats.org/drawingml/2006/main">
            <a:r>
              <a:t>https://novayagazeta.eu/articles/2022/07/15/sk-doprosil-politika-leonida-gozmana-kak-podozrevaemogo-po-delu-o-neuvedomlenii-o-vtorom-grazhdanstve-news</a:t>
            </a:r>
          </a:p>
          <a:p xmlns:a="http://schemas.openxmlformats.org/drawingml/2006/main">
            <a:r>
              <a:t>https://www.rbc.ru/politics/15/02/2024/65cdc9e09a7947a2995026fa</a:t>
            </a:r>
          </a:p>
          <a:p xmlns:a="http://schemas.openxmlformats.org/drawingml/2006/main">
            <a:r>
              <a:t>https://ovd.info/express-news/2025/01/22/leonida-gozmana-i-rovshana-askerova-vnesli-v-reestr-terroristov-i</a:t>
            </a:r>
          </a:p>
          <a:p xmlns:a="http://schemas.openxmlformats.org/drawingml/2006/main">
            <a:r>
              <a:t>https://www.rbc.ru/opinion-authors/gozman</a:t>
            </a:r>
          </a:p>
          <a:p xmlns:a="http://schemas.openxmlformats.org/drawingml/2006/main">
            <a:r>
              <a:t>https://novayagazeta.eu/articles/2022/07/25/ovd-info-v-moskve-zaderzhali-politika-leonida-gozmana-news</a:t>
            </a:r>
          </a:p>
          <a:p xmlns:a="http://schemas.openxmlformats.org/drawingml/2006/main">
            <a:r>
              <a:t>https://gefter.ru/archive/23487</a:t>
            </a:r>
          </a:p>
          <a:p xmlns:a="http://schemas.openxmlformats.org/drawingml/2006/main">
            <a:r>
              <a:t>https://www.svoboda.org/a/31147156.html</a:t>
            </a:r>
          </a:p>
          <a:p xmlns:a="http://schemas.openxmlformats.org/drawingml/2006/main">
            <a:r>
              <a:t>https://uatv.ua/gozman-putin-zagnal-rossiyu-v-ugol-sleduyushhij-shag-repressii/</a:t>
            </a:r>
          </a:p>
          <a:p xmlns:a="http://schemas.openxmlformats.org/drawingml/2006/main">
            <a:r>
              <a:t>https://echofm.online/programs/hochu-skazat/hochu-skazat-odin-protiv-vseh-kak-ne-dat-strahu-pobedit-sebya</a:t>
            </a:r>
          </a:p>
          <a:p xmlns:a="http://schemas.openxmlformats.org/drawingml/2006/main">
            <a:r>
              <a:t>https://www.svoboda.org/a/leonid-gozman-russkih-lyudey-neljzya-mazatj-odnoy-chernoy-kraskoy-/32732625.html</a:t>
            </a:r>
          </a:p>
          <a:p xmlns:a="http://schemas.openxmlformats.org/drawingml/2006/main">
            <a:r>
              <a:t>https://novayagazeta.eu/articles/2022/07/18/prepiatstvovat-prosveshcheniiu-liudei-vlast-budet-pulemiotami</a:t>
            </a:r>
          </a:p>
          <a:p xmlns:a="http://schemas.openxmlformats.org/drawingml/2006/main">
            <a:r>
              <a:t>https://www.svoboda.org/a/29652429.html</a:t>
            </a:r>
          </a:p>
          <a:p xmlns:a="http://schemas.openxmlformats.org/drawingml/2006/main">
            <a:r>
              <a:t>https://novayagazeta.eu/articles/2022/04/26/nesobliudenie-rezhima</a:t>
            </a:r>
          </a:p>
          <a:p xmlns:a="http://schemas.openxmlformats.org/drawingml/2006/main">
            <a:r>
              <a:t>https://novayagazeta.eu/articles/2022/07/21/zapiski-ugolovnika</a:t>
            </a:r>
          </a:p>
          <a:p xmlns:a="http://schemas.openxmlformats.org/drawingml/2006/main">
            <a:r>
              <a:t>https://novayagazeta.ru/authors/2349</a:t>
            </a:r>
          </a:p>
          <a:p xmlns:a="http://schemas.openxmlformats.org/drawingml/2006/main">
            <a:r>
              <a:t>https://www.rbc.ru/politics/10/08/2017/598c8d6d9a79474cff05cbab</a:t>
            </a:r>
          </a:p>
          <a:p xmlns:a="http://schemas.openxmlformats.org/drawingml/2006/main">
            <a:r>
              <a:t>https://www.bbc.com/russian/news-40853405</a:t>
            </a:r>
          </a:p>
          <a:p xmlns:a="http://schemas.openxmlformats.org/drawingml/2006/main">
            <a:r>
              <a:t>https://www.rbc.ru/politics/10/08/2017/598c0a8e9a7947569574ba10?from=right_column_materials_1</a:t>
            </a:r>
          </a:p>
          <a:p xmlns:a="http://schemas.openxmlformats.org/drawingml/2006/main">
            <a:r>
              <a:t>https://www.vedomosti.ru/politics/articles/2017/08/10/728820-udaltsov</a:t>
            </a:r>
          </a:p>
          <a:p xmlns:a="http://schemas.openxmlformats.org/drawingml/2006/main">
            <a:r>
              <a:t>https://www.interfax.ru/elections2018/598382</a:t>
            </a:r>
          </a:p>
          <a:p xmlns:a="http://schemas.openxmlformats.org/drawingml/2006/main">
            <a:r>
              <a:t>https://sotaproject.com/article/sergeia-udaltsova-opiat-pytaiutsia-posadit-khotia-on-vsego-lish-prosit-putina-postroit-sotsializm</a:t>
            </a:r>
          </a:p>
          <a:p xmlns:a="http://schemas.openxmlformats.org/drawingml/2006/main">
            <a:r>
              <a:t>https://www.gazeta.ru/tags/person/sergei_udaltsov.shtml</a:t>
            </a:r>
          </a:p>
          <a:p xmlns:a="http://schemas.openxmlformats.org/drawingml/2006/main">
            <a:r>
              <a:t>https://www.kommersant.ru/doc/8317316</a:t>
            </a:r>
          </a:p>
          <a:p xmlns:a="http://schemas.openxmlformats.org/drawingml/2006/main">
            <a:r>
              <a:t>https://www.kommersant.ru/doc/8972418</a:t>
            </a:r>
          </a:p>
          <a:p xmlns:a="http://schemas.openxmlformats.org/drawingml/2006/main">
            <a:r>
              <a:t>https://holod.media/2023/09/12/udaltsov-interview/</a:t>
            </a:r>
          </a:p>
          <a:p xmlns:a="http://schemas.openxmlformats.org/drawingml/2006/main">
            <a:r>
              <a:t>https://meduza.io/feature/2024/01/11/sergey-udaltsov-zaderzhan-po-obvineniyu-v-opravdanii-terrorizma</a:t>
            </a:r>
          </a:p>
          <a:p xmlns:a="http://schemas.openxmlformats.org/drawingml/2006/main">
            <a:r>
              <a:t>https://ref-book.sova-center.ru/index.php/%D0%94%D1%80%D1%83%D0%B3%D0%B0%D1%8F_%D0%A0%D0%BE%D1%81%D1%81%D0%B8%D1%8F,_%D0%BF%D0%B0%D1%80%D1%82%D0%B8%D1%8F</a:t>
            </a:r>
          </a:p>
          <a:p xmlns:a="http://schemas.openxmlformats.org/drawingml/2006/main">
            <a:r>
              <a:t>https://www.rbc.ru/society/17/03/2020/5e71048d9a79473925ab81a7</a:t>
            </a:r>
          </a:p>
          <a:p xmlns:a="http://schemas.openxmlformats.org/drawingml/2006/main">
            <a:r>
              <a:t>https://rt.rbc.ru/society/18/03/2020/5e71acc49a794773553f824e</a:t>
            </a:r>
          </a:p>
          <a:p xmlns:a="http://schemas.openxmlformats.org/drawingml/2006/main">
            <a:r>
              <a:t>https://www.bostonglobe.com/metro/obituaries/2020/03/18/russian-author-political-activist-eduard-limonov-dies/jnjHywBRjVTTgnlsqI12vN/story.html</a:t>
            </a:r>
          </a:p>
          <a:p xmlns:a="http://schemas.openxmlformats.org/drawingml/2006/main">
            <a:r>
              <a:t>https://nsn.fm/society/poslednee-intervu-pisatelya-i-politika-eduarda-limonova</a:t>
            </a:r>
          </a:p>
          <a:p xmlns:a="http://schemas.openxmlformats.org/drawingml/2006/main">
            <a:r>
              <a:t>http://www.grso.ru/person/limonov-eduard.html</a:t>
            </a:r>
          </a:p>
          <a:p xmlns:a="http://schemas.openxmlformats.org/drawingml/2006/main">
            <a:r>
              <a:t>https://ru.wikipedia.org/wiki/%D0%94%D1%80%D1%83%D0%B3%D0%B0%D1%8F_%D0%A0%D0%BE%D1%81%D1%81%D0%B8%D1%8F_%D0%AD._%D0%92._%D0%9B%D0%B8%D0%BC%D0%BE%D0%BD%D0%BE%D0%B2%D0%B0</a:t>
            </a:r>
          </a:p>
          <a:p xmlns:a="http://schemas.openxmlformats.org/drawingml/2006/main">
            <a:r>
              <a:t>https://novayagazeta.ru/articles/2017/03/12/71752-puteshestvie-natsbolov-k-putinu-i-obratno</a:t>
            </a:r>
          </a:p>
          <a:p xmlns:a="http://schemas.openxmlformats.org/drawingml/2006/main">
            <a:r>
              <a:t>https://mediabrest.by/news/lyudi/umer-eduard-limonov-chem-zapomnilsya-pisatel</a:t>
            </a:r>
          </a:p>
          <a:p xmlns:a="http://schemas.openxmlformats.org/drawingml/2006/main">
            <a:r>
              <a:t>https://www.limonow.de/read/EL_2013-2018_T.html</a:t>
            </a:r>
          </a:p>
          <a:p xmlns:a="http://schemas.openxmlformats.org/drawingml/2006/main">
            <a:r>
              <a:t>https://www.infpol.ru/203662-ot-ubezhdennogo-antisovetchika-do-kolumnista-rt/</a:t>
            </a:r>
          </a:p>
          <a:p xmlns:a="http://schemas.openxmlformats.org/drawingml/2006/main">
            <a:r>
              <a:t>https://www.bbc.com/russian/articles/c2eg90d7gg9o</a:t>
            </a:r>
          </a:p>
          <a:p xmlns:a="http://schemas.openxmlformats.org/drawingml/2006/main">
            <a:r>
              <a:t>https://www.dw.com/ru/mosgorsud-prigovoril-igora-girkina-strelkova-k-4-godam-kolonii/a-68080937</a:t>
            </a:r>
          </a:p>
          <a:p xmlns:a="http://schemas.openxmlformats.org/drawingml/2006/main">
            <a:r>
              <a:t>https://www.fontanka.ru/2023/07/21/72520253</a:t>
            </a:r>
          </a:p>
          <a:p xmlns:a="http://schemas.openxmlformats.org/drawingml/2006/main">
            <a:r>
              <a:t>https://www.svoboda.org/a/strelkov-iz-sizo-opasayusj-amnistii-kak-u-prigozhina-/32722083.html</a:t>
            </a:r>
          </a:p>
          <a:p xmlns:a="http://schemas.openxmlformats.org/drawingml/2006/main">
            <a:r>
              <a:t>https://ru.themoscowtimes.com/2023/12/07/girkin-zayavil-chto-opasaetsya-povtorit-sudbu-prigozhina-a115592</a:t>
            </a:r>
          </a:p>
          <a:p xmlns:a="http://schemas.openxmlformats.org/drawingml/2006/main">
            <a:r>
              <a:t>https://ru.krymr.com/a/boing-mn17-10-let-podozrevayemyye-obvinyayemyye-vinovnyye/33040170.html</a:t>
            </a:r>
          </a:p>
          <a:p xmlns:a="http://schemas.openxmlformats.org/drawingml/2006/main">
            <a:r>
              <a:t>https://charter97.org/ru/news/2023/7/22/556802/</a:t>
            </a:r>
          </a:p>
          <a:p xmlns:a="http://schemas.openxmlformats.org/drawingml/2006/main">
            <a:r>
              <a:t>https://t.me/s/pgubarev?after=622</a:t>
            </a:r>
          </a:p>
          <a:p xmlns:a="http://schemas.openxmlformats.org/drawingml/2006/main">
            <a:r>
              <a:t>https://rabkor.ru/columns/debates/2023/05/23/angry_patriots_of_an_imaginary_country/</a:t>
            </a:r>
          </a:p>
          <a:p xmlns:a="http://schemas.openxmlformats.org/drawingml/2006/main">
            <a:r>
              <a:t>https://www.bbc.com/news/world-60947877</a:t>
            </a:r>
          </a:p>
          <a:p xmlns:a="http://schemas.openxmlformats.org/drawingml/2006/main">
            <a:r>
              <a:t>https://www.reuters.com/world/europe/russian-mercenary-boss-courts-putin-with-ukrainian-battlefield-success-2023-01-13/</a:t>
            </a:r>
          </a:p>
          <a:p xmlns:a="http://schemas.openxmlformats.org/drawingml/2006/main">
            <a:r>
              <a:t>https://www.reuters.com/world/europe/russias-wagner-mercenaries-halt-prisoner-recruitment-campaign-founder-prigozhin-2023-02-09/</a:t>
            </a:r>
          </a:p>
          <a:p xmlns:a="http://schemas.openxmlformats.org/drawingml/2006/main">
            <a:r>
              <a:t>https://www.reuters.com/investigates/special-report/ukraine-crisis-russia-wagner/</a:t>
            </a:r>
          </a:p>
          <a:p xmlns:a="http://schemas.openxmlformats.org/drawingml/2006/main">
            <a:r>
              <a:t>https://www.reuters.com/world/europe/russias-wagner-chief-prigozhin-says-ukraine-counteroffensive-already-under-way-2023-05-03/</a:t>
            </a:r>
          </a:p>
          <a:p xmlns:a="http://schemas.openxmlformats.org/drawingml/2006/main">
            <a:r>
              <a:t>https://www.bbc.com/russian/media-66023357</a:t>
            </a:r>
          </a:p>
          <a:p xmlns:a="http://schemas.openxmlformats.org/drawingml/2006/main">
            <a:r>
              <a:t>https://www.reuters.com/world/europe/russias-prigozhin-his-own-words-mutiny-2023-06-26/</a:t>
            </a:r>
          </a:p>
          <a:p xmlns:a="http://schemas.openxmlformats.org/drawingml/2006/main">
            <a:r>
              <a:t>https://x.com/Reuters/status/1632709213641113601</a:t>
            </a:r>
          </a:p>
          <a:p xmlns:a="http://schemas.openxmlformats.org/drawingml/2006/main">
            <a:r>
              <a:t>https://www.reuters.com/world/europe/russian-mercenary-boss-says-moscows-war-ukraine-based-lies-2023-06-23/</a:t>
            </a:r>
          </a:p>
          <a:p xmlns:a="http://schemas.openxmlformats.org/drawingml/2006/main">
            <a:r>
              <a:t>https://www.rbc.ru/spb_sz/02/10/2026/6abfb91afd4c7ff957d9cbe8</a:t>
            </a:r>
          </a:p>
          <a:p xmlns:a="http://schemas.openxmlformats.org/drawingml/2006/main">
            <a:r>
              <a:t>https://www.zaks.ru/new/person/view/639</a:t>
            </a:r>
          </a:p>
          <a:p xmlns:a="http://schemas.openxmlformats.org/drawingml/2006/main">
            <a:r>
              <a:t>https://www.zaks.ru/new/archive/view/219520</a:t>
            </a:r>
          </a:p>
          <a:p xmlns:a="http://schemas.openxmlformats.org/drawingml/2006/main">
            <a:r>
              <a:t>https://tvspb.ru/news/2016/09/27/novyij-sostav-parlamenta-kto-zajmet-kresla-v-zakonodatelnom-sobranii-vi-sozyiva</a:t>
            </a:r>
          </a:p>
          <a:p xmlns:a="http://schemas.openxmlformats.org/drawingml/2006/main">
            <a:r>
              <a:t>https://tass.ru/politika/20994233</a:t>
            </a:r>
          </a:p>
          <a:p xmlns:a="http://schemas.openxmlformats.org/drawingml/2006/main">
            <a:r>
              <a:t>https://www.zaks.ru/new/archive/view/265712</a:t>
            </a:r>
          </a:p>
          <a:p xmlns:a="http://schemas.openxmlformats.org/drawingml/2006/main">
            <a:r>
              <a:t>https://www.zaks.ru/new/archive/view/269374</a:t>
            </a:r>
          </a:p>
          <a:p xmlns:a="http://schemas.openxmlformats.org/drawingml/2006/main">
            <a:r>
              <a:t>https://www.dp.ru/a/2026/10/02/oksana-dmitrieva-proigrala</a:t>
            </a:r>
          </a:p>
          <a:p xmlns:a="http://schemas.openxmlformats.org/drawingml/2006/main">
            <a:r>
              <a:t>https://ru.wikipedia.org/wiki/%D0%9F%D0%B0%D1%80%D1%82%D0%B8%D1%8F_%D1%80%D0%BE%D1%81%D1%82%D0%B0</a:t>
            </a:r>
          </a:p>
          <a:p xmlns:a="http://schemas.openxmlformats.org/drawingml/2006/main">
            <a:r>
              <a:t>https://dmitrieva.org/category/gosduma/zakonoproekty/</a:t>
            </a:r>
          </a:p>
          <a:p xmlns:a="http://schemas.openxmlformats.org/drawingml/2006/main">
            <a:r>
              <a:t>https://t.me/s/oxdmitrieva?before=1072</a:t>
            </a:r>
          </a:p>
          <a:p xmlns:a="http://schemas.openxmlformats.org/drawingml/2006/main">
            <a:r>
              <a:t>http://api.duma.gov.ru/api/transcriptFull/2023-09-28</a:t>
            </a:r>
          </a:p>
          <a:p xmlns:a="http://schemas.openxmlformats.org/drawingml/2006/main">
            <a:r>
              <a:t>https://www.fontanka.ru/2026/09/04/76623983/</a:t>
            </a:r>
          </a:p>
          <a:p xmlns:a="http://schemas.openxmlformats.org/drawingml/2006/main">
            <a:r>
              <a:t>https://www.vedomosti.ru/politics/articles/2026/03/10/1181644-deputat-semi-sozivov-oksana-dmitrieva-snova-poidet-v-gosdumu</a:t>
            </a:r>
          </a:p>
          <a:p xmlns:a="http://schemas.openxmlformats.org/drawingml/2006/main">
            <a:r>
              <a:t>https://www.kommersant.ru/doc/8497588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Трёхкластерное решение выделяет три содержательно различимых профиля, каждый из которых характеризуется уникальным сочетанием нагруженных свойств. Первый кластер объединяет акторов, ориентированных на институциональные процедуры и умеренную поддержку действующей власти, второй — выраженных сторонников антивоенной риторики, критики власти и интеграции с Западом, а третий — группу с выраженной конфронтационностью, мобилизационной риторикой и персонализацией. Эти профили различаются не только по ключевым факторам, но и по ряду шкал с крупными сдвигами относительно всей выборки, что позволяет говорить о содержательной интерпретируемости каждого кластера.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При дальнейшем увеличении числа кластеров (k &gt; 3) происходит преимущественно дробление уже выделенных профилей на более мелкие подгруппы, различия между которыми выражены слабее и часто касаются нюансов внутри уже описанных направлений (например, разделение умеренных и радикальных представителей внутри одного лагеря). При этом новые кластеры зачастую оказываются малы по размеру и менее устойчивы, а их содержательная специфика не столь отчётлива, как у трёх основных профилей. Таким образом, k=3 выбрано как рабочий компромисс между различимостью, интерпретируемостью и ценой дополнительного дробления.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Численная сводка из расчёта: у k=3 силуэт 0.508; наибольший силуэт среди проверенных вариантов — 0.512 при k=7. Медианный ARI выбранного разбиения — 1.000, минимальный по группам медианный Jaccard — 1.000. Содержательное предпочтение не означает максимума всех численных показателей или доказательства естественных классов. Средний ARI — 0.914, минимальный ARI — 0.360; устойчивость оценена при фиксированных факторных координатах, без повторного сбора досье и оценивания.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Числа: metadata.json, scores.csv, loadings.csv и утверждённая матрица оценок.</a:t>
            </a:r>
          </a:p>
          <a:p xmlns:a="http://schemas.openxmlformats.org/drawingml/2006/main">
            <a:r>
              <a:t>Изучаемое пространство: Публичный политический образ российских политиков и иных заметных политических акторов, включая деятелей за рубежом, активных хотя бы в части периода. Не рейтинг популярности..</a:t>
            </a:r>
          </a:p>
          <a:p xmlns:a="http://schemas.openxmlformats.org/drawingml/2006/main">
            <a:r>
              <a:t>Оценщик: llm_exploratory.</a:t>
            </a:r>
          </a:p>
          <a:p xmlns:a="http://schemas.openxmlformats.org/drawingml/2006/main">
            <a:r>
              <a:t>Исходные URL:</a:t>
            </a:r>
          </a:p>
          <a:p xmlns:a="http://schemas.openxmlformats.org/drawingml/2006/main">
            <a:r>
              <a:t>https://kremlin.ru/structure/president</a:t>
            </a:r>
          </a:p>
          <a:p xmlns:a="http://schemas.openxmlformats.org/drawingml/2006/main">
            <a:r>
              <a:t>http://www.special.kremlin.ru/events/president/transcripts/67843</a:t>
            </a:r>
          </a:p>
          <a:p xmlns:a="http://schemas.openxmlformats.org/drawingml/2006/main">
            <a:r>
              <a:t>http://en.kremlin.ru/events/president/news/70315</a:t>
            </a:r>
          </a:p>
          <a:p xmlns:a="http://schemas.openxmlformats.org/drawingml/2006/main">
            <a:r>
              <a:t>http://special.kremlin.ru/events/president/transcripts/70565</a:t>
            </a:r>
          </a:p>
          <a:p xmlns:a="http://schemas.openxmlformats.org/drawingml/2006/main">
            <a:r>
              <a:t>http://special.kremlin.ru/events/president/transcripts/72994</a:t>
            </a:r>
          </a:p>
          <a:p xmlns:a="http://schemas.openxmlformats.org/drawingml/2006/main">
            <a:r>
              <a:t>http://kremlin.ru/events/president/news/73585</a:t>
            </a:r>
          </a:p>
          <a:p xmlns:a="http://schemas.openxmlformats.org/drawingml/2006/main">
            <a:r>
              <a:t>http://special.kremlin.ru/events/president/transcripts/75762</a:t>
            </a:r>
          </a:p>
          <a:p xmlns:a="http://schemas.openxmlformats.org/drawingml/2006/main">
            <a:r>
              <a:t>http://www.special.kremlin.ru/events/president/transcripts/76899</a:t>
            </a:r>
          </a:p>
          <a:p xmlns:a="http://schemas.openxmlformats.org/drawingml/2006/main">
            <a:r>
              <a:t>http://special.kremlin.ru/events/president/transcripts/80017</a:t>
            </a:r>
          </a:p>
          <a:p xmlns:a="http://schemas.openxmlformats.org/drawingml/2006/main">
            <a:r>
              <a:t>http://www.special.kremlin.ru/events/president/transcripts/72084</a:t>
            </a:r>
          </a:p>
          <a:p xmlns:a="http://schemas.openxmlformats.org/drawingml/2006/main">
            <a:r>
              <a:t>http://www.special.kremlin.ru/events/president/transcripts/80172</a:t>
            </a:r>
          </a:p>
          <a:p xmlns:a="http://schemas.openxmlformats.org/drawingml/2006/main">
            <a:r>
              <a:t>https://www.diva-portal.org/smash/get/diva2:2035197/FULLTEXT01.pdf</a:t>
            </a:r>
          </a:p>
          <a:p xmlns:a="http://schemas.openxmlformats.org/drawingml/2006/main">
            <a:r>
              <a:t>https://www.reuters.com/world/what-know-about-russias-upcoming-parliamentary-election-2026-09-15/</a:t>
            </a:r>
          </a:p>
          <a:p xmlns:a="http://schemas.openxmlformats.org/drawingml/2006/main">
            <a:r>
              <a:t>https://www.reuters.com/world/europe/how-putin-may-leverage-predictable-outcome-russias-elections-2026-09-18/</a:t>
            </a:r>
          </a:p>
          <a:p xmlns:a="http://schemas.openxmlformats.org/drawingml/2006/main">
            <a:r>
              <a:t>https://ru.wikipedia.org/wiki/Медведев,_Дмитрий_Анатольевич</a:t>
            </a:r>
          </a:p>
          <a:p xmlns:a="http://schemas.openxmlformats.org/drawingml/2006/main">
            <a:r>
              <a:t>https://tass.ru/ekonomika/3941450</a:t>
            </a:r>
          </a:p>
          <a:p xmlns:a="http://schemas.openxmlformats.org/drawingml/2006/main">
            <a:r>
              <a:t>http://archive.government.ru/docs/21653/print/</a:t>
            </a:r>
          </a:p>
          <a:p xmlns:a="http://schemas.openxmlformats.org/drawingml/2006/main">
            <a:r>
              <a:t>https://netfreedom.org.ua/ru/dmytro-anatoliiovych-medvediev-biohrafiia-posady-i-sanktsii/</a:t>
            </a:r>
          </a:p>
          <a:p xmlns:a="http://schemas.openxmlformats.org/drawingml/2006/main">
            <a:r>
              <a:t>https://verstka.media/czeli-svo-kak-kreml-menyal-ih-na-protyazhenii-tryoh-let-vojny</a:t>
            </a:r>
          </a:p>
          <a:p xmlns:a="http://schemas.openxmlformats.org/drawingml/2006/main">
            <a:r>
              <a:t>http://www.scrf.gov.ru/news/allnews/3820/</a:t>
            </a:r>
          </a:p>
          <a:p xmlns:a="http://schemas.openxmlformats.org/drawingml/2006/main">
            <a:r>
              <a:t>http://scrf.gov.ru/news/allnews/3837/</a:t>
            </a:r>
          </a:p>
          <a:p xmlns:a="http://schemas.openxmlformats.org/drawingml/2006/main">
            <a:r>
              <a:t>https://baike.baidu.com/ru/item/%D0%94%D0%BC%D0%B8%D1%82%D1%80%D0%B8%D0%B9%20%D0%90%D0%BD%D0%B0%D1%82%D0%BE%D0%BB%D1%8C%D0%B5%D0%B2%D0%B8%D1%87%20%D0%9C%D0%B5%D0%B4%D0%B2%D0%B5%D0%B4%D0%B5%D0%B2/3254451</a:t>
            </a:r>
          </a:p>
          <a:p xmlns:a="http://schemas.openxmlformats.org/drawingml/2006/main">
            <a:r>
              <a:t>https://tass.ru/politika/5889577</a:t>
            </a:r>
          </a:p>
          <a:p xmlns:a="http://schemas.openxmlformats.org/drawingml/2006/main">
            <a:r>
              <a:t>https://meduza.io/feature/2023/06/26/chto-proizoshlo-s-dmitriem-medvedevym</a:t>
            </a:r>
          </a:p>
          <a:p xmlns:a="http://schemas.openxmlformats.org/drawingml/2006/main">
            <a:r>
              <a:t>https://www.bbc.com/russian/articles/c6evw7d22lv0o</a:t>
            </a:r>
          </a:p>
          <a:p xmlns:a="http://schemas.openxmlformats.org/drawingml/2006/main">
            <a:r>
              <a:t>https://er.ru/activity/news/dmitrij-medvedev-edinaya-rossiya-ne-dopustit-razrusheniya-cennostnyh-osnov-strany</a:t>
            </a:r>
          </a:p>
          <a:p xmlns:a="http://schemas.openxmlformats.org/drawingml/2006/main">
            <a:r>
              <a:t>https://en.wikipedia.org/wiki/Media_freedom_in_Russia</a:t>
            </a:r>
          </a:p>
          <a:p xmlns:a="http://schemas.openxmlformats.org/drawingml/2006/main">
            <a:r>
              <a:t>https://government.ru/gov/persons/151/travel/?area=KHA</a:t>
            </a:r>
          </a:p>
          <a:p xmlns:a="http://schemas.openxmlformats.org/drawingml/2006/main">
            <a:r>
              <a:t>http://government.ru/gov/persons/151/biography/</a:t>
            </a:r>
          </a:p>
          <a:p xmlns:a="http://schemas.openxmlformats.org/drawingml/2006/main">
            <a:r>
              <a:t>https://www.reuters.com/world/europe/who-is-russias-mikhail-mishustin-2024-05-10/</a:t>
            </a:r>
          </a:p>
          <a:p xmlns:a="http://schemas.openxmlformats.org/drawingml/2006/main">
            <a:r>
              <a:t>https://www.kommersant.ru/doc/4220798</a:t>
            </a:r>
          </a:p>
          <a:p xmlns:a="http://schemas.openxmlformats.org/drawingml/2006/main">
            <a:r>
              <a:t>https://www.vedomosti.ru/politics/galleries/2026/03/03/1179718-nalogi-pod-kontrolem</a:t>
            </a:r>
          </a:p>
          <a:p xmlns:a="http://schemas.openxmlformats.org/drawingml/2006/main">
            <a:r>
              <a:t>http://government.ru/gov/persons/151/travel/?page=5</a:t>
            </a:r>
          </a:p>
          <a:p xmlns:a="http://schemas.openxmlformats.org/drawingml/2006/main">
            <a:r>
              <a:t>http://government.ru/news/46476/</a:t>
            </a:r>
          </a:p>
          <a:p xmlns:a="http://schemas.openxmlformats.org/drawingml/2006/main">
            <a:r>
              <a:t>http://government.ru/news/52063/</a:t>
            </a:r>
          </a:p>
          <a:p xmlns:a="http://schemas.openxmlformats.org/drawingml/2006/main">
            <a:r>
              <a:t>http://government.ru/news/52851/</a:t>
            </a:r>
          </a:p>
          <a:p xmlns:a="http://schemas.openxmlformats.org/drawingml/2006/main">
            <a:r>
              <a:t>https://nangs.org/news/society/kabmin-privlek-otdelnye-gosorgany-k-ukrepleniyu-traditsionnykh-tsennostej</a:t>
            </a:r>
          </a:p>
          <a:p xmlns:a="http://schemas.openxmlformats.org/drawingml/2006/main">
            <a:r>
              <a:t>http://government.ru/news/57315/</a:t>
            </a:r>
          </a:p>
          <a:p xmlns:a="http://schemas.openxmlformats.org/drawingml/2006/main">
            <a:r>
              <a:t>https://www.rbc.ru/person/617bf30d9a7947f92ee2d266</a:t>
            </a:r>
          </a:p>
          <a:p xmlns:a="http://schemas.openxmlformats.org/drawingml/2006/main">
            <a:r>
              <a:t>https://mid.ru/ru/press_service/video/view/1848395/</a:t>
            </a:r>
          </a:p>
          <a:p xmlns:a="http://schemas.openxmlformats.org/drawingml/2006/main">
            <a:r>
              <a:t>https://mid.ru/ru/foreign_policy/international_organizations/1932076/</a:t>
            </a:r>
          </a:p>
          <a:p xmlns:a="http://schemas.openxmlformats.org/drawingml/2006/main">
            <a:r>
              <a:t>https://mid.ru/ru/press_service/minister_speeches/1991476/</a:t>
            </a:r>
          </a:p>
          <a:p xmlns:a="http://schemas.openxmlformats.org/drawingml/2006/main">
            <a:r>
              <a:t>https://www.mid.ru/ru/press_service/vizity-ministra/1922112/</a:t>
            </a:r>
          </a:p>
          <a:p xmlns:a="http://schemas.openxmlformats.org/drawingml/2006/main">
            <a:r>
              <a:t>https://www.mid.ru/ru/foreign_policy/news/1927568/</a:t>
            </a:r>
          </a:p>
          <a:p xmlns:a="http://schemas.openxmlformats.org/drawingml/2006/main">
            <a:r>
              <a:t>https://mid.ru/ru/foreign_policy/news/1912973/</a:t>
            </a:r>
          </a:p>
          <a:p xmlns:a="http://schemas.openxmlformats.org/drawingml/2006/main">
            <a:r>
              <a:t>https://www.reuters.com/world/europe/russias-lavrov-says-moscow-committed-us-proposals-peace-rejects-europes-2026-06-15/</a:t>
            </a:r>
          </a:p>
          <a:p xmlns:a="http://schemas.openxmlformats.org/drawingml/2006/main">
            <a:r>
              <a:t>https://www.reuters.com/world/lavrov-says-russia-is-ready-resume-talks-with-ukraine-point-where-they-left-off-2026-06-23/</a:t>
            </a:r>
          </a:p>
          <a:p xmlns:a="http://schemas.openxmlformats.org/drawingml/2006/main">
            <a:r>
              <a:t>https://mid.ru/ru/press_service/video/view/1799184/</a:t>
            </a:r>
          </a:p>
          <a:p xmlns:a="http://schemas.openxmlformats.org/drawingml/2006/main">
            <a:r>
              <a:t>https://en.wikipedia.org/wiki/Sergey_Lavrov</a:t>
            </a:r>
          </a:p>
          <a:p xmlns:a="http://schemas.openxmlformats.org/drawingml/2006/main">
            <a:r>
              <a:t>https://www.garant.ru/products/ipo/prime/doc/70627660/</a:t>
            </a:r>
          </a:p>
          <a:p xmlns:a="http://schemas.openxmlformats.org/drawingml/2006/main">
            <a:r>
              <a:t>https://www.rbc.ru/person/617fc0679a794761d6170b80</a:t>
            </a:r>
          </a:p>
          <a:p xmlns:a="http://schemas.openxmlformats.org/drawingml/2006/main">
            <a:r>
              <a:t>http://www.kremlin.ru/acts/bank/50544</a:t>
            </a:r>
          </a:p>
          <a:p xmlns:a="http://schemas.openxmlformats.org/drawingml/2006/main">
            <a:r>
              <a:t>http://special.kremlin.ru/events/president/news/74019</a:t>
            </a:r>
          </a:p>
          <a:p xmlns:a="http://schemas.openxmlformats.org/drawingml/2006/main">
            <a:r>
              <a:t>https://www.interfax.ru/russia/960081</a:t>
            </a:r>
          </a:p>
          <a:p xmlns:a="http://schemas.openxmlformats.org/drawingml/2006/main">
            <a:r>
              <a:t>https://www.rbc.ru/politics/21/09/2022/632ab17c9a794781413c8582</a:t>
            </a:r>
          </a:p>
          <a:p xmlns:a="http://schemas.openxmlformats.org/drawingml/2006/main">
            <a:r>
              <a:t>https://www.bbc.com/russian/articles/c72p0jq04gjo</a:t>
            </a:r>
          </a:p>
          <a:p xmlns:a="http://schemas.openxmlformats.org/drawingml/2006/main">
            <a:r>
              <a:t>https://meduza.io/feature/2024/05/12/putin-uvolil-shoygu-s-posta-ministra-oborony-i-perevel-v-sovbez</a:t>
            </a:r>
          </a:p>
          <a:p xmlns:a="http://schemas.openxmlformats.org/drawingml/2006/main">
            <a:r>
              <a:t>https://paodkb.org/events/sergey-shoygu-naznachen-sekretarem-soveta-bezopasnosti-rf</a:t>
            </a:r>
          </a:p>
          <a:p xmlns:a="http://schemas.openxmlformats.org/drawingml/2006/main">
            <a:r>
              <a:t>https://base.garant.ru/409005084/</a:t>
            </a:r>
          </a:p>
          <a:p xmlns:a="http://schemas.openxmlformats.org/drawingml/2006/main">
            <a:r>
              <a:t>http://special.kremlin.ru/supplement/6345</a:t>
            </a:r>
          </a:p>
          <a:p xmlns:a="http://schemas.openxmlformats.org/drawingml/2006/main">
            <a:r>
              <a:t>http://en.kremlin.ru/supplement/6345</a:t>
            </a:r>
          </a:p>
          <a:p xmlns:a="http://schemas.openxmlformats.org/drawingml/2006/main">
            <a:r>
              <a:t>https://www.kp.ru/daily/27656.5/5040576/</a:t>
            </a:r>
          </a:p>
          <a:p xmlns:a="http://schemas.openxmlformats.org/drawingml/2006/main">
            <a:r>
              <a:t>https://www.fontanka.ru/2025/06/10/75574928/</a:t>
            </a:r>
          </a:p>
          <a:p xmlns:a="http://schemas.openxmlformats.org/drawingml/2006/main">
            <a:r>
              <a:t>https://tass.ru/politika/25506737</a:t>
            </a:r>
          </a:p>
          <a:p xmlns:a="http://schemas.openxmlformats.org/drawingml/2006/main">
            <a:r>
              <a:t>https://www.rbc.ru/person/6181419c9a7947df128a22f7</a:t>
            </a:r>
          </a:p>
          <a:p xmlns:a="http://schemas.openxmlformats.org/drawingml/2006/main">
            <a:r>
              <a:t>https://www.rbc.ru/economics/31/05/2021/60b3de5d9a7947f2883f7aa0</a:t>
            </a:r>
          </a:p>
          <a:p xmlns:a="http://schemas.openxmlformats.org/drawingml/2006/main">
            <a:r>
              <a:t>https://www.rbc.ru/politics/13/05/2024/6641109a9a7947ab8eebcf7f</a:t>
            </a:r>
          </a:p>
          <a:p xmlns:a="http://schemas.openxmlformats.org/drawingml/2006/main">
            <a:r>
              <a:t>https://www.rbc.ru/business/13/06/2023/6482d3389a79473805ee8978</a:t>
            </a:r>
          </a:p>
          <a:p xmlns:a="http://schemas.openxmlformats.org/drawingml/2006/main">
            <a:r>
              <a:t>https://thebell.io/kuda-vedet-ekonomiku-andrej-belousov-zagadki-dmitriya-medvedeva-i-sposoby-perezhit-sanktsii</a:t>
            </a:r>
          </a:p>
          <a:p xmlns:a="http://schemas.openxmlformats.org/drawingml/2006/main">
            <a:r>
              <a:t>https://72.ru/text/politics/2024/05/14/73575386/</a:t>
            </a:r>
          </a:p>
          <a:p xmlns:a="http://schemas.openxmlformats.org/drawingml/2006/main">
            <a:r>
              <a:t>https://tass.ru/armiya-i-opk/22683223</a:t>
            </a:r>
          </a:p>
          <a:p xmlns:a="http://schemas.openxmlformats.org/drawingml/2006/main">
            <a:r>
              <a:t>https://www.rbc.ru/society/12/12/2017/5a2f9b5a9a79473649fe0042</a:t>
            </a:r>
          </a:p>
          <a:p xmlns:a="http://schemas.openxmlformats.org/drawingml/2006/main">
            <a:r>
              <a:t>https://www.istorex.org/post/russia-december-2024-february-2025</a:t>
            </a:r>
          </a:p>
          <a:p xmlns:a="http://schemas.openxmlformats.org/drawingml/2006/main">
            <a:r>
              <a:t>https://rosinform.ru/news/andrej-belousov-osoboe-znachenie-pridayom-obespecheniyu-voennoj-bezopasnosti-soyuznogo-gosudarstva</a:t>
            </a:r>
          </a:p>
          <a:p xmlns:a="http://schemas.openxmlformats.org/drawingml/2006/main">
            <a:r>
              <a:t>https://xn--b1apnk.xn--p1ai/tpost/nsk7vo4xh1-vstrecha-s-ministrom-oboroni-rossii-i-os</a:t>
            </a:r>
          </a:p>
          <a:p xmlns:a="http://schemas.openxmlformats.org/drawingml/2006/main">
            <a:r>
              <a:t>https://www.rbc.ru/person/62d120d89a79475f0ddd8b5e</a:t>
            </a:r>
          </a:p>
          <a:p xmlns:a="http://schemas.openxmlformats.org/drawingml/2006/main">
            <a:r>
              <a:t>http://scrf.gov.ru/news/allnews/2148/</a:t>
            </a:r>
          </a:p>
          <a:p xmlns:a="http://schemas.openxmlformats.org/drawingml/2006/main">
            <a:r>
              <a:t>https://www.rbc.ru/politics/14/05/2024/6643287b9a7947a8f0b8ba78</a:t>
            </a:r>
          </a:p>
          <a:p xmlns:a="http://schemas.openxmlformats.org/drawingml/2006/main">
            <a:r>
              <a:t>https://tass.ru/info/20789699</a:t>
            </a:r>
          </a:p>
          <a:p xmlns:a="http://schemas.openxmlformats.org/drawingml/2006/main">
            <a:r>
              <a:t>https://marine.org.ru/structure/person/56/</a:t>
            </a:r>
          </a:p>
          <a:p xmlns:a="http://schemas.openxmlformats.org/drawingml/2006/main">
            <a:r>
              <a:t>https://marine.org.ru/publication/smi/16108/</a:t>
            </a:r>
          </a:p>
          <a:p xmlns:a="http://schemas.openxmlformats.org/drawingml/2006/main">
            <a:r>
              <a:t>https://www.svoboda.org/a/30676123.html</a:t>
            </a:r>
          </a:p>
          <a:p xmlns:a="http://schemas.openxmlformats.org/drawingml/2006/main">
            <a:r>
              <a:t>https://aif.ru/society/safety/kuklovodstvo_k_deystviyu_nikolay_patrushev_o_metodah_cvetnyh_revolyuciy</a:t>
            </a:r>
          </a:p>
          <a:p xmlns:a="http://schemas.openxmlformats.org/drawingml/2006/main">
            <a:r>
              <a:t>https://vkrizis.info/vlast/czennosti-razmyvaniya/</a:t>
            </a:r>
          </a:p>
          <a:p xmlns:a="http://schemas.openxmlformats.org/drawingml/2006/main">
            <a:r>
              <a:t>https://infranomica.ru/2026/05/19/selskoe-hozyajstvo-est-rezultat-budet-i-pishha/</a:t>
            </a:r>
          </a:p>
          <a:p xmlns:a="http://schemas.openxmlformats.org/drawingml/2006/main">
            <a:r>
              <a:t>https://www.rbc.ru/person/660400989a79471b36dbb514</a:t>
            </a:r>
          </a:p>
          <a:p xmlns:a="http://schemas.openxmlformats.org/drawingml/2006/main">
            <a:r>
              <a:t>http://special.kremlin.ru/catalog/persons/100/events</a:t>
            </a:r>
          </a:p>
          <a:p xmlns:a="http://schemas.openxmlformats.org/drawingml/2006/main">
            <a:r>
              <a:t>https://nac.gov.ru/view/eb008ff4-1608-4b47-b2a9-3d604c1833c2</a:t>
            </a:r>
          </a:p>
          <a:p xmlns:a="http://schemas.openxmlformats.org/drawingml/2006/main">
            <a:r>
              <a:t>http://pfo.gov.ru/press/events/113336/</a:t>
            </a:r>
          </a:p>
          <a:p xmlns:a="http://schemas.openxmlformats.org/drawingml/2006/main">
            <a:r>
              <a:t>https://www.opensanctions.org/entities/Q516824/</a:t>
            </a:r>
          </a:p>
          <a:p xmlns:a="http://schemas.openxmlformats.org/drawingml/2006/main">
            <a:r>
              <a:t>https://www.agents.media/ssha-poprobuyut-vozobnovit-peregovory-o-mire-v-ukraine-cherez-glavu-fsb-che-vedomstvo-kak-schitaetsya-svoimi-dokladami-podtolknulo-putina-k-vojne/</a:t>
            </a:r>
          </a:p>
          <a:p xmlns:a="http://schemas.openxmlformats.org/drawingml/2006/main">
            <a:r>
              <a:t>https://letters.kremlin.ru/news/receptions/by-section/assignments/by-person/260</a:t>
            </a:r>
          </a:p>
          <a:p xmlns:a="http://schemas.openxmlformats.org/drawingml/2006/main">
            <a:r>
              <a:t>https://www.kommersant.ru/doc/3612580</a:t>
            </a:r>
          </a:p>
          <a:p xmlns:a="http://schemas.openxmlformats.org/drawingml/2006/main">
            <a:r>
              <a:t>https://fbk.info/ru/investigations/kirienko-kholyi-putina</a:t>
            </a:r>
          </a:p>
          <a:p xmlns:a="http://schemas.openxmlformats.org/drawingml/2006/main">
            <a:r>
              <a:t>https://utro02.tv/2022/05/24/kolebaniya-kirienok/</a:t>
            </a:r>
          </a:p>
          <a:p xmlns:a="http://schemas.openxmlformats.org/drawingml/2006/main">
            <a:r>
              <a:t>https://meduza.io/feature/2023/12/19/on-peresidel-v-svoem-kresle-v-kremle-i-pravitelstve-obsuzhdayut-chto-sergey-kirienko-mozhet-lishitsya-dolzhnosti-v-ap-posle-vyborov-prezidenta</a:t>
            </a:r>
          </a:p>
          <a:p xmlns:a="http://schemas.openxmlformats.org/drawingml/2006/main">
            <a:r>
              <a:t>https://verstka.media/kak-rossiya-prodvigaet-svoyu-molodezhnuyu-politiku-na-okkupirovannyh-territoriyah</a:t>
            </a:r>
          </a:p>
          <a:p xmlns:a="http://schemas.openxmlformats.org/drawingml/2006/main">
            <a:r>
              <a:t>https://dnrnews.ru/society/2025/09/04/1167117.html</a:t>
            </a:r>
          </a:p>
          <a:p xmlns:a="http://schemas.openxmlformats.org/drawingml/2006/main">
            <a:r>
              <a:t>https://www.tadviser.ru/index.php/%D0%9F%D0%B5%D1%80%D1%81%D0%BE%D0%BD%D0%B0:%D0%9A%D0%B8%D1%80%D0%B8%D0%B5%D0%BD%D0%BA%D0%BE_%D0%A1%D0%B5%D1%80%D0%B3%D0%B5%D0%B9_%D0%92%D0%BB%D0%B0%D0%B4%D0%B8%D0%BB%D0%B5%D0%BD%D0%BE%D0%B2%D0%B8%D1%87</a:t>
            </a:r>
          </a:p>
          <a:p xmlns:a="http://schemas.openxmlformats.org/drawingml/2006/main">
            <a:r>
              <a:t>https://tass.ru/politika/18225741</a:t>
            </a:r>
          </a:p>
          <a:p xmlns:a="http://schemas.openxmlformats.org/drawingml/2006/main">
            <a:r>
              <a:t>https://www.kommersant.ru/doc/6187168</a:t>
            </a:r>
          </a:p>
          <a:p xmlns:a="http://schemas.openxmlformats.org/drawingml/2006/main">
            <a:r>
              <a:t>https://duma.gov.ru/news/63383/</a:t>
            </a:r>
          </a:p>
          <a:p xmlns:a="http://schemas.openxmlformats.org/drawingml/2006/main">
            <a:r>
              <a:t>http://duma.gov.ru/en/duma/persons/99100829/news/</a:t>
            </a:r>
          </a:p>
          <a:p xmlns:a="http://schemas.openxmlformats.org/drawingml/2006/main">
            <a:r>
              <a:t>http://duma.gov.ru/en/news/62248/</a:t>
            </a:r>
          </a:p>
          <a:p xmlns:a="http://schemas.openxmlformats.org/drawingml/2006/main">
            <a:r>
              <a:t>http://duma.gov.ru/en/news/61352/</a:t>
            </a:r>
          </a:p>
          <a:p xmlns:a="http://schemas.openxmlformats.org/drawingml/2006/main">
            <a:r>
              <a:t>http://duma.gov.ru/en/news/64178/</a:t>
            </a:r>
          </a:p>
          <a:p xmlns:a="http://schemas.openxmlformats.org/drawingml/2006/main">
            <a:r>
              <a:t>http://duma.gov.ru/en/news/64216</a:t>
            </a:r>
          </a:p>
          <a:p xmlns:a="http://schemas.openxmlformats.org/drawingml/2006/main">
            <a:r>
              <a:t>http://duma.gov.ru/en/news/64239</a:t>
            </a:r>
          </a:p>
          <a:p xmlns:a="http://schemas.openxmlformats.org/drawingml/2006/main">
            <a:r>
              <a:t>https://en.wikipedia.org/wiki/Vyacheslav_Volodin</a:t>
            </a:r>
          </a:p>
          <a:p xmlns:a="http://schemas.openxmlformats.org/drawingml/2006/main">
            <a:r>
              <a:t>http://duma.gov.ru/news/56060/</a:t>
            </a:r>
          </a:p>
          <a:p xmlns:a="http://schemas.openxmlformats.org/drawingml/2006/main">
            <a:r>
              <a:t>http://duma.gov.ru/news/60448/</a:t>
            </a:r>
          </a:p>
          <a:p xmlns:a="http://schemas.openxmlformats.org/drawingml/2006/main">
            <a:r>
              <a:t>http://duma.gov.ru/news/61362/</a:t>
            </a:r>
          </a:p>
          <a:p xmlns:a="http://schemas.openxmlformats.org/drawingml/2006/main">
            <a:r>
              <a:t>http://duma.gov.ru/news/61384/</a:t>
            </a:r>
          </a:p>
          <a:p xmlns:a="http://schemas.openxmlformats.org/drawingml/2006/main">
            <a:r>
              <a:t>http://duma.gov.ru/news/61874/</a:t>
            </a:r>
          </a:p>
          <a:p xmlns:a="http://schemas.openxmlformats.org/drawingml/2006/main">
            <a:r>
              <a:t>http://duma.gov.ru/news/62022/</a:t>
            </a:r>
          </a:p>
          <a:p xmlns:a="http://schemas.openxmlformats.org/drawingml/2006/main">
            <a:r>
              <a:t>http://duma.gov.ru/news/63772/</a:t>
            </a:r>
          </a:p>
          <a:p xmlns:a="http://schemas.openxmlformats.org/drawingml/2006/main">
            <a:r>
              <a:t>https://council.gov.ru/events/news/160466/</a:t>
            </a:r>
          </a:p>
          <a:p xmlns:a="http://schemas.openxmlformats.org/drawingml/2006/main">
            <a:r>
              <a:t>http://council.gov.ru/structure/persons/257/</a:t>
            </a:r>
          </a:p>
          <a:p xmlns:a="http://schemas.openxmlformats.org/drawingml/2006/main">
            <a:r>
              <a:t>https://interaffairs.ru/news/show/16199</a:t>
            </a:r>
          </a:p>
          <a:p xmlns:a="http://schemas.openxmlformats.org/drawingml/2006/main">
            <a:r>
              <a:t>https://www.rbc.ru/person/617fb5ef9a79475c6cfc4502</a:t>
            </a:r>
          </a:p>
          <a:p xmlns:a="http://schemas.openxmlformats.org/drawingml/2006/main">
            <a:r>
              <a:t>https://vksrs.com/publications/matvienko-rasskazala-o-neobkhodimosti-protivostoyat-geroizatsii-natsistov/</a:t>
            </a:r>
          </a:p>
          <a:p xmlns:a="http://schemas.openxmlformats.org/drawingml/2006/main">
            <a:r>
              <a:t>https://absatz.media/politika/158438-valentine-matvienko-77-istoriya-uspeha-put-k-vershine-i-samye-yarkie-zayavleniya</a:t>
            </a:r>
          </a:p>
          <a:p xmlns:a="http://schemas.openxmlformats.org/drawingml/2006/main">
            <a:r>
              <a:t>https://www.rbc.ru/society/14/10/2026/6acf597c9a794743e0478a15?from=short_news</a:t>
            </a:r>
          </a:p>
          <a:p xmlns:a="http://schemas.openxmlformats.org/drawingml/2006/main">
            <a:r>
              <a:t>https://senatinform.ru/news/sf_stremitsya_byt_maksimalno_otkrytym_dlya_raboty_zhurnalistov_matvienko/</a:t>
            </a:r>
          </a:p>
          <a:p xmlns:a="http://schemas.openxmlformats.org/drawingml/2006/main">
            <a:r>
              <a:t>https://eparlament.irzs.ru/Files/getFile/11853</a:t>
            </a:r>
          </a:p>
          <a:p xmlns:a="http://schemas.openxmlformats.org/drawingml/2006/main">
            <a:r>
              <a:t>http://special.council.gov.ru/activity/meetings/170703/transcript/</a:t>
            </a:r>
          </a:p>
          <a:p xmlns:a="http://schemas.openxmlformats.org/drawingml/2006/main">
            <a:r>
              <a:t>https://bookonlime.ru/lecture/12-razvitie-ekonomicheskih-otnosheniy-i-strategicheskoe-planirovanie-v-cifrovoy-ekonomike-2</a:t>
            </a:r>
          </a:p>
          <a:p xmlns:a="http://schemas.openxmlformats.org/drawingml/2006/main">
            <a:r>
              <a:t>https://ru.wikipedia.org/wiki/Песков,_Дмитрий_Сергеевич</a:t>
            </a:r>
          </a:p>
          <a:p xmlns:a="http://schemas.openxmlformats.org/drawingml/2006/main">
            <a:r>
              <a:t>https://www.reuters.com/world/europe/kremlin-says-ukraine-is-now-paying-price-its-own-attacks-russia-2026-09-28/</a:t>
            </a:r>
          </a:p>
          <a:p xmlns:a="http://schemas.openxmlformats.org/drawingml/2006/main">
            <a:r>
              <a:t>https://www.reuters.com/world/europe/kremlin-rejects-le-penbardella-rebuke-says-russia-is-no-threat-france-2026-09-21/</a:t>
            </a:r>
          </a:p>
          <a:p xmlns:a="http://schemas.openxmlformats.org/drawingml/2006/main">
            <a:r>
              <a:t>https://theins.ru/antifake/295208</a:t>
            </a:r>
          </a:p>
          <a:p xmlns:a="http://schemas.openxmlformats.org/drawingml/2006/main">
            <a:r>
              <a:t>https://expert.ru/news/v-kremle-otvetili-na-slova-donalda-trampa-o-rossiyskom-vmeshatelstve</a:t>
            </a:r>
          </a:p>
          <a:p xmlns:a="http://schemas.openxmlformats.org/drawingml/2006/main">
            <a:r>
              <a:t>https://www.dw.com/ru/dmitrij-peskov/t-18146676/page-1</a:t>
            </a:r>
          </a:p>
          <a:p xmlns:a="http://schemas.openxmlformats.org/drawingml/2006/main">
            <a:r>
              <a:t>https://www.pnp.ru/person/dmitriy--peskov/</a:t>
            </a:r>
          </a:p>
          <a:p xmlns:a="http://schemas.openxmlformats.org/drawingml/2006/main">
            <a:r>
              <a:t>https://www.rbc.ua/ukr/dossier/peskov-19032015</a:t>
            </a:r>
          </a:p>
          <a:p xmlns:a="http://schemas.openxmlformats.org/drawingml/2006/main">
            <a:r>
              <a:t>https://www.rbc.ru/politics/12/10/2026/6accae3bb18f4460834ce063</a:t>
            </a:r>
          </a:p>
          <a:p xmlns:a="http://schemas.openxmlformats.org/drawingml/2006/main">
            <a:r>
              <a:t>https://tass.ru/politika/20355193</a:t>
            </a:r>
          </a:p>
          <a:p xmlns:a="http://schemas.openxmlformats.org/drawingml/2006/main">
            <a:r>
              <a:t>https://www.m24.ru/news/06052024/689412</a:t>
            </a:r>
          </a:p>
          <a:p xmlns:a="http://schemas.openxmlformats.org/drawingml/2006/main">
            <a:r>
              <a:t>http://www.kremlin.ru/acts/bank/48502</a:t>
            </a:r>
          </a:p>
          <a:p xmlns:a="http://schemas.openxmlformats.org/drawingml/2006/main">
            <a:r>
              <a:t>https://www.m24.ru/news/11022025/769070</a:t>
            </a:r>
          </a:p>
          <a:p xmlns:a="http://schemas.openxmlformats.org/drawingml/2006/main">
            <a:r>
              <a:t>https://www.m24.ru/news/23042026/894202</a:t>
            </a:r>
          </a:p>
          <a:p xmlns:a="http://schemas.openxmlformats.org/drawingml/2006/main">
            <a:r>
              <a:t>https://cbr.ru/about_br/nabiullinaes/</a:t>
            </a:r>
          </a:p>
          <a:p xmlns:a="http://schemas.openxmlformats.org/drawingml/2006/main">
            <a:r>
              <a:t>https://cbr.ru/press/event/?id=12840</a:t>
            </a:r>
          </a:p>
          <a:p xmlns:a="http://schemas.openxmlformats.org/drawingml/2006/main">
            <a:r>
              <a:t>https://www.cbr.ru/press/event/?id=12904</a:t>
            </a:r>
          </a:p>
          <a:p xmlns:a="http://schemas.openxmlformats.org/drawingml/2006/main">
            <a:r>
              <a:t>https://cbr.ru/press/event/?id=14033</a:t>
            </a:r>
          </a:p>
          <a:p xmlns:a="http://schemas.openxmlformats.org/drawingml/2006/main">
            <a:r>
              <a:t>https://www.cbr.ru/press/event/?id=12764</a:t>
            </a:r>
          </a:p>
          <a:p xmlns:a="http://schemas.openxmlformats.org/drawingml/2006/main">
            <a:r>
              <a:t>https://kazanfirst.ru/articles/534335</a:t>
            </a:r>
          </a:p>
          <a:p xmlns:a="http://schemas.openxmlformats.org/drawingml/2006/main">
            <a:r>
              <a:t>https://www.rbc.ru/person/65e831449a79476cbfd8e5fd</a:t>
            </a:r>
          </a:p>
          <a:p xmlns:a="http://schemas.openxmlformats.org/drawingml/2006/main">
            <a:r>
              <a:t>https://www.interfax.ru/russia/955290</a:t>
            </a:r>
          </a:p>
          <a:p xmlns:a="http://schemas.openxmlformats.org/drawingml/2006/main">
            <a:r>
              <a:t>https://minfin.gov.ru/ru/press-center/?id_4=38548-intervyu_ministra_finansov_antona_siluanova_gazete_argumenty_i_fakty</a:t>
            </a:r>
          </a:p>
          <a:p xmlns:a="http://schemas.openxmlformats.org/drawingml/2006/main">
            <a:r>
              <a:t>https://minfin.gov.ru/ru/press-center/?id_4=37667-vystuplenie_antona_siluanova_na_plenarnom_zasedanii_v_gosudarstvennoi_dume</a:t>
            </a:r>
          </a:p>
          <a:p xmlns:a="http://schemas.openxmlformats.org/drawingml/2006/main">
            <a:r>
              <a:t>https://www.rbc.ru/economics/24/10/2022/63529d159a7947efb82a59eb</a:t>
            </a:r>
          </a:p>
          <a:p xmlns:a="http://schemas.openxmlformats.org/drawingml/2006/main">
            <a:r>
              <a:t>https://www.rbc.ru/newspaper/2020/02/21/5e4e83289a79474bcf9f8cf9</a:t>
            </a:r>
          </a:p>
          <a:p xmlns:a="http://schemas.openxmlformats.org/drawingml/2006/main">
            <a:r>
              <a:t>https://www.rbc.ru/economics/20/02/2020/5e4e91919a79475559478893</a:t>
            </a:r>
          </a:p>
          <a:p xmlns:a="http://schemas.openxmlformats.org/drawingml/2006/main">
            <a:r>
              <a:t>https://minfin.gov.ru/ru/press-center/?id_4=39336-anton_siluanov_predstavil_na_parlamentskikh_slushaniyakh_v_sovete_federatsii_proekt_byudzheta_na_2025-2027_gg.</a:t>
            </a:r>
          </a:p>
          <a:p xmlns:a="http://schemas.openxmlformats.org/drawingml/2006/main">
            <a:r>
              <a:t>https://www.interfax.ru/amp/1035506</a:t>
            </a:r>
          </a:p>
          <a:p xmlns:a="http://schemas.openxmlformats.org/drawingml/2006/main">
            <a:r>
              <a:t>https://tass.ru/ekonomika/28198121</a:t>
            </a:r>
          </a:p>
          <a:p xmlns:a="http://schemas.openxmlformats.org/drawingml/2006/main">
            <a:r>
              <a:t>https://www.rbc.ru/person/65b9f4369a7947ec8a7f242a</a:t>
            </a:r>
          </a:p>
          <a:p xmlns:a="http://schemas.openxmlformats.org/drawingml/2006/main">
            <a:r>
              <a:t>https://www.bfm.ru/news/435050</a:t>
            </a:r>
          </a:p>
          <a:p xmlns:a="http://schemas.openxmlformats.org/drawingml/2006/main">
            <a:r>
              <a:t>https://ru.ruwiki.ru/wiki/%D0%93%D0%BE%D0%BB%D0%B8%D0%BA%D0%BE%D0%B2%D0%B0,_%D0%A2%D0%B0%D1%82%D1%8C%D1%8F%D0%BD%D0%B0_%D0%90%D0%BB%D0%B5%D0%BA%D1%81%D0%B5%D0%B5%D0%B2%D0%BD%D0%B0</a:t>
            </a:r>
          </a:p>
          <a:p xmlns:a="http://schemas.openxmlformats.org/drawingml/2006/main">
            <a:r>
              <a:t>http://www.kremlin.ru/events/president/transcripts/deliberations%20/77439</a:t>
            </a:r>
          </a:p>
          <a:p xmlns:a="http://schemas.openxmlformats.org/drawingml/2006/main">
            <a:r>
              <a:t>https://xn--90aivcdt6dxbc.xn--p1ai/articles/news/prezident-zdravookhranenie-zanimaet-klyuchevoe-mesto-v-sotsialnoy-politike-rossii/</a:t>
            </a:r>
          </a:p>
          <a:p xmlns:a="http://schemas.openxmlformats.org/drawingml/2006/main">
            <a:r>
              <a:t>https://xn--90aivcdt6dxbc.xn--p1ai/articles/news/tatyana-golikova-edinaya-rossiya-nadezhnyy-soyuznik-i-partner-pravitelstva/</a:t>
            </a:r>
          </a:p>
          <a:p xmlns:a="http://schemas.openxmlformats.org/drawingml/2006/main">
            <a:r>
              <a:t>http://government.ru/news/58648/</a:t>
            </a:r>
          </a:p>
          <a:p xmlns:a="http://schemas.openxmlformats.org/drawingml/2006/main">
            <a:r>
              <a:t>http://government.ru/news/54912/</a:t>
            </a:r>
          </a:p>
          <a:p xmlns:a="http://schemas.openxmlformats.org/drawingml/2006/main">
            <a:r>
              <a:t>http://government.ru/news/58000/</a:t>
            </a:r>
          </a:p>
          <a:p xmlns:a="http://schemas.openxmlformats.org/drawingml/2006/main">
            <a:r>
              <a:t>https://tass.ru/politika/28141547</a:t>
            </a:r>
          </a:p>
          <a:p xmlns:a="http://schemas.openxmlformats.org/drawingml/2006/main">
            <a:r>
              <a:t>https://duma.gov.ru/media/files/smUklOtuNPyzwTneQGCfFUHHIsilAqcm.pdf</a:t>
            </a:r>
          </a:p>
          <a:p xmlns:a="http://schemas.openxmlformats.org/drawingml/2006/main">
            <a:r>
              <a:t>https://kprf.ru/dep/gosduma/activities/187187.html</a:t>
            </a:r>
          </a:p>
          <a:p xmlns:a="http://schemas.openxmlformats.org/drawingml/2006/main">
            <a:r>
              <a:t>http://msk.kprf.ru/2022/08/22/222866/</a:t>
            </a:r>
          </a:p>
          <a:p xmlns:a="http://schemas.openxmlformats.org/drawingml/2006/main">
            <a:r>
              <a:t>https://kprf.ru/party-live/cknews/235903.html</a:t>
            </a:r>
          </a:p>
          <a:p xmlns:a="http://schemas.openxmlformats.org/drawingml/2006/main">
            <a:r>
              <a:t>https://kprf.ru/dep/gosduma/activities/236198.html/print</a:t>
            </a:r>
          </a:p>
          <a:p xmlns:a="http://schemas.openxmlformats.org/drawingml/2006/main">
            <a:r>
              <a:t>https://kprf.ru/dep/gosduma/activities/239812.html</a:t>
            </a:r>
          </a:p>
          <a:p xmlns:a="http://schemas.openxmlformats.org/drawingml/2006/main">
            <a:r>
              <a:t>https://kprf-don.ru/index.php/news/facts/12501-2025-09-15-12-58-35.html</a:t>
            </a:r>
          </a:p>
          <a:p xmlns:a="http://schemas.openxmlformats.org/drawingml/2006/main">
            <a:r>
              <a:t>https://kprf.ru/dep/gosduma/activities/237529.html</a:t>
            </a:r>
          </a:p>
          <a:p xmlns:a="http://schemas.openxmlformats.org/drawingml/2006/main">
            <a:r>
              <a:t>https://novayagazeta.ru/articles/2025/09/19/putin-udivilsia-khodu-zapushchennoi-im-vesnoi-munitsipalnoi-reformy-posle-slov-ziuganova-kak-regiony-dlia-nee-lomali-cherez-koleno-a-tatarstan-otkazalsia-ee-ispolniat-news</a:t>
            </a:r>
          </a:p>
          <a:p xmlns:a="http://schemas.openxmlformats.org/drawingml/2006/main">
            <a:r>
              <a:t>https://kprf.ru/official/2025/11/15/15-noiabria-2025-oda-sostoialsia-ii-noiabrskii-plenum-tsk-kprf/473.html</a:t>
            </a:r>
          </a:p>
          <a:p xmlns:a="http://schemas.openxmlformats.org/drawingml/2006/main">
            <a:r>
              <a:t>https://www.rbc.ru/person/617bfbb79a7947fc327a3bcb</a:t>
            </a:r>
          </a:p>
          <a:p xmlns:a="http://schemas.openxmlformats.org/drawingml/2006/main">
            <a:r>
              <a:t>https://www.bbc.com/russian/features-60873381</a:t>
            </a:r>
          </a:p>
          <a:p xmlns:a="http://schemas.openxmlformats.org/drawingml/2006/main">
            <a:r>
              <a:t>https://www.svoboda.org/a/umer-lider-partii-ldpr-vladimir-zhirinovskiy-nekrolog/31770134.html</a:t>
            </a:r>
          </a:p>
          <a:p xmlns:a="http://schemas.openxmlformats.org/drawingml/2006/main">
            <a:r>
              <a:t>https://www.rbc.ru/politics/06/04/2022/624d661b9a79473f7416fe26</a:t>
            </a:r>
          </a:p>
          <a:p xmlns:a="http://schemas.openxmlformats.org/drawingml/2006/main">
            <a:r>
              <a:t>https://tass.ru/politika/3392889</a:t>
            </a:r>
          </a:p>
          <a:p xmlns:a="http://schemas.openxmlformats.org/drawingml/2006/main">
            <a:r>
              <a:t>https://www.pnp.ru/politics/2016/06/28/v-centre-predvybornoy-programmy-ldpr-russkiy-vopros.html</a:t>
            </a:r>
          </a:p>
          <a:p xmlns:a="http://schemas.openxmlformats.org/drawingml/2006/main">
            <a:r>
              <a:t>https://ldpr.ru/party/history/</a:t>
            </a:r>
          </a:p>
          <a:p xmlns:a="http://schemas.openxmlformats.org/drawingml/2006/main">
            <a:r>
              <a:t>https://govoritmoskva.ru/interviews/1023/</a:t>
            </a:r>
          </a:p>
          <a:p xmlns:a="http://schemas.openxmlformats.org/drawingml/2006/main">
            <a:r>
              <a:t>https://www.gazeta.ru/politics/2017/03/17_a_10580999.shtml</a:t>
            </a:r>
          </a:p>
          <a:p xmlns:a="http://schemas.openxmlformats.org/drawingml/2006/main">
            <a:r>
              <a:t>https://ldpr.ru/upload/iblock/c88/1d6dstdexz6aw7dnwoubeobhr3mnwa1j/a799616e688866c49f2ef6b5b8cfe5c00d45080ae85ce0e5f6d36e2e010681d9.pdf</a:t>
            </a:r>
          </a:p>
          <a:p xmlns:a="http://schemas.openxmlformats.org/drawingml/2006/main">
            <a:r>
              <a:t>https://www.kommersant.ru/doc/3579566</a:t>
            </a:r>
          </a:p>
          <a:p xmlns:a="http://schemas.openxmlformats.org/drawingml/2006/main">
            <a:r>
              <a:t>https://spb.ldpr.ru/event/243915/</a:t>
            </a:r>
          </a:p>
          <a:p xmlns:a="http://schemas.openxmlformats.org/drawingml/2006/main">
            <a:r>
              <a:t>https://kursk.ldpr.ru/event/341398</a:t>
            </a:r>
          </a:p>
          <a:p xmlns:a="http://schemas.openxmlformats.org/drawingml/2006/main">
            <a:r>
              <a:t>https://cyberleninka.ru/article/n/sravnitelnyy-analiz-predvybornyh-programm-ldpr-na-vyborah-2021-g-i-l-e-slutskogo-na-vyborah-2024-g</a:t>
            </a:r>
          </a:p>
          <a:p xmlns:a="http://schemas.openxmlformats.org/drawingml/2006/main">
            <a:r>
              <a:t>https://kcr.ldpr.ru/event/347999/</a:t>
            </a:r>
          </a:p>
          <a:p xmlns:a="http://schemas.openxmlformats.org/drawingml/2006/main">
            <a:r>
              <a:t>https://msknews77.ru/society/2025/09/25/73500.html</a:t>
            </a:r>
          </a:p>
          <a:p xmlns:a="http://schemas.openxmlformats.org/drawingml/2006/main">
            <a:r>
              <a:t>https://bagaevka-press.ru/besplatnyj-zemelnyj-uchastok-dlya-semej-inicziativa-ldpr/</a:t>
            </a:r>
          </a:p>
          <a:p xmlns:a="http://schemas.openxmlformats.org/drawingml/2006/main">
            <a:r>
              <a:t>https://ldpr.ru/event/437527/</a:t>
            </a:r>
          </a:p>
          <a:p xmlns:a="http://schemas.openxmlformats.org/drawingml/2006/main">
            <a:r>
              <a:t>https://rg62.info/2025/11/01/leonid-sluczkij-vstupilsya-za-multserial-masha-i-medved/</a:t>
            </a:r>
          </a:p>
          <a:p xmlns:a="http://schemas.openxmlformats.org/drawingml/2006/main">
            <a:r>
              <a:t>https://mironov.ru/officially</a:t>
            </a:r>
          </a:p>
          <a:p xmlns:a="http://schemas.openxmlformats.org/drawingml/2006/main">
            <a:r>
              <a:t>https://mironov.ru/bio</a:t>
            </a:r>
          </a:p>
          <a:p xmlns:a="http://schemas.openxmlformats.org/drawingml/2006/main">
            <a:r>
              <a:t>https://mironov-online.ru/category/zayavleniya/</a:t>
            </a:r>
          </a:p>
          <a:p xmlns:a="http://schemas.openxmlformats.org/drawingml/2006/main">
            <a:r>
              <a:t>https://www.rbc.ru/person/69806d279a7947baf86c32c5</a:t>
            </a:r>
          </a:p>
          <a:p xmlns:a="http://schemas.openxmlformats.org/drawingml/2006/main">
            <a:r>
              <a:t>https://spravedlivo.ru/16303010</a:t>
            </a:r>
          </a:p>
          <a:p xmlns:a="http://schemas.openxmlformats.org/drawingml/2006/main">
            <a:r>
              <a:t>http://mironov.ru/15133910</a:t>
            </a:r>
          </a:p>
          <a:p xmlns:a="http://schemas.openxmlformats.org/drawingml/2006/main">
            <a:r>
              <a:t>http://www.special.spravedlivo.ru/5_140609.html</a:t>
            </a:r>
          </a:p>
          <a:p xmlns:a="http://schemas.openxmlformats.org/drawingml/2006/main">
            <a:r>
              <a:t>https://spravedlivo.ru/14681110</a:t>
            </a:r>
          </a:p>
          <a:p xmlns:a="http://schemas.openxmlformats.org/drawingml/2006/main">
            <a:r>
              <a:t>https://radiokp.ru/podcast/dialogi-na-radio-kp/759263</a:t>
            </a:r>
          </a:p>
          <a:p xmlns:a="http://schemas.openxmlformats.org/drawingml/2006/main">
            <a:r>
              <a:t>https://mironov.ru/51339910</a:t>
            </a:r>
          </a:p>
          <a:p xmlns:a="http://schemas.openxmlformats.org/drawingml/2006/main">
            <a:r>
              <a:t>https://mironov-online.ru/news/mironov-na-ukraine-idet-bitva-za-budushhee-vsego-chelovechestva-i-pobeda-v-nej-budet-za-rossiej/</a:t>
            </a:r>
          </a:p>
          <a:p xmlns:a="http://schemas.openxmlformats.org/drawingml/2006/main">
            <a:r>
              <a:t>https://spravedlivo.ru/12544510</a:t>
            </a:r>
          </a:p>
          <a:p xmlns:a="http://schemas.openxmlformats.org/drawingml/2006/main">
            <a:r>
              <a:t>https://www.rbc.ru/person/6aa3ef199a79475758621730</a:t>
            </a:r>
          </a:p>
          <a:p xmlns:a="http://schemas.openxmlformats.org/drawingml/2006/main">
            <a:r>
              <a:t>https://www.rbc.ru/politics/24/09/2021/614da73f9a7947b5e3d9399f</a:t>
            </a:r>
          </a:p>
          <a:p xmlns:a="http://schemas.openxmlformats.org/drawingml/2006/main">
            <a:r>
              <a:t>https://amp.rbc.ru/rbcnews/base/14/08/2026/6a957dfb9a79476ae3d823ba</a:t>
            </a:r>
          </a:p>
          <a:p xmlns:a="http://schemas.openxmlformats.org/drawingml/2006/main">
            <a:r>
              <a:t>https://en.wikipedia.org/wiki/Alexey_Nechayev</a:t>
            </a:r>
          </a:p>
          <a:p xmlns:a="http://schemas.openxmlformats.org/drawingml/2006/main">
            <a:r>
              <a:t>https://www.gazeta.ru/politics/23422027/novye-lyudi-na-vyborah-2026-goda.shtml</a:t>
            </a:r>
          </a:p>
          <a:p xmlns:a="http://schemas.openxmlformats.org/drawingml/2006/main">
            <a:r>
              <a:t>https://vremya-bir.ru/2026/03/07/dvenadtsat-shagov-k-strane-v-kotoroj-hochetsya-zhit/</a:t>
            </a:r>
          </a:p>
          <a:p xmlns:a="http://schemas.openxmlformats.org/drawingml/2006/main">
            <a:r>
              <a:t>https://www.rbc.ru/politics/08/09/2026/6aa023ec9a79471e4fd55d3c</a:t>
            </a:r>
          </a:p>
          <a:p xmlns:a="http://schemas.openxmlformats.org/drawingml/2006/main">
            <a:r>
              <a:t>https://www.interfax.ru/interview/1074248</a:t>
            </a:r>
          </a:p>
          <a:p xmlns:a="http://schemas.openxmlformats.org/drawingml/2006/main">
            <a:r>
              <a:t>https://www.interfax.ru/amp/1074248</a:t>
            </a:r>
          </a:p>
          <a:p xmlns:a="http://schemas.openxmlformats.org/drawingml/2006/main">
            <a:r>
              <a:t>https://www.vedomosti.ru/politics/articles/2026/09/09/1227352-novie-lyudi-sformulirovali-programmu</a:t>
            </a:r>
          </a:p>
          <a:p xmlns:a="http://schemas.openxmlformats.org/drawingml/2006/main">
            <a:r>
              <a:t>https://dddkursk.ru/lenta/2026/07/30/129483/</a:t>
            </a:r>
          </a:p>
          <a:p xmlns:a="http://schemas.openxmlformats.org/drawingml/2006/main">
            <a:r>
              <a:t>https://volga.news/article/803292.html</a:t>
            </a:r>
          </a:p>
          <a:p xmlns:a="http://schemas.openxmlformats.org/drawingml/2006/main">
            <a:r>
              <a:t>https://ru.wikipedia.org/wiki/%D0%9D%D0%B5%D1%87%D0%B0%D0%B5%D0%B2,_%D0%90%D0%BB%D0%B5%D0%BA%D1%81%D0%B5%D0%B9_%D0%93%D0%B5%D0%BD%D0%BD%D0%B0%D0%B4%D1%8C%D0%B5%D0%B2%D0%B8%D1%87</a:t>
            </a:r>
          </a:p>
          <a:p xmlns:a="http://schemas.openxmlformats.org/drawingml/2006/main">
            <a:r>
              <a:t>https://www.davankov2024.ru/page_biography/</a:t>
            </a:r>
          </a:p>
          <a:p xmlns:a="http://schemas.openxmlformats.org/drawingml/2006/main">
            <a:r>
              <a:t>https://davankov2024.ru/program</a:t>
            </a:r>
          </a:p>
          <a:p xmlns:a="http://schemas.openxmlformats.org/drawingml/2006/main">
            <a:r>
              <a:t>http://vote.duma.gov.ru/?convocation=AAAAAAA8&amp;deputy=99113489&amp;sort=date_desc</a:t>
            </a:r>
          </a:p>
          <a:p xmlns:a="http://schemas.openxmlformats.org/drawingml/2006/main">
            <a:r>
              <a:t>https://holod.media/2024/02/14/vladislav-davankov/</a:t>
            </a:r>
          </a:p>
          <a:p xmlns:a="http://schemas.openxmlformats.org/drawingml/2006/main">
            <a:r>
              <a:t>https://davankov2024.ru/</a:t>
            </a:r>
          </a:p>
          <a:p xmlns:a="http://schemas.openxmlformats.org/drawingml/2006/main">
            <a:r>
              <a:t>https://novayagazeta.eu/articles/2024/02/15/davankov-predstavil-predvybornuiu-programmu-bez-amnistii-politzakliuchennykh-i-s-namereniem-dobitsia-mira-na-nashikh-usloviiakh-news</a:t>
            </a:r>
          </a:p>
          <a:p xmlns:a="http://schemas.openxmlformats.org/drawingml/2006/main">
            <a:r>
              <a:t>https://www.kavkaz-uzel.eu/articles/398113</a:t>
            </a:r>
          </a:p>
          <a:p xmlns:a="http://schemas.openxmlformats.org/drawingml/2006/main">
            <a:r>
              <a:t>https://echofm.online/portret-dnya/portret-dnya-vladislav-davankov-kandidat-v-prezidenty-rossii</a:t>
            </a:r>
          </a:p>
          <a:p xmlns:a="http://schemas.openxmlformats.org/drawingml/2006/main">
            <a:r>
              <a:t>https://t.me/s/davankov?before=788</a:t>
            </a:r>
          </a:p>
          <a:p xmlns:a="http://schemas.openxmlformats.org/drawingml/2006/main">
            <a:r>
              <a:t>https://zaharprilepin.ru/ru/bio/</a:t>
            </a:r>
          </a:p>
          <a:p xmlns:a="http://schemas.openxmlformats.org/drawingml/2006/main">
            <a:r>
              <a:t>https://zaharprilepin.ru/ru/video/zapisi-vistuplenij/intervju/</a:t>
            </a:r>
          </a:p>
          <a:p xmlns:a="http://schemas.openxmlformats.org/drawingml/2006/main">
            <a:r>
              <a:t>https://zaharprilepin.ru/ru/pressa/intervyu/na-harkov.html</a:t>
            </a:r>
          </a:p>
          <a:p xmlns:a="http://schemas.openxmlformats.org/drawingml/2006/main">
            <a:r>
              <a:t>https://www.kommersant.ru/doc/4141912</a:t>
            </a:r>
          </a:p>
          <a:p xmlns:a="http://schemas.openxmlformats.org/drawingml/2006/main">
            <a:r>
              <a:t>https://novayagazeta.eu/articles/2023/05/06/plokhoi-uchenik-limonova</a:t>
            </a:r>
          </a:p>
          <a:p xmlns:a="http://schemas.openxmlformats.org/drawingml/2006/main">
            <a:r>
              <a:t>https://tass.ru/politika/11761037</a:t>
            </a:r>
          </a:p>
          <a:p xmlns:a="http://schemas.openxmlformats.org/drawingml/2006/main">
            <a:r>
              <a:t>https://www.nn.ru/text/politics/2021/10/11/70186523/</a:t>
            </a:r>
          </a:p>
          <a:p xmlns:a="http://schemas.openxmlformats.org/drawingml/2006/main">
            <a:r>
              <a:t>https://www.zaks.ru/new/archive/view/267194</a:t>
            </a:r>
          </a:p>
          <a:p xmlns:a="http://schemas.openxmlformats.org/drawingml/2006/main">
            <a:r>
              <a:t>https://spravedlivo.ru/11288710</a:t>
            </a:r>
          </a:p>
          <a:p xmlns:a="http://schemas.openxmlformats.org/drawingml/2006/main">
            <a:r>
              <a:t>https://www.kommersant.ru/doc/4241515</a:t>
            </a:r>
          </a:p>
          <a:p xmlns:a="http://schemas.openxmlformats.org/drawingml/2006/main">
            <a:r>
              <a:t>https://zaharprilepin.ru/ru/pressa/intervyu/radio-komsomolskaja-pravda-10022021.html</a:t>
            </a:r>
          </a:p>
          <a:p xmlns:a="http://schemas.openxmlformats.org/drawingml/2006/main">
            <a:r>
              <a:t>https://pozneronline.ru/2024/04/36826/</a:t>
            </a:r>
          </a:p>
          <a:p xmlns:a="http://schemas.openxmlformats.org/drawingml/2006/main">
            <a:r>
              <a:t>https://www.rbc.ru/person/62a85a259a7947b9ae5d6360</a:t>
            </a:r>
          </a:p>
          <a:p xmlns:a="http://schemas.openxmlformats.org/drawingml/2006/main">
            <a:r>
              <a:t>https://tass.ru/encyclopedia/person/poklonskaya-natalya-vladimirovna</a:t>
            </a:r>
          </a:p>
          <a:p xmlns:a="http://schemas.openxmlformats.org/drawingml/2006/main">
            <a:r>
              <a:t>https://tass.ru/tag/poklonskaya-natalya-vladimirovna</a:t>
            </a:r>
          </a:p>
          <a:p xmlns:a="http://schemas.openxmlformats.org/drawingml/2006/main">
            <a:r>
              <a:t>https://www.bbc.com/russian/features-44801571</a:t>
            </a:r>
          </a:p>
          <a:p xmlns:a="http://schemas.openxmlformats.org/drawingml/2006/main">
            <a:r>
              <a:t>https://www.rbc.ru/rbcfreenews/5ba8bd499a794792294ba05d</a:t>
            </a:r>
          </a:p>
          <a:p xmlns:a="http://schemas.openxmlformats.org/drawingml/2006/main">
            <a:r>
              <a:t>https://www.dp.ru/a/2018/08/31/Poklonskaja_otreazirovala</a:t>
            </a:r>
          </a:p>
          <a:p xmlns:a="http://schemas.openxmlformats.org/drawingml/2006/main">
            <a:r>
              <a:t>https://www.themoscowtimes.com/2022/06/13/former-crimea-prosecutor-dismissed-after-anti-war-comments-a77983</a:t>
            </a:r>
          </a:p>
          <a:p xmlns:a="http://schemas.openxmlformats.org/drawingml/2006/main">
            <a:r>
              <a:t>https://www.rbc.ru/politics/30/06/2023/649dee189a79473e3fdc8906</a:t>
            </a:r>
          </a:p>
          <a:p xmlns:a="http://schemas.openxmlformats.org/drawingml/2006/main">
            <a:r>
              <a:t>http://council.gov.ru/structure/persons/1044/</a:t>
            </a:r>
          </a:p>
          <a:p xmlns:a="http://schemas.openxmlformats.org/drawingml/2006/main">
            <a:r>
              <a:t>http://council.gov.ru/services/reference/9156/</a:t>
            </a:r>
          </a:p>
          <a:p xmlns:a="http://schemas.openxmlformats.org/drawingml/2006/main">
            <a:r>
              <a:t>http://council.gov.ru/events/news/135415/</a:t>
            </a:r>
          </a:p>
          <a:p xmlns:a="http://schemas.openxmlformats.org/drawingml/2006/main">
            <a:r>
              <a:t>https://24smi.org/celebrity/1156-elena-mizulina.html</a:t>
            </a:r>
          </a:p>
          <a:p xmlns:a="http://schemas.openxmlformats.org/drawingml/2006/main">
            <a:r>
              <a:t>https://www.bfometr.ru/blog/elena-mizulina</a:t>
            </a:r>
          </a:p>
          <a:p xmlns:a="http://schemas.openxmlformats.org/drawingml/2006/main">
            <a:r>
              <a:t>https://www.rbc.ru/society/30/03/2018/5abe1b849a79470dc3826f68</a:t>
            </a:r>
          </a:p>
          <a:p xmlns:a="http://schemas.openxmlformats.org/drawingml/2006/main">
            <a:r>
              <a:t>https://uznayvse.ru/znamenitosti/biografiya-elena-mizulina.html</a:t>
            </a:r>
          </a:p>
          <a:p xmlns:a="http://schemas.openxmlformats.org/drawingml/2006/main">
            <a:r>
              <a:t>https://radiokp.ru/people/elena-mizulina</a:t>
            </a:r>
          </a:p>
          <a:p xmlns:a="http://schemas.openxmlformats.org/drawingml/2006/main">
            <a:r>
              <a:t>https://ru.wikipedia.org/wiki/%D0%9C%D0%B8%D0%B7%D1%83%D0%BB%D0%B8%D0%BD%D0%B0,_%D0%95%D0%BB%D0%B5%D0%BD%D0%B0_%D0%91%D0%BE%D1%80%D0%B8%D1%81%D0%BE%D0%B2%D0%BD%D0%B0</a:t>
            </a:r>
          </a:p>
          <a:p xmlns:a="http://schemas.openxmlformats.org/drawingml/2006/main">
            <a:r>
              <a:t>https://ru.wikipedia.org/wiki/Милонов,_Виталий_Валентинович</a:t>
            </a:r>
          </a:p>
          <a:p xmlns:a="http://schemas.openxmlformats.org/drawingml/2006/main">
            <a:r>
              <a:t>https://tass.ru/encyclopedia/person/milonov-vitaliy-valentinovich</a:t>
            </a:r>
          </a:p>
          <a:p xmlns:a="http://schemas.openxmlformats.org/drawingml/2006/main">
            <a:r>
              <a:t>https://www.pnp.ru/person/vitaliy-milonov/</a:t>
            </a:r>
          </a:p>
          <a:p xmlns:a="http://schemas.openxmlformats.org/drawingml/2006/main">
            <a:r>
              <a:t>https://www.zaks.ru/new/person/view/172</a:t>
            </a:r>
          </a:p>
          <a:p xmlns:a="http://schemas.openxmlformats.org/drawingml/2006/main">
            <a:r>
              <a:t>https://svpressa.ru/persons/vitaliy-milonov/</a:t>
            </a:r>
          </a:p>
          <a:p xmlns:a="http://schemas.openxmlformats.org/drawingml/2006/main">
            <a:r>
              <a:t>https://stuki-druki.com/authors/Milonov-Vitaliy.php</a:t>
            </a:r>
          </a:p>
          <a:p xmlns:a="http://schemas.openxmlformats.org/drawingml/2006/main">
            <a:r>
              <a:t>https://pa.inion.ru/persons/7104/</a:t>
            </a:r>
          </a:p>
          <a:p xmlns:a="http://schemas.openxmlformats.org/drawingml/2006/main">
            <a:r>
              <a:t>https://pa.inion.ru/documents/16503/</a:t>
            </a:r>
          </a:p>
          <a:p xmlns:a="http://schemas.openxmlformats.org/drawingml/2006/main">
            <a:r>
              <a:t>https://pa.inion.ru/documents/27860/</a:t>
            </a:r>
          </a:p>
          <a:p xmlns:a="http://schemas.openxmlformats.org/drawingml/2006/main">
            <a:r>
              <a:t>https://kprf.ru/personal/ostanina</a:t>
            </a:r>
          </a:p>
          <a:p xmlns:a="http://schemas.openxmlformats.org/drawingml/2006/main">
            <a:r>
              <a:t>https://pa.inion.ru/documents/25577/</a:t>
            </a:r>
          </a:p>
          <a:p xmlns:a="http://schemas.openxmlformats.org/drawingml/2006/main">
            <a:r>
              <a:t>https://kprf.ru/dep/gosduma/activities/245108.html</a:t>
            </a:r>
          </a:p>
          <a:p xmlns:a="http://schemas.openxmlformats.org/drawingml/2006/main">
            <a:r>
              <a:t>https://www.pnp.ru/social/zashhita-detskogo-byudzheta-kruzhki-sokhranit-vyplaty-iz-matkapitala-uvelichit.html</a:t>
            </a:r>
          </a:p>
          <a:p xmlns:a="http://schemas.openxmlformats.org/drawingml/2006/main">
            <a:r>
              <a:t>https://www.pnp.ru/state-duma/nina-ostanina-o-byudzhete-na-2027-2029-gody-semeynoy-ipoteke-i-matkapitale.html</a:t>
            </a:r>
          </a:p>
          <a:p xmlns:a="http://schemas.openxmlformats.org/drawingml/2006/main">
            <a:r>
              <a:t>https://uznayvse.ru/znamenitosti/biografiya-nina-ostanina.html</a:t>
            </a:r>
          </a:p>
          <a:p xmlns:a="http://schemas.openxmlformats.org/drawingml/2006/main">
            <a:r>
              <a:t>https://dumatv.ru/news/ostanina--borba-za-mirovozzrencheskii-suverenitet-stanovitsya-gosudarstvennoi-politikoi</a:t>
            </a:r>
          </a:p>
          <a:p xmlns:a="http://schemas.openxmlformats.org/drawingml/2006/main">
            <a:r>
              <a:t>https://kprf.ru/dep/gosduma/activities/242132.html</a:t>
            </a:r>
          </a:p>
          <a:p xmlns:a="http://schemas.openxmlformats.org/drawingml/2006/main">
            <a:r>
              <a:t>https://www.business-gazeta.ru/article/625616</a:t>
            </a:r>
          </a:p>
          <a:p xmlns:a="http://schemas.openxmlformats.org/drawingml/2006/main">
            <a:r>
              <a:t>https://www.kommersant.ru/doc/3235400</a:t>
            </a:r>
          </a:p>
          <a:p xmlns:a="http://schemas.openxmlformats.org/drawingml/2006/main">
            <a:r>
              <a:t>https://www.rbc.ru/person/67d838f09a7947cdef0b1a95</a:t>
            </a:r>
          </a:p>
          <a:p xmlns:a="http://schemas.openxmlformats.org/drawingml/2006/main">
            <a:r>
              <a:t>https://www.vedomosti.ru/politics/articles/2020/03/10/824795-tereshkova-predlozhila</a:t>
            </a:r>
          </a:p>
          <a:p xmlns:a="http://schemas.openxmlformats.org/drawingml/2006/main">
            <a:r>
              <a:t>http://duma.gov.ru/news/49164/</a:t>
            </a:r>
          </a:p>
          <a:p xmlns:a="http://schemas.openxmlformats.org/drawingml/2006/main">
            <a:r>
              <a:t>https://meduza.io/news/2020/03/12/delayut-vse-dlya-togo-chtoby-gadosti-delat-tereshkova-o-protivnikah-popravki-obnulyayuschey-sroki-putina</a:t>
            </a:r>
          </a:p>
          <a:p xmlns:a="http://schemas.openxmlformats.org/drawingml/2006/main">
            <a:r>
              <a:t>https://meduza.io/feature/2020/03/10/gosduma-neozhidanno-dlya-sebya-obespechila-putina-novymi-prezidentskimi-srokami</a:t>
            </a:r>
          </a:p>
          <a:p xmlns:a="http://schemas.openxmlformats.org/drawingml/2006/main">
            <a:r>
              <a:t>https://hinshtein.ru/biography/</a:t>
            </a:r>
          </a:p>
          <a:p xmlns:a="http://schemas.openxmlformats.org/drawingml/2006/main">
            <a:r>
              <a:t>https://www.vedomosti.ru/politics/articles/2024/12/06/1079852-kto-takoi-aleksandr-hinshtein</a:t>
            </a:r>
          </a:p>
          <a:p xmlns:a="http://schemas.openxmlformats.org/drawingml/2006/main">
            <a:r>
              <a:t>https://www.rbc.ru/person/6752d12a9a7947d62166795e</a:t>
            </a:r>
          </a:p>
          <a:p xmlns:a="http://schemas.openxmlformats.org/drawingml/2006/main">
            <a:r>
              <a:t>https://www.rbc.ru/politics/06/12/2024/675207239a7947e74994842e</a:t>
            </a:r>
          </a:p>
          <a:p xmlns:a="http://schemas.openxmlformats.org/drawingml/2006/main">
            <a:r>
              <a:t>https://hinshtein.ru/news/aleksandr-hinshtejn-podvyol-itogi-goda-raboty-komiteta-gosdumy-po-informpolitike-informatsionnym-tehnologiyam-i-svyazi/</a:t>
            </a:r>
          </a:p>
          <a:p xmlns:a="http://schemas.openxmlformats.org/drawingml/2006/main">
            <a:r>
              <a:t>https://hinshtein.ru/news/a-hinshtejn-itogi-raboty-za-vii-sozyv/</a:t>
            </a:r>
          </a:p>
          <a:p xmlns:a="http://schemas.openxmlformats.org/drawingml/2006/main">
            <a:r>
              <a:t>https://www.kommersant.ru/doc/4660427</a:t>
            </a:r>
          </a:p>
          <a:p xmlns:a="http://schemas.openxmlformats.org/drawingml/2006/main">
            <a:r>
              <a:t>https://www.kommersant.ru/doc/4104004</a:t>
            </a:r>
          </a:p>
          <a:p xmlns:a="http://schemas.openxmlformats.org/drawingml/2006/main">
            <a:r>
              <a:t>https://www.nvgazeta.ru/news/12383/634260/</a:t>
            </a:r>
          </a:p>
          <a:p xmlns:a="http://schemas.openxmlformats.org/drawingml/2006/main">
            <a:r>
              <a:t>https://kpravda.ru/2025/02/11/kursk-poluchit-dengi-iz-gosbyudzheta-na-restavracziyu-istoricheskoj-kreposti/</a:t>
            </a:r>
          </a:p>
          <a:p xmlns:a="http://schemas.openxmlformats.org/drawingml/2006/main">
            <a:r>
              <a:t>https://tass.ru/obschestvo/24001633</a:t>
            </a:r>
          </a:p>
          <a:p xmlns:a="http://schemas.openxmlformats.org/drawingml/2006/main">
            <a:r>
              <a:t>https://www.kommersant.ru/doc/7737032</a:t>
            </a:r>
          </a:p>
          <a:p xmlns:a="http://schemas.openxmlformats.org/drawingml/2006/main">
            <a:r>
              <a:t>https://kpravda.ru/2025/03/21/edinaya-rossiya-pomozhet-v-restavraczii-kurskih-pamyatnikov/</a:t>
            </a:r>
          </a:p>
          <a:p xmlns:a="http://schemas.openxmlformats.org/drawingml/2006/main">
            <a:r>
              <a:t>https://news-kursk.ru/society/2025/07/13/65824.html</a:t>
            </a:r>
          </a:p>
          <a:p xmlns:a="http://schemas.openxmlformats.org/drawingml/2006/main">
            <a:r>
              <a:t>https://news.ru/russia/v-kurske-budet-alleya-geroev-hinshtejn-o-muzee-i-memoriale-zhertvam-vsu</a:t>
            </a:r>
          </a:p>
          <a:p xmlns:a="http://schemas.openxmlformats.org/drawingml/2006/main">
            <a:r>
              <a:t>https://ru.wikipedia.org/wiki/Пушков,_Алексей_Константинович</a:t>
            </a:r>
          </a:p>
          <a:p xmlns:a="http://schemas.openxmlformats.org/drawingml/2006/main">
            <a:r>
              <a:t>http://council.gov.ru/structure/persons/1316/</a:t>
            </a:r>
          </a:p>
          <a:p xmlns:a="http://schemas.openxmlformats.org/drawingml/2006/main">
            <a:r>
              <a:t>http://council.gov.ru/media/files/xjE2QHRAivCH7onABehAcG7OsnrO6DYb.pdf</a:t>
            </a:r>
          </a:p>
          <a:p xmlns:a="http://schemas.openxmlformats.org/drawingml/2006/main">
            <a:r>
              <a:t>https://base.garant.ru/406310971/</a:t>
            </a:r>
          </a:p>
          <a:p xmlns:a="http://schemas.openxmlformats.org/drawingml/2006/main">
            <a:r>
              <a:t>https://russiancouncil.ru/aleksey-pushkov/</a:t>
            </a:r>
          </a:p>
          <a:p xmlns:a="http://schemas.openxmlformats.org/drawingml/2006/main">
            <a:r>
              <a:t>http://legislation.council.gov.ru/events/announce/</a:t>
            </a:r>
          </a:p>
          <a:p xmlns:a="http://schemas.openxmlformats.org/drawingml/2006/main">
            <a:r>
              <a:t>http://council.gov.ru/events/news/173810/</a:t>
            </a:r>
          </a:p>
          <a:p xmlns:a="http://schemas.openxmlformats.org/drawingml/2006/main">
            <a:r>
              <a:t>http://www.council.gov.ru/events/news/175997/</a:t>
            </a:r>
          </a:p>
          <a:p xmlns:a="http://schemas.openxmlformats.org/drawingml/2006/main">
            <a:r>
              <a:t>http://council.gov.ru/media/report/pdf/HtoXfAAzeBJ8JwN0eAduo3rejTAYhqvB.pdf</a:t>
            </a:r>
          </a:p>
          <a:p xmlns:a="http://schemas.openxmlformats.org/drawingml/2006/main">
            <a:r>
              <a:t>http://council.gov.ru/events/news/164749/</a:t>
            </a:r>
          </a:p>
          <a:p xmlns:a="http://schemas.openxmlformats.org/drawingml/2006/main">
            <a:r>
              <a:t>https://t.me/s/alexey_pushkov?before=14914</a:t>
            </a:r>
          </a:p>
          <a:p xmlns:a="http://schemas.openxmlformats.org/drawingml/2006/main">
            <a:r>
              <a:t>http://legislation.council.gov.ru/events/multimedia/video/302078/</a:t>
            </a:r>
          </a:p>
          <a:p xmlns:a="http://schemas.openxmlformats.org/drawingml/2006/main">
            <a:r>
              <a:t>http://council.gov.ru/media/report/pdf/e8Awe3U6hNouHwSvME53OSPGGWxTeVAl.pdf</a:t>
            </a:r>
          </a:p>
          <a:p xmlns:a="http://schemas.openxmlformats.org/drawingml/2006/main">
            <a:r>
              <a:t>https://www.vedomosti.ru/person/1178385-kosachev-konstantin</a:t>
            </a:r>
          </a:p>
          <a:p xmlns:a="http://schemas.openxmlformats.org/drawingml/2006/main">
            <a:r>
              <a:t>https://www.interfax.ru/interview/812963</a:t>
            </a:r>
          </a:p>
          <a:p xmlns:a="http://schemas.openxmlformats.org/drawingml/2006/main">
            <a:r>
              <a:t>https://senatinform.ru/news/yuzhnuyu_osetiyu_neobkhodimo_vyvodit_iz_iskusstvennoy_izolyatsii_schitayut_rossiyskie_senatory_/</a:t>
            </a:r>
          </a:p>
          <a:p xmlns:a="http://schemas.openxmlformats.org/drawingml/2006/main">
            <a:r>
              <a:t>https://senatinform.ru/news/kosachyev_rossiya_gotova_rabotat_s_mps_s_uchyetom_ozabochennostey_nashey_strany/</a:t>
            </a:r>
          </a:p>
          <a:p xmlns:a="http://schemas.openxmlformats.org/drawingml/2006/main">
            <a:r>
              <a:t>https://www.bfm.ru/person/61</a:t>
            </a:r>
          </a:p>
          <a:p xmlns:a="http://schemas.openxmlformats.org/drawingml/2006/main">
            <a:r>
              <a:t>https://svpressa.ru/persons/konstantin-kosachev/</a:t>
            </a:r>
          </a:p>
          <a:p xmlns:a="http://schemas.openxmlformats.org/drawingml/2006/main">
            <a:r>
              <a:t>https://www.pnp.ru/person/konstantin-kosachev/</a:t>
            </a:r>
          </a:p>
          <a:p xmlns:a="http://schemas.openxmlformats.org/drawingml/2006/main">
            <a:r>
              <a:t>https://www.pnp.ru/politics/konstantin-kosachev-dlya-ssha-voyna-s-rossiey-eto-samoubiystvo.html</a:t>
            </a:r>
          </a:p>
          <a:p xmlns:a="http://schemas.openxmlformats.org/drawingml/2006/main">
            <a:r>
              <a:t>https://www.mlg.ru/ratings/vlast/senators/10844/</a:t>
            </a:r>
          </a:p>
          <a:p xmlns:a="http://schemas.openxmlformats.org/drawingml/2006/main">
            <a:r>
              <a:t>http://council.gov.ru/events/news/173506/</a:t>
            </a:r>
          </a:p>
          <a:p xmlns:a="http://schemas.openxmlformats.org/drawingml/2006/main">
            <a:r>
              <a:t>https://t.me/s/Kosachev62</a:t>
            </a:r>
          </a:p>
          <a:p xmlns:a="http://schemas.openxmlformats.org/drawingml/2006/main">
            <a:r>
              <a:t>http://council.gov.ru/events/news/177602/</a:t>
            </a:r>
          </a:p>
          <a:p xmlns:a="http://schemas.openxmlformats.org/drawingml/2006/main">
            <a:r>
              <a:t>https://vmeste-rf.tv/programs/205/konstantin-kosachev-sotrudnichestvo-rossii-i-efiopii-itogi-vizita-delegatsii-sf/</a:t>
            </a:r>
          </a:p>
          <a:p xmlns:a="http://schemas.openxmlformats.org/drawingml/2006/main">
            <a:r>
              <a:t>https://www.rbc.ru/person/64b8e1909a79474f30e86f98</a:t>
            </a:r>
          </a:p>
          <a:p xmlns:a="http://schemas.openxmlformats.org/drawingml/2006/main">
            <a:r>
              <a:t>https://www.kommersant.ru/doc/6041063</a:t>
            </a:r>
          </a:p>
          <a:p xmlns:a="http://schemas.openxmlformats.org/drawingml/2006/main">
            <a:r>
              <a:t>https://www.mos.ru/mayor/themes/6907050/</a:t>
            </a:r>
          </a:p>
          <a:p xmlns:a="http://schemas.openxmlformats.org/drawingml/2006/main">
            <a:r>
              <a:t>https://www.mos.ru/mayor/themes/7037050/</a:t>
            </a:r>
          </a:p>
          <a:p xmlns:a="http://schemas.openxmlformats.org/drawingml/2006/main">
            <a:r>
              <a:t>https://www.mos.ru/mayor/themes/8822050/</a:t>
            </a:r>
          </a:p>
          <a:p xmlns:a="http://schemas.openxmlformats.org/drawingml/2006/main">
            <a:r>
              <a:t>http://special.kremlin.ru/catalog/persons/38/events/70467</a:t>
            </a:r>
          </a:p>
          <a:p xmlns:a="http://schemas.openxmlformats.org/drawingml/2006/main">
            <a:r>
              <a:t>https://www.mos.ru/upload/content/files/15af077500dcc5a1547bf728abf25669/15Zakong_Moskviot17_05_2017N14Odopolnitelnihgaranti.pdf</a:t>
            </a:r>
          </a:p>
          <a:p xmlns:a="http://schemas.openxmlformats.org/drawingml/2006/main">
            <a:r>
              <a:t>https://www.rbc.ru/politics/03/05/2023/645245159a794763ce66d990</a:t>
            </a:r>
          </a:p>
          <a:p xmlns:a="http://schemas.openxmlformats.org/drawingml/2006/main">
            <a:r>
              <a:t>https://www.dw.com/ru/ataka-dronov-v-moskve-i-podmoskove-cto-izvestno/a-65771767</a:t>
            </a:r>
          </a:p>
          <a:p xmlns:a="http://schemas.openxmlformats.org/drawingml/2006/main">
            <a:r>
              <a:t>https://www.rbc.ru/politics/01/08/2023/64c856ce9a79471a722e13ad</a:t>
            </a:r>
          </a:p>
          <a:p xmlns:a="http://schemas.openxmlformats.org/drawingml/2006/main">
            <a:r>
              <a:t>https://www.rbc.ru/politics/23/08/2023/64e54f299a794789ddb55c65</a:t>
            </a:r>
          </a:p>
          <a:p xmlns:a="http://schemas.openxmlformats.org/drawingml/2006/main">
            <a:r>
              <a:t>https://ru.wikipedia.org/wiki/Беглов,_Александр_Дмитриевич</a:t>
            </a:r>
          </a:p>
          <a:p xmlns:a="http://schemas.openxmlformats.org/drawingml/2006/main">
            <a:r>
              <a:t>https://www.gov.spb.ru/governor/</a:t>
            </a:r>
          </a:p>
          <a:p xmlns:a="http://schemas.openxmlformats.org/drawingml/2006/main">
            <a:r>
              <a:t>https://www.rbc.ru/politics/30/05/2019/5cf02cf09a79475ed4d2fa3f</a:t>
            </a:r>
          </a:p>
          <a:p xmlns:a="http://schemas.openxmlformats.org/drawingml/2006/main">
            <a:r>
              <a:t>https://www.themoscowtimes.com/2019/09/11/st-petersburg-re-elects-governor-beglov-after-controversial-campaign-a67240</a:t>
            </a:r>
          </a:p>
          <a:p xmlns:a="http://schemas.openxmlformats.org/drawingml/2006/main">
            <a:r>
              <a:t>https://www.gov.spb.ru/press/governor/188637/</a:t>
            </a:r>
          </a:p>
          <a:p xmlns:a="http://schemas.openxmlformats.org/drawingml/2006/main">
            <a:r>
              <a:t>https://www.gov.spb.ru/press/governor/213661/</a:t>
            </a:r>
          </a:p>
          <a:p xmlns:a="http://schemas.openxmlformats.org/drawingml/2006/main">
            <a:r>
              <a:t>https://www.gov.spb.ru/press/governor/258831/</a:t>
            </a:r>
          </a:p>
          <a:p xmlns:a="http://schemas.openxmlformats.org/drawingml/2006/main">
            <a:r>
              <a:t>https://www.gov.spb.ru/governor/interview/7333/</a:t>
            </a:r>
          </a:p>
          <a:p xmlns:a="http://schemas.openxmlformats.org/drawingml/2006/main">
            <a:r>
              <a:t>https://tass.ru/interviews/21839179</a:t>
            </a:r>
          </a:p>
          <a:p xmlns:a="http://schemas.openxmlformats.org/drawingml/2006/main">
            <a:r>
              <a:t>https://www.gov.spb.ru/press/governor/236663/</a:t>
            </a:r>
          </a:p>
          <a:p xmlns:a="http://schemas.openxmlformats.org/drawingml/2006/main">
            <a:r>
              <a:t>https://tvspb.ru/news/2022/09/21/aleksandr-beglov-ukaz-prezidenta-o-chastichnoj-mobilizaczii-byl-trudnym-no-neobhodimym-shagom</a:t>
            </a:r>
          </a:p>
          <a:p xmlns:a="http://schemas.openxmlformats.org/drawingml/2006/main">
            <a:r>
              <a:t>https://spbvedomosti.ru/news/gorod/gubernator-aleksandr-beglov-obyavil-o-zavershenii-chastichnoy-mobilizatsii/</a:t>
            </a:r>
          </a:p>
          <a:p xmlns:a="http://schemas.openxmlformats.org/drawingml/2006/main">
            <a:r>
              <a:t>https://www.gov.spb.ru/press/governor/253716/</a:t>
            </a:r>
          </a:p>
          <a:p xmlns:a="http://schemas.openxmlformats.org/drawingml/2006/main">
            <a:r>
              <a:t>https://www.gov.spb.ru/press/governor/290070/</a:t>
            </a:r>
          </a:p>
          <a:p xmlns:a="http://schemas.openxmlformats.org/drawingml/2006/main">
            <a:r>
              <a:t>https://spbdnevnik.ru/news/2022-10-06/aleksandr-beglov-rasskazal-o-prizyve-po-mobilizatsii-peterburzhtsa-s-odnoy-pochkoy</a:t>
            </a:r>
          </a:p>
          <a:p xmlns:a="http://schemas.openxmlformats.org/drawingml/2006/main">
            <a:r>
              <a:t>https://www.rbc.ru/person/62c5c0899a79470082fa57eb</a:t>
            </a:r>
          </a:p>
          <a:p xmlns:a="http://schemas.openxmlformats.org/drawingml/2006/main">
            <a:r>
              <a:t>https://www.kavkaz-uzel.eu/articles/85366</a:t>
            </a:r>
          </a:p>
          <a:p xmlns:a="http://schemas.openxmlformats.org/drawingml/2006/main">
            <a:r>
              <a:t>https://news.ru/regions/my-dolzhny-zabrat-vsyu-ukrainu-chto-kadyrov-govoril-ob-svo-rossii-putine</a:t>
            </a:r>
          </a:p>
          <a:p xmlns:a="http://schemas.openxmlformats.org/drawingml/2006/main">
            <a:r>
              <a:t>https://minval.az/k/ramzan-kadyrov</a:t>
            </a:r>
          </a:p>
          <a:p xmlns:a="http://schemas.openxmlformats.org/drawingml/2006/main">
            <a:r>
              <a:t>http://publication.pravo.gov.ru/document/2000202609160002</a:t>
            </a:r>
          </a:p>
          <a:p xmlns:a="http://schemas.openxmlformats.org/drawingml/2006/main">
            <a:r>
              <a:t>https://vestikavkaza.ru/amp/291219</a:t>
            </a:r>
          </a:p>
          <a:p xmlns:a="http://schemas.openxmlformats.org/drawingml/2006/main">
            <a:r>
              <a:t>https://tass.ru/obschestvo/25968415</a:t>
            </a:r>
          </a:p>
          <a:p xmlns:a="http://schemas.openxmlformats.org/drawingml/2006/main">
            <a:r>
              <a:t>https://www.rbc.ru/rbcfreenews/694558f89a794775c8b05d2e</a:t>
            </a:r>
          </a:p>
          <a:p xmlns:a="http://schemas.openxmlformats.org/drawingml/2006/main">
            <a:r>
              <a:t>https://rais.tatarstan.ru/biografiya.htm</a:t>
            </a:r>
          </a:p>
          <a:p xmlns:a="http://schemas.openxmlformats.org/drawingml/2006/main">
            <a:r>
              <a:t>https://rt.rbc.ru/tatarstan/freenews/68c7f77d9a79472be550408e</a:t>
            </a:r>
          </a:p>
          <a:p xmlns:a="http://schemas.openxmlformats.org/drawingml/2006/main">
            <a:r>
              <a:t>https://rt.rbc.ru/tatarstan/freenews/68c90bdc9a794783273a16b6</a:t>
            </a:r>
          </a:p>
          <a:p xmlns:a="http://schemas.openxmlformats.org/drawingml/2006/main">
            <a:r>
              <a:t>https://tass.ru/politika/25045679</a:t>
            </a:r>
          </a:p>
          <a:p xmlns:a="http://schemas.openxmlformats.org/drawingml/2006/main">
            <a:r>
              <a:t>https://tass.ru/info/25058299</a:t>
            </a:r>
          </a:p>
          <a:p xmlns:a="http://schemas.openxmlformats.org/drawingml/2006/main">
            <a:r>
              <a:t>https://tatarstan.ru/index.htm/news/2454245.htm</a:t>
            </a:r>
          </a:p>
          <a:p xmlns:a="http://schemas.openxmlformats.org/drawingml/2006/main">
            <a:r>
              <a:t>https://izbirkom.tatarstan.ru/file/pub/pub_4719790.docx</a:t>
            </a:r>
          </a:p>
          <a:p xmlns:a="http://schemas.openxmlformats.org/drawingml/2006/main">
            <a:r>
              <a:t>http://www.pfo.gov.ru/press/events/112125/</a:t>
            </a:r>
          </a:p>
          <a:p xmlns:a="http://schemas.openxmlformats.org/drawingml/2006/main">
            <a:r>
              <a:t>https://www.tatar-inform.ru/news/rustam-minnixanov-sankcii-ne-koncatsya-poka-my-ne-stanem-samodostatocnymi-5896958</a:t>
            </a:r>
          </a:p>
          <a:p xmlns:a="http://schemas.openxmlformats.org/drawingml/2006/main">
            <a:r>
              <a:t>https://tatarstan.ru/index.htm/news/1916025.htm</a:t>
            </a:r>
          </a:p>
          <a:p xmlns:a="http://schemas.openxmlformats.org/drawingml/2006/main">
            <a:r>
              <a:t>https://kitaphane.tatarstan.ru/digital.htm</a:t>
            </a:r>
          </a:p>
          <a:p xmlns:a="http://schemas.openxmlformats.org/drawingml/2006/main">
            <a:r>
              <a:t>https://kt.tatarstan.ru/index.htm/news/2266706.htm</a:t>
            </a:r>
          </a:p>
          <a:p xmlns:a="http://schemas.openxmlformats.org/drawingml/2006/main">
            <a:r>
              <a:t>https://tatarstan.ru/index.htm/news/2460505.htm</a:t>
            </a:r>
          </a:p>
          <a:p xmlns:a="http://schemas.openxmlformats.org/drawingml/2006/main">
            <a:r>
              <a:t>https://digital.tatarstan.ru/index.htm/news/2460691.htm</a:t>
            </a:r>
          </a:p>
          <a:p xmlns:a="http://schemas.openxmlformats.org/drawingml/2006/main">
            <a:r>
              <a:t>https://amp.rbc.ru/rbcnews/politics/09/07/2020/5f06bbb69a79475c40a9a094</a:t>
            </a:r>
          </a:p>
          <a:p xmlns:a="http://schemas.openxmlformats.org/drawingml/2006/main">
            <a:r>
              <a:t>https://1kas.sudrf.ru/modules.php?name=sud_delo&amp;name_op=doc&amp;number=39453936&amp;delo_id=2450001&amp;case_type=0&amp;new=2450001&amp;text_number=1&amp;srv_num=1</a:t>
            </a:r>
          </a:p>
          <a:p xmlns:a="http://schemas.openxmlformats.org/drawingml/2006/main">
            <a:r>
              <a:t>https://www.interfax.ru/russia/982916</a:t>
            </a:r>
          </a:p>
          <a:p xmlns:a="http://schemas.openxmlformats.org/drawingml/2006/main">
            <a:r>
              <a:t>https://www.svoboda.org/a/sud-ostavil-v-sile-prigovor-habarovskomu-eks-gubernatoru-sergeyu-furgalu/32686024.html</a:t>
            </a:r>
          </a:p>
          <a:p xmlns:a="http://schemas.openxmlformats.org/drawingml/2006/main">
            <a:r>
              <a:t>https://www.dw.com/ru/kommentarij-furgal-peresidit-putina/a-64670560</a:t>
            </a:r>
          </a:p>
          <a:p xmlns:a="http://schemas.openxmlformats.org/drawingml/2006/main">
            <a:r>
              <a:t>https://www.kommersant.ru/doc/3896415</a:t>
            </a:r>
          </a:p>
          <a:p xmlns:a="http://schemas.openxmlformats.org/drawingml/2006/main">
            <a:r>
              <a:t>https://todaykhv.ru/news/policy/19386/</a:t>
            </a:r>
          </a:p>
          <a:p xmlns:a="http://schemas.openxmlformats.org/drawingml/2006/main">
            <a:r>
              <a:t>https://meduza.io/feature/2018/09/19/ya-dumayu-chto-situatsiya-kak-v-primorie-u-nas-ne-povtoritsya</a:t>
            </a:r>
          </a:p>
          <a:p xmlns:a="http://schemas.openxmlformats.org/drawingml/2006/main">
            <a:r>
              <a:t>https://govoritmoskva.ru/news/174327/</a:t>
            </a:r>
          </a:p>
          <a:p xmlns:a="http://schemas.openxmlformats.org/drawingml/2006/main">
            <a:r>
              <a:t>https://todaykhv.ru/news/policy/22426/?sphrase_id=2620206</a:t>
            </a:r>
          </a:p>
          <a:p xmlns:a="http://schemas.openxmlformats.org/drawingml/2006/main">
            <a:r>
              <a:t>https://ru.wikipedia.org/wiki/%D0%A4%D1%83%D1%80%D0%B3%D0%B0%D0%BB,_%D0%A1%D0%B5%D1%80%D0%B3%D0%B5%D0%B9_%D0%98%D0%B2%D0%B0%D0%BD%D0%BE%D0%B2%D0%B8%D1%87</a:t>
            </a:r>
          </a:p>
          <a:p xmlns:a="http://schemas.openxmlformats.org/drawingml/2006/main">
            <a:r>
              <a:t>https://novayagazeta.ru/articles/2018/09/18/77870-ne-dopuschu-zdes-revolyutsii</a:t>
            </a:r>
          </a:p>
          <a:p xmlns:a="http://schemas.openxmlformats.org/drawingml/2006/main">
            <a:r>
              <a:t>https://opkhv.ru/publications/4888</a:t>
            </a:r>
          </a:p>
          <a:p xmlns:a="http://schemas.openxmlformats.org/drawingml/2006/main">
            <a:r>
              <a:t>https://meduza.io/feature/2019/08/26/partiya-vlasti-zdes-ldpr</a:t>
            </a:r>
          </a:p>
          <a:p xmlns:a="http://schemas.openxmlformats.org/drawingml/2006/main">
            <a:r>
              <a:t>https://tass.ru/obschestvo/5946495</a:t>
            </a:r>
          </a:p>
          <a:p xmlns:a="http://schemas.openxmlformats.org/drawingml/2006/main">
            <a:r>
              <a:t>https://amurmedia.ru/news/775590/</a:t>
            </a:r>
          </a:p>
          <a:p xmlns:a="http://schemas.openxmlformats.org/drawingml/2006/main">
            <a:r>
              <a:t>https://www.eastrussia.ru/material/ne-planiruyushchim-pereezzhat-sovetuyu-pomolchat/</a:t>
            </a:r>
          </a:p>
          <a:p xmlns:a="http://schemas.openxmlformats.org/drawingml/2006/main">
            <a:r>
              <a:t>https://www.dw.com/ru/v-habarovske-priznali-ekstremistskim-dvizenie-v-zasitu-furgala/a-68334442</a:t>
            </a:r>
          </a:p>
          <a:p xmlns:a="http://schemas.openxmlformats.org/drawingml/2006/main">
            <a:r>
              <a:t>https://www.rbc.ru/person/66475fec9a79475c4d9443ad</a:t>
            </a:r>
          </a:p>
          <a:p xmlns:a="http://schemas.openxmlformats.org/drawingml/2006/main">
            <a:r>
              <a:t>https://tass.ru/info/12453099</a:t>
            </a:r>
          </a:p>
          <a:p xmlns:a="http://schemas.openxmlformats.org/drawingml/2006/main">
            <a:r>
              <a:t>https://tass.ru/info/9007455</a:t>
            </a:r>
          </a:p>
          <a:p xmlns:a="http://schemas.openxmlformats.org/drawingml/2006/main">
            <a:r>
              <a:t>https://tass.ru/info/20795009</a:t>
            </a:r>
          </a:p>
          <a:p xmlns:a="http://schemas.openxmlformats.org/drawingml/2006/main">
            <a:r>
              <a:t>https://tass.ru/encyclopedia/person/degtyarev-mihail-vladimirovich</a:t>
            </a:r>
          </a:p>
          <a:p xmlns:a="http://schemas.openxmlformats.org/drawingml/2006/main">
            <a:r>
              <a:t>https://www.rbc.ru/politics/20/07/2020/5f1586289a794722b2457d61</a:t>
            </a:r>
          </a:p>
          <a:p xmlns:a="http://schemas.openxmlformats.org/drawingml/2006/main">
            <a:r>
              <a:t>https://www.minsport.gov.ru/press-center/news/intervyu-mihaila-degtyareva-gazete-kommersant/</a:t>
            </a:r>
          </a:p>
          <a:p xmlns:a="http://schemas.openxmlformats.org/drawingml/2006/main">
            <a:r>
              <a:t>https://minsport.gov.ru/press-center/news/mihail-degtyarev-nashe-mesto-za-stolom-a-ne-v-perednej/</a:t>
            </a:r>
          </a:p>
          <a:p xmlns:a="http://schemas.openxmlformats.org/drawingml/2006/main">
            <a:r>
              <a:t>https://news.ru/vlast/degtyarev-prizval-ne-doveryat-evrope-provedenie-sorevnovanij</a:t>
            </a:r>
          </a:p>
          <a:p xmlns:a="http://schemas.openxmlformats.org/drawingml/2006/main">
            <a:r>
              <a:t>https://www.interfax.ru/presscenter/622170</a:t>
            </a:r>
          </a:p>
          <a:p xmlns:a="http://schemas.openxmlformats.org/drawingml/2006/main">
            <a:r>
              <a:t>https://tass.ru/interviews/13152777</a:t>
            </a:r>
          </a:p>
          <a:p xmlns:a="http://schemas.openxmlformats.org/drawingml/2006/main">
            <a:r>
              <a:t>https://www.sports.ru/others/blogs/3302024.html</a:t>
            </a:r>
          </a:p>
          <a:p xmlns:a="http://schemas.openxmlformats.org/drawingml/2006/main">
            <a:r>
              <a:t>https://www.vremyan.ru/news/556863</a:t>
            </a:r>
          </a:p>
          <a:p xmlns:a="http://schemas.openxmlformats.org/drawingml/2006/main">
            <a:r>
              <a:t>https://kprf.ru/personal/levchenko</a:t>
            </a:r>
          </a:p>
          <a:p xmlns:a="http://schemas.openxmlformats.org/drawingml/2006/main">
            <a:r>
              <a:t>https://www.rbc.ru/politics/23/06/2020/5ef0bd949a7947b3cd3dcba6</a:t>
            </a:r>
          </a:p>
          <a:p xmlns:a="http://schemas.openxmlformats.org/drawingml/2006/main">
            <a:r>
              <a:t>https://kprf.ru/party-live/regnews/194838.html</a:t>
            </a:r>
          </a:p>
          <a:p xmlns:a="http://schemas.openxmlformats.org/drawingml/2006/main">
            <a:r>
              <a:t>https://liveangarsk.ru/news/20191214/v-slozhivsheisya</a:t>
            </a:r>
          </a:p>
          <a:p xmlns:a="http://schemas.openxmlformats.org/drawingml/2006/main">
            <a:r>
              <a:t>https://kprf.ru/dep/gosduma/activities/240271.html</a:t>
            </a:r>
          </a:p>
          <a:p xmlns:a="http://schemas.openxmlformats.org/drawingml/2006/main">
            <a:r>
              <a:t>https://kprf.ru/dep/gosduma/activities/241686.html</a:t>
            </a:r>
          </a:p>
          <a:p xmlns:a="http://schemas.openxmlformats.org/drawingml/2006/main">
            <a:r>
              <a:t>https://altairk.ru/new/policy/the_message_of_the_governor</a:t>
            </a:r>
          </a:p>
          <a:p xmlns:a="http://schemas.openxmlformats.org/drawingml/2006/main">
            <a:r>
              <a:t>https://kto-irkutsk.ru/2026/07/20/sergej-levchenko-deyatelnost-i-zayavleniya-i-ix-ocenka/</a:t>
            </a:r>
          </a:p>
          <a:p xmlns:a="http://schemas.openxmlformats.org/drawingml/2006/main">
            <a:r>
              <a:t>https://ru.wikipedia.org/wiki/%D0%9B%D0%B5%D0%B2%D1%87%D0%B5%D0%BD%D0%BA%D0%BE,_%D0%A1%D0%B5%D1%80%D0%B3%D0%B5%D0%B9_%D0%93%D0%B5%D0%BE%D1%80%D0%B3%D0%B8%D0%B5%D0%B2%D0%B8%D1%87</a:t>
            </a:r>
          </a:p>
          <a:p xmlns:a="http://schemas.openxmlformats.org/drawingml/2006/main">
            <a:r>
              <a:t>https://www.newsru.com/dossiers/10330/</a:t>
            </a:r>
          </a:p>
          <a:p xmlns:a="http://schemas.openxmlformats.org/drawingml/2006/main">
            <a:r>
              <a:t>https://www.interfax.ru/russia/714300</a:t>
            </a:r>
          </a:p>
          <a:p xmlns:a="http://schemas.openxmlformats.org/drawingml/2006/main">
            <a:r>
              <a:t>https://www.rbc.ru/politics/14/09/2020/5f5e7dfb9a79477f7753d651</a:t>
            </a:r>
          </a:p>
          <a:p xmlns:a="http://schemas.openxmlformats.org/drawingml/2006/main">
            <a:r>
              <a:t>https://www.rline.tv/podrobnosti/2019-10-06-sergey-levchenko-za-chetyre-goda-sdelano-bolshe-chem-za-predydushchie-15-let/</a:t>
            </a:r>
          </a:p>
          <a:p xmlns:a="http://schemas.openxmlformats.org/drawingml/2006/main">
            <a:r>
              <a:t>https://vs19.ru/verhovny-sovet/deputati/670-konovalov-valentin-olegovich</a:t>
            </a:r>
          </a:p>
          <a:p xmlns:a="http://schemas.openxmlformats.org/drawingml/2006/main">
            <a:r>
              <a:t>https://meduza.io/feature/2018/09/10/etu-vlast-nichego-ne-spaset</a:t>
            </a:r>
          </a:p>
          <a:p xmlns:a="http://schemas.openxmlformats.org/drawingml/2006/main">
            <a:r>
              <a:t>https://kprf.ru/party-live/regnews/188553.html</a:t>
            </a:r>
          </a:p>
          <a:p xmlns:a="http://schemas.openxmlformats.org/drawingml/2006/main">
            <a:r>
              <a:t>https://www.kommersant.ru/doc/4441936</a:t>
            </a:r>
          </a:p>
          <a:p xmlns:a="http://schemas.openxmlformats.org/drawingml/2006/main">
            <a:r>
              <a:t>http://www.youtube.com/watch?v=eO6lUkFCAqM</a:t>
            </a:r>
          </a:p>
          <a:p xmlns:a="http://schemas.openxmlformats.org/drawingml/2006/main">
            <a:r>
              <a:t>https://ru.wikipedia.org/wiki/%D0%92%D1%8B%D0%B1%D0%BE%D1%80%D1%8B_%D0%B3%D0%BB%D0%B0%D0%B2%D1%8B_%D0%A0%D0%B5%D1%81%D0%BF%D1%83%D0%B1%D0%BB%D0%B8%D0%BA%D0%B8_%D0%A5%D0%B0%D0%BA%D0%B0%D1%81%D0%B8%D1%8F_(2018)</a:t>
            </a:r>
          </a:p>
          <a:p xmlns:a="http://schemas.openxmlformats.org/drawingml/2006/main">
            <a:r>
              <a:t>https://ok.ru/group/51615057903766/topic/157744983021718</a:t>
            </a:r>
          </a:p>
          <a:p xmlns:a="http://schemas.openxmlformats.org/drawingml/2006/main">
            <a:r>
              <a:t>https://kprf.ru/party-live/cknews/245343.html</a:t>
            </a:r>
          </a:p>
          <a:p xmlns:a="http://schemas.openxmlformats.org/drawingml/2006/main">
            <a:r>
              <a:t>https://r-19.ru/news/politika/190680/</a:t>
            </a:r>
          </a:p>
          <a:p xmlns:a="http://schemas.openxmlformats.org/drawingml/2006/main">
            <a:r>
              <a:t>https://r-19.ru/news/ekonomika/193031/</a:t>
            </a:r>
          </a:p>
          <a:p xmlns:a="http://schemas.openxmlformats.org/drawingml/2006/main">
            <a:r>
              <a:t>https://19rusinfo.ru/ekonomika/118670-otchjot</a:t>
            </a:r>
          </a:p>
          <a:p xmlns:a="http://schemas.openxmlformats.org/drawingml/2006/main">
            <a:r>
              <a:t>https://iditena.ru/candidates/konovalov-valentin-olegovich/</a:t>
            </a:r>
          </a:p>
          <a:p xmlns:a="http://schemas.openxmlformats.org/drawingml/2006/main">
            <a:r>
              <a:t>https://56.kprf.ru/deyatelnost/tpost/gjjjuy1zi1-glava-hakasii-valentin-konovalov-dal-int</a:t>
            </a:r>
          </a:p>
          <a:p xmlns:a="http://schemas.openxmlformats.org/drawingml/2006/main">
            <a:r>
              <a:t>https://meduza.io/feature/2019/05/31/strana-pobedivshego-kommunista</a:t>
            </a:r>
          </a:p>
          <a:p xmlns:a="http://schemas.openxmlformats.org/drawingml/2006/main">
            <a:r>
              <a:t>https://xn--80aac0c2a.xn--p1acf/2026/08/22/vstrecha-s-uchastiem-valentina-konovalova-i-alekseya-kornienko-proshla-v-habarovske</a:t>
            </a:r>
          </a:p>
          <a:p xmlns:a="http://schemas.openxmlformats.org/drawingml/2006/main">
            <a:r>
              <a:t>https://www.vedomosti.ru/politics/characters/2026/07/06/1211370-valentin-konovalov-rossiya-na-moskve-ne-zakanchivaetsya?from=newsline</a:t>
            </a:r>
          </a:p>
          <a:p xmlns:a="http://schemas.openxmlformats.org/drawingml/2006/main">
            <a:r>
              <a:t>https://www.vedomosti.ru/person/1215197-aksenov-sergei</a:t>
            </a:r>
          </a:p>
          <a:p xmlns:a="http://schemas.openxmlformats.org/drawingml/2006/main">
            <a:r>
              <a:t>https://www.rbc.ru/person/65f020599a79475815e702c9</a:t>
            </a:r>
          </a:p>
          <a:p xmlns:a="http://schemas.openxmlformats.org/drawingml/2006/main">
            <a:r>
              <a:t>http://crimea.gov.ru/news/30_03_18_10</a:t>
            </a:r>
          </a:p>
          <a:p xmlns:a="http://schemas.openxmlformats.org/drawingml/2006/main">
            <a:r>
              <a:t>https://www.npr.org/sections/parallels/2018/01/27/581114772/putins-man-in-crimea-we-ve-returned-to-russia-forever</a:t>
            </a:r>
          </a:p>
          <a:p xmlns:a="http://schemas.openxmlformats.org/drawingml/2006/main">
            <a:r>
              <a:t>http://crimea.gov.ru/en/news/26_02_19_6</a:t>
            </a:r>
          </a:p>
          <a:p xmlns:a="http://schemas.openxmlformats.org/drawingml/2006/main">
            <a:r>
              <a:t>https://antifashist.com/item/kto-polomal-infopole-kryma-i-ne-otvechaet-na-voprosy.html</a:t>
            </a:r>
          </a:p>
          <a:p xmlns:a="http://schemas.openxmlformats.org/drawingml/2006/main">
            <a:r>
              <a:t>https://ru.krymr.com/a/news/27913548.html</a:t>
            </a:r>
          </a:p>
          <a:p xmlns:a="http://schemas.openxmlformats.org/drawingml/2006/main">
            <a:r>
              <a:t>https://simfch.ru/2022/03/02/glava-respubliki-krym-sergej-aksyonov-prizval-krymchan-k-informaczionnoj-mobilizaczii-otkrytomu-i-publichnomu-vyrazheniyu-svoej-patrioticheskoj-poziczii/</a:t>
            </a:r>
          </a:p>
          <a:p xmlns:a="http://schemas.openxmlformats.org/drawingml/2006/main">
            <a:r>
              <a:t>https://www.rbc.ru/politics/29/05/2023/64749e389a7947f3de98dff2</a:t>
            </a:r>
          </a:p>
          <a:p xmlns:a="http://schemas.openxmlformats.org/drawingml/2006/main">
            <a:r>
              <a:t>https://ru.krymr.com/a/krym-sergey-aksenov-pvo-prilety-bavovna-bezopasnost-pvo-udar/32631709.html</a:t>
            </a:r>
          </a:p>
          <a:p xmlns:a="http://schemas.openxmlformats.org/drawingml/2006/main">
            <a:r>
              <a:t>https://rostov.rbc.ru/rostov/interview/18/03/2024/65f75c4f9a7947c8b475ab94</a:t>
            </a:r>
          </a:p>
          <a:p xmlns:a="http://schemas.openxmlformats.org/drawingml/2006/main">
            <a:r>
              <a:t>https://www.kommersant.ru/doc/7715230</a:t>
            </a:r>
          </a:p>
          <a:p xmlns:a="http://schemas.openxmlformats.org/drawingml/2006/main">
            <a:r>
              <a:t>https://www.kommersant.ru/doc/5154319</a:t>
            </a:r>
          </a:p>
          <a:p xmlns:a="http://schemas.openxmlformats.org/drawingml/2006/main">
            <a:r>
              <a:t>https://www.rbc.ru/person/660290b19a7947801fe9439b</a:t>
            </a:r>
          </a:p>
          <a:p xmlns:a="http://schemas.openxmlformats.org/drawingml/2006/main">
            <a:r>
              <a:t>https://www.kommersant.ru/doc/3759211</a:t>
            </a:r>
          </a:p>
          <a:p xmlns:a="http://schemas.openxmlformats.org/drawingml/2006/main">
            <a:r>
              <a:t>https://tass.ru/info/6656656</a:t>
            </a:r>
          </a:p>
          <a:p xmlns:a="http://schemas.openxmlformats.org/drawingml/2006/main">
            <a:r>
              <a:t>https://sevastopol.er.ru/pages/otchet-gubernatora-sevastopolya-mihaila-razvozhaeva</a:t>
            </a:r>
          </a:p>
          <a:p xmlns:a="http://schemas.openxmlformats.org/drawingml/2006/main">
            <a:r>
              <a:t>http://special.kremlin.ru/catalog/persons/579/events/76271</a:t>
            </a:r>
          </a:p>
          <a:p xmlns:a="http://schemas.openxmlformats.org/drawingml/2006/main">
            <a:r>
              <a:t>https://sevastopol.su/news/chastnyy-biznes-vlozhil-v-sevastopol-250-mlrd-rubley-za-tri-goda</a:t>
            </a:r>
          </a:p>
          <a:p xmlns:a="http://schemas.openxmlformats.org/drawingml/2006/main">
            <a:r>
              <a:t>https://sevastopol.su/news/v-sevastopole-ocenili-perspektivy-mikhaila-razvozhaeva-na-sleduyuschikh-vyborakh</a:t>
            </a:r>
          </a:p>
          <a:p xmlns:a="http://schemas.openxmlformats.org/drawingml/2006/main">
            <a:r>
              <a:t>https://tass.ru/interviews/10248577</a:t>
            </a:r>
          </a:p>
          <a:p xmlns:a="http://schemas.openxmlformats.org/drawingml/2006/main">
            <a:r>
              <a:t>https://news.ru/russia/u-nas-smelye-plany-gubernator-sevastopolya-razvozzhaev-o-budushem-goroda</a:t>
            </a:r>
          </a:p>
          <a:p xmlns:a="http://schemas.openxmlformats.org/drawingml/2006/main">
            <a:r>
              <a:t>http://kremlin.ru/events/administration/80838</a:t>
            </a:r>
          </a:p>
          <a:p xmlns:a="http://schemas.openxmlformats.org/drawingml/2006/main">
            <a:r>
              <a:t>https://tass.ru/kultura/28214691</a:t>
            </a:r>
          </a:p>
          <a:p xmlns:a="http://schemas.openxmlformats.org/drawingml/2006/main">
            <a:r>
              <a:t>http://kremlin.ru/events/administration/80591</a:t>
            </a:r>
          </a:p>
          <a:p xmlns:a="http://schemas.openxmlformats.org/drawingml/2006/main">
            <a:r>
              <a:t>https://governors.ru/glava-regiona/Belgorodskaya-oblast/Gladkov-Vyacheslav-Vladimirovich</a:t>
            </a:r>
          </a:p>
          <a:p xmlns:a="http://schemas.openxmlformats.org/drawingml/2006/main">
            <a:r>
              <a:t>https://ru.wikipedia.org/wiki/%D0%93%D0%BB%D0%B0%D0%B4%D0%BA%D0%BE%D0%B2,_%D0%92%D1%8F%D1%87%D0%B5%D1%81%D0%BB%D0%B0%D0%B2_%D0%92%D0%BB%D0%B0%D0%B4%D0%B8%D0%BC%D0%B8%D1%80%D0%BE%D0%B2%D0%B8%D1%87</a:t>
            </a:r>
          </a:p>
          <a:p xmlns:a="http://schemas.openxmlformats.org/drawingml/2006/main">
            <a:r>
              <a:t>http://council.gov.ru/structure/persons/1543/</a:t>
            </a:r>
          </a:p>
          <a:p xmlns:a="http://schemas.openxmlformats.org/drawingml/2006/main">
            <a:r>
              <a:t>https://ufa.rbc.ru/person/648345539a794760fd0c17e8</a:t>
            </a:r>
          </a:p>
          <a:p xmlns:a="http://schemas.openxmlformats.org/drawingml/2006/main">
            <a:r>
              <a:t>https://www.kommersant.ru/doc/8571119</a:t>
            </a:r>
          </a:p>
          <a:p xmlns:a="http://schemas.openxmlformats.org/drawingml/2006/main">
            <a:r>
              <a:t>https://www.kommersant.ru/doc/8655079</a:t>
            </a:r>
          </a:p>
          <a:p xmlns:a="http://schemas.openxmlformats.org/drawingml/2006/main">
            <a:r>
              <a:t>https://tass.ru/info/27861241</a:t>
            </a:r>
          </a:p>
          <a:p xmlns:a="http://schemas.openxmlformats.org/drawingml/2006/main">
            <a:r>
              <a:t>https://meduza.io/feature/2023/06/08/emu-by-vse-eto-razgresti</a:t>
            </a:r>
          </a:p>
          <a:p xmlns:a="http://schemas.openxmlformats.org/drawingml/2006/main">
            <a:r>
              <a:t>http://www.kremlin.ru/events/president/transcripts/66288</a:t>
            </a:r>
          </a:p>
          <a:p xmlns:a="http://schemas.openxmlformats.org/drawingml/2006/main">
            <a:r>
              <a:t>https://www.belpressa.ru/politics/vlast/62665.html</a:t>
            </a:r>
          </a:p>
          <a:p xmlns:a="http://schemas.openxmlformats.org/drawingml/2006/main">
            <a:r>
              <a:t>https://www.belpressa.ru/politics/vlast/71368.html</a:t>
            </a:r>
          </a:p>
          <a:p xmlns:a="http://schemas.openxmlformats.org/drawingml/2006/main">
            <a:r>
              <a:t>https://www.belnovosti.ru/politika/gubernator/127077.html</a:t>
            </a:r>
          </a:p>
          <a:p xmlns:a="http://schemas.openxmlformats.org/drawingml/2006/main">
            <a:r>
              <a:t>https://chr.plus.rbc.ru/news/694b9fb67a8aa90f9c2ce17d</a:t>
            </a:r>
          </a:p>
          <a:p xmlns:a="http://schemas.openxmlformats.org/drawingml/2006/main">
            <a:r>
              <a:t>https://www.belpressa.ru/society/bezopasnost/43348.html</a:t>
            </a:r>
          </a:p>
          <a:p xmlns:a="http://schemas.openxmlformats.org/drawingml/2006/main">
            <a:r>
              <a:t>https://www.rbc.ru/politics/07/03/2023/640758bf9a7947f6af99d464</a:t>
            </a:r>
          </a:p>
          <a:p xmlns:a="http://schemas.openxmlformats.org/drawingml/2006/main">
            <a:r>
              <a:t>https://www.rbc.ru/politics/24/05/2023/646d22029a794797c4bac4bf</a:t>
            </a:r>
          </a:p>
          <a:p xmlns:a="http://schemas.openxmlformats.org/drawingml/2006/main">
            <a:r>
              <a:t>https://www.bbc.com/russian/articles/c70dkd0pvrlo</a:t>
            </a:r>
          </a:p>
          <a:p xmlns:a="http://schemas.openxmlformats.org/drawingml/2006/main">
            <a:r>
              <a:t>https://www.go31.ru/news/proisshestviya/kak-nikto-drugoy-ponimaem-chto-takoe-agressiya-so-storony-ukrainy-gladkov-o-proryve-granitsy-v-kursk/</a:t>
            </a:r>
          </a:p>
          <a:p xmlns:a="http://schemas.openxmlformats.org/drawingml/2006/main">
            <a:r>
              <a:t>https://echofm.online/portret-dnya/portret-dnya-vyacheslav-gladkov-gubernator-belgorodskoj-oblasti-prognozy-o-sudbe-kotorogo-raznyatsya-ot-posta-posla-v-abhazii-do-ugolovnogo-dela</a:t>
            </a:r>
          </a:p>
          <a:p xmlns:a="http://schemas.openxmlformats.org/drawingml/2006/main">
            <a:r>
              <a:t>https://www.kommersant.ru/doc/3917861</a:t>
            </a:r>
          </a:p>
          <a:p xmlns:a="http://schemas.openxmlformats.org/drawingml/2006/main">
            <a:r>
              <a:t>https://minstroyrf.gov.ru/press/okolo-40-kontsessionnykh-soglasheniy-v-rossii-deystvuet-v-sfere-zhkkh/</a:t>
            </a:r>
          </a:p>
          <a:p xmlns:a="http://schemas.openxmlformats.org/drawingml/2006/main">
            <a:r>
              <a:t>https://newsroom24.ru/murmansk/news/politics/2026/news_323931/</a:t>
            </a:r>
          </a:p>
          <a:p xmlns:a="http://schemas.openxmlformats.org/drawingml/2006/main">
            <a:r>
              <a:t>https://murmansk.ru/52053</a:t>
            </a:r>
          </a:p>
          <a:p xmlns:a="http://schemas.openxmlformats.org/drawingml/2006/main">
            <a:r>
              <a:t>https://51.ru/text/gorod/2026/01/22/76228112/</a:t>
            </a:r>
          </a:p>
          <a:p xmlns:a="http://schemas.openxmlformats.org/drawingml/2006/main">
            <a:r>
              <a:t>https://www.murman.ru/news/2026/05/02/2334/</a:t>
            </a:r>
          </a:p>
          <a:p xmlns:a="http://schemas.openxmlformats.org/drawingml/2006/main">
            <a:r>
              <a:t>https://murman.ru/news/2026/09/06/2141/</a:t>
            </a:r>
          </a:p>
          <a:p xmlns:a="http://schemas.openxmlformats.org/drawingml/2006/main">
            <a:r>
              <a:t>https://www.murman.ru/news/2026/09/13/2242/</a:t>
            </a:r>
          </a:p>
          <a:p xmlns:a="http://schemas.openxmlformats.org/drawingml/2006/main">
            <a:r>
              <a:t>https://ru.wikipedia.org/wiki/%D0%A7%D0%B8%D0%B1%D0%B8%D1%81,_%D0%90%D0%BD%D0%B4%D1%80%D0%B5%D0%B9_%D0%92%D0%BB%D0%B0%D0%B4%D0%B8%D0%BC%D0%B8%D1%80%D0%BE%D0%B2%D0%B8%D1%87</a:t>
            </a:r>
          </a:p>
          <a:p xmlns:a="http://schemas.openxmlformats.org/drawingml/2006/main">
            <a:r>
              <a:t>https://tass.ru/obschestvo/23491353</a:t>
            </a:r>
          </a:p>
          <a:p xmlns:a="http://schemas.openxmlformats.org/drawingml/2006/main">
            <a:r>
              <a:t>https://www.murman.ru/news/2026/09/03/2243/</a:t>
            </a:r>
          </a:p>
          <a:p xmlns:a="http://schemas.openxmlformats.org/drawingml/2006/main">
            <a:r>
              <a:t>https://msp.citymurmansk.ru/news/2026/09/03/0930/</a:t>
            </a:r>
          </a:p>
          <a:p xmlns:a="http://schemas.openxmlformats.org/drawingml/2006/main">
            <a:r>
              <a:t>http://kremlin.ru/events/president/letters/80916</a:t>
            </a:r>
          </a:p>
          <a:p xmlns:a="http://schemas.openxmlformats.org/drawingml/2006/main">
            <a:r>
              <a:t>https://www.murmansk.kp.ru/daily/277813.4/5300258/</a:t>
            </a:r>
          </a:p>
          <a:p xmlns:a="http://schemas.openxmlformats.org/drawingml/2006/main">
            <a:r>
              <a:t>https://www.fontanka.ru/2021/07/27/70046798/</a:t>
            </a:r>
          </a:p>
          <a:p xmlns:a="http://schemas.openxmlformats.org/drawingml/2006/main">
            <a:r>
              <a:t>https://www.kommersant.ru/doc/4639758</a:t>
            </a:r>
          </a:p>
          <a:p xmlns:a="http://schemas.openxmlformats.org/drawingml/2006/main">
            <a:r>
              <a:t>https://www.bbc.com/russian/news-55614829</a:t>
            </a:r>
          </a:p>
          <a:p xmlns:a="http://schemas.openxmlformats.org/drawingml/2006/main">
            <a:r>
              <a:t>https://newpeople.ru/Deputy/sardana-avksenteva</a:t>
            </a:r>
          </a:p>
          <a:p xmlns:a="http://schemas.openxmlformats.org/drawingml/2006/main">
            <a:r>
              <a:t>https://www.pnp.ru/economics/kontrol-za-koncessionnymi-soglasheniyami-predlozhili-usilit.html</a:t>
            </a:r>
          </a:p>
          <a:p xmlns:a="http://schemas.openxmlformats.org/drawingml/2006/main">
            <a:r>
              <a:t>https://www.ng.ru/politics/2024-12-05/1_9150_right.html</a:t>
            </a:r>
          </a:p>
          <a:p xmlns:a="http://schemas.openxmlformats.org/drawingml/2006/main">
            <a:r>
              <a:t>https://news.ru/society/v-novyh-lyudyah-rasskazali-o-glavnyh-zadachah-partii-pered-vyborami</a:t>
            </a:r>
          </a:p>
          <a:p xmlns:a="http://schemas.openxmlformats.org/drawingml/2006/main">
            <a:r>
              <a:t>https://www.kommersant.ru/doc/8939397</a:t>
            </a:r>
          </a:p>
          <a:p xmlns:a="http://schemas.openxmlformats.org/drawingml/2006/main">
            <a:r>
              <a:t>https://tass.ru/info/5220823</a:t>
            </a:r>
          </a:p>
          <a:p xmlns:a="http://schemas.openxmlformats.org/drawingml/2006/main">
            <a:r>
              <a:t>https://tass.ru/info/15547711</a:t>
            </a:r>
          </a:p>
          <a:p xmlns:a="http://schemas.openxmlformats.org/drawingml/2006/main">
            <a:r>
              <a:t>https://www.bbc.com/russian/features-62661643</a:t>
            </a:r>
          </a:p>
          <a:p xmlns:a="http://schemas.openxmlformats.org/drawingml/2006/main">
            <a:r>
              <a:t>https://www.kommersant.ru/doc/3298219</a:t>
            </a:r>
          </a:p>
          <a:p xmlns:a="http://schemas.openxmlformats.org/drawingml/2006/main">
            <a:r>
              <a:t>https://www.svoboda.org/a/31217129.html</a:t>
            </a:r>
          </a:p>
          <a:p xmlns:a="http://schemas.openxmlformats.org/drawingml/2006/main">
            <a:r>
              <a:t>https://www.interfax.ru/russia/902059</a:t>
            </a:r>
          </a:p>
          <a:p xmlns:a="http://schemas.openxmlformats.org/drawingml/2006/main">
            <a:r>
              <a:t>https://www.bfm.ru/news/525620</a:t>
            </a:r>
          </a:p>
          <a:p xmlns:a="http://schemas.openxmlformats.org/drawingml/2006/main">
            <a:r>
              <a:t>https://novayagazeta.ru/articles/2023/03/16/do-urovnia-myshei-media</a:t>
            </a:r>
          </a:p>
          <a:p xmlns:a="http://schemas.openxmlformats.org/drawingml/2006/main">
            <a:r>
              <a:t>https://tjournal.ru/71076</a:t>
            </a:r>
          </a:p>
          <a:p xmlns:a="http://schemas.openxmlformats.org/drawingml/2006/main">
            <a:r>
              <a:t>https://www.nakanune.ru/articles/111648/</a:t>
            </a:r>
          </a:p>
          <a:p xmlns:a="http://schemas.openxmlformats.org/drawingml/2006/main">
            <a:r>
              <a:t>https://adcmemorial.org/statyi/kolonki/neprotivlenie-rasizmu/</a:t>
            </a:r>
          </a:p>
          <a:p xmlns:a="http://schemas.openxmlformats.org/drawingml/2006/main">
            <a:r>
              <a:t>https://www.svoboda.org/a/royzman-i-drugie-zhiteli-ekaterinburga/31997151.html</a:t>
            </a:r>
          </a:p>
          <a:p xmlns:a="http://schemas.openxmlformats.org/drawingml/2006/main">
            <a:r>
              <a:t>https://www.e1.ru/text/politics/2022/02/24/70466417/</a:t>
            </a:r>
          </a:p>
          <a:p xmlns:a="http://schemas.openxmlformats.org/drawingml/2006/main">
            <a:r>
              <a:t>https://www.dw.com/ru/kommentarij-evgenij-rojzman-i-sila-pravdy/a-62917754</a:t>
            </a:r>
          </a:p>
          <a:p xmlns:a="http://schemas.openxmlformats.org/drawingml/2006/main">
            <a:r>
              <a:t>https://meduza.io/paragraph/2022/08/26/priehali-moskvichi-i-dumali-chto-zdes-duraki-sobralis</a:t>
            </a:r>
          </a:p>
          <a:p xmlns:a="http://schemas.openxmlformats.org/drawingml/2006/main">
            <a:r>
              <a:t>https://znamlit.ru/publication.php?id=7379</a:t>
            </a:r>
          </a:p>
          <a:p xmlns:a="http://schemas.openxmlformats.org/drawingml/2006/main">
            <a:r>
              <a:t>https://tass.ru/interviews/6080499</a:t>
            </a:r>
          </a:p>
          <a:p xmlns:a="http://schemas.openxmlformats.org/drawingml/2006/main">
            <a:r>
              <a:t>https://45.ru/text/politics/2024/09/09/73952072/</a:t>
            </a:r>
          </a:p>
          <a:p xmlns:a="http://schemas.openxmlformats.org/drawingml/2006/main">
            <a:r>
              <a:t>http://special.kremlin.ru/events/president/news/70638</a:t>
            </a:r>
          </a:p>
          <a:p xmlns:a="http://schemas.openxmlformats.org/drawingml/2006/main">
            <a:r>
              <a:t>https://ura.news/news/1053132902</a:t>
            </a:r>
          </a:p>
          <a:p xmlns:a="http://schemas.openxmlformats.org/drawingml/2006/main">
            <a:r>
              <a:t>https://ura.news/articles/1036276564</a:t>
            </a:r>
          </a:p>
          <a:p xmlns:a="http://schemas.openxmlformats.org/drawingml/2006/main">
            <a:r>
              <a:t>https://tass.ru/novosti-regionov/28187431</a:t>
            </a:r>
          </a:p>
          <a:p xmlns:a="http://schemas.openxmlformats.org/drawingml/2006/main">
            <a:r>
              <a:t>https://fedpress.ru/person/1753607</a:t>
            </a:r>
          </a:p>
          <a:p xmlns:a="http://schemas.openxmlformats.org/drawingml/2006/main">
            <a:r>
              <a:t>https://eburg.mk.ru/social/2026/10/14/zhiteley-zauralya-predupredili-o-lozhnykh-videorolikakh-s-gubernatorom.html</a:t>
            </a:r>
          </a:p>
          <a:p xmlns:a="http://schemas.openxmlformats.org/drawingml/2006/main">
            <a:r>
              <a:t>https://regnum.ru/news/3530808</a:t>
            </a:r>
          </a:p>
          <a:p xmlns:a="http://schemas.openxmlformats.org/drawingml/2006/main">
            <a:r>
              <a:t>https://kurganvera.ru/news/vrns/mitropolit-daniil-i-vadim-shumkov-vozglavili-delegatsiyu-kurganskoy-oblasti-na-vsemirnom-russkom-sob/</a:t>
            </a:r>
          </a:p>
          <a:p xmlns:a="http://schemas.openxmlformats.org/drawingml/2006/main">
            <a:r>
              <a:t>https://45.ru/text/politics/2026/06/26/76499700/</a:t>
            </a:r>
          </a:p>
          <a:p xmlns:a="http://schemas.openxmlformats.org/drawingml/2006/main">
            <a:r>
              <a:t>https://niva-kurtamysh.com/news/obshchestvo/vystuplenie-gubernatora-kurganskoy-oblasti-vadima-shumkova</a:t>
            </a:r>
          </a:p>
          <a:p xmlns:a="http://schemas.openxmlformats.org/drawingml/2006/main">
            <a:r>
              <a:t>https://t.me/s/kurganskayaobl?before=42616</a:t>
            </a:r>
          </a:p>
          <a:p xmlns:a="http://schemas.openxmlformats.org/drawingml/2006/main">
            <a:r>
              <a:t>https://www.bbc.com/russian/news-54368577</a:t>
            </a:r>
          </a:p>
          <a:p xmlns:a="http://schemas.openxmlformats.org/drawingml/2006/main">
            <a:r>
              <a:t>https://www.bbc.com/russian/articles/cp0769dp15eo</a:t>
            </a:r>
          </a:p>
          <a:p xmlns:a="http://schemas.openxmlformats.org/drawingml/2006/main">
            <a:r>
              <a:t>https://navalny.com/materials/blogpost-6017</a:t>
            </a:r>
          </a:p>
          <a:p xmlns:a="http://schemas.openxmlformats.org/drawingml/2006/main">
            <a:r>
              <a:t>https://www.bbc.com/russian/news-58563592</a:t>
            </a:r>
          </a:p>
          <a:p xmlns:a="http://schemas.openxmlformats.org/drawingml/2006/main">
            <a:r>
              <a:t>https://navalny.com/materials/blogpost-6544</a:t>
            </a:r>
          </a:p>
          <a:p xmlns:a="http://schemas.openxmlformats.org/drawingml/2006/main">
            <a:r>
              <a:t>https://www.bbc.com/russian/news-58270043</a:t>
            </a:r>
          </a:p>
          <a:p xmlns:a="http://schemas.openxmlformats.org/drawingml/2006/main">
            <a:r>
              <a:t>https://www.bbc.com/russian/articles/cvg3p9l1e5ro</a:t>
            </a:r>
          </a:p>
          <a:p xmlns:a="http://schemas.openxmlformats.org/drawingml/2006/main">
            <a:r>
              <a:t>https://www.bbc.com/russian/features-54435835</a:t>
            </a:r>
          </a:p>
          <a:p xmlns:a="http://schemas.openxmlformats.org/drawingml/2006/main">
            <a:r>
              <a:t>https://2018.navalny.com/platform/7/</a:t>
            </a:r>
          </a:p>
          <a:p xmlns:a="http://schemas.openxmlformats.org/drawingml/2006/main">
            <a:r>
              <a:t>https://2018.navalny.com/platform/3/</a:t>
            </a:r>
          </a:p>
          <a:p xmlns:a="http://schemas.openxmlformats.org/drawingml/2006/main">
            <a:r>
              <a:t>https://2018.navalny.com/platform/10/</a:t>
            </a:r>
          </a:p>
          <a:p xmlns:a="http://schemas.openxmlformats.org/drawingml/2006/main">
            <a:r>
              <a:t>https://2018.navalny.com/platform/9/</a:t>
            </a:r>
          </a:p>
          <a:p xmlns:a="http://schemas.openxmlformats.org/drawingml/2006/main">
            <a:r>
              <a:t>https://navalny.com/editorials/aleksey-navalnyy-protiv-voyny</a:t>
            </a:r>
          </a:p>
          <a:p xmlns:a="http://schemas.openxmlformats.org/drawingml/2006/main">
            <a:r>
              <a:t>https://navalny.com/?p=149</a:t>
            </a:r>
          </a:p>
          <a:p xmlns:a="http://schemas.openxmlformats.org/drawingml/2006/main">
            <a:r>
              <a:t>https://www.interfax.ru/russia/876151</a:t>
            </a:r>
          </a:p>
          <a:p xmlns:a="http://schemas.openxmlformats.org/drawingml/2006/main">
            <a:r>
              <a:t>https://www.dw.com/ru/srok-ne-za-fejk-a-za-politiku-reakcii-v-frg-i-rf-na-prigovor-asinu/a-64049957</a:t>
            </a:r>
          </a:p>
          <a:p xmlns:a="http://schemas.openxmlformats.org/drawingml/2006/main">
            <a:r>
              <a:t>https://www.lemonde.fr/en/international/article/2025/05/27/russian-opposition-figure-ilya-yashin-if-ukraine-is-handed-over-to-putin-it-will-be-a-tragedy-and-the-prologue-to-a-global-confrontation_6741728_4.html</a:t>
            </a:r>
          </a:p>
          <a:p xmlns:a="http://schemas.openxmlformats.org/drawingml/2006/main">
            <a:r>
              <a:t>https://www.bbc.com/russian/articles/crgl69w9472o</a:t>
            </a:r>
          </a:p>
          <a:p xmlns:a="http://schemas.openxmlformats.org/drawingml/2006/main">
            <a:r>
              <a:t>https://www.svoboda.org/a/yashin-court/32165539.html</a:t>
            </a:r>
          </a:p>
          <a:p xmlns:a="http://schemas.openxmlformats.org/drawingml/2006/main">
            <a:r>
              <a:t>https://www.dw.com/ru/ila-asin-putin-predvoditel-sil-mrakobesia/a-69923731</a:t>
            </a:r>
          </a:p>
          <a:p xmlns:a="http://schemas.openxmlformats.org/drawingml/2006/main">
            <a:r>
              <a:t>https://novayagazeta.eu/articles/2025/08/01/my-ne-mozhem-trebovat-no-mozhem-obiasniat</a:t>
            </a:r>
          </a:p>
          <a:p xmlns:a="http://schemas.openxmlformats.org/drawingml/2006/main">
            <a:r>
              <a:t>https://meduza.io/feature/2019/07/20/to-chto-putin-ne-smog-sdelat-za-20-let-sobyanin-sdelal-za-mesyats</a:t>
            </a:r>
          </a:p>
          <a:p xmlns:a="http://schemas.openxmlformats.org/drawingml/2006/main">
            <a:r>
              <a:t>https://novayagazeta.eu/articles/2024/11/18/pochuvstvovat-sebia-ne-odinokimi</a:t>
            </a:r>
          </a:p>
          <a:p xmlns:a="http://schemas.openxmlformats.org/drawingml/2006/main">
            <a:r>
              <a:t>https://www.svoboda.org/a/voyna-putin-i-politzaklyuchennye-iljya-yashin-o-svoih-planah/33177839.html</a:t>
            </a:r>
          </a:p>
          <a:p xmlns:a="http://schemas.openxmlformats.org/drawingml/2006/main">
            <a:r>
              <a:t>https://www.dw.com/ru/asin-sejcas-nevozmozno-obedinit-rossijskuu-oppoziciu-da-i-ne-nuzno/a-70291088</a:t>
            </a:r>
          </a:p>
          <a:p xmlns:a="http://schemas.openxmlformats.org/drawingml/2006/main">
            <a:r>
              <a:t>https://www.dw.com/ru/vladimir-karamurza/t-37465233</a:t>
            </a:r>
          </a:p>
          <a:p xmlns:a="http://schemas.openxmlformats.org/drawingml/2006/main">
            <a:r>
              <a:t>https://ovd.info/persons/kara-murza-vladimir-vladimirovich</a:t>
            </a:r>
          </a:p>
          <a:p xmlns:a="http://schemas.openxmlformats.org/drawingml/2006/main">
            <a:r>
              <a:t>https://ovd.info/2024/08/03/kogo-rossiya-vydala-v-ramkakh-obmena-zaklyuchennymi-s-zapadom-istorii-osvobozhdennykh</a:t>
            </a:r>
          </a:p>
          <a:p xmlns:a="http://schemas.openxmlformats.org/drawingml/2006/main">
            <a:r>
              <a:t>https://www.svoboda.org/a/kara-murza-obmen/33059121.html</a:t>
            </a:r>
          </a:p>
          <a:p xmlns:a="http://schemas.openxmlformats.org/drawingml/2006/main">
            <a:r>
              <a:t>https://novayagazeta.ru/articles/2024/08/16/prezident-baiden-prinial-osvobozhdennogo-v-rezultate-obmena-politzakliuchennogo-vladimira-kara-murzu-s-semei-v-belom-dome-news</a:t>
            </a:r>
          </a:p>
          <a:p xmlns:a="http://schemas.openxmlformats.org/drawingml/2006/main">
            <a:r>
              <a:t>https://genevasummit.org/speech/vladimir-kara-murza-speaks-at-2018-geneva-summit-main-event/</a:t>
            </a:r>
          </a:p>
          <a:p xmlns:a="http://schemas.openxmlformats.org/drawingml/2006/main">
            <a:r>
              <a:t>https://humanrights.ca/event-series/presidents-lecture-series</a:t>
            </a:r>
          </a:p>
          <a:p xmlns:a="http://schemas.openxmlformats.org/drawingml/2006/main">
            <a:r>
              <a:t>https://www.radiofrance.fr/franceinter/podcasts/l-info-de-france-inter/la-democratie-doit-etre-protegee-chaque-minute-de-chaque-jour-declare-l-opposant-russe-vladimir-kara-mourza-8105094</a:t>
            </a:r>
          </a:p>
          <a:p xmlns:a="http://schemas.openxmlformats.org/drawingml/2006/main">
            <a:r>
              <a:t>https://georgetownvoice.com/2025/10/08/dissident-in-residence-vladimir-kara-murza-applies-past-lessons-to-present-day-in-recent-event-discussing-democracy/</a:t>
            </a:r>
          </a:p>
          <a:p xmlns:a="http://schemas.openxmlformats.org/drawingml/2006/main">
            <a:r>
              <a:t>https://www.oscepa.org/en/documents/winter-meetings/2025-vienna/speeches-36/5176-vladimir-kara-murza-address-to-the-osce-pa-winter-meeting-in-vienna-21-february-2025/file</a:t>
            </a:r>
          </a:p>
          <a:p xmlns:a="http://schemas.openxmlformats.org/drawingml/2006/main">
            <a:r>
              <a:t>https://hrf.org/wp-content/uploads/2024/10/VKM-%E2%80%93-Statement-of-Facts-and-Levinson-Analysis.pdf</a:t>
            </a:r>
          </a:p>
          <a:p xmlns:a="http://schemas.openxmlformats.org/drawingml/2006/main">
            <a:r>
              <a:t>https://www.govinfo.gov/content/pkg/CREC-2024-06-11/html/CREC-2024-06-11-pt1-PgH3699.htm</a:t>
            </a:r>
          </a:p>
          <a:p xmlns:a="http://schemas.openxmlformats.org/drawingml/2006/main">
            <a:r>
              <a:t>https://antiwarcommittee.info/en/statement-on-the-persecution-of-vladimir-kara-murza/</a:t>
            </a:r>
          </a:p>
          <a:p xmlns:a="http://schemas.openxmlformats.org/drawingml/2006/main">
            <a:r>
              <a:t>https://www.norway.no/en/missions/osce/norway-and-the-osce/statements/statements-with--norwegian-alignment-2024/joint-statement-on-vladimir-kara-murza/</a:t>
            </a:r>
          </a:p>
          <a:p xmlns:a="http://schemas.openxmlformats.org/drawingml/2006/main">
            <a:r>
              <a:t>https://www.aljazeera.com/news/2025/4/23/kremlin-critic-decried-for-racist-rant-on-minorities-fighting-for-russia</a:t>
            </a:r>
          </a:p>
          <a:p xmlns:a="http://schemas.openxmlformats.org/drawingml/2006/main">
            <a:r>
              <a:t>https://www.rmc.edu/news/former-political-prisoner-vladimir-kara-murza-offers-vision-of-hope-for-russian-democracy/</a:t>
            </a:r>
          </a:p>
          <a:p xmlns:a="http://schemas.openxmlformats.org/drawingml/2006/main">
            <a:r>
              <a:t>https://2018.yavlinsky.ru/campaign/</a:t>
            </a:r>
          </a:p>
          <a:p xmlns:a="http://schemas.openxmlformats.org/drawingml/2006/main">
            <a:r>
              <a:t>http://2018.yavlinsky.ru/programm/</a:t>
            </a:r>
          </a:p>
          <a:p xmlns:a="http://schemas.openxmlformats.org/drawingml/2006/main">
            <a:r>
              <a:t>https://campaign2018.yavlinsky.ru/</a:t>
            </a:r>
          </a:p>
          <a:p xmlns:a="http://schemas.openxmlformats.org/drawingml/2006/main">
            <a:r>
              <a:t>https://www.yavlinsky.ru/position/war/</a:t>
            </a:r>
          </a:p>
          <a:p xmlns:a="http://schemas.openxmlformats.org/drawingml/2006/main">
            <a:r>
              <a:t>https://www.yavlinsky.ru/position/cease-fire/</a:t>
            </a:r>
          </a:p>
          <a:p xmlns:a="http://schemas.openxmlformats.org/drawingml/2006/main">
            <a:r>
              <a:t>https://www.yavlinsky.ru/article_tax/ukraina/</a:t>
            </a:r>
          </a:p>
          <a:p xmlns:a="http://schemas.openxmlformats.org/drawingml/2006/main">
            <a:r>
              <a:t>https://www.yavlinsky.ru/biografiya/</a:t>
            </a:r>
          </a:p>
          <a:p xmlns:a="http://schemas.openxmlformats.org/drawingml/2006/main">
            <a:r>
              <a:t>https://www.yabloko.ru/publikatsii/2018/02/15_0</a:t>
            </a:r>
          </a:p>
          <a:p xmlns:a="http://schemas.openxmlformats.org/drawingml/2006/main">
            <a:r>
              <a:t>https://www.yabloko.ru/publikatsii/2018/06/19</a:t>
            </a:r>
          </a:p>
          <a:p xmlns:a="http://schemas.openxmlformats.org/drawingml/2006/main">
            <a:r>
              <a:t>https://www.yavlinsky.ru/article/eto-referendum/</a:t>
            </a:r>
          </a:p>
          <a:p xmlns:a="http://schemas.openxmlformats.org/drawingml/2006/main">
            <a:r>
              <a:t>https://www.svoboda.org/a/27801792.html</a:t>
            </a:r>
          </a:p>
          <a:p xmlns:a="http://schemas.openxmlformats.org/drawingml/2006/main">
            <a:r>
              <a:t>https://www.svoboda.org/a/29294829.html</a:t>
            </a:r>
          </a:p>
          <a:p xmlns:a="http://schemas.openxmlformats.org/drawingml/2006/main">
            <a:r>
              <a:t>https://www.yavlinsky.ru/article/intervyu-g-yavlinskogo-zhertvy-budut-proryva-net/</a:t>
            </a:r>
          </a:p>
          <a:p xmlns:a="http://schemas.openxmlformats.org/drawingml/2006/main">
            <a:r>
              <a:t>https://www.yavlinsky.ru/article/my-budem-idti-do-kontsa/</a:t>
            </a:r>
          </a:p>
          <a:p xmlns:a="http://schemas.openxmlformats.org/drawingml/2006/main">
            <a:r>
              <a:t>https://www.yavlinsky.ru/article/prezidentskie-vybory-1996-30-let-spustya/</a:t>
            </a:r>
          </a:p>
          <a:p xmlns:a="http://schemas.openxmlformats.org/drawingml/2006/main">
            <a:r>
              <a:t>https://www.forbes.ru/interview/45575-reformatory-prihodyat-k-vlasti-grigorii-yavlinskii</a:t>
            </a:r>
          </a:p>
          <a:p xmlns:a="http://schemas.openxmlformats.org/drawingml/2006/main">
            <a:r>
              <a:t>https://www.bbc.com/russian/articles/cy8ee2wngd8o</a:t>
            </a:r>
          </a:p>
          <a:p xmlns:a="http://schemas.openxmlformats.org/drawingml/2006/main">
            <a:r>
              <a:t>https://www.yabloko.ru/regnews/Pskov/2019/01/21-0</a:t>
            </a:r>
          </a:p>
          <a:p xmlns:a="http://schemas.openxmlformats.org/drawingml/2006/main">
            <a:r>
              <a:t>https://www.yabloko.ru/publikatsii/2019/06/14</a:t>
            </a:r>
          </a:p>
          <a:p xmlns:a="http://schemas.openxmlformats.org/drawingml/2006/main">
            <a:r>
              <a:t>https://zona.media/article/2019/02/27/pskov</a:t>
            </a:r>
          </a:p>
          <a:p xmlns:a="http://schemas.openxmlformats.org/drawingml/2006/main">
            <a:r>
              <a:t>https://spektr.press/ya-otvechayu-za-vse-mnoj-skazannoe-no-ne-otvechayu-za-izvraschenie-skazannogo-lev-shlosberg-o-travle-i-setkah-telegram-kanalov-odnokletochnyh-politikah-reshivshih-pobedit-putina-rukami-u/</a:t>
            </a:r>
          </a:p>
          <a:p xmlns:a="http://schemas.openxmlformats.org/drawingml/2006/main">
            <a:r>
              <a:t>https://www.yabloko.ru/Persons/shlosberg.html</a:t>
            </a:r>
          </a:p>
          <a:p xmlns:a="http://schemas.openxmlformats.org/drawingml/2006/main">
            <a:r>
              <a:t>https://pln-pskov.ru/politics/314872.html</a:t>
            </a:r>
          </a:p>
          <a:p xmlns:a="http://schemas.openxmlformats.org/drawingml/2006/main">
            <a:r>
              <a:t>https://www.yabloko.ru/publikatsii/2022/02/18-0</a:t>
            </a:r>
          </a:p>
          <a:p xmlns:a="http://schemas.openxmlformats.org/drawingml/2006/main">
            <a:r>
              <a:t>https://ru.krymr.com/a/rossiya-putin-voyna-repressii-lev-shlosberg-intervyu/31806389.html</a:t>
            </a:r>
          </a:p>
          <a:p xmlns:a="http://schemas.openxmlformats.org/drawingml/2006/main">
            <a:r>
              <a:t>https://www.currenttime.tv/a/politika-vlastey-chtoby-lyudi-perestali-govorit-o-spetsialnoy-voennoy-operatsii-lev-shlosberg-o-dele-protiv-nego-i-nikolaya-kuzmina/31807396.html</a:t>
            </a:r>
          </a:p>
          <a:p xmlns:a="http://schemas.openxmlformats.org/drawingml/2006/main">
            <a:r>
              <a:t>https://zona.media/article/2026/08/14/schlosberg</a:t>
            </a:r>
          </a:p>
          <a:p xmlns:a="http://schemas.openxmlformats.org/drawingml/2006/main">
            <a:r>
              <a:t>https://www.svoboda.org/a/lishniy-zalozhnik-vot-chto-im-vazhno-arest-lva-shlosberga/33615624.html</a:t>
            </a:r>
          </a:p>
          <a:p xmlns:a="http://schemas.openxmlformats.org/drawingml/2006/main">
            <a:r>
              <a:t>https://novayagazeta.eu/articles/2026/08/17/ostavshiisia</a:t>
            </a:r>
          </a:p>
          <a:p xmlns:a="http://schemas.openxmlformats.org/drawingml/2006/main">
            <a:r>
              <a:t>https://www.yabloko.ru/content/vishnevskii_boris_lazarevich</a:t>
            </a:r>
          </a:p>
          <a:p xmlns:a="http://schemas.openxmlformats.org/drawingml/2006/main">
            <a:r>
              <a:t>https://www.dp.ru/a/2018/06/18/Aktivnaja_storona_konflikt</a:t>
            </a:r>
          </a:p>
          <a:p xmlns:a="http://schemas.openxmlformats.org/drawingml/2006/main">
            <a:r>
              <a:t>https://www.bbc.com/russian/features-58481940</a:t>
            </a:r>
          </a:p>
          <a:p xmlns:a="http://schemas.openxmlformats.org/drawingml/2006/main">
            <a:r>
              <a:t>https://www.dp.ru/a/2023/01/16/Deputat_Peterburga_Vishnev</a:t>
            </a:r>
          </a:p>
          <a:p xmlns:a="http://schemas.openxmlformats.org/drawingml/2006/main">
            <a:r>
              <a:t>https://echofm.online/portret-dnya/portret-dnya-boris-vishnevskij-peterburgskij-politik</a:t>
            </a:r>
          </a:p>
          <a:p xmlns:a="http://schemas.openxmlformats.org/drawingml/2006/main">
            <a:r>
              <a:t>https://spb.yabloko.ru/people/vishnevskij-boris-lazarevich/</a:t>
            </a:r>
          </a:p>
          <a:p xmlns:a="http://schemas.openxmlformats.org/drawingml/2006/main">
            <a:r>
              <a:t>https://www.dp.ru/a/2026/08/26/bitva-nachalas-gde-v-peterburge</a:t>
            </a:r>
          </a:p>
          <a:p xmlns:a="http://schemas.openxmlformats.org/drawingml/2006/main">
            <a:r>
              <a:t>https://www.yabloko.ru/regnews/Spb/2022/02/21</a:t>
            </a:r>
          </a:p>
          <a:p xmlns:a="http://schemas.openxmlformats.org/drawingml/2006/main">
            <a:r>
              <a:t>https://www.yabloko.ru/cat-news/2021/08/06-0</a:t>
            </a:r>
          </a:p>
          <a:p xmlns:a="http://schemas.openxmlformats.org/drawingml/2006/main">
            <a:r>
              <a:t>https://www.rbc.ru/spb_sz/16/01/2023/63c53d9c9a7947d9bef4b853</a:t>
            </a:r>
          </a:p>
          <a:p xmlns:a="http://schemas.openxmlformats.org/drawingml/2006/main">
            <a:r>
              <a:t>https://www.rbc.ru/politics/06/05/2024/6638a8609a79472c01075a2c</a:t>
            </a:r>
          </a:p>
          <a:p xmlns:a="http://schemas.openxmlformats.org/drawingml/2006/main">
            <a:r>
              <a:t>https://www.svoboda.org/a/politika-dmitriya-gudkova-deportirovali-iz-gruzii-v-kiev/31679697.html</a:t>
            </a:r>
          </a:p>
          <a:p xmlns:a="http://schemas.openxmlformats.org/drawingml/2006/main">
            <a:r>
              <a:t>https://ru.krymr.com/a/dmitriy-gudkov-ob-otyezde-iz-rossii/31295079.html</a:t>
            </a:r>
          </a:p>
          <a:p xmlns:a="http://schemas.openxmlformats.org/drawingml/2006/main">
            <a:r>
              <a:t>https://daily.afisha.ru/news/114366-syn-politika-dmitriya-gudkova-pokonchil-s-soboy-v-emigracii/amp/</a:t>
            </a:r>
          </a:p>
          <a:p xmlns:a="http://schemas.openxmlformats.org/drawingml/2006/main">
            <a:r>
              <a:t>https://life.ru/t/dmitriygudkov</a:t>
            </a:r>
          </a:p>
          <a:p xmlns:a="http://schemas.openxmlformats.org/drawingml/2006/main">
            <a:r>
              <a:t>https://uk.wikipedia.org/wiki/%D0%93%D1%83%D0%B4%D0%BA%D0%BE%D0%B2_%D0%94%D0%BC%D0%B8%D1%82%D1%80%D1%96%D0%B9_%D0%93%D0%B5%D0%BD%D0%B0%D0%B4%D1%96%D0%B9%D0%BE%D0%B2%D0%B8%D1%87</a:t>
            </a:r>
          </a:p>
          <a:p xmlns:a="http://schemas.openxmlformats.org/drawingml/2006/main">
            <a:r>
              <a:t>https://mt.gazeta.ru/blog/43692366076/Syin-byivshego-deputata-Gosdumyi-Dmitriya-Gudkova-pokonchil-s-so?utm_referrer=mirtesen.ru</a:t>
            </a:r>
          </a:p>
          <a:p xmlns:a="http://schemas.openxmlformats.org/drawingml/2006/main">
            <a:r>
              <a:t>https://www.bbc.com/russian/news-57381443</a:t>
            </a:r>
          </a:p>
          <a:p xmlns:a="http://schemas.openxmlformats.org/drawingml/2006/main">
            <a:r>
              <a:t>https://www.themoscowtimes.com/2021/06/06/kremlin-critic-dmitry-gudkov-flees-to-ukraine-a74123</a:t>
            </a:r>
          </a:p>
          <a:p xmlns:a="http://schemas.openxmlformats.org/drawingml/2006/main">
            <a:r>
              <a:t>https://www.yabloko.ru/publikatsii/2016/09/15</a:t>
            </a:r>
          </a:p>
          <a:p xmlns:a="http://schemas.openxmlformats.org/drawingml/2006/main">
            <a:r>
              <a:t>https://novayagazeta.ru/articles/2018/03/21/75886-ya-privyk-lyudyam-verit</a:t>
            </a:r>
          </a:p>
          <a:p xmlns:a="http://schemas.openxmlformats.org/drawingml/2006/main">
            <a:r>
              <a:t>https://www.rbc.ru/politics/15/03/2018/5aaa98049a7947d12d63f1e1</a:t>
            </a:r>
          </a:p>
          <a:p xmlns:a="http://schemas.openxmlformats.org/drawingml/2006/main">
            <a:r>
              <a:t>https://rus.team/people/gudkov-dmitrij-gennadevich</a:t>
            </a:r>
          </a:p>
          <a:p xmlns:a="http://schemas.openxmlformats.org/drawingml/2006/main">
            <a:r>
              <a:t>https://www.azattyqasia.org/a/chto-proiskhodit-v-donbasse-/31863310/lbl0lbi299676.html</a:t>
            </a:r>
          </a:p>
          <a:p xmlns:a="http://schemas.openxmlformats.org/drawingml/2006/main">
            <a:r>
              <a:t>https://www.dw.com/ru/dmitrij-gudkov-putin-na-storone-partii-vojny-no-pri-etom-on-trus-21092022/video-63193199</a:t>
            </a:r>
          </a:p>
          <a:p xmlns:a="http://schemas.openxmlformats.org/drawingml/2006/main">
            <a:r>
              <a:t>https://ru.wikinews.org/wiki/%D0%9A%D0%B0%D1%82%D0%B5%D0%B3%D0%BE%D1%80%D0%B8%D1%8F:%D0%93%D0%B5%D0%BD%D0%BD%D0%B0%D0%B4%D0%B8%D0%B9_%D0%93%D1%83%D0%B4%D0%BA%D0%BE%D0%B2</a:t>
            </a:r>
          </a:p>
          <a:p xmlns:a="http://schemas.openxmlformats.org/drawingml/2006/main">
            <a:r>
              <a:t>https://en.wikipedia.org/wiki/Gennady_Gudkov</a:t>
            </a:r>
          </a:p>
          <a:p xmlns:a="http://schemas.openxmlformats.org/drawingml/2006/main">
            <a:r>
              <a:t>https://x.com/gudkov_g</a:t>
            </a:r>
          </a:p>
          <a:p xmlns:a="http://schemas.openxmlformats.org/drawingml/2006/main">
            <a:r>
              <a:t>https://www.dw.com/ru/chto-dmitrij-gudkov-nameren-delat-v-ukraine-i-vernetsja-li-v-rossiju/a-57830619</a:t>
            </a:r>
          </a:p>
          <a:p xmlns:a="http://schemas.openxmlformats.org/drawingml/2006/main">
            <a:r>
              <a:t>https://ru.wikipedia.org/wiki/%D0%93%D1%83%D0%B4%D0%BA%D0%BE%D0%B2,_%D0%93%D0%B5%D0%BD%D0%BD%D0%B0%D0%B4%D0%B8%D0%B9_%D0%92%D0%BB%D0%B0%D0%B4%D0%B8%D0%BC%D0%B8%D1%80%D0%BE%D0%B2%D0%B8%D1%87</a:t>
            </a:r>
          </a:p>
          <a:p xmlns:a="http://schemas.openxmlformats.org/drawingml/2006/main">
            <a:r>
              <a:t>https://ru.wikipedia.org/wiki/%D0%93%D1%83%D0%B4%D0%BA%D0%BE%D0%B2,_%D0%94%D0%BC%D0%B8%D1%82%D1%80%D0%B8%D0%B9_%D0%93%D0%B5%D0%BD%D0%BD%D0%B0%D0%B4%D1%8C%D0%B5%D0%B2%D0%B8%D1%87</a:t>
            </a:r>
          </a:p>
          <a:p xmlns:a="http://schemas.openxmlformats.org/drawingml/2006/main">
            <a:r>
              <a:t>https://utro02.tv/2022/10/31/navstrechu-sezdu-gennadij-gudkov-o-vyborah-obedinenii-oppoziczii-i-razdelenii-vlasti/</a:t>
            </a:r>
          </a:p>
          <a:p xmlns:a="http://schemas.openxmlformats.org/drawingml/2006/main">
            <a:r>
              <a:t>https://www.unian.net/war/rossiyskiy-oppozicioner-gudkov-putin-nachinaet-ponimat-chto-nastupaet-zh-pa-12031263.html</a:t>
            </a:r>
          </a:p>
          <a:p xmlns:a="http://schemas.openxmlformats.org/drawingml/2006/main">
            <a:r>
              <a:t>https://bntnews.bg/genadiy-gudkov-86846tag.html</a:t>
            </a:r>
          </a:p>
          <a:p xmlns:a="http://schemas.openxmlformats.org/drawingml/2006/main">
            <a:r>
              <a:t>https://tass.ru/encyclopedia/person/gudkov-dmitriy-gennadevich</a:t>
            </a:r>
          </a:p>
          <a:p xmlns:a="http://schemas.openxmlformats.org/drawingml/2006/main">
            <a:r>
              <a:t>https://www.kasparov.com/garry-kasparov-on-putin-and-the-virus-of-imperialism-wsj-free-expression-april-11-2022/</a:t>
            </a:r>
          </a:p>
          <a:p xmlns:a="http://schemas.openxmlformats.org/drawingml/2006/main">
            <a:r>
              <a:t>https://www.ilmessaggero.it/en/garry_kasparov_from_chess_champion_to_kremlin_critic-9797261.html</a:t>
            </a:r>
          </a:p>
          <a:p xmlns:a="http://schemas.openxmlformats.org/drawingml/2006/main">
            <a:r>
              <a:t>https://www.kasparov.com/category/russia/</a:t>
            </a:r>
          </a:p>
          <a:p xmlns:a="http://schemas.openxmlformats.org/drawingml/2006/main">
            <a:r>
              <a:t>https://www.kasparov.com/category/politics/</a:t>
            </a:r>
          </a:p>
          <a:p xmlns:a="http://schemas.openxmlformats.org/drawingml/2006/main">
            <a:r>
              <a:t>https://en.wikipedia.org/wiki/Political_views_of_Garry_Kasparov</a:t>
            </a:r>
          </a:p>
          <a:p xmlns:a="http://schemas.openxmlformats.org/drawingml/2006/main">
            <a:r>
              <a:t>https://www.dw.com/ru/kasparov-v-intervu-dw-vse-cto-delal-delaet-i-budet-delat-tramp-pomogaet-putinu/a-79633734</a:t>
            </a:r>
          </a:p>
          <a:p xmlns:a="http://schemas.openxmlformats.org/drawingml/2006/main">
            <a:r>
              <a:t>https://www.kasparov.com/</a:t>
            </a:r>
          </a:p>
          <a:p xmlns:a="http://schemas.openxmlformats.org/drawingml/2006/main">
            <a:r>
              <a:t>https://www.kasparov.com/a-conversation-with-garry-kasparov-thought-economics-with-vikas-shas-may-21-2017/</a:t>
            </a:r>
          </a:p>
          <a:p xmlns:a="http://schemas.openxmlformats.org/drawingml/2006/main">
            <a:r>
              <a:t>https://www.kasparov.com/new-yorker-interview-the-chess-grandmaster-and-political-activist-on-putin-trump-and-how-we-are-living-again-through-the-eighteen-fifties/</a:t>
            </a:r>
          </a:p>
          <a:p xmlns:a="http://schemas.openxmlformats.org/drawingml/2006/main">
            <a:r>
              <a:t>https://www.cnbc.com/2017/02/13/the-full-interview-with-former-world-chess-champion-garry-kasparov-on-trump-putin.html</a:t>
            </a:r>
          </a:p>
          <a:p xmlns:a="http://schemas.openxmlformats.org/drawingml/2006/main">
            <a:r>
              <a:t>https://www.reuters.com/world/europe/kasparov-calls-world-powers-throw-russia-back-into-stone-age-2022-03-03/</a:t>
            </a:r>
          </a:p>
          <a:p xmlns:a="http://schemas.openxmlformats.org/drawingml/2006/main">
            <a:r>
              <a:t>https://khodorkovsky.com/open-russia-manifesto/</a:t>
            </a:r>
          </a:p>
          <a:p xmlns:a="http://schemas.openxmlformats.org/drawingml/2006/main">
            <a:r>
              <a:t>https://khodorkovsky.com/programmes/initiatives/openrussia/</a:t>
            </a:r>
          </a:p>
          <a:p xmlns:a="http://schemas.openxmlformats.org/drawingml/2006/main">
            <a:r>
              <a:t>https://khodorkovsky.com/page/65/?m</a:t>
            </a:r>
          </a:p>
          <a:p xmlns:a="http://schemas.openxmlformats.org/drawingml/2006/main">
            <a:r>
              <a:t>https://khodorkovsky.com/page/80/?m</a:t>
            </a:r>
          </a:p>
          <a:p xmlns:a="http://schemas.openxmlformats.org/drawingml/2006/main">
            <a:r>
              <a:t>https://angliya.com/publication/mihail-hodorkovskiy-ne-priznayu-razdelenie-lyudey-na-osnovanii-politicheskih-vzglyadov/</a:t>
            </a:r>
          </a:p>
          <a:p xmlns:a="http://schemas.openxmlformats.org/drawingml/2006/main">
            <a:r>
              <a:t>https://www.dw.com/ru/mihail-hodorkovski-bojus-jeta-vojna-ne-budet-poslednej/a-61314556</a:t>
            </a:r>
          </a:p>
          <a:p xmlns:a="http://schemas.openxmlformats.org/drawingml/2006/main">
            <a:r>
              <a:t>https://ru.euronews.com/2022/06/21/ru-khodorkovsky-interview</a:t>
            </a:r>
          </a:p>
          <a:p xmlns:a="http://schemas.openxmlformats.org/drawingml/2006/main">
            <a:r>
              <a:t>https://ru.euronews.com/2022/06/23/mikhail-khodorkovsky</a:t>
            </a:r>
          </a:p>
          <a:p xmlns:a="http://schemas.openxmlformats.org/drawingml/2006/main">
            <a:r>
              <a:t>https://poligonmedia.io/mihail-hodorkovskij-putin-ne-pobedil/</a:t>
            </a:r>
          </a:p>
          <a:p xmlns:a="http://schemas.openxmlformats.org/drawingml/2006/main">
            <a:r>
              <a:t>https://www.pap.pl/ru/russian/news/khodorkovskiy-u-putina-est-prichiny-vesti-peregovory-o-prekraschenii-voyny-na-ukraine</a:t>
            </a:r>
          </a:p>
          <a:p xmlns:a="http://schemas.openxmlformats.org/drawingml/2006/main">
            <a:r>
              <a:t>https://milov.org/cat/debates</a:t>
            </a:r>
          </a:p>
          <a:p xmlns:a="http://schemas.openxmlformats.org/drawingml/2006/main">
            <a:r>
              <a:t>https://milov.org/entry/4188</a:t>
            </a:r>
          </a:p>
          <a:p xmlns:a="http://schemas.openxmlformats.org/drawingml/2006/main">
            <a:r>
              <a:t>https://milov.org/cat/international</a:t>
            </a:r>
          </a:p>
          <a:p xmlns:a="http://schemas.openxmlformats.org/drawingml/2006/main">
            <a:r>
              <a:t>https://tvrain.tv/teleshow/amerikanskie_gonki/tramp_vynashivaet_ideju_primiritsja_s_putinym-453802/</a:t>
            </a:r>
          </a:p>
          <a:p xmlns:a="http://schemas.openxmlformats.org/drawingml/2006/main">
            <a:r>
              <a:t>https://www.currenttime.tv/a/vladimir-milov-interview/31505887.html</a:t>
            </a:r>
          </a:p>
          <a:p xmlns:a="http://schemas.openxmlformats.org/drawingml/2006/main">
            <a:r>
              <a:t>https://ovd.info/express-news/2021/07/27/roskomnadzor-potreboval-ot-youtube-zablokirovat-kanaly-troikh-soratnikov</a:t>
            </a:r>
          </a:p>
          <a:p xmlns:a="http://schemas.openxmlformats.org/drawingml/2006/main">
            <a:r>
              <a:t>https://www.dw.com/ru/sud-v-moskve-prigovoril-vladimira-milova-k-8-godam-kolonii/a-67415717</a:t>
            </a:r>
          </a:p>
          <a:p xmlns:a="http://schemas.openxmlformats.org/drawingml/2006/main">
            <a:r>
              <a:t>https://ru.wikipedia.org/wiki/%D0%9C%D0%B8%D0%BB%D0%BE%D0%B2,_%D0%92%D0%BB%D0%B0%D0%B4%D0%B8%D0%BC%D0%B8%D1%80_%D0%A1%D1%82%D0%B0%D0%BD%D0%B8%D1%81%D0%BB%D0%B0%D0%B2%D0%BE%D0%B2%D0%B8%D1%87</a:t>
            </a:r>
          </a:p>
          <a:p xmlns:a="http://schemas.openxmlformats.org/drawingml/2006/main">
            <a:r>
              <a:t>https://gordonua.com/news/worldnews/milov-merkel-molodec-poteryala-vsego-7-8-v-polzu-svezhey-antiimmigrantskoy-partii-na-fone-migrantskogo-krizisa-208758.html</a:t>
            </a:r>
          </a:p>
          <a:p xmlns:a="http://schemas.openxmlformats.org/drawingml/2006/main">
            <a:r>
              <a:t>https://echofm.online/programs/hochu-skazat/hochu-skazat-larina-69</a:t>
            </a:r>
          </a:p>
          <a:p xmlns:a="http://schemas.openxmlformats.org/drawingml/2006/main">
            <a:r>
              <a:t>https://www.hoover.org/plus/research/russian-opposition-and-ukraine-conversation-vladimir-milov</a:t>
            </a:r>
          </a:p>
          <a:p xmlns:a="http://schemas.openxmlformats.org/drawingml/2006/main">
            <a:r>
              <a:t>https://www.golosameriki.com/a/washington-dialogue-russian-opposition-conference/7648250.html</a:t>
            </a:r>
          </a:p>
          <a:p xmlns:a="http://schemas.openxmlformats.org/drawingml/2006/main">
            <a:r>
              <a:t>https://glavred.info/chat/1337-vladimir-milov.html</a:t>
            </a:r>
          </a:p>
          <a:p xmlns:a="http://schemas.openxmlformats.org/drawingml/2006/main">
            <a:r>
              <a:t>https://www.interfax.ru/moscow/669378</a:t>
            </a:r>
          </a:p>
          <a:p xmlns:a="http://schemas.openxmlformats.org/drawingml/2006/main">
            <a:r>
              <a:t>https://tass.ru/politika/6670439</a:t>
            </a:r>
          </a:p>
          <a:p xmlns:a="http://schemas.openxmlformats.org/drawingml/2006/main">
            <a:r>
              <a:t>https://www.rbc.ru/politics/16/07/2019/5d2c8b3b9a794799a7c7d413</a:t>
            </a:r>
          </a:p>
          <a:p xmlns:a="http://schemas.openxmlformats.org/drawingml/2006/main">
            <a:r>
              <a:t>https://www.bbc.com/russian/news-56269079</a:t>
            </a:r>
          </a:p>
          <a:p xmlns:a="http://schemas.openxmlformats.org/drawingml/2006/main">
            <a:r>
              <a:t>https://ovd.info/express-news/2020/12/28/s-yurista-fbk-kotoraya-provela-pochti-dvoe-sutok-v-ivs-pytalis-vzyat</a:t>
            </a:r>
          </a:p>
          <a:p xmlns:a="http://schemas.openxmlformats.org/drawingml/2006/main">
            <a:r>
              <a:t>https://ovd.info/express-news/2021/02/26/prokuratura-utverdila-obvinenie-sobol-po-delu-o-proniknovenii-v-kvartiru</a:t>
            </a:r>
          </a:p>
          <a:p xmlns:a="http://schemas.openxmlformats.org/drawingml/2006/main">
            <a:r>
              <a:t>https://ovd.info/express-news/2020/12/29/protiv-alekseya-navalnogo-vozbudili-ugolovnoe-delo-o-moshennichestve-iz-za</a:t>
            </a:r>
          </a:p>
          <a:p xmlns:a="http://schemas.openxmlformats.org/drawingml/2006/main">
            <a:r>
              <a:t>https://www.currenttime.tv/a/sobol/31723600.html</a:t>
            </a:r>
          </a:p>
          <a:p xmlns:a="http://schemas.openxmlformats.org/drawingml/2006/main">
            <a:r>
              <a:t>https://www.currenttime.tv/interview/episodes/2022/2/26</a:t>
            </a:r>
          </a:p>
          <a:p xmlns:a="http://schemas.openxmlformats.org/drawingml/2006/main">
            <a:r>
              <a:t>https://ochevidcy.com/putin-budet-vorovat-do-groba/</a:t>
            </a:r>
          </a:p>
          <a:p xmlns:a="http://schemas.openxmlformats.org/drawingml/2006/main">
            <a:r>
              <a:t>https://www.svoboda.org/a/32881433.html</a:t>
            </a:r>
          </a:p>
          <a:p xmlns:a="http://schemas.openxmlformats.org/drawingml/2006/main">
            <a:r>
              <a:t>https://echofm.online/programs/idyom-po-zvyozdam/idyom-po-zvezdam-s-lyubovyu-sobol</a:t>
            </a:r>
          </a:p>
          <a:p xmlns:a="http://schemas.openxmlformats.org/drawingml/2006/main">
            <a:r>
              <a:t>https://x.com/SobolLubov</a:t>
            </a:r>
          </a:p>
          <a:p xmlns:a="http://schemas.openxmlformats.org/drawingml/2006/main">
            <a:r>
              <a:t>https://stuki-druki.com/authors/sobol-lubov.php</a:t>
            </a:r>
          </a:p>
          <a:p xmlns:a="http://schemas.openxmlformats.org/drawingml/2006/main">
            <a:r>
              <a:t>https://www.interfax.ru/elections2018/593143</a:t>
            </a:r>
          </a:p>
          <a:p xmlns:a="http://schemas.openxmlformats.org/drawingml/2006/main">
            <a:r>
              <a:t>https://elections2018.tass.ru/candidate/sobchak</a:t>
            </a:r>
          </a:p>
          <a:p xmlns:a="http://schemas.openxmlformats.org/drawingml/2006/main">
            <a:r>
              <a:t>https://www.interfax.ru/elections2018/604186</a:t>
            </a:r>
          </a:p>
          <a:p xmlns:a="http://schemas.openxmlformats.org/drawingml/2006/main">
            <a:r>
              <a:t>https://www.interfax.ru/elections2018/604908</a:t>
            </a:r>
          </a:p>
          <a:p xmlns:a="http://schemas.openxmlformats.org/drawingml/2006/main">
            <a:r>
              <a:t>https://www.consultant.ru/law/hotdocs/53066.html</a:t>
            </a:r>
          </a:p>
          <a:p xmlns:a="http://schemas.openxmlformats.org/drawingml/2006/main">
            <a:r>
              <a:t>https://www.rbc.ru/newspaper/2018/03/20/5aae9ca49a794739b02918a0</a:t>
            </a:r>
          </a:p>
          <a:p xmlns:a="http://schemas.openxmlformats.org/drawingml/2006/main">
            <a:r>
              <a:t>https://www.interfax.ru/elections2018/604136</a:t>
            </a:r>
          </a:p>
          <a:p xmlns:a="http://schemas.openxmlformats.org/drawingml/2006/main">
            <a:r>
              <a:t>https://www.interfax.ru/elections2018/604190</a:t>
            </a:r>
          </a:p>
          <a:p xmlns:a="http://schemas.openxmlformats.org/drawingml/2006/main">
            <a:r>
              <a:t>https://www.rbc.ru/economics/25/12/2017/5a4025f19a79472e3f5f4ad9?from=right_column_materials_3</a:t>
            </a:r>
          </a:p>
          <a:p xmlns:a="http://schemas.openxmlformats.org/drawingml/2006/main">
            <a:r>
              <a:t>https://news.ru/show-business/otezd-iz-rf-vybory-svo-v-chem-priznalas-kseniya-sobchak-v-novom-intervyu</a:t>
            </a:r>
          </a:p>
          <a:p xmlns:a="http://schemas.openxmlformats.org/drawingml/2006/main">
            <a:r>
              <a:t>https://rtvi.com/news/sobchak-otvetila-na-vopros-putin-ili-zelenskij/</a:t>
            </a:r>
          </a:p>
          <a:p xmlns:a="http://schemas.openxmlformats.org/drawingml/2006/main">
            <a:r>
              <a:t>https://informator.ua/ru/kompromissy-iz-rf-legitimnost-zelenskogo-i-gotovnost-pozhat-ruku-putinu-o-chem-govoril-arestovich-v-intervyu-sobchak</a:t>
            </a:r>
          </a:p>
          <a:p xmlns:a="http://schemas.openxmlformats.org/drawingml/2006/main">
            <a:r>
              <a:t>https://rassvet-party.info/</a:t>
            </a:r>
          </a:p>
          <a:p xmlns:a="http://schemas.openxmlformats.org/drawingml/2006/main">
            <a:r>
              <a:t>https://en.wikipedia.org/wiki/Yekaterina_Duntsova</a:t>
            </a:r>
          </a:p>
          <a:p xmlns:a="http://schemas.openxmlformats.org/drawingml/2006/main">
            <a:r>
              <a:t>https://www.dw.com/ru/cto-nuzno-znat-o-ekaterine-duncovoj-kotoraa-hocet-stat-prezidentom-rf/a-67832425</a:t>
            </a:r>
          </a:p>
          <a:p xmlns:a="http://schemas.openxmlformats.org/drawingml/2006/main">
            <a:r>
              <a:t>https://baj.media/ru/ya-gotova-idti-do-konca-zhurnalistka-iz-rossiyskoy-provincii-reshila-stat-prezidentom-i-2/</a:t>
            </a:r>
          </a:p>
          <a:p xmlns:a="http://schemas.openxmlformats.org/drawingml/2006/main">
            <a:r>
              <a:t>https://echofm.online/portret-dnya/portret-dnya-ekaterina-dunczova-reshivshaya-vydvinutsya-kandidatom-v-prezidenty-rossii-zhurnalistka-iz-rzheva</a:t>
            </a:r>
          </a:p>
          <a:p xmlns:a="http://schemas.openxmlformats.org/drawingml/2006/main">
            <a:r>
              <a:t>https://novayagazeta.eu/articles/2024/03/15/zlost-i-nenavist-vsem-nadoeli</a:t>
            </a:r>
          </a:p>
          <a:p xmlns:a="http://schemas.openxmlformats.org/drawingml/2006/main">
            <a:r>
              <a:t>https://altapress.ru/politika/story/kto-takaya-ekaterina-duntsova-kotoraya-sobiraetsya-stat-poslednim-prezidentom-rossii-i-kto-eshche-hochet-ballotirovatsya-336526</a:t>
            </a:r>
          </a:p>
          <a:p xmlns:a="http://schemas.openxmlformats.org/drawingml/2006/main">
            <a:r>
              <a:t>https://cherta.media/interview/ekaterina-duncova-kandidat-v-prezidenty/</a:t>
            </a:r>
          </a:p>
          <a:p xmlns:a="http://schemas.openxmlformats.org/drawingml/2006/main">
            <a:r>
              <a:t>https://novayagazeta.eu/articles/2023/12/05/zachem-ia-budu-stoiat-na-barrikadakh-esli-mogu-zanimatsia-realnymi-delami</a:t>
            </a:r>
          </a:p>
          <a:p xmlns:a="http://schemas.openxmlformats.org/drawingml/2006/main">
            <a:r>
              <a:t>https://holod.media/2023/12/20/ekaterina-duntsova-view/</a:t>
            </a:r>
          </a:p>
          <a:p xmlns:a="http://schemas.openxmlformats.org/drawingml/2006/main">
            <a:r>
              <a:t>https://www.dw.com/ru/ekaterina-duncova-o-sozdanii-partii-rassvet-my-mezdu-dvuh-ognej/a-68992724</a:t>
            </a:r>
          </a:p>
          <a:p xmlns:a="http://schemas.openxmlformats.org/drawingml/2006/main">
            <a:r>
              <a:t>https://rassvet-party.info/static/program.pdf</a:t>
            </a:r>
          </a:p>
          <a:p xmlns:a="http://schemas.openxmlformats.org/drawingml/2006/main">
            <a:r>
              <a:t>https://www.currenttime.tv/a/ekaterina-duntsova-o-sozdanii-partii-i-svoem-zaderzhanii/32775510.html</a:t>
            </a:r>
          </a:p>
          <a:p xmlns:a="http://schemas.openxmlformats.org/drawingml/2006/main">
            <a:r>
              <a:t>https://duntsovainitiative.1c-umi.ru/galereya/</a:t>
            </a:r>
          </a:p>
          <a:p xmlns:a="http://schemas.openxmlformats.org/drawingml/2006/main">
            <a:r>
              <a:t>https://rassvet-party.info/static/manifest.pdf</a:t>
            </a:r>
          </a:p>
          <a:p xmlns:a="http://schemas.openxmlformats.org/drawingml/2006/main">
            <a:r>
              <a:t>https://www.rbc.ru/person/65afb4a99a79470e434da73d</a:t>
            </a:r>
          </a:p>
          <a:p xmlns:a="http://schemas.openxmlformats.org/drawingml/2006/main">
            <a:r>
              <a:t>https://www.bbc.com/russian/articles/c84npr0wxx9o</a:t>
            </a:r>
          </a:p>
          <a:p xmlns:a="http://schemas.openxmlformats.org/drawingml/2006/main">
            <a:r>
              <a:t>https://www.rbc.ru/politics/08/02/2024/65c3749b9a79479ef5fe7934</a:t>
            </a:r>
          </a:p>
          <a:p xmlns:a="http://schemas.openxmlformats.org/drawingml/2006/main">
            <a:r>
              <a:t>https://www.business-gazeta.ru/article/622600</a:t>
            </a:r>
          </a:p>
          <a:p xmlns:a="http://schemas.openxmlformats.org/drawingml/2006/main">
            <a:r>
              <a:t>https://semnasem.org/articles/2024/02/02/poslednij-sredi-antivoennyh-kto-takoj-boris-nadezhdin-kotoryj-vse-eshe-nadeetsya-stat-prezidentom</a:t>
            </a:r>
          </a:p>
          <a:p xmlns:a="http://schemas.openxmlformats.org/drawingml/2006/main">
            <a:r>
              <a:t>https://novayagazeta.eu/articles/2024/02/03/17-marta-nachalo-kontsa-epokhi-putina</a:t>
            </a:r>
          </a:p>
          <a:p xmlns:a="http://schemas.openxmlformats.org/drawingml/2006/main">
            <a:r>
              <a:t>https://www.youtube.com/watch?v=mGMdgxBCdns</a:t>
            </a:r>
          </a:p>
          <a:p xmlns:a="http://schemas.openxmlformats.org/drawingml/2006/main">
            <a:r>
              <a:t>https://www.dw.com/ru/boris-nadezdin-moj-rejting-rastet-na-5-v-nedelu/a-68154251</a:t>
            </a:r>
          </a:p>
          <a:p xmlns:a="http://schemas.openxmlformats.org/drawingml/2006/main">
            <a:r>
              <a:t>https://ovd.info/express-news/2026/07/17/u-menya-dva-puti-lenina-ili-navalnogo-chto-nuzhno-znat-o-borise-nadezhdine</a:t>
            </a:r>
          </a:p>
          <a:p xmlns:a="http://schemas.openxmlformats.org/drawingml/2006/main">
            <a:r>
              <a:t>https://www.rbc.ru/person/65afb4a99a79470e434da73d?ysclid=mrt22n99to603501119</a:t>
            </a:r>
          </a:p>
          <a:p xmlns:a="http://schemas.openxmlformats.org/drawingml/2006/main">
            <a:r>
              <a:t>https://www.youtube.com/watch?v=UNytg_H_1pY</a:t>
            </a:r>
          </a:p>
          <a:p xmlns:a="http://schemas.openxmlformats.org/drawingml/2006/main">
            <a:r>
              <a:t>https://www.youtube.com/watch?v=DwTC5bilf_8</a:t>
            </a:r>
          </a:p>
          <a:p xmlns:a="http://schemas.openxmlformats.org/drawingml/2006/main">
            <a:r>
              <a:t>https://www.youtube.com/watch?v=sG4_THnT9W0</a:t>
            </a:r>
          </a:p>
          <a:p xmlns:a="http://schemas.openxmlformats.org/drawingml/2006/main">
            <a:r>
              <a:t>https://www.rbc.ru/rbcfreenews/6586cdf49a79479c3cd3d4b3</a:t>
            </a:r>
          </a:p>
          <a:p xmlns:a="http://schemas.openxmlformats.org/drawingml/2006/main">
            <a:r>
              <a:t>https://kprf.ru/activity/elections/223485.html/print</a:t>
            </a:r>
          </a:p>
          <a:p xmlns:a="http://schemas.openxmlformats.org/drawingml/2006/main">
            <a:r>
              <a:t>http://msk.kprf.ru/2024/01/24/247473/</a:t>
            </a:r>
          </a:p>
          <a:p xmlns:a="http://schemas.openxmlformats.org/drawingml/2006/main">
            <a:r>
              <a:t>https://www.dw.com/ru/vybory-prezidenta-rossii-2024/a-68528003</a:t>
            </a:r>
          </a:p>
          <a:p xmlns:a="http://schemas.openxmlformats.org/drawingml/2006/main">
            <a:r>
              <a:t>https://ru.wikipedia.org/wiki/%D0%A5%D0%B0%D1%80%D0%B8%D1%82%D0%BE%D0%BD%D0%BE%D0%B2,_%D0%9D%D0%B8%D0%BA%D0%BE%D0%BB%D0%B0%D0%B9_%D0%9C%D0%B8%D1%85%D0%B0%D0%B9%D0%BB%D0%BE%D0%B2%D0%B8%D1%87</a:t>
            </a:r>
          </a:p>
          <a:p xmlns:a="http://schemas.openxmlformats.org/drawingml/2006/main">
            <a:r>
              <a:t>https://kprf.ru/party-live/cknews/225170.html</a:t>
            </a:r>
          </a:p>
          <a:p xmlns:a="http://schemas.openxmlformats.org/drawingml/2006/main">
            <a:r>
              <a:t>https://kprf.ru/dep/gosduma/activities/232802.html</a:t>
            </a:r>
          </a:p>
          <a:p xmlns:a="http://schemas.openxmlformats.org/drawingml/2006/main">
            <a:r>
              <a:t>https://kprf35.com/2024/02/17/32710/</a:t>
            </a:r>
          </a:p>
          <a:p xmlns:a="http://schemas.openxmlformats.org/drawingml/2006/main">
            <a:r>
              <a:t>https://www.pkokprf.ru/news/view/35448</a:t>
            </a:r>
          </a:p>
          <a:p xmlns:a="http://schemas.openxmlformats.org/drawingml/2006/main">
            <a:r>
              <a:t>https://altkprf.ru/upload/iblock/eea/jiv0wm7hzk6gq4qdxw0r5wvp7zwb6luk.pdf</a:t>
            </a:r>
          </a:p>
          <a:p xmlns:a="http://schemas.openxmlformats.org/drawingml/2006/main">
            <a:r>
              <a:t>https://kprf.ru/activity/army/224789.html</a:t>
            </a:r>
          </a:p>
          <a:p xmlns:a="http://schemas.openxmlformats.org/drawingml/2006/main">
            <a:r>
              <a:t>https://gazeta-pravda.ru/issue/24-31517-711-marta-2024-goda-/alternativa-polupravde/</a:t>
            </a:r>
          </a:p>
          <a:p xmlns:a="http://schemas.openxmlformats.org/drawingml/2006/main">
            <a:r>
              <a:t>https://spbpalata.ru/?p=13755</a:t>
            </a:r>
          </a:p>
          <a:p xmlns:a="http://schemas.openxmlformats.org/drawingml/2006/main">
            <a:r>
              <a:t>https://kprf.ru/activity/elections/171941.html</a:t>
            </a:r>
          </a:p>
          <a:p xmlns:a="http://schemas.openxmlformats.org/drawingml/2006/main">
            <a:r>
              <a:t>https://kprf.ru/party-live/cknews/171994.html</a:t>
            </a:r>
          </a:p>
          <a:p xmlns:a="http://schemas.openxmlformats.org/drawingml/2006/main">
            <a:r>
              <a:t>https://elections2018.tass.ru/candidate/grudinin</a:t>
            </a:r>
          </a:p>
          <a:p xmlns:a="http://schemas.openxmlformats.org/drawingml/2006/main">
            <a:r>
              <a:t>https://www.bbc.com/russian/features-43105617</a:t>
            </a:r>
          </a:p>
          <a:p xmlns:a="http://schemas.openxmlformats.org/drawingml/2006/main">
            <a:r>
              <a:t>https://www.rbc.ru/politics/24/07/2021/60fbe35b9a794716f25253a0</a:t>
            </a:r>
          </a:p>
          <a:p xmlns:a="http://schemas.openxmlformats.org/drawingml/2006/main">
            <a:r>
              <a:t>https://kprf.ru/dep/reg/204410.html</a:t>
            </a:r>
          </a:p>
          <a:p xmlns:a="http://schemas.openxmlformats.org/drawingml/2006/main">
            <a:r>
              <a:t>https://msk.kprf.ru/2021/09/16/168273/</a:t>
            </a:r>
          </a:p>
          <a:p xmlns:a="http://schemas.openxmlformats.org/drawingml/2006/main">
            <a:r>
              <a:t>https://svpressa.ru/persons/pavel-grudinin/</a:t>
            </a:r>
          </a:p>
          <a:p xmlns:a="http://schemas.openxmlformats.org/drawingml/2006/main">
            <a:r>
              <a:t>https://carnegieendowment.org/ru/russia-eurasia/posts/2018/02/kuda-privedut-ekonomiku-rossii-20-shagov-grudinina</a:t>
            </a:r>
          </a:p>
          <a:p xmlns:a="http://schemas.openxmlformats.org/drawingml/2006/main">
            <a:r>
              <a:t>https://www.kompas-rf.ru/2018/01/2980/</a:t>
            </a:r>
          </a:p>
          <a:p xmlns:a="http://schemas.openxmlformats.org/drawingml/2006/main">
            <a:r>
              <a:t>https://www.svoboda.org/a/30073365.html</a:t>
            </a:r>
          </a:p>
          <a:p xmlns:a="http://schemas.openxmlformats.org/drawingml/2006/main">
            <a:r>
              <a:t>https://kandidativprezidenti.ru/programma-grudinina-2018/</a:t>
            </a:r>
          </a:p>
          <a:p xmlns:a="http://schemas.openxmlformats.org/drawingml/2006/main">
            <a:r>
              <a:t>https://mbk-news.appspot.com/suzhet/za-lenina-i-protiv-ege/</a:t>
            </a:r>
          </a:p>
          <a:p xmlns:a="http://schemas.openxmlformats.org/drawingml/2006/main">
            <a:r>
              <a:t>https://www.amnesty.org/ru/latest/research/2021/06/zayavlenie-rossijskaya-federacziya-obvinitelnyj-prigovor-nikolayu-platoshkinu-dolzhen-byt-otmenyon/</a:t>
            </a:r>
          </a:p>
          <a:p xmlns:a="http://schemas.openxmlformats.org/drawingml/2006/main">
            <a:r>
              <a:t>https://zona.media/article/2021/05/20/nikolay-nikolaevitch</a:t>
            </a:r>
          </a:p>
          <a:p xmlns:a="http://schemas.openxmlformats.org/drawingml/2006/main">
            <a:r>
              <a:t>https://novayagazeta.ru/articles/2020/06/05/85705-sotsialisticheskiy-prizyv</a:t>
            </a:r>
          </a:p>
          <a:p xmlns:a="http://schemas.openxmlformats.org/drawingml/2006/main">
            <a:r>
              <a:t>https://www.revda-info.ru/2020/08/26/v-revde-poyavilos-otdelenie-dvizheniya-za-novyj-sotsializm-ego-lider-sejchas-pod-arestom</a:t>
            </a:r>
          </a:p>
          <a:p xmlns:a="http://schemas.openxmlformats.org/drawingml/2006/main">
            <a:r>
              <a:t>https://new-socialism.org/o-dvizhenii/programma/</a:t>
            </a:r>
          </a:p>
          <a:p xmlns:a="http://schemas.openxmlformats.org/drawingml/2006/main">
            <a:r>
              <a:t>https://new-socialism.org/o-dvizhenii/lider/</a:t>
            </a:r>
          </a:p>
          <a:p xmlns:a="http://schemas.openxmlformats.org/drawingml/2006/main">
            <a:r>
              <a:t>https://www.themoscowtimes.com/2024/01/19/ilya-ponomaryov-we-have-to-capture-the-kremlin-there-is-no-other-way-a83772</a:t>
            </a:r>
          </a:p>
          <a:p xmlns:a="http://schemas.openxmlformats.org/drawingml/2006/main">
            <a:r>
              <a:t>https://www.dw.com/ru/cto-izvestno-o-rossijskih-podrazdeleniah-v-sostave-vsu/a-63915634</a:t>
            </a:r>
          </a:p>
          <a:p xmlns:a="http://schemas.openxmlformats.org/drawingml/2006/main">
            <a:r>
              <a:t>https://www.svoboda.org/a/32321226.html</a:t>
            </a:r>
          </a:p>
          <a:p xmlns:a="http://schemas.openxmlformats.org/drawingml/2006/main">
            <a:r>
              <a:t>https://hromadske.ua/ru/posts/nasha-cel-moskva-my-dolzhny-sbrosit-putina-rossijskie-partizany-mif-ili-pravda</a:t>
            </a:r>
          </a:p>
          <a:p xmlns:a="http://schemas.openxmlformats.org/drawingml/2006/main">
            <a:r>
              <a:t>https://epravda.com.ua/rus/publications/2018/06/11/637572/</a:t>
            </a:r>
          </a:p>
          <a:p xmlns:a="http://schemas.openxmlformats.org/drawingml/2006/main">
            <a:r>
              <a:t>https://pointmedia.io/story/672b355fdc48800406e0f515</a:t>
            </a:r>
          </a:p>
          <a:p xmlns:a="http://schemas.openxmlformats.org/drawingml/2006/main">
            <a:r>
              <a:t>https://ru.wikipedia.org/wiki/%D0%9B%D0%B5%D0%B3%D0%B8%D0%BE%D0%BD_%C2%AB%D0%A1%D0%B2%D0%BE%D0%B1%D0%BE%D0%B4%D0%B0_%D0%A0%D0%BE%D1%81%D1%81%D0%B8%D0%B8%C2%BB</a:t>
            </a:r>
          </a:p>
          <a:p xmlns:a="http://schemas.openxmlformats.org/drawingml/2006/main">
            <a:r>
              <a:t>https://ru.wikipedia.org/wiki/%D0%9F%D0%BE%D0%BD%D0%BE%D0%BC%D0%B0%D1%80%D1%91%D0%B2,_%D0%98%D0%BB%D1%8C%D1%8F_%D0%92%D0%BB%D0%B0%D0%B4%D0%B8%D0%BC%D0%B8%D1%80%D0%BE%D0%B2%D0%B8%D1%87</a:t>
            </a:r>
          </a:p>
          <a:p xmlns:a="http://schemas.openxmlformats.org/drawingml/2006/main">
            <a:r>
              <a:t>https://russophob.ru/person/ponomarev_ilya_vladimirovich</a:t>
            </a:r>
          </a:p>
          <a:p xmlns:a="http://schemas.openxmlformats.org/drawingml/2006/main">
            <a:r>
              <a:t>https://www.svoboda.org/a/32063164.html</a:t>
            </a:r>
          </a:p>
          <a:p xmlns:a="http://schemas.openxmlformats.org/drawingml/2006/main">
            <a:r>
              <a:t>https://www.kpbs.org/news/news/international/2023/03/26/a-scrappy-newscast-in-kyiv-aimed-at-russians-counters-putins-propaganda-machine</a:t>
            </a:r>
          </a:p>
          <a:p xmlns:a="http://schemas.openxmlformats.org/drawingml/2006/main">
            <a:r>
              <a:t>https://ovd.info/express-news/2022/10/02/politik-leonid-gozman-uekhal-iz-rossii-posle-dvukh-administrativnykh</a:t>
            </a:r>
          </a:p>
          <a:p xmlns:a="http://schemas.openxmlformats.org/drawingml/2006/main">
            <a:r>
              <a:t>https://ovd.info/express-news/2022/08/30/politika-leonida-gozmana-arestovali-na-15-sutok-iz-za-posta-v-feysbuke</a:t>
            </a:r>
          </a:p>
          <a:p xmlns:a="http://schemas.openxmlformats.org/drawingml/2006/main">
            <a:r>
              <a:t>https://www.rbc.ru/politics/15/07/2022/62d1b3f39a7947299cdeb6a4</a:t>
            </a:r>
          </a:p>
          <a:p xmlns:a="http://schemas.openxmlformats.org/drawingml/2006/main">
            <a:r>
              <a:t>https://novayagazeta.eu/articles/2022/07/15/sk-doprosil-politika-leonida-gozmana-kak-podozrevaemogo-po-delu-o-neuvedomlenii-o-vtorom-grazhdanstve-news</a:t>
            </a:r>
          </a:p>
          <a:p xmlns:a="http://schemas.openxmlformats.org/drawingml/2006/main">
            <a:r>
              <a:t>https://www.rbc.ru/politics/15/02/2024/65cdc9e09a7947a2995026fa</a:t>
            </a:r>
          </a:p>
          <a:p xmlns:a="http://schemas.openxmlformats.org/drawingml/2006/main">
            <a:r>
              <a:t>https://ovd.info/express-news/2025/01/22/leonida-gozmana-i-rovshana-askerova-vnesli-v-reestr-terroristov-i</a:t>
            </a:r>
          </a:p>
          <a:p xmlns:a="http://schemas.openxmlformats.org/drawingml/2006/main">
            <a:r>
              <a:t>https://www.rbc.ru/opinion-authors/gozman</a:t>
            </a:r>
          </a:p>
          <a:p xmlns:a="http://schemas.openxmlformats.org/drawingml/2006/main">
            <a:r>
              <a:t>https://novayagazeta.eu/articles/2022/07/25/ovd-info-v-moskve-zaderzhali-politika-leonida-gozmana-news</a:t>
            </a:r>
          </a:p>
          <a:p xmlns:a="http://schemas.openxmlformats.org/drawingml/2006/main">
            <a:r>
              <a:t>https://gefter.ru/archive/23487</a:t>
            </a:r>
          </a:p>
          <a:p xmlns:a="http://schemas.openxmlformats.org/drawingml/2006/main">
            <a:r>
              <a:t>https://www.svoboda.org/a/31147156.html</a:t>
            </a:r>
          </a:p>
          <a:p xmlns:a="http://schemas.openxmlformats.org/drawingml/2006/main">
            <a:r>
              <a:t>https://uatv.ua/gozman-putin-zagnal-rossiyu-v-ugol-sleduyushhij-shag-repressii/</a:t>
            </a:r>
          </a:p>
          <a:p xmlns:a="http://schemas.openxmlformats.org/drawingml/2006/main">
            <a:r>
              <a:t>https://echofm.online/programs/hochu-skazat/hochu-skazat-odin-protiv-vseh-kak-ne-dat-strahu-pobedit-sebya</a:t>
            </a:r>
          </a:p>
          <a:p xmlns:a="http://schemas.openxmlformats.org/drawingml/2006/main">
            <a:r>
              <a:t>https://www.svoboda.org/a/leonid-gozman-russkih-lyudey-neljzya-mazatj-odnoy-chernoy-kraskoy-/32732625.html</a:t>
            </a:r>
          </a:p>
          <a:p xmlns:a="http://schemas.openxmlformats.org/drawingml/2006/main">
            <a:r>
              <a:t>https://novayagazeta.eu/articles/2022/07/18/prepiatstvovat-prosveshcheniiu-liudei-vlast-budet-pulemiotami</a:t>
            </a:r>
          </a:p>
          <a:p xmlns:a="http://schemas.openxmlformats.org/drawingml/2006/main">
            <a:r>
              <a:t>https://www.svoboda.org/a/29652429.html</a:t>
            </a:r>
          </a:p>
          <a:p xmlns:a="http://schemas.openxmlformats.org/drawingml/2006/main">
            <a:r>
              <a:t>https://novayagazeta.eu/articles/2022/04/26/nesobliudenie-rezhima</a:t>
            </a:r>
          </a:p>
          <a:p xmlns:a="http://schemas.openxmlformats.org/drawingml/2006/main">
            <a:r>
              <a:t>https://novayagazeta.eu/articles/2022/07/21/zapiski-ugolovnika</a:t>
            </a:r>
          </a:p>
          <a:p xmlns:a="http://schemas.openxmlformats.org/drawingml/2006/main">
            <a:r>
              <a:t>https://novayagazeta.ru/authors/2349</a:t>
            </a:r>
          </a:p>
          <a:p xmlns:a="http://schemas.openxmlformats.org/drawingml/2006/main">
            <a:r>
              <a:t>https://www.rbc.ru/politics/10/08/2017/598c8d6d9a79474cff05cbab</a:t>
            </a:r>
          </a:p>
          <a:p xmlns:a="http://schemas.openxmlformats.org/drawingml/2006/main">
            <a:r>
              <a:t>https://www.bbc.com/russian/news-40853405</a:t>
            </a:r>
          </a:p>
          <a:p xmlns:a="http://schemas.openxmlformats.org/drawingml/2006/main">
            <a:r>
              <a:t>https://www.rbc.ru/politics/10/08/2017/598c0a8e9a7947569574ba10?from=right_column_materials_1</a:t>
            </a:r>
          </a:p>
          <a:p xmlns:a="http://schemas.openxmlformats.org/drawingml/2006/main">
            <a:r>
              <a:t>https://www.vedomosti.ru/politics/articles/2017/08/10/728820-udaltsov</a:t>
            </a:r>
          </a:p>
          <a:p xmlns:a="http://schemas.openxmlformats.org/drawingml/2006/main">
            <a:r>
              <a:t>https://www.interfax.ru/elections2018/598382</a:t>
            </a:r>
          </a:p>
          <a:p xmlns:a="http://schemas.openxmlformats.org/drawingml/2006/main">
            <a:r>
              <a:t>https://sotaproject.com/article/sergeia-udaltsova-opiat-pytaiutsia-posadit-khotia-on-vsego-lish-prosit-putina-postroit-sotsializm</a:t>
            </a:r>
          </a:p>
          <a:p xmlns:a="http://schemas.openxmlformats.org/drawingml/2006/main">
            <a:r>
              <a:t>https://www.gazeta.ru/tags/person/sergei_udaltsov.shtml</a:t>
            </a:r>
          </a:p>
          <a:p xmlns:a="http://schemas.openxmlformats.org/drawingml/2006/main">
            <a:r>
              <a:t>https://www.kommersant.ru/doc/8317316</a:t>
            </a:r>
          </a:p>
          <a:p xmlns:a="http://schemas.openxmlformats.org/drawingml/2006/main">
            <a:r>
              <a:t>https://www.kommersant.ru/doc/8972418</a:t>
            </a:r>
          </a:p>
          <a:p xmlns:a="http://schemas.openxmlformats.org/drawingml/2006/main">
            <a:r>
              <a:t>https://holod.media/2023/09/12/udaltsov-interview/</a:t>
            </a:r>
          </a:p>
          <a:p xmlns:a="http://schemas.openxmlformats.org/drawingml/2006/main">
            <a:r>
              <a:t>https://meduza.io/feature/2024/01/11/sergey-udaltsov-zaderzhan-po-obvineniyu-v-opravdanii-terrorizma</a:t>
            </a:r>
          </a:p>
          <a:p xmlns:a="http://schemas.openxmlformats.org/drawingml/2006/main">
            <a:r>
              <a:t>https://ref-book.sova-center.ru/index.php/%D0%94%D1%80%D1%83%D0%B3%D0%B0%D1%8F_%D0%A0%D0%BE%D1%81%D1%81%D0%B8%D1%8F,_%D0%BF%D0%B0%D1%80%D1%82%D0%B8%D1%8F</a:t>
            </a:r>
          </a:p>
          <a:p xmlns:a="http://schemas.openxmlformats.org/drawingml/2006/main">
            <a:r>
              <a:t>https://www.rbc.ru/society/17/03/2020/5e71048d9a79473925ab81a7</a:t>
            </a:r>
          </a:p>
          <a:p xmlns:a="http://schemas.openxmlformats.org/drawingml/2006/main">
            <a:r>
              <a:t>https://rt.rbc.ru/society/18/03/2020/5e71acc49a794773553f824e</a:t>
            </a:r>
          </a:p>
          <a:p xmlns:a="http://schemas.openxmlformats.org/drawingml/2006/main">
            <a:r>
              <a:t>https://www.bostonglobe.com/metro/obituaries/2020/03/18/russian-author-political-activist-eduard-limonov-dies/jnjHywBRjVTTgnlsqI12vN/story.html</a:t>
            </a:r>
          </a:p>
          <a:p xmlns:a="http://schemas.openxmlformats.org/drawingml/2006/main">
            <a:r>
              <a:t>https://nsn.fm/society/poslednee-intervu-pisatelya-i-politika-eduarda-limonova</a:t>
            </a:r>
          </a:p>
          <a:p xmlns:a="http://schemas.openxmlformats.org/drawingml/2006/main">
            <a:r>
              <a:t>http://www.grso.ru/person/limonov-eduard.html</a:t>
            </a:r>
          </a:p>
          <a:p xmlns:a="http://schemas.openxmlformats.org/drawingml/2006/main">
            <a:r>
              <a:t>https://ru.wikipedia.org/wiki/%D0%94%D1%80%D1%83%D0%B3%D0%B0%D1%8F_%D0%A0%D0%BE%D1%81%D1%81%D0%B8%D1%8F_%D0%AD._%D0%92._%D0%9B%D0%B8%D0%BC%D0%BE%D0%BD%D0%BE%D0%B2%D0%B0</a:t>
            </a:r>
          </a:p>
          <a:p xmlns:a="http://schemas.openxmlformats.org/drawingml/2006/main">
            <a:r>
              <a:t>https://novayagazeta.ru/articles/2017/03/12/71752-puteshestvie-natsbolov-k-putinu-i-obratno</a:t>
            </a:r>
          </a:p>
          <a:p xmlns:a="http://schemas.openxmlformats.org/drawingml/2006/main">
            <a:r>
              <a:t>https://mediabrest.by/news/lyudi/umer-eduard-limonov-chem-zapomnilsya-pisatel</a:t>
            </a:r>
          </a:p>
          <a:p xmlns:a="http://schemas.openxmlformats.org/drawingml/2006/main">
            <a:r>
              <a:t>https://www.limonow.de/read/EL_2013-2018_T.html</a:t>
            </a:r>
          </a:p>
          <a:p xmlns:a="http://schemas.openxmlformats.org/drawingml/2006/main">
            <a:r>
              <a:t>https://www.infpol.ru/203662-ot-ubezhdennogo-antisovetchika-do-kolumnista-rt/</a:t>
            </a:r>
          </a:p>
          <a:p xmlns:a="http://schemas.openxmlformats.org/drawingml/2006/main">
            <a:r>
              <a:t>https://www.bbc.com/russian/articles/c2eg90d7gg9o</a:t>
            </a:r>
          </a:p>
          <a:p xmlns:a="http://schemas.openxmlformats.org/drawingml/2006/main">
            <a:r>
              <a:t>https://www.dw.com/ru/mosgorsud-prigovoril-igora-girkina-strelkova-k-4-godam-kolonii/a-68080937</a:t>
            </a:r>
          </a:p>
          <a:p xmlns:a="http://schemas.openxmlformats.org/drawingml/2006/main">
            <a:r>
              <a:t>https://www.fontanka.ru/2023/07/21/72520253</a:t>
            </a:r>
          </a:p>
          <a:p xmlns:a="http://schemas.openxmlformats.org/drawingml/2006/main">
            <a:r>
              <a:t>https://www.svoboda.org/a/strelkov-iz-sizo-opasayusj-amnistii-kak-u-prigozhina-/32722083.html</a:t>
            </a:r>
          </a:p>
          <a:p xmlns:a="http://schemas.openxmlformats.org/drawingml/2006/main">
            <a:r>
              <a:t>https://ru.themoscowtimes.com/2023/12/07/girkin-zayavil-chto-opasaetsya-povtorit-sudbu-prigozhina-a115592</a:t>
            </a:r>
          </a:p>
          <a:p xmlns:a="http://schemas.openxmlformats.org/drawingml/2006/main">
            <a:r>
              <a:t>https://ru.krymr.com/a/boing-mn17-10-let-podozrevayemyye-obvinyayemyye-vinovnyye/33040170.html</a:t>
            </a:r>
          </a:p>
          <a:p xmlns:a="http://schemas.openxmlformats.org/drawingml/2006/main">
            <a:r>
              <a:t>https://charter97.org/ru/news/2023/7/22/556802/</a:t>
            </a:r>
          </a:p>
          <a:p xmlns:a="http://schemas.openxmlformats.org/drawingml/2006/main">
            <a:r>
              <a:t>https://t.me/s/pgubarev?after=622</a:t>
            </a:r>
          </a:p>
          <a:p xmlns:a="http://schemas.openxmlformats.org/drawingml/2006/main">
            <a:r>
              <a:t>https://rabkor.ru/columns/debates/2023/05/23/angry_patriots_of_an_imaginary_country/</a:t>
            </a:r>
          </a:p>
          <a:p xmlns:a="http://schemas.openxmlformats.org/drawingml/2006/main">
            <a:r>
              <a:t>https://www.bbc.com/news/world-60947877</a:t>
            </a:r>
          </a:p>
          <a:p xmlns:a="http://schemas.openxmlformats.org/drawingml/2006/main">
            <a:r>
              <a:t>https://www.reuters.com/world/europe/russian-mercenary-boss-courts-putin-with-ukrainian-battlefield-success-2023-01-13/</a:t>
            </a:r>
          </a:p>
          <a:p xmlns:a="http://schemas.openxmlformats.org/drawingml/2006/main">
            <a:r>
              <a:t>https://www.reuters.com/world/europe/russias-wagner-mercenaries-halt-prisoner-recruitment-campaign-founder-prigozhin-2023-02-09/</a:t>
            </a:r>
          </a:p>
          <a:p xmlns:a="http://schemas.openxmlformats.org/drawingml/2006/main">
            <a:r>
              <a:t>https://www.reuters.com/investigates/special-report/ukraine-crisis-russia-wagner/</a:t>
            </a:r>
          </a:p>
          <a:p xmlns:a="http://schemas.openxmlformats.org/drawingml/2006/main">
            <a:r>
              <a:t>https://www.reuters.com/world/europe/russias-wagner-chief-prigozhin-says-ukraine-counteroffensive-already-under-way-2023-05-03/</a:t>
            </a:r>
          </a:p>
          <a:p xmlns:a="http://schemas.openxmlformats.org/drawingml/2006/main">
            <a:r>
              <a:t>https://www.bbc.com/russian/media-66023357</a:t>
            </a:r>
          </a:p>
          <a:p xmlns:a="http://schemas.openxmlformats.org/drawingml/2006/main">
            <a:r>
              <a:t>https://www.reuters.com/world/europe/russias-prigozhin-his-own-words-mutiny-2023-06-26/</a:t>
            </a:r>
          </a:p>
          <a:p xmlns:a="http://schemas.openxmlformats.org/drawingml/2006/main">
            <a:r>
              <a:t>https://x.com/Reuters/status/1632709213641113601</a:t>
            </a:r>
          </a:p>
          <a:p xmlns:a="http://schemas.openxmlformats.org/drawingml/2006/main">
            <a:r>
              <a:t>https://www.reuters.com/world/europe/russian-mercenary-boss-says-moscows-war-ukraine-based-lies-2023-06-23/</a:t>
            </a:r>
          </a:p>
          <a:p xmlns:a="http://schemas.openxmlformats.org/drawingml/2006/main">
            <a:r>
              <a:t>https://www.rbc.ru/spb_sz/02/10/2026/6abfb91afd4c7ff957d9cbe8</a:t>
            </a:r>
          </a:p>
          <a:p xmlns:a="http://schemas.openxmlformats.org/drawingml/2006/main">
            <a:r>
              <a:t>https://www.zaks.ru/new/person/view/639</a:t>
            </a:r>
          </a:p>
          <a:p xmlns:a="http://schemas.openxmlformats.org/drawingml/2006/main">
            <a:r>
              <a:t>https://www.zaks.ru/new/archive/view/219520</a:t>
            </a:r>
          </a:p>
          <a:p xmlns:a="http://schemas.openxmlformats.org/drawingml/2006/main">
            <a:r>
              <a:t>https://tvspb.ru/news/2016/09/27/novyij-sostav-parlamenta-kto-zajmet-kresla-v-zakonodatelnom-sobranii-vi-sozyiva</a:t>
            </a:r>
          </a:p>
          <a:p xmlns:a="http://schemas.openxmlformats.org/drawingml/2006/main">
            <a:r>
              <a:t>https://tass.ru/politika/20994233</a:t>
            </a:r>
          </a:p>
          <a:p xmlns:a="http://schemas.openxmlformats.org/drawingml/2006/main">
            <a:r>
              <a:t>https://www.zaks.ru/new/archive/view/265712</a:t>
            </a:r>
          </a:p>
          <a:p xmlns:a="http://schemas.openxmlformats.org/drawingml/2006/main">
            <a:r>
              <a:t>https://www.zaks.ru/new/archive/view/269374</a:t>
            </a:r>
          </a:p>
          <a:p xmlns:a="http://schemas.openxmlformats.org/drawingml/2006/main">
            <a:r>
              <a:t>https://www.dp.ru/a/2026/10/02/oksana-dmitrieva-proigrala</a:t>
            </a:r>
          </a:p>
          <a:p xmlns:a="http://schemas.openxmlformats.org/drawingml/2006/main">
            <a:r>
              <a:t>https://ru.wikipedia.org/wiki/%D0%9F%D0%B0%D1%80%D1%82%D0%B8%D1%8F_%D1%80%D0%BE%D1%81%D1%82%D0%B0</a:t>
            </a:r>
          </a:p>
          <a:p xmlns:a="http://schemas.openxmlformats.org/drawingml/2006/main">
            <a:r>
              <a:t>https://dmitrieva.org/category/gosduma/zakonoproekty/</a:t>
            </a:r>
          </a:p>
          <a:p xmlns:a="http://schemas.openxmlformats.org/drawingml/2006/main">
            <a:r>
              <a:t>https://t.me/s/oxdmitrieva?before=1072</a:t>
            </a:r>
          </a:p>
          <a:p xmlns:a="http://schemas.openxmlformats.org/drawingml/2006/main">
            <a:r>
              <a:t>http://api.duma.gov.ru/api/transcriptFull/2023-09-28</a:t>
            </a:r>
          </a:p>
          <a:p xmlns:a="http://schemas.openxmlformats.org/drawingml/2006/main">
            <a:r>
              <a:t>https://www.fontanka.ru/2026/09/04/76623983/</a:t>
            </a:r>
          </a:p>
          <a:p xmlns:a="http://schemas.openxmlformats.org/drawingml/2006/main">
            <a:r>
              <a:t>https://www.vedomosti.ru/politics/articles/2026/03/10/1181644-deputat-semi-sozivov-oksana-dmitrieva-snova-poidet-v-gosdumu</a:t>
            </a:r>
          </a:p>
          <a:p xmlns:a="http://schemas.openxmlformats.org/drawingml/2006/main">
            <a:r>
              <a:t>https://www.kommersant.ru/doc/8497588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Трёхкластерное решение выделяет три содержательно различимых профиля, каждый из которых характеризуется уникальным сочетанием нагруженных свойств. Первый кластер объединяет акторов, ориентированных на институциональные процедуры и умеренную поддержку действующей власти, второй — выраженных сторонников антивоенной риторики, критики власти и интеграции с Западом, а третий — группу с выраженной конфронтационностью, мобилизационной риторикой и персонализацией. Эти профили различаются не только по ключевым факторам, но и по ряду шкал с крупными сдвигами относительно всей выборки, что позволяет говорить о содержательной интерпретируемости каждого кластера.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При дальнейшем увеличении числа кластеров (k &gt; 3) происходит преимущественно дробление уже выделенных профилей на более мелкие подгруппы, различия между которыми выражены слабее и часто касаются нюансов внутри уже описанных направлений (например, разделение умеренных и радикальных представителей внутри одного лагеря). При этом новые кластеры зачастую оказываются малы по размеру и менее устойчивы, а их содержательная специфика не столь отчётлива, как у трёх основных профилей. Таким образом, k=3 выбрано как рабочий компромисс между различимостью, интерпретируемостью и ценой дополнительного дробления.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Численная сводка из расчёта: у k=3 силуэт 0.508; наибольший силуэт среди проверенных вариантов — 0.512 при k=7. Медианный ARI выбранного разбиения — 1.000, минимальный по группам медианный Jaccard — 1.000. Содержательное предпочтение не означает максимума всех численных показателей или доказательства естественных классов. Средний ARI — 0.914, минимальный ARI — 0.360; устойчивость оценена при фиксированных факторных координатах, без повторного сбора досье и оценивания.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Числа: metadata.json, scores.csv, loadings.csv и утверждённая матрица оценок.</a:t>
            </a:r>
          </a:p>
          <a:p xmlns:a="http://schemas.openxmlformats.org/drawingml/2006/main">
            <a:r>
              <a:t>Изучаемое пространство: Публичный политический образ российских политиков и иных заметных политических акторов, включая деятелей за рубежом, активных хотя бы в части периода. Не рейтинг популярности..</a:t>
            </a:r>
          </a:p>
          <a:p xmlns:a="http://schemas.openxmlformats.org/drawingml/2006/main">
            <a:r>
              <a:t>Оценщик: llm_exploratory.</a:t>
            </a:r>
          </a:p>
          <a:p xmlns:a="http://schemas.openxmlformats.org/drawingml/2006/main">
            <a:r>
              <a:t>Исходные URL:</a:t>
            </a:r>
          </a:p>
          <a:p xmlns:a="http://schemas.openxmlformats.org/drawingml/2006/main">
            <a:r>
              <a:t>https://kremlin.ru/structure/president</a:t>
            </a:r>
          </a:p>
          <a:p xmlns:a="http://schemas.openxmlformats.org/drawingml/2006/main">
            <a:r>
              <a:t>http://www.special.kremlin.ru/events/president/transcripts/67843</a:t>
            </a:r>
          </a:p>
          <a:p xmlns:a="http://schemas.openxmlformats.org/drawingml/2006/main">
            <a:r>
              <a:t>http://en.kremlin.ru/events/president/news/70315</a:t>
            </a:r>
          </a:p>
          <a:p xmlns:a="http://schemas.openxmlformats.org/drawingml/2006/main">
            <a:r>
              <a:t>http://special.kremlin.ru/events/president/transcripts/70565</a:t>
            </a:r>
          </a:p>
          <a:p xmlns:a="http://schemas.openxmlformats.org/drawingml/2006/main">
            <a:r>
              <a:t>http://special.kremlin.ru/events/president/transcripts/72994</a:t>
            </a:r>
          </a:p>
          <a:p xmlns:a="http://schemas.openxmlformats.org/drawingml/2006/main">
            <a:r>
              <a:t>http://kremlin.ru/events/president/news/73585</a:t>
            </a:r>
          </a:p>
          <a:p xmlns:a="http://schemas.openxmlformats.org/drawingml/2006/main">
            <a:r>
              <a:t>http://special.kremlin.ru/events/president/transcripts/75762</a:t>
            </a:r>
          </a:p>
          <a:p xmlns:a="http://schemas.openxmlformats.org/drawingml/2006/main">
            <a:r>
              <a:t>http://www.special.kremlin.ru/events/president/transcripts/76899</a:t>
            </a:r>
          </a:p>
          <a:p xmlns:a="http://schemas.openxmlformats.org/drawingml/2006/main">
            <a:r>
              <a:t>http://special.kremlin.ru/events/president/transcripts/80017</a:t>
            </a:r>
          </a:p>
          <a:p xmlns:a="http://schemas.openxmlformats.org/drawingml/2006/main">
            <a:r>
              <a:t>http://www.special.kremlin.ru/events/president/transcripts/72084</a:t>
            </a:r>
          </a:p>
          <a:p xmlns:a="http://schemas.openxmlformats.org/drawingml/2006/main">
            <a:r>
              <a:t>http://www.special.kremlin.ru/events/president/transcripts/80172</a:t>
            </a:r>
          </a:p>
          <a:p xmlns:a="http://schemas.openxmlformats.org/drawingml/2006/main">
            <a:r>
              <a:t>https://www.diva-portal.org/smash/get/diva2:2035197/FULLTEXT01.pdf</a:t>
            </a:r>
          </a:p>
          <a:p xmlns:a="http://schemas.openxmlformats.org/drawingml/2006/main">
            <a:r>
              <a:t>https://www.reuters.com/world/what-know-about-russias-upcoming-parliamentary-election-2026-09-15/</a:t>
            </a:r>
          </a:p>
          <a:p xmlns:a="http://schemas.openxmlformats.org/drawingml/2006/main">
            <a:r>
              <a:t>https://www.reuters.com/world/europe/how-putin-may-leverage-predictable-outcome-russias-elections-2026-09-18/</a:t>
            </a:r>
          </a:p>
          <a:p xmlns:a="http://schemas.openxmlformats.org/drawingml/2006/main">
            <a:r>
              <a:t>https://ru.wikipedia.org/wiki/Медведев,_Дмитрий_Анатольевич</a:t>
            </a:r>
          </a:p>
          <a:p xmlns:a="http://schemas.openxmlformats.org/drawingml/2006/main">
            <a:r>
              <a:t>https://tass.ru/ekonomika/3941450</a:t>
            </a:r>
          </a:p>
          <a:p xmlns:a="http://schemas.openxmlformats.org/drawingml/2006/main">
            <a:r>
              <a:t>http://archive.government.ru/docs/21653/print/</a:t>
            </a:r>
          </a:p>
          <a:p xmlns:a="http://schemas.openxmlformats.org/drawingml/2006/main">
            <a:r>
              <a:t>https://netfreedom.org.ua/ru/dmytro-anatoliiovych-medvediev-biohrafiia-posady-i-sanktsii/</a:t>
            </a:r>
          </a:p>
          <a:p xmlns:a="http://schemas.openxmlformats.org/drawingml/2006/main">
            <a:r>
              <a:t>https://verstka.media/czeli-svo-kak-kreml-menyal-ih-na-protyazhenii-tryoh-let-vojny</a:t>
            </a:r>
          </a:p>
          <a:p xmlns:a="http://schemas.openxmlformats.org/drawingml/2006/main">
            <a:r>
              <a:t>http://www.scrf.gov.ru/news/allnews/3820/</a:t>
            </a:r>
          </a:p>
          <a:p xmlns:a="http://schemas.openxmlformats.org/drawingml/2006/main">
            <a:r>
              <a:t>http://scrf.gov.ru/news/allnews/3837/</a:t>
            </a:r>
          </a:p>
          <a:p xmlns:a="http://schemas.openxmlformats.org/drawingml/2006/main">
            <a:r>
              <a:t>https://baike.baidu.com/ru/item/%D0%94%D0%BC%D0%B8%D1%82%D1%80%D0%B8%D0%B9%20%D0%90%D0%BD%D0%B0%D1%82%D0%BE%D0%BB%D1%8C%D0%B5%D0%B2%D0%B8%D1%87%20%D0%9C%D0%B5%D0%B4%D0%B2%D0%B5%D0%B4%D0%B5%D0%B2/3254451</a:t>
            </a:r>
          </a:p>
          <a:p xmlns:a="http://schemas.openxmlformats.org/drawingml/2006/main">
            <a:r>
              <a:t>https://tass.ru/politika/5889577</a:t>
            </a:r>
          </a:p>
          <a:p xmlns:a="http://schemas.openxmlformats.org/drawingml/2006/main">
            <a:r>
              <a:t>https://meduza.io/feature/2023/06/26/chto-proizoshlo-s-dmitriem-medvedevym</a:t>
            </a:r>
          </a:p>
          <a:p xmlns:a="http://schemas.openxmlformats.org/drawingml/2006/main">
            <a:r>
              <a:t>https://www.bbc.com/russian/articles/c6evw7d22lv0o</a:t>
            </a:r>
          </a:p>
          <a:p xmlns:a="http://schemas.openxmlformats.org/drawingml/2006/main">
            <a:r>
              <a:t>https://er.ru/activity/news/dmitrij-medvedev-edinaya-rossiya-ne-dopustit-razrusheniya-cennostnyh-osnov-strany</a:t>
            </a:r>
          </a:p>
          <a:p xmlns:a="http://schemas.openxmlformats.org/drawingml/2006/main">
            <a:r>
              <a:t>https://en.wikipedia.org/wiki/Media_freedom_in_Russia</a:t>
            </a:r>
          </a:p>
          <a:p xmlns:a="http://schemas.openxmlformats.org/drawingml/2006/main">
            <a:r>
              <a:t>https://government.ru/gov/persons/151/travel/?area=KHA</a:t>
            </a:r>
          </a:p>
          <a:p xmlns:a="http://schemas.openxmlformats.org/drawingml/2006/main">
            <a:r>
              <a:t>http://government.ru/gov/persons/151/biography/</a:t>
            </a:r>
          </a:p>
          <a:p xmlns:a="http://schemas.openxmlformats.org/drawingml/2006/main">
            <a:r>
              <a:t>https://www.reuters.com/world/europe/who-is-russias-mikhail-mishustin-2024-05-10/</a:t>
            </a:r>
          </a:p>
          <a:p xmlns:a="http://schemas.openxmlformats.org/drawingml/2006/main">
            <a:r>
              <a:t>https://www.kommersant.ru/doc/4220798</a:t>
            </a:r>
          </a:p>
          <a:p xmlns:a="http://schemas.openxmlformats.org/drawingml/2006/main">
            <a:r>
              <a:t>https://www.vedomosti.ru/politics/galleries/2026/03/03/1179718-nalogi-pod-kontrolem</a:t>
            </a:r>
          </a:p>
          <a:p xmlns:a="http://schemas.openxmlformats.org/drawingml/2006/main">
            <a:r>
              <a:t>http://government.ru/gov/persons/151/travel/?page=5</a:t>
            </a:r>
          </a:p>
          <a:p xmlns:a="http://schemas.openxmlformats.org/drawingml/2006/main">
            <a:r>
              <a:t>http://government.ru/news/46476/</a:t>
            </a:r>
          </a:p>
          <a:p xmlns:a="http://schemas.openxmlformats.org/drawingml/2006/main">
            <a:r>
              <a:t>http://government.ru/news/52063/</a:t>
            </a:r>
          </a:p>
          <a:p xmlns:a="http://schemas.openxmlformats.org/drawingml/2006/main">
            <a:r>
              <a:t>http://government.ru/news/52851/</a:t>
            </a:r>
          </a:p>
          <a:p xmlns:a="http://schemas.openxmlformats.org/drawingml/2006/main">
            <a:r>
              <a:t>https://nangs.org/news/society/kabmin-privlek-otdelnye-gosorgany-k-ukrepleniyu-traditsionnykh-tsennostej</a:t>
            </a:r>
          </a:p>
          <a:p xmlns:a="http://schemas.openxmlformats.org/drawingml/2006/main">
            <a:r>
              <a:t>http://government.ru/news/57315/</a:t>
            </a:r>
          </a:p>
          <a:p xmlns:a="http://schemas.openxmlformats.org/drawingml/2006/main">
            <a:r>
              <a:t>https://www.rbc.ru/person/617bf30d9a7947f92ee2d266</a:t>
            </a:r>
          </a:p>
          <a:p xmlns:a="http://schemas.openxmlformats.org/drawingml/2006/main">
            <a:r>
              <a:t>https://mid.ru/ru/press_service/video/view/1848395/</a:t>
            </a:r>
          </a:p>
          <a:p xmlns:a="http://schemas.openxmlformats.org/drawingml/2006/main">
            <a:r>
              <a:t>https://mid.ru/ru/foreign_policy/international_organizations/1932076/</a:t>
            </a:r>
          </a:p>
          <a:p xmlns:a="http://schemas.openxmlformats.org/drawingml/2006/main">
            <a:r>
              <a:t>https://mid.ru/ru/press_service/minister_speeches/1991476/</a:t>
            </a:r>
          </a:p>
          <a:p xmlns:a="http://schemas.openxmlformats.org/drawingml/2006/main">
            <a:r>
              <a:t>https://www.mid.ru/ru/press_service/vizity-ministra/1922112/</a:t>
            </a:r>
          </a:p>
          <a:p xmlns:a="http://schemas.openxmlformats.org/drawingml/2006/main">
            <a:r>
              <a:t>https://www.mid.ru/ru/foreign_policy/news/1927568/</a:t>
            </a:r>
          </a:p>
          <a:p xmlns:a="http://schemas.openxmlformats.org/drawingml/2006/main">
            <a:r>
              <a:t>https://mid.ru/ru/foreign_policy/news/1912973/</a:t>
            </a:r>
          </a:p>
          <a:p xmlns:a="http://schemas.openxmlformats.org/drawingml/2006/main">
            <a:r>
              <a:t>https://www.reuters.com/world/europe/russias-lavrov-says-moscow-committed-us-proposals-peace-rejects-europes-2026-06-15/</a:t>
            </a:r>
          </a:p>
          <a:p xmlns:a="http://schemas.openxmlformats.org/drawingml/2006/main">
            <a:r>
              <a:t>https://www.reuters.com/world/lavrov-says-russia-is-ready-resume-talks-with-ukraine-point-where-they-left-off-2026-06-23/</a:t>
            </a:r>
          </a:p>
          <a:p xmlns:a="http://schemas.openxmlformats.org/drawingml/2006/main">
            <a:r>
              <a:t>https://mid.ru/ru/press_service/video/view/1799184/</a:t>
            </a:r>
          </a:p>
          <a:p xmlns:a="http://schemas.openxmlformats.org/drawingml/2006/main">
            <a:r>
              <a:t>https://en.wikipedia.org/wiki/Sergey_Lavrov</a:t>
            </a:r>
          </a:p>
          <a:p xmlns:a="http://schemas.openxmlformats.org/drawingml/2006/main">
            <a:r>
              <a:t>https://www.garant.ru/products/ipo/prime/doc/70627660/</a:t>
            </a:r>
          </a:p>
          <a:p xmlns:a="http://schemas.openxmlformats.org/drawingml/2006/main">
            <a:r>
              <a:t>https://www.rbc.ru/person/617fc0679a794761d6170b80</a:t>
            </a:r>
          </a:p>
          <a:p xmlns:a="http://schemas.openxmlformats.org/drawingml/2006/main">
            <a:r>
              <a:t>http://www.kremlin.ru/acts/bank/50544</a:t>
            </a:r>
          </a:p>
          <a:p xmlns:a="http://schemas.openxmlformats.org/drawingml/2006/main">
            <a:r>
              <a:t>http://special.kremlin.ru/events/president/news/74019</a:t>
            </a:r>
          </a:p>
          <a:p xmlns:a="http://schemas.openxmlformats.org/drawingml/2006/main">
            <a:r>
              <a:t>https://www.interfax.ru/russia/960081</a:t>
            </a:r>
          </a:p>
          <a:p xmlns:a="http://schemas.openxmlformats.org/drawingml/2006/main">
            <a:r>
              <a:t>https://www.rbc.ru/politics/21/09/2022/632ab17c9a794781413c8582</a:t>
            </a:r>
          </a:p>
          <a:p xmlns:a="http://schemas.openxmlformats.org/drawingml/2006/main">
            <a:r>
              <a:t>https://www.bbc.com/russian/articles/c72p0jq04gjo</a:t>
            </a:r>
          </a:p>
          <a:p xmlns:a="http://schemas.openxmlformats.org/drawingml/2006/main">
            <a:r>
              <a:t>https://meduza.io/feature/2024/05/12/putin-uvolil-shoygu-s-posta-ministra-oborony-i-perevel-v-sovbez</a:t>
            </a:r>
          </a:p>
          <a:p xmlns:a="http://schemas.openxmlformats.org/drawingml/2006/main">
            <a:r>
              <a:t>https://paodkb.org/events/sergey-shoygu-naznachen-sekretarem-soveta-bezopasnosti-rf</a:t>
            </a:r>
          </a:p>
          <a:p xmlns:a="http://schemas.openxmlformats.org/drawingml/2006/main">
            <a:r>
              <a:t>https://base.garant.ru/409005084/</a:t>
            </a:r>
          </a:p>
          <a:p xmlns:a="http://schemas.openxmlformats.org/drawingml/2006/main">
            <a:r>
              <a:t>http://special.kremlin.ru/supplement/6345</a:t>
            </a:r>
          </a:p>
          <a:p xmlns:a="http://schemas.openxmlformats.org/drawingml/2006/main">
            <a:r>
              <a:t>http://en.kremlin.ru/supplement/6345</a:t>
            </a:r>
          </a:p>
          <a:p xmlns:a="http://schemas.openxmlformats.org/drawingml/2006/main">
            <a:r>
              <a:t>https://www.kp.ru/daily/27656.5/5040576/</a:t>
            </a:r>
          </a:p>
          <a:p xmlns:a="http://schemas.openxmlformats.org/drawingml/2006/main">
            <a:r>
              <a:t>https://www.fontanka.ru/2025/06/10/75574928/</a:t>
            </a:r>
          </a:p>
          <a:p xmlns:a="http://schemas.openxmlformats.org/drawingml/2006/main">
            <a:r>
              <a:t>https://tass.ru/politika/25506737</a:t>
            </a:r>
          </a:p>
          <a:p xmlns:a="http://schemas.openxmlformats.org/drawingml/2006/main">
            <a:r>
              <a:t>https://www.rbc.ru/person/6181419c9a7947df128a22f7</a:t>
            </a:r>
          </a:p>
          <a:p xmlns:a="http://schemas.openxmlformats.org/drawingml/2006/main">
            <a:r>
              <a:t>https://www.rbc.ru/economics/31/05/2021/60b3de5d9a7947f2883f7aa0</a:t>
            </a:r>
          </a:p>
          <a:p xmlns:a="http://schemas.openxmlformats.org/drawingml/2006/main">
            <a:r>
              <a:t>https://www.rbc.ru/politics/13/05/2024/6641109a9a7947ab8eebcf7f</a:t>
            </a:r>
          </a:p>
          <a:p xmlns:a="http://schemas.openxmlformats.org/drawingml/2006/main">
            <a:r>
              <a:t>https://www.rbc.ru/business/13/06/2023/6482d3389a79473805ee8978</a:t>
            </a:r>
          </a:p>
          <a:p xmlns:a="http://schemas.openxmlformats.org/drawingml/2006/main">
            <a:r>
              <a:t>https://thebell.io/kuda-vedet-ekonomiku-andrej-belousov-zagadki-dmitriya-medvedeva-i-sposoby-perezhit-sanktsii</a:t>
            </a:r>
          </a:p>
          <a:p xmlns:a="http://schemas.openxmlformats.org/drawingml/2006/main">
            <a:r>
              <a:t>https://72.ru/text/politics/2024/05/14/73575386/</a:t>
            </a:r>
          </a:p>
          <a:p xmlns:a="http://schemas.openxmlformats.org/drawingml/2006/main">
            <a:r>
              <a:t>https://tass.ru/armiya-i-opk/22683223</a:t>
            </a:r>
          </a:p>
          <a:p xmlns:a="http://schemas.openxmlformats.org/drawingml/2006/main">
            <a:r>
              <a:t>https://www.rbc.ru/society/12/12/2017/5a2f9b5a9a79473649fe0042</a:t>
            </a:r>
          </a:p>
          <a:p xmlns:a="http://schemas.openxmlformats.org/drawingml/2006/main">
            <a:r>
              <a:t>https://www.istorex.org/post/russia-december-2024-february-2025</a:t>
            </a:r>
          </a:p>
          <a:p xmlns:a="http://schemas.openxmlformats.org/drawingml/2006/main">
            <a:r>
              <a:t>https://rosinform.ru/news/andrej-belousov-osoboe-znachenie-pridayom-obespecheniyu-voennoj-bezopasnosti-soyuznogo-gosudarstva</a:t>
            </a:r>
          </a:p>
          <a:p xmlns:a="http://schemas.openxmlformats.org/drawingml/2006/main">
            <a:r>
              <a:t>https://xn--b1apnk.xn--p1ai/tpost/nsk7vo4xh1-vstrecha-s-ministrom-oboroni-rossii-i-os</a:t>
            </a:r>
          </a:p>
          <a:p xmlns:a="http://schemas.openxmlformats.org/drawingml/2006/main">
            <a:r>
              <a:t>https://www.rbc.ru/person/62d120d89a79475f0ddd8b5e</a:t>
            </a:r>
          </a:p>
          <a:p xmlns:a="http://schemas.openxmlformats.org/drawingml/2006/main">
            <a:r>
              <a:t>http://scrf.gov.ru/news/allnews/2148/</a:t>
            </a:r>
          </a:p>
          <a:p xmlns:a="http://schemas.openxmlformats.org/drawingml/2006/main">
            <a:r>
              <a:t>https://www.rbc.ru/politics/14/05/2024/6643287b9a7947a8f0b8ba78</a:t>
            </a:r>
          </a:p>
          <a:p xmlns:a="http://schemas.openxmlformats.org/drawingml/2006/main">
            <a:r>
              <a:t>https://tass.ru/info/20789699</a:t>
            </a:r>
          </a:p>
          <a:p xmlns:a="http://schemas.openxmlformats.org/drawingml/2006/main">
            <a:r>
              <a:t>https://marine.org.ru/structure/person/56/</a:t>
            </a:r>
          </a:p>
          <a:p xmlns:a="http://schemas.openxmlformats.org/drawingml/2006/main">
            <a:r>
              <a:t>https://marine.org.ru/publication/smi/16108/</a:t>
            </a:r>
          </a:p>
          <a:p xmlns:a="http://schemas.openxmlformats.org/drawingml/2006/main">
            <a:r>
              <a:t>https://www.svoboda.org/a/30676123.html</a:t>
            </a:r>
          </a:p>
          <a:p xmlns:a="http://schemas.openxmlformats.org/drawingml/2006/main">
            <a:r>
              <a:t>https://aif.ru/society/safety/kuklovodstvo_k_deystviyu_nikolay_patrushev_o_metodah_cvetnyh_revolyuciy</a:t>
            </a:r>
          </a:p>
          <a:p xmlns:a="http://schemas.openxmlformats.org/drawingml/2006/main">
            <a:r>
              <a:t>https://vkrizis.info/vlast/czennosti-razmyvaniya/</a:t>
            </a:r>
          </a:p>
          <a:p xmlns:a="http://schemas.openxmlformats.org/drawingml/2006/main">
            <a:r>
              <a:t>https://infranomica.ru/2026/05/19/selskoe-hozyajstvo-est-rezultat-budet-i-pishha/</a:t>
            </a:r>
          </a:p>
          <a:p xmlns:a="http://schemas.openxmlformats.org/drawingml/2006/main">
            <a:r>
              <a:t>https://www.rbc.ru/person/660400989a79471b36dbb514</a:t>
            </a:r>
          </a:p>
          <a:p xmlns:a="http://schemas.openxmlformats.org/drawingml/2006/main">
            <a:r>
              <a:t>http://special.kremlin.ru/catalog/persons/100/events</a:t>
            </a:r>
          </a:p>
          <a:p xmlns:a="http://schemas.openxmlformats.org/drawingml/2006/main">
            <a:r>
              <a:t>https://nac.gov.ru/view/eb008ff4-1608-4b47-b2a9-3d604c1833c2</a:t>
            </a:r>
          </a:p>
          <a:p xmlns:a="http://schemas.openxmlformats.org/drawingml/2006/main">
            <a:r>
              <a:t>http://pfo.gov.ru/press/events/113336/</a:t>
            </a:r>
          </a:p>
          <a:p xmlns:a="http://schemas.openxmlformats.org/drawingml/2006/main">
            <a:r>
              <a:t>https://www.opensanctions.org/entities/Q516824/</a:t>
            </a:r>
          </a:p>
          <a:p xmlns:a="http://schemas.openxmlformats.org/drawingml/2006/main">
            <a:r>
              <a:t>https://www.agents.media/ssha-poprobuyut-vozobnovit-peregovory-o-mire-v-ukraine-cherez-glavu-fsb-che-vedomstvo-kak-schitaetsya-svoimi-dokladami-podtolknulo-putina-k-vojne/</a:t>
            </a:r>
          </a:p>
          <a:p xmlns:a="http://schemas.openxmlformats.org/drawingml/2006/main">
            <a:r>
              <a:t>https://letters.kremlin.ru/news/receptions/by-section/assignments/by-person/260</a:t>
            </a:r>
          </a:p>
          <a:p xmlns:a="http://schemas.openxmlformats.org/drawingml/2006/main">
            <a:r>
              <a:t>https://www.kommersant.ru/doc/3612580</a:t>
            </a:r>
          </a:p>
          <a:p xmlns:a="http://schemas.openxmlformats.org/drawingml/2006/main">
            <a:r>
              <a:t>https://fbk.info/ru/investigations/kirienko-kholyi-putina</a:t>
            </a:r>
          </a:p>
          <a:p xmlns:a="http://schemas.openxmlformats.org/drawingml/2006/main">
            <a:r>
              <a:t>https://utro02.tv/2022/05/24/kolebaniya-kirienok/</a:t>
            </a:r>
          </a:p>
          <a:p xmlns:a="http://schemas.openxmlformats.org/drawingml/2006/main">
            <a:r>
              <a:t>https://meduza.io/feature/2023/12/19/on-peresidel-v-svoem-kresle-v-kremle-i-pravitelstve-obsuzhdayut-chto-sergey-kirienko-mozhet-lishitsya-dolzhnosti-v-ap-posle-vyborov-prezidenta</a:t>
            </a:r>
          </a:p>
          <a:p xmlns:a="http://schemas.openxmlformats.org/drawingml/2006/main">
            <a:r>
              <a:t>https://verstka.media/kak-rossiya-prodvigaet-svoyu-molodezhnuyu-politiku-na-okkupirovannyh-territoriyah</a:t>
            </a:r>
          </a:p>
          <a:p xmlns:a="http://schemas.openxmlformats.org/drawingml/2006/main">
            <a:r>
              <a:t>https://dnrnews.ru/society/2025/09/04/1167117.html</a:t>
            </a:r>
          </a:p>
          <a:p xmlns:a="http://schemas.openxmlformats.org/drawingml/2006/main">
            <a:r>
              <a:t>https://www.tadviser.ru/index.php/%D0%9F%D0%B5%D1%80%D1%81%D0%BE%D0%BD%D0%B0:%D0%9A%D0%B8%D1%80%D0%B8%D0%B5%D0%BD%D0%BA%D0%BE_%D0%A1%D0%B5%D1%80%D0%B3%D0%B5%D0%B9_%D0%92%D0%BB%D0%B0%D0%B4%D0%B8%D0%BB%D0%B5%D0%BD%D0%BE%D0%B2%D0%B8%D1%87</a:t>
            </a:r>
          </a:p>
          <a:p xmlns:a="http://schemas.openxmlformats.org/drawingml/2006/main">
            <a:r>
              <a:t>https://tass.ru/politika/18225741</a:t>
            </a:r>
          </a:p>
          <a:p xmlns:a="http://schemas.openxmlformats.org/drawingml/2006/main">
            <a:r>
              <a:t>https://www.kommersant.ru/doc/6187168</a:t>
            </a:r>
          </a:p>
          <a:p xmlns:a="http://schemas.openxmlformats.org/drawingml/2006/main">
            <a:r>
              <a:t>https://duma.gov.ru/news/63383/</a:t>
            </a:r>
          </a:p>
          <a:p xmlns:a="http://schemas.openxmlformats.org/drawingml/2006/main">
            <a:r>
              <a:t>http://duma.gov.ru/en/duma/persons/99100829/news/</a:t>
            </a:r>
          </a:p>
          <a:p xmlns:a="http://schemas.openxmlformats.org/drawingml/2006/main">
            <a:r>
              <a:t>http://duma.gov.ru/en/news/62248/</a:t>
            </a:r>
          </a:p>
          <a:p xmlns:a="http://schemas.openxmlformats.org/drawingml/2006/main">
            <a:r>
              <a:t>http://duma.gov.ru/en/news/61352/</a:t>
            </a:r>
          </a:p>
          <a:p xmlns:a="http://schemas.openxmlformats.org/drawingml/2006/main">
            <a:r>
              <a:t>http://duma.gov.ru/en/news/64178/</a:t>
            </a:r>
          </a:p>
          <a:p xmlns:a="http://schemas.openxmlformats.org/drawingml/2006/main">
            <a:r>
              <a:t>http://duma.gov.ru/en/news/64216</a:t>
            </a:r>
          </a:p>
          <a:p xmlns:a="http://schemas.openxmlformats.org/drawingml/2006/main">
            <a:r>
              <a:t>http://duma.gov.ru/en/news/64239</a:t>
            </a:r>
          </a:p>
          <a:p xmlns:a="http://schemas.openxmlformats.org/drawingml/2006/main">
            <a:r>
              <a:t>https://en.wikipedia.org/wiki/Vyacheslav_Volodin</a:t>
            </a:r>
          </a:p>
          <a:p xmlns:a="http://schemas.openxmlformats.org/drawingml/2006/main">
            <a:r>
              <a:t>http://duma.gov.ru/news/56060/</a:t>
            </a:r>
          </a:p>
          <a:p xmlns:a="http://schemas.openxmlformats.org/drawingml/2006/main">
            <a:r>
              <a:t>http://duma.gov.ru/news/60448/</a:t>
            </a:r>
          </a:p>
          <a:p xmlns:a="http://schemas.openxmlformats.org/drawingml/2006/main">
            <a:r>
              <a:t>http://duma.gov.ru/news/61362/</a:t>
            </a:r>
          </a:p>
          <a:p xmlns:a="http://schemas.openxmlformats.org/drawingml/2006/main">
            <a:r>
              <a:t>http://duma.gov.ru/news/61384/</a:t>
            </a:r>
          </a:p>
          <a:p xmlns:a="http://schemas.openxmlformats.org/drawingml/2006/main">
            <a:r>
              <a:t>http://duma.gov.ru/news/61874/</a:t>
            </a:r>
          </a:p>
          <a:p xmlns:a="http://schemas.openxmlformats.org/drawingml/2006/main">
            <a:r>
              <a:t>http://duma.gov.ru/news/62022/</a:t>
            </a:r>
          </a:p>
          <a:p xmlns:a="http://schemas.openxmlformats.org/drawingml/2006/main">
            <a:r>
              <a:t>http://duma.gov.ru/news/63772/</a:t>
            </a:r>
          </a:p>
          <a:p xmlns:a="http://schemas.openxmlformats.org/drawingml/2006/main">
            <a:r>
              <a:t>https://council.gov.ru/events/news/160466/</a:t>
            </a:r>
          </a:p>
          <a:p xmlns:a="http://schemas.openxmlformats.org/drawingml/2006/main">
            <a:r>
              <a:t>http://council.gov.ru/structure/persons/257/</a:t>
            </a:r>
          </a:p>
          <a:p xmlns:a="http://schemas.openxmlformats.org/drawingml/2006/main">
            <a:r>
              <a:t>https://interaffairs.ru/news/show/16199</a:t>
            </a:r>
          </a:p>
          <a:p xmlns:a="http://schemas.openxmlformats.org/drawingml/2006/main">
            <a:r>
              <a:t>https://www.rbc.ru/person/617fb5ef9a79475c6cfc4502</a:t>
            </a:r>
          </a:p>
          <a:p xmlns:a="http://schemas.openxmlformats.org/drawingml/2006/main">
            <a:r>
              <a:t>https://vksrs.com/publications/matvienko-rasskazala-o-neobkhodimosti-protivostoyat-geroizatsii-natsistov/</a:t>
            </a:r>
          </a:p>
          <a:p xmlns:a="http://schemas.openxmlformats.org/drawingml/2006/main">
            <a:r>
              <a:t>https://absatz.media/politika/158438-valentine-matvienko-77-istoriya-uspeha-put-k-vershine-i-samye-yarkie-zayavleniya</a:t>
            </a:r>
          </a:p>
          <a:p xmlns:a="http://schemas.openxmlformats.org/drawingml/2006/main">
            <a:r>
              <a:t>https://www.rbc.ru/society/14/10/2026/6acf597c9a794743e0478a15?from=short_news</a:t>
            </a:r>
          </a:p>
          <a:p xmlns:a="http://schemas.openxmlformats.org/drawingml/2006/main">
            <a:r>
              <a:t>https://senatinform.ru/news/sf_stremitsya_byt_maksimalno_otkrytym_dlya_raboty_zhurnalistov_matvienko/</a:t>
            </a:r>
          </a:p>
          <a:p xmlns:a="http://schemas.openxmlformats.org/drawingml/2006/main">
            <a:r>
              <a:t>https://eparlament.irzs.ru/Files/getFile/11853</a:t>
            </a:r>
          </a:p>
          <a:p xmlns:a="http://schemas.openxmlformats.org/drawingml/2006/main">
            <a:r>
              <a:t>http://special.council.gov.ru/activity/meetings/170703/transcript/</a:t>
            </a:r>
          </a:p>
          <a:p xmlns:a="http://schemas.openxmlformats.org/drawingml/2006/main">
            <a:r>
              <a:t>https://bookonlime.ru/lecture/12-razvitie-ekonomicheskih-otnosheniy-i-strategicheskoe-planirovanie-v-cifrovoy-ekonomike-2</a:t>
            </a:r>
          </a:p>
          <a:p xmlns:a="http://schemas.openxmlformats.org/drawingml/2006/main">
            <a:r>
              <a:t>https://ru.wikipedia.org/wiki/Песков,_Дмитрий_Сергеевич</a:t>
            </a:r>
          </a:p>
          <a:p xmlns:a="http://schemas.openxmlformats.org/drawingml/2006/main">
            <a:r>
              <a:t>https://www.reuters.com/world/europe/kremlin-says-ukraine-is-now-paying-price-its-own-attacks-russia-2026-09-28/</a:t>
            </a:r>
          </a:p>
          <a:p xmlns:a="http://schemas.openxmlformats.org/drawingml/2006/main">
            <a:r>
              <a:t>https://www.reuters.com/world/europe/kremlin-rejects-le-penbardella-rebuke-says-russia-is-no-threat-france-2026-09-21/</a:t>
            </a:r>
          </a:p>
          <a:p xmlns:a="http://schemas.openxmlformats.org/drawingml/2006/main">
            <a:r>
              <a:t>https://theins.ru/antifake/295208</a:t>
            </a:r>
          </a:p>
          <a:p xmlns:a="http://schemas.openxmlformats.org/drawingml/2006/main">
            <a:r>
              <a:t>https://expert.ru/news/v-kremle-otvetili-na-slova-donalda-trampa-o-rossiyskom-vmeshatelstve</a:t>
            </a:r>
          </a:p>
          <a:p xmlns:a="http://schemas.openxmlformats.org/drawingml/2006/main">
            <a:r>
              <a:t>https://www.dw.com/ru/dmitrij-peskov/t-18146676/page-1</a:t>
            </a:r>
          </a:p>
          <a:p xmlns:a="http://schemas.openxmlformats.org/drawingml/2006/main">
            <a:r>
              <a:t>https://www.pnp.ru/person/dmitriy--peskov/</a:t>
            </a:r>
          </a:p>
          <a:p xmlns:a="http://schemas.openxmlformats.org/drawingml/2006/main">
            <a:r>
              <a:t>https://www.rbc.ua/ukr/dossier/peskov-19032015</a:t>
            </a:r>
          </a:p>
          <a:p xmlns:a="http://schemas.openxmlformats.org/drawingml/2006/main">
            <a:r>
              <a:t>https://www.rbc.ru/politics/12/10/2026/6accae3bb18f4460834ce063</a:t>
            </a:r>
          </a:p>
          <a:p xmlns:a="http://schemas.openxmlformats.org/drawingml/2006/main">
            <a:r>
              <a:t>https://tass.ru/politika/20355193</a:t>
            </a:r>
          </a:p>
          <a:p xmlns:a="http://schemas.openxmlformats.org/drawingml/2006/main">
            <a:r>
              <a:t>https://www.m24.ru/news/06052024/689412</a:t>
            </a:r>
          </a:p>
          <a:p xmlns:a="http://schemas.openxmlformats.org/drawingml/2006/main">
            <a:r>
              <a:t>http://www.kremlin.ru/acts/bank/48502</a:t>
            </a:r>
          </a:p>
          <a:p xmlns:a="http://schemas.openxmlformats.org/drawingml/2006/main">
            <a:r>
              <a:t>https://www.m24.ru/news/11022025/769070</a:t>
            </a:r>
          </a:p>
          <a:p xmlns:a="http://schemas.openxmlformats.org/drawingml/2006/main">
            <a:r>
              <a:t>https://www.m24.ru/news/23042026/894202</a:t>
            </a:r>
          </a:p>
          <a:p xmlns:a="http://schemas.openxmlformats.org/drawingml/2006/main">
            <a:r>
              <a:t>https://cbr.ru/about_br/nabiullinaes/</a:t>
            </a:r>
          </a:p>
          <a:p xmlns:a="http://schemas.openxmlformats.org/drawingml/2006/main">
            <a:r>
              <a:t>https://cbr.ru/press/event/?id=12840</a:t>
            </a:r>
          </a:p>
          <a:p xmlns:a="http://schemas.openxmlformats.org/drawingml/2006/main">
            <a:r>
              <a:t>https://www.cbr.ru/press/event/?id=12904</a:t>
            </a:r>
          </a:p>
          <a:p xmlns:a="http://schemas.openxmlformats.org/drawingml/2006/main">
            <a:r>
              <a:t>https://cbr.ru/press/event/?id=14033</a:t>
            </a:r>
          </a:p>
          <a:p xmlns:a="http://schemas.openxmlformats.org/drawingml/2006/main">
            <a:r>
              <a:t>https://www.cbr.ru/press/event/?id=12764</a:t>
            </a:r>
          </a:p>
          <a:p xmlns:a="http://schemas.openxmlformats.org/drawingml/2006/main">
            <a:r>
              <a:t>https://kazanfirst.ru/articles/534335</a:t>
            </a:r>
          </a:p>
          <a:p xmlns:a="http://schemas.openxmlformats.org/drawingml/2006/main">
            <a:r>
              <a:t>https://www.rbc.ru/person/65e831449a79476cbfd8e5fd</a:t>
            </a:r>
          </a:p>
          <a:p xmlns:a="http://schemas.openxmlformats.org/drawingml/2006/main">
            <a:r>
              <a:t>https://www.interfax.ru/russia/955290</a:t>
            </a:r>
          </a:p>
          <a:p xmlns:a="http://schemas.openxmlformats.org/drawingml/2006/main">
            <a:r>
              <a:t>https://minfin.gov.ru/ru/press-center/?id_4=38548-intervyu_ministra_finansov_antona_siluanova_gazete_argumenty_i_fakty</a:t>
            </a:r>
          </a:p>
          <a:p xmlns:a="http://schemas.openxmlformats.org/drawingml/2006/main">
            <a:r>
              <a:t>https://minfin.gov.ru/ru/press-center/?id_4=37667-vystuplenie_antona_siluanova_na_plenarnom_zasedanii_v_gosudarstvennoi_dume</a:t>
            </a:r>
          </a:p>
          <a:p xmlns:a="http://schemas.openxmlformats.org/drawingml/2006/main">
            <a:r>
              <a:t>https://www.rbc.ru/economics/24/10/2022/63529d159a7947efb82a59eb</a:t>
            </a:r>
          </a:p>
          <a:p xmlns:a="http://schemas.openxmlformats.org/drawingml/2006/main">
            <a:r>
              <a:t>https://www.rbc.ru/newspaper/2020/02/21/5e4e83289a79474bcf9f8cf9</a:t>
            </a:r>
          </a:p>
          <a:p xmlns:a="http://schemas.openxmlformats.org/drawingml/2006/main">
            <a:r>
              <a:t>https://www.rbc.ru/economics/20/02/2020/5e4e91919a79475559478893</a:t>
            </a:r>
          </a:p>
          <a:p xmlns:a="http://schemas.openxmlformats.org/drawingml/2006/main">
            <a:r>
              <a:t>https://minfin.gov.ru/ru/press-center/?id_4=39336-anton_siluanov_predstavil_na_parlamentskikh_slushaniyakh_v_sovete_federatsii_proekt_byudzheta_na_2025-2027_gg.</a:t>
            </a:r>
          </a:p>
          <a:p xmlns:a="http://schemas.openxmlformats.org/drawingml/2006/main">
            <a:r>
              <a:t>https://www.interfax.ru/amp/1035506</a:t>
            </a:r>
          </a:p>
          <a:p xmlns:a="http://schemas.openxmlformats.org/drawingml/2006/main">
            <a:r>
              <a:t>https://tass.ru/ekonomika/28198121</a:t>
            </a:r>
          </a:p>
          <a:p xmlns:a="http://schemas.openxmlformats.org/drawingml/2006/main">
            <a:r>
              <a:t>https://www.rbc.ru/person/65b9f4369a7947ec8a7f242a</a:t>
            </a:r>
          </a:p>
          <a:p xmlns:a="http://schemas.openxmlformats.org/drawingml/2006/main">
            <a:r>
              <a:t>https://www.bfm.ru/news/435050</a:t>
            </a:r>
          </a:p>
          <a:p xmlns:a="http://schemas.openxmlformats.org/drawingml/2006/main">
            <a:r>
              <a:t>https://ru.ruwiki.ru/wiki/%D0%93%D0%BE%D0%BB%D0%B8%D0%BA%D0%BE%D0%B2%D0%B0,_%D0%A2%D0%B0%D1%82%D1%8C%D1%8F%D0%BD%D0%B0_%D0%90%D0%BB%D0%B5%D0%BA%D1%81%D0%B5%D0%B5%D0%B2%D0%BD%D0%B0</a:t>
            </a:r>
          </a:p>
          <a:p xmlns:a="http://schemas.openxmlformats.org/drawingml/2006/main">
            <a:r>
              <a:t>http://www.kremlin.ru/events/president/transcripts/deliberations%20/77439</a:t>
            </a:r>
          </a:p>
          <a:p xmlns:a="http://schemas.openxmlformats.org/drawingml/2006/main">
            <a:r>
              <a:t>https://xn--90aivcdt6dxbc.xn--p1ai/articles/news/prezident-zdravookhranenie-zanimaet-klyuchevoe-mesto-v-sotsialnoy-politike-rossii/</a:t>
            </a:r>
          </a:p>
          <a:p xmlns:a="http://schemas.openxmlformats.org/drawingml/2006/main">
            <a:r>
              <a:t>https://xn--90aivcdt6dxbc.xn--p1ai/articles/news/tatyana-golikova-edinaya-rossiya-nadezhnyy-soyuznik-i-partner-pravitelstva/</a:t>
            </a:r>
          </a:p>
          <a:p xmlns:a="http://schemas.openxmlformats.org/drawingml/2006/main">
            <a:r>
              <a:t>http://government.ru/news/58648/</a:t>
            </a:r>
          </a:p>
          <a:p xmlns:a="http://schemas.openxmlformats.org/drawingml/2006/main">
            <a:r>
              <a:t>http://government.ru/news/54912/</a:t>
            </a:r>
          </a:p>
          <a:p xmlns:a="http://schemas.openxmlformats.org/drawingml/2006/main">
            <a:r>
              <a:t>http://government.ru/news/58000/</a:t>
            </a:r>
          </a:p>
          <a:p xmlns:a="http://schemas.openxmlformats.org/drawingml/2006/main">
            <a:r>
              <a:t>https://tass.ru/politika/28141547</a:t>
            </a:r>
          </a:p>
          <a:p xmlns:a="http://schemas.openxmlformats.org/drawingml/2006/main">
            <a:r>
              <a:t>https://duma.gov.ru/media/files/smUklOtuNPyzwTneQGCfFUHHIsilAqcm.pdf</a:t>
            </a:r>
          </a:p>
          <a:p xmlns:a="http://schemas.openxmlformats.org/drawingml/2006/main">
            <a:r>
              <a:t>https://kprf.ru/dep/gosduma/activities/187187.html</a:t>
            </a:r>
          </a:p>
          <a:p xmlns:a="http://schemas.openxmlformats.org/drawingml/2006/main">
            <a:r>
              <a:t>http://msk.kprf.ru/2022/08/22/222866/</a:t>
            </a:r>
          </a:p>
          <a:p xmlns:a="http://schemas.openxmlformats.org/drawingml/2006/main">
            <a:r>
              <a:t>https://kprf.ru/party-live/cknews/235903.html</a:t>
            </a:r>
          </a:p>
          <a:p xmlns:a="http://schemas.openxmlformats.org/drawingml/2006/main">
            <a:r>
              <a:t>https://kprf.ru/dep/gosduma/activities/236198.html/print</a:t>
            </a:r>
          </a:p>
          <a:p xmlns:a="http://schemas.openxmlformats.org/drawingml/2006/main">
            <a:r>
              <a:t>https://kprf.ru/dep/gosduma/activities/239812.html</a:t>
            </a:r>
          </a:p>
          <a:p xmlns:a="http://schemas.openxmlformats.org/drawingml/2006/main">
            <a:r>
              <a:t>https://kprf-don.ru/index.php/news/facts/12501-2025-09-15-12-58-35.html</a:t>
            </a:r>
          </a:p>
          <a:p xmlns:a="http://schemas.openxmlformats.org/drawingml/2006/main">
            <a:r>
              <a:t>https://kprf.ru/dep/gosduma/activities/237529.html</a:t>
            </a:r>
          </a:p>
          <a:p xmlns:a="http://schemas.openxmlformats.org/drawingml/2006/main">
            <a:r>
              <a:t>https://novayagazeta.ru/articles/2025/09/19/putin-udivilsia-khodu-zapushchennoi-im-vesnoi-munitsipalnoi-reformy-posle-slov-ziuganova-kak-regiony-dlia-nee-lomali-cherez-koleno-a-tatarstan-otkazalsia-ee-ispolniat-news</a:t>
            </a:r>
          </a:p>
          <a:p xmlns:a="http://schemas.openxmlformats.org/drawingml/2006/main">
            <a:r>
              <a:t>https://kprf.ru/official/2025/11/15/15-noiabria-2025-oda-sostoialsia-ii-noiabrskii-plenum-tsk-kprf/473.html</a:t>
            </a:r>
          </a:p>
          <a:p xmlns:a="http://schemas.openxmlformats.org/drawingml/2006/main">
            <a:r>
              <a:t>https://www.rbc.ru/person/617bfbb79a7947fc327a3bcb</a:t>
            </a:r>
          </a:p>
          <a:p xmlns:a="http://schemas.openxmlformats.org/drawingml/2006/main">
            <a:r>
              <a:t>https://www.bbc.com/russian/features-60873381</a:t>
            </a:r>
          </a:p>
          <a:p xmlns:a="http://schemas.openxmlformats.org/drawingml/2006/main">
            <a:r>
              <a:t>https://www.svoboda.org/a/umer-lider-partii-ldpr-vladimir-zhirinovskiy-nekrolog/31770134.html</a:t>
            </a:r>
          </a:p>
          <a:p xmlns:a="http://schemas.openxmlformats.org/drawingml/2006/main">
            <a:r>
              <a:t>https://www.rbc.ru/politics/06/04/2022/624d661b9a79473f7416fe26</a:t>
            </a:r>
          </a:p>
          <a:p xmlns:a="http://schemas.openxmlformats.org/drawingml/2006/main">
            <a:r>
              <a:t>https://tass.ru/politika/3392889</a:t>
            </a:r>
          </a:p>
          <a:p xmlns:a="http://schemas.openxmlformats.org/drawingml/2006/main">
            <a:r>
              <a:t>https://www.pnp.ru/politics/2016/06/28/v-centre-predvybornoy-programmy-ldpr-russkiy-vopros.html</a:t>
            </a:r>
          </a:p>
          <a:p xmlns:a="http://schemas.openxmlformats.org/drawingml/2006/main">
            <a:r>
              <a:t>https://ldpr.ru/party/history/</a:t>
            </a:r>
          </a:p>
          <a:p xmlns:a="http://schemas.openxmlformats.org/drawingml/2006/main">
            <a:r>
              <a:t>https://govoritmoskva.ru/interviews/1023/</a:t>
            </a:r>
          </a:p>
          <a:p xmlns:a="http://schemas.openxmlformats.org/drawingml/2006/main">
            <a:r>
              <a:t>https://www.gazeta.ru/politics/2017/03/17_a_10580999.shtml</a:t>
            </a:r>
          </a:p>
          <a:p xmlns:a="http://schemas.openxmlformats.org/drawingml/2006/main">
            <a:r>
              <a:t>https://ldpr.ru/upload/iblock/c88/1d6dstdexz6aw7dnwoubeobhr3mnwa1j/a799616e688866c49f2ef6b5b8cfe5c00d45080ae85ce0e5f6d36e2e010681d9.pdf</a:t>
            </a:r>
          </a:p>
          <a:p xmlns:a="http://schemas.openxmlformats.org/drawingml/2006/main">
            <a:r>
              <a:t>https://www.kommersant.ru/doc/3579566</a:t>
            </a:r>
          </a:p>
          <a:p xmlns:a="http://schemas.openxmlformats.org/drawingml/2006/main">
            <a:r>
              <a:t>https://spb.ldpr.ru/event/243915/</a:t>
            </a:r>
          </a:p>
          <a:p xmlns:a="http://schemas.openxmlformats.org/drawingml/2006/main">
            <a:r>
              <a:t>https://kursk.ldpr.ru/event/341398</a:t>
            </a:r>
          </a:p>
          <a:p xmlns:a="http://schemas.openxmlformats.org/drawingml/2006/main">
            <a:r>
              <a:t>https://cyberleninka.ru/article/n/sravnitelnyy-analiz-predvybornyh-programm-ldpr-na-vyborah-2021-g-i-l-e-slutskogo-na-vyborah-2024-g</a:t>
            </a:r>
          </a:p>
          <a:p xmlns:a="http://schemas.openxmlformats.org/drawingml/2006/main">
            <a:r>
              <a:t>https://kcr.ldpr.ru/event/347999/</a:t>
            </a:r>
          </a:p>
          <a:p xmlns:a="http://schemas.openxmlformats.org/drawingml/2006/main">
            <a:r>
              <a:t>https://msknews77.ru/society/2025/09/25/73500.html</a:t>
            </a:r>
          </a:p>
          <a:p xmlns:a="http://schemas.openxmlformats.org/drawingml/2006/main">
            <a:r>
              <a:t>https://bagaevka-press.ru/besplatnyj-zemelnyj-uchastok-dlya-semej-inicziativa-ldpr/</a:t>
            </a:r>
          </a:p>
          <a:p xmlns:a="http://schemas.openxmlformats.org/drawingml/2006/main">
            <a:r>
              <a:t>https://ldpr.ru/event/437527/</a:t>
            </a:r>
          </a:p>
          <a:p xmlns:a="http://schemas.openxmlformats.org/drawingml/2006/main">
            <a:r>
              <a:t>https://rg62.info/2025/11/01/leonid-sluczkij-vstupilsya-za-multserial-masha-i-medved/</a:t>
            </a:r>
          </a:p>
          <a:p xmlns:a="http://schemas.openxmlformats.org/drawingml/2006/main">
            <a:r>
              <a:t>https://mironov.ru/officially</a:t>
            </a:r>
          </a:p>
          <a:p xmlns:a="http://schemas.openxmlformats.org/drawingml/2006/main">
            <a:r>
              <a:t>https://mironov.ru/bio</a:t>
            </a:r>
          </a:p>
          <a:p xmlns:a="http://schemas.openxmlformats.org/drawingml/2006/main">
            <a:r>
              <a:t>https://mironov-online.ru/category/zayavleniya/</a:t>
            </a:r>
          </a:p>
          <a:p xmlns:a="http://schemas.openxmlformats.org/drawingml/2006/main">
            <a:r>
              <a:t>https://www.rbc.ru/person/69806d279a7947baf86c32c5</a:t>
            </a:r>
          </a:p>
          <a:p xmlns:a="http://schemas.openxmlformats.org/drawingml/2006/main">
            <a:r>
              <a:t>https://spravedlivo.ru/16303010</a:t>
            </a:r>
          </a:p>
          <a:p xmlns:a="http://schemas.openxmlformats.org/drawingml/2006/main">
            <a:r>
              <a:t>http://mironov.ru/15133910</a:t>
            </a:r>
          </a:p>
          <a:p xmlns:a="http://schemas.openxmlformats.org/drawingml/2006/main">
            <a:r>
              <a:t>http://www.special.spravedlivo.ru/5_140609.html</a:t>
            </a:r>
          </a:p>
          <a:p xmlns:a="http://schemas.openxmlformats.org/drawingml/2006/main">
            <a:r>
              <a:t>https://spravedlivo.ru/14681110</a:t>
            </a:r>
          </a:p>
          <a:p xmlns:a="http://schemas.openxmlformats.org/drawingml/2006/main">
            <a:r>
              <a:t>https://radiokp.ru/podcast/dialogi-na-radio-kp/759263</a:t>
            </a:r>
          </a:p>
          <a:p xmlns:a="http://schemas.openxmlformats.org/drawingml/2006/main">
            <a:r>
              <a:t>https://mironov.ru/51339910</a:t>
            </a:r>
          </a:p>
          <a:p xmlns:a="http://schemas.openxmlformats.org/drawingml/2006/main">
            <a:r>
              <a:t>https://mironov-online.ru/news/mironov-na-ukraine-idet-bitva-za-budushhee-vsego-chelovechestva-i-pobeda-v-nej-budet-za-rossiej/</a:t>
            </a:r>
          </a:p>
          <a:p xmlns:a="http://schemas.openxmlformats.org/drawingml/2006/main">
            <a:r>
              <a:t>https://spravedlivo.ru/12544510</a:t>
            </a:r>
          </a:p>
          <a:p xmlns:a="http://schemas.openxmlformats.org/drawingml/2006/main">
            <a:r>
              <a:t>https://www.rbc.ru/person/6aa3ef199a79475758621730</a:t>
            </a:r>
          </a:p>
          <a:p xmlns:a="http://schemas.openxmlformats.org/drawingml/2006/main">
            <a:r>
              <a:t>https://www.rbc.ru/politics/24/09/2021/614da73f9a7947b5e3d9399f</a:t>
            </a:r>
          </a:p>
          <a:p xmlns:a="http://schemas.openxmlformats.org/drawingml/2006/main">
            <a:r>
              <a:t>https://amp.rbc.ru/rbcnews/base/14/08/2026/6a957dfb9a79476ae3d823ba</a:t>
            </a:r>
          </a:p>
          <a:p xmlns:a="http://schemas.openxmlformats.org/drawingml/2006/main">
            <a:r>
              <a:t>https://en.wikipedia.org/wiki/Alexey_Nechayev</a:t>
            </a:r>
          </a:p>
          <a:p xmlns:a="http://schemas.openxmlformats.org/drawingml/2006/main">
            <a:r>
              <a:t>https://www.gazeta.ru/politics/23422027/novye-lyudi-na-vyborah-2026-goda.shtml</a:t>
            </a:r>
          </a:p>
          <a:p xmlns:a="http://schemas.openxmlformats.org/drawingml/2006/main">
            <a:r>
              <a:t>https://vremya-bir.ru/2026/03/07/dvenadtsat-shagov-k-strane-v-kotoroj-hochetsya-zhit/</a:t>
            </a:r>
          </a:p>
          <a:p xmlns:a="http://schemas.openxmlformats.org/drawingml/2006/main">
            <a:r>
              <a:t>https://www.rbc.ru/politics/08/09/2026/6aa023ec9a79471e4fd55d3c</a:t>
            </a:r>
          </a:p>
          <a:p xmlns:a="http://schemas.openxmlformats.org/drawingml/2006/main">
            <a:r>
              <a:t>https://www.interfax.ru/interview/1074248</a:t>
            </a:r>
          </a:p>
          <a:p xmlns:a="http://schemas.openxmlformats.org/drawingml/2006/main">
            <a:r>
              <a:t>https://www.interfax.ru/amp/1074248</a:t>
            </a:r>
          </a:p>
          <a:p xmlns:a="http://schemas.openxmlformats.org/drawingml/2006/main">
            <a:r>
              <a:t>https://www.vedomosti.ru/politics/articles/2026/09/09/1227352-novie-lyudi-sformulirovali-programmu</a:t>
            </a:r>
          </a:p>
          <a:p xmlns:a="http://schemas.openxmlformats.org/drawingml/2006/main">
            <a:r>
              <a:t>https://dddkursk.ru/lenta/2026/07/30/129483/</a:t>
            </a:r>
          </a:p>
          <a:p xmlns:a="http://schemas.openxmlformats.org/drawingml/2006/main">
            <a:r>
              <a:t>https://volga.news/article/803292.html</a:t>
            </a:r>
          </a:p>
          <a:p xmlns:a="http://schemas.openxmlformats.org/drawingml/2006/main">
            <a:r>
              <a:t>https://ru.wikipedia.org/wiki/%D0%9D%D0%B5%D1%87%D0%B0%D0%B5%D0%B2,_%D0%90%D0%BB%D0%B5%D0%BA%D1%81%D0%B5%D0%B9_%D0%93%D0%B5%D0%BD%D0%BD%D0%B0%D0%B4%D1%8C%D0%B5%D0%B2%D0%B8%D1%87</a:t>
            </a:r>
          </a:p>
          <a:p xmlns:a="http://schemas.openxmlformats.org/drawingml/2006/main">
            <a:r>
              <a:t>https://www.davankov2024.ru/page_biography/</a:t>
            </a:r>
          </a:p>
          <a:p xmlns:a="http://schemas.openxmlformats.org/drawingml/2006/main">
            <a:r>
              <a:t>https://davankov2024.ru/program</a:t>
            </a:r>
          </a:p>
          <a:p xmlns:a="http://schemas.openxmlformats.org/drawingml/2006/main">
            <a:r>
              <a:t>http://vote.duma.gov.ru/?convocation=AAAAAAA8&amp;deputy=99113489&amp;sort=date_desc</a:t>
            </a:r>
          </a:p>
          <a:p xmlns:a="http://schemas.openxmlformats.org/drawingml/2006/main">
            <a:r>
              <a:t>https://holod.media/2024/02/14/vladislav-davankov/</a:t>
            </a:r>
          </a:p>
          <a:p xmlns:a="http://schemas.openxmlformats.org/drawingml/2006/main">
            <a:r>
              <a:t>https://davankov2024.ru/</a:t>
            </a:r>
          </a:p>
          <a:p xmlns:a="http://schemas.openxmlformats.org/drawingml/2006/main">
            <a:r>
              <a:t>https://novayagazeta.eu/articles/2024/02/15/davankov-predstavil-predvybornuiu-programmu-bez-amnistii-politzakliuchennykh-i-s-namereniem-dobitsia-mira-na-nashikh-usloviiakh-news</a:t>
            </a:r>
          </a:p>
          <a:p xmlns:a="http://schemas.openxmlformats.org/drawingml/2006/main">
            <a:r>
              <a:t>https://www.kavkaz-uzel.eu/articles/398113</a:t>
            </a:r>
          </a:p>
          <a:p xmlns:a="http://schemas.openxmlformats.org/drawingml/2006/main">
            <a:r>
              <a:t>https://echofm.online/portret-dnya/portret-dnya-vladislav-davankov-kandidat-v-prezidenty-rossii</a:t>
            </a:r>
          </a:p>
          <a:p xmlns:a="http://schemas.openxmlformats.org/drawingml/2006/main">
            <a:r>
              <a:t>https://t.me/s/davankov?before=788</a:t>
            </a:r>
          </a:p>
          <a:p xmlns:a="http://schemas.openxmlformats.org/drawingml/2006/main">
            <a:r>
              <a:t>https://zaharprilepin.ru/ru/bio/</a:t>
            </a:r>
          </a:p>
          <a:p xmlns:a="http://schemas.openxmlformats.org/drawingml/2006/main">
            <a:r>
              <a:t>https://zaharprilepin.ru/ru/video/zapisi-vistuplenij/intervju/</a:t>
            </a:r>
          </a:p>
          <a:p xmlns:a="http://schemas.openxmlformats.org/drawingml/2006/main">
            <a:r>
              <a:t>https://zaharprilepin.ru/ru/pressa/intervyu/na-harkov.html</a:t>
            </a:r>
          </a:p>
          <a:p xmlns:a="http://schemas.openxmlformats.org/drawingml/2006/main">
            <a:r>
              <a:t>https://www.kommersant.ru/doc/4141912</a:t>
            </a:r>
          </a:p>
          <a:p xmlns:a="http://schemas.openxmlformats.org/drawingml/2006/main">
            <a:r>
              <a:t>https://novayagazeta.eu/articles/2023/05/06/plokhoi-uchenik-limonova</a:t>
            </a:r>
          </a:p>
          <a:p xmlns:a="http://schemas.openxmlformats.org/drawingml/2006/main">
            <a:r>
              <a:t>https://tass.ru/politika/11761037</a:t>
            </a:r>
          </a:p>
          <a:p xmlns:a="http://schemas.openxmlformats.org/drawingml/2006/main">
            <a:r>
              <a:t>https://www.nn.ru/text/politics/2021/10/11/70186523/</a:t>
            </a:r>
          </a:p>
          <a:p xmlns:a="http://schemas.openxmlformats.org/drawingml/2006/main">
            <a:r>
              <a:t>https://www.zaks.ru/new/archive/view/267194</a:t>
            </a:r>
          </a:p>
          <a:p xmlns:a="http://schemas.openxmlformats.org/drawingml/2006/main">
            <a:r>
              <a:t>https://spravedlivo.ru/11288710</a:t>
            </a:r>
          </a:p>
          <a:p xmlns:a="http://schemas.openxmlformats.org/drawingml/2006/main">
            <a:r>
              <a:t>https://www.kommersant.ru/doc/4241515</a:t>
            </a:r>
          </a:p>
          <a:p xmlns:a="http://schemas.openxmlformats.org/drawingml/2006/main">
            <a:r>
              <a:t>https://zaharprilepin.ru/ru/pressa/intervyu/radio-komsomolskaja-pravda-10022021.html</a:t>
            </a:r>
          </a:p>
          <a:p xmlns:a="http://schemas.openxmlformats.org/drawingml/2006/main">
            <a:r>
              <a:t>https://pozneronline.ru/2024/04/36826/</a:t>
            </a:r>
          </a:p>
          <a:p xmlns:a="http://schemas.openxmlformats.org/drawingml/2006/main">
            <a:r>
              <a:t>https://www.rbc.ru/person/62a85a259a7947b9ae5d6360</a:t>
            </a:r>
          </a:p>
          <a:p xmlns:a="http://schemas.openxmlformats.org/drawingml/2006/main">
            <a:r>
              <a:t>https://tass.ru/encyclopedia/person/poklonskaya-natalya-vladimirovna</a:t>
            </a:r>
          </a:p>
          <a:p xmlns:a="http://schemas.openxmlformats.org/drawingml/2006/main">
            <a:r>
              <a:t>https://tass.ru/tag/poklonskaya-natalya-vladimirovna</a:t>
            </a:r>
          </a:p>
          <a:p xmlns:a="http://schemas.openxmlformats.org/drawingml/2006/main">
            <a:r>
              <a:t>https://www.bbc.com/russian/features-44801571</a:t>
            </a:r>
          </a:p>
          <a:p xmlns:a="http://schemas.openxmlformats.org/drawingml/2006/main">
            <a:r>
              <a:t>https://www.rbc.ru/rbcfreenews/5ba8bd499a794792294ba05d</a:t>
            </a:r>
          </a:p>
          <a:p xmlns:a="http://schemas.openxmlformats.org/drawingml/2006/main">
            <a:r>
              <a:t>https://www.dp.ru/a/2018/08/31/Poklonskaja_otreazirovala</a:t>
            </a:r>
          </a:p>
          <a:p xmlns:a="http://schemas.openxmlformats.org/drawingml/2006/main">
            <a:r>
              <a:t>https://www.themoscowtimes.com/2022/06/13/former-crimea-prosecutor-dismissed-after-anti-war-comments-a77983</a:t>
            </a:r>
          </a:p>
          <a:p xmlns:a="http://schemas.openxmlformats.org/drawingml/2006/main">
            <a:r>
              <a:t>https://www.rbc.ru/politics/30/06/2023/649dee189a79473e3fdc8906</a:t>
            </a:r>
          </a:p>
          <a:p xmlns:a="http://schemas.openxmlformats.org/drawingml/2006/main">
            <a:r>
              <a:t>http://council.gov.ru/structure/persons/1044/</a:t>
            </a:r>
          </a:p>
          <a:p xmlns:a="http://schemas.openxmlformats.org/drawingml/2006/main">
            <a:r>
              <a:t>http://council.gov.ru/services/reference/9156/</a:t>
            </a:r>
          </a:p>
          <a:p xmlns:a="http://schemas.openxmlformats.org/drawingml/2006/main">
            <a:r>
              <a:t>http://council.gov.ru/events/news/135415/</a:t>
            </a:r>
          </a:p>
          <a:p xmlns:a="http://schemas.openxmlformats.org/drawingml/2006/main">
            <a:r>
              <a:t>https://24smi.org/celebrity/1156-elena-mizulina.html</a:t>
            </a:r>
          </a:p>
          <a:p xmlns:a="http://schemas.openxmlformats.org/drawingml/2006/main">
            <a:r>
              <a:t>https://www.bfometr.ru/blog/elena-mizulina</a:t>
            </a:r>
          </a:p>
          <a:p xmlns:a="http://schemas.openxmlformats.org/drawingml/2006/main">
            <a:r>
              <a:t>https://www.rbc.ru/society/30/03/2018/5abe1b849a79470dc3826f68</a:t>
            </a:r>
          </a:p>
          <a:p xmlns:a="http://schemas.openxmlformats.org/drawingml/2006/main">
            <a:r>
              <a:t>https://uznayvse.ru/znamenitosti/biografiya-elena-mizulina.html</a:t>
            </a:r>
          </a:p>
          <a:p xmlns:a="http://schemas.openxmlformats.org/drawingml/2006/main">
            <a:r>
              <a:t>https://radiokp.ru/people/elena-mizulina</a:t>
            </a:r>
          </a:p>
          <a:p xmlns:a="http://schemas.openxmlformats.org/drawingml/2006/main">
            <a:r>
              <a:t>https://ru.wikipedia.org/wiki/%D0%9C%D0%B8%D0%B7%D1%83%D0%BB%D0%B8%D0%BD%D0%B0,_%D0%95%D0%BB%D0%B5%D0%BD%D0%B0_%D0%91%D0%BE%D1%80%D0%B8%D1%81%D0%BE%D0%B2%D0%BD%D0%B0</a:t>
            </a:r>
          </a:p>
          <a:p xmlns:a="http://schemas.openxmlformats.org/drawingml/2006/main">
            <a:r>
              <a:t>https://ru.wikipedia.org/wiki/Милонов,_Виталий_Валентинович</a:t>
            </a:r>
          </a:p>
          <a:p xmlns:a="http://schemas.openxmlformats.org/drawingml/2006/main">
            <a:r>
              <a:t>https://tass.ru/encyclopedia/person/milonov-vitaliy-valentinovich</a:t>
            </a:r>
          </a:p>
          <a:p xmlns:a="http://schemas.openxmlformats.org/drawingml/2006/main">
            <a:r>
              <a:t>https://www.pnp.ru/person/vitaliy-milonov/</a:t>
            </a:r>
          </a:p>
          <a:p xmlns:a="http://schemas.openxmlformats.org/drawingml/2006/main">
            <a:r>
              <a:t>https://www.zaks.ru/new/person/view/172</a:t>
            </a:r>
          </a:p>
          <a:p xmlns:a="http://schemas.openxmlformats.org/drawingml/2006/main">
            <a:r>
              <a:t>https://svpressa.ru/persons/vitaliy-milonov/</a:t>
            </a:r>
          </a:p>
          <a:p xmlns:a="http://schemas.openxmlformats.org/drawingml/2006/main">
            <a:r>
              <a:t>https://stuki-druki.com/authors/Milonov-Vitaliy.php</a:t>
            </a:r>
          </a:p>
          <a:p xmlns:a="http://schemas.openxmlformats.org/drawingml/2006/main">
            <a:r>
              <a:t>https://pa.inion.ru/persons/7104/</a:t>
            </a:r>
          </a:p>
          <a:p xmlns:a="http://schemas.openxmlformats.org/drawingml/2006/main">
            <a:r>
              <a:t>https://pa.inion.ru/documents/16503/</a:t>
            </a:r>
          </a:p>
          <a:p xmlns:a="http://schemas.openxmlformats.org/drawingml/2006/main">
            <a:r>
              <a:t>https://pa.inion.ru/documents/27860/</a:t>
            </a:r>
          </a:p>
          <a:p xmlns:a="http://schemas.openxmlformats.org/drawingml/2006/main">
            <a:r>
              <a:t>https://kprf.ru/personal/ostanina</a:t>
            </a:r>
          </a:p>
          <a:p xmlns:a="http://schemas.openxmlformats.org/drawingml/2006/main">
            <a:r>
              <a:t>https://pa.inion.ru/documents/25577/</a:t>
            </a:r>
          </a:p>
          <a:p xmlns:a="http://schemas.openxmlformats.org/drawingml/2006/main">
            <a:r>
              <a:t>https://kprf.ru/dep/gosduma/activities/245108.html</a:t>
            </a:r>
          </a:p>
          <a:p xmlns:a="http://schemas.openxmlformats.org/drawingml/2006/main">
            <a:r>
              <a:t>https://www.pnp.ru/social/zashhita-detskogo-byudzheta-kruzhki-sokhranit-vyplaty-iz-matkapitala-uvelichit.html</a:t>
            </a:r>
          </a:p>
          <a:p xmlns:a="http://schemas.openxmlformats.org/drawingml/2006/main">
            <a:r>
              <a:t>https://www.pnp.ru/state-duma/nina-ostanina-o-byudzhete-na-2027-2029-gody-semeynoy-ipoteke-i-matkapitale.html</a:t>
            </a:r>
          </a:p>
          <a:p xmlns:a="http://schemas.openxmlformats.org/drawingml/2006/main">
            <a:r>
              <a:t>https://uznayvse.ru/znamenitosti/biografiya-nina-ostanina.html</a:t>
            </a:r>
          </a:p>
          <a:p xmlns:a="http://schemas.openxmlformats.org/drawingml/2006/main">
            <a:r>
              <a:t>https://dumatv.ru/news/ostanina--borba-za-mirovozzrencheskii-suverenitet-stanovitsya-gosudarstvennoi-politikoi</a:t>
            </a:r>
          </a:p>
          <a:p xmlns:a="http://schemas.openxmlformats.org/drawingml/2006/main">
            <a:r>
              <a:t>https://kprf.ru/dep/gosduma/activities/242132.html</a:t>
            </a:r>
          </a:p>
          <a:p xmlns:a="http://schemas.openxmlformats.org/drawingml/2006/main">
            <a:r>
              <a:t>https://www.business-gazeta.ru/article/625616</a:t>
            </a:r>
          </a:p>
          <a:p xmlns:a="http://schemas.openxmlformats.org/drawingml/2006/main">
            <a:r>
              <a:t>https://www.kommersant.ru/doc/3235400</a:t>
            </a:r>
          </a:p>
          <a:p xmlns:a="http://schemas.openxmlformats.org/drawingml/2006/main">
            <a:r>
              <a:t>https://www.rbc.ru/person/67d838f09a7947cdef0b1a95</a:t>
            </a:r>
          </a:p>
          <a:p xmlns:a="http://schemas.openxmlformats.org/drawingml/2006/main">
            <a:r>
              <a:t>https://www.vedomosti.ru/politics/articles/2020/03/10/824795-tereshkova-predlozhila</a:t>
            </a:r>
          </a:p>
          <a:p xmlns:a="http://schemas.openxmlformats.org/drawingml/2006/main">
            <a:r>
              <a:t>http://duma.gov.ru/news/49164/</a:t>
            </a:r>
          </a:p>
          <a:p xmlns:a="http://schemas.openxmlformats.org/drawingml/2006/main">
            <a:r>
              <a:t>https://meduza.io/news/2020/03/12/delayut-vse-dlya-togo-chtoby-gadosti-delat-tereshkova-o-protivnikah-popravki-obnulyayuschey-sroki-putina</a:t>
            </a:r>
          </a:p>
          <a:p xmlns:a="http://schemas.openxmlformats.org/drawingml/2006/main">
            <a:r>
              <a:t>https://meduza.io/feature/2020/03/10/gosduma-neozhidanno-dlya-sebya-obespechila-putina-novymi-prezidentskimi-srokami</a:t>
            </a:r>
          </a:p>
          <a:p xmlns:a="http://schemas.openxmlformats.org/drawingml/2006/main">
            <a:r>
              <a:t>https://hinshtein.ru/biography/</a:t>
            </a:r>
          </a:p>
          <a:p xmlns:a="http://schemas.openxmlformats.org/drawingml/2006/main">
            <a:r>
              <a:t>https://www.vedomosti.ru/politics/articles/2024/12/06/1079852-kto-takoi-aleksandr-hinshtein</a:t>
            </a:r>
          </a:p>
          <a:p xmlns:a="http://schemas.openxmlformats.org/drawingml/2006/main">
            <a:r>
              <a:t>https://www.rbc.ru/person/6752d12a9a7947d62166795e</a:t>
            </a:r>
          </a:p>
          <a:p xmlns:a="http://schemas.openxmlformats.org/drawingml/2006/main">
            <a:r>
              <a:t>https://www.rbc.ru/politics/06/12/2024/675207239a7947e74994842e</a:t>
            </a:r>
          </a:p>
          <a:p xmlns:a="http://schemas.openxmlformats.org/drawingml/2006/main">
            <a:r>
              <a:t>https://hinshtein.ru/news/aleksandr-hinshtejn-podvyol-itogi-goda-raboty-komiteta-gosdumy-po-informpolitike-informatsionnym-tehnologiyam-i-svyazi/</a:t>
            </a:r>
          </a:p>
          <a:p xmlns:a="http://schemas.openxmlformats.org/drawingml/2006/main">
            <a:r>
              <a:t>https://hinshtein.ru/news/a-hinshtejn-itogi-raboty-za-vii-sozyv/</a:t>
            </a:r>
          </a:p>
          <a:p xmlns:a="http://schemas.openxmlformats.org/drawingml/2006/main">
            <a:r>
              <a:t>https://www.kommersant.ru/doc/4660427</a:t>
            </a:r>
          </a:p>
          <a:p xmlns:a="http://schemas.openxmlformats.org/drawingml/2006/main">
            <a:r>
              <a:t>https://www.kommersant.ru/doc/4104004</a:t>
            </a:r>
          </a:p>
          <a:p xmlns:a="http://schemas.openxmlformats.org/drawingml/2006/main">
            <a:r>
              <a:t>https://www.nvgazeta.ru/news/12383/634260/</a:t>
            </a:r>
          </a:p>
          <a:p xmlns:a="http://schemas.openxmlformats.org/drawingml/2006/main">
            <a:r>
              <a:t>https://kpravda.ru/2025/02/11/kursk-poluchit-dengi-iz-gosbyudzheta-na-restavracziyu-istoricheskoj-kreposti/</a:t>
            </a:r>
          </a:p>
          <a:p xmlns:a="http://schemas.openxmlformats.org/drawingml/2006/main">
            <a:r>
              <a:t>https://tass.ru/obschestvo/24001633</a:t>
            </a:r>
          </a:p>
          <a:p xmlns:a="http://schemas.openxmlformats.org/drawingml/2006/main">
            <a:r>
              <a:t>https://www.kommersant.ru/doc/7737032</a:t>
            </a:r>
          </a:p>
          <a:p xmlns:a="http://schemas.openxmlformats.org/drawingml/2006/main">
            <a:r>
              <a:t>https://kpravda.ru/2025/03/21/edinaya-rossiya-pomozhet-v-restavraczii-kurskih-pamyatnikov/</a:t>
            </a:r>
          </a:p>
          <a:p xmlns:a="http://schemas.openxmlformats.org/drawingml/2006/main">
            <a:r>
              <a:t>https://news-kursk.ru/society/2025/07/13/65824.html</a:t>
            </a:r>
          </a:p>
          <a:p xmlns:a="http://schemas.openxmlformats.org/drawingml/2006/main">
            <a:r>
              <a:t>https://news.ru/russia/v-kurske-budet-alleya-geroev-hinshtejn-o-muzee-i-memoriale-zhertvam-vsu</a:t>
            </a:r>
          </a:p>
          <a:p xmlns:a="http://schemas.openxmlformats.org/drawingml/2006/main">
            <a:r>
              <a:t>https://ru.wikipedia.org/wiki/Пушков,_Алексей_Константинович</a:t>
            </a:r>
          </a:p>
          <a:p xmlns:a="http://schemas.openxmlformats.org/drawingml/2006/main">
            <a:r>
              <a:t>http://council.gov.ru/structure/persons/1316/</a:t>
            </a:r>
          </a:p>
          <a:p xmlns:a="http://schemas.openxmlformats.org/drawingml/2006/main">
            <a:r>
              <a:t>http://council.gov.ru/media/files/xjE2QHRAivCH7onABehAcG7OsnrO6DYb.pdf</a:t>
            </a:r>
          </a:p>
          <a:p xmlns:a="http://schemas.openxmlformats.org/drawingml/2006/main">
            <a:r>
              <a:t>https://base.garant.ru/406310971/</a:t>
            </a:r>
          </a:p>
          <a:p xmlns:a="http://schemas.openxmlformats.org/drawingml/2006/main">
            <a:r>
              <a:t>https://russiancouncil.ru/aleksey-pushkov/</a:t>
            </a:r>
          </a:p>
          <a:p xmlns:a="http://schemas.openxmlformats.org/drawingml/2006/main">
            <a:r>
              <a:t>http://legislation.council.gov.ru/events/announce/</a:t>
            </a:r>
          </a:p>
          <a:p xmlns:a="http://schemas.openxmlformats.org/drawingml/2006/main">
            <a:r>
              <a:t>http://council.gov.ru/events/news/173810/</a:t>
            </a:r>
          </a:p>
          <a:p xmlns:a="http://schemas.openxmlformats.org/drawingml/2006/main">
            <a:r>
              <a:t>http://www.council.gov.ru/events/news/175997/</a:t>
            </a:r>
          </a:p>
          <a:p xmlns:a="http://schemas.openxmlformats.org/drawingml/2006/main">
            <a:r>
              <a:t>http://council.gov.ru/media/report/pdf/HtoXfAAzeBJ8JwN0eAduo3rejTAYhqvB.pdf</a:t>
            </a:r>
          </a:p>
          <a:p xmlns:a="http://schemas.openxmlformats.org/drawingml/2006/main">
            <a:r>
              <a:t>http://council.gov.ru/events/news/164749/</a:t>
            </a:r>
          </a:p>
          <a:p xmlns:a="http://schemas.openxmlformats.org/drawingml/2006/main">
            <a:r>
              <a:t>https://t.me/s/alexey_pushkov?before=14914</a:t>
            </a:r>
          </a:p>
          <a:p xmlns:a="http://schemas.openxmlformats.org/drawingml/2006/main">
            <a:r>
              <a:t>http://legislation.council.gov.ru/events/multimedia/video/302078/</a:t>
            </a:r>
          </a:p>
          <a:p xmlns:a="http://schemas.openxmlformats.org/drawingml/2006/main">
            <a:r>
              <a:t>http://council.gov.ru/media/report/pdf/e8Awe3U6hNouHwSvME53OSPGGWxTeVAl.pdf</a:t>
            </a:r>
          </a:p>
          <a:p xmlns:a="http://schemas.openxmlformats.org/drawingml/2006/main">
            <a:r>
              <a:t>https://www.vedomosti.ru/person/1178385-kosachev-konstantin</a:t>
            </a:r>
          </a:p>
          <a:p xmlns:a="http://schemas.openxmlformats.org/drawingml/2006/main">
            <a:r>
              <a:t>https://www.interfax.ru/interview/812963</a:t>
            </a:r>
          </a:p>
          <a:p xmlns:a="http://schemas.openxmlformats.org/drawingml/2006/main">
            <a:r>
              <a:t>https://senatinform.ru/news/yuzhnuyu_osetiyu_neobkhodimo_vyvodit_iz_iskusstvennoy_izolyatsii_schitayut_rossiyskie_senatory_/</a:t>
            </a:r>
          </a:p>
          <a:p xmlns:a="http://schemas.openxmlformats.org/drawingml/2006/main">
            <a:r>
              <a:t>https://senatinform.ru/news/kosachyev_rossiya_gotova_rabotat_s_mps_s_uchyetom_ozabochennostey_nashey_strany/</a:t>
            </a:r>
          </a:p>
          <a:p xmlns:a="http://schemas.openxmlformats.org/drawingml/2006/main">
            <a:r>
              <a:t>https://www.bfm.ru/person/61</a:t>
            </a:r>
          </a:p>
          <a:p xmlns:a="http://schemas.openxmlformats.org/drawingml/2006/main">
            <a:r>
              <a:t>https://svpressa.ru/persons/konstantin-kosachev/</a:t>
            </a:r>
          </a:p>
          <a:p xmlns:a="http://schemas.openxmlformats.org/drawingml/2006/main">
            <a:r>
              <a:t>https://www.pnp.ru/person/konstantin-kosachev/</a:t>
            </a:r>
          </a:p>
          <a:p xmlns:a="http://schemas.openxmlformats.org/drawingml/2006/main">
            <a:r>
              <a:t>https://www.pnp.ru/politics/konstantin-kosachev-dlya-ssha-voyna-s-rossiey-eto-samoubiystvo.html</a:t>
            </a:r>
          </a:p>
          <a:p xmlns:a="http://schemas.openxmlformats.org/drawingml/2006/main">
            <a:r>
              <a:t>https://www.mlg.ru/ratings/vlast/senators/10844/</a:t>
            </a:r>
          </a:p>
          <a:p xmlns:a="http://schemas.openxmlformats.org/drawingml/2006/main">
            <a:r>
              <a:t>http://council.gov.ru/events/news/173506/</a:t>
            </a:r>
          </a:p>
          <a:p xmlns:a="http://schemas.openxmlformats.org/drawingml/2006/main">
            <a:r>
              <a:t>https://t.me/s/Kosachev62</a:t>
            </a:r>
          </a:p>
          <a:p xmlns:a="http://schemas.openxmlformats.org/drawingml/2006/main">
            <a:r>
              <a:t>http://council.gov.ru/events/news/177602/</a:t>
            </a:r>
          </a:p>
          <a:p xmlns:a="http://schemas.openxmlformats.org/drawingml/2006/main">
            <a:r>
              <a:t>https://vmeste-rf.tv/programs/205/konstantin-kosachev-sotrudnichestvo-rossii-i-efiopii-itogi-vizita-delegatsii-sf/</a:t>
            </a:r>
          </a:p>
          <a:p xmlns:a="http://schemas.openxmlformats.org/drawingml/2006/main">
            <a:r>
              <a:t>https://www.rbc.ru/person/64b8e1909a79474f30e86f98</a:t>
            </a:r>
          </a:p>
          <a:p xmlns:a="http://schemas.openxmlformats.org/drawingml/2006/main">
            <a:r>
              <a:t>https://www.kommersant.ru/doc/6041063</a:t>
            </a:r>
          </a:p>
          <a:p xmlns:a="http://schemas.openxmlformats.org/drawingml/2006/main">
            <a:r>
              <a:t>https://www.mos.ru/mayor/themes/6907050/</a:t>
            </a:r>
          </a:p>
          <a:p xmlns:a="http://schemas.openxmlformats.org/drawingml/2006/main">
            <a:r>
              <a:t>https://www.mos.ru/mayor/themes/7037050/</a:t>
            </a:r>
          </a:p>
          <a:p xmlns:a="http://schemas.openxmlformats.org/drawingml/2006/main">
            <a:r>
              <a:t>https://www.mos.ru/mayor/themes/8822050/</a:t>
            </a:r>
          </a:p>
          <a:p xmlns:a="http://schemas.openxmlformats.org/drawingml/2006/main">
            <a:r>
              <a:t>http://special.kremlin.ru/catalog/persons/38/events/70467</a:t>
            </a:r>
          </a:p>
          <a:p xmlns:a="http://schemas.openxmlformats.org/drawingml/2006/main">
            <a:r>
              <a:t>https://www.mos.ru/upload/content/files/15af077500dcc5a1547bf728abf25669/15Zakong_Moskviot17_05_2017N14Odopolnitelnihgaranti.pdf</a:t>
            </a:r>
          </a:p>
          <a:p xmlns:a="http://schemas.openxmlformats.org/drawingml/2006/main">
            <a:r>
              <a:t>https://www.rbc.ru/politics/03/05/2023/645245159a794763ce66d990</a:t>
            </a:r>
          </a:p>
          <a:p xmlns:a="http://schemas.openxmlformats.org/drawingml/2006/main">
            <a:r>
              <a:t>https://www.dw.com/ru/ataka-dronov-v-moskve-i-podmoskove-cto-izvestno/a-65771767</a:t>
            </a:r>
          </a:p>
          <a:p xmlns:a="http://schemas.openxmlformats.org/drawingml/2006/main">
            <a:r>
              <a:t>https://www.rbc.ru/politics/01/08/2023/64c856ce9a79471a722e13ad</a:t>
            </a:r>
          </a:p>
          <a:p xmlns:a="http://schemas.openxmlformats.org/drawingml/2006/main">
            <a:r>
              <a:t>https://www.rbc.ru/politics/23/08/2023/64e54f299a794789ddb55c65</a:t>
            </a:r>
          </a:p>
          <a:p xmlns:a="http://schemas.openxmlformats.org/drawingml/2006/main">
            <a:r>
              <a:t>https://ru.wikipedia.org/wiki/Беглов,_Александр_Дмитриевич</a:t>
            </a:r>
          </a:p>
          <a:p xmlns:a="http://schemas.openxmlformats.org/drawingml/2006/main">
            <a:r>
              <a:t>https://www.gov.spb.ru/governor/</a:t>
            </a:r>
          </a:p>
          <a:p xmlns:a="http://schemas.openxmlformats.org/drawingml/2006/main">
            <a:r>
              <a:t>https://www.rbc.ru/politics/30/05/2019/5cf02cf09a79475ed4d2fa3f</a:t>
            </a:r>
          </a:p>
          <a:p xmlns:a="http://schemas.openxmlformats.org/drawingml/2006/main">
            <a:r>
              <a:t>https://www.themoscowtimes.com/2019/09/11/st-petersburg-re-elects-governor-beglov-after-controversial-campaign-a67240</a:t>
            </a:r>
          </a:p>
          <a:p xmlns:a="http://schemas.openxmlformats.org/drawingml/2006/main">
            <a:r>
              <a:t>https://www.gov.spb.ru/press/governor/188637/</a:t>
            </a:r>
          </a:p>
          <a:p xmlns:a="http://schemas.openxmlformats.org/drawingml/2006/main">
            <a:r>
              <a:t>https://www.gov.spb.ru/press/governor/213661/</a:t>
            </a:r>
          </a:p>
          <a:p xmlns:a="http://schemas.openxmlformats.org/drawingml/2006/main">
            <a:r>
              <a:t>https://www.gov.spb.ru/press/governor/258831/</a:t>
            </a:r>
          </a:p>
          <a:p xmlns:a="http://schemas.openxmlformats.org/drawingml/2006/main">
            <a:r>
              <a:t>https://www.gov.spb.ru/governor/interview/7333/</a:t>
            </a:r>
          </a:p>
          <a:p xmlns:a="http://schemas.openxmlformats.org/drawingml/2006/main">
            <a:r>
              <a:t>https://tass.ru/interviews/21839179</a:t>
            </a:r>
          </a:p>
          <a:p xmlns:a="http://schemas.openxmlformats.org/drawingml/2006/main">
            <a:r>
              <a:t>https://www.gov.spb.ru/press/governor/236663/</a:t>
            </a:r>
          </a:p>
          <a:p xmlns:a="http://schemas.openxmlformats.org/drawingml/2006/main">
            <a:r>
              <a:t>https://tvspb.ru/news/2022/09/21/aleksandr-beglov-ukaz-prezidenta-o-chastichnoj-mobilizaczii-byl-trudnym-no-neobhodimym-shagom</a:t>
            </a:r>
          </a:p>
          <a:p xmlns:a="http://schemas.openxmlformats.org/drawingml/2006/main">
            <a:r>
              <a:t>https://spbvedomosti.ru/news/gorod/gubernator-aleksandr-beglov-obyavil-o-zavershenii-chastichnoy-mobilizatsii/</a:t>
            </a:r>
          </a:p>
          <a:p xmlns:a="http://schemas.openxmlformats.org/drawingml/2006/main">
            <a:r>
              <a:t>https://www.gov.spb.ru/press/governor/253716/</a:t>
            </a:r>
          </a:p>
          <a:p xmlns:a="http://schemas.openxmlformats.org/drawingml/2006/main">
            <a:r>
              <a:t>https://www.gov.spb.ru/press/governor/290070/</a:t>
            </a:r>
          </a:p>
          <a:p xmlns:a="http://schemas.openxmlformats.org/drawingml/2006/main">
            <a:r>
              <a:t>https://spbdnevnik.ru/news/2022-10-06/aleksandr-beglov-rasskazal-o-prizyve-po-mobilizatsii-peterburzhtsa-s-odnoy-pochkoy</a:t>
            </a:r>
          </a:p>
          <a:p xmlns:a="http://schemas.openxmlformats.org/drawingml/2006/main">
            <a:r>
              <a:t>https://www.rbc.ru/person/62c5c0899a79470082fa57eb</a:t>
            </a:r>
          </a:p>
          <a:p xmlns:a="http://schemas.openxmlformats.org/drawingml/2006/main">
            <a:r>
              <a:t>https://www.kavkaz-uzel.eu/articles/85366</a:t>
            </a:r>
          </a:p>
          <a:p xmlns:a="http://schemas.openxmlformats.org/drawingml/2006/main">
            <a:r>
              <a:t>https://news.ru/regions/my-dolzhny-zabrat-vsyu-ukrainu-chto-kadyrov-govoril-ob-svo-rossii-putine</a:t>
            </a:r>
          </a:p>
          <a:p xmlns:a="http://schemas.openxmlformats.org/drawingml/2006/main">
            <a:r>
              <a:t>https://minval.az/k/ramzan-kadyrov</a:t>
            </a:r>
          </a:p>
          <a:p xmlns:a="http://schemas.openxmlformats.org/drawingml/2006/main">
            <a:r>
              <a:t>http://publication.pravo.gov.ru/document/2000202609160002</a:t>
            </a:r>
          </a:p>
          <a:p xmlns:a="http://schemas.openxmlformats.org/drawingml/2006/main">
            <a:r>
              <a:t>https://vestikavkaza.ru/amp/291219</a:t>
            </a:r>
          </a:p>
          <a:p xmlns:a="http://schemas.openxmlformats.org/drawingml/2006/main">
            <a:r>
              <a:t>https://tass.ru/obschestvo/25968415</a:t>
            </a:r>
          </a:p>
          <a:p xmlns:a="http://schemas.openxmlformats.org/drawingml/2006/main">
            <a:r>
              <a:t>https://www.rbc.ru/rbcfreenews/694558f89a794775c8b05d2e</a:t>
            </a:r>
          </a:p>
          <a:p xmlns:a="http://schemas.openxmlformats.org/drawingml/2006/main">
            <a:r>
              <a:t>https://rais.tatarstan.ru/biografiya.htm</a:t>
            </a:r>
          </a:p>
          <a:p xmlns:a="http://schemas.openxmlformats.org/drawingml/2006/main">
            <a:r>
              <a:t>https://rt.rbc.ru/tatarstan/freenews/68c7f77d9a79472be550408e</a:t>
            </a:r>
          </a:p>
          <a:p xmlns:a="http://schemas.openxmlformats.org/drawingml/2006/main">
            <a:r>
              <a:t>https://rt.rbc.ru/tatarstan/freenews/68c90bdc9a794783273a16b6</a:t>
            </a:r>
          </a:p>
          <a:p xmlns:a="http://schemas.openxmlformats.org/drawingml/2006/main">
            <a:r>
              <a:t>https://tass.ru/politika/25045679</a:t>
            </a:r>
          </a:p>
          <a:p xmlns:a="http://schemas.openxmlformats.org/drawingml/2006/main">
            <a:r>
              <a:t>https://tass.ru/info/25058299</a:t>
            </a:r>
          </a:p>
          <a:p xmlns:a="http://schemas.openxmlformats.org/drawingml/2006/main">
            <a:r>
              <a:t>https://tatarstan.ru/index.htm/news/2454245.htm</a:t>
            </a:r>
          </a:p>
          <a:p xmlns:a="http://schemas.openxmlformats.org/drawingml/2006/main">
            <a:r>
              <a:t>https://izbirkom.tatarstan.ru/file/pub/pub_4719790.docx</a:t>
            </a:r>
          </a:p>
          <a:p xmlns:a="http://schemas.openxmlformats.org/drawingml/2006/main">
            <a:r>
              <a:t>http://www.pfo.gov.ru/press/events/112125/</a:t>
            </a:r>
          </a:p>
          <a:p xmlns:a="http://schemas.openxmlformats.org/drawingml/2006/main">
            <a:r>
              <a:t>https://www.tatar-inform.ru/news/rustam-minnixanov-sankcii-ne-koncatsya-poka-my-ne-stanem-samodostatocnymi-5896958</a:t>
            </a:r>
          </a:p>
          <a:p xmlns:a="http://schemas.openxmlformats.org/drawingml/2006/main">
            <a:r>
              <a:t>https://tatarstan.ru/index.htm/news/1916025.htm</a:t>
            </a:r>
          </a:p>
          <a:p xmlns:a="http://schemas.openxmlformats.org/drawingml/2006/main">
            <a:r>
              <a:t>https://kitaphane.tatarstan.ru/digital.htm</a:t>
            </a:r>
          </a:p>
          <a:p xmlns:a="http://schemas.openxmlformats.org/drawingml/2006/main">
            <a:r>
              <a:t>https://kt.tatarstan.ru/index.htm/news/2266706.htm</a:t>
            </a:r>
          </a:p>
          <a:p xmlns:a="http://schemas.openxmlformats.org/drawingml/2006/main">
            <a:r>
              <a:t>https://tatarstan.ru/index.htm/news/2460505.htm</a:t>
            </a:r>
          </a:p>
          <a:p xmlns:a="http://schemas.openxmlformats.org/drawingml/2006/main">
            <a:r>
              <a:t>https://digital.tatarstan.ru/index.htm/news/2460691.htm</a:t>
            </a:r>
          </a:p>
          <a:p xmlns:a="http://schemas.openxmlformats.org/drawingml/2006/main">
            <a:r>
              <a:t>https://amp.rbc.ru/rbcnews/politics/09/07/2020/5f06bbb69a79475c40a9a094</a:t>
            </a:r>
          </a:p>
          <a:p xmlns:a="http://schemas.openxmlformats.org/drawingml/2006/main">
            <a:r>
              <a:t>https://1kas.sudrf.ru/modules.php?name=sud_delo&amp;name_op=doc&amp;number=39453936&amp;delo_id=2450001&amp;case_type=0&amp;new=2450001&amp;text_number=1&amp;srv_num=1</a:t>
            </a:r>
          </a:p>
          <a:p xmlns:a="http://schemas.openxmlformats.org/drawingml/2006/main">
            <a:r>
              <a:t>https://www.interfax.ru/russia/982916</a:t>
            </a:r>
          </a:p>
          <a:p xmlns:a="http://schemas.openxmlformats.org/drawingml/2006/main">
            <a:r>
              <a:t>https://www.svoboda.org/a/sud-ostavil-v-sile-prigovor-habarovskomu-eks-gubernatoru-sergeyu-furgalu/32686024.html</a:t>
            </a:r>
          </a:p>
          <a:p xmlns:a="http://schemas.openxmlformats.org/drawingml/2006/main">
            <a:r>
              <a:t>https://www.dw.com/ru/kommentarij-furgal-peresidit-putina/a-64670560</a:t>
            </a:r>
          </a:p>
          <a:p xmlns:a="http://schemas.openxmlformats.org/drawingml/2006/main">
            <a:r>
              <a:t>https://www.kommersant.ru/doc/3896415</a:t>
            </a:r>
          </a:p>
          <a:p xmlns:a="http://schemas.openxmlformats.org/drawingml/2006/main">
            <a:r>
              <a:t>https://todaykhv.ru/news/policy/19386/</a:t>
            </a:r>
          </a:p>
          <a:p xmlns:a="http://schemas.openxmlformats.org/drawingml/2006/main">
            <a:r>
              <a:t>https://meduza.io/feature/2018/09/19/ya-dumayu-chto-situatsiya-kak-v-primorie-u-nas-ne-povtoritsya</a:t>
            </a:r>
          </a:p>
          <a:p xmlns:a="http://schemas.openxmlformats.org/drawingml/2006/main">
            <a:r>
              <a:t>https://govoritmoskva.ru/news/174327/</a:t>
            </a:r>
          </a:p>
          <a:p xmlns:a="http://schemas.openxmlformats.org/drawingml/2006/main">
            <a:r>
              <a:t>https://todaykhv.ru/news/policy/22426/?sphrase_id=2620206</a:t>
            </a:r>
          </a:p>
          <a:p xmlns:a="http://schemas.openxmlformats.org/drawingml/2006/main">
            <a:r>
              <a:t>https://ru.wikipedia.org/wiki/%D0%A4%D1%83%D1%80%D0%B3%D0%B0%D0%BB,_%D0%A1%D0%B5%D1%80%D0%B3%D0%B5%D0%B9_%D0%98%D0%B2%D0%B0%D0%BD%D0%BE%D0%B2%D0%B8%D1%87</a:t>
            </a:r>
          </a:p>
          <a:p xmlns:a="http://schemas.openxmlformats.org/drawingml/2006/main">
            <a:r>
              <a:t>https://novayagazeta.ru/articles/2018/09/18/77870-ne-dopuschu-zdes-revolyutsii</a:t>
            </a:r>
          </a:p>
          <a:p xmlns:a="http://schemas.openxmlformats.org/drawingml/2006/main">
            <a:r>
              <a:t>https://opkhv.ru/publications/4888</a:t>
            </a:r>
          </a:p>
          <a:p xmlns:a="http://schemas.openxmlformats.org/drawingml/2006/main">
            <a:r>
              <a:t>https://meduza.io/feature/2019/08/26/partiya-vlasti-zdes-ldpr</a:t>
            </a:r>
          </a:p>
          <a:p xmlns:a="http://schemas.openxmlformats.org/drawingml/2006/main">
            <a:r>
              <a:t>https://tass.ru/obschestvo/5946495</a:t>
            </a:r>
          </a:p>
          <a:p xmlns:a="http://schemas.openxmlformats.org/drawingml/2006/main">
            <a:r>
              <a:t>https://amurmedia.ru/news/775590/</a:t>
            </a:r>
          </a:p>
          <a:p xmlns:a="http://schemas.openxmlformats.org/drawingml/2006/main">
            <a:r>
              <a:t>https://www.eastrussia.ru/material/ne-planiruyushchim-pereezzhat-sovetuyu-pomolchat/</a:t>
            </a:r>
          </a:p>
          <a:p xmlns:a="http://schemas.openxmlformats.org/drawingml/2006/main">
            <a:r>
              <a:t>https://www.dw.com/ru/v-habarovske-priznali-ekstremistskim-dvizenie-v-zasitu-furgala/a-68334442</a:t>
            </a:r>
          </a:p>
          <a:p xmlns:a="http://schemas.openxmlformats.org/drawingml/2006/main">
            <a:r>
              <a:t>https://www.rbc.ru/person/66475fec9a79475c4d9443ad</a:t>
            </a:r>
          </a:p>
          <a:p xmlns:a="http://schemas.openxmlformats.org/drawingml/2006/main">
            <a:r>
              <a:t>https://tass.ru/info/12453099</a:t>
            </a:r>
          </a:p>
          <a:p xmlns:a="http://schemas.openxmlformats.org/drawingml/2006/main">
            <a:r>
              <a:t>https://tass.ru/info/9007455</a:t>
            </a:r>
          </a:p>
          <a:p xmlns:a="http://schemas.openxmlformats.org/drawingml/2006/main">
            <a:r>
              <a:t>https://tass.ru/info/20795009</a:t>
            </a:r>
          </a:p>
          <a:p xmlns:a="http://schemas.openxmlformats.org/drawingml/2006/main">
            <a:r>
              <a:t>https://tass.ru/encyclopedia/person/degtyarev-mihail-vladimirovich</a:t>
            </a:r>
          </a:p>
          <a:p xmlns:a="http://schemas.openxmlformats.org/drawingml/2006/main">
            <a:r>
              <a:t>https://www.rbc.ru/politics/20/07/2020/5f1586289a794722b2457d61</a:t>
            </a:r>
          </a:p>
          <a:p xmlns:a="http://schemas.openxmlformats.org/drawingml/2006/main">
            <a:r>
              <a:t>https://www.minsport.gov.ru/press-center/news/intervyu-mihaila-degtyareva-gazete-kommersant/</a:t>
            </a:r>
          </a:p>
          <a:p xmlns:a="http://schemas.openxmlformats.org/drawingml/2006/main">
            <a:r>
              <a:t>https://minsport.gov.ru/press-center/news/mihail-degtyarev-nashe-mesto-za-stolom-a-ne-v-perednej/</a:t>
            </a:r>
          </a:p>
          <a:p xmlns:a="http://schemas.openxmlformats.org/drawingml/2006/main">
            <a:r>
              <a:t>https://news.ru/vlast/degtyarev-prizval-ne-doveryat-evrope-provedenie-sorevnovanij</a:t>
            </a:r>
          </a:p>
          <a:p xmlns:a="http://schemas.openxmlformats.org/drawingml/2006/main">
            <a:r>
              <a:t>https://www.interfax.ru/presscenter/622170</a:t>
            </a:r>
          </a:p>
          <a:p xmlns:a="http://schemas.openxmlformats.org/drawingml/2006/main">
            <a:r>
              <a:t>https://tass.ru/interviews/13152777</a:t>
            </a:r>
          </a:p>
          <a:p xmlns:a="http://schemas.openxmlformats.org/drawingml/2006/main">
            <a:r>
              <a:t>https://www.sports.ru/others/blogs/3302024.html</a:t>
            </a:r>
          </a:p>
          <a:p xmlns:a="http://schemas.openxmlformats.org/drawingml/2006/main">
            <a:r>
              <a:t>https://www.vremyan.ru/news/556863</a:t>
            </a:r>
          </a:p>
          <a:p xmlns:a="http://schemas.openxmlformats.org/drawingml/2006/main">
            <a:r>
              <a:t>https://kprf.ru/personal/levchenko</a:t>
            </a:r>
          </a:p>
          <a:p xmlns:a="http://schemas.openxmlformats.org/drawingml/2006/main">
            <a:r>
              <a:t>https://www.rbc.ru/politics/23/06/2020/5ef0bd949a7947b3cd3dcba6</a:t>
            </a:r>
          </a:p>
          <a:p xmlns:a="http://schemas.openxmlformats.org/drawingml/2006/main">
            <a:r>
              <a:t>https://kprf.ru/party-live/regnews/194838.html</a:t>
            </a:r>
          </a:p>
          <a:p xmlns:a="http://schemas.openxmlformats.org/drawingml/2006/main">
            <a:r>
              <a:t>https://liveangarsk.ru/news/20191214/v-slozhivsheisya</a:t>
            </a:r>
          </a:p>
          <a:p xmlns:a="http://schemas.openxmlformats.org/drawingml/2006/main">
            <a:r>
              <a:t>https://kprf.ru/dep/gosduma/activities/240271.html</a:t>
            </a:r>
          </a:p>
          <a:p xmlns:a="http://schemas.openxmlformats.org/drawingml/2006/main">
            <a:r>
              <a:t>https://kprf.ru/dep/gosduma/activities/241686.html</a:t>
            </a:r>
          </a:p>
          <a:p xmlns:a="http://schemas.openxmlformats.org/drawingml/2006/main">
            <a:r>
              <a:t>https://altairk.ru/new/policy/the_message_of_the_governor</a:t>
            </a:r>
          </a:p>
          <a:p xmlns:a="http://schemas.openxmlformats.org/drawingml/2006/main">
            <a:r>
              <a:t>https://kto-irkutsk.ru/2026/07/20/sergej-levchenko-deyatelnost-i-zayavleniya-i-ix-ocenka/</a:t>
            </a:r>
          </a:p>
          <a:p xmlns:a="http://schemas.openxmlformats.org/drawingml/2006/main">
            <a:r>
              <a:t>https://ru.wikipedia.org/wiki/%D0%9B%D0%B5%D0%B2%D1%87%D0%B5%D0%BD%D0%BA%D0%BE,_%D0%A1%D0%B5%D1%80%D0%B3%D0%B5%D0%B9_%D0%93%D0%B5%D0%BE%D1%80%D0%B3%D0%B8%D0%B5%D0%B2%D0%B8%D1%87</a:t>
            </a:r>
          </a:p>
          <a:p xmlns:a="http://schemas.openxmlformats.org/drawingml/2006/main">
            <a:r>
              <a:t>https://www.newsru.com/dossiers/10330/</a:t>
            </a:r>
          </a:p>
          <a:p xmlns:a="http://schemas.openxmlformats.org/drawingml/2006/main">
            <a:r>
              <a:t>https://www.interfax.ru/russia/714300</a:t>
            </a:r>
          </a:p>
          <a:p xmlns:a="http://schemas.openxmlformats.org/drawingml/2006/main">
            <a:r>
              <a:t>https://www.rbc.ru/politics/14/09/2020/5f5e7dfb9a79477f7753d651</a:t>
            </a:r>
          </a:p>
          <a:p xmlns:a="http://schemas.openxmlformats.org/drawingml/2006/main">
            <a:r>
              <a:t>https://www.rline.tv/podrobnosti/2019-10-06-sergey-levchenko-za-chetyre-goda-sdelano-bolshe-chem-za-predydushchie-15-let/</a:t>
            </a:r>
          </a:p>
          <a:p xmlns:a="http://schemas.openxmlformats.org/drawingml/2006/main">
            <a:r>
              <a:t>https://vs19.ru/verhovny-sovet/deputati/670-konovalov-valentin-olegovich</a:t>
            </a:r>
          </a:p>
          <a:p xmlns:a="http://schemas.openxmlformats.org/drawingml/2006/main">
            <a:r>
              <a:t>https://meduza.io/feature/2018/09/10/etu-vlast-nichego-ne-spaset</a:t>
            </a:r>
          </a:p>
          <a:p xmlns:a="http://schemas.openxmlformats.org/drawingml/2006/main">
            <a:r>
              <a:t>https://kprf.ru/party-live/regnews/188553.html</a:t>
            </a:r>
          </a:p>
          <a:p xmlns:a="http://schemas.openxmlformats.org/drawingml/2006/main">
            <a:r>
              <a:t>https://www.kommersant.ru/doc/4441936</a:t>
            </a:r>
          </a:p>
          <a:p xmlns:a="http://schemas.openxmlformats.org/drawingml/2006/main">
            <a:r>
              <a:t>http://www.youtube.com/watch?v=eO6lUkFCAqM</a:t>
            </a:r>
          </a:p>
          <a:p xmlns:a="http://schemas.openxmlformats.org/drawingml/2006/main">
            <a:r>
              <a:t>https://ru.wikipedia.org/wiki/%D0%92%D1%8B%D0%B1%D0%BE%D1%80%D1%8B_%D0%B3%D0%BB%D0%B0%D0%B2%D1%8B_%D0%A0%D0%B5%D1%81%D0%BF%D1%83%D0%B1%D0%BB%D0%B8%D0%BA%D0%B8_%D0%A5%D0%B0%D0%BA%D0%B0%D1%81%D0%B8%D1%8F_(2018)</a:t>
            </a:r>
          </a:p>
          <a:p xmlns:a="http://schemas.openxmlformats.org/drawingml/2006/main">
            <a:r>
              <a:t>https://ok.ru/group/51615057903766/topic/157744983021718</a:t>
            </a:r>
          </a:p>
          <a:p xmlns:a="http://schemas.openxmlformats.org/drawingml/2006/main">
            <a:r>
              <a:t>https://kprf.ru/party-live/cknews/245343.html</a:t>
            </a:r>
          </a:p>
          <a:p xmlns:a="http://schemas.openxmlformats.org/drawingml/2006/main">
            <a:r>
              <a:t>https://r-19.ru/news/politika/190680/</a:t>
            </a:r>
          </a:p>
          <a:p xmlns:a="http://schemas.openxmlformats.org/drawingml/2006/main">
            <a:r>
              <a:t>https://r-19.ru/news/ekonomika/193031/</a:t>
            </a:r>
          </a:p>
          <a:p xmlns:a="http://schemas.openxmlformats.org/drawingml/2006/main">
            <a:r>
              <a:t>https://19rusinfo.ru/ekonomika/118670-otchjot</a:t>
            </a:r>
          </a:p>
          <a:p xmlns:a="http://schemas.openxmlformats.org/drawingml/2006/main">
            <a:r>
              <a:t>https://iditena.ru/candidates/konovalov-valentin-olegovich/</a:t>
            </a:r>
          </a:p>
          <a:p xmlns:a="http://schemas.openxmlformats.org/drawingml/2006/main">
            <a:r>
              <a:t>https://56.kprf.ru/deyatelnost/tpost/gjjjuy1zi1-glava-hakasii-valentin-konovalov-dal-int</a:t>
            </a:r>
          </a:p>
          <a:p xmlns:a="http://schemas.openxmlformats.org/drawingml/2006/main">
            <a:r>
              <a:t>https://meduza.io/feature/2019/05/31/strana-pobedivshego-kommunista</a:t>
            </a:r>
          </a:p>
          <a:p xmlns:a="http://schemas.openxmlformats.org/drawingml/2006/main">
            <a:r>
              <a:t>https://xn--80aac0c2a.xn--p1acf/2026/08/22/vstrecha-s-uchastiem-valentina-konovalova-i-alekseya-kornienko-proshla-v-habarovske</a:t>
            </a:r>
          </a:p>
          <a:p xmlns:a="http://schemas.openxmlformats.org/drawingml/2006/main">
            <a:r>
              <a:t>https://www.vedomosti.ru/politics/characters/2026/07/06/1211370-valentin-konovalov-rossiya-na-moskve-ne-zakanchivaetsya?from=newsline</a:t>
            </a:r>
          </a:p>
          <a:p xmlns:a="http://schemas.openxmlformats.org/drawingml/2006/main">
            <a:r>
              <a:t>https://www.vedomosti.ru/person/1215197-aksenov-sergei</a:t>
            </a:r>
          </a:p>
          <a:p xmlns:a="http://schemas.openxmlformats.org/drawingml/2006/main">
            <a:r>
              <a:t>https://www.rbc.ru/person/65f020599a79475815e702c9</a:t>
            </a:r>
          </a:p>
          <a:p xmlns:a="http://schemas.openxmlformats.org/drawingml/2006/main">
            <a:r>
              <a:t>http://crimea.gov.ru/news/30_03_18_10</a:t>
            </a:r>
          </a:p>
          <a:p xmlns:a="http://schemas.openxmlformats.org/drawingml/2006/main">
            <a:r>
              <a:t>https://www.npr.org/sections/parallels/2018/01/27/581114772/putins-man-in-crimea-we-ve-returned-to-russia-forever</a:t>
            </a:r>
          </a:p>
          <a:p xmlns:a="http://schemas.openxmlformats.org/drawingml/2006/main">
            <a:r>
              <a:t>http://crimea.gov.ru/en/news/26_02_19_6</a:t>
            </a:r>
          </a:p>
          <a:p xmlns:a="http://schemas.openxmlformats.org/drawingml/2006/main">
            <a:r>
              <a:t>https://antifashist.com/item/kto-polomal-infopole-kryma-i-ne-otvechaet-na-voprosy.html</a:t>
            </a:r>
          </a:p>
          <a:p xmlns:a="http://schemas.openxmlformats.org/drawingml/2006/main">
            <a:r>
              <a:t>https://ru.krymr.com/a/news/27913548.html</a:t>
            </a:r>
          </a:p>
          <a:p xmlns:a="http://schemas.openxmlformats.org/drawingml/2006/main">
            <a:r>
              <a:t>https://simfch.ru/2022/03/02/glava-respubliki-krym-sergej-aksyonov-prizval-krymchan-k-informaczionnoj-mobilizaczii-otkrytomu-i-publichnomu-vyrazheniyu-svoej-patrioticheskoj-poziczii/</a:t>
            </a:r>
          </a:p>
          <a:p xmlns:a="http://schemas.openxmlformats.org/drawingml/2006/main">
            <a:r>
              <a:t>https://www.rbc.ru/politics/29/05/2023/64749e389a7947f3de98dff2</a:t>
            </a:r>
          </a:p>
          <a:p xmlns:a="http://schemas.openxmlformats.org/drawingml/2006/main">
            <a:r>
              <a:t>https://ru.krymr.com/a/krym-sergey-aksenov-pvo-prilety-bavovna-bezopasnost-pvo-udar/32631709.html</a:t>
            </a:r>
          </a:p>
          <a:p xmlns:a="http://schemas.openxmlformats.org/drawingml/2006/main">
            <a:r>
              <a:t>https://rostov.rbc.ru/rostov/interview/18/03/2024/65f75c4f9a7947c8b475ab94</a:t>
            </a:r>
          </a:p>
          <a:p xmlns:a="http://schemas.openxmlformats.org/drawingml/2006/main">
            <a:r>
              <a:t>https://www.kommersant.ru/doc/7715230</a:t>
            </a:r>
          </a:p>
          <a:p xmlns:a="http://schemas.openxmlformats.org/drawingml/2006/main">
            <a:r>
              <a:t>https://www.kommersant.ru/doc/5154319</a:t>
            </a:r>
          </a:p>
          <a:p xmlns:a="http://schemas.openxmlformats.org/drawingml/2006/main">
            <a:r>
              <a:t>https://www.rbc.ru/person/660290b19a7947801fe9439b</a:t>
            </a:r>
          </a:p>
          <a:p xmlns:a="http://schemas.openxmlformats.org/drawingml/2006/main">
            <a:r>
              <a:t>https://www.kommersant.ru/doc/3759211</a:t>
            </a:r>
          </a:p>
          <a:p xmlns:a="http://schemas.openxmlformats.org/drawingml/2006/main">
            <a:r>
              <a:t>https://tass.ru/info/6656656</a:t>
            </a:r>
          </a:p>
          <a:p xmlns:a="http://schemas.openxmlformats.org/drawingml/2006/main">
            <a:r>
              <a:t>https://sevastopol.er.ru/pages/otchet-gubernatora-sevastopolya-mihaila-razvozhaeva</a:t>
            </a:r>
          </a:p>
          <a:p xmlns:a="http://schemas.openxmlformats.org/drawingml/2006/main">
            <a:r>
              <a:t>http://special.kremlin.ru/catalog/persons/579/events/76271</a:t>
            </a:r>
          </a:p>
          <a:p xmlns:a="http://schemas.openxmlformats.org/drawingml/2006/main">
            <a:r>
              <a:t>https://sevastopol.su/news/chastnyy-biznes-vlozhil-v-sevastopol-250-mlrd-rubley-za-tri-goda</a:t>
            </a:r>
          </a:p>
          <a:p xmlns:a="http://schemas.openxmlformats.org/drawingml/2006/main">
            <a:r>
              <a:t>https://sevastopol.su/news/v-sevastopole-ocenili-perspektivy-mikhaila-razvozhaeva-na-sleduyuschikh-vyborakh</a:t>
            </a:r>
          </a:p>
          <a:p xmlns:a="http://schemas.openxmlformats.org/drawingml/2006/main">
            <a:r>
              <a:t>https://tass.ru/interviews/10248577</a:t>
            </a:r>
          </a:p>
          <a:p xmlns:a="http://schemas.openxmlformats.org/drawingml/2006/main">
            <a:r>
              <a:t>https://news.ru/russia/u-nas-smelye-plany-gubernator-sevastopolya-razvozzhaev-o-budushem-goroda</a:t>
            </a:r>
          </a:p>
          <a:p xmlns:a="http://schemas.openxmlformats.org/drawingml/2006/main">
            <a:r>
              <a:t>http://kremlin.ru/events/administration/80838</a:t>
            </a:r>
          </a:p>
          <a:p xmlns:a="http://schemas.openxmlformats.org/drawingml/2006/main">
            <a:r>
              <a:t>https://tass.ru/kultura/28214691</a:t>
            </a:r>
          </a:p>
          <a:p xmlns:a="http://schemas.openxmlformats.org/drawingml/2006/main">
            <a:r>
              <a:t>http://kremlin.ru/events/administration/80591</a:t>
            </a:r>
          </a:p>
          <a:p xmlns:a="http://schemas.openxmlformats.org/drawingml/2006/main">
            <a:r>
              <a:t>https://governors.ru/glava-regiona/Belgorodskaya-oblast/Gladkov-Vyacheslav-Vladimirovich</a:t>
            </a:r>
          </a:p>
          <a:p xmlns:a="http://schemas.openxmlformats.org/drawingml/2006/main">
            <a:r>
              <a:t>https://ru.wikipedia.org/wiki/%D0%93%D0%BB%D0%B0%D0%B4%D0%BA%D0%BE%D0%B2,_%D0%92%D1%8F%D1%87%D0%B5%D1%81%D0%BB%D0%B0%D0%B2_%D0%92%D0%BB%D0%B0%D0%B4%D0%B8%D0%BC%D0%B8%D1%80%D0%BE%D0%B2%D0%B8%D1%87</a:t>
            </a:r>
          </a:p>
          <a:p xmlns:a="http://schemas.openxmlformats.org/drawingml/2006/main">
            <a:r>
              <a:t>http://council.gov.ru/structure/persons/1543/</a:t>
            </a:r>
          </a:p>
          <a:p xmlns:a="http://schemas.openxmlformats.org/drawingml/2006/main">
            <a:r>
              <a:t>https://ufa.rbc.ru/person/648345539a794760fd0c17e8</a:t>
            </a:r>
          </a:p>
          <a:p xmlns:a="http://schemas.openxmlformats.org/drawingml/2006/main">
            <a:r>
              <a:t>https://www.kommersant.ru/doc/8571119</a:t>
            </a:r>
          </a:p>
          <a:p xmlns:a="http://schemas.openxmlformats.org/drawingml/2006/main">
            <a:r>
              <a:t>https://www.kommersant.ru/doc/8655079</a:t>
            </a:r>
          </a:p>
          <a:p xmlns:a="http://schemas.openxmlformats.org/drawingml/2006/main">
            <a:r>
              <a:t>https://tass.ru/info/27861241</a:t>
            </a:r>
          </a:p>
          <a:p xmlns:a="http://schemas.openxmlformats.org/drawingml/2006/main">
            <a:r>
              <a:t>https://meduza.io/feature/2023/06/08/emu-by-vse-eto-razgresti</a:t>
            </a:r>
          </a:p>
          <a:p xmlns:a="http://schemas.openxmlformats.org/drawingml/2006/main">
            <a:r>
              <a:t>http://www.kremlin.ru/events/president/transcripts/66288</a:t>
            </a:r>
          </a:p>
          <a:p xmlns:a="http://schemas.openxmlformats.org/drawingml/2006/main">
            <a:r>
              <a:t>https://www.belpressa.ru/politics/vlast/62665.html</a:t>
            </a:r>
          </a:p>
          <a:p xmlns:a="http://schemas.openxmlformats.org/drawingml/2006/main">
            <a:r>
              <a:t>https://www.belpressa.ru/politics/vlast/71368.html</a:t>
            </a:r>
          </a:p>
          <a:p xmlns:a="http://schemas.openxmlformats.org/drawingml/2006/main">
            <a:r>
              <a:t>https://www.belnovosti.ru/politika/gubernator/127077.html</a:t>
            </a:r>
          </a:p>
          <a:p xmlns:a="http://schemas.openxmlformats.org/drawingml/2006/main">
            <a:r>
              <a:t>https://chr.plus.rbc.ru/news/694b9fb67a8aa90f9c2ce17d</a:t>
            </a:r>
          </a:p>
          <a:p xmlns:a="http://schemas.openxmlformats.org/drawingml/2006/main">
            <a:r>
              <a:t>https://www.belpressa.ru/society/bezopasnost/43348.html</a:t>
            </a:r>
          </a:p>
          <a:p xmlns:a="http://schemas.openxmlformats.org/drawingml/2006/main">
            <a:r>
              <a:t>https://www.rbc.ru/politics/07/03/2023/640758bf9a7947f6af99d464</a:t>
            </a:r>
          </a:p>
          <a:p xmlns:a="http://schemas.openxmlformats.org/drawingml/2006/main">
            <a:r>
              <a:t>https://www.rbc.ru/politics/24/05/2023/646d22029a794797c4bac4bf</a:t>
            </a:r>
          </a:p>
          <a:p xmlns:a="http://schemas.openxmlformats.org/drawingml/2006/main">
            <a:r>
              <a:t>https://www.bbc.com/russian/articles/c70dkd0pvrlo</a:t>
            </a:r>
          </a:p>
          <a:p xmlns:a="http://schemas.openxmlformats.org/drawingml/2006/main">
            <a:r>
              <a:t>https://www.go31.ru/news/proisshestviya/kak-nikto-drugoy-ponimaem-chto-takoe-agressiya-so-storony-ukrainy-gladkov-o-proryve-granitsy-v-kursk/</a:t>
            </a:r>
          </a:p>
          <a:p xmlns:a="http://schemas.openxmlformats.org/drawingml/2006/main">
            <a:r>
              <a:t>https://echofm.online/portret-dnya/portret-dnya-vyacheslav-gladkov-gubernator-belgorodskoj-oblasti-prognozy-o-sudbe-kotorogo-raznyatsya-ot-posta-posla-v-abhazii-do-ugolovnogo-dela</a:t>
            </a:r>
          </a:p>
          <a:p xmlns:a="http://schemas.openxmlformats.org/drawingml/2006/main">
            <a:r>
              <a:t>https://www.kommersant.ru/doc/3917861</a:t>
            </a:r>
          </a:p>
          <a:p xmlns:a="http://schemas.openxmlformats.org/drawingml/2006/main">
            <a:r>
              <a:t>https://minstroyrf.gov.ru/press/okolo-40-kontsessionnykh-soglasheniy-v-rossii-deystvuet-v-sfere-zhkkh/</a:t>
            </a:r>
          </a:p>
          <a:p xmlns:a="http://schemas.openxmlformats.org/drawingml/2006/main">
            <a:r>
              <a:t>https://newsroom24.ru/murmansk/news/politics/2026/news_323931/</a:t>
            </a:r>
          </a:p>
          <a:p xmlns:a="http://schemas.openxmlformats.org/drawingml/2006/main">
            <a:r>
              <a:t>https://murmansk.ru/52053</a:t>
            </a:r>
          </a:p>
          <a:p xmlns:a="http://schemas.openxmlformats.org/drawingml/2006/main">
            <a:r>
              <a:t>https://51.ru/text/gorod/2026/01/22/76228112/</a:t>
            </a:r>
          </a:p>
          <a:p xmlns:a="http://schemas.openxmlformats.org/drawingml/2006/main">
            <a:r>
              <a:t>https://www.murman.ru/news/2026/05/02/2334/</a:t>
            </a:r>
          </a:p>
          <a:p xmlns:a="http://schemas.openxmlformats.org/drawingml/2006/main">
            <a:r>
              <a:t>https://murman.ru/news/2026/09/06/2141/</a:t>
            </a:r>
          </a:p>
          <a:p xmlns:a="http://schemas.openxmlformats.org/drawingml/2006/main">
            <a:r>
              <a:t>https://www.murman.ru/news/2026/09/13/2242/</a:t>
            </a:r>
          </a:p>
          <a:p xmlns:a="http://schemas.openxmlformats.org/drawingml/2006/main">
            <a:r>
              <a:t>https://ru.wikipedia.org/wiki/%D0%A7%D0%B8%D0%B1%D0%B8%D1%81,_%D0%90%D0%BD%D0%B4%D1%80%D0%B5%D0%B9_%D0%92%D0%BB%D0%B0%D0%B4%D0%B8%D0%BC%D0%B8%D1%80%D0%BE%D0%B2%D0%B8%D1%87</a:t>
            </a:r>
          </a:p>
          <a:p xmlns:a="http://schemas.openxmlformats.org/drawingml/2006/main">
            <a:r>
              <a:t>https://tass.ru/obschestvo/23491353</a:t>
            </a:r>
          </a:p>
          <a:p xmlns:a="http://schemas.openxmlformats.org/drawingml/2006/main">
            <a:r>
              <a:t>https://www.murman.ru/news/2026/09/03/2243/</a:t>
            </a:r>
          </a:p>
          <a:p xmlns:a="http://schemas.openxmlformats.org/drawingml/2006/main">
            <a:r>
              <a:t>https://msp.citymurmansk.ru/news/2026/09/03/0930/</a:t>
            </a:r>
          </a:p>
          <a:p xmlns:a="http://schemas.openxmlformats.org/drawingml/2006/main">
            <a:r>
              <a:t>http://kremlin.ru/events/president/letters/80916</a:t>
            </a:r>
          </a:p>
          <a:p xmlns:a="http://schemas.openxmlformats.org/drawingml/2006/main">
            <a:r>
              <a:t>https://www.murmansk.kp.ru/daily/277813.4/5300258/</a:t>
            </a:r>
          </a:p>
          <a:p xmlns:a="http://schemas.openxmlformats.org/drawingml/2006/main">
            <a:r>
              <a:t>https://www.fontanka.ru/2021/07/27/70046798/</a:t>
            </a:r>
          </a:p>
          <a:p xmlns:a="http://schemas.openxmlformats.org/drawingml/2006/main">
            <a:r>
              <a:t>https://www.kommersant.ru/doc/4639758</a:t>
            </a:r>
          </a:p>
          <a:p xmlns:a="http://schemas.openxmlformats.org/drawingml/2006/main">
            <a:r>
              <a:t>https://www.bbc.com/russian/news-55614829</a:t>
            </a:r>
          </a:p>
          <a:p xmlns:a="http://schemas.openxmlformats.org/drawingml/2006/main">
            <a:r>
              <a:t>https://newpeople.ru/Deputy/sardana-avksenteva</a:t>
            </a:r>
          </a:p>
          <a:p xmlns:a="http://schemas.openxmlformats.org/drawingml/2006/main">
            <a:r>
              <a:t>https://www.pnp.ru/economics/kontrol-za-koncessionnymi-soglasheniyami-predlozhili-usilit.html</a:t>
            </a:r>
          </a:p>
          <a:p xmlns:a="http://schemas.openxmlformats.org/drawingml/2006/main">
            <a:r>
              <a:t>https://www.ng.ru/politics/2024-12-05/1_9150_right.html</a:t>
            </a:r>
          </a:p>
          <a:p xmlns:a="http://schemas.openxmlformats.org/drawingml/2006/main">
            <a:r>
              <a:t>https://news.ru/society/v-novyh-lyudyah-rasskazali-o-glavnyh-zadachah-partii-pered-vyborami</a:t>
            </a:r>
          </a:p>
          <a:p xmlns:a="http://schemas.openxmlformats.org/drawingml/2006/main">
            <a:r>
              <a:t>https://www.kommersant.ru/doc/8939397</a:t>
            </a:r>
          </a:p>
          <a:p xmlns:a="http://schemas.openxmlformats.org/drawingml/2006/main">
            <a:r>
              <a:t>https://tass.ru/info/5220823</a:t>
            </a:r>
          </a:p>
          <a:p xmlns:a="http://schemas.openxmlformats.org/drawingml/2006/main">
            <a:r>
              <a:t>https://tass.ru/info/15547711</a:t>
            </a:r>
          </a:p>
          <a:p xmlns:a="http://schemas.openxmlformats.org/drawingml/2006/main">
            <a:r>
              <a:t>https://www.bbc.com/russian/features-62661643</a:t>
            </a:r>
          </a:p>
          <a:p xmlns:a="http://schemas.openxmlformats.org/drawingml/2006/main">
            <a:r>
              <a:t>https://www.kommersant.ru/doc/3298219</a:t>
            </a:r>
          </a:p>
          <a:p xmlns:a="http://schemas.openxmlformats.org/drawingml/2006/main">
            <a:r>
              <a:t>https://www.svoboda.org/a/31217129.html</a:t>
            </a:r>
          </a:p>
          <a:p xmlns:a="http://schemas.openxmlformats.org/drawingml/2006/main">
            <a:r>
              <a:t>https://www.interfax.ru/russia/902059</a:t>
            </a:r>
          </a:p>
          <a:p xmlns:a="http://schemas.openxmlformats.org/drawingml/2006/main">
            <a:r>
              <a:t>https://www.bfm.ru/news/525620</a:t>
            </a:r>
          </a:p>
          <a:p xmlns:a="http://schemas.openxmlformats.org/drawingml/2006/main">
            <a:r>
              <a:t>https://novayagazeta.ru/articles/2023/03/16/do-urovnia-myshei-media</a:t>
            </a:r>
          </a:p>
          <a:p xmlns:a="http://schemas.openxmlformats.org/drawingml/2006/main">
            <a:r>
              <a:t>https://tjournal.ru/71076</a:t>
            </a:r>
          </a:p>
          <a:p xmlns:a="http://schemas.openxmlformats.org/drawingml/2006/main">
            <a:r>
              <a:t>https://www.nakanune.ru/articles/111648/</a:t>
            </a:r>
          </a:p>
          <a:p xmlns:a="http://schemas.openxmlformats.org/drawingml/2006/main">
            <a:r>
              <a:t>https://adcmemorial.org/statyi/kolonki/neprotivlenie-rasizmu/</a:t>
            </a:r>
          </a:p>
          <a:p xmlns:a="http://schemas.openxmlformats.org/drawingml/2006/main">
            <a:r>
              <a:t>https://www.svoboda.org/a/royzman-i-drugie-zhiteli-ekaterinburga/31997151.html</a:t>
            </a:r>
          </a:p>
          <a:p xmlns:a="http://schemas.openxmlformats.org/drawingml/2006/main">
            <a:r>
              <a:t>https://www.e1.ru/text/politics/2022/02/24/70466417/</a:t>
            </a:r>
          </a:p>
          <a:p xmlns:a="http://schemas.openxmlformats.org/drawingml/2006/main">
            <a:r>
              <a:t>https://www.dw.com/ru/kommentarij-evgenij-rojzman-i-sila-pravdy/a-62917754</a:t>
            </a:r>
          </a:p>
          <a:p xmlns:a="http://schemas.openxmlformats.org/drawingml/2006/main">
            <a:r>
              <a:t>https://meduza.io/paragraph/2022/08/26/priehali-moskvichi-i-dumali-chto-zdes-duraki-sobralis</a:t>
            </a:r>
          </a:p>
          <a:p xmlns:a="http://schemas.openxmlformats.org/drawingml/2006/main">
            <a:r>
              <a:t>https://znamlit.ru/publication.php?id=7379</a:t>
            </a:r>
          </a:p>
          <a:p xmlns:a="http://schemas.openxmlformats.org/drawingml/2006/main">
            <a:r>
              <a:t>https://tass.ru/interviews/6080499</a:t>
            </a:r>
          </a:p>
          <a:p xmlns:a="http://schemas.openxmlformats.org/drawingml/2006/main">
            <a:r>
              <a:t>https://45.ru/text/politics/2024/09/09/73952072/</a:t>
            </a:r>
          </a:p>
          <a:p xmlns:a="http://schemas.openxmlformats.org/drawingml/2006/main">
            <a:r>
              <a:t>http://special.kremlin.ru/events/president/news/70638</a:t>
            </a:r>
          </a:p>
          <a:p xmlns:a="http://schemas.openxmlformats.org/drawingml/2006/main">
            <a:r>
              <a:t>https://ura.news/news/1053132902</a:t>
            </a:r>
          </a:p>
          <a:p xmlns:a="http://schemas.openxmlformats.org/drawingml/2006/main">
            <a:r>
              <a:t>https://ura.news/articles/1036276564</a:t>
            </a:r>
          </a:p>
          <a:p xmlns:a="http://schemas.openxmlformats.org/drawingml/2006/main">
            <a:r>
              <a:t>https://tass.ru/novosti-regionov/28187431</a:t>
            </a:r>
          </a:p>
          <a:p xmlns:a="http://schemas.openxmlformats.org/drawingml/2006/main">
            <a:r>
              <a:t>https://fedpress.ru/person/1753607</a:t>
            </a:r>
          </a:p>
          <a:p xmlns:a="http://schemas.openxmlformats.org/drawingml/2006/main">
            <a:r>
              <a:t>https://eburg.mk.ru/social/2026/10/14/zhiteley-zauralya-predupredili-o-lozhnykh-videorolikakh-s-gubernatorom.html</a:t>
            </a:r>
          </a:p>
          <a:p xmlns:a="http://schemas.openxmlformats.org/drawingml/2006/main">
            <a:r>
              <a:t>https://regnum.ru/news/3530808</a:t>
            </a:r>
          </a:p>
          <a:p xmlns:a="http://schemas.openxmlformats.org/drawingml/2006/main">
            <a:r>
              <a:t>https://kurganvera.ru/news/vrns/mitropolit-daniil-i-vadim-shumkov-vozglavili-delegatsiyu-kurganskoy-oblasti-na-vsemirnom-russkom-sob/</a:t>
            </a:r>
          </a:p>
          <a:p xmlns:a="http://schemas.openxmlformats.org/drawingml/2006/main">
            <a:r>
              <a:t>https://45.ru/text/politics/2026/06/26/76499700/</a:t>
            </a:r>
          </a:p>
          <a:p xmlns:a="http://schemas.openxmlformats.org/drawingml/2006/main">
            <a:r>
              <a:t>https://niva-kurtamysh.com/news/obshchestvo/vystuplenie-gubernatora-kurganskoy-oblasti-vadima-shumkova</a:t>
            </a:r>
          </a:p>
          <a:p xmlns:a="http://schemas.openxmlformats.org/drawingml/2006/main">
            <a:r>
              <a:t>https://t.me/s/kurganskayaobl?before=42616</a:t>
            </a:r>
          </a:p>
          <a:p xmlns:a="http://schemas.openxmlformats.org/drawingml/2006/main">
            <a:r>
              <a:t>https://www.bbc.com/russian/news-54368577</a:t>
            </a:r>
          </a:p>
          <a:p xmlns:a="http://schemas.openxmlformats.org/drawingml/2006/main">
            <a:r>
              <a:t>https://www.bbc.com/russian/articles/cp0769dp15eo</a:t>
            </a:r>
          </a:p>
          <a:p xmlns:a="http://schemas.openxmlformats.org/drawingml/2006/main">
            <a:r>
              <a:t>https://navalny.com/materials/blogpost-6017</a:t>
            </a:r>
          </a:p>
          <a:p xmlns:a="http://schemas.openxmlformats.org/drawingml/2006/main">
            <a:r>
              <a:t>https://www.bbc.com/russian/news-58563592</a:t>
            </a:r>
          </a:p>
          <a:p xmlns:a="http://schemas.openxmlformats.org/drawingml/2006/main">
            <a:r>
              <a:t>https://navalny.com/materials/blogpost-6544</a:t>
            </a:r>
          </a:p>
          <a:p xmlns:a="http://schemas.openxmlformats.org/drawingml/2006/main">
            <a:r>
              <a:t>https://www.bbc.com/russian/news-58270043</a:t>
            </a:r>
          </a:p>
          <a:p xmlns:a="http://schemas.openxmlformats.org/drawingml/2006/main">
            <a:r>
              <a:t>https://www.bbc.com/russian/articles/cvg3p9l1e5ro</a:t>
            </a:r>
          </a:p>
          <a:p xmlns:a="http://schemas.openxmlformats.org/drawingml/2006/main">
            <a:r>
              <a:t>https://www.bbc.com/russian/features-54435835</a:t>
            </a:r>
          </a:p>
          <a:p xmlns:a="http://schemas.openxmlformats.org/drawingml/2006/main">
            <a:r>
              <a:t>https://2018.navalny.com/platform/7/</a:t>
            </a:r>
          </a:p>
          <a:p xmlns:a="http://schemas.openxmlformats.org/drawingml/2006/main">
            <a:r>
              <a:t>https://2018.navalny.com/platform/3/</a:t>
            </a:r>
          </a:p>
          <a:p xmlns:a="http://schemas.openxmlformats.org/drawingml/2006/main">
            <a:r>
              <a:t>https://2018.navalny.com/platform/10/</a:t>
            </a:r>
          </a:p>
          <a:p xmlns:a="http://schemas.openxmlformats.org/drawingml/2006/main">
            <a:r>
              <a:t>https://2018.navalny.com/platform/9/</a:t>
            </a:r>
          </a:p>
          <a:p xmlns:a="http://schemas.openxmlformats.org/drawingml/2006/main">
            <a:r>
              <a:t>https://navalny.com/editorials/aleksey-navalnyy-protiv-voyny</a:t>
            </a:r>
          </a:p>
          <a:p xmlns:a="http://schemas.openxmlformats.org/drawingml/2006/main">
            <a:r>
              <a:t>https://navalny.com/?p=149</a:t>
            </a:r>
          </a:p>
          <a:p xmlns:a="http://schemas.openxmlformats.org/drawingml/2006/main">
            <a:r>
              <a:t>https://www.interfax.ru/russia/876151</a:t>
            </a:r>
          </a:p>
          <a:p xmlns:a="http://schemas.openxmlformats.org/drawingml/2006/main">
            <a:r>
              <a:t>https://www.dw.com/ru/srok-ne-za-fejk-a-za-politiku-reakcii-v-frg-i-rf-na-prigovor-asinu/a-64049957</a:t>
            </a:r>
          </a:p>
          <a:p xmlns:a="http://schemas.openxmlformats.org/drawingml/2006/main">
            <a:r>
              <a:t>https://www.lemonde.fr/en/international/article/2025/05/27/russian-opposition-figure-ilya-yashin-if-ukraine-is-handed-over-to-putin-it-will-be-a-tragedy-and-the-prologue-to-a-global-confrontation_6741728_4.html</a:t>
            </a:r>
          </a:p>
          <a:p xmlns:a="http://schemas.openxmlformats.org/drawingml/2006/main">
            <a:r>
              <a:t>https://www.bbc.com/russian/articles/crgl69w9472o</a:t>
            </a:r>
          </a:p>
          <a:p xmlns:a="http://schemas.openxmlformats.org/drawingml/2006/main">
            <a:r>
              <a:t>https://www.svoboda.org/a/yashin-court/32165539.html</a:t>
            </a:r>
          </a:p>
          <a:p xmlns:a="http://schemas.openxmlformats.org/drawingml/2006/main">
            <a:r>
              <a:t>https://www.dw.com/ru/ila-asin-putin-predvoditel-sil-mrakobesia/a-69923731</a:t>
            </a:r>
          </a:p>
          <a:p xmlns:a="http://schemas.openxmlformats.org/drawingml/2006/main">
            <a:r>
              <a:t>https://novayagazeta.eu/articles/2025/08/01/my-ne-mozhem-trebovat-no-mozhem-obiasniat</a:t>
            </a:r>
          </a:p>
          <a:p xmlns:a="http://schemas.openxmlformats.org/drawingml/2006/main">
            <a:r>
              <a:t>https://meduza.io/feature/2019/07/20/to-chto-putin-ne-smog-sdelat-za-20-let-sobyanin-sdelal-za-mesyats</a:t>
            </a:r>
          </a:p>
          <a:p xmlns:a="http://schemas.openxmlformats.org/drawingml/2006/main">
            <a:r>
              <a:t>https://novayagazeta.eu/articles/2024/11/18/pochuvstvovat-sebia-ne-odinokimi</a:t>
            </a:r>
          </a:p>
          <a:p xmlns:a="http://schemas.openxmlformats.org/drawingml/2006/main">
            <a:r>
              <a:t>https://www.svoboda.org/a/voyna-putin-i-politzaklyuchennye-iljya-yashin-o-svoih-planah/33177839.html</a:t>
            </a:r>
          </a:p>
          <a:p xmlns:a="http://schemas.openxmlformats.org/drawingml/2006/main">
            <a:r>
              <a:t>https://www.dw.com/ru/asin-sejcas-nevozmozno-obedinit-rossijskuu-oppoziciu-da-i-ne-nuzno/a-70291088</a:t>
            </a:r>
          </a:p>
          <a:p xmlns:a="http://schemas.openxmlformats.org/drawingml/2006/main">
            <a:r>
              <a:t>https://www.dw.com/ru/vladimir-karamurza/t-37465233</a:t>
            </a:r>
          </a:p>
          <a:p xmlns:a="http://schemas.openxmlformats.org/drawingml/2006/main">
            <a:r>
              <a:t>https://ovd.info/persons/kara-murza-vladimir-vladimirovich</a:t>
            </a:r>
          </a:p>
          <a:p xmlns:a="http://schemas.openxmlformats.org/drawingml/2006/main">
            <a:r>
              <a:t>https://ovd.info/2024/08/03/kogo-rossiya-vydala-v-ramkakh-obmena-zaklyuchennymi-s-zapadom-istorii-osvobozhdennykh</a:t>
            </a:r>
          </a:p>
          <a:p xmlns:a="http://schemas.openxmlformats.org/drawingml/2006/main">
            <a:r>
              <a:t>https://www.svoboda.org/a/kara-murza-obmen/33059121.html</a:t>
            </a:r>
          </a:p>
          <a:p xmlns:a="http://schemas.openxmlformats.org/drawingml/2006/main">
            <a:r>
              <a:t>https://novayagazeta.ru/articles/2024/08/16/prezident-baiden-prinial-osvobozhdennogo-v-rezultate-obmena-politzakliuchennogo-vladimira-kara-murzu-s-semei-v-belom-dome-news</a:t>
            </a:r>
          </a:p>
          <a:p xmlns:a="http://schemas.openxmlformats.org/drawingml/2006/main">
            <a:r>
              <a:t>https://genevasummit.org/speech/vladimir-kara-murza-speaks-at-2018-geneva-summit-main-event/</a:t>
            </a:r>
          </a:p>
          <a:p xmlns:a="http://schemas.openxmlformats.org/drawingml/2006/main">
            <a:r>
              <a:t>https://humanrights.ca/event-series/presidents-lecture-series</a:t>
            </a:r>
          </a:p>
          <a:p xmlns:a="http://schemas.openxmlformats.org/drawingml/2006/main">
            <a:r>
              <a:t>https://www.radiofrance.fr/franceinter/podcasts/l-info-de-france-inter/la-democratie-doit-etre-protegee-chaque-minute-de-chaque-jour-declare-l-opposant-russe-vladimir-kara-mourza-8105094</a:t>
            </a:r>
          </a:p>
          <a:p xmlns:a="http://schemas.openxmlformats.org/drawingml/2006/main">
            <a:r>
              <a:t>https://georgetownvoice.com/2025/10/08/dissident-in-residence-vladimir-kara-murza-applies-past-lessons-to-present-day-in-recent-event-discussing-democracy/</a:t>
            </a:r>
          </a:p>
          <a:p xmlns:a="http://schemas.openxmlformats.org/drawingml/2006/main">
            <a:r>
              <a:t>https://www.oscepa.org/en/documents/winter-meetings/2025-vienna/speeches-36/5176-vladimir-kara-murza-address-to-the-osce-pa-winter-meeting-in-vienna-21-february-2025/file</a:t>
            </a:r>
          </a:p>
          <a:p xmlns:a="http://schemas.openxmlformats.org/drawingml/2006/main">
            <a:r>
              <a:t>https://hrf.org/wp-content/uploads/2024/10/VKM-%E2%80%93-Statement-of-Facts-and-Levinson-Analysis.pdf</a:t>
            </a:r>
          </a:p>
          <a:p xmlns:a="http://schemas.openxmlformats.org/drawingml/2006/main">
            <a:r>
              <a:t>https://www.govinfo.gov/content/pkg/CREC-2024-06-11/html/CREC-2024-06-11-pt1-PgH3699.htm</a:t>
            </a:r>
          </a:p>
          <a:p xmlns:a="http://schemas.openxmlformats.org/drawingml/2006/main">
            <a:r>
              <a:t>https://antiwarcommittee.info/en/statement-on-the-persecution-of-vladimir-kara-murza/</a:t>
            </a:r>
          </a:p>
          <a:p xmlns:a="http://schemas.openxmlformats.org/drawingml/2006/main">
            <a:r>
              <a:t>https://www.norway.no/en/missions/osce/norway-and-the-osce/statements/statements-with--norwegian-alignment-2024/joint-statement-on-vladimir-kara-murza/</a:t>
            </a:r>
          </a:p>
          <a:p xmlns:a="http://schemas.openxmlformats.org/drawingml/2006/main">
            <a:r>
              <a:t>https://www.aljazeera.com/news/2025/4/23/kremlin-critic-decried-for-racist-rant-on-minorities-fighting-for-russia</a:t>
            </a:r>
          </a:p>
          <a:p xmlns:a="http://schemas.openxmlformats.org/drawingml/2006/main">
            <a:r>
              <a:t>https://www.rmc.edu/news/former-political-prisoner-vladimir-kara-murza-offers-vision-of-hope-for-russian-democracy/</a:t>
            </a:r>
          </a:p>
          <a:p xmlns:a="http://schemas.openxmlformats.org/drawingml/2006/main">
            <a:r>
              <a:t>https://2018.yavlinsky.ru/campaign/</a:t>
            </a:r>
          </a:p>
          <a:p xmlns:a="http://schemas.openxmlformats.org/drawingml/2006/main">
            <a:r>
              <a:t>http://2018.yavlinsky.ru/programm/</a:t>
            </a:r>
          </a:p>
          <a:p xmlns:a="http://schemas.openxmlformats.org/drawingml/2006/main">
            <a:r>
              <a:t>https://campaign2018.yavlinsky.ru/</a:t>
            </a:r>
          </a:p>
          <a:p xmlns:a="http://schemas.openxmlformats.org/drawingml/2006/main">
            <a:r>
              <a:t>https://www.yavlinsky.ru/position/war/</a:t>
            </a:r>
          </a:p>
          <a:p xmlns:a="http://schemas.openxmlformats.org/drawingml/2006/main">
            <a:r>
              <a:t>https://www.yavlinsky.ru/position/cease-fire/</a:t>
            </a:r>
          </a:p>
          <a:p xmlns:a="http://schemas.openxmlformats.org/drawingml/2006/main">
            <a:r>
              <a:t>https://www.yavlinsky.ru/article_tax/ukraina/</a:t>
            </a:r>
          </a:p>
          <a:p xmlns:a="http://schemas.openxmlformats.org/drawingml/2006/main">
            <a:r>
              <a:t>https://www.yavlinsky.ru/biografiya/</a:t>
            </a:r>
          </a:p>
          <a:p xmlns:a="http://schemas.openxmlformats.org/drawingml/2006/main">
            <a:r>
              <a:t>https://www.yabloko.ru/publikatsii/2018/02/15_0</a:t>
            </a:r>
          </a:p>
          <a:p xmlns:a="http://schemas.openxmlformats.org/drawingml/2006/main">
            <a:r>
              <a:t>https://www.yabloko.ru/publikatsii/2018/06/19</a:t>
            </a:r>
          </a:p>
          <a:p xmlns:a="http://schemas.openxmlformats.org/drawingml/2006/main">
            <a:r>
              <a:t>https://www.yavlinsky.ru/article/eto-referendum/</a:t>
            </a:r>
          </a:p>
          <a:p xmlns:a="http://schemas.openxmlformats.org/drawingml/2006/main">
            <a:r>
              <a:t>https://www.svoboda.org/a/27801792.html</a:t>
            </a:r>
          </a:p>
          <a:p xmlns:a="http://schemas.openxmlformats.org/drawingml/2006/main">
            <a:r>
              <a:t>https://www.svoboda.org/a/29294829.html</a:t>
            </a:r>
          </a:p>
          <a:p xmlns:a="http://schemas.openxmlformats.org/drawingml/2006/main">
            <a:r>
              <a:t>https://www.yavlinsky.ru/article/intervyu-g-yavlinskogo-zhertvy-budut-proryva-net/</a:t>
            </a:r>
          </a:p>
          <a:p xmlns:a="http://schemas.openxmlformats.org/drawingml/2006/main">
            <a:r>
              <a:t>https://www.yavlinsky.ru/article/my-budem-idti-do-kontsa/</a:t>
            </a:r>
          </a:p>
          <a:p xmlns:a="http://schemas.openxmlformats.org/drawingml/2006/main">
            <a:r>
              <a:t>https://www.yavlinsky.ru/article/prezidentskie-vybory-1996-30-let-spustya/</a:t>
            </a:r>
          </a:p>
          <a:p xmlns:a="http://schemas.openxmlformats.org/drawingml/2006/main">
            <a:r>
              <a:t>https://www.forbes.ru/interview/45575-reformatory-prihodyat-k-vlasti-grigorii-yavlinskii</a:t>
            </a:r>
          </a:p>
          <a:p xmlns:a="http://schemas.openxmlformats.org/drawingml/2006/main">
            <a:r>
              <a:t>https://www.bbc.com/russian/articles/cy8ee2wngd8o</a:t>
            </a:r>
          </a:p>
          <a:p xmlns:a="http://schemas.openxmlformats.org/drawingml/2006/main">
            <a:r>
              <a:t>https://www.yabloko.ru/regnews/Pskov/2019/01/21-0</a:t>
            </a:r>
          </a:p>
          <a:p xmlns:a="http://schemas.openxmlformats.org/drawingml/2006/main">
            <a:r>
              <a:t>https://www.yabloko.ru/publikatsii/2019/06/14</a:t>
            </a:r>
          </a:p>
          <a:p xmlns:a="http://schemas.openxmlformats.org/drawingml/2006/main">
            <a:r>
              <a:t>https://zona.media/article/2019/02/27/pskov</a:t>
            </a:r>
          </a:p>
          <a:p xmlns:a="http://schemas.openxmlformats.org/drawingml/2006/main">
            <a:r>
              <a:t>https://spektr.press/ya-otvechayu-za-vse-mnoj-skazannoe-no-ne-otvechayu-za-izvraschenie-skazannogo-lev-shlosberg-o-travle-i-setkah-telegram-kanalov-odnokletochnyh-politikah-reshivshih-pobedit-putina-rukami-u/</a:t>
            </a:r>
          </a:p>
          <a:p xmlns:a="http://schemas.openxmlformats.org/drawingml/2006/main">
            <a:r>
              <a:t>https://www.yabloko.ru/Persons/shlosberg.html</a:t>
            </a:r>
          </a:p>
          <a:p xmlns:a="http://schemas.openxmlformats.org/drawingml/2006/main">
            <a:r>
              <a:t>https://pln-pskov.ru/politics/314872.html</a:t>
            </a:r>
          </a:p>
          <a:p xmlns:a="http://schemas.openxmlformats.org/drawingml/2006/main">
            <a:r>
              <a:t>https://www.yabloko.ru/publikatsii/2022/02/18-0</a:t>
            </a:r>
          </a:p>
          <a:p xmlns:a="http://schemas.openxmlformats.org/drawingml/2006/main">
            <a:r>
              <a:t>https://ru.krymr.com/a/rossiya-putin-voyna-repressii-lev-shlosberg-intervyu/31806389.html</a:t>
            </a:r>
          </a:p>
          <a:p xmlns:a="http://schemas.openxmlformats.org/drawingml/2006/main">
            <a:r>
              <a:t>https://www.currenttime.tv/a/politika-vlastey-chtoby-lyudi-perestali-govorit-o-spetsialnoy-voennoy-operatsii-lev-shlosberg-o-dele-protiv-nego-i-nikolaya-kuzmina/31807396.html</a:t>
            </a:r>
          </a:p>
          <a:p xmlns:a="http://schemas.openxmlformats.org/drawingml/2006/main">
            <a:r>
              <a:t>https://zona.media/article/2026/08/14/schlosberg</a:t>
            </a:r>
          </a:p>
          <a:p xmlns:a="http://schemas.openxmlformats.org/drawingml/2006/main">
            <a:r>
              <a:t>https://www.svoboda.org/a/lishniy-zalozhnik-vot-chto-im-vazhno-arest-lva-shlosberga/33615624.html</a:t>
            </a:r>
          </a:p>
          <a:p xmlns:a="http://schemas.openxmlformats.org/drawingml/2006/main">
            <a:r>
              <a:t>https://novayagazeta.eu/articles/2026/08/17/ostavshiisia</a:t>
            </a:r>
          </a:p>
          <a:p xmlns:a="http://schemas.openxmlformats.org/drawingml/2006/main">
            <a:r>
              <a:t>https://www.yabloko.ru/content/vishnevskii_boris_lazarevich</a:t>
            </a:r>
          </a:p>
          <a:p xmlns:a="http://schemas.openxmlformats.org/drawingml/2006/main">
            <a:r>
              <a:t>https://www.dp.ru/a/2018/06/18/Aktivnaja_storona_konflikt</a:t>
            </a:r>
          </a:p>
          <a:p xmlns:a="http://schemas.openxmlformats.org/drawingml/2006/main">
            <a:r>
              <a:t>https://www.bbc.com/russian/features-58481940</a:t>
            </a:r>
          </a:p>
          <a:p xmlns:a="http://schemas.openxmlformats.org/drawingml/2006/main">
            <a:r>
              <a:t>https://www.dp.ru/a/2023/01/16/Deputat_Peterburga_Vishnev</a:t>
            </a:r>
          </a:p>
          <a:p xmlns:a="http://schemas.openxmlformats.org/drawingml/2006/main">
            <a:r>
              <a:t>https://echofm.online/portret-dnya/portret-dnya-boris-vishnevskij-peterburgskij-politik</a:t>
            </a:r>
          </a:p>
          <a:p xmlns:a="http://schemas.openxmlformats.org/drawingml/2006/main">
            <a:r>
              <a:t>https://spb.yabloko.ru/people/vishnevskij-boris-lazarevich/</a:t>
            </a:r>
          </a:p>
          <a:p xmlns:a="http://schemas.openxmlformats.org/drawingml/2006/main">
            <a:r>
              <a:t>https://www.dp.ru/a/2026/08/26/bitva-nachalas-gde-v-peterburge</a:t>
            </a:r>
          </a:p>
          <a:p xmlns:a="http://schemas.openxmlformats.org/drawingml/2006/main">
            <a:r>
              <a:t>https://www.yabloko.ru/regnews/Spb/2022/02/21</a:t>
            </a:r>
          </a:p>
          <a:p xmlns:a="http://schemas.openxmlformats.org/drawingml/2006/main">
            <a:r>
              <a:t>https://www.yabloko.ru/cat-news/2021/08/06-0</a:t>
            </a:r>
          </a:p>
          <a:p xmlns:a="http://schemas.openxmlformats.org/drawingml/2006/main">
            <a:r>
              <a:t>https://www.rbc.ru/spb_sz/16/01/2023/63c53d9c9a7947d9bef4b853</a:t>
            </a:r>
          </a:p>
          <a:p xmlns:a="http://schemas.openxmlformats.org/drawingml/2006/main">
            <a:r>
              <a:t>https://www.rbc.ru/politics/06/05/2024/6638a8609a79472c01075a2c</a:t>
            </a:r>
          </a:p>
          <a:p xmlns:a="http://schemas.openxmlformats.org/drawingml/2006/main">
            <a:r>
              <a:t>https://www.svoboda.org/a/politika-dmitriya-gudkova-deportirovali-iz-gruzii-v-kiev/31679697.html</a:t>
            </a:r>
          </a:p>
          <a:p xmlns:a="http://schemas.openxmlformats.org/drawingml/2006/main">
            <a:r>
              <a:t>https://ru.krymr.com/a/dmitriy-gudkov-ob-otyezde-iz-rossii/31295079.html</a:t>
            </a:r>
          </a:p>
          <a:p xmlns:a="http://schemas.openxmlformats.org/drawingml/2006/main">
            <a:r>
              <a:t>https://daily.afisha.ru/news/114366-syn-politika-dmitriya-gudkova-pokonchil-s-soboy-v-emigracii/amp/</a:t>
            </a:r>
          </a:p>
          <a:p xmlns:a="http://schemas.openxmlformats.org/drawingml/2006/main">
            <a:r>
              <a:t>https://life.ru/t/dmitriygudkov</a:t>
            </a:r>
          </a:p>
          <a:p xmlns:a="http://schemas.openxmlformats.org/drawingml/2006/main">
            <a:r>
              <a:t>https://uk.wikipedia.org/wiki/%D0%93%D1%83%D0%B4%D0%BA%D0%BE%D0%B2_%D0%94%D0%BC%D0%B8%D1%82%D1%80%D1%96%D0%B9_%D0%93%D0%B5%D0%BD%D0%B0%D0%B4%D1%96%D0%B9%D0%BE%D0%B2%D0%B8%D1%87</a:t>
            </a:r>
          </a:p>
          <a:p xmlns:a="http://schemas.openxmlformats.org/drawingml/2006/main">
            <a:r>
              <a:t>https://mt.gazeta.ru/blog/43692366076/Syin-byivshego-deputata-Gosdumyi-Dmitriya-Gudkova-pokonchil-s-so?utm_referrer=mirtesen.ru</a:t>
            </a:r>
          </a:p>
          <a:p xmlns:a="http://schemas.openxmlformats.org/drawingml/2006/main">
            <a:r>
              <a:t>https://www.bbc.com/russian/news-57381443</a:t>
            </a:r>
          </a:p>
          <a:p xmlns:a="http://schemas.openxmlformats.org/drawingml/2006/main">
            <a:r>
              <a:t>https://www.themoscowtimes.com/2021/06/06/kremlin-critic-dmitry-gudkov-flees-to-ukraine-a74123</a:t>
            </a:r>
          </a:p>
          <a:p xmlns:a="http://schemas.openxmlformats.org/drawingml/2006/main">
            <a:r>
              <a:t>https://www.yabloko.ru/publikatsii/2016/09/15</a:t>
            </a:r>
          </a:p>
          <a:p xmlns:a="http://schemas.openxmlformats.org/drawingml/2006/main">
            <a:r>
              <a:t>https://novayagazeta.ru/articles/2018/03/21/75886-ya-privyk-lyudyam-verit</a:t>
            </a:r>
          </a:p>
          <a:p xmlns:a="http://schemas.openxmlformats.org/drawingml/2006/main">
            <a:r>
              <a:t>https://www.rbc.ru/politics/15/03/2018/5aaa98049a7947d12d63f1e1</a:t>
            </a:r>
          </a:p>
          <a:p xmlns:a="http://schemas.openxmlformats.org/drawingml/2006/main">
            <a:r>
              <a:t>https://rus.team/people/gudkov-dmitrij-gennadevich</a:t>
            </a:r>
          </a:p>
          <a:p xmlns:a="http://schemas.openxmlformats.org/drawingml/2006/main">
            <a:r>
              <a:t>https://www.azattyqasia.org/a/chto-proiskhodit-v-donbasse-/31863310/lbl0lbi299676.html</a:t>
            </a:r>
          </a:p>
          <a:p xmlns:a="http://schemas.openxmlformats.org/drawingml/2006/main">
            <a:r>
              <a:t>https://www.dw.com/ru/dmitrij-gudkov-putin-na-storone-partii-vojny-no-pri-etom-on-trus-21092022/video-63193199</a:t>
            </a:r>
          </a:p>
          <a:p xmlns:a="http://schemas.openxmlformats.org/drawingml/2006/main">
            <a:r>
              <a:t>https://ru.wikinews.org/wiki/%D0%9A%D0%B0%D1%82%D0%B5%D0%B3%D0%BE%D1%80%D0%B8%D1%8F:%D0%93%D0%B5%D0%BD%D0%BD%D0%B0%D0%B4%D0%B8%D0%B9_%D0%93%D1%83%D0%B4%D0%BA%D0%BE%D0%B2</a:t>
            </a:r>
          </a:p>
          <a:p xmlns:a="http://schemas.openxmlformats.org/drawingml/2006/main">
            <a:r>
              <a:t>https://en.wikipedia.org/wiki/Gennady_Gudkov</a:t>
            </a:r>
          </a:p>
          <a:p xmlns:a="http://schemas.openxmlformats.org/drawingml/2006/main">
            <a:r>
              <a:t>https://x.com/gudkov_g</a:t>
            </a:r>
          </a:p>
          <a:p xmlns:a="http://schemas.openxmlformats.org/drawingml/2006/main">
            <a:r>
              <a:t>https://www.dw.com/ru/chto-dmitrij-gudkov-nameren-delat-v-ukraine-i-vernetsja-li-v-rossiju/a-57830619</a:t>
            </a:r>
          </a:p>
          <a:p xmlns:a="http://schemas.openxmlformats.org/drawingml/2006/main">
            <a:r>
              <a:t>https://ru.wikipedia.org/wiki/%D0%93%D1%83%D0%B4%D0%BA%D0%BE%D0%B2,_%D0%93%D0%B5%D0%BD%D0%BD%D0%B0%D0%B4%D0%B8%D0%B9_%D0%92%D0%BB%D0%B0%D0%B4%D0%B8%D0%BC%D0%B8%D1%80%D0%BE%D0%B2%D0%B8%D1%87</a:t>
            </a:r>
          </a:p>
          <a:p xmlns:a="http://schemas.openxmlformats.org/drawingml/2006/main">
            <a:r>
              <a:t>https://ru.wikipedia.org/wiki/%D0%93%D1%83%D0%B4%D0%BA%D0%BE%D0%B2,_%D0%94%D0%BC%D0%B8%D1%82%D1%80%D0%B8%D0%B9_%D0%93%D0%B5%D0%BD%D0%BD%D0%B0%D0%B4%D1%8C%D0%B5%D0%B2%D0%B8%D1%87</a:t>
            </a:r>
          </a:p>
          <a:p xmlns:a="http://schemas.openxmlformats.org/drawingml/2006/main">
            <a:r>
              <a:t>https://utro02.tv/2022/10/31/navstrechu-sezdu-gennadij-gudkov-o-vyborah-obedinenii-oppoziczii-i-razdelenii-vlasti/</a:t>
            </a:r>
          </a:p>
          <a:p xmlns:a="http://schemas.openxmlformats.org/drawingml/2006/main">
            <a:r>
              <a:t>https://www.unian.net/war/rossiyskiy-oppozicioner-gudkov-putin-nachinaet-ponimat-chto-nastupaet-zh-pa-12031263.html</a:t>
            </a:r>
          </a:p>
          <a:p xmlns:a="http://schemas.openxmlformats.org/drawingml/2006/main">
            <a:r>
              <a:t>https://bntnews.bg/genadiy-gudkov-86846tag.html</a:t>
            </a:r>
          </a:p>
          <a:p xmlns:a="http://schemas.openxmlformats.org/drawingml/2006/main">
            <a:r>
              <a:t>https://tass.ru/encyclopedia/person/gudkov-dmitriy-gennadevich</a:t>
            </a:r>
          </a:p>
          <a:p xmlns:a="http://schemas.openxmlformats.org/drawingml/2006/main">
            <a:r>
              <a:t>https://www.kasparov.com/garry-kasparov-on-putin-and-the-virus-of-imperialism-wsj-free-expression-april-11-2022/</a:t>
            </a:r>
          </a:p>
          <a:p xmlns:a="http://schemas.openxmlformats.org/drawingml/2006/main">
            <a:r>
              <a:t>https://www.ilmessaggero.it/en/garry_kasparov_from_chess_champion_to_kremlin_critic-9797261.html</a:t>
            </a:r>
          </a:p>
          <a:p xmlns:a="http://schemas.openxmlformats.org/drawingml/2006/main">
            <a:r>
              <a:t>https://www.kasparov.com/category/russia/</a:t>
            </a:r>
          </a:p>
          <a:p xmlns:a="http://schemas.openxmlformats.org/drawingml/2006/main">
            <a:r>
              <a:t>https://www.kasparov.com/category/politics/</a:t>
            </a:r>
          </a:p>
          <a:p xmlns:a="http://schemas.openxmlformats.org/drawingml/2006/main">
            <a:r>
              <a:t>https://en.wikipedia.org/wiki/Political_views_of_Garry_Kasparov</a:t>
            </a:r>
          </a:p>
          <a:p xmlns:a="http://schemas.openxmlformats.org/drawingml/2006/main">
            <a:r>
              <a:t>https://www.dw.com/ru/kasparov-v-intervu-dw-vse-cto-delal-delaet-i-budet-delat-tramp-pomogaet-putinu/a-79633734</a:t>
            </a:r>
          </a:p>
          <a:p xmlns:a="http://schemas.openxmlformats.org/drawingml/2006/main">
            <a:r>
              <a:t>https://www.kasparov.com/</a:t>
            </a:r>
          </a:p>
          <a:p xmlns:a="http://schemas.openxmlformats.org/drawingml/2006/main">
            <a:r>
              <a:t>https://www.kasparov.com/a-conversation-with-garry-kasparov-thought-economics-with-vikas-shas-may-21-2017/</a:t>
            </a:r>
          </a:p>
          <a:p xmlns:a="http://schemas.openxmlformats.org/drawingml/2006/main">
            <a:r>
              <a:t>https://www.kasparov.com/new-yorker-interview-the-chess-grandmaster-and-political-activist-on-putin-trump-and-how-we-are-living-again-through-the-eighteen-fifties/</a:t>
            </a:r>
          </a:p>
          <a:p xmlns:a="http://schemas.openxmlformats.org/drawingml/2006/main">
            <a:r>
              <a:t>https://www.cnbc.com/2017/02/13/the-full-interview-with-former-world-chess-champion-garry-kasparov-on-trump-putin.html</a:t>
            </a:r>
          </a:p>
          <a:p xmlns:a="http://schemas.openxmlformats.org/drawingml/2006/main">
            <a:r>
              <a:t>https://www.reuters.com/world/europe/kasparov-calls-world-powers-throw-russia-back-into-stone-age-2022-03-03/</a:t>
            </a:r>
          </a:p>
          <a:p xmlns:a="http://schemas.openxmlformats.org/drawingml/2006/main">
            <a:r>
              <a:t>https://khodorkovsky.com/open-russia-manifesto/</a:t>
            </a:r>
          </a:p>
          <a:p xmlns:a="http://schemas.openxmlformats.org/drawingml/2006/main">
            <a:r>
              <a:t>https://khodorkovsky.com/programmes/initiatives/openrussia/</a:t>
            </a:r>
          </a:p>
          <a:p xmlns:a="http://schemas.openxmlformats.org/drawingml/2006/main">
            <a:r>
              <a:t>https://khodorkovsky.com/page/65/?m</a:t>
            </a:r>
          </a:p>
          <a:p xmlns:a="http://schemas.openxmlformats.org/drawingml/2006/main">
            <a:r>
              <a:t>https://khodorkovsky.com/page/80/?m</a:t>
            </a:r>
          </a:p>
          <a:p xmlns:a="http://schemas.openxmlformats.org/drawingml/2006/main">
            <a:r>
              <a:t>https://angliya.com/publication/mihail-hodorkovskiy-ne-priznayu-razdelenie-lyudey-na-osnovanii-politicheskih-vzglyadov/</a:t>
            </a:r>
          </a:p>
          <a:p xmlns:a="http://schemas.openxmlformats.org/drawingml/2006/main">
            <a:r>
              <a:t>https://www.dw.com/ru/mihail-hodorkovski-bojus-jeta-vojna-ne-budet-poslednej/a-61314556</a:t>
            </a:r>
          </a:p>
          <a:p xmlns:a="http://schemas.openxmlformats.org/drawingml/2006/main">
            <a:r>
              <a:t>https://ru.euronews.com/2022/06/21/ru-khodorkovsky-interview</a:t>
            </a:r>
          </a:p>
          <a:p xmlns:a="http://schemas.openxmlformats.org/drawingml/2006/main">
            <a:r>
              <a:t>https://ru.euronews.com/2022/06/23/mikhail-khodorkovsky</a:t>
            </a:r>
          </a:p>
          <a:p xmlns:a="http://schemas.openxmlformats.org/drawingml/2006/main">
            <a:r>
              <a:t>https://poligonmedia.io/mihail-hodorkovskij-putin-ne-pobedil/</a:t>
            </a:r>
          </a:p>
          <a:p xmlns:a="http://schemas.openxmlformats.org/drawingml/2006/main">
            <a:r>
              <a:t>https://www.pap.pl/ru/russian/news/khodorkovskiy-u-putina-est-prichiny-vesti-peregovory-o-prekraschenii-voyny-na-ukraine</a:t>
            </a:r>
          </a:p>
          <a:p xmlns:a="http://schemas.openxmlformats.org/drawingml/2006/main">
            <a:r>
              <a:t>https://milov.org/cat/debates</a:t>
            </a:r>
          </a:p>
          <a:p xmlns:a="http://schemas.openxmlformats.org/drawingml/2006/main">
            <a:r>
              <a:t>https://milov.org/entry/4188</a:t>
            </a:r>
          </a:p>
          <a:p xmlns:a="http://schemas.openxmlformats.org/drawingml/2006/main">
            <a:r>
              <a:t>https://milov.org/cat/international</a:t>
            </a:r>
          </a:p>
          <a:p xmlns:a="http://schemas.openxmlformats.org/drawingml/2006/main">
            <a:r>
              <a:t>https://tvrain.tv/teleshow/amerikanskie_gonki/tramp_vynashivaet_ideju_primiritsja_s_putinym-453802/</a:t>
            </a:r>
          </a:p>
          <a:p xmlns:a="http://schemas.openxmlformats.org/drawingml/2006/main">
            <a:r>
              <a:t>https://www.currenttime.tv/a/vladimir-milov-interview/31505887.html</a:t>
            </a:r>
          </a:p>
          <a:p xmlns:a="http://schemas.openxmlformats.org/drawingml/2006/main">
            <a:r>
              <a:t>https://ovd.info/express-news/2021/07/27/roskomnadzor-potreboval-ot-youtube-zablokirovat-kanaly-troikh-soratnikov</a:t>
            </a:r>
          </a:p>
          <a:p xmlns:a="http://schemas.openxmlformats.org/drawingml/2006/main">
            <a:r>
              <a:t>https://www.dw.com/ru/sud-v-moskve-prigovoril-vladimira-milova-k-8-godam-kolonii/a-67415717</a:t>
            </a:r>
          </a:p>
          <a:p xmlns:a="http://schemas.openxmlformats.org/drawingml/2006/main">
            <a:r>
              <a:t>https://ru.wikipedia.org/wiki/%D0%9C%D0%B8%D0%BB%D0%BE%D0%B2,_%D0%92%D0%BB%D0%B0%D0%B4%D0%B8%D0%BC%D0%B8%D1%80_%D0%A1%D1%82%D0%B0%D0%BD%D0%B8%D1%81%D0%BB%D0%B0%D0%B2%D0%BE%D0%B2%D0%B8%D1%87</a:t>
            </a:r>
          </a:p>
          <a:p xmlns:a="http://schemas.openxmlformats.org/drawingml/2006/main">
            <a:r>
              <a:t>https://gordonua.com/news/worldnews/milov-merkel-molodec-poteryala-vsego-7-8-v-polzu-svezhey-antiimmigrantskoy-partii-na-fone-migrantskogo-krizisa-208758.html</a:t>
            </a:r>
          </a:p>
          <a:p xmlns:a="http://schemas.openxmlformats.org/drawingml/2006/main">
            <a:r>
              <a:t>https://echofm.online/programs/hochu-skazat/hochu-skazat-larina-69</a:t>
            </a:r>
          </a:p>
          <a:p xmlns:a="http://schemas.openxmlformats.org/drawingml/2006/main">
            <a:r>
              <a:t>https://www.hoover.org/plus/research/russian-opposition-and-ukraine-conversation-vladimir-milov</a:t>
            </a:r>
          </a:p>
          <a:p xmlns:a="http://schemas.openxmlformats.org/drawingml/2006/main">
            <a:r>
              <a:t>https://www.golosameriki.com/a/washington-dialogue-russian-opposition-conference/7648250.html</a:t>
            </a:r>
          </a:p>
          <a:p xmlns:a="http://schemas.openxmlformats.org/drawingml/2006/main">
            <a:r>
              <a:t>https://glavred.info/chat/1337-vladimir-milov.html</a:t>
            </a:r>
          </a:p>
          <a:p xmlns:a="http://schemas.openxmlformats.org/drawingml/2006/main">
            <a:r>
              <a:t>https://www.interfax.ru/moscow/669378</a:t>
            </a:r>
          </a:p>
          <a:p xmlns:a="http://schemas.openxmlformats.org/drawingml/2006/main">
            <a:r>
              <a:t>https://tass.ru/politika/6670439</a:t>
            </a:r>
          </a:p>
          <a:p xmlns:a="http://schemas.openxmlformats.org/drawingml/2006/main">
            <a:r>
              <a:t>https://www.rbc.ru/politics/16/07/2019/5d2c8b3b9a794799a7c7d413</a:t>
            </a:r>
          </a:p>
          <a:p xmlns:a="http://schemas.openxmlformats.org/drawingml/2006/main">
            <a:r>
              <a:t>https://www.bbc.com/russian/news-56269079</a:t>
            </a:r>
          </a:p>
          <a:p xmlns:a="http://schemas.openxmlformats.org/drawingml/2006/main">
            <a:r>
              <a:t>https://ovd.info/express-news/2020/12/28/s-yurista-fbk-kotoraya-provela-pochti-dvoe-sutok-v-ivs-pytalis-vzyat</a:t>
            </a:r>
          </a:p>
          <a:p xmlns:a="http://schemas.openxmlformats.org/drawingml/2006/main">
            <a:r>
              <a:t>https://ovd.info/express-news/2021/02/26/prokuratura-utverdila-obvinenie-sobol-po-delu-o-proniknovenii-v-kvartiru</a:t>
            </a:r>
          </a:p>
          <a:p xmlns:a="http://schemas.openxmlformats.org/drawingml/2006/main">
            <a:r>
              <a:t>https://ovd.info/express-news/2020/12/29/protiv-alekseya-navalnogo-vozbudili-ugolovnoe-delo-o-moshennichestve-iz-za</a:t>
            </a:r>
          </a:p>
          <a:p xmlns:a="http://schemas.openxmlformats.org/drawingml/2006/main">
            <a:r>
              <a:t>https://www.currenttime.tv/a/sobol/31723600.html</a:t>
            </a:r>
          </a:p>
          <a:p xmlns:a="http://schemas.openxmlformats.org/drawingml/2006/main">
            <a:r>
              <a:t>https://www.currenttime.tv/interview/episodes/2022/2/26</a:t>
            </a:r>
          </a:p>
          <a:p xmlns:a="http://schemas.openxmlformats.org/drawingml/2006/main">
            <a:r>
              <a:t>https://ochevidcy.com/putin-budet-vorovat-do-groba/</a:t>
            </a:r>
          </a:p>
          <a:p xmlns:a="http://schemas.openxmlformats.org/drawingml/2006/main">
            <a:r>
              <a:t>https://www.svoboda.org/a/32881433.html</a:t>
            </a:r>
          </a:p>
          <a:p xmlns:a="http://schemas.openxmlformats.org/drawingml/2006/main">
            <a:r>
              <a:t>https://echofm.online/programs/idyom-po-zvyozdam/idyom-po-zvezdam-s-lyubovyu-sobol</a:t>
            </a:r>
          </a:p>
          <a:p xmlns:a="http://schemas.openxmlformats.org/drawingml/2006/main">
            <a:r>
              <a:t>https://x.com/SobolLubov</a:t>
            </a:r>
          </a:p>
          <a:p xmlns:a="http://schemas.openxmlformats.org/drawingml/2006/main">
            <a:r>
              <a:t>https://stuki-druki.com/authors/sobol-lubov.php</a:t>
            </a:r>
          </a:p>
          <a:p xmlns:a="http://schemas.openxmlformats.org/drawingml/2006/main">
            <a:r>
              <a:t>https://www.interfax.ru/elections2018/593143</a:t>
            </a:r>
          </a:p>
          <a:p xmlns:a="http://schemas.openxmlformats.org/drawingml/2006/main">
            <a:r>
              <a:t>https://elections2018.tass.ru/candidate/sobchak</a:t>
            </a:r>
          </a:p>
          <a:p xmlns:a="http://schemas.openxmlformats.org/drawingml/2006/main">
            <a:r>
              <a:t>https://www.interfax.ru/elections2018/604186</a:t>
            </a:r>
          </a:p>
          <a:p xmlns:a="http://schemas.openxmlformats.org/drawingml/2006/main">
            <a:r>
              <a:t>https://www.interfax.ru/elections2018/604908</a:t>
            </a:r>
          </a:p>
          <a:p xmlns:a="http://schemas.openxmlformats.org/drawingml/2006/main">
            <a:r>
              <a:t>https://www.consultant.ru/law/hotdocs/53066.html</a:t>
            </a:r>
          </a:p>
          <a:p xmlns:a="http://schemas.openxmlformats.org/drawingml/2006/main">
            <a:r>
              <a:t>https://www.rbc.ru/newspaper/2018/03/20/5aae9ca49a794739b02918a0</a:t>
            </a:r>
          </a:p>
          <a:p xmlns:a="http://schemas.openxmlformats.org/drawingml/2006/main">
            <a:r>
              <a:t>https://www.interfax.ru/elections2018/604136</a:t>
            </a:r>
          </a:p>
          <a:p xmlns:a="http://schemas.openxmlformats.org/drawingml/2006/main">
            <a:r>
              <a:t>https://www.interfax.ru/elections2018/604190</a:t>
            </a:r>
          </a:p>
          <a:p xmlns:a="http://schemas.openxmlformats.org/drawingml/2006/main">
            <a:r>
              <a:t>https://www.rbc.ru/economics/25/12/2017/5a4025f19a79472e3f5f4ad9?from=right_column_materials_3</a:t>
            </a:r>
          </a:p>
          <a:p xmlns:a="http://schemas.openxmlformats.org/drawingml/2006/main">
            <a:r>
              <a:t>https://news.ru/show-business/otezd-iz-rf-vybory-svo-v-chem-priznalas-kseniya-sobchak-v-novom-intervyu</a:t>
            </a:r>
          </a:p>
          <a:p xmlns:a="http://schemas.openxmlformats.org/drawingml/2006/main">
            <a:r>
              <a:t>https://rtvi.com/news/sobchak-otvetila-na-vopros-putin-ili-zelenskij/</a:t>
            </a:r>
          </a:p>
          <a:p xmlns:a="http://schemas.openxmlformats.org/drawingml/2006/main">
            <a:r>
              <a:t>https://informator.ua/ru/kompromissy-iz-rf-legitimnost-zelenskogo-i-gotovnost-pozhat-ruku-putinu-o-chem-govoril-arestovich-v-intervyu-sobchak</a:t>
            </a:r>
          </a:p>
          <a:p xmlns:a="http://schemas.openxmlformats.org/drawingml/2006/main">
            <a:r>
              <a:t>https://rassvet-party.info/</a:t>
            </a:r>
          </a:p>
          <a:p xmlns:a="http://schemas.openxmlformats.org/drawingml/2006/main">
            <a:r>
              <a:t>https://en.wikipedia.org/wiki/Yekaterina_Duntsova</a:t>
            </a:r>
          </a:p>
          <a:p xmlns:a="http://schemas.openxmlformats.org/drawingml/2006/main">
            <a:r>
              <a:t>https://www.dw.com/ru/cto-nuzno-znat-o-ekaterine-duncovoj-kotoraa-hocet-stat-prezidentom-rf/a-67832425</a:t>
            </a:r>
          </a:p>
          <a:p xmlns:a="http://schemas.openxmlformats.org/drawingml/2006/main">
            <a:r>
              <a:t>https://baj.media/ru/ya-gotova-idti-do-konca-zhurnalistka-iz-rossiyskoy-provincii-reshila-stat-prezidentom-i-2/</a:t>
            </a:r>
          </a:p>
          <a:p xmlns:a="http://schemas.openxmlformats.org/drawingml/2006/main">
            <a:r>
              <a:t>https://echofm.online/portret-dnya/portret-dnya-ekaterina-dunczova-reshivshaya-vydvinutsya-kandidatom-v-prezidenty-rossii-zhurnalistka-iz-rzheva</a:t>
            </a:r>
          </a:p>
          <a:p xmlns:a="http://schemas.openxmlformats.org/drawingml/2006/main">
            <a:r>
              <a:t>https://novayagazeta.eu/articles/2024/03/15/zlost-i-nenavist-vsem-nadoeli</a:t>
            </a:r>
          </a:p>
          <a:p xmlns:a="http://schemas.openxmlformats.org/drawingml/2006/main">
            <a:r>
              <a:t>https://altapress.ru/politika/story/kto-takaya-ekaterina-duntsova-kotoraya-sobiraetsya-stat-poslednim-prezidentom-rossii-i-kto-eshche-hochet-ballotirovatsya-336526</a:t>
            </a:r>
          </a:p>
          <a:p xmlns:a="http://schemas.openxmlformats.org/drawingml/2006/main">
            <a:r>
              <a:t>https://cherta.media/interview/ekaterina-duncova-kandidat-v-prezidenty/</a:t>
            </a:r>
          </a:p>
          <a:p xmlns:a="http://schemas.openxmlformats.org/drawingml/2006/main">
            <a:r>
              <a:t>https://novayagazeta.eu/articles/2023/12/05/zachem-ia-budu-stoiat-na-barrikadakh-esli-mogu-zanimatsia-realnymi-delami</a:t>
            </a:r>
          </a:p>
          <a:p xmlns:a="http://schemas.openxmlformats.org/drawingml/2006/main">
            <a:r>
              <a:t>https://holod.media/2023/12/20/ekaterina-duntsova-view/</a:t>
            </a:r>
          </a:p>
          <a:p xmlns:a="http://schemas.openxmlformats.org/drawingml/2006/main">
            <a:r>
              <a:t>https://www.dw.com/ru/ekaterina-duncova-o-sozdanii-partii-rassvet-my-mezdu-dvuh-ognej/a-68992724</a:t>
            </a:r>
          </a:p>
          <a:p xmlns:a="http://schemas.openxmlformats.org/drawingml/2006/main">
            <a:r>
              <a:t>https://rassvet-party.info/static/program.pdf</a:t>
            </a:r>
          </a:p>
          <a:p xmlns:a="http://schemas.openxmlformats.org/drawingml/2006/main">
            <a:r>
              <a:t>https://www.currenttime.tv/a/ekaterina-duntsova-o-sozdanii-partii-i-svoem-zaderzhanii/32775510.html</a:t>
            </a:r>
          </a:p>
          <a:p xmlns:a="http://schemas.openxmlformats.org/drawingml/2006/main">
            <a:r>
              <a:t>https://duntsovainitiative.1c-umi.ru/galereya/</a:t>
            </a:r>
          </a:p>
          <a:p xmlns:a="http://schemas.openxmlformats.org/drawingml/2006/main">
            <a:r>
              <a:t>https://rassvet-party.info/static/manifest.pdf</a:t>
            </a:r>
          </a:p>
          <a:p xmlns:a="http://schemas.openxmlformats.org/drawingml/2006/main">
            <a:r>
              <a:t>https://www.rbc.ru/person/65afb4a99a79470e434da73d</a:t>
            </a:r>
          </a:p>
          <a:p xmlns:a="http://schemas.openxmlformats.org/drawingml/2006/main">
            <a:r>
              <a:t>https://www.bbc.com/russian/articles/c84npr0wxx9o</a:t>
            </a:r>
          </a:p>
          <a:p xmlns:a="http://schemas.openxmlformats.org/drawingml/2006/main">
            <a:r>
              <a:t>https://www.rbc.ru/politics/08/02/2024/65c3749b9a79479ef5fe7934</a:t>
            </a:r>
          </a:p>
          <a:p xmlns:a="http://schemas.openxmlformats.org/drawingml/2006/main">
            <a:r>
              <a:t>https://www.business-gazeta.ru/article/622600</a:t>
            </a:r>
          </a:p>
          <a:p xmlns:a="http://schemas.openxmlformats.org/drawingml/2006/main">
            <a:r>
              <a:t>https://semnasem.org/articles/2024/02/02/poslednij-sredi-antivoennyh-kto-takoj-boris-nadezhdin-kotoryj-vse-eshe-nadeetsya-stat-prezidentom</a:t>
            </a:r>
          </a:p>
          <a:p xmlns:a="http://schemas.openxmlformats.org/drawingml/2006/main">
            <a:r>
              <a:t>https://novayagazeta.eu/articles/2024/02/03/17-marta-nachalo-kontsa-epokhi-putina</a:t>
            </a:r>
          </a:p>
          <a:p xmlns:a="http://schemas.openxmlformats.org/drawingml/2006/main">
            <a:r>
              <a:t>https://www.youtube.com/watch?v=mGMdgxBCdns</a:t>
            </a:r>
          </a:p>
          <a:p xmlns:a="http://schemas.openxmlformats.org/drawingml/2006/main">
            <a:r>
              <a:t>https://www.dw.com/ru/boris-nadezdin-moj-rejting-rastet-na-5-v-nedelu/a-68154251</a:t>
            </a:r>
          </a:p>
          <a:p xmlns:a="http://schemas.openxmlformats.org/drawingml/2006/main">
            <a:r>
              <a:t>https://ovd.info/express-news/2026/07/17/u-menya-dva-puti-lenina-ili-navalnogo-chto-nuzhno-znat-o-borise-nadezhdine</a:t>
            </a:r>
          </a:p>
          <a:p xmlns:a="http://schemas.openxmlformats.org/drawingml/2006/main">
            <a:r>
              <a:t>https://www.rbc.ru/person/65afb4a99a79470e434da73d?ysclid=mrt22n99to603501119</a:t>
            </a:r>
          </a:p>
          <a:p xmlns:a="http://schemas.openxmlformats.org/drawingml/2006/main">
            <a:r>
              <a:t>https://www.youtube.com/watch?v=UNytg_H_1pY</a:t>
            </a:r>
          </a:p>
          <a:p xmlns:a="http://schemas.openxmlformats.org/drawingml/2006/main">
            <a:r>
              <a:t>https://www.youtube.com/watch?v=DwTC5bilf_8</a:t>
            </a:r>
          </a:p>
          <a:p xmlns:a="http://schemas.openxmlformats.org/drawingml/2006/main">
            <a:r>
              <a:t>https://www.youtube.com/watch?v=sG4_THnT9W0</a:t>
            </a:r>
          </a:p>
          <a:p xmlns:a="http://schemas.openxmlformats.org/drawingml/2006/main">
            <a:r>
              <a:t>https://www.rbc.ru/rbcfreenews/6586cdf49a79479c3cd3d4b3</a:t>
            </a:r>
          </a:p>
          <a:p xmlns:a="http://schemas.openxmlformats.org/drawingml/2006/main">
            <a:r>
              <a:t>https://kprf.ru/activity/elections/223485.html/print</a:t>
            </a:r>
          </a:p>
          <a:p xmlns:a="http://schemas.openxmlformats.org/drawingml/2006/main">
            <a:r>
              <a:t>http://msk.kprf.ru/2024/01/24/247473/</a:t>
            </a:r>
          </a:p>
          <a:p xmlns:a="http://schemas.openxmlformats.org/drawingml/2006/main">
            <a:r>
              <a:t>https://www.dw.com/ru/vybory-prezidenta-rossii-2024/a-68528003</a:t>
            </a:r>
          </a:p>
          <a:p xmlns:a="http://schemas.openxmlformats.org/drawingml/2006/main">
            <a:r>
              <a:t>https://ru.wikipedia.org/wiki/%D0%A5%D0%B0%D1%80%D0%B8%D1%82%D0%BE%D0%BD%D0%BE%D0%B2,_%D0%9D%D0%B8%D0%BA%D0%BE%D0%BB%D0%B0%D0%B9_%D0%9C%D0%B8%D1%85%D0%B0%D0%B9%D0%BB%D0%BE%D0%B2%D0%B8%D1%87</a:t>
            </a:r>
          </a:p>
          <a:p xmlns:a="http://schemas.openxmlformats.org/drawingml/2006/main">
            <a:r>
              <a:t>https://kprf.ru/party-live/cknews/225170.html</a:t>
            </a:r>
          </a:p>
          <a:p xmlns:a="http://schemas.openxmlformats.org/drawingml/2006/main">
            <a:r>
              <a:t>https://kprf.ru/dep/gosduma/activities/232802.html</a:t>
            </a:r>
          </a:p>
          <a:p xmlns:a="http://schemas.openxmlformats.org/drawingml/2006/main">
            <a:r>
              <a:t>https://kprf35.com/2024/02/17/32710/</a:t>
            </a:r>
          </a:p>
          <a:p xmlns:a="http://schemas.openxmlformats.org/drawingml/2006/main">
            <a:r>
              <a:t>https://www.pkokprf.ru/news/view/35448</a:t>
            </a:r>
          </a:p>
          <a:p xmlns:a="http://schemas.openxmlformats.org/drawingml/2006/main">
            <a:r>
              <a:t>https://altkprf.ru/upload/iblock/eea/jiv0wm7hzk6gq4qdxw0r5wvp7zwb6luk.pdf</a:t>
            </a:r>
          </a:p>
          <a:p xmlns:a="http://schemas.openxmlformats.org/drawingml/2006/main">
            <a:r>
              <a:t>https://kprf.ru/activity/army/224789.html</a:t>
            </a:r>
          </a:p>
          <a:p xmlns:a="http://schemas.openxmlformats.org/drawingml/2006/main">
            <a:r>
              <a:t>https://gazeta-pravda.ru/issue/24-31517-711-marta-2024-goda-/alternativa-polupravde/</a:t>
            </a:r>
          </a:p>
          <a:p xmlns:a="http://schemas.openxmlformats.org/drawingml/2006/main">
            <a:r>
              <a:t>https://spbpalata.ru/?p=13755</a:t>
            </a:r>
          </a:p>
          <a:p xmlns:a="http://schemas.openxmlformats.org/drawingml/2006/main">
            <a:r>
              <a:t>https://kprf.ru/activity/elections/171941.html</a:t>
            </a:r>
          </a:p>
          <a:p xmlns:a="http://schemas.openxmlformats.org/drawingml/2006/main">
            <a:r>
              <a:t>https://kprf.ru/party-live/cknews/171994.html</a:t>
            </a:r>
          </a:p>
          <a:p xmlns:a="http://schemas.openxmlformats.org/drawingml/2006/main">
            <a:r>
              <a:t>https://elections2018.tass.ru/candidate/grudinin</a:t>
            </a:r>
          </a:p>
          <a:p xmlns:a="http://schemas.openxmlformats.org/drawingml/2006/main">
            <a:r>
              <a:t>https://www.bbc.com/russian/features-43105617</a:t>
            </a:r>
          </a:p>
          <a:p xmlns:a="http://schemas.openxmlformats.org/drawingml/2006/main">
            <a:r>
              <a:t>https://www.rbc.ru/politics/24/07/2021/60fbe35b9a794716f25253a0</a:t>
            </a:r>
          </a:p>
          <a:p xmlns:a="http://schemas.openxmlformats.org/drawingml/2006/main">
            <a:r>
              <a:t>https://kprf.ru/dep/reg/204410.html</a:t>
            </a:r>
          </a:p>
          <a:p xmlns:a="http://schemas.openxmlformats.org/drawingml/2006/main">
            <a:r>
              <a:t>https://msk.kprf.ru/2021/09/16/168273/</a:t>
            </a:r>
          </a:p>
          <a:p xmlns:a="http://schemas.openxmlformats.org/drawingml/2006/main">
            <a:r>
              <a:t>https://svpressa.ru/persons/pavel-grudinin/</a:t>
            </a:r>
          </a:p>
          <a:p xmlns:a="http://schemas.openxmlformats.org/drawingml/2006/main">
            <a:r>
              <a:t>https://carnegieendowment.org/ru/russia-eurasia/posts/2018/02/kuda-privedut-ekonomiku-rossii-20-shagov-grudinina</a:t>
            </a:r>
          </a:p>
          <a:p xmlns:a="http://schemas.openxmlformats.org/drawingml/2006/main">
            <a:r>
              <a:t>https://www.kompas-rf.ru/2018/01/2980/</a:t>
            </a:r>
          </a:p>
          <a:p xmlns:a="http://schemas.openxmlformats.org/drawingml/2006/main">
            <a:r>
              <a:t>https://www.svoboda.org/a/30073365.html</a:t>
            </a:r>
          </a:p>
          <a:p xmlns:a="http://schemas.openxmlformats.org/drawingml/2006/main">
            <a:r>
              <a:t>https://kandidativprezidenti.ru/programma-grudinina-2018/</a:t>
            </a:r>
          </a:p>
          <a:p xmlns:a="http://schemas.openxmlformats.org/drawingml/2006/main">
            <a:r>
              <a:t>https://mbk-news.appspot.com/suzhet/za-lenina-i-protiv-ege/</a:t>
            </a:r>
          </a:p>
          <a:p xmlns:a="http://schemas.openxmlformats.org/drawingml/2006/main">
            <a:r>
              <a:t>https://www.amnesty.org/ru/latest/research/2021/06/zayavlenie-rossijskaya-federacziya-obvinitelnyj-prigovor-nikolayu-platoshkinu-dolzhen-byt-otmenyon/</a:t>
            </a:r>
          </a:p>
          <a:p xmlns:a="http://schemas.openxmlformats.org/drawingml/2006/main">
            <a:r>
              <a:t>https://zona.media/article/2021/05/20/nikolay-nikolaevitch</a:t>
            </a:r>
          </a:p>
          <a:p xmlns:a="http://schemas.openxmlformats.org/drawingml/2006/main">
            <a:r>
              <a:t>https://novayagazeta.ru/articles/2020/06/05/85705-sotsialisticheskiy-prizyv</a:t>
            </a:r>
          </a:p>
          <a:p xmlns:a="http://schemas.openxmlformats.org/drawingml/2006/main">
            <a:r>
              <a:t>https://www.revda-info.ru/2020/08/26/v-revde-poyavilos-otdelenie-dvizheniya-za-novyj-sotsializm-ego-lider-sejchas-pod-arestom</a:t>
            </a:r>
          </a:p>
          <a:p xmlns:a="http://schemas.openxmlformats.org/drawingml/2006/main">
            <a:r>
              <a:t>https://new-socialism.org/o-dvizhenii/programma/</a:t>
            </a:r>
          </a:p>
          <a:p xmlns:a="http://schemas.openxmlformats.org/drawingml/2006/main">
            <a:r>
              <a:t>https://new-socialism.org/o-dvizhenii/lider/</a:t>
            </a:r>
          </a:p>
          <a:p xmlns:a="http://schemas.openxmlformats.org/drawingml/2006/main">
            <a:r>
              <a:t>https://www.themoscowtimes.com/2024/01/19/ilya-ponomaryov-we-have-to-capture-the-kremlin-there-is-no-other-way-a83772</a:t>
            </a:r>
          </a:p>
          <a:p xmlns:a="http://schemas.openxmlformats.org/drawingml/2006/main">
            <a:r>
              <a:t>https://www.dw.com/ru/cto-izvestno-o-rossijskih-podrazdeleniah-v-sostave-vsu/a-63915634</a:t>
            </a:r>
          </a:p>
          <a:p xmlns:a="http://schemas.openxmlformats.org/drawingml/2006/main">
            <a:r>
              <a:t>https://www.svoboda.org/a/32321226.html</a:t>
            </a:r>
          </a:p>
          <a:p xmlns:a="http://schemas.openxmlformats.org/drawingml/2006/main">
            <a:r>
              <a:t>https://hromadske.ua/ru/posts/nasha-cel-moskva-my-dolzhny-sbrosit-putina-rossijskie-partizany-mif-ili-pravda</a:t>
            </a:r>
          </a:p>
          <a:p xmlns:a="http://schemas.openxmlformats.org/drawingml/2006/main">
            <a:r>
              <a:t>https://epravda.com.ua/rus/publications/2018/06/11/637572/</a:t>
            </a:r>
          </a:p>
          <a:p xmlns:a="http://schemas.openxmlformats.org/drawingml/2006/main">
            <a:r>
              <a:t>https://pointmedia.io/story/672b355fdc48800406e0f515</a:t>
            </a:r>
          </a:p>
          <a:p xmlns:a="http://schemas.openxmlformats.org/drawingml/2006/main">
            <a:r>
              <a:t>https://ru.wikipedia.org/wiki/%D0%9B%D0%B5%D0%B3%D0%B8%D0%BE%D0%BD_%C2%AB%D0%A1%D0%B2%D0%BE%D0%B1%D0%BE%D0%B4%D0%B0_%D0%A0%D0%BE%D1%81%D1%81%D0%B8%D0%B8%C2%BB</a:t>
            </a:r>
          </a:p>
          <a:p xmlns:a="http://schemas.openxmlformats.org/drawingml/2006/main">
            <a:r>
              <a:t>https://ru.wikipedia.org/wiki/%D0%9F%D0%BE%D0%BD%D0%BE%D0%BC%D0%B0%D1%80%D1%91%D0%B2,_%D0%98%D0%BB%D1%8C%D1%8F_%D0%92%D0%BB%D0%B0%D0%B4%D0%B8%D0%BC%D0%B8%D1%80%D0%BE%D0%B2%D0%B8%D1%87</a:t>
            </a:r>
          </a:p>
          <a:p xmlns:a="http://schemas.openxmlformats.org/drawingml/2006/main">
            <a:r>
              <a:t>https://russophob.ru/person/ponomarev_ilya_vladimirovich</a:t>
            </a:r>
          </a:p>
          <a:p xmlns:a="http://schemas.openxmlformats.org/drawingml/2006/main">
            <a:r>
              <a:t>https://www.svoboda.org/a/32063164.html</a:t>
            </a:r>
          </a:p>
          <a:p xmlns:a="http://schemas.openxmlformats.org/drawingml/2006/main">
            <a:r>
              <a:t>https://www.kpbs.org/news/news/international/2023/03/26/a-scrappy-newscast-in-kyiv-aimed-at-russians-counters-putins-propaganda-machine</a:t>
            </a:r>
          </a:p>
          <a:p xmlns:a="http://schemas.openxmlformats.org/drawingml/2006/main">
            <a:r>
              <a:t>https://ovd.info/express-news/2022/10/02/politik-leonid-gozman-uekhal-iz-rossii-posle-dvukh-administrativnykh</a:t>
            </a:r>
          </a:p>
          <a:p xmlns:a="http://schemas.openxmlformats.org/drawingml/2006/main">
            <a:r>
              <a:t>https://ovd.info/express-news/2022/08/30/politika-leonida-gozmana-arestovali-na-15-sutok-iz-za-posta-v-feysbuke</a:t>
            </a:r>
          </a:p>
          <a:p xmlns:a="http://schemas.openxmlformats.org/drawingml/2006/main">
            <a:r>
              <a:t>https://www.rbc.ru/politics/15/07/2022/62d1b3f39a7947299cdeb6a4</a:t>
            </a:r>
          </a:p>
          <a:p xmlns:a="http://schemas.openxmlformats.org/drawingml/2006/main">
            <a:r>
              <a:t>https://novayagazeta.eu/articles/2022/07/15/sk-doprosil-politika-leonida-gozmana-kak-podozrevaemogo-po-delu-o-neuvedomlenii-o-vtorom-grazhdanstve-news</a:t>
            </a:r>
          </a:p>
          <a:p xmlns:a="http://schemas.openxmlformats.org/drawingml/2006/main">
            <a:r>
              <a:t>https://www.rbc.ru/politics/15/02/2024/65cdc9e09a7947a2995026fa</a:t>
            </a:r>
          </a:p>
          <a:p xmlns:a="http://schemas.openxmlformats.org/drawingml/2006/main">
            <a:r>
              <a:t>https://ovd.info/express-news/2025/01/22/leonida-gozmana-i-rovshana-askerova-vnesli-v-reestr-terroristov-i</a:t>
            </a:r>
          </a:p>
          <a:p xmlns:a="http://schemas.openxmlformats.org/drawingml/2006/main">
            <a:r>
              <a:t>https://www.rbc.ru/opinion-authors/gozman</a:t>
            </a:r>
          </a:p>
          <a:p xmlns:a="http://schemas.openxmlformats.org/drawingml/2006/main">
            <a:r>
              <a:t>https://novayagazeta.eu/articles/2022/07/25/ovd-info-v-moskve-zaderzhali-politika-leonida-gozmana-news</a:t>
            </a:r>
          </a:p>
          <a:p xmlns:a="http://schemas.openxmlformats.org/drawingml/2006/main">
            <a:r>
              <a:t>https://gefter.ru/archive/23487</a:t>
            </a:r>
          </a:p>
          <a:p xmlns:a="http://schemas.openxmlformats.org/drawingml/2006/main">
            <a:r>
              <a:t>https://www.svoboda.org/a/31147156.html</a:t>
            </a:r>
          </a:p>
          <a:p xmlns:a="http://schemas.openxmlformats.org/drawingml/2006/main">
            <a:r>
              <a:t>https://uatv.ua/gozman-putin-zagnal-rossiyu-v-ugol-sleduyushhij-shag-repressii/</a:t>
            </a:r>
          </a:p>
          <a:p xmlns:a="http://schemas.openxmlformats.org/drawingml/2006/main">
            <a:r>
              <a:t>https://echofm.online/programs/hochu-skazat/hochu-skazat-odin-protiv-vseh-kak-ne-dat-strahu-pobedit-sebya</a:t>
            </a:r>
          </a:p>
          <a:p xmlns:a="http://schemas.openxmlformats.org/drawingml/2006/main">
            <a:r>
              <a:t>https://www.svoboda.org/a/leonid-gozman-russkih-lyudey-neljzya-mazatj-odnoy-chernoy-kraskoy-/32732625.html</a:t>
            </a:r>
          </a:p>
          <a:p xmlns:a="http://schemas.openxmlformats.org/drawingml/2006/main">
            <a:r>
              <a:t>https://novayagazeta.eu/articles/2022/07/18/prepiatstvovat-prosveshcheniiu-liudei-vlast-budet-pulemiotami</a:t>
            </a:r>
          </a:p>
          <a:p xmlns:a="http://schemas.openxmlformats.org/drawingml/2006/main">
            <a:r>
              <a:t>https://www.svoboda.org/a/29652429.html</a:t>
            </a:r>
          </a:p>
          <a:p xmlns:a="http://schemas.openxmlformats.org/drawingml/2006/main">
            <a:r>
              <a:t>https://novayagazeta.eu/articles/2022/04/26/nesobliudenie-rezhima</a:t>
            </a:r>
          </a:p>
          <a:p xmlns:a="http://schemas.openxmlformats.org/drawingml/2006/main">
            <a:r>
              <a:t>https://novayagazeta.eu/articles/2022/07/21/zapiski-ugolovnika</a:t>
            </a:r>
          </a:p>
          <a:p xmlns:a="http://schemas.openxmlformats.org/drawingml/2006/main">
            <a:r>
              <a:t>https://novayagazeta.ru/authors/2349</a:t>
            </a:r>
          </a:p>
          <a:p xmlns:a="http://schemas.openxmlformats.org/drawingml/2006/main">
            <a:r>
              <a:t>https://www.rbc.ru/politics/10/08/2017/598c8d6d9a79474cff05cbab</a:t>
            </a:r>
          </a:p>
          <a:p xmlns:a="http://schemas.openxmlformats.org/drawingml/2006/main">
            <a:r>
              <a:t>https://www.bbc.com/russian/news-40853405</a:t>
            </a:r>
          </a:p>
          <a:p xmlns:a="http://schemas.openxmlformats.org/drawingml/2006/main">
            <a:r>
              <a:t>https://www.rbc.ru/politics/10/08/2017/598c0a8e9a7947569574ba10?from=right_column_materials_1</a:t>
            </a:r>
          </a:p>
          <a:p xmlns:a="http://schemas.openxmlformats.org/drawingml/2006/main">
            <a:r>
              <a:t>https://www.vedomosti.ru/politics/articles/2017/08/10/728820-udaltsov</a:t>
            </a:r>
          </a:p>
          <a:p xmlns:a="http://schemas.openxmlformats.org/drawingml/2006/main">
            <a:r>
              <a:t>https://www.interfax.ru/elections2018/598382</a:t>
            </a:r>
          </a:p>
          <a:p xmlns:a="http://schemas.openxmlformats.org/drawingml/2006/main">
            <a:r>
              <a:t>https://sotaproject.com/article/sergeia-udaltsova-opiat-pytaiutsia-posadit-khotia-on-vsego-lish-prosit-putina-postroit-sotsializm</a:t>
            </a:r>
          </a:p>
          <a:p xmlns:a="http://schemas.openxmlformats.org/drawingml/2006/main">
            <a:r>
              <a:t>https://www.gazeta.ru/tags/person/sergei_udaltsov.shtml</a:t>
            </a:r>
          </a:p>
          <a:p xmlns:a="http://schemas.openxmlformats.org/drawingml/2006/main">
            <a:r>
              <a:t>https://www.kommersant.ru/doc/8317316</a:t>
            </a:r>
          </a:p>
          <a:p xmlns:a="http://schemas.openxmlformats.org/drawingml/2006/main">
            <a:r>
              <a:t>https://www.kommersant.ru/doc/8972418</a:t>
            </a:r>
          </a:p>
          <a:p xmlns:a="http://schemas.openxmlformats.org/drawingml/2006/main">
            <a:r>
              <a:t>https://holod.media/2023/09/12/udaltsov-interview/</a:t>
            </a:r>
          </a:p>
          <a:p xmlns:a="http://schemas.openxmlformats.org/drawingml/2006/main">
            <a:r>
              <a:t>https://meduza.io/feature/2024/01/11/sergey-udaltsov-zaderzhan-po-obvineniyu-v-opravdanii-terrorizma</a:t>
            </a:r>
          </a:p>
          <a:p xmlns:a="http://schemas.openxmlformats.org/drawingml/2006/main">
            <a:r>
              <a:t>https://ref-book.sova-center.ru/index.php/%D0%94%D1%80%D1%83%D0%B3%D0%B0%D1%8F_%D0%A0%D0%BE%D1%81%D1%81%D0%B8%D1%8F,_%D0%BF%D0%B0%D1%80%D1%82%D0%B8%D1%8F</a:t>
            </a:r>
          </a:p>
          <a:p xmlns:a="http://schemas.openxmlformats.org/drawingml/2006/main">
            <a:r>
              <a:t>https://www.rbc.ru/society/17/03/2020/5e71048d9a79473925ab81a7</a:t>
            </a:r>
          </a:p>
          <a:p xmlns:a="http://schemas.openxmlformats.org/drawingml/2006/main">
            <a:r>
              <a:t>https://rt.rbc.ru/society/18/03/2020/5e71acc49a794773553f824e</a:t>
            </a:r>
          </a:p>
          <a:p xmlns:a="http://schemas.openxmlformats.org/drawingml/2006/main">
            <a:r>
              <a:t>https://www.bostonglobe.com/metro/obituaries/2020/03/18/russian-author-political-activist-eduard-limonov-dies/jnjHywBRjVTTgnlsqI12vN/story.html</a:t>
            </a:r>
          </a:p>
          <a:p xmlns:a="http://schemas.openxmlformats.org/drawingml/2006/main">
            <a:r>
              <a:t>https://nsn.fm/society/poslednee-intervu-pisatelya-i-politika-eduarda-limonova</a:t>
            </a:r>
          </a:p>
          <a:p xmlns:a="http://schemas.openxmlformats.org/drawingml/2006/main">
            <a:r>
              <a:t>http://www.grso.ru/person/limonov-eduard.html</a:t>
            </a:r>
          </a:p>
          <a:p xmlns:a="http://schemas.openxmlformats.org/drawingml/2006/main">
            <a:r>
              <a:t>https://ru.wikipedia.org/wiki/%D0%94%D1%80%D1%83%D0%B3%D0%B0%D1%8F_%D0%A0%D0%BE%D1%81%D1%81%D0%B8%D1%8F_%D0%AD._%D0%92._%D0%9B%D0%B8%D0%BC%D0%BE%D0%BD%D0%BE%D0%B2%D0%B0</a:t>
            </a:r>
          </a:p>
          <a:p xmlns:a="http://schemas.openxmlformats.org/drawingml/2006/main">
            <a:r>
              <a:t>https://novayagazeta.ru/articles/2017/03/12/71752-puteshestvie-natsbolov-k-putinu-i-obratno</a:t>
            </a:r>
          </a:p>
          <a:p xmlns:a="http://schemas.openxmlformats.org/drawingml/2006/main">
            <a:r>
              <a:t>https://mediabrest.by/news/lyudi/umer-eduard-limonov-chem-zapomnilsya-pisatel</a:t>
            </a:r>
          </a:p>
          <a:p xmlns:a="http://schemas.openxmlformats.org/drawingml/2006/main">
            <a:r>
              <a:t>https://www.limonow.de/read/EL_2013-2018_T.html</a:t>
            </a:r>
          </a:p>
          <a:p xmlns:a="http://schemas.openxmlformats.org/drawingml/2006/main">
            <a:r>
              <a:t>https://www.infpol.ru/203662-ot-ubezhdennogo-antisovetchika-do-kolumnista-rt/</a:t>
            </a:r>
          </a:p>
          <a:p xmlns:a="http://schemas.openxmlformats.org/drawingml/2006/main">
            <a:r>
              <a:t>https://www.bbc.com/russian/articles/c2eg90d7gg9o</a:t>
            </a:r>
          </a:p>
          <a:p xmlns:a="http://schemas.openxmlformats.org/drawingml/2006/main">
            <a:r>
              <a:t>https://www.dw.com/ru/mosgorsud-prigovoril-igora-girkina-strelkova-k-4-godam-kolonii/a-68080937</a:t>
            </a:r>
          </a:p>
          <a:p xmlns:a="http://schemas.openxmlformats.org/drawingml/2006/main">
            <a:r>
              <a:t>https://www.fontanka.ru/2023/07/21/72520253</a:t>
            </a:r>
          </a:p>
          <a:p xmlns:a="http://schemas.openxmlformats.org/drawingml/2006/main">
            <a:r>
              <a:t>https://www.svoboda.org/a/strelkov-iz-sizo-opasayusj-amnistii-kak-u-prigozhina-/32722083.html</a:t>
            </a:r>
          </a:p>
          <a:p xmlns:a="http://schemas.openxmlformats.org/drawingml/2006/main">
            <a:r>
              <a:t>https://ru.themoscowtimes.com/2023/12/07/girkin-zayavil-chto-opasaetsya-povtorit-sudbu-prigozhina-a115592</a:t>
            </a:r>
          </a:p>
          <a:p xmlns:a="http://schemas.openxmlformats.org/drawingml/2006/main">
            <a:r>
              <a:t>https://ru.krymr.com/a/boing-mn17-10-let-podozrevayemyye-obvinyayemyye-vinovnyye/33040170.html</a:t>
            </a:r>
          </a:p>
          <a:p xmlns:a="http://schemas.openxmlformats.org/drawingml/2006/main">
            <a:r>
              <a:t>https://charter97.org/ru/news/2023/7/22/556802/</a:t>
            </a:r>
          </a:p>
          <a:p xmlns:a="http://schemas.openxmlformats.org/drawingml/2006/main">
            <a:r>
              <a:t>https://t.me/s/pgubarev?after=622</a:t>
            </a:r>
          </a:p>
          <a:p xmlns:a="http://schemas.openxmlformats.org/drawingml/2006/main">
            <a:r>
              <a:t>https://rabkor.ru/columns/debates/2023/05/23/angry_patriots_of_an_imaginary_country/</a:t>
            </a:r>
          </a:p>
          <a:p xmlns:a="http://schemas.openxmlformats.org/drawingml/2006/main">
            <a:r>
              <a:t>https://www.bbc.com/news/world-60947877</a:t>
            </a:r>
          </a:p>
          <a:p xmlns:a="http://schemas.openxmlformats.org/drawingml/2006/main">
            <a:r>
              <a:t>https://www.reuters.com/world/europe/russian-mercenary-boss-courts-putin-with-ukrainian-battlefield-success-2023-01-13/</a:t>
            </a:r>
          </a:p>
          <a:p xmlns:a="http://schemas.openxmlformats.org/drawingml/2006/main">
            <a:r>
              <a:t>https://www.reuters.com/world/europe/russias-wagner-mercenaries-halt-prisoner-recruitment-campaign-founder-prigozhin-2023-02-09/</a:t>
            </a:r>
          </a:p>
          <a:p xmlns:a="http://schemas.openxmlformats.org/drawingml/2006/main">
            <a:r>
              <a:t>https://www.reuters.com/investigates/special-report/ukraine-crisis-russia-wagner/</a:t>
            </a:r>
          </a:p>
          <a:p xmlns:a="http://schemas.openxmlformats.org/drawingml/2006/main">
            <a:r>
              <a:t>https://www.reuters.com/world/europe/russias-wagner-chief-prigozhin-says-ukraine-counteroffensive-already-under-way-2023-05-03/</a:t>
            </a:r>
          </a:p>
          <a:p xmlns:a="http://schemas.openxmlformats.org/drawingml/2006/main">
            <a:r>
              <a:t>https://www.bbc.com/russian/media-66023357</a:t>
            </a:r>
          </a:p>
          <a:p xmlns:a="http://schemas.openxmlformats.org/drawingml/2006/main">
            <a:r>
              <a:t>https://www.reuters.com/world/europe/russias-prigozhin-his-own-words-mutiny-2023-06-26/</a:t>
            </a:r>
          </a:p>
          <a:p xmlns:a="http://schemas.openxmlformats.org/drawingml/2006/main">
            <a:r>
              <a:t>https://x.com/Reuters/status/1632709213641113601</a:t>
            </a:r>
          </a:p>
          <a:p xmlns:a="http://schemas.openxmlformats.org/drawingml/2006/main">
            <a:r>
              <a:t>https://www.reuters.com/world/europe/russian-mercenary-boss-says-moscows-war-ukraine-based-lies-2023-06-23/</a:t>
            </a:r>
          </a:p>
          <a:p xmlns:a="http://schemas.openxmlformats.org/drawingml/2006/main">
            <a:r>
              <a:t>https://www.rbc.ru/spb_sz/02/10/2026/6abfb91afd4c7ff957d9cbe8</a:t>
            </a:r>
          </a:p>
          <a:p xmlns:a="http://schemas.openxmlformats.org/drawingml/2006/main">
            <a:r>
              <a:t>https://www.zaks.ru/new/person/view/639</a:t>
            </a:r>
          </a:p>
          <a:p xmlns:a="http://schemas.openxmlformats.org/drawingml/2006/main">
            <a:r>
              <a:t>https://www.zaks.ru/new/archive/view/219520</a:t>
            </a:r>
          </a:p>
          <a:p xmlns:a="http://schemas.openxmlformats.org/drawingml/2006/main">
            <a:r>
              <a:t>https://tvspb.ru/news/2016/09/27/novyij-sostav-parlamenta-kto-zajmet-kresla-v-zakonodatelnom-sobranii-vi-sozyiva</a:t>
            </a:r>
          </a:p>
          <a:p xmlns:a="http://schemas.openxmlformats.org/drawingml/2006/main">
            <a:r>
              <a:t>https://tass.ru/politika/20994233</a:t>
            </a:r>
          </a:p>
          <a:p xmlns:a="http://schemas.openxmlformats.org/drawingml/2006/main">
            <a:r>
              <a:t>https://www.zaks.ru/new/archive/view/265712</a:t>
            </a:r>
          </a:p>
          <a:p xmlns:a="http://schemas.openxmlformats.org/drawingml/2006/main">
            <a:r>
              <a:t>https://www.zaks.ru/new/archive/view/269374</a:t>
            </a:r>
          </a:p>
          <a:p xmlns:a="http://schemas.openxmlformats.org/drawingml/2006/main">
            <a:r>
              <a:t>https://www.dp.ru/a/2026/10/02/oksana-dmitrieva-proigrala</a:t>
            </a:r>
          </a:p>
          <a:p xmlns:a="http://schemas.openxmlformats.org/drawingml/2006/main">
            <a:r>
              <a:t>https://ru.wikipedia.org/wiki/%D0%9F%D0%B0%D1%80%D1%82%D0%B8%D1%8F_%D1%80%D0%BE%D1%81%D1%82%D0%B0</a:t>
            </a:r>
          </a:p>
          <a:p xmlns:a="http://schemas.openxmlformats.org/drawingml/2006/main">
            <a:r>
              <a:t>https://dmitrieva.org/category/gosduma/zakonoproekty/</a:t>
            </a:r>
          </a:p>
          <a:p xmlns:a="http://schemas.openxmlformats.org/drawingml/2006/main">
            <a:r>
              <a:t>https://t.me/s/oxdmitrieva?before=1072</a:t>
            </a:r>
          </a:p>
          <a:p xmlns:a="http://schemas.openxmlformats.org/drawingml/2006/main">
            <a:r>
              <a:t>http://api.duma.gov.ru/api/transcriptFull/2023-09-28</a:t>
            </a:r>
          </a:p>
          <a:p xmlns:a="http://schemas.openxmlformats.org/drawingml/2006/main">
            <a:r>
              <a:t>https://www.fontanka.ru/2026/09/04/76623983/</a:t>
            </a:r>
          </a:p>
          <a:p xmlns:a="http://schemas.openxmlformats.org/drawingml/2006/main">
            <a:r>
              <a:t>https://www.vedomosti.ru/politics/articles/2026/03/10/1181644-deputat-semi-sozivov-oksana-dmitrieva-snova-poidet-v-gosdumu</a:t>
            </a:r>
          </a:p>
          <a:p xmlns:a="http://schemas.openxmlformats.org/drawingml/2006/main">
            <a:r>
              <a:t>https://www.kommersant.ru/doc/8497588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Трёхкластерное решение выделяет три содержательно различимых профиля, каждый из которых характеризуется уникальным сочетанием нагруженных свойств. Первый кластер объединяет акторов, ориентированных на институциональные процедуры и умеренную поддержку действующей власти, второй — выраженных сторонников антивоенной риторики, критики власти и интеграции с Западом, а третий — группу с выраженной конфронтационностью, мобилизационной риторикой и персонализацией. Эти профили различаются не только по ключевым факторам, но и по ряду шкал с крупными сдвигами относительно всей выборки, что позволяет говорить о содержательной интерпретируемости каждого кластера.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При дальнейшем увеличении числа кластеров (k &gt; 3) происходит преимущественно дробление уже выделенных профилей на более мелкие подгруппы, различия между которыми выражены слабее и часто касаются нюансов внутри уже описанных направлений (например, разделение умеренных и радикальных представителей внутри одного лагеря). При этом новые кластеры зачастую оказываются малы по размеру и менее устойчивы, а их содержательная специфика не столь отчётлива, как у трёх основных профилей. Таким образом, k=3 выбрано как рабочий компромисс между различимостью, интерпретируемостью и ценой дополнительного дробления.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Численная сводка из расчёта: у k=3 силуэт 0.508; наибольший силуэт среди проверенных вариантов — 0.512 при k=7. Медианный ARI выбранного разбиения — 1.000, минимальный по группам медианный Jaccard — 1.000. Содержательное предпочтение не означает максимума всех численных показателей или доказательства естественных классов. Средний ARI — 0.914, минимальный ARI — 0.360; устойчивость оценена при фиксированных факторных координатах, без повторного сбора досье и оценивания.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Числа: metadata.json, scores.csv, loadings.csv и утверждённая матрица оценок.</a:t>
            </a:r>
          </a:p>
          <a:p xmlns:a="http://schemas.openxmlformats.org/drawingml/2006/main">
            <a:r>
              <a:t>Изучаемое пространство: Публичный политический образ российских политиков и иных заметных политических акторов, включая деятелей за рубежом, активных хотя бы в части периода. Не рейтинг популярности..</a:t>
            </a:r>
          </a:p>
          <a:p xmlns:a="http://schemas.openxmlformats.org/drawingml/2006/main">
            <a:r>
              <a:t>Оценщик: llm_exploratory.</a:t>
            </a:r>
          </a:p>
          <a:p xmlns:a="http://schemas.openxmlformats.org/drawingml/2006/main">
            <a:r>
              <a:t>Исходные URL:</a:t>
            </a:r>
          </a:p>
          <a:p xmlns:a="http://schemas.openxmlformats.org/drawingml/2006/main">
            <a:r>
              <a:t>https://kremlin.ru/structure/president</a:t>
            </a:r>
          </a:p>
          <a:p xmlns:a="http://schemas.openxmlformats.org/drawingml/2006/main">
            <a:r>
              <a:t>http://www.special.kremlin.ru/events/president/transcripts/67843</a:t>
            </a:r>
          </a:p>
          <a:p xmlns:a="http://schemas.openxmlformats.org/drawingml/2006/main">
            <a:r>
              <a:t>http://en.kremlin.ru/events/president/news/70315</a:t>
            </a:r>
          </a:p>
          <a:p xmlns:a="http://schemas.openxmlformats.org/drawingml/2006/main">
            <a:r>
              <a:t>http://special.kremlin.ru/events/president/transcripts/70565</a:t>
            </a:r>
          </a:p>
          <a:p xmlns:a="http://schemas.openxmlformats.org/drawingml/2006/main">
            <a:r>
              <a:t>http://special.kremlin.ru/events/president/transcripts/72994</a:t>
            </a:r>
          </a:p>
          <a:p xmlns:a="http://schemas.openxmlformats.org/drawingml/2006/main">
            <a:r>
              <a:t>http://kremlin.ru/events/president/news/73585</a:t>
            </a:r>
          </a:p>
          <a:p xmlns:a="http://schemas.openxmlformats.org/drawingml/2006/main">
            <a:r>
              <a:t>http://special.kremlin.ru/events/president/transcripts/75762</a:t>
            </a:r>
          </a:p>
          <a:p xmlns:a="http://schemas.openxmlformats.org/drawingml/2006/main">
            <a:r>
              <a:t>http://www.special.kremlin.ru/events/president/transcripts/76899</a:t>
            </a:r>
          </a:p>
          <a:p xmlns:a="http://schemas.openxmlformats.org/drawingml/2006/main">
            <a:r>
              <a:t>http://special.kremlin.ru/events/president/transcripts/80017</a:t>
            </a:r>
          </a:p>
          <a:p xmlns:a="http://schemas.openxmlformats.org/drawingml/2006/main">
            <a:r>
              <a:t>http://www.special.kremlin.ru/events/president/transcripts/72084</a:t>
            </a:r>
          </a:p>
          <a:p xmlns:a="http://schemas.openxmlformats.org/drawingml/2006/main">
            <a:r>
              <a:t>http://www.special.kremlin.ru/events/president/transcripts/80172</a:t>
            </a:r>
          </a:p>
          <a:p xmlns:a="http://schemas.openxmlformats.org/drawingml/2006/main">
            <a:r>
              <a:t>https://www.diva-portal.org/smash/get/diva2:2035197/FULLTEXT01.pdf</a:t>
            </a:r>
          </a:p>
          <a:p xmlns:a="http://schemas.openxmlformats.org/drawingml/2006/main">
            <a:r>
              <a:t>https://www.reuters.com/world/what-know-about-russias-upcoming-parliamentary-election-2026-09-15/</a:t>
            </a:r>
          </a:p>
          <a:p xmlns:a="http://schemas.openxmlformats.org/drawingml/2006/main">
            <a:r>
              <a:t>https://www.reuters.com/world/europe/how-putin-may-leverage-predictable-outcome-russias-elections-2026-09-18/</a:t>
            </a:r>
          </a:p>
          <a:p xmlns:a="http://schemas.openxmlformats.org/drawingml/2006/main">
            <a:r>
              <a:t>https://ru.wikipedia.org/wiki/Медведев,_Дмитрий_Анатольевич</a:t>
            </a:r>
          </a:p>
          <a:p xmlns:a="http://schemas.openxmlformats.org/drawingml/2006/main">
            <a:r>
              <a:t>https://tass.ru/ekonomika/3941450</a:t>
            </a:r>
          </a:p>
          <a:p xmlns:a="http://schemas.openxmlformats.org/drawingml/2006/main">
            <a:r>
              <a:t>http://archive.government.ru/docs/21653/print/</a:t>
            </a:r>
          </a:p>
          <a:p xmlns:a="http://schemas.openxmlformats.org/drawingml/2006/main">
            <a:r>
              <a:t>https://netfreedom.org.ua/ru/dmytro-anatoliiovych-medvediev-biohrafiia-posady-i-sanktsii/</a:t>
            </a:r>
          </a:p>
          <a:p xmlns:a="http://schemas.openxmlformats.org/drawingml/2006/main">
            <a:r>
              <a:t>https://verstka.media/czeli-svo-kak-kreml-menyal-ih-na-protyazhenii-tryoh-let-vojny</a:t>
            </a:r>
          </a:p>
          <a:p xmlns:a="http://schemas.openxmlformats.org/drawingml/2006/main">
            <a:r>
              <a:t>http://www.scrf.gov.ru/news/allnews/3820/</a:t>
            </a:r>
          </a:p>
          <a:p xmlns:a="http://schemas.openxmlformats.org/drawingml/2006/main">
            <a:r>
              <a:t>http://scrf.gov.ru/news/allnews/3837/</a:t>
            </a:r>
          </a:p>
          <a:p xmlns:a="http://schemas.openxmlformats.org/drawingml/2006/main">
            <a:r>
              <a:t>https://baike.baidu.com/ru/item/%D0%94%D0%BC%D0%B8%D1%82%D1%80%D0%B8%D0%B9%20%D0%90%D0%BD%D0%B0%D1%82%D0%BE%D0%BB%D1%8C%D0%B5%D0%B2%D0%B8%D1%87%20%D0%9C%D0%B5%D0%B4%D0%B2%D0%B5%D0%B4%D0%B5%D0%B2/3254451</a:t>
            </a:r>
          </a:p>
          <a:p xmlns:a="http://schemas.openxmlformats.org/drawingml/2006/main">
            <a:r>
              <a:t>https://tass.ru/politika/5889577</a:t>
            </a:r>
          </a:p>
          <a:p xmlns:a="http://schemas.openxmlformats.org/drawingml/2006/main">
            <a:r>
              <a:t>https://meduza.io/feature/2023/06/26/chto-proizoshlo-s-dmitriem-medvedevym</a:t>
            </a:r>
          </a:p>
          <a:p xmlns:a="http://schemas.openxmlformats.org/drawingml/2006/main">
            <a:r>
              <a:t>https://www.bbc.com/russian/articles/c6evw7d22lv0o</a:t>
            </a:r>
          </a:p>
          <a:p xmlns:a="http://schemas.openxmlformats.org/drawingml/2006/main">
            <a:r>
              <a:t>https://er.ru/activity/news/dmitrij-medvedev-edinaya-rossiya-ne-dopustit-razrusheniya-cennostnyh-osnov-strany</a:t>
            </a:r>
          </a:p>
          <a:p xmlns:a="http://schemas.openxmlformats.org/drawingml/2006/main">
            <a:r>
              <a:t>https://en.wikipedia.org/wiki/Media_freedom_in_Russia</a:t>
            </a:r>
          </a:p>
          <a:p xmlns:a="http://schemas.openxmlformats.org/drawingml/2006/main">
            <a:r>
              <a:t>https://government.ru/gov/persons/151/travel/?area=KHA</a:t>
            </a:r>
          </a:p>
          <a:p xmlns:a="http://schemas.openxmlformats.org/drawingml/2006/main">
            <a:r>
              <a:t>http://government.ru/gov/persons/151/biography/</a:t>
            </a:r>
          </a:p>
          <a:p xmlns:a="http://schemas.openxmlformats.org/drawingml/2006/main">
            <a:r>
              <a:t>https://www.reuters.com/world/europe/who-is-russias-mikhail-mishustin-2024-05-10/</a:t>
            </a:r>
          </a:p>
          <a:p xmlns:a="http://schemas.openxmlformats.org/drawingml/2006/main">
            <a:r>
              <a:t>https://www.kommersant.ru/doc/4220798</a:t>
            </a:r>
          </a:p>
          <a:p xmlns:a="http://schemas.openxmlformats.org/drawingml/2006/main">
            <a:r>
              <a:t>https://www.vedomosti.ru/politics/galleries/2026/03/03/1179718-nalogi-pod-kontrolem</a:t>
            </a:r>
          </a:p>
          <a:p xmlns:a="http://schemas.openxmlformats.org/drawingml/2006/main">
            <a:r>
              <a:t>http://government.ru/gov/persons/151/travel/?page=5</a:t>
            </a:r>
          </a:p>
          <a:p xmlns:a="http://schemas.openxmlformats.org/drawingml/2006/main">
            <a:r>
              <a:t>http://government.ru/news/46476/</a:t>
            </a:r>
          </a:p>
          <a:p xmlns:a="http://schemas.openxmlformats.org/drawingml/2006/main">
            <a:r>
              <a:t>http://government.ru/news/52063/</a:t>
            </a:r>
          </a:p>
          <a:p xmlns:a="http://schemas.openxmlformats.org/drawingml/2006/main">
            <a:r>
              <a:t>http://government.ru/news/52851/</a:t>
            </a:r>
          </a:p>
          <a:p xmlns:a="http://schemas.openxmlformats.org/drawingml/2006/main">
            <a:r>
              <a:t>https://nangs.org/news/society/kabmin-privlek-otdelnye-gosorgany-k-ukrepleniyu-traditsionnykh-tsennostej</a:t>
            </a:r>
          </a:p>
          <a:p xmlns:a="http://schemas.openxmlformats.org/drawingml/2006/main">
            <a:r>
              <a:t>http://government.ru/news/57315/</a:t>
            </a:r>
          </a:p>
          <a:p xmlns:a="http://schemas.openxmlformats.org/drawingml/2006/main">
            <a:r>
              <a:t>https://www.rbc.ru/person/617bf30d9a7947f92ee2d266</a:t>
            </a:r>
          </a:p>
          <a:p xmlns:a="http://schemas.openxmlformats.org/drawingml/2006/main">
            <a:r>
              <a:t>https://mid.ru/ru/press_service/video/view/1848395/</a:t>
            </a:r>
          </a:p>
          <a:p xmlns:a="http://schemas.openxmlformats.org/drawingml/2006/main">
            <a:r>
              <a:t>https://mid.ru/ru/foreign_policy/international_organizations/1932076/</a:t>
            </a:r>
          </a:p>
          <a:p xmlns:a="http://schemas.openxmlformats.org/drawingml/2006/main">
            <a:r>
              <a:t>https://mid.ru/ru/press_service/minister_speeches/1991476/</a:t>
            </a:r>
          </a:p>
          <a:p xmlns:a="http://schemas.openxmlformats.org/drawingml/2006/main">
            <a:r>
              <a:t>https://www.mid.ru/ru/press_service/vizity-ministra/1922112/</a:t>
            </a:r>
          </a:p>
          <a:p xmlns:a="http://schemas.openxmlformats.org/drawingml/2006/main">
            <a:r>
              <a:t>https://www.mid.ru/ru/foreign_policy/news/1927568/</a:t>
            </a:r>
          </a:p>
          <a:p xmlns:a="http://schemas.openxmlformats.org/drawingml/2006/main">
            <a:r>
              <a:t>https://mid.ru/ru/foreign_policy/news/1912973/</a:t>
            </a:r>
          </a:p>
          <a:p xmlns:a="http://schemas.openxmlformats.org/drawingml/2006/main">
            <a:r>
              <a:t>https://www.reuters.com/world/europe/russias-lavrov-says-moscow-committed-us-proposals-peace-rejects-europes-2026-06-15/</a:t>
            </a:r>
          </a:p>
          <a:p xmlns:a="http://schemas.openxmlformats.org/drawingml/2006/main">
            <a:r>
              <a:t>https://www.reuters.com/world/lavrov-says-russia-is-ready-resume-talks-with-ukraine-point-where-they-left-off-2026-06-23/</a:t>
            </a:r>
          </a:p>
          <a:p xmlns:a="http://schemas.openxmlformats.org/drawingml/2006/main">
            <a:r>
              <a:t>https://mid.ru/ru/press_service/video/view/1799184/</a:t>
            </a:r>
          </a:p>
          <a:p xmlns:a="http://schemas.openxmlformats.org/drawingml/2006/main">
            <a:r>
              <a:t>https://en.wikipedia.org/wiki/Sergey_Lavrov</a:t>
            </a:r>
          </a:p>
          <a:p xmlns:a="http://schemas.openxmlformats.org/drawingml/2006/main">
            <a:r>
              <a:t>https://www.garant.ru/products/ipo/prime/doc/70627660/</a:t>
            </a:r>
          </a:p>
          <a:p xmlns:a="http://schemas.openxmlformats.org/drawingml/2006/main">
            <a:r>
              <a:t>https://www.rbc.ru/person/617fc0679a794761d6170b80</a:t>
            </a:r>
          </a:p>
          <a:p xmlns:a="http://schemas.openxmlformats.org/drawingml/2006/main">
            <a:r>
              <a:t>http://www.kremlin.ru/acts/bank/50544</a:t>
            </a:r>
          </a:p>
          <a:p xmlns:a="http://schemas.openxmlformats.org/drawingml/2006/main">
            <a:r>
              <a:t>http://special.kremlin.ru/events/president/news/74019</a:t>
            </a:r>
          </a:p>
          <a:p xmlns:a="http://schemas.openxmlformats.org/drawingml/2006/main">
            <a:r>
              <a:t>https://www.interfax.ru/russia/960081</a:t>
            </a:r>
          </a:p>
          <a:p xmlns:a="http://schemas.openxmlformats.org/drawingml/2006/main">
            <a:r>
              <a:t>https://www.rbc.ru/politics/21/09/2022/632ab17c9a794781413c8582</a:t>
            </a:r>
          </a:p>
          <a:p xmlns:a="http://schemas.openxmlformats.org/drawingml/2006/main">
            <a:r>
              <a:t>https://www.bbc.com/russian/articles/c72p0jq04gjo</a:t>
            </a:r>
          </a:p>
          <a:p xmlns:a="http://schemas.openxmlformats.org/drawingml/2006/main">
            <a:r>
              <a:t>https://meduza.io/feature/2024/05/12/putin-uvolil-shoygu-s-posta-ministra-oborony-i-perevel-v-sovbez</a:t>
            </a:r>
          </a:p>
          <a:p xmlns:a="http://schemas.openxmlformats.org/drawingml/2006/main">
            <a:r>
              <a:t>https://paodkb.org/events/sergey-shoygu-naznachen-sekretarem-soveta-bezopasnosti-rf</a:t>
            </a:r>
          </a:p>
          <a:p xmlns:a="http://schemas.openxmlformats.org/drawingml/2006/main">
            <a:r>
              <a:t>https://base.garant.ru/409005084/</a:t>
            </a:r>
          </a:p>
          <a:p xmlns:a="http://schemas.openxmlformats.org/drawingml/2006/main">
            <a:r>
              <a:t>http://special.kremlin.ru/supplement/6345</a:t>
            </a:r>
          </a:p>
          <a:p xmlns:a="http://schemas.openxmlformats.org/drawingml/2006/main">
            <a:r>
              <a:t>http://en.kremlin.ru/supplement/6345</a:t>
            </a:r>
          </a:p>
          <a:p xmlns:a="http://schemas.openxmlformats.org/drawingml/2006/main">
            <a:r>
              <a:t>https://www.kp.ru/daily/27656.5/5040576/</a:t>
            </a:r>
          </a:p>
          <a:p xmlns:a="http://schemas.openxmlformats.org/drawingml/2006/main">
            <a:r>
              <a:t>https://www.fontanka.ru/2025/06/10/75574928/</a:t>
            </a:r>
          </a:p>
          <a:p xmlns:a="http://schemas.openxmlformats.org/drawingml/2006/main">
            <a:r>
              <a:t>https://tass.ru/politika/25506737</a:t>
            </a:r>
          </a:p>
          <a:p xmlns:a="http://schemas.openxmlformats.org/drawingml/2006/main">
            <a:r>
              <a:t>https://www.rbc.ru/person/6181419c9a7947df128a22f7</a:t>
            </a:r>
          </a:p>
          <a:p xmlns:a="http://schemas.openxmlformats.org/drawingml/2006/main">
            <a:r>
              <a:t>https://www.rbc.ru/economics/31/05/2021/60b3de5d9a7947f2883f7aa0</a:t>
            </a:r>
          </a:p>
          <a:p xmlns:a="http://schemas.openxmlformats.org/drawingml/2006/main">
            <a:r>
              <a:t>https://www.rbc.ru/politics/13/05/2024/6641109a9a7947ab8eebcf7f</a:t>
            </a:r>
          </a:p>
          <a:p xmlns:a="http://schemas.openxmlformats.org/drawingml/2006/main">
            <a:r>
              <a:t>https://www.rbc.ru/business/13/06/2023/6482d3389a79473805ee8978</a:t>
            </a:r>
          </a:p>
          <a:p xmlns:a="http://schemas.openxmlformats.org/drawingml/2006/main">
            <a:r>
              <a:t>https://thebell.io/kuda-vedet-ekonomiku-andrej-belousov-zagadki-dmitriya-medvedeva-i-sposoby-perezhit-sanktsii</a:t>
            </a:r>
          </a:p>
          <a:p xmlns:a="http://schemas.openxmlformats.org/drawingml/2006/main">
            <a:r>
              <a:t>https://72.ru/text/politics/2024/05/14/73575386/</a:t>
            </a:r>
          </a:p>
          <a:p xmlns:a="http://schemas.openxmlformats.org/drawingml/2006/main">
            <a:r>
              <a:t>https://tass.ru/armiya-i-opk/22683223</a:t>
            </a:r>
          </a:p>
          <a:p xmlns:a="http://schemas.openxmlformats.org/drawingml/2006/main">
            <a:r>
              <a:t>https://www.rbc.ru/society/12/12/2017/5a2f9b5a9a79473649fe0042</a:t>
            </a:r>
          </a:p>
          <a:p xmlns:a="http://schemas.openxmlformats.org/drawingml/2006/main">
            <a:r>
              <a:t>https://www.istorex.org/post/russia-december-2024-february-2025</a:t>
            </a:r>
          </a:p>
          <a:p xmlns:a="http://schemas.openxmlformats.org/drawingml/2006/main">
            <a:r>
              <a:t>https://rosinform.ru/news/andrej-belousov-osoboe-znachenie-pridayom-obespecheniyu-voennoj-bezopasnosti-soyuznogo-gosudarstva</a:t>
            </a:r>
          </a:p>
          <a:p xmlns:a="http://schemas.openxmlformats.org/drawingml/2006/main">
            <a:r>
              <a:t>https://xn--b1apnk.xn--p1ai/tpost/nsk7vo4xh1-vstrecha-s-ministrom-oboroni-rossii-i-os</a:t>
            </a:r>
          </a:p>
          <a:p xmlns:a="http://schemas.openxmlformats.org/drawingml/2006/main">
            <a:r>
              <a:t>https://www.rbc.ru/person/62d120d89a79475f0ddd8b5e</a:t>
            </a:r>
          </a:p>
          <a:p xmlns:a="http://schemas.openxmlformats.org/drawingml/2006/main">
            <a:r>
              <a:t>http://scrf.gov.ru/news/allnews/2148/</a:t>
            </a:r>
          </a:p>
          <a:p xmlns:a="http://schemas.openxmlformats.org/drawingml/2006/main">
            <a:r>
              <a:t>https://www.rbc.ru/politics/14/05/2024/6643287b9a7947a8f0b8ba78</a:t>
            </a:r>
          </a:p>
          <a:p xmlns:a="http://schemas.openxmlformats.org/drawingml/2006/main">
            <a:r>
              <a:t>https://tass.ru/info/20789699</a:t>
            </a:r>
          </a:p>
          <a:p xmlns:a="http://schemas.openxmlformats.org/drawingml/2006/main">
            <a:r>
              <a:t>https://marine.org.ru/structure/person/56/</a:t>
            </a:r>
          </a:p>
          <a:p xmlns:a="http://schemas.openxmlformats.org/drawingml/2006/main">
            <a:r>
              <a:t>https://marine.org.ru/publication/smi/16108/</a:t>
            </a:r>
          </a:p>
          <a:p xmlns:a="http://schemas.openxmlformats.org/drawingml/2006/main">
            <a:r>
              <a:t>https://www.svoboda.org/a/30676123.html</a:t>
            </a:r>
          </a:p>
          <a:p xmlns:a="http://schemas.openxmlformats.org/drawingml/2006/main">
            <a:r>
              <a:t>https://aif.ru/society/safety/kuklovodstvo_k_deystviyu_nikolay_patrushev_o_metodah_cvetnyh_revolyuciy</a:t>
            </a:r>
          </a:p>
          <a:p xmlns:a="http://schemas.openxmlformats.org/drawingml/2006/main">
            <a:r>
              <a:t>https://vkrizis.info/vlast/czennosti-razmyvaniya/</a:t>
            </a:r>
          </a:p>
          <a:p xmlns:a="http://schemas.openxmlformats.org/drawingml/2006/main">
            <a:r>
              <a:t>https://infranomica.ru/2026/05/19/selskoe-hozyajstvo-est-rezultat-budet-i-pishha/</a:t>
            </a:r>
          </a:p>
          <a:p xmlns:a="http://schemas.openxmlformats.org/drawingml/2006/main">
            <a:r>
              <a:t>https://www.rbc.ru/person/660400989a79471b36dbb514</a:t>
            </a:r>
          </a:p>
          <a:p xmlns:a="http://schemas.openxmlformats.org/drawingml/2006/main">
            <a:r>
              <a:t>http://special.kremlin.ru/catalog/persons/100/events</a:t>
            </a:r>
          </a:p>
          <a:p xmlns:a="http://schemas.openxmlformats.org/drawingml/2006/main">
            <a:r>
              <a:t>https://nac.gov.ru/view/eb008ff4-1608-4b47-b2a9-3d604c1833c2</a:t>
            </a:r>
          </a:p>
          <a:p xmlns:a="http://schemas.openxmlformats.org/drawingml/2006/main">
            <a:r>
              <a:t>http://pfo.gov.ru/press/events/113336/</a:t>
            </a:r>
          </a:p>
          <a:p xmlns:a="http://schemas.openxmlformats.org/drawingml/2006/main">
            <a:r>
              <a:t>https://www.opensanctions.org/entities/Q516824/</a:t>
            </a:r>
          </a:p>
          <a:p xmlns:a="http://schemas.openxmlformats.org/drawingml/2006/main">
            <a:r>
              <a:t>https://www.agents.media/ssha-poprobuyut-vozobnovit-peregovory-o-mire-v-ukraine-cherez-glavu-fsb-che-vedomstvo-kak-schitaetsya-svoimi-dokladami-podtolknulo-putina-k-vojne/</a:t>
            </a:r>
          </a:p>
          <a:p xmlns:a="http://schemas.openxmlformats.org/drawingml/2006/main">
            <a:r>
              <a:t>https://letters.kremlin.ru/news/receptions/by-section/assignments/by-person/260</a:t>
            </a:r>
          </a:p>
          <a:p xmlns:a="http://schemas.openxmlformats.org/drawingml/2006/main">
            <a:r>
              <a:t>https://www.kommersant.ru/doc/3612580</a:t>
            </a:r>
          </a:p>
          <a:p xmlns:a="http://schemas.openxmlformats.org/drawingml/2006/main">
            <a:r>
              <a:t>https://fbk.info/ru/investigations/kirienko-kholyi-putina</a:t>
            </a:r>
          </a:p>
          <a:p xmlns:a="http://schemas.openxmlformats.org/drawingml/2006/main">
            <a:r>
              <a:t>https://utro02.tv/2022/05/24/kolebaniya-kirienok/</a:t>
            </a:r>
          </a:p>
          <a:p xmlns:a="http://schemas.openxmlformats.org/drawingml/2006/main">
            <a:r>
              <a:t>https://meduza.io/feature/2023/12/19/on-peresidel-v-svoem-kresle-v-kremle-i-pravitelstve-obsuzhdayut-chto-sergey-kirienko-mozhet-lishitsya-dolzhnosti-v-ap-posle-vyborov-prezidenta</a:t>
            </a:r>
          </a:p>
          <a:p xmlns:a="http://schemas.openxmlformats.org/drawingml/2006/main">
            <a:r>
              <a:t>https://verstka.media/kak-rossiya-prodvigaet-svoyu-molodezhnuyu-politiku-na-okkupirovannyh-territoriyah</a:t>
            </a:r>
          </a:p>
          <a:p xmlns:a="http://schemas.openxmlformats.org/drawingml/2006/main">
            <a:r>
              <a:t>https://dnrnews.ru/society/2025/09/04/1167117.html</a:t>
            </a:r>
          </a:p>
          <a:p xmlns:a="http://schemas.openxmlformats.org/drawingml/2006/main">
            <a:r>
              <a:t>https://www.tadviser.ru/index.php/%D0%9F%D0%B5%D1%80%D1%81%D0%BE%D0%BD%D0%B0:%D0%9A%D0%B8%D1%80%D0%B8%D0%B5%D0%BD%D0%BA%D0%BE_%D0%A1%D0%B5%D1%80%D0%B3%D0%B5%D0%B9_%D0%92%D0%BB%D0%B0%D0%B4%D0%B8%D0%BB%D0%B5%D0%BD%D0%BE%D0%B2%D0%B8%D1%87</a:t>
            </a:r>
          </a:p>
          <a:p xmlns:a="http://schemas.openxmlformats.org/drawingml/2006/main">
            <a:r>
              <a:t>https://tass.ru/politika/18225741</a:t>
            </a:r>
          </a:p>
          <a:p xmlns:a="http://schemas.openxmlformats.org/drawingml/2006/main">
            <a:r>
              <a:t>https://www.kommersant.ru/doc/6187168</a:t>
            </a:r>
          </a:p>
          <a:p xmlns:a="http://schemas.openxmlformats.org/drawingml/2006/main">
            <a:r>
              <a:t>https://duma.gov.ru/news/63383/</a:t>
            </a:r>
          </a:p>
          <a:p xmlns:a="http://schemas.openxmlformats.org/drawingml/2006/main">
            <a:r>
              <a:t>http://duma.gov.ru/en/duma/persons/99100829/news/</a:t>
            </a:r>
          </a:p>
          <a:p xmlns:a="http://schemas.openxmlformats.org/drawingml/2006/main">
            <a:r>
              <a:t>http://duma.gov.ru/en/news/62248/</a:t>
            </a:r>
          </a:p>
          <a:p xmlns:a="http://schemas.openxmlformats.org/drawingml/2006/main">
            <a:r>
              <a:t>http://duma.gov.ru/en/news/61352/</a:t>
            </a:r>
          </a:p>
          <a:p xmlns:a="http://schemas.openxmlformats.org/drawingml/2006/main">
            <a:r>
              <a:t>http://duma.gov.ru/en/news/64178/</a:t>
            </a:r>
          </a:p>
          <a:p xmlns:a="http://schemas.openxmlformats.org/drawingml/2006/main">
            <a:r>
              <a:t>http://duma.gov.ru/en/news/64216</a:t>
            </a:r>
          </a:p>
          <a:p xmlns:a="http://schemas.openxmlformats.org/drawingml/2006/main">
            <a:r>
              <a:t>http://duma.gov.ru/en/news/64239</a:t>
            </a:r>
          </a:p>
          <a:p xmlns:a="http://schemas.openxmlformats.org/drawingml/2006/main">
            <a:r>
              <a:t>https://en.wikipedia.org/wiki/Vyacheslav_Volodin</a:t>
            </a:r>
          </a:p>
          <a:p xmlns:a="http://schemas.openxmlformats.org/drawingml/2006/main">
            <a:r>
              <a:t>http://duma.gov.ru/news/56060/</a:t>
            </a:r>
          </a:p>
          <a:p xmlns:a="http://schemas.openxmlformats.org/drawingml/2006/main">
            <a:r>
              <a:t>http://duma.gov.ru/news/60448/</a:t>
            </a:r>
          </a:p>
          <a:p xmlns:a="http://schemas.openxmlformats.org/drawingml/2006/main">
            <a:r>
              <a:t>http://duma.gov.ru/news/61362/</a:t>
            </a:r>
          </a:p>
          <a:p xmlns:a="http://schemas.openxmlformats.org/drawingml/2006/main">
            <a:r>
              <a:t>http://duma.gov.ru/news/61384/</a:t>
            </a:r>
          </a:p>
          <a:p xmlns:a="http://schemas.openxmlformats.org/drawingml/2006/main">
            <a:r>
              <a:t>http://duma.gov.ru/news/61874/</a:t>
            </a:r>
          </a:p>
          <a:p xmlns:a="http://schemas.openxmlformats.org/drawingml/2006/main">
            <a:r>
              <a:t>http://duma.gov.ru/news/62022/</a:t>
            </a:r>
          </a:p>
          <a:p xmlns:a="http://schemas.openxmlformats.org/drawingml/2006/main">
            <a:r>
              <a:t>http://duma.gov.ru/news/63772/</a:t>
            </a:r>
          </a:p>
          <a:p xmlns:a="http://schemas.openxmlformats.org/drawingml/2006/main">
            <a:r>
              <a:t>https://council.gov.ru/events/news/160466/</a:t>
            </a:r>
          </a:p>
          <a:p xmlns:a="http://schemas.openxmlformats.org/drawingml/2006/main">
            <a:r>
              <a:t>http://council.gov.ru/structure/persons/257/</a:t>
            </a:r>
          </a:p>
          <a:p xmlns:a="http://schemas.openxmlformats.org/drawingml/2006/main">
            <a:r>
              <a:t>https://interaffairs.ru/news/show/16199</a:t>
            </a:r>
          </a:p>
          <a:p xmlns:a="http://schemas.openxmlformats.org/drawingml/2006/main">
            <a:r>
              <a:t>https://www.rbc.ru/person/617fb5ef9a79475c6cfc4502</a:t>
            </a:r>
          </a:p>
          <a:p xmlns:a="http://schemas.openxmlformats.org/drawingml/2006/main">
            <a:r>
              <a:t>https://vksrs.com/publications/matvienko-rasskazala-o-neobkhodimosti-protivostoyat-geroizatsii-natsistov/</a:t>
            </a:r>
          </a:p>
          <a:p xmlns:a="http://schemas.openxmlformats.org/drawingml/2006/main">
            <a:r>
              <a:t>https://absatz.media/politika/158438-valentine-matvienko-77-istoriya-uspeha-put-k-vershine-i-samye-yarkie-zayavleniya</a:t>
            </a:r>
          </a:p>
          <a:p xmlns:a="http://schemas.openxmlformats.org/drawingml/2006/main">
            <a:r>
              <a:t>https://www.rbc.ru/society/14/10/2026/6acf597c9a794743e0478a15?from=short_news</a:t>
            </a:r>
          </a:p>
          <a:p xmlns:a="http://schemas.openxmlformats.org/drawingml/2006/main">
            <a:r>
              <a:t>https://senatinform.ru/news/sf_stremitsya_byt_maksimalno_otkrytym_dlya_raboty_zhurnalistov_matvienko/</a:t>
            </a:r>
          </a:p>
          <a:p xmlns:a="http://schemas.openxmlformats.org/drawingml/2006/main">
            <a:r>
              <a:t>https://eparlament.irzs.ru/Files/getFile/11853</a:t>
            </a:r>
          </a:p>
          <a:p xmlns:a="http://schemas.openxmlformats.org/drawingml/2006/main">
            <a:r>
              <a:t>http://special.council.gov.ru/activity/meetings/170703/transcript/</a:t>
            </a:r>
          </a:p>
          <a:p xmlns:a="http://schemas.openxmlformats.org/drawingml/2006/main">
            <a:r>
              <a:t>https://bookonlime.ru/lecture/12-razvitie-ekonomicheskih-otnosheniy-i-strategicheskoe-planirovanie-v-cifrovoy-ekonomike-2</a:t>
            </a:r>
          </a:p>
          <a:p xmlns:a="http://schemas.openxmlformats.org/drawingml/2006/main">
            <a:r>
              <a:t>https://ru.wikipedia.org/wiki/Песков,_Дмитрий_Сергеевич</a:t>
            </a:r>
          </a:p>
          <a:p xmlns:a="http://schemas.openxmlformats.org/drawingml/2006/main">
            <a:r>
              <a:t>https://www.reuters.com/world/europe/kremlin-says-ukraine-is-now-paying-price-its-own-attacks-russia-2026-09-28/</a:t>
            </a:r>
          </a:p>
          <a:p xmlns:a="http://schemas.openxmlformats.org/drawingml/2006/main">
            <a:r>
              <a:t>https://www.reuters.com/world/europe/kremlin-rejects-le-penbardella-rebuke-says-russia-is-no-threat-france-2026-09-21/</a:t>
            </a:r>
          </a:p>
          <a:p xmlns:a="http://schemas.openxmlformats.org/drawingml/2006/main">
            <a:r>
              <a:t>https://theins.ru/antifake/295208</a:t>
            </a:r>
          </a:p>
          <a:p xmlns:a="http://schemas.openxmlformats.org/drawingml/2006/main">
            <a:r>
              <a:t>https://expert.ru/news/v-kremle-otvetili-na-slova-donalda-trampa-o-rossiyskom-vmeshatelstve</a:t>
            </a:r>
          </a:p>
          <a:p xmlns:a="http://schemas.openxmlformats.org/drawingml/2006/main">
            <a:r>
              <a:t>https://www.dw.com/ru/dmitrij-peskov/t-18146676/page-1</a:t>
            </a:r>
          </a:p>
          <a:p xmlns:a="http://schemas.openxmlformats.org/drawingml/2006/main">
            <a:r>
              <a:t>https://www.pnp.ru/person/dmitriy--peskov/</a:t>
            </a:r>
          </a:p>
          <a:p xmlns:a="http://schemas.openxmlformats.org/drawingml/2006/main">
            <a:r>
              <a:t>https://www.rbc.ua/ukr/dossier/peskov-19032015</a:t>
            </a:r>
          </a:p>
          <a:p xmlns:a="http://schemas.openxmlformats.org/drawingml/2006/main">
            <a:r>
              <a:t>https://www.rbc.ru/politics/12/10/2026/6accae3bb18f4460834ce063</a:t>
            </a:r>
          </a:p>
          <a:p xmlns:a="http://schemas.openxmlformats.org/drawingml/2006/main">
            <a:r>
              <a:t>https://tass.ru/politika/20355193</a:t>
            </a:r>
          </a:p>
          <a:p xmlns:a="http://schemas.openxmlformats.org/drawingml/2006/main">
            <a:r>
              <a:t>https://www.m24.ru/news/06052024/689412</a:t>
            </a:r>
          </a:p>
          <a:p xmlns:a="http://schemas.openxmlformats.org/drawingml/2006/main">
            <a:r>
              <a:t>http://www.kremlin.ru/acts/bank/48502</a:t>
            </a:r>
          </a:p>
          <a:p xmlns:a="http://schemas.openxmlformats.org/drawingml/2006/main">
            <a:r>
              <a:t>https://www.m24.ru/news/11022025/769070</a:t>
            </a:r>
          </a:p>
          <a:p xmlns:a="http://schemas.openxmlformats.org/drawingml/2006/main">
            <a:r>
              <a:t>https://www.m24.ru/news/23042026/894202</a:t>
            </a:r>
          </a:p>
          <a:p xmlns:a="http://schemas.openxmlformats.org/drawingml/2006/main">
            <a:r>
              <a:t>https://cbr.ru/about_br/nabiullinaes/</a:t>
            </a:r>
          </a:p>
          <a:p xmlns:a="http://schemas.openxmlformats.org/drawingml/2006/main">
            <a:r>
              <a:t>https://cbr.ru/press/event/?id=12840</a:t>
            </a:r>
          </a:p>
          <a:p xmlns:a="http://schemas.openxmlformats.org/drawingml/2006/main">
            <a:r>
              <a:t>https://www.cbr.ru/press/event/?id=12904</a:t>
            </a:r>
          </a:p>
          <a:p xmlns:a="http://schemas.openxmlformats.org/drawingml/2006/main">
            <a:r>
              <a:t>https://cbr.ru/press/event/?id=14033</a:t>
            </a:r>
          </a:p>
          <a:p xmlns:a="http://schemas.openxmlformats.org/drawingml/2006/main">
            <a:r>
              <a:t>https://www.cbr.ru/press/event/?id=12764</a:t>
            </a:r>
          </a:p>
          <a:p xmlns:a="http://schemas.openxmlformats.org/drawingml/2006/main">
            <a:r>
              <a:t>https://kazanfirst.ru/articles/534335</a:t>
            </a:r>
          </a:p>
          <a:p xmlns:a="http://schemas.openxmlformats.org/drawingml/2006/main">
            <a:r>
              <a:t>https://www.rbc.ru/person/65e831449a79476cbfd8e5fd</a:t>
            </a:r>
          </a:p>
          <a:p xmlns:a="http://schemas.openxmlformats.org/drawingml/2006/main">
            <a:r>
              <a:t>https://www.interfax.ru/russia/955290</a:t>
            </a:r>
          </a:p>
          <a:p xmlns:a="http://schemas.openxmlformats.org/drawingml/2006/main">
            <a:r>
              <a:t>https://minfin.gov.ru/ru/press-center/?id_4=38548-intervyu_ministra_finansov_antona_siluanova_gazete_argumenty_i_fakty</a:t>
            </a:r>
          </a:p>
          <a:p xmlns:a="http://schemas.openxmlformats.org/drawingml/2006/main">
            <a:r>
              <a:t>https://minfin.gov.ru/ru/press-center/?id_4=37667-vystuplenie_antona_siluanova_na_plenarnom_zasedanii_v_gosudarstvennoi_dume</a:t>
            </a:r>
          </a:p>
          <a:p xmlns:a="http://schemas.openxmlformats.org/drawingml/2006/main">
            <a:r>
              <a:t>https://www.rbc.ru/economics/24/10/2022/63529d159a7947efb82a59eb</a:t>
            </a:r>
          </a:p>
          <a:p xmlns:a="http://schemas.openxmlformats.org/drawingml/2006/main">
            <a:r>
              <a:t>https://www.rbc.ru/newspaper/2020/02/21/5e4e83289a79474bcf9f8cf9</a:t>
            </a:r>
          </a:p>
          <a:p xmlns:a="http://schemas.openxmlformats.org/drawingml/2006/main">
            <a:r>
              <a:t>https://www.rbc.ru/economics/20/02/2020/5e4e91919a79475559478893</a:t>
            </a:r>
          </a:p>
          <a:p xmlns:a="http://schemas.openxmlformats.org/drawingml/2006/main">
            <a:r>
              <a:t>https://minfin.gov.ru/ru/press-center/?id_4=39336-anton_siluanov_predstavil_na_parlamentskikh_slushaniyakh_v_sovete_federatsii_proekt_byudzheta_na_2025-2027_gg.</a:t>
            </a:r>
          </a:p>
          <a:p xmlns:a="http://schemas.openxmlformats.org/drawingml/2006/main">
            <a:r>
              <a:t>https://www.interfax.ru/amp/1035506</a:t>
            </a:r>
          </a:p>
          <a:p xmlns:a="http://schemas.openxmlformats.org/drawingml/2006/main">
            <a:r>
              <a:t>https://tass.ru/ekonomika/28198121</a:t>
            </a:r>
          </a:p>
          <a:p xmlns:a="http://schemas.openxmlformats.org/drawingml/2006/main">
            <a:r>
              <a:t>https://www.rbc.ru/person/65b9f4369a7947ec8a7f242a</a:t>
            </a:r>
          </a:p>
          <a:p xmlns:a="http://schemas.openxmlformats.org/drawingml/2006/main">
            <a:r>
              <a:t>https://www.bfm.ru/news/435050</a:t>
            </a:r>
          </a:p>
          <a:p xmlns:a="http://schemas.openxmlformats.org/drawingml/2006/main">
            <a:r>
              <a:t>https://ru.ruwiki.ru/wiki/%D0%93%D0%BE%D0%BB%D0%B8%D0%BA%D0%BE%D0%B2%D0%B0,_%D0%A2%D0%B0%D1%82%D1%8C%D1%8F%D0%BD%D0%B0_%D0%90%D0%BB%D0%B5%D0%BA%D1%81%D0%B5%D0%B5%D0%B2%D0%BD%D0%B0</a:t>
            </a:r>
          </a:p>
          <a:p xmlns:a="http://schemas.openxmlformats.org/drawingml/2006/main">
            <a:r>
              <a:t>http://www.kremlin.ru/events/president/transcripts/deliberations%20/77439</a:t>
            </a:r>
          </a:p>
          <a:p xmlns:a="http://schemas.openxmlformats.org/drawingml/2006/main">
            <a:r>
              <a:t>https://xn--90aivcdt6dxbc.xn--p1ai/articles/news/prezident-zdravookhranenie-zanimaet-klyuchevoe-mesto-v-sotsialnoy-politike-rossii/</a:t>
            </a:r>
          </a:p>
          <a:p xmlns:a="http://schemas.openxmlformats.org/drawingml/2006/main">
            <a:r>
              <a:t>https://xn--90aivcdt6dxbc.xn--p1ai/articles/news/tatyana-golikova-edinaya-rossiya-nadezhnyy-soyuznik-i-partner-pravitelstva/</a:t>
            </a:r>
          </a:p>
          <a:p xmlns:a="http://schemas.openxmlformats.org/drawingml/2006/main">
            <a:r>
              <a:t>http://government.ru/news/58648/</a:t>
            </a:r>
          </a:p>
          <a:p xmlns:a="http://schemas.openxmlformats.org/drawingml/2006/main">
            <a:r>
              <a:t>http://government.ru/news/54912/</a:t>
            </a:r>
          </a:p>
          <a:p xmlns:a="http://schemas.openxmlformats.org/drawingml/2006/main">
            <a:r>
              <a:t>http://government.ru/news/58000/</a:t>
            </a:r>
          </a:p>
          <a:p xmlns:a="http://schemas.openxmlformats.org/drawingml/2006/main">
            <a:r>
              <a:t>https://tass.ru/politika/28141547</a:t>
            </a:r>
          </a:p>
          <a:p xmlns:a="http://schemas.openxmlformats.org/drawingml/2006/main">
            <a:r>
              <a:t>https://duma.gov.ru/media/files/smUklOtuNPyzwTneQGCfFUHHIsilAqcm.pdf</a:t>
            </a:r>
          </a:p>
          <a:p xmlns:a="http://schemas.openxmlformats.org/drawingml/2006/main">
            <a:r>
              <a:t>https://kprf.ru/dep/gosduma/activities/187187.html</a:t>
            </a:r>
          </a:p>
          <a:p xmlns:a="http://schemas.openxmlformats.org/drawingml/2006/main">
            <a:r>
              <a:t>http://msk.kprf.ru/2022/08/22/222866/</a:t>
            </a:r>
          </a:p>
          <a:p xmlns:a="http://schemas.openxmlformats.org/drawingml/2006/main">
            <a:r>
              <a:t>https://kprf.ru/party-live/cknews/235903.html</a:t>
            </a:r>
          </a:p>
          <a:p xmlns:a="http://schemas.openxmlformats.org/drawingml/2006/main">
            <a:r>
              <a:t>https://kprf.ru/dep/gosduma/activities/236198.html/print</a:t>
            </a:r>
          </a:p>
          <a:p xmlns:a="http://schemas.openxmlformats.org/drawingml/2006/main">
            <a:r>
              <a:t>https://kprf.ru/dep/gosduma/activities/239812.html</a:t>
            </a:r>
          </a:p>
          <a:p xmlns:a="http://schemas.openxmlformats.org/drawingml/2006/main">
            <a:r>
              <a:t>https://kprf-don.ru/index.php/news/facts/12501-2025-09-15-12-58-35.html</a:t>
            </a:r>
          </a:p>
          <a:p xmlns:a="http://schemas.openxmlformats.org/drawingml/2006/main">
            <a:r>
              <a:t>https://kprf.ru/dep/gosduma/activities/237529.html</a:t>
            </a:r>
          </a:p>
          <a:p xmlns:a="http://schemas.openxmlformats.org/drawingml/2006/main">
            <a:r>
              <a:t>https://novayagazeta.ru/articles/2025/09/19/putin-udivilsia-khodu-zapushchennoi-im-vesnoi-munitsipalnoi-reformy-posle-slov-ziuganova-kak-regiony-dlia-nee-lomali-cherez-koleno-a-tatarstan-otkazalsia-ee-ispolniat-news</a:t>
            </a:r>
          </a:p>
          <a:p xmlns:a="http://schemas.openxmlformats.org/drawingml/2006/main">
            <a:r>
              <a:t>https://kprf.ru/official/2025/11/15/15-noiabria-2025-oda-sostoialsia-ii-noiabrskii-plenum-tsk-kprf/473.html</a:t>
            </a:r>
          </a:p>
          <a:p xmlns:a="http://schemas.openxmlformats.org/drawingml/2006/main">
            <a:r>
              <a:t>https://www.rbc.ru/person/617bfbb79a7947fc327a3bcb</a:t>
            </a:r>
          </a:p>
          <a:p xmlns:a="http://schemas.openxmlformats.org/drawingml/2006/main">
            <a:r>
              <a:t>https://www.bbc.com/russian/features-60873381</a:t>
            </a:r>
          </a:p>
          <a:p xmlns:a="http://schemas.openxmlformats.org/drawingml/2006/main">
            <a:r>
              <a:t>https://www.svoboda.org/a/umer-lider-partii-ldpr-vladimir-zhirinovskiy-nekrolog/31770134.html</a:t>
            </a:r>
          </a:p>
          <a:p xmlns:a="http://schemas.openxmlformats.org/drawingml/2006/main">
            <a:r>
              <a:t>https://www.rbc.ru/politics/06/04/2022/624d661b9a79473f7416fe26</a:t>
            </a:r>
          </a:p>
          <a:p xmlns:a="http://schemas.openxmlformats.org/drawingml/2006/main">
            <a:r>
              <a:t>https://tass.ru/politika/3392889</a:t>
            </a:r>
          </a:p>
          <a:p xmlns:a="http://schemas.openxmlformats.org/drawingml/2006/main">
            <a:r>
              <a:t>https://www.pnp.ru/politics/2016/06/28/v-centre-predvybornoy-programmy-ldpr-russkiy-vopros.html</a:t>
            </a:r>
          </a:p>
          <a:p xmlns:a="http://schemas.openxmlformats.org/drawingml/2006/main">
            <a:r>
              <a:t>https://ldpr.ru/party/history/</a:t>
            </a:r>
          </a:p>
          <a:p xmlns:a="http://schemas.openxmlformats.org/drawingml/2006/main">
            <a:r>
              <a:t>https://govoritmoskva.ru/interviews/1023/</a:t>
            </a:r>
          </a:p>
          <a:p xmlns:a="http://schemas.openxmlformats.org/drawingml/2006/main">
            <a:r>
              <a:t>https://www.gazeta.ru/politics/2017/03/17_a_10580999.shtml</a:t>
            </a:r>
          </a:p>
          <a:p xmlns:a="http://schemas.openxmlformats.org/drawingml/2006/main">
            <a:r>
              <a:t>https://ldpr.ru/upload/iblock/c88/1d6dstdexz6aw7dnwoubeobhr3mnwa1j/a799616e688866c49f2ef6b5b8cfe5c00d45080ae85ce0e5f6d36e2e010681d9.pdf</a:t>
            </a:r>
          </a:p>
          <a:p xmlns:a="http://schemas.openxmlformats.org/drawingml/2006/main">
            <a:r>
              <a:t>https://www.kommersant.ru/doc/3579566</a:t>
            </a:r>
          </a:p>
          <a:p xmlns:a="http://schemas.openxmlformats.org/drawingml/2006/main">
            <a:r>
              <a:t>https://spb.ldpr.ru/event/243915/</a:t>
            </a:r>
          </a:p>
          <a:p xmlns:a="http://schemas.openxmlformats.org/drawingml/2006/main">
            <a:r>
              <a:t>https://kursk.ldpr.ru/event/341398</a:t>
            </a:r>
          </a:p>
          <a:p xmlns:a="http://schemas.openxmlformats.org/drawingml/2006/main">
            <a:r>
              <a:t>https://cyberleninka.ru/article/n/sravnitelnyy-analiz-predvybornyh-programm-ldpr-na-vyborah-2021-g-i-l-e-slutskogo-na-vyborah-2024-g</a:t>
            </a:r>
          </a:p>
          <a:p xmlns:a="http://schemas.openxmlformats.org/drawingml/2006/main">
            <a:r>
              <a:t>https://kcr.ldpr.ru/event/347999/</a:t>
            </a:r>
          </a:p>
          <a:p xmlns:a="http://schemas.openxmlformats.org/drawingml/2006/main">
            <a:r>
              <a:t>https://msknews77.ru/society/2025/09/25/73500.html</a:t>
            </a:r>
          </a:p>
          <a:p xmlns:a="http://schemas.openxmlformats.org/drawingml/2006/main">
            <a:r>
              <a:t>https://bagaevka-press.ru/besplatnyj-zemelnyj-uchastok-dlya-semej-inicziativa-ldpr/</a:t>
            </a:r>
          </a:p>
          <a:p xmlns:a="http://schemas.openxmlformats.org/drawingml/2006/main">
            <a:r>
              <a:t>https://ldpr.ru/event/437527/</a:t>
            </a:r>
          </a:p>
          <a:p xmlns:a="http://schemas.openxmlformats.org/drawingml/2006/main">
            <a:r>
              <a:t>https://rg62.info/2025/11/01/leonid-sluczkij-vstupilsya-za-multserial-masha-i-medved/</a:t>
            </a:r>
          </a:p>
          <a:p xmlns:a="http://schemas.openxmlformats.org/drawingml/2006/main">
            <a:r>
              <a:t>https://mironov.ru/officially</a:t>
            </a:r>
          </a:p>
          <a:p xmlns:a="http://schemas.openxmlformats.org/drawingml/2006/main">
            <a:r>
              <a:t>https://mironov.ru/bio</a:t>
            </a:r>
          </a:p>
          <a:p xmlns:a="http://schemas.openxmlformats.org/drawingml/2006/main">
            <a:r>
              <a:t>https://mironov-online.ru/category/zayavleniya/</a:t>
            </a:r>
          </a:p>
          <a:p xmlns:a="http://schemas.openxmlformats.org/drawingml/2006/main">
            <a:r>
              <a:t>https://www.rbc.ru/person/69806d279a7947baf86c32c5</a:t>
            </a:r>
          </a:p>
          <a:p xmlns:a="http://schemas.openxmlformats.org/drawingml/2006/main">
            <a:r>
              <a:t>https://spravedlivo.ru/16303010</a:t>
            </a:r>
          </a:p>
          <a:p xmlns:a="http://schemas.openxmlformats.org/drawingml/2006/main">
            <a:r>
              <a:t>http://mironov.ru/15133910</a:t>
            </a:r>
          </a:p>
          <a:p xmlns:a="http://schemas.openxmlformats.org/drawingml/2006/main">
            <a:r>
              <a:t>http://www.special.spravedlivo.ru/5_140609.html</a:t>
            </a:r>
          </a:p>
          <a:p xmlns:a="http://schemas.openxmlformats.org/drawingml/2006/main">
            <a:r>
              <a:t>https://spravedlivo.ru/14681110</a:t>
            </a:r>
          </a:p>
          <a:p xmlns:a="http://schemas.openxmlformats.org/drawingml/2006/main">
            <a:r>
              <a:t>https://radiokp.ru/podcast/dialogi-na-radio-kp/759263</a:t>
            </a:r>
          </a:p>
          <a:p xmlns:a="http://schemas.openxmlformats.org/drawingml/2006/main">
            <a:r>
              <a:t>https://mironov.ru/51339910</a:t>
            </a:r>
          </a:p>
          <a:p xmlns:a="http://schemas.openxmlformats.org/drawingml/2006/main">
            <a:r>
              <a:t>https://mironov-online.ru/news/mironov-na-ukraine-idet-bitva-za-budushhee-vsego-chelovechestva-i-pobeda-v-nej-budet-za-rossiej/</a:t>
            </a:r>
          </a:p>
          <a:p xmlns:a="http://schemas.openxmlformats.org/drawingml/2006/main">
            <a:r>
              <a:t>https://spravedlivo.ru/12544510</a:t>
            </a:r>
          </a:p>
          <a:p xmlns:a="http://schemas.openxmlformats.org/drawingml/2006/main">
            <a:r>
              <a:t>https://www.rbc.ru/person/6aa3ef199a79475758621730</a:t>
            </a:r>
          </a:p>
          <a:p xmlns:a="http://schemas.openxmlformats.org/drawingml/2006/main">
            <a:r>
              <a:t>https://www.rbc.ru/politics/24/09/2021/614da73f9a7947b5e3d9399f</a:t>
            </a:r>
          </a:p>
          <a:p xmlns:a="http://schemas.openxmlformats.org/drawingml/2006/main">
            <a:r>
              <a:t>https://amp.rbc.ru/rbcnews/base/14/08/2026/6a957dfb9a79476ae3d823ba</a:t>
            </a:r>
          </a:p>
          <a:p xmlns:a="http://schemas.openxmlformats.org/drawingml/2006/main">
            <a:r>
              <a:t>https://en.wikipedia.org/wiki/Alexey_Nechayev</a:t>
            </a:r>
          </a:p>
          <a:p xmlns:a="http://schemas.openxmlformats.org/drawingml/2006/main">
            <a:r>
              <a:t>https://www.gazeta.ru/politics/23422027/novye-lyudi-na-vyborah-2026-goda.shtml</a:t>
            </a:r>
          </a:p>
          <a:p xmlns:a="http://schemas.openxmlformats.org/drawingml/2006/main">
            <a:r>
              <a:t>https://vremya-bir.ru/2026/03/07/dvenadtsat-shagov-k-strane-v-kotoroj-hochetsya-zhit/</a:t>
            </a:r>
          </a:p>
          <a:p xmlns:a="http://schemas.openxmlformats.org/drawingml/2006/main">
            <a:r>
              <a:t>https://www.rbc.ru/politics/08/09/2026/6aa023ec9a79471e4fd55d3c</a:t>
            </a:r>
          </a:p>
          <a:p xmlns:a="http://schemas.openxmlformats.org/drawingml/2006/main">
            <a:r>
              <a:t>https://www.interfax.ru/interview/1074248</a:t>
            </a:r>
          </a:p>
          <a:p xmlns:a="http://schemas.openxmlformats.org/drawingml/2006/main">
            <a:r>
              <a:t>https://www.interfax.ru/amp/1074248</a:t>
            </a:r>
          </a:p>
          <a:p xmlns:a="http://schemas.openxmlformats.org/drawingml/2006/main">
            <a:r>
              <a:t>https://www.vedomosti.ru/politics/articles/2026/09/09/1227352-novie-lyudi-sformulirovali-programmu</a:t>
            </a:r>
          </a:p>
          <a:p xmlns:a="http://schemas.openxmlformats.org/drawingml/2006/main">
            <a:r>
              <a:t>https://dddkursk.ru/lenta/2026/07/30/129483/</a:t>
            </a:r>
          </a:p>
          <a:p xmlns:a="http://schemas.openxmlformats.org/drawingml/2006/main">
            <a:r>
              <a:t>https://volga.news/article/803292.html</a:t>
            </a:r>
          </a:p>
          <a:p xmlns:a="http://schemas.openxmlformats.org/drawingml/2006/main">
            <a:r>
              <a:t>https://ru.wikipedia.org/wiki/%D0%9D%D0%B5%D1%87%D0%B0%D0%B5%D0%B2,_%D0%90%D0%BB%D0%B5%D0%BA%D1%81%D0%B5%D0%B9_%D0%93%D0%B5%D0%BD%D0%BD%D0%B0%D0%B4%D1%8C%D0%B5%D0%B2%D0%B8%D1%87</a:t>
            </a:r>
          </a:p>
          <a:p xmlns:a="http://schemas.openxmlformats.org/drawingml/2006/main">
            <a:r>
              <a:t>https://www.davankov2024.ru/page_biography/</a:t>
            </a:r>
          </a:p>
          <a:p xmlns:a="http://schemas.openxmlformats.org/drawingml/2006/main">
            <a:r>
              <a:t>https://davankov2024.ru/program</a:t>
            </a:r>
          </a:p>
          <a:p xmlns:a="http://schemas.openxmlformats.org/drawingml/2006/main">
            <a:r>
              <a:t>http://vote.duma.gov.ru/?convocation=AAAAAAA8&amp;deputy=99113489&amp;sort=date_desc</a:t>
            </a:r>
          </a:p>
          <a:p xmlns:a="http://schemas.openxmlformats.org/drawingml/2006/main">
            <a:r>
              <a:t>https://holod.media/2024/02/14/vladislav-davankov/</a:t>
            </a:r>
          </a:p>
          <a:p xmlns:a="http://schemas.openxmlformats.org/drawingml/2006/main">
            <a:r>
              <a:t>https://davankov2024.ru/</a:t>
            </a:r>
          </a:p>
          <a:p xmlns:a="http://schemas.openxmlformats.org/drawingml/2006/main">
            <a:r>
              <a:t>https://novayagazeta.eu/articles/2024/02/15/davankov-predstavil-predvybornuiu-programmu-bez-amnistii-politzakliuchennykh-i-s-namereniem-dobitsia-mira-na-nashikh-usloviiakh-news</a:t>
            </a:r>
          </a:p>
          <a:p xmlns:a="http://schemas.openxmlformats.org/drawingml/2006/main">
            <a:r>
              <a:t>https://www.kavkaz-uzel.eu/articles/398113</a:t>
            </a:r>
          </a:p>
          <a:p xmlns:a="http://schemas.openxmlformats.org/drawingml/2006/main">
            <a:r>
              <a:t>https://echofm.online/portret-dnya/portret-dnya-vladislav-davankov-kandidat-v-prezidenty-rossii</a:t>
            </a:r>
          </a:p>
          <a:p xmlns:a="http://schemas.openxmlformats.org/drawingml/2006/main">
            <a:r>
              <a:t>https://t.me/s/davankov?before=788</a:t>
            </a:r>
          </a:p>
          <a:p xmlns:a="http://schemas.openxmlformats.org/drawingml/2006/main">
            <a:r>
              <a:t>https://zaharprilepin.ru/ru/bio/</a:t>
            </a:r>
          </a:p>
          <a:p xmlns:a="http://schemas.openxmlformats.org/drawingml/2006/main">
            <a:r>
              <a:t>https://zaharprilepin.ru/ru/video/zapisi-vistuplenij/intervju/</a:t>
            </a:r>
          </a:p>
          <a:p xmlns:a="http://schemas.openxmlformats.org/drawingml/2006/main">
            <a:r>
              <a:t>https://zaharprilepin.ru/ru/pressa/intervyu/na-harkov.html</a:t>
            </a:r>
          </a:p>
          <a:p xmlns:a="http://schemas.openxmlformats.org/drawingml/2006/main">
            <a:r>
              <a:t>https://www.kommersant.ru/doc/4141912</a:t>
            </a:r>
          </a:p>
          <a:p xmlns:a="http://schemas.openxmlformats.org/drawingml/2006/main">
            <a:r>
              <a:t>https://novayagazeta.eu/articles/2023/05/06/plokhoi-uchenik-limonova</a:t>
            </a:r>
          </a:p>
          <a:p xmlns:a="http://schemas.openxmlformats.org/drawingml/2006/main">
            <a:r>
              <a:t>https://tass.ru/politika/11761037</a:t>
            </a:r>
          </a:p>
          <a:p xmlns:a="http://schemas.openxmlformats.org/drawingml/2006/main">
            <a:r>
              <a:t>https://www.nn.ru/text/politics/2021/10/11/70186523/</a:t>
            </a:r>
          </a:p>
          <a:p xmlns:a="http://schemas.openxmlformats.org/drawingml/2006/main">
            <a:r>
              <a:t>https://www.zaks.ru/new/archive/view/267194</a:t>
            </a:r>
          </a:p>
          <a:p xmlns:a="http://schemas.openxmlformats.org/drawingml/2006/main">
            <a:r>
              <a:t>https://spravedlivo.ru/11288710</a:t>
            </a:r>
          </a:p>
          <a:p xmlns:a="http://schemas.openxmlformats.org/drawingml/2006/main">
            <a:r>
              <a:t>https://www.kommersant.ru/doc/4241515</a:t>
            </a:r>
          </a:p>
          <a:p xmlns:a="http://schemas.openxmlformats.org/drawingml/2006/main">
            <a:r>
              <a:t>https://zaharprilepin.ru/ru/pressa/intervyu/radio-komsomolskaja-pravda-10022021.html</a:t>
            </a:r>
          </a:p>
          <a:p xmlns:a="http://schemas.openxmlformats.org/drawingml/2006/main">
            <a:r>
              <a:t>https://pozneronline.ru/2024/04/36826/</a:t>
            </a:r>
          </a:p>
          <a:p xmlns:a="http://schemas.openxmlformats.org/drawingml/2006/main">
            <a:r>
              <a:t>https://www.rbc.ru/person/62a85a259a7947b9ae5d6360</a:t>
            </a:r>
          </a:p>
          <a:p xmlns:a="http://schemas.openxmlformats.org/drawingml/2006/main">
            <a:r>
              <a:t>https://tass.ru/encyclopedia/person/poklonskaya-natalya-vladimirovna</a:t>
            </a:r>
          </a:p>
          <a:p xmlns:a="http://schemas.openxmlformats.org/drawingml/2006/main">
            <a:r>
              <a:t>https://tass.ru/tag/poklonskaya-natalya-vladimirovna</a:t>
            </a:r>
          </a:p>
          <a:p xmlns:a="http://schemas.openxmlformats.org/drawingml/2006/main">
            <a:r>
              <a:t>https://www.bbc.com/russian/features-44801571</a:t>
            </a:r>
          </a:p>
          <a:p xmlns:a="http://schemas.openxmlformats.org/drawingml/2006/main">
            <a:r>
              <a:t>https://www.rbc.ru/rbcfreenews/5ba8bd499a794792294ba05d</a:t>
            </a:r>
          </a:p>
          <a:p xmlns:a="http://schemas.openxmlformats.org/drawingml/2006/main">
            <a:r>
              <a:t>https://www.dp.ru/a/2018/08/31/Poklonskaja_otreazirovala</a:t>
            </a:r>
          </a:p>
          <a:p xmlns:a="http://schemas.openxmlformats.org/drawingml/2006/main">
            <a:r>
              <a:t>https://www.themoscowtimes.com/2022/06/13/former-crimea-prosecutor-dismissed-after-anti-war-comments-a77983</a:t>
            </a:r>
          </a:p>
          <a:p xmlns:a="http://schemas.openxmlformats.org/drawingml/2006/main">
            <a:r>
              <a:t>https://www.rbc.ru/politics/30/06/2023/649dee189a79473e3fdc8906</a:t>
            </a:r>
          </a:p>
          <a:p xmlns:a="http://schemas.openxmlformats.org/drawingml/2006/main">
            <a:r>
              <a:t>http://council.gov.ru/structure/persons/1044/</a:t>
            </a:r>
          </a:p>
          <a:p xmlns:a="http://schemas.openxmlformats.org/drawingml/2006/main">
            <a:r>
              <a:t>http://council.gov.ru/services/reference/9156/</a:t>
            </a:r>
          </a:p>
          <a:p xmlns:a="http://schemas.openxmlformats.org/drawingml/2006/main">
            <a:r>
              <a:t>http://council.gov.ru/events/news/135415/</a:t>
            </a:r>
          </a:p>
          <a:p xmlns:a="http://schemas.openxmlformats.org/drawingml/2006/main">
            <a:r>
              <a:t>https://24smi.org/celebrity/1156-elena-mizulina.html</a:t>
            </a:r>
          </a:p>
          <a:p xmlns:a="http://schemas.openxmlformats.org/drawingml/2006/main">
            <a:r>
              <a:t>https://www.bfometr.ru/blog/elena-mizulina</a:t>
            </a:r>
          </a:p>
          <a:p xmlns:a="http://schemas.openxmlformats.org/drawingml/2006/main">
            <a:r>
              <a:t>https://www.rbc.ru/society/30/03/2018/5abe1b849a79470dc3826f68</a:t>
            </a:r>
          </a:p>
          <a:p xmlns:a="http://schemas.openxmlformats.org/drawingml/2006/main">
            <a:r>
              <a:t>https://uznayvse.ru/znamenitosti/biografiya-elena-mizulina.html</a:t>
            </a:r>
          </a:p>
          <a:p xmlns:a="http://schemas.openxmlformats.org/drawingml/2006/main">
            <a:r>
              <a:t>https://radiokp.ru/people/elena-mizulina</a:t>
            </a:r>
          </a:p>
          <a:p xmlns:a="http://schemas.openxmlformats.org/drawingml/2006/main">
            <a:r>
              <a:t>https://ru.wikipedia.org/wiki/%D0%9C%D0%B8%D0%B7%D1%83%D0%BB%D0%B8%D0%BD%D0%B0,_%D0%95%D0%BB%D0%B5%D0%BD%D0%B0_%D0%91%D0%BE%D1%80%D0%B8%D1%81%D0%BE%D0%B2%D0%BD%D0%B0</a:t>
            </a:r>
          </a:p>
          <a:p xmlns:a="http://schemas.openxmlformats.org/drawingml/2006/main">
            <a:r>
              <a:t>https://ru.wikipedia.org/wiki/Милонов,_Виталий_Валентинович</a:t>
            </a:r>
          </a:p>
          <a:p xmlns:a="http://schemas.openxmlformats.org/drawingml/2006/main">
            <a:r>
              <a:t>https://tass.ru/encyclopedia/person/milonov-vitaliy-valentinovich</a:t>
            </a:r>
          </a:p>
          <a:p xmlns:a="http://schemas.openxmlformats.org/drawingml/2006/main">
            <a:r>
              <a:t>https://www.pnp.ru/person/vitaliy-milonov/</a:t>
            </a:r>
          </a:p>
          <a:p xmlns:a="http://schemas.openxmlformats.org/drawingml/2006/main">
            <a:r>
              <a:t>https://www.zaks.ru/new/person/view/172</a:t>
            </a:r>
          </a:p>
          <a:p xmlns:a="http://schemas.openxmlformats.org/drawingml/2006/main">
            <a:r>
              <a:t>https://svpressa.ru/persons/vitaliy-milonov/</a:t>
            </a:r>
          </a:p>
          <a:p xmlns:a="http://schemas.openxmlformats.org/drawingml/2006/main">
            <a:r>
              <a:t>https://stuki-druki.com/authors/Milonov-Vitaliy.php</a:t>
            </a:r>
          </a:p>
          <a:p xmlns:a="http://schemas.openxmlformats.org/drawingml/2006/main">
            <a:r>
              <a:t>https://pa.inion.ru/persons/7104/</a:t>
            </a:r>
          </a:p>
          <a:p xmlns:a="http://schemas.openxmlformats.org/drawingml/2006/main">
            <a:r>
              <a:t>https://pa.inion.ru/documents/16503/</a:t>
            </a:r>
          </a:p>
          <a:p xmlns:a="http://schemas.openxmlformats.org/drawingml/2006/main">
            <a:r>
              <a:t>https://pa.inion.ru/documents/27860/</a:t>
            </a:r>
          </a:p>
          <a:p xmlns:a="http://schemas.openxmlformats.org/drawingml/2006/main">
            <a:r>
              <a:t>https://kprf.ru/personal/ostanina</a:t>
            </a:r>
          </a:p>
          <a:p xmlns:a="http://schemas.openxmlformats.org/drawingml/2006/main">
            <a:r>
              <a:t>https://pa.inion.ru/documents/25577/</a:t>
            </a:r>
          </a:p>
          <a:p xmlns:a="http://schemas.openxmlformats.org/drawingml/2006/main">
            <a:r>
              <a:t>https://kprf.ru/dep/gosduma/activities/245108.html</a:t>
            </a:r>
          </a:p>
          <a:p xmlns:a="http://schemas.openxmlformats.org/drawingml/2006/main">
            <a:r>
              <a:t>https://www.pnp.ru/social/zashhita-detskogo-byudzheta-kruzhki-sokhranit-vyplaty-iz-matkapitala-uvelichit.html</a:t>
            </a:r>
          </a:p>
          <a:p xmlns:a="http://schemas.openxmlformats.org/drawingml/2006/main">
            <a:r>
              <a:t>https://www.pnp.ru/state-duma/nina-ostanina-o-byudzhete-na-2027-2029-gody-semeynoy-ipoteke-i-matkapitale.html</a:t>
            </a:r>
          </a:p>
          <a:p xmlns:a="http://schemas.openxmlformats.org/drawingml/2006/main">
            <a:r>
              <a:t>https://uznayvse.ru/znamenitosti/biografiya-nina-ostanina.html</a:t>
            </a:r>
          </a:p>
          <a:p xmlns:a="http://schemas.openxmlformats.org/drawingml/2006/main">
            <a:r>
              <a:t>https://dumatv.ru/news/ostanina--borba-za-mirovozzrencheskii-suverenitet-stanovitsya-gosudarstvennoi-politikoi</a:t>
            </a:r>
          </a:p>
          <a:p xmlns:a="http://schemas.openxmlformats.org/drawingml/2006/main">
            <a:r>
              <a:t>https://kprf.ru/dep/gosduma/activities/242132.html</a:t>
            </a:r>
          </a:p>
          <a:p xmlns:a="http://schemas.openxmlformats.org/drawingml/2006/main">
            <a:r>
              <a:t>https://www.business-gazeta.ru/article/625616</a:t>
            </a:r>
          </a:p>
          <a:p xmlns:a="http://schemas.openxmlformats.org/drawingml/2006/main">
            <a:r>
              <a:t>https://www.kommersant.ru/doc/3235400</a:t>
            </a:r>
          </a:p>
          <a:p xmlns:a="http://schemas.openxmlformats.org/drawingml/2006/main">
            <a:r>
              <a:t>https://www.rbc.ru/person/67d838f09a7947cdef0b1a95</a:t>
            </a:r>
          </a:p>
          <a:p xmlns:a="http://schemas.openxmlformats.org/drawingml/2006/main">
            <a:r>
              <a:t>https://www.vedomosti.ru/politics/articles/2020/03/10/824795-tereshkova-predlozhila</a:t>
            </a:r>
          </a:p>
          <a:p xmlns:a="http://schemas.openxmlformats.org/drawingml/2006/main">
            <a:r>
              <a:t>http://duma.gov.ru/news/49164/</a:t>
            </a:r>
          </a:p>
          <a:p xmlns:a="http://schemas.openxmlformats.org/drawingml/2006/main">
            <a:r>
              <a:t>https://meduza.io/news/2020/03/12/delayut-vse-dlya-togo-chtoby-gadosti-delat-tereshkova-o-protivnikah-popravki-obnulyayuschey-sroki-putina</a:t>
            </a:r>
          </a:p>
          <a:p xmlns:a="http://schemas.openxmlformats.org/drawingml/2006/main">
            <a:r>
              <a:t>https://meduza.io/feature/2020/03/10/gosduma-neozhidanno-dlya-sebya-obespechila-putina-novymi-prezidentskimi-srokami</a:t>
            </a:r>
          </a:p>
          <a:p xmlns:a="http://schemas.openxmlformats.org/drawingml/2006/main">
            <a:r>
              <a:t>https://hinshtein.ru/biography/</a:t>
            </a:r>
          </a:p>
          <a:p xmlns:a="http://schemas.openxmlformats.org/drawingml/2006/main">
            <a:r>
              <a:t>https://www.vedomosti.ru/politics/articles/2024/12/06/1079852-kto-takoi-aleksandr-hinshtein</a:t>
            </a:r>
          </a:p>
          <a:p xmlns:a="http://schemas.openxmlformats.org/drawingml/2006/main">
            <a:r>
              <a:t>https://www.rbc.ru/person/6752d12a9a7947d62166795e</a:t>
            </a:r>
          </a:p>
          <a:p xmlns:a="http://schemas.openxmlformats.org/drawingml/2006/main">
            <a:r>
              <a:t>https://www.rbc.ru/politics/06/12/2024/675207239a7947e74994842e</a:t>
            </a:r>
          </a:p>
          <a:p xmlns:a="http://schemas.openxmlformats.org/drawingml/2006/main">
            <a:r>
              <a:t>https://hinshtein.ru/news/aleksandr-hinshtejn-podvyol-itogi-goda-raboty-komiteta-gosdumy-po-informpolitike-informatsionnym-tehnologiyam-i-svyazi/</a:t>
            </a:r>
          </a:p>
          <a:p xmlns:a="http://schemas.openxmlformats.org/drawingml/2006/main">
            <a:r>
              <a:t>https://hinshtein.ru/news/a-hinshtejn-itogi-raboty-za-vii-sozyv/</a:t>
            </a:r>
          </a:p>
          <a:p xmlns:a="http://schemas.openxmlformats.org/drawingml/2006/main">
            <a:r>
              <a:t>https://www.kommersant.ru/doc/4660427</a:t>
            </a:r>
          </a:p>
          <a:p xmlns:a="http://schemas.openxmlformats.org/drawingml/2006/main">
            <a:r>
              <a:t>https://www.kommersant.ru/doc/4104004</a:t>
            </a:r>
          </a:p>
          <a:p xmlns:a="http://schemas.openxmlformats.org/drawingml/2006/main">
            <a:r>
              <a:t>https://www.nvgazeta.ru/news/12383/634260/</a:t>
            </a:r>
          </a:p>
          <a:p xmlns:a="http://schemas.openxmlformats.org/drawingml/2006/main">
            <a:r>
              <a:t>https://kpravda.ru/2025/02/11/kursk-poluchit-dengi-iz-gosbyudzheta-na-restavracziyu-istoricheskoj-kreposti/</a:t>
            </a:r>
          </a:p>
          <a:p xmlns:a="http://schemas.openxmlformats.org/drawingml/2006/main">
            <a:r>
              <a:t>https://tass.ru/obschestvo/24001633</a:t>
            </a:r>
          </a:p>
          <a:p xmlns:a="http://schemas.openxmlformats.org/drawingml/2006/main">
            <a:r>
              <a:t>https://www.kommersant.ru/doc/7737032</a:t>
            </a:r>
          </a:p>
          <a:p xmlns:a="http://schemas.openxmlformats.org/drawingml/2006/main">
            <a:r>
              <a:t>https://kpravda.ru/2025/03/21/edinaya-rossiya-pomozhet-v-restavraczii-kurskih-pamyatnikov/</a:t>
            </a:r>
          </a:p>
          <a:p xmlns:a="http://schemas.openxmlformats.org/drawingml/2006/main">
            <a:r>
              <a:t>https://news-kursk.ru/society/2025/07/13/65824.html</a:t>
            </a:r>
          </a:p>
          <a:p xmlns:a="http://schemas.openxmlformats.org/drawingml/2006/main">
            <a:r>
              <a:t>https://news.ru/russia/v-kurske-budet-alleya-geroev-hinshtejn-o-muzee-i-memoriale-zhertvam-vsu</a:t>
            </a:r>
          </a:p>
          <a:p xmlns:a="http://schemas.openxmlformats.org/drawingml/2006/main">
            <a:r>
              <a:t>https://ru.wikipedia.org/wiki/Пушков,_Алексей_Константинович</a:t>
            </a:r>
          </a:p>
          <a:p xmlns:a="http://schemas.openxmlformats.org/drawingml/2006/main">
            <a:r>
              <a:t>http://council.gov.ru/structure/persons/1316/</a:t>
            </a:r>
          </a:p>
          <a:p xmlns:a="http://schemas.openxmlformats.org/drawingml/2006/main">
            <a:r>
              <a:t>http://council.gov.ru/media/files/xjE2QHRAivCH7onABehAcG7OsnrO6DYb.pdf</a:t>
            </a:r>
          </a:p>
          <a:p xmlns:a="http://schemas.openxmlformats.org/drawingml/2006/main">
            <a:r>
              <a:t>https://base.garant.ru/406310971/</a:t>
            </a:r>
          </a:p>
          <a:p xmlns:a="http://schemas.openxmlformats.org/drawingml/2006/main">
            <a:r>
              <a:t>https://russiancouncil.ru/aleksey-pushkov/</a:t>
            </a:r>
          </a:p>
          <a:p xmlns:a="http://schemas.openxmlformats.org/drawingml/2006/main">
            <a:r>
              <a:t>http://legislation.council.gov.ru/events/announce/</a:t>
            </a:r>
          </a:p>
          <a:p xmlns:a="http://schemas.openxmlformats.org/drawingml/2006/main">
            <a:r>
              <a:t>http://council.gov.ru/events/news/173810/</a:t>
            </a:r>
          </a:p>
          <a:p xmlns:a="http://schemas.openxmlformats.org/drawingml/2006/main">
            <a:r>
              <a:t>http://www.council.gov.ru/events/news/175997/</a:t>
            </a:r>
          </a:p>
          <a:p xmlns:a="http://schemas.openxmlformats.org/drawingml/2006/main">
            <a:r>
              <a:t>http://council.gov.ru/media/report/pdf/HtoXfAAzeBJ8JwN0eAduo3rejTAYhqvB.pdf</a:t>
            </a:r>
          </a:p>
          <a:p xmlns:a="http://schemas.openxmlformats.org/drawingml/2006/main">
            <a:r>
              <a:t>http://council.gov.ru/events/news/164749/</a:t>
            </a:r>
          </a:p>
          <a:p xmlns:a="http://schemas.openxmlformats.org/drawingml/2006/main">
            <a:r>
              <a:t>https://t.me/s/alexey_pushkov?before=14914</a:t>
            </a:r>
          </a:p>
          <a:p xmlns:a="http://schemas.openxmlformats.org/drawingml/2006/main">
            <a:r>
              <a:t>http://legislation.council.gov.ru/events/multimedia/video/302078/</a:t>
            </a:r>
          </a:p>
          <a:p xmlns:a="http://schemas.openxmlformats.org/drawingml/2006/main">
            <a:r>
              <a:t>http://council.gov.ru/media/report/pdf/e8Awe3U6hNouHwSvME53OSPGGWxTeVAl.pdf</a:t>
            </a:r>
          </a:p>
          <a:p xmlns:a="http://schemas.openxmlformats.org/drawingml/2006/main">
            <a:r>
              <a:t>https://www.vedomosti.ru/person/1178385-kosachev-konstantin</a:t>
            </a:r>
          </a:p>
          <a:p xmlns:a="http://schemas.openxmlformats.org/drawingml/2006/main">
            <a:r>
              <a:t>https://www.interfax.ru/interview/812963</a:t>
            </a:r>
          </a:p>
          <a:p xmlns:a="http://schemas.openxmlformats.org/drawingml/2006/main">
            <a:r>
              <a:t>https://senatinform.ru/news/yuzhnuyu_osetiyu_neobkhodimo_vyvodit_iz_iskusstvennoy_izolyatsii_schitayut_rossiyskie_senatory_/</a:t>
            </a:r>
          </a:p>
          <a:p xmlns:a="http://schemas.openxmlformats.org/drawingml/2006/main">
            <a:r>
              <a:t>https://senatinform.ru/news/kosachyev_rossiya_gotova_rabotat_s_mps_s_uchyetom_ozabochennostey_nashey_strany/</a:t>
            </a:r>
          </a:p>
          <a:p xmlns:a="http://schemas.openxmlformats.org/drawingml/2006/main">
            <a:r>
              <a:t>https://www.bfm.ru/person/61</a:t>
            </a:r>
          </a:p>
          <a:p xmlns:a="http://schemas.openxmlformats.org/drawingml/2006/main">
            <a:r>
              <a:t>https://svpressa.ru/persons/konstantin-kosachev/</a:t>
            </a:r>
          </a:p>
          <a:p xmlns:a="http://schemas.openxmlformats.org/drawingml/2006/main">
            <a:r>
              <a:t>https://www.pnp.ru/person/konstantin-kosachev/</a:t>
            </a:r>
          </a:p>
          <a:p xmlns:a="http://schemas.openxmlformats.org/drawingml/2006/main">
            <a:r>
              <a:t>https://www.pnp.ru/politics/konstantin-kosachev-dlya-ssha-voyna-s-rossiey-eto-samoubiystvo.html</a:t>
            </a:r>
          </a:p>
          <a:p xmlns:a="http://schemas.openxmlformats.org/drawingml/2006/main">
            <a:r>
              <a:t>https://www.mlg.ru/ratings/vlast/senators/10844/</a:t>
            </a:r>
          </a:p>
          <a:p xmlns:a="http://schemas.openxmlformats.org/drawingml/2006/main">
            <a:r>
              <a:t>http://council.gov.ru/events/news/173506/</a:t>
            </a:r>
          </a:p>
          <a:p xmlns:a="http://schemas.openxmlformats.org/drawingml/2006/main">
            <a:r>
              <a:t>https://t.me/s/Kosachev62</a:t>
            </a:r>
          </a:p>
          <a:p xmlns:a="http://schemas.openxmlformats.org/drawingml/2006/main">
            <a:r>
              <a:t>http://council.gov.ru/events/news/177602/</a:t>
            </a:r>
          </a:p>
          <a:p xmlns:a="http://schemas.openxmlformats.org/drawingml/2006/main">
            <a:r>
              <a:t>https://vmeste-rf.tv/programs/205/konstantin-kosachev-sotrudnichestvo-rossii-i-efiopii-itogi-vizita-delegatsii-sf/</a:t>
            </a:r>
          </a:p>
          <a:p xmlns:a="http://schemas.openxmlformats.org/drawingml/2006/main">
            <a:r>
              <a:t>https://www.rbc.ru/person/64b8e1909a79474f30e86f98</a:t>
            </a:r>
          </a:p>
          <a:p xmlns:a="http://schemas.openxmlformats.org/drawingml/2006/main">
            <a:r>
              <a:t>https://www.kommersant.ru/doc/6041063</a:t>
            </a:r>
          </a:p>
          <a:p xmlns:a="http://schemas.openxmlformats.org/drawingml/2006/main">
            <a:r>
              <a:t>https://www.mos.ru/mayor/themes/6907050/</a:t>
            </a:r>
          </a:p>
          <a:p xmlns:a="http://schemas.openxmlformats.org/drawingml/2006/main">
            <a:r>
              <a:t>https://www.mos.ru/mayor/themes/7037050/</a:t>
            </a:r>
          </a:p>
          <a:p xmlns:a="http://schemas.openxmlformats.org/drawingml/2006/main">
            <a:r>
              <a:t>https://www.mos.ru/mayor/themes/8822050/</a:t>
            </a:r>
          </a:p>
          <a:p xmlns:a="http://schemas.openxmlformats.org/drawingml/2006/main">
            <a:r>
              <a:t>http://special.kremlin.ru/catalog/persons/38/events/70467</a:t>
            </a:r>
          </a:p>
          <a:p xmlns:a="http://schemas.openxmlformats.org/drawingml/2006/main">
            <a:r>
              <a:t>https://www.mos.ru/upload/content/files/15af077500dcc5a1547bf728abf25669/15Zakong_Moskviot17_05_2017N14Odopolnitelnihgaranti.pdf</a:t>
            </a:r>
          </a:p>
          <a:p xmlns:a="http://schemas.openxmlformats.org/drawingml/2006/main">
            <a:r>
              <a:t>https://www.rbc.ru/politics/03/05/2023/645245159a794763ce66d990</a:t>
            </a:r>
          </a:p>
          <a:p xmlns:a="http://schemas.openxmlformats.org/drawingml/2006/main">
            <a:r>
              <a:t>https://www.dw.com/ru/ataka-dronov-v-moskve-i-podmoskove-cto-izvestno/a-65771767</a:t>
            </a:r>
          </a:p>
          <a:p xmlns:a="http://schemas.openxmlformats.org/drawingml/2006/main">
            <a:r>
              <a:t>https://www.rbc.ru/politics/01/08/2023/64c856ce9a79471a722e13ad</a:t>
            </a:r>
          </a:p>
          <a:p xmlns:a="http://schemas.openxmlformats.org/drawingml/2006/main">
            <a:r>
              <a:t>https://www.rbc.ru/politics/23/08/2023/64e54f299a794789ddb55c65</a:t>
            </a:r>
          </a:p>
          <a:p xmlns:a="http://schemas.openxmlformats.org/drawingml/2006/main">
            <a:r>
              <a:t>https://ru.wikipedia.org/wiki/Беглов,_Александр_Дмитриевич</a:t>
            </a:r>
          </a:p>
          <a:p xmlns:a="http://schemas.openxmlformats.org/drawingml/2006/main">
            <a:r>
              <a:t>https://www.gov.spb.ru/governor/</a:t>
            </a:r>
          </a:p>
          <a:p xmlns:a="http://schemas.openxmlformats.org/drawingml/2006/main">
            <a:r>
              <a:t>https://www.rbc.ru/politics/30/05/2019/5cf02cf09a79475ed4d2fa3f</a:t>
            </a:r>
          </a:p>
          <a:p xmlns:a="http://schemas.openxmlformats.org/drawingml/2006/main">
            <a:r>
              <a:t>https://www.themoscowtimes.com/2019/09/11/st-petersburg-re-elects-governor-beglov-after-controversial-campaign-a67240</a:t>
            </a:r>
          </a:p>
          <a:p xmlns:a="http://schemas.openxmlformats.org/drawingml/2006/main">
            <a:r>
              <a:t>https://www.gov.spb.ru/press/governor/188637/</a:t>
            </a:r>
          </a:p>
          <a:p xmlns:a="http://schemas.openxmlformats.org/drawingml/2006/main">
            <a:r>
              <a:t>https://www.gov.spb.ru/press/governor/213661/</a:t>
            </a:r>
          </a:p>
          <a:p xmlns:a="http://schemas.openxmlformats.org/drawingml/2006/main">
            <a:r>
              <a:t>https://www.gov.spb.ru/press/governor/258831/</a:t>
            </a:r>
          </a:p>
          <a:p xmlns:a="http://schemas.openxmlformats.org/drawingml/2006/main">
            <a:r>
              <a:t>https://www.gov.spb.ru/governor/interview/7333/</a:t>
            </a:r>
          </a:p>
          <a:p xmlns:a="http://schemas.openxmlformats.org/drawingml/2006/main">
            <a:r>
              <a:t>https://tass.ru/interviews/21839179</a:t>
            </a:r>
          </a:p>
          <a:p xmlns:a="http://schemas.openxmlformats.org/drawingml/2006/main">
            <a:r>
              <a:t>https://www.gov.spb.ru/press/governor/236663/</a:t>
            </a:r>
          </a:p>
          <a:p xmlns:a="http://schemas.openxmlformats.org/drawingml/2006/main">
            <a:r>
              <a:t>https://tvspb.ru/news/2022/09/21/aleksandr-beglov-ukaz-prezidenta-o-chastichnoj-mobilizaczii-byl-trudnym-no-neobhodimym-shagom</a:t>
            </a:r>
          </a:p>
          <a:p xmlns:a="http://schemas.openxmlformats.org/drawingml/2006/main">
            <a:r>
              <a:t>https://spbvedomosti.ru/news/gorod/gubernator-aleksandr-beglov-obyavil-o-zavershenii-chastichnoy-mobilizatsii/</a:t>
            </a:r>
          </a:p>
          <a:p xmlns:a="http://schemas.openxmlformats.org/drawingml/2006/main">
            <a:r>
              <a:t>https://www.gov.spb.ru/press/governor/253716/</a:t>
            </a:r>
          </a:p>
          <a:p xmlns:a="http://schemas.openxmlformats.org/drawingml/2006/main">
            <a:r>
              <a:t>https://www.gov.spb.ru/press/governor/290070/</a:t>
            </a:r>
          </a:p>
          <a:p xmlns:a="http://schemas.openxmlformats.org/drawingml/2006/main">
            <a:r>
              <a:t>https://spbdnevnik.ru/news/2022-10-06/aleksandr-beglov-rasskazal-o-prizyve-po-mobilizatsii-peterburzhtsa-s-odnoy-pochkoy</a:t>
            </a:r>
          </a:p>
          <a:p xmlns:a="http://schemas.openxmlformats.org/drawingml/2006/main">
            <a:r>
              <a:t>https://www.rbc.ru/person/62c5c0899a79470082fa57eb</a:t>
            </a:r>
          </a:p>
          <a:p xmlns:a="http://schemas.openxmlformats.org/drawingml/2006/main">
            <a:r>
              <a:t>https://www.kavkaz-uzel.eu/articles/85366</a:t>
            </a:r>
          </a:p>
          <a:p xmlns:a="http://schemas.openxmlformats.org/drawingml/2006/main">
            <a:r>
              <a:t>https://news.ru/regions/my-dolzhny-zabrat-vsyu-ukrainu-chto-kadyrov-govoril-ob-svo-rossii-putine</a:t>
            </a:r>
          </a:p>
          <a:p xmlns:a="http://schemas.openxmlformats.org/drawingml/2006/main">
            <a:r>
              <a:t>https://minval.az/k/ramzan-kadyrov</a:t>
            </a:r>
          </a:p>
          <a:p xmlns:a="http://schemas.openxmlformats.org/drawingml/2006/main">
            <a:r>
              <a:t>http://publication.pravo.gov.ru/document/2000202609160002</a:t>
            </a:r>
          </a:p>
          <a:p xmlns:a="http://schemas.openxmlformats.org/drawingml/2006/main">
            <a:r>
              <a:t>https://vestikavkaza.ru/amp/291219</a:t>
            </a:r>
          </a:p>
          <a:p xmlns:a="http://schemas.openxmlformats.org/drawingml/2006/main">
            <a:r>
              <a:t>https://tass.ru/obschestvo/25968415</a:t>
            </a:r>
          </a:p>
          <a:p xmlns:a="http://schemas.openxmlformats.org/drawingml/2006/main">
            <a:r>
              <a:t>https://www.rbc.ru/rbcfreenews/694558f89a794775c8b05d2e</a:t>
            </a:r>
          </a:p>
          <a:p xmlns:a="http://schemas.openxmlformats.org/drawingml/2006/main">
            <a:r>
              <a:t>https://rais.tatarstan.ru/biografiya.htm</a:t>
            </a:r>
          </a:p>
          <a:p xmlns:a="http://schemas.openxmlformats.org/drawingml/2006/main">
            <a:r>
              <a:t>https://rt.rbc.ru/tatarstan/freenews/68c7f77d9a79472be550408e</a:t>
            </a:r>
          </a:p>
          <a:p xmlns:a="http://schemas.openxmlformats.org/drawingml/2006/main">
            <a:r>
              <a:t>https://rt.rbc.ru/tatarstan/freenews/68c90bdc9a794783273a16b6</a:t>
            </a:r>
          </a:p>
          <a:p xmlns:a="http://schemas.openxmlformats.org/drawingml/2006/main">
            <a:r>
              <a:t>https://tass.ru/politika/25045679</a:t>
            </a:r>
          </a:p>
          <a:p xmlns:a="http://schemas.openxmlformats.org/drawingml/2006/main">
            <a:r>
              <a:t>https://tass.ru/info/25058299</a:t>
            </a:r>
          </a:p>
          <a:p xmlns:a="http://schemas.openxmlformats.org/drawingml/2006/main">
            <a:r>
              <a:t>https://tatarstan.ru/index.htm/news/2454245.htm</a:t>
            </a:r>
          </a:p>
          <a:p xmlns:a="http://schemas.openxmlformats.org/drawingml/2006/main">
            <a:r>
              <a:t>https://izbirkom.tatarstan.ru/file/pub/pub_4719790.docx</a:t>
            </a:r>
          </a:p>
          <a:p xmlns:a="http://schemas.openxmlformats.org/drawingml/2006/main">
            <a:r>
              <a:t>http://www.pfo.gov.ru/press/events/112125/</a:t>
            </a:r>
          </a:p>
          <a:p xmlns:a="http://schemas.openxmlformats.org/drawingml/2006/main">
            <a:r>
              <a:t>https://www.tatar-inform.ru/news/rustam-minnixanov-sankcii-ne-koncatsya-poka-my-ne-stanem-samodostatocnymi-5896958</a:t>
            </a:r>
          </a:p>
          <a:p xmlns:a="http://schemas.openxmlformats.org/drawingml/2006/main">
            <a:r>
              <a:t>https://tatarstan.ru/index.htm/news/1916025.htm</a:t>
            </a:r>
          </a:p>
          <a:p xmlns:a="http://schemas.openxmlformats.org/drawingml/2006/main">
            <a:r>
              <a:t>https://kitaphane.tatarstan.ru/digital.htm</a:t>
            </a:r>
          </a:p>
          <a:p xmlns:a="http://schemas.openxmlformats.org/drawingml/2006/main">
            <a:r>
              <a:t>https://kt.tatarstan.ru/index.htm/news/2266706.htm</a:t>
            </a:r>
          </a:p>
          <a:p xmlns:a="http://schemas.openxmlformats.org/drawingml/2006/main">
            <a:r>
              <a:t>https://tatarstan.ru/index.htm/news/2460505.htm</a:t>
            </a:r>
          </a:p>
          <a:p xmlns:a="http://schemas.openxmlformats.org/drawingml/2006/main">
            <a:r>
              <a:t>https://digital.tatarstan.ru/index.htm/news/2460691.htm</a:t>
            </a:r>
          </a:p>
          <a:p xmlns:a="http://schemas.openxmlformats.org/drawingml/2006/main">
            <a:r>
              <a:t>https://amp.rbc.ru/rbcnews/politics/09/07/2020/5f06bbb69a79475c40a9a094</a:t>
            </a:r>
          </a:p>
          <a:p xmlns:a="http://schemas.openxmlformats.org/drawingml/2006/main">
            <a:r>
              <a:t>https://1kas.sudrf.ru/modules.php?name=sud_delo&amp;name_op=doc&amp;number=39453936&amp;delo_id=2450001&amp;case_type=0&amp;new=2450001&amp;text_number=1&amp;srv_num=1</a:t>
            </a:r>
          </a:p>
          <a:p xmlns:a="http://schemas.openxmlformats.org/drawingml/2006/main">
            <a:r>
              <a:t>https://www.interfax.ru/russia/982916</a:t>
            </a:r>
          </a:p>
          <a:p xmlns:a="http://schemas.openxmlformats.org/drawingml/2006/main">
            <a:r>
              <a:t>https://www.svoboda.org/a/sud-ostavil-v-sile-prigovor-habarovskomu-eks-gubernatoru-sergeyu-furgalu/32686024.html</a:t>
            </a:r>
          </a:p>
          <a:p xmlns:a="http://schemas.openxmlformats.org/drawingml/2006/main">
            <a:r>
              <a:t>https://www.dw.com/ru/kommentarij-furgal-peresidit-putina/a-64670560</a:t>
            </a:r>
          </a:p>
          <a:p xmlns:a="http://schemas.openxmlformats.org/drawingml/2006/main">
            <a:r>
              <a:t>https://www.kommersant.ru/doc/3896415</a:t>
            </a:r>
          </a:p>
          <a:p xmlns:a="http://schemas.openxmlformats.org/drawingml/2006/main">
            <a:r>
              <a:t>https://todaykhv.ru/news/policy/19386/</a:t>
            </a:r>
          </a:p>
          <a:p xmlns:a="http://schemas.openxmlformats.org/drawingml/2006/main">
            <a:r>
              <a:t>https://meduza.io/feature/2018/09/19/ya-dumayu-chto-situatsiya-kak-v-primorie-u-nas-ne-povtoritsya</a:t>
            </a:r>
          </a:p>
          <a:p xmlns:a="http://schemas.openxmlformats.org/drawingml/2006/main">
            <a:r>
              <a:t>https://govoritmoskva.ru/news/174327/</a:t>
            </a:r>
          </a:p>
          <a:p xmlns:a="http://schemas.openxmlformats.org/drawingml/2006/main">
            <a:r>
              <a:t>https://todaykhv.ru/news/policy/22426/?sphrase_id=2620206</a:t>
            </a:r>
          </a:p>
          <a:p xmlns:a="http://schemas.openxmlformats.org/drawingml/2006/main">
            <a:r>
              <a:t>https://ru.wikipedia.org/wiki/%D0%A4%D1%83%D1%80%D0%B3%D0%B0%D0%BB,_%D0%A1%D0%B5%D1%80%D0%B3%D0%B5%D0%B9_%D0%98%D0%B2%D0%B0%D0%BD%D0%BE%D0%B2%D0%B8%D1%87</a:t>
            </a:r>
          </a:p>
          <a:p xmlns:a="http://schemas.openxmlformats.org/drawingml/2006/main">
            <a:r>
              <a:t>https://novayagazeta.ru/articles/2018/09/18/77870-ne-dopuschu-zdes-revolyutsii</a:t>
            </a:r>
          </a:p>
          <a:p xmlns:a="http://schemas.openxmlformats.org/drawingml/2006/main">
            <a:r>
              <a:t>https://opkhv.ru/publications/4888</a:t>
            </a:r>
          </a:p>
          <a:p xmlns:a="http://schemas.openxmlformats.org/drawingml/2006/main">
            <a:r>
              <a:t>https://meduza.io/feature/2019/08/26/partiya-vlasti-zdes-ldpr</a:t>
            </a:r>
          </a:p>
          <a:p xmlns:a="http://schemas.openxmlformats.org/drawingml/2006/main">
            <a:r>
              <a:t>https://tass.ru/obschestvo/5946495</a:t>
            </a:r>
          </a:p>
          <a:p xmlns:a="http://schemas.openxmlformats.org/drawingml/2006/main">
            <a:r>
              <a:t>https://amurmedia.ru/news/775590/</a:t>
            </a:r>
          </a:p>
          <a:p xmlns:a="http://schemas.openxmlformats.org/drawingml/2006/main">
            <a:r>
              <a:t>https://www.eastrussia.ru/material/ne-planiruyushchim-pereezzhat-sovetuyu-pomolchat/</a:t>
            </a:r>
          </a:p>
          <a:p xmlns:a="http://schemas.openxmlformats.org/drawingml/2006/main">
            <a:r>
              <a:t>https://www.dw.com/ru/v-habarovske-priznali-ekstremistskim-dvizenie-v-zasitu-furgala/a-68334442</a:t>
            </a:r>
          </a:p>
          <a:p xmlns:a="http://schemas.openxmlformats.org/drawingml/2006/main">
            <a:r>
              <a:t>https://www.rbc.ru/person/66475fec9a79475c4d9443ad</a:t>
            </a:r>
          </a:p>
          <a:p xmlns:a="http://schemas.openxmlformats.org/drawingml/2006/main">
            <a:r>
              <a:t>https://tass.ru/info/12453099</a:t>
            </a:r>
          </a:p>
          <a:p xmlns:a="http://schemas.openxmlformats.org/drawingml/2006/main">
            <a:r>
              <a:t>https://tass.ru/info/9007455</a:t>
            </a:r>
          </a:p>
          <a:p xmlns:a="http://schemas.openxmlformats.org/drawingml/2006/main">
            <a:r>
              <a:t>https://tass.ru/info/20795009</a:t>
            </a:r>
          </a:p>
          <a:p xmlns:a="http://schemas.openxmlformats.org/drawingml/2006/main">
            <a:r>
              <a:t>https://tass.ru/encyclopedia/person/degtyarev-mihail-vladimirovich</a:t>
            </a:r>
          </a:p>
          <a:p xmlns:a="http://schemas.openxmlformats.org/drawingml/2006/main">
            <a:r>
              <a:t>https://www.rbc.ru/politics/20/07/2020/5f1586289a794722b2457d61</a:t>
            </a:r>
          </a:p>
          <a:p xmlns:a="http://schemas.openxmlformats.org/drawingml/2006/main">
            <a:r>
              <a:t>https://www.minsport.gov.ru/press-center/news/intervyu-mihaila-degtyareva-gazete-kommersant/</a:t>
            </a:r>
          </a:p>
          <a:p xmlns:a="http://schemas.openxmlformats.org/drawingml/2006/main">
            <a:r>
              <a:t>https://minsport.gov.ru/press-center/news/mihail-degtyarev-nashe-mesto-za-stolom-a-ne-v-perednej/</a:t>
            </a:r>
          </a:p>
          <a:p xmlns:a="http://schemas.openxmlformats.org/drawingml/2006/main">
            <a:r>
              <a:t>https://news.ru/vlast/degtyarev-prizval-ne-doveryat-evrope-provedenie-sorevnovanij</a:t>
            </a:r>
          </a:p>
          <a:p xmlns:a="http://schemas.openxmlformats.org/drawingml/2006/main">
            <a:r>
              <a:t>https://www.interfax.ru/presscenter/622170</a:t>
            </a:r>
          </a:p>
          <a:p xmlns:a="http://schemas.openxmlformats.org/drawingml/2006/main">
            <a:r>
              <a:t>https://tass.ru/interviews/13152777</a:t>
            </a:r>
          </a:p>
          <a:p xmlns:a="http://schemas.openxmlformats.org/drawingml/2006/main">
            <a:r>
              <a:t>https://www.sports.ru/others/blogs/3302024.html</a:t>
            </a:r>
          </a:p>
          <a:p xmlns:a="http://schemas.openxmlformats.org/drawingml/2006/main">
            <a:r>
              <a:t>https://www.vremyan.ru/news/556863</a:t>
            </a:r>
          </a:p>
          <a:p xmlns:a="http://schemas.openxmlformats.org/drawingml/2006/main">
            <a:r>
              <a:t>https://kprf.ru/personal/levchenko</a:t>
            </a:r>
          </a:p>
          <a:p xmlns:a="http://schemas.openxmlformats.org/drawingml/2006/main">
            <a:r>
              <a:t>https://www.rbc.ru/politics/23/06/2020/5ef0bd949a7947b3cd3dcba6</a:t>
            </a:r>
          </a:p>
          <a:p xmlns:a="http://schemas.openxmlformats.org/drawingml/2006/main">
            <a:r>
              <a:t>https://kprf.ru/party-live/regnews/194838.html</a:t>
            </a:r>
          </a:p>
          <a:p xmlns:a="http://schemas.openxmlformats.org/drawingml/2006/main">
            <a:r>
              <a:t>https://liveangarsk.ru/news/20191214/v-slozhivsheisya</a:t>
            </a:r>
          </a:p>
          <a:p xmlns:a="http://schemas.openxmlformats.org/drawingml/2006/main">
            <a:r>
              <a:t>https://kprf.ru/dep/gosduma/activities/240271.html</a:t>
            </a:r>
          </a:p>
          <a:p xmlns:a="http://schemas.openxmlformats.org/drawingml/2006/main">
            <a:r>
              <a:t>https://kprf.ru/dep/gosduma/activities/241686.html</a:t>
            </a:r>
          </a:p>
          <a:p xmlns:a="http://schemas.openxmlformats.org/drawingml/2006/main">
            <a:r>
              <a:t>https://altairk.ru/new/policy/the_message_of_the_governor</a:t>
            </a:r>
          </a:p>
          <a:p xmlns:a="http://schemas.openxmlformats.org/drawingml/2006/main">
            <a:r>
              <a:t>https://kto-irkutsk.ru/2026/07/20/sergej-levchenko-deyatelnost-i-zayavleniya-i-ix-ocenka/</a:t>
            </a:r>
          </a:p>
          <a:p xmlns:a="http://schemas.openxmlformats.org/drawingml/2006/main">
            <a:r>
              <a:t>https://ru.wikipedia.org/wiki/%D0%9B%D0%B5%D0%B2%D1%87%D0%B5%D0%BD%D0%BA%D0%BE,_%D0%A1%D0%B5%D1%80%D0%B3%D0%B5%D0%B9_%D0%93%D0%B5%D0%BE%D1%80%D0%B3%D0%B8%D0%B5%D0%B2%D0%B8%D1%87</a:t>
            </a:r>
          </a:p>
          <a:p xmlns:a="http://schemas.openxmlformats.org/drawingml/2006/main">
            <a:r>
              <a:t>https://www.newsru.com/dossiers/10330/</a:t>
            </a:r>
          </a:p>
          <a:p xmlns:a="http://schemas.openxmlformats.org/drawingml/2006/main">
            <a:r>
              <a:t>https://www.interfax.ru/russia/714300</a:t>
            </a:r>
          </a:p>
          <a:p xmlns:a="http://schemas.openxmlformats.org/drawingml/2006/main">
            <a:r>
              <a:t>https://www.rbc.ru/politics/14/09/2020/5f5e7dfb9a79477f7753d651</a:t>
            </a:r>
          </a:p>
          <a:p xmlns:a="http://schemas.openxmlformats.org/drawingml/2006/main">
            <a:r>
              <a:t>https://www.rline.tv/podrobnosti/2019-10-06-sergey-levchenko-za-chetyre-goda-sdelano-bolshe-chem-za-predydushchie-15-let/</a:t>
            </a:r>
          </a:p>
          <a:p xmlns:a="http://schemas.openxmlformats.org/drawingml/2006/main">
            <a:r>
              <a:t>https://vs19.ru/verhovny-sovet/deputati/670-konovalov-valentin-olegovich</a:t>
            </a:r>
          </a:p>
          <a:p xmlns:a="http://schemas.openxmlformats.org/drawingml/2006/main">
            <a:r>
              <a:t>https://meduza.io/feature/2018/09/10/etu-vlast-nichego-ne-spaset</a:t>
            </a:r>
          </a:p>
          <a:p xmlns:a="http://schemas.openxmlformats.org/drawingml/2006/main">
            <a:r>
              <a:t>https://kprf.ru/party-live/regnews/188553.html</a:t>
            </a:r>
          </a:p>
          <a:p xmlns:a="http://schemas.openxmlformats.org/drawingml/2006/main">
            <a:r>
              <a:t>https://www.kommersant.ru/doc/4441936</a:t>
            </a:r>
          </a:p>
          <a:p xmlns:a="http://schemas.openxmlformats.org/drawingml/2006/main">
            <a:r>
              <a:t>http://www.youtube.com/watch?v=eO6lUkFCAqM</a:t>
            </a:r>
          </a:p>
          <a:p xmlns:a="http://schemas.openxmlformats.org/drawingml/2006/main">
            <a:r>
              <a:t>https://ru.wikipedia.org/wiki/%D0%92%D1%8B%D0%B1%D0%BE%D1%80%D1%8B_%D0%B3%D0%BB%D0%B0%D0%B2%D1%8B_%D0%A0%D0%B5%D1%81%D0%BF%D1%83%D0%B1%D0%BB%D0%B8%D0%BA%D0%B8_%D0%A5%D0%B0%D0%BA%D0%B0%D1%81%D0%B8%D1%8F_(2018)</a:t>
            </a:r>
          </a:p>
          <a:p xmlns:a="http://schemas.openxmlformats.org/drawingml/2006/main">
            <a:r>
              <a:t>https://ok.ru/group/51615057903766/topic/157744983021718</a:t>
            </a:r>
          </a:p>
          <a:p xmlns:a="http://schemas.openxmlformats.org/drawingml/2006/main">
            <a:r>
              <a:t>https://kprf.ru/party-live/cknews/245343.html</a:t>
            </a:r>
          </a:p>
          <a:p xmlns:a="http://schemas.openxmlformats.org/drawingml/2006/main">
            <a:r>
              <a:t>https://r-19.ru/news/politika/190680/</a:t>
            </a:r>
          </a:p>
          <a:p xmlns:a="http://schemas.openxmlformats.org/drawingml/2006/main">
            <a:r>
              <a:t>https://r-19.ru/news/ekonomika/193031/</a:t>
            </a:r>
          </a:p>
          <a:p xmlns:a="http://schemas.openxmlformats.org/drawingml/2006/main">
            <a:r>
              <a:t>https://19rusinfo.ru/ekonomika/118670-otchjot</a:t>
            </a:r>
          </a:p>
          <a:p xmlns:a="http://schemas.openxmlformats.org/drawingml/2006/main">
            <a:r>
              <a:t>https://iditena.ru/candidates/konovalov-valentin-olegovich/</a:t>
            </a:r>
          </a:p>
          <a:p xmlns:a="http://schemas.openxmlformats.org/drawingml/2006/main">
            <a:r>
              <a:t>https://56.kprf.ru/deyatelnost/tpost/gjjjuy1zi1-glava-hakasii-valentin-konovalov-dal-int</a:t>
            </a:r>
          </a:p>
          <a:p xmlns:a="http://schemas.openxmlformats.org/drawingml/2006/main">
            <a:r>
              <a:t>https://meduza.io/feature/2019/05/31/strana-pobedivshego-kommunista</a:t>
            </a:r>
          </a:p>
          <a:p xmlns:a="http://schemas.openxmlformats.org/drawingml/2006/main">
            <a:r>
              <a:t>https://xn--80aac0c2a.xn--p1acf/2026/08/22/vstrecha-s-uchastiem-valentina-konovalova-i-alekseya-kornienko-proshla-v-habarovske</a:t>
            </a:r>
          </a:p>
          <a:p xmlns:a="http://schemas.openxmlformats.org/drawingml/2006/main">
            <a:r>
              <a:t>https://www.vedomosti.ru/politics/characters/2026/07/06/1211370-valentin-konovalov-rossiya-na-moskve-ne-zakanchivaetsya?from=newsline</a:t>
            </a:r>
          </a:p>
          <a:p xmlns:a="http://schemas.openxmlformats.org/drawingml/2006/main">
            <a:r>
              <a:t>https://www.vedomosti.ru/person/1215197-aksenov-sergei</a:t>
            </a:r>
          </a:p>
          <a:p xmlns:a="http://schemas.openxmlformats.org/drawingml/2006/main">
            <a:r>
              <a:t>https://www.rbc.ru/person/65f020599a79475815e702c9</a:t>
            </a:r>
          </a:p>
          <a:p xmlns:a="http://schemas.openxmlformats.org/drawingml/2006/main">
            <a:r>
              <a:t>http://crimea.gov.ru/news/30_03_18_10</a:t>
            </a:r>
          </a:p>
          <a:p xmlns:a="http://schemas.openxmlformats.org/drawingml/2006/main">
            <a:r>
              <a:t>https://www.npr.org/sections/parallels/2018/01/27/581114772/putins-man-in-crimea-we-ve-returned-to-russia-forever</a:t>
            </a:r>
          </a:p>
          <a:p xmlns:a="http://schemas.openxmlformats.org/drawingml/2006/main">
            <a:r>
              <a:t>http://crimea.gov.ru/en/news/26_02_19_6</a:t>
            </a:r>
          </a:p>
          <a:p xmlns:a="http://schemas.openxmlformats.org/drawingml/2006/main">
            <a:r>
              <a:t>https://antifashist.com/item/kto-polomal-infopole-kryma-i-ne-otvechaet-na-voprosy.html</a:t>
            </a:r>
          </a:p>
          <a:p xmlns:a="http://schemas.openxmlformats.org/drawingml/2006/main">
            <a:r>
              <a:t>https://ru.krymr.com/a/news/27913548.html</a:t>
            </a:r>
          </a:p>
          <a:p xmlns:a="http://schemas.openxmlformats.org/drawingml/2006/main">
            <a:r>
              <a:t>https://simfch.ru/2022/03/02/glava-respubliki-krym-sergej-aksyonov-prizval-krymchan-k-informaczionnoj-mobilizaczii-otkrytomu-i-publichnomu-vyrazheniyu-svoej-patrioticheskoj-poziczii/</a:t>
            </a:r>
          </a:p>
          <a:p xmlns:a="http://schemas.openxmlformats.org/drawingml/2006/main">
            <a:r>
              <a:t>https://www.rbc.ru/politics/29/05/2023/64749e389a7947f3de98dff2</a:t>
            </a:r>
          </a:p>
          <a:p xmlns:a="http://schemas.openxmlformats.org/drawingml/2006/main">
            <a:r>
              <a:t>https://ru.krymr.com/a/krym-sergey-aksenov-pvo-prilety-bavovna-bezopasnost-pvo-udar/32631709.html</a:t>
            </a:r>
          </a:p>
          <a:p xmlns:a="http://schemas.openxmlformats.org/drawingml/2006/main">
            <a:r>
              <a:t>https://rostov.rbc.ru/rostov/interview/18/03/2024/65f75c4f9a7947c8b475ab94</a:t>
            </a:r>
          </a:p>
          <a:p xmlns:a="http://schemas.openxmlformats.org/drawingml/2006/main">
            <a:r>
              <a:t>https://www.kommersant.ru/doc/7715230</a:t>
            </a:r>
          </a:p>
          <a:p xmlns:a="http://schemas.openxmlformats.org/drawingml/2006/main">
            <a:r>
              <a:t>https://www.kommersant.ru/doc/5154319</a:t>
            </a:r>
          </a:p>
          <a:p xmlns:a="http://schemas.openxmlformats.org/drawingml/2006/main">
            <a:r>
              <a:t>https://www.rbc.ru/person/660290b19a7947801fe9439b</a:t>
            </a:r>
          </a:p>
          <a:p xmlns:a="http://schemas.openxmlformats.org/drawingml/2006/main">
            <a:r>
              <a:t>https://www.kommersant.ru/doc/3759211</a:t>
            </a:r>
          </a:p>
          <a:p xmlns:a="http://schemas.openxmlformats.org/drawingml/2006/main">
            <a:r>
              <a:t>https://tass.ru/info/6656656</a:t>
            </a:r>
          </a:p>
          <a:p xmlns:a="http://schemas.openxmlformats.org/drawingml/2006/main">
            <a:r>
              <a:t>https://sevastopol.er.ru/pages/otchet-gubernatora-sevastopolya-mihaila-razvozhaeva</a:t>
            </a:r>
          </a:p>
          <a:p xmlns:a="http://schemas.openxmlformats.org/drawingml/2006/main">
            <a:r>
              <a:t>http://special.kremlin.ru/catalog/persons/579/events/76271</a:t>
            </a:r>
          </a:p>
          <a:p xmlns:a="http://schemas.openxmlformats.org/drawingml/2006/main">
            <a:r>
              <a:t>https://sevastopol.su/news/chastnyy-biznes-vlozhil-v-sevastopol-250-mlrd-rubley-za-tri-goda</a:t>
            </a:r>
          </a:p>
          <a:p xmlns:a="http://schemas.openxmlformats.org/drawingml/2006/main">
            <a:r>
              <a:t>https://sevastopol.su/news/v-sevastopole-ocenili-perspektivy-mikhaila-razvozhaeva-na-sleduyuschikh-vyborakh</a:t>
            </a:r>
          </a:p>
          <a:p xmlns:a="http://schemas.openxmlformats.org/drawingml/2006/main">
            <a:r>
              <a:t>https://tass.ru/interviews/10248577</a:t>
            </a:r>
          </a:p>
          <a:p xmlns:a="http://schemas.openxmlformats.org/drawingml/2006/main">
            <a:r>
              <a:t>https://news.ru/russia/u-nas-smelye-plany-gubernator-sevastopolya-razvozzhaev-o-budushem-goroda</a:t>
            </a:r>
          </a:p>
          <a:p xmlns:a="http://schemas.openxmlformats.org/drawingml/2006/main">
            <a:r>
              <a:t>http://kremlin.ru/events/administration/80838</a:t>
            </a:r>
          </a:p>
          <a:p xmlns:a="http://schemas.openxmlformats.org/drawingml/2006/main">
            <a:r>
              <a:t>https://tass.ru/kultura/28214691</a:t>
            </a:r>
          </a:p>
          <a:p xmlns:a="http://schemas.openxmlformats.org/drawingml/2006/main">
            <a:r>
              <a:t>http://kremlin.ru/events/administration/80591</a:t>
            </a:r>
          </a:p>
          <a:p xmlns:a="http://schemas.openxmlformats.org/drawingml/2006/main">
            <a:r>
              <a:t>https://governors.ru/glava-regiona/Belgorodskaya-oblast/Gladkov-Vyacheslav-Vladimirovich</a:t>
            </a:r>
          </a:p>
          <a:p xmlns:a="http://schemas.openxmlformats.org/drawingml/2006/main">
            <a:r>
              <a:t>https://ru.wikipedia.org/wiki/%D0%93%D0%BB%D0%B0%D0%B4%D0%BA%D0%BE%D0%B2,_%D0%92%D1%8F%D1%87%D0%B5%D1%81%D0%BB%D0%B0%D0%B2_%D0%92%D0%BB%D0%B0%D0%B4%D0%B8%D0%BC%D0%B8%D1%80%D0%BE%D0%B2%D0%B8%D1%87</a:t>
            </a:r>
          </a:p>
          <a:p xmlns:a="http://schemas.openxmlformats.org/drawingml/2006/main">
            <a:r>
              <a:t>http://council.gov.ru/structure/persons/1543/</a:t>
            </a:r>
          </a:p>
          <a:p xmlns:a="http://schemas.openxmlformats.org/drawingml/2006/main">
            <a:r>
              <a:t>https://ufa.rbc.ru/person/648345539a794760fd0c17e8</a:t>
            </a:r>
          </a:p>
          <a:p xmlns:a="http://schemas.openxmlformats.org/drawingml/2006/main">
            <a:r>
              <a:t>https://www.kommersant.ru/doc/8571119</a:t>
            </a:r>
          </a:p>
          <a:p xmlns:a="http://schemas.openxmlformats.org/drawingml/2006/main">
            <a:r>
              <a:t>https://www.kommersant.ru/doc/8655079</a:t>
            </a:r>
          </a:p>
          <a:p xmlns:a="http://schemas.openxmlformats.org/drawingml/2006/main">
            <a:r>
              <a:t>https://tass.ru/info/27861241</a:t>
            </a:r>
          </a:p>
          <a:p xmlns:a="http://schemas.openxmlformats.org/drawingml/2006/main">
            <a:r>
              <a:t>https://meduza.io/feature/2023/06/08/emu-by-vse-eto-razgresti</a:t>
            </a:r>
          </a:p>
          <a:p xmlns:a="http://schemas.openxmlformats.org/drawingml/2006/main">
            <a:r>
              <a:t>http://www.kremlin.ru/events/president/transcripts/66288</a:t>
            </a:r>
          </a:p>
          <a:p xmlns:a="http://schemas.openxmlformats.org/drawingml/2006/main">
            <a:r>
              <a:t>https://www.belpressa.ru/politics/vlast/62665.html</a:t>
            </a:r>
          </a:p>
          <a:p xmlns:a="http://schemas.openxmlformats.org/drawingml/2006/main">
            <a:r>
              <a:t>https://www.belpressa.ru/politics/vlast/71368.html</a:t>
            </a:r>
          </a:p>
          <a:p xmlns:a="http://schemas.openxmlformats.org/drawingml/2006/main">
            <a:r>
              <a:t>https://www.belnovosti.ru/politika/gubernator/127077.html</a:t>
            </a:r>
          </a:p>
          <a:p xmlns:a="http://schemas.openxmlformats.org/drawingml/2006/main">
            <a:r>
              <a:t>https://chr.plus.rbc.ru/news/694b9fb67a8aa90f9c2ce17d</a:t>
            </a:r>
          </a:p>
          <a:p xmlns:a="http://schemas.openxmlformats.org/drawingml/2006/main">
            <a:r>
              <a:t>https://www.belpressa.ru/society/bezopasnost/43348.html</a:t>
            </a:r>
          </a:p>
          <a:p xmlns:a="http://schemas.openxmlformats.org/drawingml/2006/main">
            <a:r>
              <a:t>https://www.rbc.ru/politics/07/03/2023/640758bf9a7947f6af99d464</a:t>
            </a:r>
          </a:p>
          <a:p xmlns:a="http://schemas.openxmlformats.org/drawingml/2006/main">
            <a:r>
              <a:t>https://www.rbc.ru/politics/24/05/2023/646d22029a794797c4bac4bf</a:t>
            </a:r>
          </a:p>
          <a:p xmlns:a="http://schemas.openxmlformats.org/drawingml/2006/main">
            <a:r>
              <a:t>https://www.bbc.com/russian/articles/c70dkd0pvrlo</a:t>
            </a:r>
          </a:p>
          <a:p xmlns:a="http://schemas.openxmlformats.org/drawingml/2006/main">
            <a:r>
              <a:t>https://www.go31.ru/news/proisshestviya/kak-nikto-drugoy-ponimaem-chto-takoe-agressiya-so-storony-ukrainy-gladkov-o-proryve-granitsy-v-kursk/</a:t>
            </a:r>
          </a:p>
          <a:p xmlns:a="http://schemas.openxmlformats.org/drawingml/2006/main">
            <a:r>
              <a:t>https://echofm.online/portret-dnya/portret-dnya-vyacheslav-gladkov-gubernator-belgorodskoj-oblasti-prognozy-o-sudbe-kotorogo-raznyatsya-ot-posta-posla-v-abhazii-do-ugolovnogo-dela</a:t>
            </a:r>
          </a:p>
          <a:p xmlns:a="http://schemas.openxmlformats.org/drawingml/2006/main">
            <a:r>
              <a:t>https://www.kommersant.ru/doc/3917861</a:t>
            </a:r>
          </a:p>
          <a:p xmlns:a="http://schemas.openxmlformats.org/drawingml/2006/main">
            <a:r>
              <a:t>https://minstroyrf.gov.ru/press/okolo-40-kontsessionnykh-soglasheniy-v-rossii-deystvuet-v-sfere-zhkkh/</a:t>
            </a:r>
          </a:p>
          <a:p xmlns:a="http://schemas.openxmlformats.org/drawingml/2006/main">
            <a:r>
              <a:t>https://newsroom24.ru/murmansk/news/politics/2026/news_323931/</a:t>
            </a:r>
          </a:p>
          <a:p xmlns:a="http://schemas.openxmlformats.org/drawingml/2006/main">
            <a:r>
              <a:t>https://murmansk.ru/52053</a:t>
            </a:r>
          </a:p>
          <a:p xmlns:a="http://schemas.openxmlformats.org/drawingml/2006/main">
            <a:r>
              <a:t>https://51.ru/text/gorod/2026/01/22/76228112/</a:t>
            </a:r>
          </a:p>
          <a:p xmlns:a="http://schemas.openxmlformats.org/drawingml/2006/main">
            <a:r>
              <a:t>https://www.murman.ru/news/2026/05/02/2334/</a:t>
            </a:r>
          </a:p>
          <a:p xmlns:a="http://schemas.openxmlformats.org/drawingml/2006/main">
            <a:r>
              <a:t>https://murman.ru/news/2026/09/06/2141/</a:t>
            </a:r>
          </a:p>
          <a:p xmlns:a="http://schemas.openxmlformats.org/drawingml/2006/main">
            <a:r>
              <a:t>https://www.murman.ru/news/2026/09/13/2242/</a:t>
            </a:r>
          </a:p>
          <a:p xmlns:a="http://schemas.openxmlformats.org/drawingml/2006/main">
            <a:r>
              <a:t>https://ru.wikipedia.org/wiki/%D0%A7%D0%B8%D0%B1%D0%B8%D1%81,_%D0%90%D0%BD%D0%B4%D1%80%D0%B5%D0%B9_%D0%92%D0%BB%D0%B0%D0%B4%D0%B8%D0%BC%D0%B8%D1%80%D0%BE%D0%B2%D0%B8%D1%87</a:t>
            </a:r>
          </a:p>
          <a:p xmlns:a="http://schemas.openxmlformats.org/drawingml/2006/main">
            <a:r>
              <a:t>https://tass.ru/obschestvo/23491353</a:t>
            </a:r>
          </a:p>
          <a:p xmlns:a="http://schemas.openxmlformats.org/drawingml/2006/main">
            <a:r>
              <a:t>https://www.murman.ru/news/2026/09/03/2243/</a:t>
            </a:r>
          </a:p>
          <a:p xmlns:a="http://schemas.openxmlformats.org/drawingml/2006/main">
            <a:r>
              <a:t>https://msp.citymurmansk.ru/news/2026/09/03/0930/</a:t>
            </a:r>
          </a:p>
          <a:p xmlns:a="http://schemas.openxmlformats.org/drawingml/2006/main">
            <a:r>
              <a:t>http://kremlin.ru/events/president/letters/80916</a:t>
            </a:r>
          </a:p>
          <a:p xmlns:a="http://schemas.openxmlformats.org/drawingml/2006/main">
            <a:r>
              <a:t>https://www.murmansk.kp.ru/daily/277813.4/5300258/</a:t>
            </a:r>
          </a:p>
          <a:p xmlns:a="http://schemas.openxmlformats.org/drawingml/2006/main">
            <a:r>
              <a:t>https://www.fontanka.ru/2021/07/27/70046798/</a:t>
            </a:r>
          </a:p>
          <a:p xmlns:a="http://schemas.openxmlformats.org/drawingml/2006/main">
            <a:r>
              <a:t>https://www.kommersant.ru/doc/4639758</a:t>
            </a:r>
          </a:p>
          <a:p xmlns:a="http://schemas.openxmlformats.org/drawingml/2006/main">
            <a:r>
              <a:t>https://www.bbc.com/russian/news-55614829</a:t>
            </a:r>
          </a:p>
          <a:p xmlns:a="http://schemas.openxmlformats.org/drawingml/2006/main">
            <a:r>
              <a:t>https://newpeople.ru/Deputy/sardana-avksenteva</a:t>
            </a:r>
          </a:p>
          <a:p xmlns:a="http://schemas.openxmlformats.org/drawingml/2006/main">
            <a:r>
              <a:t>https://www.pnp.ru/economics/kontrol-za-koncessionnymi-soglasheniyami-predlozhili-usilit.html</a:t>
            </a:r>
          </a:p>
          <a:p xmlns:a="http://schemas.openxmlformats.org/drawingml/2006/main">
            <a:r>
              <a:t>https://www.ng.ru/politics/2024-12-05/1_9150_right.html</a:t>
            </a:r>
          </a:p>
          <a:p xmlns:a="http://schemas.openxmlformats.org/drawingml/2006/main">
            <a:r>
              <a:t>https://news.ru/society/v-novyh-lyudyah-rasskazali-o-glavnyh-zadachah-partii-pered-vyborami</a:t>
            </a:r>
          </a:p>
          <a:p xmlns:a="http://schemas.openxmlformats.org/drawingml/2006/main">
            <a:r>
              <a:t>https://www.kommersant.ru/doc/8939397</a:t>
            </a:r>
          </a:p>
          <a:p xmlns:a="http://schemas.openxmlformats.org/drawingml/2006/main">
            <a:r>
              <a:t>https://tass.ru/info/5220823</a:t>
            </a:r>
          </a:p>
          <a:p xmlns:a="http://schemas.openxmlformats.org/drawingml/2006/main">
            <a:r>
              <a:t>https://tass.ru/info/15547711</a:t>
            </a:r>
          </a:p>
          <a:p xmlns:a="http://schemas.openxmlformats.org/drawingml/2006/main">
            <a:r>
              <a:t>https://www.bbc.com/russian/features-62661643</a:t>
            </a:r>
          </a:p>
          <a:p xmlns:a="http://schemas.openxmlformats.org/drawingml/2006/main">
            <a:r>
              <a:t>https://www.kommersant.ru/doc/3298219</a:t>
            </a:r>
          </a:p>
          <a:p xmlns:a="http://schemas.openxmlformats.org/drawingml/2006/main">
            <a:r>
              <a:t>https://www.svoboda.org/a/31217129.html</a:t>
            </a:r>
          </a:p>
          <a:p xmlns:a="http://schemas.openxmlformats.org/drawingml/2006/main">
            <a:r>
              <a:t>https://www.interfax.ru/russia/902059</a:t>
            </a:r>
          </a:p>
          <a:p xmlns:a="http://schemas.openxmlformats.org/drawingml/2006/main">
            <a:r>
              <a:t>https://www.bfm.ru/news/525620</a:t>
            </a:r>
          </a:p>
          <a:p xmlns:a="http://schemas.openxmlformats.org/drawingml/2006/main">
            <a:r>
              <a:t>https://novayagazeta.ru/articles/2023/03/16/do-urovnia-myshei-media</a:t>
            </a:r>
          </a:p>
          <a:p xmlns:a="http://schemas.openxmlformats.org/drawingml/2006/main">
            <a:r>
              <a:t>https://tjournal.ru/71076</a:t>
            </a:r>
          </a:p>
          <a:p xmlns:a="http://schemas.openxmlformats.org/drawingml/2006/main">
            <a:r>
              <a:t>https://www.nakanune.ru/articles/111648/</a:t>
            </a:r>
          </a:p>
          <a:p xmlns:a="http://schemas.openxmlformats.org/drawingml/2006/main">
            <a:r>
              <a:t>https://adcmemorial.org/statyi/kolonki/neprotivlenie-rasizmu/</a:t>
            </a:r>
          </a:p>
          <a:p xmlns:a="http://schemas.openxmlformats.org/drawingml/2006/main">
            <a:r>
              <a:t>https://www.svoboda.org/a/royzman-i-drugie-zhiteli-ekaterinburga/31997151.html</a:t>
            </a:r>
          </a:p>
          <a:p xmlns:a="http://schemas.openxmlformats.org/drawingml/2006/main">
            <a:r>
              <a:t>https://www.e1.ru/text/politics/2022/02/24/70466417/</a:t>
            </a:r>
          </a:p>
          <a:p xmlns:a="http://schemas.openxmlformats.org/drawingml/2006/main">
            <a:r>
              <a:t>https://www.dw.com/ru/kommentarij-evgenij-rojzman-i-sila-pravdy/a-62917754</a:t>
            </a:r>
          </a:p>
          <a:p xmlns:a="http://schemas.openxmlformats.org/drawingml/2006/main">
            <a:r>
              <a:t>https://meduza.io/paragraph/2022/08/26/priehali-moskvichi-i-dumali-chto-zdes-duraki-sobralis</a:t>
            </a:r>
          </a:p>
          <a:p xmlns:a="http://schemas.openxmlformats.org/drawingml/2006/main">
            <a:r>
              <a:t>https://znamlit.ru/publication.php?id=7379</a:t>
            </a:r>
          </a:p>
          <a:p xmlns:a="http://schemas.openxmlformats.org/drawingml/2006/main">
            <a:r>
              <a:t>https://tass.ru/interviews/6080499</a:t>
            </a:r>
          </a:p>
          <a:p xmlns:a="http://schemas.openxmlformats.org/drawingml/2006/main">
            <a:r>
              <a:t>https://45.ru/text/politics/2024/09/09/73952072/</a:t>
            </a:r>
          </a:p>
          <a:p xmlns:a="http://schemas.openxmlformats.org/drawingml/2006/main">
            <a:r>
              <a:t>http://special.kremlin.ru/events/president/news/70638</a:t>
            </a:r>
          </a:p>
          <a:p xmlns:a="http://schemas.openxmlformats.org/drawingml/2006/main">
            <a:r>
              <a:t>https://ura.news/news/1053132902</a:t>
            </a:r>
          </a:p>
          <a:p xmlns:a="http://schemas.openxmlformats.org/drawingml/2006/main">
            <a:r>
              <a:t>https://ura.news/articles/1036276564</a:t>
            </a:r>
          </a:p>
          <a:p xmlns:a="http://schemas.openxmlformats.org/drawingml/2006/main">
            <a:r>
              <a:t>https://tass.ru/novosti-regionov/28187431</a:t>
            </a:r>
          </a:p>
          <a:p xmlns:a="http://schemas.openxmlformats.org/drawingml/2006/main">
            <a:r>
              <a:t>https://fedpress.ru/person/1753607</a:t>
            </a:r>
          </a:p>
          <a:p xmlns:a="http://schemas.openxmlformats.org/drawingml/2006/main">
            <a:r>
              <a:t>https://eburg.mk.ru/social/2026/10/14/zhiteley-zauralya-predupredili-o-lozhnykh-videorolikakh-s-gubernatorom.html</a:t>
            </a:r>
          </a:p>
          <a:p xmlns:a="http://schemas.openxmlformats.org/drawingml/2006/main">
            <a:r>
              <a:t>https://regnum.ru/news/3530808</a:t>
            </a:r>
          </a:p>
          <a:p xmlns:a="http://schemas.openxmlformats.org/drawingml/2006/main">
            <a:r>
              <a:t>https://kurganvera.ru/news/vrns/mitropolit-daniil-i-vadim-shumkov-vozglavili-delegatsiyu-kurganskoy-oblasti-na-vsemirnom-russkom-sob/</a:t>
            </a:r>
          </a:p>
          <a:p xmlns:a="http://schemas.openxmlformats.org/drawingml/2006/main">
            <a:r>
              <a:t>https://45.ru/text/politics/2026/06/26/76499700/</a:t>
            </a:r>
          </a:p>
          <a:p xmlns:a="http://schemas.openxmlformats.org/drawingml/2006/main">
            <a:r>
              <a:t>https://niva-kurtamysh.com/news/obshchestvo/vystuplenie-gubernatora-kurganskoy-oblasti-vadima-shumkova</a:t>
            </a:r>
          </a:p>
          <a:p xmlns:a="http://schemas.openxmlformats.org/drawingml/2006/main">
            <a:r>
              <a:t>https://t.me/s/kurganskayaobl?before=42616</a:t>
            </a:r>
          </a:p>
          <a:p xmlns:a="http://schemas.openxmlformats.org/drawingml/2006/main">
            <a:r>
              <a:t>https://www.bbc.com/russian/news-54368577</a:t>
            </a:r>
          </a:p>
          <a:p xmlns:a="http://schemas.openxmlformats.org/drawingml/2006/main">
            <a:r>
              <a:t>https://www.bbc.com/russian/articles/cp0769dp15eo</a:t>
            </a:r>
          </a:p>
          <a:p xmlns:a="http://schemas.openxmlformats.org/drawingml/2006/main">
            <a:r>
              <a:t>https://navalny.com/materials/blogpost-6017</a:t>
            </a:r>
          </a:p>
          <a:p xmlns:a="http://schemas.openxmlformats.org/drawingml/2006/main">
            <a:r>
              <a:t>https://www.bbc.com/russian/news-58563592</a:t>
            </a:r>
          </a:p>
          <a:p xmlns:a="http://schemas.openxmlformats.org/drawingml/2006/main">
            <a:r>
              <a:t>https://navalny.com/materials/blogpost-6544</a:t>
            </a:r>
          </a:p>
          <a:p xmlns:a="http://schemas.openxmlformats.org/drawingml/2006/main">
            <a:r>
              <a:t>https://www.bbc.com/russian/news-58270043</a:t>
            </a:r>
          </a:p>
          <a:p xmlns:a="http://schemas.openxmlformats.org/drawingml/2006/main">
            <a:r>
              <a:t>https://www.bbc.com/russian/articles/cvg3p9l1e5ro</a:t>
            </a:r>
          </a:p>
          <a:p xmlns:a="http://schemas.openxmlformats.org/drawingml/2006/main">
            <a:r>
              <a:t>https://www.bbc.com/russian/features-54435835</a:t>
            </a:r>
          </a:p>
          <a:p xmlns:a="http://schemas.openxmlformats.org/drawingml/2006/main">
            <a:r>
              <a:t>https://2018.navalny.com/platform/7/</a:t>
            </a:r>
          </a:p>
          <a:p xmlns:a="http://schemas.openxmlformats.org/drawingml/2006/main">
            <a:r>
              <a:t>https://2018.navalny.com/platform/3/</a:t>
            </a:r>
          </a:p>
          <a:p xmlns:a="http://schemas.openxmlformats.org/drawingml/2006/main">
            <a:r>
              <a:t>https://2018.navalny.com/platform/10/</a:t>
            </a:r>
          </a:p>
          <a:p xmlns:a="http://schemas.openxmlformats.org/drawingml/2006/main">
            <a:r>
              <a:t>https://2018.navalny.com/platform/9/</a:t>
            </a:r>
          </a:p>
          <a:p xmlns:a="http://schemas.openxmlformats.org/drawingml/2006/main">
            <a:r>
              <a:t>https://navalny.com/editorials/aleksey-navalnyy-protiv-voyny</a:t>
            </a:r>
          </a:p>
          <a:p xmlns:a="http://schemas.openxmlformats.org/drawingml/2006/main">
            <a:r>
              <a:t>https://navalny.com/?p=149</a:t>
            </a:r>
          </a:p>
          <a:p xmlns:a="http://schemas.openxmlformats.org/drawingml/2006/main">
            <a:r>
              <a:t>https://www.interfax.ru/russia/876151</a:t>
            </a:r>
          </a:p>
          <a:p xmlns:a="http://schemas.openxmlformats.org/drawingml/2006/main">
            <a:r>
              <a:t>https://www.dw.com/ru/srok-ne-za-fejk-a-za-politiku-reakcii-v-frg-i-rf-na-prigovor-asinu/a-64049957</a:t>
            </a:r>
          </a:p>
          <a:p xmlns:a="http://schemas.openxmlformats.org/drawingml/2006/main">
            <a:r>
              <a:t>https://www.lemonde.fr/en/international/article/2025/05/27/russian-opposition-figure-ilya-yashin-if-ukraine-is-handed-over-to-putin-it-will-be-a-tragedy-and-the-prologue-to-a-global-confrontation_6741728_4.html</a:t>
            </a:r>
          </a:p>
          <a:p xmlns:a="http://schemas.openxmlformats.org/drawingml/2006/main">
            <a:r>
              <a:t>https://www.bbc.com/russian/articles/crgl69w9472o</a:t>
            </a:r>
          </a:p>
          <a:p xmlns:a="http://schemas.openxmlformats.org/drawingml/2006/main">
            <a:r>
              <a:t>https://www.svoboda.org/a/yashin-court/32165539.html</a:t>
            </a:r>
          </a:p>
          <a:p xmlns:a="http://schemas.openxmlformats.org/drawingml/2006/main">
            <a:r>
              <a:t>https://www.dw.com/ru/ila-asin-putin-predvoditel-sil-mrakobesia/a-69923731</a:t>
            </a:r>
          </a:p>
          <a:p xmlns:a="http://schemas.openxmlformats.org/drawingml/2006/main">
            <a:r>
              <a:t>https://novayagazeta.eu/articles/2025/08/01/my-ne-mozhem-trebovat-no-mozhem-obiasniat</a:t>
            </a:r>
          </a:p>
          <a:p xmlns:a="http://schemas.openxmlformats.org/drawingml/2006/main">
            <a:r>
              <a:t>https://meduza.io/feature/2019/07/20/to-chto-putin-ne-smog-sdelat-za-20-let-sobyanin-sdelal-za-mesyats</a:t>
            </a:r>
          </a:p>
          <a:p xmlns:a="http://schemas.openxmlformats.org/drawingml/2006/main">
            <a:r>
              <a:t>https://novayagazeta.eu/articles/2024/11/18/pochuvstvovat-sebia-ne-odinokimi</a:t>
            </a:r>
          </a:p>
          <a:p xmlns:a="http://schemas.openxmlformats.org/drawingml/2006/main">
            <a:r>
              <a:t>https://www.svoboda.org/a/voyna-putin-i-politzaklyuchennye-iljya-yashin-o-svoih-planah/33177839.html</a:t>
            </a:r>
          </a:p>
          <a:p xmlns:a="http://schemas.openxmlformats.org/drawingml/2006/main">
            <a:r>
              <a:t>https://www.dw.com/ru/asin-sejcas-nevozmozno-obedinit-rossijskuu-oppoziciu-da-i-ne-nuzno/a-70291088</a:t>
            </a:r>
          </a:p>
          <a:p xmlns:a="http://schemas.openxmlformats.org/drawingml/2006/main">
            <a:r>
              <a:t>https://www.dw.com/ru/vladimir-karamurza/t-37465233</a:t>
            </a:r>
          </a:p>
          <a:p xmlns:a="http://schemas.openxmlformats.org/drawingml/2006/main">
            <a:r>
              <a:t>https://ovd.info/persons/kara-murza-vladimir-vladimirovich</a:t>
            </a:r>
          </a:p>
          <a:p xmlns:a="http://schemas.openxmlformats.org/drawingml/2006/main">
            <a:r>
              <a:t>https://ovd.info/2024/08/03/kogo-rossiya-vydala-v-ramkakh-obmena-zaklyuchennymi-s-zapadom-istorii-osvobozhdennykh</a:t>
            </a:r>
          </a:p>
          <a:p xmlns:a="http://schemas.openxmlformats.org/drawingml/2006/main">
            <a:r>
              <a:t>https://www.svoboda.org/a/kara-murza-obmen/33059121.html</a:t>
            </a:r>
          </a:p>
          <a:p xmlns:a="http://schemas.openxmlformats.org/drawingml/2006/main">
            <a:r>
              <a:t>https://novayagazeta.ru/articles/2024/08/16/prezident-baiden-prinial-osvobozhdennogo-v-rezultate-obmena-politzakliuchennogo-vladimira-kara-murzu-s-semei-v-belom-dome-news</a:t>
            </a:r>
          </a:p>
          <a:p xmlns:a="http://schemas.openxmlformats.org/drawingml/2006/main">
            <a:r>
              <a:t>https://genevasummit.org/speech/vladimir-kara-murza-speaks-at-2018-geneva-summit-main-event/</a:t>
            </a:r>
          </a:p>
          <a:p xmlns:a="http://schemas.openxmlformats.org/drawingml/2006/main">
            <a:r>
              <a:t>https://humanrights.ca/event-series/presidents-lecture-series</a:t>
            </a:r>
          </a:p>
          <a:p xmlns:a="http://schemas.openxmlformats.org/drawingml/2006/main">
            <a:r>
              <a:t>https://www.radiofrance.fr/franceinter/podcasts/l-info-de-france-inter/la-democratie-doit-etre-protegee-chaque-minute-de-chaque-jour-declare-l-opposant-russe-vladimir-kara-mourza-8105094</a:t>
            </a:r>
          </a:p>
          <a:p xmlns:a="http://schemas.openxmlformats.org/drawingml/2006/main">
            <a:r>
              <a:t>https://georgetownvoice.com/2025/10/08/dissident-in-residence-vladimir-kara-murza-applies-past-lessons-to-present-day-in-recent-event-discussing-democracy/</a:t>
            </a:r>
          </a:p>
          <a:p xmlns:a="http://schemas.openxmlformats.org/drawingml/2006/main">
            <a:r>
              <a:t>https://www.oscepa.org/en/documents/winter-meetings/2025-vienna/speeches-36/5176-vladimir-kara-murza-address-to-the-osce-pa-winter-meeting-in-vienna-21-february-2025/file</a:t>
            </a:r>
          </a:p>
          <a:p xmlns:a="http://schemas.openxmlformats.org/drawingml/2006/main">
            <a:r>
              <a:t>https://hrf.org/wp-content/uploads/2024/10/VKM-%E2%80%93-Statement-of-Facts-and-Levinson-Analysis.pdf</a:t>
            </a:r>
          </a:p>
          <a:p xmlns:a="http://schemas.openxmlformats.org/drawingml/2006/main">
            <a:r>
              <a:t>https://www.govinfo.gov/content/pkg/CREC-2024-06-11/html/CREC-2024-06-11-pt1-PgH3699.htm</a:t>
            </a:r>
          </a:p>
          <a:p xmlns:a="http://schemas.openxmlformats.org/drawingml/2006/main">
            <a:r>
              <a:t>https://antiwarcommittee.info/en/statement-on-the-persecution-of-vladimir-kara-murza/</a:t>
            </a:r>
          </a:p>
          <a:p xmlns:a="http://schemas.openxmlformats.org/drawingml/2006/main">
            <a:r>
              <a:t>https://www.norway.no/en/missions/osce/norway-and-the-osce/statements/statements-with--norwegian-alignment-2024/joint-statement-on-vladimir-kara-murza/</a:t>
            </a:r>
          </a:p>
          <a:p xmlns:a="http://schemas.openxmlformats.org/drawingml/2006/main">
            <a:r>
              <a:t>https://www.aljazeera.com/news/2025/4/23/kremlin-critic-decried-for-racist-rant-on-minorities-fighting-for-russia</a:t>
            </a:r>
          </a:p>
          <a:p xmlns:a="http://schemas.openxmlformats.org/drawingml/2006/main">
            <a:r>
              <a:t>https://www.rmc.edu/news/former-political-prisoner-vladimir-kara-murza-offers-vision-of-hope-for-russian-democracy/</a:t>
            </a:r>
          </a:p>
          <a:p xmlns:a="http://schemas.openxmlformats.org/drawingml/2006/main">
            <a:r>
              <a:t>https://2018.yavlinsky.ru/campaign/</a:t>
            </a:r>
          </a:p>
          <a:p xmlns:a="http://schemas.openxmlformats.org/drawingml/2006/main">
            <a:r>
              <a:t>http://2018.yavlinsky.ru/programm/</a:t>
            </a:r>
          </a:p>
          <a:p xmlns:a="http://schemas.openxmlformats.org/drawingml/2006/main">
            <a:r>
              <a:t>https://campaign2018.yavlinsky.ru/</a:t>
            </a:r>
          </a:p>
          <a:p xmlns:a="http://schemas.openxmlformats.org/drawingml/2006/main">
            <a:r>
              <a:t>https://www.yavlinsky.ru/position/war/</a:t>
            </a:r>
          </a:p>
          <a:p xmlns:a="http://schemas.openxmlformats.org/drawingml/2006/main">
            <a:r>
              <a:t>https://www.yavlinsky.ru/position/cease-fire/</a:t>
            </a:r>
          </a:p>
          <a:p xmlns:a="http://schemas.openxmlformats.org/drawingml/2006/main">
            <a:r>
              <a:t>https://www.yavlinsky.ru/article_tax/ukraina/</a:t>
            </a:r>
          </a:p>
          <a:p xmlns:a="http://schemas.openxmlformats.org/drawingml/2006/main">
            <a:r>
              <a:t>https://www.yavlinsky.ru/biografiya/</a:t>
            </a:r>
          </a:p>
          <a:p xmlns:a="http://schemas.openxmlformats.org/drawingml/2006/main">
            <a:r>
              <a:t>https://www.yabloko.ru/publikatsii/2018/02/15_0</a:t>
            </a:r>
          </a:p>
          <a:p xmlns:a="http://schemas.openxmlformats.org/drawingml/2006/main">
            <a:r>
              <a:t>https://www.yabloko.ru/publikatsii/2018/06/19</a:t>
            </a:r>
          </a:p>
          <a:p xmlns:a="http://schemas.openxmlformats.org/drawingml/2006/main">
            <a:r>
              <a:t>https://www.yavlinsky.ru/article/eto-referendum/</a:t>
            </a:r>
          </a:p>
          <a:p xmlns:a="http://schemas.openxmlformats.org/drawingml/2006/main">
            <a:r>
              <a:t>https://www.svoboda.org/a/27801792.html</a:t>
            </a:r>
          </a:p>
          <a:p xmlns:a="http://schemas.openxmlformats.org/drawingml/2006/main">
            <a:r>
              <a:t>https://www.svoboda.org/a/29294829.html</a:t>
            </a:r>
          </a:p>
          <a:p xmlns:a="http://schemas.openxmlformats.org/drawingml/2006/main">
            <a:r>
              <a:t>https://www.yavlinsky.ru/article/intervyu-g-yavlinskogo-zhertvy-budut-proryva-net/</a:t>
            </a:r>
          </a:p>
          <a:p xmlns:a="http://schemas.openxmlformats.org/drawingml/2006/main">
            <a:r>
              <a:t>https://www.yavlinsky.ru/article/my-budem-idti-do-kontsa/</a:t>
            </a:r>
          </a:p>
          <a:p xmlns:a="http://schemas.openxmlformats.org/drawingml/2006/main">
            <a:r>
              <a:t>https://www.yavlinsky.ru/article/prezidentskie-vybory-1996-30-let-spustya/</a:t>
            </a:r>
          </a:p>
          <a:p xmlns:a="http://schemas.openxmlformats.org/drawingml/2006/main">
            <a:r>
              <a:t>https://www.forbes.ru/interview/45575-reformatory-prihodyat-k-vlasti-grigorii-yavlinskii</a:t>
            </a:r>
          </a:p>
          <a:p xmlns:a="http://schemas.openxmlformats.org/drawingml/2006/main">
            <a:r>
              <a:t>https://www.bbc.com/russian/articles/cy8ee2wngd8o</a:t>
            </a:r>
          </a:p>
          <a:p xmlns:a="http://schemas.openxmlformats.org/drawingml/2006/main">
            <a:r>
              <a:t>https://www.yabloko.ru/regnews/Pskov/2019/01/21-0</a:t>
            </a:r>
          </a:p>
          <a:p xmlns:a="http://schemas.openxmlformats.org/drawingml/2006/main">
            <a:r>
              <a:t>https://www.yabloko.ru/publikatsii/2019/06/14</a:t>
            </a:r>
          </a:p>
          <a:p xmlns:a="http://schemas.openxmlformats.org/drawingml/2006/main">
            <a:r>
              <a:t>https://zona.media/article/2019/02/27/pskov</a:t>
            </a:r>
          </a:p>
          <a:p xmlns:a="http://schemas.openxmlformats.org/drawingml/2006/main">
            <a:r>
              <a:t>https://spektr.press/ya-otvechayu-za-vse-mnoj-skazannoe-no-ne-otvechayu-za-izvraschenie-skazannogo-lev-shlosberg-o-travle-i-setkah-telegram-kanalov-odnokletochnyh-politikah-reshivshih-pobedit-putina-rukami-u/</a:t>
            </a:r>
          </a:p>
          <a:p xmlns:a="http://schemas.openxmlformats.org/drawingml/2006/main">
            <a:r>
              <a:t>https://www.yabloko.ru/Persons/shlosberg.html</a:t>
            </a:r>
          </a:p>
          <a:p xmlns:a="http://schemas.openxmlformats.org/drawingml/2006/main">
            <a:r>
              <a:t>https://pln-pskov.ru/politics/314872.html</a:t>
            </a:r>
          </a:p>
          <a:p xmlns:a="http://schemas.openxmlformats.org/drawingml/2006/main">
            <a:r>
              <a:t>https://www.yabloko.ru/publikatsii/2022/02/18-0</a:t>
            </a:r>
          </a:p>
          <a:p xmlns:a="http://schemas.openxmlformats.org/drawingml/2006/main">
            <a:r>
              <a:t>https://ru.krymr.com/a/rossiya-putin-voyna-repressii-lev-shlosberg-intervyu/31806389.html</a:t>
            </a:r>
          </a:p>
          <a:p xmlns:a="http://schemas.openxmlformats.org/drawingml/2006/main">
            <a:r>
              <a:t>https://www.currenttime.tv/a/politika-vlastey-chtoby-lyudi-perestali-govorit-o-spetsialnoy-voennoy-operatsii-lev-shlosberg-o-dele-protiv-nego-i-nikolaya-kuzmina/31807396.html</a:t>
            </a:r>
          </a:p>
          <a:p xmlns:a="http://schemas.openxmlformats.org/drawingml/2006/main">
            <a:r>
              <a:t>https://zona.media/article/2026/08/14/schlosberg</a:t>
            </a:r>
          </a:p>
          <a:p xmlns:a="http://schemas.openxmlformats.org/drawingml/2006/main">
            <a:r>
              <a:t>https://www.svoboda.org/a/lishniy-zalozhnik-vot-chto-im-vazhno-arest-lva-shlosberga/33615624.html</a:t>
            </a:r>
          </a:p>
          <a:p xmlns:a="http://schemas.openxmlformats.org/drawingml/2006/main">
            <a:r>
              <a:t>https://novayagazeta.eu/articles/2026/08/17/ostavshiisia</a:t>
            </a:r>
          </a:p>
          <a:p xmlns:a="http://schemas.openxmlformats.org/drawingml/2006/main">
            <a:r>
              <a:t>https://www.yabloko.ru/content/vishnevskii_boris_lazarevich</a:t>
            </a:r>
          </a:p>
          <a:p xmlns:a="http://schemas.openxmlformats.org/drawingml/2006/main">
            <a:r>
              <a:t>https://www.dp.ru/a/2018/06/18/Aktivnaja_storona_konflikt</a:t>
            </a:r>
          </a:p>
          <a:p xmlns:a="http://schemas.openxmlformats.org/drawingml/2006/main">
            <a:r>
              <a:t>https://www.bbc.com/russian/features-58481940</a:t>
            </a:r>
          </a:p>
          <a:p xmlns:a="http://schemas.openxmlformats.org/drawingml/2006/main">
            <a:r>
              <a:t>https://www.dp.ru/a/2023/01/16/Deputat_Peterburga_Vishnev</a:t>
            </a:r>
          </a:p>
          <a:p xmlns:a="http://schemas.openxmlformats.org/drawingml/2006/main">
            <a:r>
              <a:t>https://echofm.online/portret-dnya/portret-dnya-boris-vishnevskij-peterburgskij-politik</a:t>
            </a:r>
          </a:p>
          <a:p xmlns:a="http://schemas.openxmlformats.org/drawingml/2006/main">
            <a:r>
              <a:t>https://spb.yabloko.ru/people/vishnevskij-boris-lazarevich/</a:t>
            </a:r>
          </a:p>
          <a:p xmlns:a="http://schemas.openxmlformats.org/drawingml/2006/main">
            <a:r>
              <a:t>https://www.dp.ru/a/2026/08/26/bitva-nachalas-gde-v-peterburge</a:t>
            </a:r>
          </a:p>
          <a:p xmlns:a="http://schemas.openxmlformats.org/drawingml/2006/main">
            <a:r>
              <a:t>https://www.yabloko.ru/regnews/Spb/2022/02/21</a:t>
            </a:r>
          </a:p>
          <a:p xmlns:a="http://schemas.openxmlformats.org/drawingml/2006/main">
            <a:r>
              <a:t>https://www.yabloko.ru/cat-news/2021/08/06-0</a:t>
            </a:r>
          </a:p>
          <a:p xmlns:a="http://schemas.openxmlformats.org/drawingml/2006/main">
            <a:r>
              <a:t>https://www.rbc.ru/spb_sz/16/01/2023/63c53d9c9a7947d9bef4b853</a:t>
            </a:r>
          </a:p>
          <a:p xmlns:a="http://schemas.openxmlformats.org/drawingml/2006/main">
            <a:r>
              <a:t>https://www.rbc.ru/politics/06/05/2024/6638a8609a79472c01075a2c</a:t>
            </a:r>
          </a:p>
          <a:p xmlns:a="http://schemas.openxmlformats.org/drawingml/2006/main">
            <a:r>
              <a:t>https://www.svoboda.org/a/politika-dmitriya-gudkova-deportirovali-iz-gruzii-v-kiev/31679697.html</a:t>
            </a:r>
          </a:p>
          <a:p xmlns:a="http://schemas.openxmlformats.org/drawingml/2006/main">
            <a:r>
              <a:t>https://ru.krymr.com/a/dmitriy-gudkov-ob-otyezde-iz-rossii/31295079.html</a:t>
            </a:r>
          </a:p>
          <a:p xmlns:a="http://schemas.openxmlformats.org/drawingml/2006/main">
            <a:r>
              <a:t>https://daily.afisha.ru/news/114366-syn-politika-dmitriya-gudkova-pokonchil-s-soboy-v-emigracii/amp/</a:t>
            </a:r>
          </a:p>
          <a:p xmlns:a="http://schemas.openxmlformats.org/drawingml/2006/main">
            <a:r>
              <a:t>https://life.ru/t/dmitriygudkov</a:t>
            </a:r>
          </a:p>
          <a:p xmlns:a="http://schemas.openxmlformats.org/drawingml/2006/main">
            <a:r>
              <a:t>https://uk.wikipedia.org/wiki/%D0%93%D1%83%D0%B4%D0%BA%D0%BE%D0%B2_%D0%94%D0%BC%D0%B8%D1%82%D1%80%D1%96%D0%B9_%D0%93%D0%B5%D0%BD%D0%B0%D0%B4%D1%96%D0%B9%D0%BE%D0%B2%D0%B8%D1%87</a:t>
            </a:r>
          </a:p>
          <a:p xmlns:a="http://schemas.openxmlformats.org/drawingml/2006/main">
            <a:r>
              <a:t>https://mt.gazeta.ru/blog/43692366076/Syin-byivshego-deputata-Gosdumyi-Dmitriya-Gudkova-pokonchil-s-so?utm_referrer=mirtesen.ru</a:t>
            </a:r>
          </a:p>
          <a:p xmlns:a="http://schemas.openxmlformats.org/drawingml/2006/main">
            <a:r>
              <a:t>https://www.bbc.com/russian/news-57381443</a:t>
            </a:r>
          </a:p>
          <a:p xmlns:a="http://schemas.openxmlformats.org/drawingml/2006/main">
            <a:r>
              <a:t>https://www.themoscowtimes.com/2021/06/06/kremlin-critic-dmitry-gudkov-flees-to-ukraine-a74123</a:t>
            </a:r>
          </a:p>
          <a:p xmlns:a="http://schemas.openxmlformats.org/drawingml/2006/main">
            <a:r>
              <a:t>https://www.yabloko.ru/publikatsii/2016/09/15</a:t>
            </a:r>
          </a:p>
          <a:p xmlns:a="http://schemas.openxmlformats.org/drawingml/2006/main">
            <a:r>
              <a:t>https://novayagazeta.ru/articles/2018/03/21/75886-ya-privyk-lyudyam-verit</a:t>
            </a:r>
          </a:p>
          <a:p xmlns:a="http://schemas.openxmlformats.org/drawingml/2006/main">
            <a:r>
              <a:t>https://www.rbc.ru/politics/15/03/2018/5aaa98049a7947d12d63f1e1</a:t>
            </a:r>
          </a:p>
          <a:p xmlns:a="http://schemas.openxmlformats.org/drawingml/2006/main">
            <a:r>
              <a:t>https://rus.team/people/gudkov-dmitrij-gennadevich</a:t>
            </a:r>
          </a:p>
          <a:p xmlns:a="http://schemas.openxmlformats.org/drawingml/2006/main">
            <a:r>
              <a:t>https://www.azattyqasia.org/a/chto-proiskhodit-v-donbasse-/31863310/lbl0lbi299676.html</a:t>
            </a:r>
          </a:p>
          <a:p xmlns:a="http://schemas.openxmlformats.org/drawingml/2006/main">
            <a:r>
              <a:t>https://www.dw.com/ru/dmitrij-gudkov-putin-na-storone-partii-vojny-no-pri-etom-on-trus-21092022/video-63193199</a:t>
            </a:r>
          </a:p>
          <a:p xmlns:a="http://schemas.openxmlformats.org/drawingml/2006/main">
            <a:r>
              <a:t>https://ru.wikinews.org/wiki/%D0%9A%D0%B0%D1%82%D0%B5%D0%B3%D0%BE%D1%80%D0%B8%D1%8F:%D0%93%D0%B5%D0%BD%D0%BD%D0%B0%D0%B4%D0%B8%D0%B9_%D0%93%D1%83%D0%B4%D0%BA%D0%BE%D0%B2</a:t>
            </a:r>
          </a:p>
          <a:p xmlns:a="http://schemas.openxmlformats.org/drawingml/2006/main">
            <a:r>
              <a:t>https://en.wikipedia.org/wiki/Gennady_Gudkov</a:t>
            </a:r>
          </a:p>
          <a:p xmlns:a="http://schemas.openxmlformats.org/drawingml/2006/main">
            <a:r>
              <a:t>https://x.com/gudkov_g</a:t>
            </a:r>
          </a:p>
          <a:p xmlns:a="http://schemas.openxmlformats.org/drawingml/2006/main">
            <a:r>
              <a:t>https://www.dw.com/ru/chto-dmitrij-gudkov-nameren-delat-v-ukraine-i-vernetsja-li-v-rossiju/a-57830619</a:t>
            </a:r>
          </a:p>
          <a:p xmlns:a="http://schemas.openxmlformats.org/drawingml/2006/main">
            <a:r>
              <a:t>https://ru.wikipedia.org/wiki/%D0%93%D1%83%D0%B4%D0%BA%D0%BE%D0%B2,_%D0%93%D0%B5%D0%BD%D0%BD%D0%B0%D0%B4%D0%B8%D0%B9_%D0%92%D0%BB%D0%B0%D0%B4%D0%B8%D0%BC%D0%B8%D1%80%D0%BE%D0%B2%D0%B8%D1%87</a:t>
            </a:r>
          </a:p>
          <a:p xmlns:a="http://schemas.openxmlformats.org/drawingml/2006/main">
            <a:r>
              <a:t>https://ru.wikipedia.org/wiki/%D0%93%D1%83%D0%B4%D0%BA%D0%BE%D0%B2,_%D0%94%D0%BC%D0%B8%D1%82%D1%80%D0%B8%D0%B9_%D0%93%D0%B5%D0%BD%D0%BD%D0%B0%D0%B4%D1%8C%D0%B5%D0%B2%D0%B8%D1%87</a:t>
            </a:r>
          </a:p>
          <a:p xmlns:a="http://schemas.openxmlformats.org/drawingml/2006/main">
            <a:r>
              <a:t>https://utro02.tv/2022/10/31/navstrechu-sezdu-gennadij-gudkov-o-vyborah-obedinenii-oppoziczii-i-razdelenii-vlasti/</a:t>
            </a:r>
          </a:p>
          <a:p xmlns:a="http://schemas.openxmlformats.org/drawingml/2006/main">
            <a:r>
              <a:t>https://www.unian.net/war/rossiyskiy-oppozicioner-gudkov-putin-nachinaet-ponimat-chto-nastupaet-zh-pa-12031263.html</a:t>
            </a:r>
          </a:p>
          <a:p xmlns:a="http://schemas.openxmlformats.org/drawingml/2006/main">
            <a:r>
              <a:t>https://bntnews.bg/genadiy-gudkov-86846tag.html</a:t>
            </a:r>
          </a:p>
          <a:p xmlns:a="http://schemas.openxmlformats.org/drawingml/2006/main">
            <a:r>
              <a:t>https://tass.ru/encyclopedia/person/gudkov-dmitriy-gennadevich</a:t>
            </a:r>
          </a:p>
          <a:p xmlns:a="http://schemas.openxmlformats.org/drawingml/2006/main">
            <a:r>
              <a:t>https://www.kasparov.com/garry-kasparov-on-putin-and-the-virus-of-imperialism-wsj-free-expression-april-11-2022/</a:t>
            </a:r>
          </a:p>
          <a:p xmlns:a="http://schemas.openxmlformats.org/drawingml/2006/main">
            <a:r>
              <a:t>https://www.ilmessaggero.it/en/garry_kasparov_from_chess_champion_to_kremlin_critic-9797261.html</a:t>
            </a:r>
          </a:p>
          <a:p xmlns:a="http://schemas.openxmlformats.org/drawingml/2006/main">
            <a:r>
              <a:t>https://www.kasparov.com/category/russia/</a:t>
            </a:r>
          </a:p>
          <a:p xmlns:a="http://schemas.openxmlformats.org/drawingml/2006/main">
            <a:r>
              <a:t>https://www.kasparov.com/category/politics/</a:t>
            </a:r>
          </a:p>
          <a:p xmlns:a="http://schemas.openxmlformats.org/drawingml/2006/main">
            <a:r>
              <a:t>https://en.wikipedia.org/wiki/Political_views_of_Garry_Kasparov</a:t>
            </a:r>
          </a:p>
          <a:p xmlns:a="http://schemas.openxmlformats.org/drawingml/2006/main">
            <a:r>
              <a:t>https://www.dw.com/ru/kasparov-v-intervu-dw-vse-cto-delal-delaet-i-budet-delat-tramp-pomogaet-putinu/a-79633734</a:t>
            </a:r>
          </a:p>
          <a:p xmlns:a="http://schemas.openxmlformats.org/drawingml/2006/main">
            <a:r>
              <a:t>https://www.kasparov.com/</a:t>
            </a:r>
          </a:p>
          <a:p xmlns:a="http://schemas.openxmlformats.org/drawingml/2006/main">
            <a:r>
              <a:t>https://www.kasparov.com/a-conversation-with-garry-kasparov-thought-economics-with-vikas-shas-may-21-2017/</a:t>
            </a:r>
          </a:p>
          <a:p xmlns:a="http://schemas.openxmlformats.org/drawingml/2006/main">
            <a:r>
              <a:t>https://www.kasparov.com/new-yorker-interview-the-chess-grandmaster-and-political-activist-on-putin-trump-and-how-we-are-living-again-through-the-eighteen-fifties/</a:t>
            </a:r>
          </a:p>
          <a:p xmlns:a="http://schemas.openxmlformats.org/drawingml/2006/main">
            <a:r>
              <a:t>https://www.cnbc.com/2017/02/13/the-full-interview-with-former-world-chess-champion-garry-kasparov-on-trump-putin.html</a:t>
            </a:r>
          </a:p>
          <a:p xmlns:a="http://schemas.openxmlformats.org/drawingml/2006/main">
            <a:r>
              <a:t>https://www.reuters.com/world/europe/kasparov-calls-world-powers-throw-russia-back-into-stone-age-2022-03-03/</a:t>
            </a:r>
          </a:p>
          <a:p xmlns:a="http://schemas.openxmlformats.org/drawingml/2006/main">
            <a:r>
              <a:t>https://khodorkovsky.com/open-russia-manifesto/</a:t>
            </a:r>
          </a:p>
          <a:p xmlns:a="http://schemas.openxmlformats.org/drawingml/2006/main">
            <a:r>
              <a:t>https://khodorkovsky.com/programmes/initiatives/openrussia/</a:t>
            </a:r>
          </a:p>
          <a:p xmlns:a="http://schemas.openxmlformats.org/drawingml/2006/main">
            <a:r>
              <a:t>https://khodorkovsky.com/page/65/?m</a:t>
            </a:r>
          </a:p>
          <a:p xmlns:a="http://schemas.openxmlformats.org/drawingml/2006/main">
            <a:r>
              <a:t>https://khodorkovsky.com/page/80/?m</a:t>
            </a:r>
          </a:p>
          <a:p xmlns:a="http://schemas.openxmlformats.org/drawingml/2006/main">
            <a:r>
              <a:t>https://angliya.com/publication/mihail-hodorkovskiy-ne-priznayu-razdelenie-lyudey-na-osnovanii-politicheskih-vzglyadov/</a:t>
            </a:r>
          </a:p>
          <a:p xmlns:a="http://schemas.openxmlformats.org/drawingml/2006/main">
            <a:r>
              <a:t>https://www.dw.com/ru/mihail-hodorkovski-bojus-jeta-vojna-ne-budet-poslednej/a-61314556</a:t>
            </a:r>
          </a:p>
          <a:p xmlns:a="http://schemas.openxmlformats.org/drawingml/2006/main">
            <a:r>
              <a:t>https://ru.euronews.com/2022/06/21/ru-khodorkovsky-interview</a:t>
            </a:r>
          </a:p>
          <a:p xmlns:a="http://schemas.openxmlformats.org/drawingml/2006/main">
            <a:r>
              <a:t>https://ru.euronews.com/2022/06/23/mikhail-khodorkovsky</a:t>
            </a:r>
          </a:p>
          <a:p xmlns:a="http://schemas.openxmlformats.org/drawingml/2006/main">
            <a:r>
              <a:t>https://poligonmedia.io/mihail-hodorkovskij-putin-ne-pobedil/</a:t>
            </a:r>
          </a:p>
          <a:p xmlns:a="http://schemas.openxmlformats.org/drawingml/2006/main">
            <a:r>
              <a:t>https://www.pap.pl/ru/russian/news/khodorkovskiy-u-putina-est-prichiny-vesti-peregovory-o-prekraschenii-voyny-na-ukraine</a:t>
            </a:r>
          </a:p>
          <a:p xmlns:a="http://schemas.openxmlformats.org/drawingml/2006/main">
            <a:r>
              <a:t>https://milov.org/cat/debates</a:t>
            </a:r>
          </a:p>
          <a:p xmlns:a="http://schemas.openxmlformats.org/drawingml/2006/main">
            <a:r>
              <a:t>https://milov.org/entry/4188</a:t>
            </a:r>
          </a:p>
          <a:p xmlns:a="http://schemas.openxmlformats.org/drawingml/2006/main">
            <a:r>
              <a:t>https://milov.org/cat/international</a:t>
            </a:r>
          </a:p>
          <a:p xmlns:a="http://schemas.openxmlformats.org/drawingml/2006/main">
            <a:r>
              <a:t>https://tvrain.tv/teleshow/amerikanskie_gonki/tramp_vynashivaet_ideju_primiritsja_s_putinym-453802/</a:t>
            </a:r>
          </a:p>
          <a:p xmlns:a="http://schemas.openxmlformats.org/drawingml/2006/main">
            <a:r>
              <a:t>https://www.currenttime.tv/a/vladimir-milov-interview/31505887.html</a:t>
            </a:r>
          </a:p>
          <a:p xmlns:a="http://schemas.openxmlformats.org/drawingml/2006/main">
            <a:r>
              <a:t>https://ovd.info/express-news/2021/07/27/roskomnadzor-potreboval-ot-youtube-zablokirovat-kanaly-troikh-soratnikov</a:t>
            </a:r>
          </a:p>
          <a:p xmlns:a="http://schemas.openxmlformats.org/drawingml/2006/main">
            <a:r>
              <a:t>https://www.dw.com/ru/sud-v-moskve-prigovoril-vladimira-milova-k-8-godam-kolonii/a-67415717</a:t>
            </a:r>
          </a:p>
          <a:p xmlns:a="http://schemas.openxmlformats.org/drawingml/2006/main">
            <a:r>
              <a:t>https://ru.wikipedia.org/wiki/%D0%9C%D0%B8%D0%BB%D0%BE%D0%B2,_%D0%92%D0%BB%D0%B0%D0%B4%D0%B8%D0%BC%D0%B8%D1%80_%D0%A1%D1%82%D0%B0%D0%BD%D0%B8%D1%81%D0%BB%D0%B0%D0%B2%D0%BE%D0%B2%D0%B8%D1%87</a:t>
            </a:r>
          </a:p>
          <a:p xmlns:a="http://schemas.openxmlformats.org/drawingml/2006/main">
            <a:r>
              <a:t>https://gordonua.com/news/worldnews/milov-merkel-molodec-poteryala-vsego-7-8-v-polzu-svezhey-antiimmigrantskoy-partii-na-fone-migrantskogo-krizisa-208758.html</a:t>
            </a:r>
          </a:p>
          <a:p xmlns:a="http://schemas.openxmlformats.org/drawingml/2006/main">
            <a:r>
              <a:t>https://echofm.online/programs/hochu-skazat/hochu-skazat-larina-69</a:t>
            </a:r>
          </a:p>
          <a:p xmlns:a="http://schemas.openxmlformats.org/drawingml/2006/main">
            <a:r>
              <a:t>https://www.hoover.org/plus/research/russian-opposition-and-ukraine-conversation-vladimir-milov</a:t>
            </a:r>
          </a:p>
          <a:p xmlns:a="http://schemas.openxmlformats.org/drawingml/2006/main">
            <a:r>
              <a:t>https://www.golosameriki.com/a/washington-dialogue-russian-opposition-conference/7648250.html</a:t>
            </a:r>
          </a:p>
          <a:p xmlns:a="http://schemas.openxmlformats.org/drawingml/2006/main">
            <a:r>
              <a:t>https://glavred.info/chat/1337-vladimir-milov.html</a:t>
            </a:r>
          </a:p>
          <a:p xmlns:a="http://schemas.openxmlformats.org/drawingml/2006/main">
            <a:r>
              <a:t>https://www.interfax.ru/moscow/669378</a:t>
            </a:r>
          </a:p>
          <a:p xmlns:a="http://schemas.openxmlformats.org/drawingml/2006/main">
            <a:r>
              <a:t>https://tass.ru/politika/6670439</a:t>
            </a:r>
          </a:p>
          <a:p xmlns:a="http://schemas.openxmlformats.org/drawingml/2006/main">
            <a:r>
              <a:t>https://www.rbc.ru/politics/16/07/2019/5d2c8b3b9a794799a7c7d413</a:t>
            </a:r>
          </a:p>
          <a:p xmlns:a="http://schemas.openxmlformats.org/drawingml/2006/main">
            <a:r>
              <a:t>https://www.bbc.com/russian/news-56269079</a:t>
            </a:r>
          </a:p>
          <a:p xmlns:a="http://schemas.openxmlformats.org/drawingml/2006/main">
            <a:r>
              <a:t>https://ovd.info/express-news/2020/12/28/s-yurista-fbk-kotoraya-provela-pochti-dvoe-sutok-v-ivs-pytalis-vzyat</a:t>
            </a:r>
          </a:p>
          <a:p xmlns:a="http://schemas.openxmlformats.org/drawingml/2006/main">
            <a:r>
              <a:t>https://ovd.info/express-news/2021/02/26/prokuratura-utverdila-obvinenie-sobol-po-delu-o-proniknovenii-v-kvartiru</a:t>
            </a:r>
          </a:p>
          <a:p xmlns:a="http://schemas.openxmlformats.org/drawingml/2006/main">
            <a:r>
              <a:t>https://ovd.info/express-news/2020/12/29/protiv-alekseya-navalnogo-vozbudili-ugolovnoe-delo-o-moshennichestve-iz-za</a:t>
            </a:r>
          </a:p>
          <a:p xmlns:a="http://schemas.openxmlformats.org/drawingml/2006/main">
            <a:r>
              <a:t>https://www.currenttime.tv/a/sobol/31723600.html</a:t>
            </a:r>
          </a:p>
          <a:p xmlns:a="http://schemas.openxmlformats.org/drawingml/2006/main">
            <a:r>
              <a:t>https://www.currenttime.tv/interview/episodes/2022/2/26</a:t>
            </a:r>
          </a:p>
          <a:p xmlns:a="http://schemas.openxmlformats.org/drawingml/2006/main">
            <a:r>
              <a:t>https://ochevidcy.com/putin-budet-vorovat-do-groba/</a:t>
            </a:r>
          </a:p>
          <a:p xmlns:a="http://schemas.openxmlformats.org/drawingml/2006/main">
            <a:r>
              <a:t>https://www.svoboda.org/a/32881433.html</a:t>
            </a:r>
          </a:p>
          <a:p xmlns:a="http://schemas.openxmlformats.org/drawingml/2006/main">
            <a:r>
              <a:t>https://echofm.online/programs/idyom-po-zvyozdam/idyom-po-zvezdam-s-lyubovyu-sobol</a:t>
            </a:r>
          </a:p>
          <a:p xmlns:a="http://schemas.openxmlformats.org/drawingml/2006/main">
            <a:r>
              <a:t>https://x.com/SobolLubov</a:t>
            </a:r>
          </a:p>
          <a:p xmlns:a="http://schemas.openxmlformats.org/drawingml/2006/main">
            <a:r>
              <a:t>https://stuki-druki.com/authors/sobol-lubov.php</a:t>
            </a:r>
          </a:p>
          <a:p xmlns:a="http://schemas.openxmlformats.org/drawingml/2006/main">
            <a:r>
              <a:t>https://www.interfax.ru/elections2018/593143</a:t>
            </a:r>
          </a:p>
          <a:p xmlns:a="http://schemas.openxmlformats.org/drawingml/2006/main">
            <a:r>
              <a:t>https://elections2018.tass.ru/candidate/sobchak</a:t>
            </a:r>
          </a:p>
          <a:p xmlns:a="http://schemas.openxmlformats.org/drawingml/2006/main">
            <a:r>
              <a:t>https://www.interfax.ru/elections2018/604186</a:t>
            </a:r>
          </a:p>
          <a:p xmlns:a="http://schemas.openxmlformats.org/drawingml/2006/main">
            <a:r>
              <a:t>https://www.interfax.ru/elections2018/604908</a:t>
            </a:r>
          </a:p>
          <a:p xmlns:a="http://schemas.openxmlformats.org/drawingml/2006/main">
            <a:r>
              <a:t>https://www.consultant.ru/law/hotdocs/53066.html</a:t>
            </a:r>
          </a:p>
          <a:p xmlns:a="http://schemas.openxmlformats.org/drawingml/2006/main">
            <a:r>
              <a:t>https://www.rbc.ru/newspaper/2018/03/20/5aae9ca49a794739b02918a0</a:t>
            </a:r>
          </a:p>
          <a:p xmlns:a="http://schemas.openxmlformats.org/drawingml/2006/main">
            <a:r>
              <a:t>https://www.interfax.ru/elections2018/604136</a:t>
            </a:r>
          </a:p>
          <a:p xmlns:a="http://schemas.openxmlformats.org/drawingml/2006/main">
            <a:r>
              <a:t>https://www.interfax.ru/elections2018/604190</a:t>
            </a:r>
          </a:p>
          <a:p xmlns:a="http://schemas.openxmlformats.org/drawingml/2006/main">
            <a:r>
              <a:t>https://www.rbc.ru/economics/25/12/2017/5a4025f19a79472e3f5f4ad9?from=right_column_materials_3</a:t>
            </a:r>
          </a:p>
          <a:p xmlns:a="http://schemas.openxmlformats.org/drawingml/2006/main">
            <a:r>
              <a:t>https://news.ru/show-business/otezd-iz-rf-vybory-svo-v-chem-priznalas-kseniya-sobchak-v-novom-intervyu</a:t>
            </a:r>
          </a:p>
          <a:p xmlns:a="http://schemas.openxmlformats.org/drawingml/2006/main">
            <a:r>
              <a:t>https://rtvi.com/news/sobchak-otvetila-na-vopros-putin-ili-zelenskij/</a:t>
            </a:r>
          </a:p>
          <a:p xmlns:a="http://schemas.openxmlformats.org/drawingml/2006/main">
            <a:r>
              <a:t>https://informator.ua/ru/kompromissy-iz-rf-legitimnost-zelenskogo-i-gotovnost-pozhat-ruku-putinu-o-chem-govoril-arestovich-v-intervyu-sobchak</a:t>
            </a:r>
          </a:p>
          <a:p xmlns:a="http://schemas.openxmlformats.org/drawingml/2006/main">
            <a:r>
              <a:t>https://rassvet-party.info/</a:t>
            </a:r>
          </a:p>
          <a:p xmlns:a="http://schemas.openxmlformats.org/drawingml/2006/main">
            <a:r>
              <a:t>https://en.wikipedia.org/wiki/Yekaterina_Duntsova</a:t>
            </a:r>
          </a:p>
          <a:p xmlns:a="http://schemas.openxmlformats.org/drawingml/2006/main">
            <a:r>
              <a:t>https://www.dw.com/ru/cto-nuzno-znat-o-ekaterine-duncovoj-kotoraa-hocet-stat-prezidentom-rf/a-67832425</a:t>
            </a:r>
          </a:p>
          <a:p xmlns:a="http://schemas.openxmlformats.org/drawingml/2006/main">
            <a:r>
              <a:t>https://baj.media/ru/ya-gotova-idti-do-konca-zhurnalistka-iz-rossiyskoy-provincii-reshila-stat-prezidentom-i-2/</a:t>
            </a:r>
          </a:p>
          <a:p xmlns:a="http://schemas.openxmlformats.org/drawingml/2006/main">
            <a:r>
              <a:t>https://echofm.online/portret-dnya/portret-dnya-ekaterina-dunczova-reshivshaya-vydvinutsya-kandidatom-v-prezidenty-rossii-zhurnalistka-iz-rzheva</a:t>
            </a:r>
          </a:p>
          <a:p xmlns:a="http://schemas.openxmlformats.org/drawingml/2006/main">
            <a:r>
              <a:t>https://novayagazeta.eu/articles/2024/03/15/zlost-i-nenavist-vsem-nadoeli</a:t>
            </a:r>
          </a:p>
          <a:p xmlns:a="http://schemas.openxmlformats.org/drawingml/2006/main">
            <a:r>
              <a:t>https://altapress.ru/politika/story/kto-takaya-ekaterina-duntsova-kotoraya-sobiraetsya-stat-poslednim-prezidentom-rossii-i-kto-eshche-hochet-ballotirovatsya-336526</a:t>
            </a:r>
          </a:p>
          <a:p xmlns:a="http://schemas.openxmlformats.org/drawingml/2006/main">
            <a:r>
              <a:t>https://cherta.media/interview/ekaterina-duncova-kandidat-v-prezidenty/</a:t>
            </a:r>
          </a:p>
          <a:p xmlns:a="http://schemas.openxmlformats.org/drawingml/2006/main">
            <a:r>
              <a:t>https://novayagazeta.eu/articles/2023/12/05/zachem-ia-budu-stoiat-na-barrikadakh-esli-mogu-zanimatsia-realnymi-delami</a:t>
            </a:r>
          </a:p>
          <a:p xmlns:a="http://schemas.openxmlformats.org/drawingml/2006/main">
            <a:r>
              <a:t>https://holod.media/2023/12/20/ekaterina-duntsova-view/</a:t>
            </a:r>
          </a:p>
          <a:p xmlns:a="http://schemas.openxmlformats.org/drawingml/2006/main">
            <a:r>
              <a:t>https://www.dw.com/ru/ekaterina-duncova-o-sozdanii-partii-rassvet-my-mezdu-dvuh-ognej/a-68992724</a:t>
            </a:r>
          </a:p>
          <a:p xmlns:a="http://schemas.openxmlformats.org/drawingml/2006/main">
            <a:r>
              <a:t>https://rassvet-party.info/static/program.pdf</a:t>
            </a:r>
          </a:p>
          <a:p xmlns:a="http://schemas.openxmlformats.org/drawingml/2006/main">
            <a:r>
              <a:t>https://www.currenttime.tv/a/ekaterina-duntsova-o-sozdanii-partii-i-svoem-zaderzhanii/32775510.html</a:t>
            </a:r>
          </a:p>
          <a:p xmlns:a="http://schemas.openxmlformats.org/drawingml/2006/main">
            <a:r>
              <a:t>https://duntsovainitiative.1c-umi.ru/galereya/</a:t>
            </a:r>
          </a:p>
          <a:p xmlns:a="http://schemas.openxmlformats.org/drawingml/2006/main">
            <a:r>
              <a:t>https://rassvet-party.info/static/manifest.pdf</a:t>
            </a:r>
          </a:p>
          <a:p xmlns:a="http://schemas.openxmlformats.org/drawingml/2006/main">
            <a:r>
              <a:t>https://www.rbc.ru/person/65afb4a99a79470e434da73d</a:t>
            </a:r>
          </a:p>
          <a:p xmlns:a="http://schemas.openxmlformats.org/drawingml/2006/main">
            <a:r>
              <a:t>https://www.bbc.com/russian/articles/c84npr0wxx9o</a:t>
            </a:r>
          </a:p>
          <a:p xmlns:a="http://schemas.openxmlformats.org/drawingml/2006/main">
            <a:r>
              <a:t>https://www.rbc.ru/politics/08/02/2024/65c3749b9a79479ef5fe7934</a:t>
            </a:r>
          </a:p>
          <a:p xmlns:a="http://schemas.openxmlformats.org/drawingml/2006/main">
            <a:r>
              <a:t>https://www.business-gazeta.ru/article/622600</a:t>
            </a:r>
          </a:p>
          <a:p xmlns:a="http://schemas.openxmlformats.org/drawingml/2006/main">
            <a:r>
              <a:t>https://semnasem.org/articles/2024/02/02/poslednij-sredi-antivoennyh-kto-takoj-boris-nadezhdin-kotoryj-vse-eshe-nadeetsya-stat-prezidentom</a:t>
            </a:r>
          </a:p>
          <a:p xmlns:a="http://schemas.openxmlformats.org/drawingml/2006/main">
            <a:r>
              <a:t>https://novayagazeta.eu/articles/2024/02/03/17-marta-nachalo-kontsa-epokhi-putina</a:t>
            </a:r>
          </a:p>
          <a:p xmlns:a="http://schemas.openxmlformats.org/drawingml/2006/main">
            <a:r>
              <a:t>https://www.youtube.com/watch?v=mGMdgxBCdns</a:t>
            </a:r>
          </a:p>
          <a:p xmlns:a="http://schemas.openxmlformats.org/drawingml/2006/main">
            <a:r>
              <a:t>https://www.dw.com/ru/boris-nadezdin-moj-rejting-rastet-na-5-v-nedelu/a-68154251</a:t>
            </a:r>
          </a:p>
          <a:p xmlns:a="http://schemas.openxmlformats.org/drawingml/2006/main">
            <a:r>
              <a:t>https://ovd.info/express-news/2026/07/17/u-menya-dva-puti-lenina-ili-navalnogo-chto-nuzhno-znat-o-borise-nadezhdine</a:t>
            </a:r>
          </a:p>
          <a:p xmlns:a="http://schemas.openxmlformats.org/drawingml/2006/main">
            <a:r>
              <a:t>https://www.rbc.ru/person/65afb4a99a79470e434da73d?ysclid=mrt22n99to603501119</a:t>
            </a:r>
          </a:p>
          <a:p xmlns:a="http://schemas.openxmlformats.org/drawingml/2006/main">
            <a:r>
              <a:t>https://www.youtube.com/watch?v=UNytg_H_1pY</a:t>
            </a:r>
          </a:p>
          <a:p xmlns:a="http://schemas.openxmlformats.org/drawingml/2006/main">
            <a:r>
              <a:t>https://www.youtube.com/watch?v=DwTC5bilf_8</a:t>
            </a:r>
          </a:p>
          <a:p xmlns:a="http://schemas.openxmlformats.org/drawingml/2006/main">
            <a:r>
              <a:t>https://www.youtube.com/watch?v=sG4_THnT9W0</a:t>
            </a:r>
          </a:p>
          <a:p xmlns:a="http://schemas.openxmlformats.org/drawingml/2006/main">
            <a:r>
              <a:t>https://www.rbc.ru/rbcfreenews/6586cdf49a79479c3cd3d4b3</a:t>
            </a:r>
          </a:p>
          <a:p xmlns:a="http://schemas.openxmlformats.org/drawingml/2006/main">
            <a:r>
              <a:t>https://kprf.ru/activity/elections/223485.html/print</a:t>
            </a:r>
          </a:p>
          <a:p xmlns:a="http://schemas.openxmlformats.org/drawingml/2006/main">
            <a:r>
              <a:t>http://msk.kprf.ru/2024/01/24/247473/</a:t>
            </a:r>
          </a:p>
          <a:p xmlns:a="http://schemas.openxmlformats.org/drawingml/2006/main">
            <a:r>
              <a:t>https://www.dw.com/ru/vybory-prezidenta-rossii-2024/a-68528003</a:t>
            </a:r>
          </a:p>
          <a:p xmlns:a="http://schemas.openxmlformats.org/drawingml/2006/main">
            <a:r>
              <a:t>https://ru.wikipedia.org/wiki/%D0%A5%D0%B0%D1%80%D0%B8%D1%82%D0%BE%D0%BD%D0%BE%D0%B2,_%D0%9D%D0%B8%D0%BA%D0%BE%D0%BB%D0%B0%D0%B9_%D0%9C%D0%B8%D1%85%D0%B0%D0%B9%D0%BB%D0%BE%D0%B2%D0%B8%D1%87</a:t>
            </a:r>
          </a:p>
          <a:p xmlns:a="http://schemas.openxmlformats.org/drawingml/2006/main">
            <a:r>
              <a:t>https://kprf.ru/party-live/cknews/225170.html</a:t>
            </a:r>
          </a:p>
          <a:p xmlns:a="http://schemas.openxmlformats.org/drawingml/2006/main">
            <a:r>
              <a:t>https://kprf.ru/dep/gosduma/activities/232802.html</a:t>
            </a:r>
          </a:p>
          <a:p xmlns:a="http://schemas.openxmlformats.org/drawingml/2006/main">
            <a:r>
              <a:t>https://kprf35.com/2024/02/17/32710/</a:t>
            </a:r>
          </a:p>
          <a:p xmlns:a="http://schemas.openxmlformats.org/drawingml/2006/main">
            <a:r>
              <a:t>https://www.pkokprf.ru/news/view/35448</a:t>
            </a:r>
          </a:p>
          <a:p xmlns:a="http://schemas.openxmlformats.org/drawingml/2006/main">
            <a:r>
              <a:t>https://altkprf.ru/upload/iblock/eea/jiv0wm7hzk6gq4qdxw0r5wvp7zwb6luk.pdf</a:t>
            </a:r>
          </a:p>
          <a:p xmlns:a="http://schemas.openxmlformats.org/drawingml/2006/main">
            <a:r>
              <a:t>https://kprf.ru/activity/army/224789.html</a:t>
            </a:r>
          </a:p>
          <a:p xmlns:a="http://schemas.openxmlformats.org/drawingml/2006/main">
            <a:r>
              <a:t>https://gazeta-pravda.ru/issue/24-31517-711-marta-2024-goda-/alternativa-polupravde/</a:t>
            </a:r>
          </a:p>
          <a:p xmlns:a="http://schemas.openxmlformats.org/drawingml/2006/main">
            <a:r>
              <a:t>https://spbpalata.ru/?p=13755</a:t>
            </a:r>
          </a:p>
          <a:p xmlns:a="http://schemas.openxmlformats.org/drawingml/2006/main">
            <a:r>
              <a:t>https://kprf.ru/activity/elections/171941.html</a:t>
            </a:r>
          </a:p>
          <a:p xmlns:a="http://schemas.openxmlformats.org/drawingml/2006/main">
            <a:r>
              <a:t>https://kprf.ru/party-live/cknews/171994.html</a:t>
            </a:r>
          </a:p>
          <a:p xmlns:a="http://schemas.openxmlformats.org/drawingml/2006/main">
            <a:r>
              <a:t>https://elections2018.tass.ru/candidate/grudinin</a:t>
            </a:r>
          </a:p>
          <a:p xmlns:a="http://schemas.openxmlformats.org/drawingml/2006/main">
            <a:r>
              <a:t>https://www.bbc.com/russian/features-43105617</a:t>
            </a:r>
          </a:p>
          <a:p xmlns:a="http://schemas.openxmlformats.org/drawingml/2006/main">
            <a:r>
              <a:t>https://www.rbc.ru/politics/24/07/2021/60fbe35b9a794716f25253a0</a:t>
            </a:r>
          </a:p>
          <a:p xmlns:a="http://schemas.openxmlformats.org/drawingml/2006/main">
            <a:r>
              <a:t>https://kprf.ru/dep/reg/204410.html</a:t>
            </a:r>
          </a:p>
          <a:p xmlns:a="http://schemas.openxmlformats.org/drawingml/2006/main">
            <a:r>
              <a:t>https://msk.kprf.ru/2021/09/16/168273/</a:t>
            </a:r>
          </a:p>
          <a:p xmlns:a="http://schemas.openxmlformats.org/drawingml/2006/main">
            <a:r>
              <a:t>https://svpressa.ru/persons/pavel-grudinin/</a:t>
            </a:r>
          </a:p>
          <a:p xmlns:a="http://schemas.openxmlformats.org/drawingml/2006/main">
            <a:r>
              <a:t>https://carnegieendowment.org/ru/russia-eurasia/posts/2018/02/kuda-privedut-ekonomiku-rossii-20-shagov-grudinina</a:t>
            </a:r>
          </a:p>
          <a:p xmlns:a="http://schemas.openxmlformats.org/drawingml/2006/main">
            <a:r>
              <a:t>https://www.kompas-rf.ru/2018/01/2980/</a:t>
            </a:r>
          </a:p>
          <a:p xmlns:a="http://schemas.openxmlformats.org/drawingml/2006/main">
            <a:r>
              <a:t>https://www.svoboda.org/a/30073365.html</a:t>
            </a:r>
          </a:p>
          <a:p xmlns:a="http://schemas.openxmlformats.org/drawingml/2006/main">
            <a:r>
              <a:t>https://kandidativprezidenti.ru/programma-grudinina-2018/</a:t>
            </a:r>
          </a:p>
          <a:p xmlns:a="http://schemas.openxmlformats.org/drawingml/2006/main">
            <a:r>
              <a:t>https://mbk-news.appspot.com/suzhet/za-lenina-i-protiv-ege/</a:t>
            </a:r>
          </a:p>
          <a:p xmlns:a="http://schemas.openxmlformats.org/drawingml/2006/main">
            <a:r>
              <a:t>https://www.amnesty.org/ru/latest/research/2021/06/zayavlenie-rossijskaya-federacziya-obvinitelnyj-prigovor-nikolayu-platoshkinu-dolzhen-byt-otmenyon/</a:t>
            </a:r>
          </a:p>
          <a:p xmlns:a="http://schemas.openxmlformats.org/drawingml/2006/main">
            <a:r>
              <a:t>https://zona.media/article/2021/05/20/nikolay-nikolaevitch</a:t>
            </a:r>
          </a:p>
          <a:p xmlns:a="http://schemas.openxmlformats.org/drawingml/2006/main">
            <a:r>
              <a:t>https://novayagazeta.ru/articles/2020/06/05/85705-sotsialisticheskiy-prizyv</a:t>
            </a:r>
          </a:p>
          <a:p xmlns:a="http://schemas.openxmlformats.org/drawingml/2006/main">
            <a:r>
              <a:t>https://www.revda-info.ru/2020/08/26/v-revde-poyavilos-otdelenie-dvizheniya-za-novyj-sotsializm-ego-lider-sejchas-pod-arestom</a:t>
            </a:r>
          </a:p>
          <a:p xmlns:a="http://schemas.openxmlformats.org/drawingml/2006/main">
            <a:r>
              <a:t>https://new-socialism.org/o-dvizhenii/programma/</a:t>
            </a:r>
          </a:p>
          <a:p xmlns:a="http://schemas.openxmlformats.org/drawingml/2006/main">
            <a:r>
              <a:t>https://new-socialism.org/o-dvizhenii/lider/</a:t>
            </a:r>
          </a:p>
          <a:p xmlns:a="http://schemas.openxmlformats.org/drawingml/2006/main">
            <a:r>
              <a:t>https://www.themoscowtimes.com/2024/01/19/ilya-ponomaryov-we-have-to-capture-the-kremlin-there-is-no-other-way-a83772</a:t>
            </a:r>
          </a:p>
          <a:p xmlns:a="http://schemas.openxmlformats.org/drawingml/2006/main">
            <a:r>
              <a:t>https://www.dw.com/ru/cto-izvestno-o-rossijskih-podrazdeleniah-v-sostave-vsu/a-63915634</a:t>
            </a:r>
          </a:p>
          <a:p xmlns:a="http://schemas.openxmlformats.org/drawingml/2006/main">
            <a:r>
              <a:t>https://www.svoboda.org/a/32321226.html</a:t>
            </a:r>
          </a:p>
          <a:p xmlns:a="http://schemas.openxmlformats.org/drawingml/2006/main">
            <a:r>
              <a:t>https://hromadske.ua/ru/posts/nasha-cel-moskva-my-dolzhny-sbrosit-putina-rossijskie-partizany-mif-ili-pravda</a:t>
            </a:r>
          </a:p>
          <a:p xmlns:a="http://schemas.openxmlformats.org/drawingml/2006/main">
            <a:r>
              <a:t>https://epravda.com.ua/rus/publications/2018/06/11/637572/</a:t>
            </a:r>
          </a:p>
          <a:p xmlns:a="http://schemas.openxmlformats.org/drawingml/2006/main">
            <a:r>
              <a:t>https://pointmedia.io/story/672b355fdc48800406e0f515</a:t>
            </a:r>
          </a:p>
          <a:p xmlns:a="http://schemas.openxmlformats.org/drawingml/2006/main">
            <a:r>
              <a:t>https://ru.wikipedia.org/wiki/%D0%9B%D0%B5%D0%B3%D0%B8%D0%BE%D0%BD_%C2%AB%D0%A1%D0%B2%D0%BE%D0%B1%D0%BE%D0%B4%D0%B0_%D0%A0%D0%BE%D1%81%D1%81%D0%B8%D0%B8%C2%BB</a:t>
            </a:r>
          </a:p>
          <a:p xmlns:a="http://schemas.openxmlformats.org/drawingml/2006/main">
            <a:r>
              <a:t>https://ru.wikipedia.org/wiki/%D0%9F%D0%BE%D0%BD%D0%BE%D0%BC%D0%B0%D1%80%D1%91%D0%B2,_%D0%98%D0%BB%D1%8C%D1%8F_%D0%92%D0%BB%D0%B0%D0%B4%D0%B8%D0%BC%D0%B8%D1%80%D0%BE%D0%B2%D0%B8%D1%87</a:t>
            </a:r>
          </a:p>
          <a:p xmlns:a="http://schemas.openxmlformats.org/drawingml/2006/main">
            <a:r>
              <a:t>https://russophob.ru/person/ponomarev_ilya_vladimirovich</a:t>
            </a:r>
          </a:p>
          <a:p xmlns:a="http://schemas.openxmlformats.org/drawingml/2006/main">
            <a:r>
              <a:t>https://www.svoboda.org/a/32063164.html</a:t>
            </a:r>
          </a:p>
          <a:p xmlns:a="http://schemas.openxmlformats.org/drawingml/2006/main">
            <a:r>
              <a:t>https://www.kpbs.org/news/news/international/2023/03/26/a-scrappy-newscast-in-kyiv-aimed-at-russians-counters-putins-propaganda-machine</a:t>
            </a:r>
          </a:p>
          <a:p xmlns:a="http://schemas.openxmlformats.org/drawingml/2006/main">
            <a:r>
              <a:t>https://ovd.info/express-news/2022/10/02/politik-leonid-gozman-uekhal-iz-rossii-posle-dvukh-administrativnykh</a:t>
            </a:r>
          </a:p>
          <a:p xmlns:a="http://schemas.openxmlformats.org/drawingml/2006/main">
            <a:r>
              <a:t>https://ovd.info/express-news/2022/08/30/politika-leonida-gozmana-arestovali-na-15-sutok-iz-za-posta-v-feysbuke</a:t>
            </a:r>
          </a:p>
          <a:p xmlns:a="http://schemas.openxmlformats.org/drawingml/2006/main">
            <a:r>
              <a:t>https://www.rbc.ru/politics/15/07/2022/62d1b3f39a7947299cdeb6a4</a:t>
            </a:r>
          </a:p>
          <a:p xmlns:a="http://schemas.openxmlformats.org/drawingml/2006/main">
            <a:r>
              <a:t>https://novayagazeta.eu/articles/2022/07/15/sk-doprosil-politika-leonida-gozmana-kak-podozrevaemogo-po-delu-o-neuvedomlenii-o-vtorom-grazhdanstve-news</a:t>
            </a:r>
          </a:p>
          <a:p xmlns:a="http://schemas.openxmlformats.org/drawingml/2006/main">
            <a:r>
              <a:t>https://www.rbc.ru/politics/15/02/2024/65cdc9e09a7947a2995026fa</a:t>
            </a:r>
          </a:p>
          <a:p xmlns:a="http://schemas.openxmlformats.org/drawingml/2006/main">
            <a:r>
              <a:t>https://ovd.info/express-news/2025/01/22/leonida-gozmana-i-rovshana-askerova-vnesli-v-reestr-terroristov-i</a:t>
            </a:r>
          </a:p>
          <a:p xmlns:a="http://schemas.openxmlformats.org/drawingml/2006/main">
            <a:r>
              <a:t>https://www.rbc.ru/opinion-authors/gozman</a:t>
            </a:r>
          </a:p>
          <a:p xmlns:a="http://schemas.openxmlformats.org/drawingml/2006/main">
            <a:r>
              <a:t>https://novayagazeta.eu/articles/2022/07/25/ovd-info-v-moskve-zaderzhali-politika-leonida-gozmana-news</a:t>
            </a:r>
          </a:p>
          <a:p xmlns:a="http://schemas.openxmlformats.org/drawingml/2006/main">
            <a:r>
              <a:t>https://gefter.ru/archive/23487</a:t>
            </a:r>
          </a:p>
          <a:p xmlns:a="http://schemas.openxmlformats.org/drawingml/2006/main">
            <a:r>
              <a:t>https://www.svoboda.org/a/31147156.html</a:t>
            </a:r>
          </a:p>
          <a:p xmlns:a="http://schemas.openxmlformats.org/drawingml/2006/main">
            <a:r>
              <a:t>https://uatv.ua/gozman-putin-zagnal-rossiyu-v-ugol-sleduyushhij-shag-repressii/</a:t>
            </a:r>
          </a:p>
          <a:p xmlns:a="http://schemas.openxmlformats.org/drawingml/2006/main">
            <a:r>
              <a:t>https://echofm.online/programs/hochu-skazat/hochu-skazat-odin-protiv-vseh-kak-ne-dat-strahu-pobedit-sebya</a:t>
            </a:r>
          </a:p>
          <a:p xmlns:a="http://schemas.openxmlformats.org/drawingml/2006/main">
            <a:r>
              <a:t>https://www.svoboda.org/a/leonid-gozman-russkih-lyudey-neljzya-mazatj-odnoy-chernoy-kraskoy-/32732625.html</a:t>
            </a:r>
          </a:p>
          <a:p xmlns:a="http://schemas.openxmlformats.org/drawingml/2006/main">
            <a:r>
              <a:t>https://novayagazeta.eu/articles/2022/07/18/prepiatstvovat-prosveshcheniiu-liudei-vlast-budet-pulemiotami</a:t>
            </a:r>
          </a:p>
          <a:p xmlns:a="http://schemas.openxmlformats.org/drawingml/2006/main">
            <a:r>
              <a:t>https://www.svoboda.org/a/29652429.html</a:t>
            </a:r>
          </a:p>
          <a:p xmlns:a="http://schemas.openxmlformats.org/drawingml/2006/main">
            <a:r>
              <a:t>https://novayagazeta.eu/articles/2022/04/26/nesobliudenie-rezhima</a:t>
            </a:r>
          </a:p>
          <a:p xmlns:a="http://schemas.openxmlformats.org/drawingml/2006/main">
            <a:r>
              <a:t>https://novayagazeta.eu/articles/2022/07/21/zapiski-ugolovnika</a:t>
            </a:r>
          </a:p>
          <a:p xmlns:a="http://schemas.openxmlformats.org/drawingml/2006/main">
            <a:r>
              <a:t>https://novayagazeta.ru/authors/2349</a:t>
            </a:r>
          </a:p>
          <a:p xmlns:a="http://schemas.openxmlformats.org/drawingml/2006/main">
            <a:r>
              <a:t>https://www.rbc.ru/politics/10/08/2017/598c8d6d9a79474cff05cbab</a:t>
            </a:r>
          </a:p>
          <a:p xmlns:a="http://schemas.openxmlformats.org/drawingml/2006/main">
            <a:r>
              <a:t>https://www.bbc.com/russian/news-40853405</a:t>
            </a:r>
          </a:p>
          <a:p xmlns:a="http://schemas.openxmlformats.org/drawingml/2006/main">
            <a:r>
              <a:t>https://www.rbc.ru/politics/10/08/2017/598c0a8e9a7947569574ba10?from=right_column_materials_1</a:t>
            </a:r>
          </a:p>
          <a:p xmlns:a="http://schemas.openxmlformats.org/drawingml/2006/main">
            <a:r>
              <a:t>https://www.vedomosti.ru/politics/articles/2017/08/10/728820-udaltsov</a:t>
            </a:r>
          </a:p>
          <a:p xmlns:a="http://schemas.openxmlformats.org/drawingml/2006/main">
            <a:r>
              <a:t>https://www.interfax.ru/elections2018/598382</a:t>
            </a:r>
          </a:p>
          <a:p xmlns:a="http://schemas.openxmlformats.org/drawingml/2006/main">
            <a:r>
              <a:t>https://sotaproject.com/article/sergeia-udaltsova-opiat-pytaiutsia-posadit-khotia-on-vsego-lish-prosit-putina-postroit-sotsializm</a:t>
            </a:r>
          </a:p>
          <a:p xmlns:a="http://schemas.openxmlformats.org/drawingml/2006/main">
            <a:r>
              <a:t>https://www.gazeta.ru/tags/person/sergei_udaltsov.shtml</a:t>
            </a:r>
          </a:p>
          <a:p xmlns:a="http://schemas.openxmlformats.org/drawingml/2006/main">
            <a:r>
              <a:t>https://www.kommersant.ru/doc/8317316</a:t>
            </a:r>
          </a:p>
          <a:p xmlns:a="http://schemas.openxmlformats.org/drawingml/2006/main">
            <a:r>
              <a:t>https://www.kommersant.ru/doc/8972418</a:t>
            </a:r>
          </a:p>
          <a:p xmlns:a="http://schemas.openxmlformats.org/drawingml/2006/main">
            <a:r>
              <a:t>https://holod.media/2023/09/12/udaltsov-interview/</a:t>
            </a:r>
          </a:p>
          <a:p xmlns:a="http://schemas.openxmlformats.org/drawingml/2006/main">
            <a:r>
              <a:t>https://meduza.io/feature/2024/01/11/sergey-udaltsov-zaderzhan-po-obvineniyu-v-opravdanii-terrorizma</a:t>
            </a:r>
          </a:p>
          <a:p xmlns:a="http://schemas.openxmlformats.org/drawingml/2006/main">
            <a:r>
              <a:t>https://ref-book.sova-center.ru/index.php/%D0%94%D1%80%D1%83%D0%B3%D0%B0%D1%8F_%D0%A0%D0%BE%D1%81%D1%81%D0%B8%D1%8F,_%D0%BF%D0%B0%D1%80%D1%82%D0%B8%D1%8F</a:t>
            </a:r>
          </a:p>
          <a:p xmlns:a="http://schemas.openxmlformats.org/drawingml/2006/main">
            <a:r>
              <a:t>https://www.rbc.ru/society/17/03/2020/5e71048d9a79473925ab81a7</a:t>
            </a:r>
          </a:p>
          <a:p xmlns:a="http://schemas.openxmlformats.org/drawingml/2006/main">
            <a:r>
              <a:t>https://rt.rbc.ru/society/18/03/2020/5e71acc49a794773553f824e</a:t>
            </a:r>
          </a:p>
          <a:p xmlns:a="http://schemas.openxmlformats.org/drawingml/2006/main">
            <a:r>
              <a:t>https://www.bostonglobe.com/metro/obituaries/2020/03/18/russian-author-political-activist-eduard-limonov-dies/jnjHywBRjVTTgnlsqI12vN/story.html</a:t>
            </a:r>
          </a:p>
          <a:p xmlns:a="http://schemas.openxmlformats.org/drawingml/2006/main">
            <a:r>
              <a:t>https://nsn.fm/society/poslednee-intervu-pisatelya-i-politika-eduarda-limonova</a:t>
            </a:r>
          </a:p>
          <a:p xmlns:a="http://schemas.openxmlformats.org/drawingml/2006/main">
            <a:r>
              <a:t>http://www.grso.ru/person/limonov-eduard.html</a:t>
            </a:r>
          </a:p>
          <a:p xmlns:a="http://schemas.openxmlformats.org/drawingml/2006/main">
            <a:r>
              <a:t>https://ru.wikipedia.org/wiki/%D0%94%D1%80%D1%83%D0%B3%D0%B0%D1%8F_%D0%A0%D0%BE%D1%81%D1%81%D0%B8%D1%8F_%D0%AD._%D0%92._%D0%9B%D0%B8%D0%BC%D0%BE%D0%BD%D0%BE%D0%B2%D0%B0</a:t>
            </a:r>
          </a:p>
          <a:p xmlns:a="http://schemas.openxmlformats.org/drawingml/2006/main">
            <a:r>
              <a:t>https://novayagazeta.ru/articles/2017/03/12/71752-puteshestvie-natsbolov-k-putinu-i-obratno</a:t>
            </a:r>
          </a:p>
          <a:p xmlns:a="http://schemas.openxmlformats.org/drawingml/2006/main">
            <a:r>
              <a:t>https://mediabrest.by/news/lyudi/umer-eduard-limonov-chem-zapomnilsya-pisatel</a:t>
            </a:r>
          </a:p>
          <a:p xmlns:a="http://schemas.openxmlformats.org/drawingml/2006/main">
            <a:r>
              <a:t>https://www.limonow.de/read/EL_2013-2018_T.html</a:t>
            </a:r>
          </a:p>
          <a:p xmlns:a="http://schemas.openxmlformats.org/drawingml/2006/main">
            <a:r>
              <a:t>https://www.infpol.ru/203662-ot-ubezhdennogo-antisovetchika-do-kolumnista-rt/</a:t>
            </a:r>
          </a:p>
          <a:p xmlns:a="http://schemas.openxmlformats.org/drawingml/2006/main">
            <a:r>
              <a:t>https://www.bbc.com/russian/articles/c2eg90d7gg9o</a:t>
            </a:r>
          </a:p>
          <a:p xmlns:a="http://schemas.openxmlformats.org/drawingml/2006/main">
            <a:r>
              <a:t>https://www.dw.com/ru/mosgorsud-prigovoril-igora-girkina-strelkova-k-4-godam-kolonii/a-68080937</a:t>
            </a:r>
          </a:p>
          <a:p xmlns:a="http://schemas.openxmlformats.org/drawingml/2006/main">
            <a:r>
              <a:t>https://www.fontanka.ru/2023/07/21/72520253</a:t>
            </a:r>
          </a:p>
          <a:p xmlns:a="http://schemas.openxmlformats.org/drawingml/2006/main">
            <a:r>
              <a:t>https://www.svoboda.org/a/strelkov-iz-sizo-opasayusj-amnistii-kak-u-prigozhina-/32722083.html</a:t>
            </a:r>
          </a:p>
          <a:p xmlns:a="http://schemas.openxmlformats.org/drawingml/2006/main">
            <a:r>
              <a:t>https://ru.themoscowtimes.com/2023/12/07/girkin-zayavil-chto-opasaetsya-povtorit-sudbu-prigozhina-a115592</a:t>
            </a:r>
          </a:p>
          <a:p xmlns:a="http://schemas.openxmlformats.org/drawingml/2006/main">
            <a:r>
              <a:t>https://ru.krymr.com/a/boing-mn17-10-let-podozrevayemyye-obvinyayemyye-vinovnyye/33040170.html</a:t>
            </a:r>
          </a:p>
          <a:p xmlns:a="http://schemas.openxmlformats.org/drawingml/2006/main">
            <a:r>
              <a:t>https://charter97.org/ru/news/2023/7/22/556802/</a:t>
            </a:r>
          </a:p>
          <a:p xmlns:a="http://schemas.openxmlformats.org/drawingml/2006/main">
            <a:r>
              <a:t>https://t.me/s/pgubarev?after=622</a:t>
            </a:r>
          </a:p>
          <a:p xmlns:a="http://schemas.openxmlformats.org/drawingml/2006/main">
            <a:r>
              <a:t>https://rabkor.ru/columns/debates/2023/05/23/angry_patriots_of_an_imaginary_country/</a:t>
            </a:r>
          </a:p>
          <a:p xmlns:a="http://schemas.openxmlformats.org/drawingml/2006/main">
            <a:r>
              <a:t>https://www.bbc.com/news/world-60947877</a:t>
            </a:r>
          </a:p>
          <a:p xmlns:a="http://schemas.openxmlformats.org/drawingml/2006/main">
            <a:r>
              <a:t>https://www.reuters.com/world/europe/russian-mercenary-boss-courts-putin-with-ukrainian-battlefield-success-2023-01-13/</a:t>
            </a:r>
          </a:p>
          <a:p xmlns:a="http://schemas.openxmlformats.org/drawingml/2006/main">
            <a:r>
              <a:t>https://www.reuters.com/world/europe/russias-wagner-mercenaries-halt-prisoner-recruitment-campaign-founder-prigozhin-2023-02-09/</a:t>
            </a:r>
          </a:p>
          <a:p xmlns:a="http://schemas.openxmlformats.org/drawingml/2006/main">
            <a:r>
              <a:t>https://www.reuters.com/investigates/special-report/ukraine-crisis-russia-wagner/</a:t>
            </a:r>
          </a:p>
          <a:p xmlns:a="http://schemas.openxmlformats.org/drawingml/2006/main">
            <a:r>
              <a:t>https://www.reuters.com/world/europe/russias-wagner-chief-prigozhin-says-ukraine-counteroffensive-already-under-way-2023-05-03/</a:t>
            </a:r>
          </a:p>
          <a:p xmlns:a="http://schemas.openxmlformats.org/drawingml/2006/main">
            <a:r>
              <a:t>https://www.bbc.com/russian/media-66023357</a:t>
            </a:r>
          </a:p>
          <a:p xmlns:a="http://schemas.openxmlformats.org/drawingml/2006/main">
            <a:r>
              <a:t>https://www.reuters.com/world/europe/russias-prigozhin-his-own-words-mutiny-2023-06-26/</a:t>
            </a:r>
          </a:p>
          <a:p xmlns:a="http://schemas.openxmlformats.org/drawingml/2006/main">
            <a:r>
              <a:t>https://x.com/Reuters/status/1632709213641113601</a:t>
            </a:r>
          </a:p>
          <a:p xmlns:a="http://schemas.openxmlformats.org/drawingml/2006/main">
            <a:r>
              <a:t>https://www.reuters.com/world/europe/russian-mercenary-boss-says-moscows-war-ukraine-based-lies-2023-06-23/</a:t>
            </a:r>
          </a:p>
          <a:p xmlns:a="http://schemas.openxmlformats.org/drawingml/2006/main">
            <a:r>
              <a:t>https://www.rbc.ru/spb_sz/02/10/2026/6abfb91afd4c7ff957d9cbe8</a:t>
            </a:r>
          </a:p>
          <a:p xmlns:a="http://schemas.openxmlformats.org/drawingml/2006/main">
            <a:r>
              <a:t>https://www.zaks.ru/new/person/view/639</a:t>
            </a:r>
          </a:p>
          <a:p xmlns:a="http://schemas.openxmlformats.org/drawingml/2006/main">
            <a:r>
              <a:t>https://www.zaks.ru/new/archive/view/219520</a:t>
            </a:r>
          </a:p>
          <a:p xmlns:a="http://schemas.openxmlformats.org/drawingml/2006/main">
            <a:r>
              <a:t>https://tvspb.ru/news/2016/09/27/novyij-sostav-parlamenta-kto-zajmet-kresla-v-zakonodatelnom-sobranii-vi-sozyiva</a:t>
            </a:r>
          </a:p>
          <a:p xmlns:a="http://schemas.openxmlformats.org/drawingml/2006/main">
            <a:r>
              <a:t>https://tass.ru/politika/20994233</a:t>
            </a:r>
          </a:p>
          <a:p xmlns:a="http://schemas.openxmlformats.org/drawingml/2006/main">
            <a:r>
              <a:t>https://www.zaks.ru/new/archive/view/265712</a:t>
            </a:r>
          </a:p>
          <a:p xmlns:a="http://schemas.openxmlformats.org/drawingml/2006/main">
            <a:r>
              <a:t>https://www.zaks.ru/new/archive/view/269374</a:t>
            </a:r>
          </a:p>
          <a:p xmlns:a="http://schemas.openxmlformats.org/drawingml/2006/main">
            <a:r>
              <a:t>https://www.dp.ru/a/2026/10/02/oksana-dmitrieva-proigrala</a:t>
            </a:r>
          </a:p>
          <a:p xmlns:a="http://schemas.openxmlformats.org/drawingml/2006/main">
            <a:r>
              <a:t>https://ru.wikipedia.org/wiki/%D0%9F%D0%B0%D1%80%D1%82%D0%B8%D1%8F_%D1%80%D0%BE%D1%81%D1%82%D0%B0</a:t>
            </a:r>
          </a:p>
          <a:p xmlns:a="http://schemas.openxmlformats.org/drawingml/2006/main">
            <a:r>
              <a:t>https://dmitrieva.org/category/gosduma/zakonoproekty/</a:t>
            </a:r>
          </a:p>
          <a:p xmlns:a="http://schemas.openxmlformats.org/drawingml/2006/main">
            <a:r>
              <a:t>https://t.me/s/oxdmitrieva?before=1072</a:t>
            </a:r>
          </a:p>
          <a:p xmlns:a="http://schemas.openxmlformats.org/drawingml/2006/main">
            <a:r>
              <a:t>http://api.duma.gov.ru/api/transcriptFull/2023-09-28</a:t>
            </a:r>
          </a:p>
          <a:p xmlns:a="http://schemas.openxmlformats.org/drawingml/2006/main">
            <a:r>
              <a:t>https://www.fontanka.ru/2026/09/04/76623983/</a:t>
            </a:r>
          </a:p>
          <a:p xmlns:a="http://schemas.openxmlformats.org/drawingml/2006/main">
            <a:r>
              <a:t>https://www.vedomosti.ru/politics/articles/2026/03/10/1181644-deputat-semi-sozivov-oksana-dmitrieva-snova-poidet-v-gosdumu</a:t>
            </a:r>
          </a:p>
          <a:p xmlns:a="http://schemas.openxmlformats.org/drawingml/2006/main">
            <a:r>
              <a:t>https://www.kommersant.ru/doc/8497588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"id": "C1",</a:t>
            </a:r>
          </a:p>
          <a:p xmlns:a="http://schemas.openxmlformats.org/drawingml/2006/main">
            <a:r>
              <a:t>  "name": "Институциональная поддержка курса и партийная централизация",</a:t>
            </a:r>
          </a:p>
          <a:p xmlns:a="http://schemas.openxmlformats.org/drawingml/2006/main">
            <a:r>
              <a:t>  "count": 40,</a:t>
            </a:r>
          </a:p>
          <a:p xmlns:a="http://schemas.openxmlformats.org/drawingml/2006/main">
            <a:r>
              <a:t>  "members":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"vladimir-putin",</a:t>
            </a:r>
          </a:p>
          <a:p xmlns:a="http://schemas.openxmlformats.org/drawingml/2006/main">
            <a:r>
              <a:t>      "name": "Владимир Путин"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"dmitry-medvedev",</a:t>
            </a:r>
          </a:p>
          <a:p xmlns:a="http://schemas.openxmlformats.org/drawingml/2006/main">
            <a:r>
              <a:t>      "name": "Дмитрий Медведев"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"mikhail-mishustin",</a:t>
            </a:r>
          </a:p>
          <a:p xmlns:a="http://schemas.openxmlformats.org/drawingml/2006/main">
            <a:r>
              <a:t>      "name": "Михаил Мишустин"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"sergey-lavrov",</a:t>
            </a:r>
          </a:p>
          <a:p xmlns:a="http://schemas.openxmlformats.org/drawingml/2006/main">
            <a:r>
              <a:t>      "name": "Сергей Лавров"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"sergey-shoigu",</a:t>
            </a:r>
          </a:p>
          <a:p xmlns:a="http://schemas.openxmlformats.org/drawingml/2006/main">
            <a:r>
              <a:t>      "name": "Сергей Шойгу"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"andrey-belousov",</a:t>
            </a:r>
          </a:p>
          <a:p xmlns:a="http://schemas.openxmlformats.org/drawingml/2006/main">
            <a:r>
              <a:t>      "name": "Андрей Белоусов"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"nikolay-patrushev",</a:t>
            </a:r>
          </a:p>
          <a:p xmlns:a="http://schemas.openxmlformats.org/drawingml/2006/main">
            <a:r>
              <a:t>      "name": "Николай Патрушев"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"alexander-bortnikov",</a:t>
            </a:r>
          </a:p>
          <a:p xmlns:a="http://schemas.openxmlformats.org/drawingml/2006/main">
            <a:r>
              <a:t>      "name": "Александр Бортников"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"sergey-kiriyenko",</a:t>
            </a:r>
          </a:p>
          <a:p xmlns:a="http://schemas.openxmlformats.org/drawingml/2006/main">
            <a:r>
              <a:t>      "name": "Сергей Кириенко"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"vyacheslav-volodin",</a:t>
            </a:r>
          </a:p>
          <a:p xmlns:a="http://schemas.openxmlformats.org/drawingml/2006/main">
            <a:r>
              <a:t>      "name": "Вячеслав Володин"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"valentina-matviyenko",</a:t>
            </a:r>
          </a:p>
          <a:p xmlns:a="http://schemas.openxmlformats.org/drawingml/2006/main">
            <a:r>
              <a:t>      "name": "Валентина Матвиенко"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"dmitry-peskov",</a:t>
            </a:r>
          </a:p>
          <a:p xmlns:a="http://schemas.openxmlformats.org/drawingml/2006/main">
            <a:r>
              <a:t>      "name": "Дмитрий Песков"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"elvira-nabiullina",</a:t>
            </a:r>
          </a:p>
          <a:p xmlns:a="http://schemas.openxmlformats.org/drawingml/2006/main">
            <a:r>
              <a:t>      "name": "Эльвира Набиуллина"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"anton-siluanov",</a:t>
            </a:r>
          </a:p>
          <a:p xmlns:a="http://schemas.openxmlformats.org/drawingml/2006/main">
            <a:r>
              <a:t>      "name": "Антон Силуанов"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"tatyana-golikova",</a:t>
            </a:r>
          </a:p>
          <a:p xmlns:a="http://schemas.openxmlformats.org/drawingml/2006/main">
            <a:r>
              <a:t>      "name": "Татьяна Голикова"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"gennady-zyuganov",</a:t>
            </a:r>
          </a:p>
          <a:p xmlns:a="http://schemas.openxmlformats.org/drawingml/2006/main">
            <a:r>
              <a:t>      "name": "Геннадий Зюганов"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"leonid-slutsky",</a:t>
            </a:r>
          </a:p>
          <a:p xmlns:a="http://schemas.openxmlformats.org/drawingml/2006/main">
            <a:r>
              <a:t>      "name": "Леонид Слуцкий"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"sergey-mironov",</a:t>
            </a:r>
          </a:p>
          <a:p xmlns:a="http://schemas.openxmlformats.org/drawingml/2006/main">
            <a:r>
              <a:t>      "name": "Сергей Миронов"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"alexey-nechayev",</a:t>
            </a:r>
          </a:p>
          <a:p xmlns:a="http://schemas.openxmlformats.org/drawingml/2006/main">
            <a:r>
              <a:t>      "name": "Алексей Нечаев"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"vladislav-davankov",</a:t>
            </a:r>
          </a:p>
          <a:p xmlns:a="http://schemas.openxmlformats.org/drawingml/2006/main">
            <a:r>
              <a:t>      "name": "Владислав Даванков"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"natalya-poklonskaya",</a:t>
            </a:r>
          </a:p>
          <a:p xmlns:a="http://schemas.openxmlformats.org/drawingml/2006/main">
            <a:r>
              <a:t>      "name": "Наталья Поклонская"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"elena-mizulina",</a:t>
            </a:r>
          </a:p>
          <a:p xmlns:a="http://schemas.openxmlformats.org/drawingml/2006/main">
            <a:r>
              <a:t>      "name": "Елена Мизулина"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"vitaly-milonov",</a:t>
            </a:r>
          </a:p>
          <a:p xmlns:a="http://schemas.openxmlformats.org/drawingml/2006/main">
            <a:r>
              <a:t>      "name": "Виталий Милонов"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"nina-ostanina",</a:t>
            </a:r>
          </a:p>
          <a:p xmlns:a="http://schemas.openxmlformats.org/drawingml/2006/main">
            <a:r>
              <a:t>      "name": "Нина Останина"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"valentina-tereshkova",</a:t>
            </a:r>
          </a:p>
          <a:p xmlns:a="http://schemas.openxmlformats.org/drawingml/2006/main">
            <a:r>
              <a:t>      "name": "Валентина Терешкова"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"alexander-khinshtein",</a:t>
            </a:r>
          </a:p>
          <a:p xmlns:a="http://schemas.openxmlformats.org/drawingml/2006/main">
            <a:r>
              <a:t>      "name": "Александр Хинштейн"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"alexey-pushkov",</a:t>
            </a:r>
          </a:p>
          <a:p xmlns:a="http://schemas.openxmlformats.org/drawingml/2006/main">
            <a:r>
              <a:t>      "name": "Алексей Пушков"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"konstantin-kosachev",</a:t>
            </a:r>
          </a:p>
          <a:p xmlns:a="http://schemas.openxmlformats.org/drawingml/2006/main">
            <a:r>
              <a:t>      "name": "Константин Косачёв"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"sergey-sobyanin",</a:t>
            </a:r>
          </a:p>
          <a:p xmlns:a="http://schemas.openxmlformats.org/drawingml/2006/main">
            <a:r>
              <a:t>      "name": "Сергей Собянин"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"alexander-beglov",</a:t>
            </a:r>
          </a:p>
          <a:p xmlns:a="http://schemas.openxmlformats.org/drawingml/2006/main">
            <a:r>
              <a:t>      "name": "Александр Беглов"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"rustam-minnikhanov",</a:t>
            </a:r>
          </a:p>
          <a:p xmlns:a="http://schemas.openxmlformats.org/drawingml/2006/main">
            <a:r>
              <a:t>      "name": "Рустам Минниханов"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"mikhail-degtyarev",</a:t>
            </a:r>
          </a:p>
          <a:p xmlns:a="http://schemas.openxmlformats.org/drawingml/2006/main">
            <a:r>
              <a:t>      "name": "Михаил Дегтярёв"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"sergey-levchenko",</a:t>
            </a:r>
          </a:p>
          <a:p xmlns:a="http://schemas.openxmlformats.org/drawingml/2006/main">
            <a:r>
              <a:t>      "name": "Сергей Левченко"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"sergey-aksyonov",</a:t>
            </a:r>
          </a:p>
          <a:p xmlns:a="http://schemas.openxmlformats.org/drawingml/2006/main">
            <a:r>
              <a:t>      "name": "Сергей Аксёнов"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"mikhail-razvozhayev",</a:t>
            </a:r>
          </a:p>
          <a:p xmlns:a="http://schemas.openxmlformats.org/drawingml/2006/main">
            <a:r>
              <a:t>      "name": "Михаил Развожаев"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"vyacheslav-gladkov",</a:t>
            </a:r>
          </a:p>
          <a:p xmlns:a="http://schemas.openxmlformats.org/drawingml/2006/main">
            <a:r>
              <a:t>      "name": "Вячеслав Гладков"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"andrey-chibis",</a:t>
            </a:r>
          </a:p>
          <a:p xmlns:a="http://schemas.openxmlformats.org/drawingml/2006/main">
            <a:r>
              <a:t>      "name": "Андрей Чибис"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"vadim-shumkov",</a:t>
            </a:r>
          </a:p>
          <a:p xmlns:a="http://schemas.openxmlformats.org/drawingml/2006/main">
            <a:r>
              <a:t>      "name": "Вадим Шумков"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"nikolay-platoshkin",</a:t>
            </a:r>
          </a:p>
          <a:p xmlns:a="http://schemas.openxmlformats.org/drawingml/2006/main">
            <a:r>
              <a:t>      "name": "Николай Платошкин"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"oksana-dmitriyeva",</a:t>
            </a:r>
          </a:p>
          <a:p xmlns:a="http://schemas.openxmlformats.org/drawingml/2006/main">
            <a:r>
              <a:t>      "name": "Оксана Дмитриева"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"representatives":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"mikhail-degtyarev",</a:t>
            </a:r>
          </a:p>
          <a:p xmlns:a="http://schemas.openxmlformats.org/drawingml/2006/main">
            <a:r>
              <a:t>      "name": "Михаил Дегтярёв",</a:t>
            </a:r>
          </a:p>
          <a:p xmlns:a="http://schemas.openxmlformats.org/drawingml/2006/main">
            <a:r>
              <a:t>      "distance": 0.21740712289556915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"nina-ostanina",</a:t>
            </a:r>
          </a:p>
          <a:p xmlns:a="http://schemas.openxmlformats.org/drawingml/2006/main">
            <a:r>
              <a:t>      "name": "Нина Останина",</a:t>
            </a:r>
          </a:p>
          <a:p xmlns:a="http://schemas.openxmlformats.org/drawingml/2006/main">
            <a:r>
              <a:t>      "distance": 0.28271327767939286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"sergey-aksyonov",</a:t>
            </a:r>
          </a:p>
          <a:p xmlns:a="http://schemas.openxmlformats.org/drawingml/2006/main">
            <a:r>
              <a:t>      "name": "Сергей Аксёнов",</a:t>
            </a:r>
          </a:p>
          <a:p xmlns:a="http://schemas.openxmlformats.org/drawingml/2006/main">
            <a:r>
              <a:t>      "distance": 0.2965515915234597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"leonid-slutsky",</a:t>
            </a:r>
          </a:p>
          <a:p xmlns:a="http://schemas.openxmlformats.org/drawingml/2006/main">
            <a:r>
              <a:t>      "name": "Леонид Слуцкий",</a:t>
            </a:r>
          </a:p>
          <a:p xmlns:a="http://schemas.openxmlformats.org/drawingml/2006/main">
            <a:r>
              <a:t>      "distance": 0.3339486180297306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"gennady-zyuganov",</a:t>
            </a:r>
          </a:p>
          <a:p xmlns:a="http://schemas.openxmlformats.org/drawingml/2006/main">
            <a:r>
              <a:t>      "name": "Геннадий Зюганов",</a:t>
            </a:r>
          </a:p>
          <a:p xmlns:a="http://schemas.openxmlformats.org/drawingml/2006/main">
            <a:r>
              <a:t>      "distance": 0.37252102558839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"factor_center": {</a:t>
            </a:r>
          </a:p>
          <a:p xmlns:a="http://schemas.openxmlformats.org/drawingml/2006/main">
            <a:r>
              <a:t>    "F1": -0.40369958354917845,</a:t>
            </a:r>
          </a:p>
          <a:p xmlns:a="http://schemas.openxmlformats.org/drawingml/2006/main">
            <a:r>
              <a:t>    "F2": 0.5394183938454499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"distinguishing_scales":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"oppositionality",</a:t>
            </a:r>
          </a:p>
          <a:p xmlns:a="http://schemas.openxmlformats.org/drawingml/2006/main">
            <a:r>
              <a:t>      "name": "Критика действующей власти — поддержка её курса",</a:t>
            </a:r>
          </a:p>
          <a:p xmlns:a="http://schemas.openxmlformats.org/drawingml/2006/main">
            <a:r>
              <a:t>      "positive": "Публичная критика действующей федеральной власти",</a:t>
            </a:r>
          </a:p>
          <a:p xmlns:a="http://schemas.openxmlformats.org/drawingml/2006/main">
            <a:r>
              <a:t>      "negative": "Публичная поддержка курса действующей федеральной власти",</a:t>
            </a:r>
          </a:p>
          <a:p xmlns:a="http://schemas.openxmlformats.org/drawingml/2006/main">
            <a:r>
              <a:t>      "difference": -0.6389090637011678,</a:t>
            </a:r>
          </a:p>
          <a:p xmlns:a="http://schemas.openxmlformats.org/drawingml/2006/main">
            <a:r>
              <a:t>      "group_mean": -2.7948717948717947,</a:t>
            </a:r>
          </a:p>
          <a:p xmlns:a="http://schemas.openxmlformats.org/drawingml/2006/main">
            <a:r>
              <a:t>      "overall_mean": -0.41935483870967744,</a:t>
            </a:r>
          </a:p>
          <a:p xmlns:a="http://schemas.openxmlformats.org/drawingml/2006/main">
            <a:r>
              <a:t>      "direction": "negative",</a:t>
            </a:r>
          </a:p>
          <a:p xmlns:a="http://schemas.openxmlformats.org/drawingml/2006/main">
            <a:r>
              <a:t>      "observed_group_count": 39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"antiwar-rhetoric",</a:t>
            </a:r>
          </a:p>
          <a:p xmlns:a="http://schemas.openxmlformats.org/drawingml/2006/main">
            <a:r>
              <a:t>      "name": "Прекращение военных действий — их продолжение",</a:t>
            </a:r>
          </a:p>
          <a:p xmlns:a="http://schemas.openxmlformats.org/drawingml/2006/main">
            <a:r>
              <a:t>      "positive": "Публичные призывы прекратить военные действия и перейти к миру",</a:t>
            </a:r>
          </a:p>
          <a:p xmlns:a="http://schemas.openxmlformats.org/drawingml/2006/main">
            <a:r>
              <a:t>      "negative": "Публичная поддержка продолжения военных действий ради заявленных целей",</a:t>
            </a:r>
          </a:p>
          <a:p xmlns:a="http://schemas.openxmlformats.org/drawingml/2006/main">
            <a:r>
              <a:t>      "difference": -0.5728720538613943,</a:t>
            </a:r>
          </a:p>
          <a:p xmlns:a="http://schemas.openxmlformats.org/drawingml/2006/main">
            <a:r>
              <a:t>      "group_mean": -2.2857142857142856,</a:t>
            </a:r>
          </a:p>
          <a:p xmlns:a="http://schemas.openxmlformats.org/drawingml/2006/main">
            <a:r>
              <a:t>      "overall_mean": -0.4318181818181818,</a:t>
            </a:r>
          </a:p>
          <a:p xmlns:a="http://schemas.openxmlformats.org/drawingml/2006/main">
            <a:r>
              <a:t>      "direction": "negative",</a:t>
            </a:r>
          </a:p>
          <a:p xmlns:a="http://schemas.openxmlformats.org/drawingml/2006/main">
            <a:r>
              <a:t>      "observed_group_count": 21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"parliamentary-institutional",</a:t>
            </a:r>
          </a:p>
          <a:p xmlns:a="http://schemas.openxmlformats.org/drawingml/2006/main">
            <a:r>
              <a:t>      "name": "Институциональная работа — протестное действие",</a:t>
            </a:r>
          </a:p>
          <a:p xmlns:a="http://schemas.openxmlformats.org/drawingml/2006/main">
            <a:r>
              <a:t>      "positive": "Изменения через действующие правовые и парламентские процедуры",</a:t>
            </a:r>
          </a:p>
          <a:p xmlns:a="http://schemas.openxmlformats.org/drawingml/2006/main">
            <a:r>
              <a:t>      "negative": "Изменения через внеинституциональное протестное давление",</a:t>
            </a:r>
          </a:p>
          <a:p xmlns:a="http://schemas.openxmlformats.org/drawingml/2006/main">
            <a:r>
              <a:t>      "difference": 0.5631123384331006,</a:t>
            </a:r>
          </a:p>
          <a:p xmlns:a="http://schemas.openxmlformats.org/drawingml/2006/main">
            <a:r>
              <a:t>      "group_mean": 3.236842105263158,</a:t>
            </a:r>
          </a:p>
          <a:p xmlns:a="http://schemas.openxmlformats.org/drawingml/2006/main">
            <a:r>
              <a:t>      "overall_mean": 1.7333333333333334,</a:t>
            </a:r>
          </a:p>
          <a:p xmlns:a="http://schemas.openxmlformats.org/drawingml/2006/main">
            <a:r>
              <a:t>      "direction": "positive",</a:t>
            </a:r>
          </a:p>
          <a:p xmlns:a="http://schemas.openxmlformats.org/drawingml/2006/main">
            <a:r>
              <a:t>      "observed_group_count": 38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"media-personalization",</a:t>
            </a:r>
          </a:p>
          <a:p xmlns:a="http://schemas.openxmlformats.org/drawingml/2006/main">
            <a:r>
              <a:t>      "name": "Персональный бренд — коллективный институт",</a:t>
            </a:r>
          </a:p>
          <a:p xmlns:a="http://schemas.openxmlformats.org/drawingml/2006/main">
            <a:r>
              <a:t>      "positive": "Личный бренд и обращение от собственного имени",</a:t>
            </a:r>
          </a:p>
          <a:p xmlns:a="http://schemas.openxmlformats.org/drawingml/2006/main">
            <a:r>
              <a:t>      "negative": "Коллективное представительство и институциональное авторство",</a:t>
            </a:r>
          </a:p>
          <a:p xmlns:a="http://schemas.openxmlformats.org/drawingml/2006/main">
            <a:r>
              <a:t>      "difference": -0.5149685642337077,</a:t>
            </a:r>
          </a:p>
          <a:p xmlns:a="http://schemas.openxmlformats.org/drawingml/2006/main">
            <a:r>
              <a:t>      "group_mean": -1.125,</a:t>
            </a:r>
          </a:p>
          <a:p xmlns:a="http://schemas.openxmlformats.org/drawingml/2006/main">
            <a:r>
              <a:t>      "overall_mean": -0.031746031746031744,</a:t>
            </a:r>
          </a:p>
          <a:p xmlns:a="http://schemas.openxmlformats.org/drawingml/2006/main">
            <a:r>
              <a:t>      "direction": "negative",</a:t>
            </a:r>
          </a:p>
          <a:p xmlns:a="http://schemas.openxmlformats.org/drawingml/2006/main">
            <a:r>
              <a:t>      "observed_group_count": 40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"party-leadership",</a:t>
            </a:r>
          </a:p>
          <a:p xmlns:a="http://schemas.openxmlformats.org/drawingml/2006/main">
            <a:r>
              <a:t>      "name": "Партийная организация — независимая инициатива",</a:t>
            </a:r>
          </a:p>
          <a:p xmlns:a="http://schemas.openxmlformats.org/drawingml/2006/main">
            <a:r>
              <a:t>      "positive": "Партия как основной инструмент политического действия",</a:t>
            </a:r>
          </a:p>
          <a:p xmlns:a="http://schemas.openxmlformats.org/drawingml/2006/main">
            <a:r>
              <a:t>      "negative": "Независимые от партий гражданские и персональные инициативы",</a:t>
            </a:r>
          </a:p>
          <a:p xmlns:a="http://schemas.openxmlformats.org/drawingml/2006/main">
            <a:r>
              <a:t>      "difference": 0.4795824036498695,</a:t>
            </a:r>
          </a:p>
          <a:p xmlns:a="http://schemas.openxmlformats.org/drawingml/2006/main">
            <a:r>
              <a:t>      "group_mean": 1.6333333333333333,</a:t>
            </a:r>
          </a:p>
          <a:p xmlns:a="http://schemas.openxmlformats.org/drawingml/2006/main">
            <a:r>
              <a:t>      "overall_mean": 0.4528301886792453,</a:t>
            </a:r>
          </a:p>
          <a:p xmlns:a="http://schemas.openxmlformats.org/drawingml/2006/main">
            <a:r>
              <a:t>      "direction": "positive",</a:t>
            </a:r>
          </a:p>
          <a:p xmlns:a="http://schemas.openxmlformats.org/drawingml/2006/main">
            <a:r>
              <a:t>      "observed_group_count": 30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"antiwesternism",</a:t>
            </a:r>
          </a:p>
          <a:p xmlns:a="http://schemas.openxmlformats.org/drawingml/2006/main">
            <a:r>
              <a:t>      "name": "Противостояние Западу — сближение с Западом",</a:t>
            </a:r>
          </a:p>
          <a:p xmlns:a="http://schemas.openxmlformats.org/drawingml/2006/main">
            <a:r>
              <a:t>      "positive": "Противостояние западным государствам и институтам",</a:t>
            </a:r>
          </a:p>
          <a:p xmlns:a="http://schemas.openxmlformats.org/drawingml/2006/main">
            <a:r>
              <a:t>      "negative": "Сотрудничество и политическое сближение с западными государствами",</a:t>
            </a:r>
          </a:p>
          <a:p xmlns:a="http://schemas.openxmlformats.org/drawingml/2006/main">
            <a:r>
              <a:t>      "difference": 0.4466172862890043,</a:t>
            </a:r>
          </a:p>
          <a:p xmlns:a="http://schemas.openxmlformats.org/drawingml/2006/main">
            <a:r>
              <a:t>      "group_mean": 2.0689655172413794,</a:t>
            </a:r>
          </a:p>
          <a:p xmlns:a="http://schemas.openxmlformats.org/drawingml/2006/main">
            <a:r>
              <a:t>      "overall_mean": 0.9803921568627451,</a:t>
            </a:r>
          </a:p>
          <a:p xmlns:a="http://schemas.openxmlformats.org/drawingml/2006/main">
            <a:r>
              <a:t>      "direction": "positive",</a:t>
            </a:r>
          </a:p>
          <a:p xmlns:a="http://schemas.openxmlformats.org/drawingml/2006/main">
            <a:r>
              <a:t>      "observed_group_count": 29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"interpretation": "Общность этой группы определяется устойчивой поддержкой действующей федеральной власти, акцентом на продолжении военных действий, институциональной работой через парламентские процедуры и партийной организацией. Для большинства представителей характерна коллективная, а не персонализированная публичность, а также выраженная антизападная риторика и поддержка вертикали власти. Типичные представители — руководители федеральных органов, парламентских партий и региональные лидеры, чьи публичные образы строятся на лояльности к центру, партийной дисциплине и институциональной легитимности.\n\nВнутри группы возможны различия по степени выраженности отдельных шкал (например, между экономическими технократами и идеологическими партийными лидерами), однако объединяет их именно сочетание институциональной стратегии, поддержки курса и коллективного авторства. Пограничные случаи встречаются среди фигур с частичным акцентом на региональной идентичности или умеренной критикой, но в целом группа отличается от других устойчивым профилем поддержки существующего порядка.",</a:t>
            </a:r>
          </a:p>
          <a:p xmlns:a="http://schemas.openxmlformats.org/drawingml/2006/main">
            <a:r>
              <a:t>  "boundary_objects": [</a:t>
            </a:r>
          </a:p>
          <a:p xmlns:a="http://schemas.openxmlformats.org/drawingml/2006/main">
            <a:r>
              <a:t>    "nikolay-patrushev",</a:t>
            </a:r>
          </a:p>
          <a:p xmlns:a="http://schemas.openxmlformats.org/drawingml/2006/main">
            <a:r>
              <a:t>    "nikolay-platoshkin",</a:t>
            </a:r>
          </a:p>
          <a:p xmlns:a="http://schemas.openxmlformats.org/drawingml/2006/main">
            <a:r>
              <a:t>    "oksana-dmitriyeva"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"stability": {</a:t>
            </a:r>
          </a:p>
          <a:p xmlns:a="http://schemas.openxmlformats.org/drawingml/2006/main">
            <a:r>
              <a:t>    "median_jaccard": 1,</a:t>
            </a:r>
          </a:p>
          <a:p xmlns:a="http://schemas.openxmlformats.org/drawingml/2006/main">
            <a:r>
              <a:t>    "conditional_mean_ari": 0.9135227370355609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"numeric_label": "Группа 1",</a:t>
            </a:r>
          </a:p>
          <a:p xmlns:a="http://schemas.openxmlformats.org/drawingml/2006/main">
            <a:r>
              <a:t>  "label": "Институциональная поддержка курса и партийная централизация"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Числа: metadata.json, scores.csv, loadings.csv и утверждённая матрица оценок.</a:t>
            </a:r>
          </a:p>
          <a:p xmlns:a="http://schemas.openxmlformats.org/drawingml/2006/main">
            <a:r>
              <a:t>Изучаемое пространство: Публичный политический образ российских политиков и иных заметных политических акторов, включая деятелей за рубежом, активных хотя бы в части периода. Не рейтинг популярности..</a:t>
            </a:r>
          </a:p>
          <a:p xmlns:a="http://schemas.openxmlformats.org/drawingml/2006/main">
            <a:r>
              <a:t>Оценщик: llm_exploratory.</a:t>
            </a:r>
          </a:p>
          <a:p xmlns:a="http://schemas.openxmlformats.org/drawingml/2006/main">
            <a:r>
              <a:t>Исходные URL:</a:t>
            </a:r>
          </a:p>
          <a:p xmlns:a="http://schemas.openxmlformats.org/drawingml/2006/main">
            <a:r>
              <a:t>https://kremlin.ru/structure/president</a:t>
            </a:r>
          </a:p>
          <a:p xmlns:a="http://schemas.openxmlformats.org/drawingml/2006/main">
            <a:r>
              <a:t>http://www.special.kremlin.ru/events/president/transcripts/67843</a:t>
            </a:r>
          </a:p>
          <a:p xmlns:a="http://schemas.openxmlformats.org/drawingml/2006/main">
            <a:r>
              <a:t>http://en.kremlin.ru/events/president/news/70315</a:t>
            </a:r>
          </a:p>
          <a:p xmlns:a="http://schemas.openxmlformats.org/drawingml/2006/main">
            <a:r>
              <a:t>http://special.kremlin.ru/events/president/transcripts/70565</a:t>
            </a:r>
          </a:p>
          <a:p xmlns:a="http://schemas.openxmlformats.org/drawingml/2006/main">
            <a:r>
              <a:t>http://special.kremlin.ru/events/president/transcripts/72994</a:t>
            </a:r>
          </a:p>
          <a:p xmlns:a="http://schemas.openxmlformats.org/drawingml/2006/main">
            <a:r>
              <a:t>http://kremlin.ru/events/president/news/73585</a:t>
            </a:r>
          </a:p>
          <a:p xmlns:a="http://schemas.openxmlformats.org/drawingml/2006/main">
            <a:r>
              <a:t>http://special.kremlin.ru/events/president/transcripts/75762</a:t>
            </a:r>
          </a:p>
          <a:p xmlns:a="http://schemas.openxmlformats.org/drawingml/2006/main">
            <a:r>
              <a:t>http://www.special.kremlin.ru/events/president/transcripts/76899</a:t>
            </a:r>
          </a:p>
          <a:p xmlns:a="http://schemas.openxmlformats.org/drawingml/2006/main">
            <a:r>
              <a:t>http://special.kremlin.ru/events/president/transcripts/80017</a:t>
            </a:r>
          </a:p>
          <a:p xmlns:a="http://schemas.openxmlformats.org/drawingml/2006/main">
            <a:r>
              <a:t>http://www.special.kremlin.ru/events/president/transcripts/72084</a:t>
            </a:r>
          </a:p>
          <a:p xmlns:a="http://schemas.openxmlformats.org/drawingml/2006/main">
            <a:r>
              <a:t>http://www.special.kremlin.ru/events/president/transcripts/80172</a:t>
            </a:r>
          </a:p>
          <a:p xmlns:a="http://schemas.openxmlformats.org/drawingml/2006/main">
            <a:r>
              <a:t>https://www.diva-portal.org/smash/get/diva2:2035197/FULLTEXT01.pdf</a:t>
            </a:r>
          </a:p>
          <a:p xmlns:a="http://schemas.openxmlformats.org/drawingml/2006/main">
            <a:r>
              <a:t>https://www.reuters.com/world/what-know-about-russias-upcoming-parliamentary-election-2026-09-15/</a:t>
            </a:r>
          </a:p>
          <a:p xmlns:a="http://schemas.openxmlformats.org/drawingml/2006/main">
            <a:r>
              <a:t>https://www.reuters.com/world/europe/how-putin-may-leverage-predictable-outcome-russias-elections-2026-09-18/</a:t>
            </a:r>
          </a:p>
          <a:p xmlns:a="http://schemas.openxmlformats.org/drawingml/2006/main">
            <a:r>
              <a:t>https://ru.wikipedia.org/wiki/Медведев,_Дмитрий_Анатольевич</a:t>
            </a:r>
          </a:p>
          <a:p xmlns:a="http://schemas.openxmlformats.org/drawingml/2006/main">
            <a:r>
              <a:t>https://tass.ru/ekonomika/3941450</a:t>
            </a:r>
          </a:p>
          <a:p xmlns:a="http://schemas.openxmlformats.org/drawingml/2006/main">
            <a:r>
              <a:t>http://archive.government.ru/docs/21653/print/</a:t>
            </a:r>
          </a:p>
          <a:p xmlns:a="http://schemas.openxmlformats.org/drawingml/2006/main">
            <a:r>
              <a:t>https://netfreedom.org.ua/ru/dmytro-anatoliiovych-medvediev-biohrafiia-posady-i-sanktsii/</a:t>
            </a:r>
          </a:p>
          <a:p xmlns:a="http://schemas.openxmlformats.org/drawingml/2006/main">
            <a:r>
              <a:t>https://verstka.media/czeli-svo-kak-kreml-menyal-ih-na-protyazhenii-tryoh-let-vojny</a:t>
            </a:r>
          </a:p>
          <a:p xmlns:a="http://schemas.openxmlformats.org/drawingml/2006/main">
            <a:r>
              <a:t>http://www.scrf.gov.ru/news/allnews/3820/</a:t>
            </a:r>
          </a:p>
          <a:p xmlns:a="http://schemas.openxmlformats.org/drawingml/2006/main">
            <a:r>
              <a:t>http://scrf.gov.ru/news/allnews/3837/</a:t>
            </a:r>
          </a:p>
          <a:p xmlns:a="http://schemas.openxmlformats.org/drawingml/2006/main">
            <a:r>
              <a:t>https://baike.baidu.com/ru/item/%D0%94%D0%BC%D0%B8%D1%82%D1%80%D0%B8%D0%B9%20%D0%90%D0%BD%D0%B0%D1%82%D0%BE%D0%BB%D1%8C%D0%B5%D0%B2%D0%B8%D1%87%20%D0%9C%D0%B5%D0%B4%D0%B2%D0%B5%D0%B4%D0%B5%D0%B2/3254451</a:t>
            </a:r>
          </a:p>
          <a:p xmlns:a="http://schemas.openxmlformats.org/drawingml/2006/main">
            <a:r>
              <a:t>https://tass.ru/politika/5889577</a:t>
            </a:r>
          </a:p>
          <a:p xmlns:a="http://schemas.openxmlformats.org/drawingml/2006/main">
            <a:r>
              <a:t>https://meduza.io/feature/2023/06/26/chto-proizoshlo-s-dmitriem-medvedevym</a:t>
            </a:r>
          </a:p>
          <a:p xmlns:a="http://schemas.openxmlformats.org/drawingml/2006/main">
            <a:r>
              <a:t>https://www.bbc.com/russian/articles/c6evw7d22lv0o</a:t>
            </a:r>
          </a:p>
          <a:p xmlns:a="http://schemas.openxmlformats.org/drawingml/2006/main">
            <a:r>
              <a:t>https://er.ru/activity/news/dmitrij-medvedev-edinaya-rossiya-ne-dopustit-razrusheniya-cennostnyh-osnov-strany</a:t>
            </a:r>
          </a:p>
          <a:p xmlns:a="http://schemas.openxmlformats.org/drawingml/2006/main">
            <a:r>
              <a:t>https://en.wikipedia.org/wiki/Media_freedom_in_Russia</a:t>
            </a:r>
          </a:p>
          <a:p xmlns:a="http://schemas.openxmlformats.org/drawingml/2006/main">
            <a:r>
              <a:t>https://government.ru/gov/persons/151/travel/?area=KHA</a:t>
            </a:r>
          </a:p>
          <a:p xmlns:a="http://schemas.openxmlformats.org/drawingml/2006/main">
            <a:r>
              <a:t>http://government.ru/gov/persons/151/biography/</a:t>
            </a:r>
          </a:p>
          <a:p xmlns:a="http://schemas.openxmlformats.org/drawingml/2006/main">
            <a:r>
              <a:t>https://www.reuters.com/world/europe/who-is-russias-mikhail-mishustin-2024-05-10/</a:t>
            </a:r>
          </a:p>
          <a:p xmlns:a="http://schemas.openxmlformats.org/drawingml/2006/main">
            <a:r>
              <a:t>https://www.kommersant.ru/doc/4220798</a:t>
            </a:r>
          </a:p>
          <a:p xmlns:a="http://schemas.openxmlformats.org/drawingml/2006/main">
            <a:r>
              <a:t>https://www.vedomosti.ru/politics/galleries/2026/03/03/1179718-nalogi-pod-kontrolem</a:t>
            </a:r>
          </a:p>
          <a:p xmlns:a="http://schemas.openxmlformats.org/drawingml/2006/main">
            <a:r>
              <a:t>http://government.ru/gov/persons/151/travel/?page=5</a:t>
            </a:r>
          </a:p>
          <a:p xmlns:a="http://schemas.openxmlformats.org/drawingml/2006/main">
            <a:r>
              <a:t>http://government.ru/news/46476/</a:t>
            </a:r>
          </a:p>
          <a:p xmlns:a="http://schemas.openxmlformats.org/drawingml/2006/main">
            <a:r>
              <a:t>http://government.ru/news/52063/</a:t>
            </a:r>
          </a:p>
          <a:p xmlns:a="http://schemas.openxmlformats.org/drawingml/2006/main">
            <a:r>
              <a:t>http://government.ru/news/52851/</a:t>
            </a:r>
          </a:p>
          <a:p xmlns:a="http://schemas.openxmlformats.org/drawingml/2006/main">
            <a:r>
              <a:t>https://nangs.org/news/society/kabmin-privlek-otdelnye-gosorgany-k-ukrepleniyu-traditsionnykh-tsennostej</a:t>
            </a:r>
          </a:p>
          <a:p xmlns:a="http://schemas.openxmlformats.org/drawingml/2006/main">
            <a:r>
              <a:t>http://government.ru/news/57315/</a:t>
            </a:r>
          </a:p>
          <a:p xmlns:a="http://schemas.openxmlformats.org/drawingml/2006/main">
            <a:r>
              <a:t>https://www.rbc.ru/person/617bf30d9a7947f92ee2d266</a:t>
            </a:r>
          </a:p>
          <a:p xmlns:a="http://schemas.openxmlformats.org/drawingml/2006/main">
            <a:r>
              <a:t>https://mid.ru/ru/press_service/video/view/1848395/</a:t>
            </a:r>
          </a:p>
          <a:p xmlns:a="http://schemas.openxmlformats.org/drawingml/2006/main">
            <a:r>
              <a:t>https://mid.ru/ru/foreign_policy/international_organizations/1932076/</a:t>
            </a:r>
          </a:p>
          <a:p xmlns:a="http://schemas.openxmlformats.org/drawingml/2006/main">
            <a:r>
              <a:t>https://mid.ru/ru/press_service/minister_speeches/1991476/</a:t>
            </a:r>
          </a:p>
          <a:p xmlns:a="http://schemas.openxmlformats.org/drawingml/2006/main">
            <a:r>
              <a:t>https://www.mid.ru/ru/press_service/vizity-ministra/1922112/</a:t>
            </a:r>
          </a:p>
          <a:p xmlns:a="http://schemas.openxmlformats.org/drawingml/2006/main">
            <a:r>
              <a:t>https://www.mid.ru/ru/foreign_policy/news/1927568/</a:t>
            </a:r>
          </a:p>
          <a:p xmlns:a="http://schemas.openxmlformats.org/drawingml/2006/main">
            <a:r>
              <a:t>https://mid.ru/ru/foreign_policy/news/1912973/</a:t>
            </a:r>
          </a:p>
          <a:p xmlns:a="http://schemas.openxmlformats.org/drawingml/2006/main">
            <a:r>
              <a:t>https://www.reuters.com/world/europe/russias-lavrov-says-moscow-committed-us-proposals-peace-rejects-europes-2026-06-15/</a:t>
            </a:r>
          </a:p>
          <a:p xmlns:a="http://schemas.openxmlformats.org/drawingml/2006/main">
            <a:r>
              <a:t>https://www.reuters.com/world/lavrov-says-russia-is-ready-resume-talks-with-ukraine-point-where-they-left-off-2026-06-23/</a:t>
            </a:r>
          </a:p>
          <a:p xmlns:a="http://schemas.openxmlformats.org/drawingml/2006/main">
            <a:r>
              <a:t>https://mid.ru/ru/press_service/video/view/1799184/</a:t>
            </a:r>
          </a:p>
          <a:p xmlns:a="http://schemas.openxmlformats.org/drawingml/2006/main">
            <a:r>
              <a:t>https://en.wikipedia.org/wiki/Sergey_Lavrov</a:t>
            </a:r>
          </a:p>
          <a:p xmlns:a="http://schemas.openxmlformats.org/drawingml/2006/main">
            <a:r>
              <a:t>https://www.garant.ru/products/ipo/prime/doc/70627660/</a:t>
            </a:r>
          </a:p>
          <a:p xmlns:a="http://schemas.openxmlformats.org/drawingml/2006/main">
            <a:r>
              <a:t>https://www.rbc.ru/person/617fc0679a794761d6170b80</a:t>
            </a:r>
          </a:p>
          <a:p xmlns:a="http://schemas.openxmlformats.org/drawingml/2006/main">
            <a:r>
              <a:t>http://www.kremlin.ru/acts/bank/50544</a:t>
            </a:r>
          </a:p>
          <a:p xmlns:a="http://schemas.openxmlformats.org/drawingml/2006/main">
            <a:r>
              <a:t>http://special.kremlin.ru/events/president/news/74019</a:t>
            </a:r>
          </a:p>
          <a:p xmlns:a="http://schemas.openxmlformats.org/drawingml/2006/main">
            <a:r>
              <a:t>https://www.interfax.ru/russia/960081</a:t>
            </a:r>
          </a:p>
          <a:p xmlns:a="http://schemas.openxmlformats.org/drawingml/2006/main">
            <a:r>
              <a:t>https://www.rbc.ru/politics/21/09/2022/632ab17c9a794781413c8582</a:t>
            </a:r>
          </a:p>
          <a:p xmlns:a="http://schemas.openxmlformats.org/drawingml/2006/main">
            <a:r>
              <a:t>https://www.bbc.com/russian/articles/c72p0jq04gjo</a:t>
            </a:r>
          </a:p>
          <a:p xmlns:a="http://schemas.openxmlformats.org/drawingml/2006/main">
            <a:r>
              <a:t>https://meduza.io/feature/2024/05/12/putin-uvolil-shoygu-s-posta-ministra-oborony-i-perevel-v-sovbez</a:t>
            </a:r>
          </a:p>
          <a:p xmlns:a="http://schemas.openxmlformats.org/drawingml/2006/main">
            <a:r>
              <a:t>https://paodkb.org/events/sergey-shoygu-naznachen-sekretarem-soveta-bezopasnosti-rf</a:t>
            </a:r>
          </a:p>
          <a:p xmlns:a="http://schemas.openxmlformats.org/drawingml/2006/main">
            <a:r>
              <a:t>https://base.garant.ru/409005084/</a:t>
            </a:r>
          </a:p>
          <a:p xmlns:a="http://schemas.openxmlformats.org/drawingml/2006/main">
            <a:r>
              <a:t>http://special.kremlin.ru/supplement/6345</a:t>
            </a:r>
          </a:p>
          <a:p xmlns:a="http://schemas.openxmlformats.org/drawingml/2006/main">
            <a:r>
              <a:t>http://en.kremlin.ru/supplement/6345</a:t>
            </a:r>
          </a:p>
          <a:p xmlns:a="http://schemas.openxmlformats.org/drawingml/2006/main">
            <a:r>
              <a:t>https://www.kp.ru/daily/27656.5/5040576/</a:t>
            </a:r>
          </a:p>
          <a:p xmlns:a="http://schemas.openxmlformats.org/drawingml/2006/main">
            <a:r>
              <a:t>https://www.fontanka.ru/2025/06/10/75574928/</a:t>
            </a:r>
          </a:p>
          <a:p xmlns:a="http://schemas.openxmlformats.org/drawingml/2006/main">
            <a:r>
              <a:t>https://tass.ru/politika/25506737</a:t>
            </a:r>
          </a:p>
          <a:p xmlns:a="http://schemas.openxmlformats.org/drawingml/2006/main">
            <a:r>
              <a:t>https://www.rbc.ru/person/6181419c9a7947df128a22f7</a:t>
            </a:r>
          </a:p>
          <a:p xmlns:a="http://schemas.openxmlformats.org/drawingml/2006/main">
            <a:r>
              <a:t>https://www.rbc.ru/economics/31/05/2021/60b3de5d9a7947f2883f7aa0</a:t>
            </a:r>
          </a:p>
          <a:p xmlns:a="http://schemas.openxmlformats.org/drawingml/2006/main">
            <a:r>
              <a:t>https://www.rbc.ru/politics/13/05/2024/6641109a9a7947ab8eebcf7f</a:t>
            </a:r>
          </a:p>
          <a:p xmlns:a="http://schemas.openxmlformats.org/drawingml/2006/main">
            <a:r>
              <a:t>https://www.rbc.ru/business/13/06/2023/6482d3389a79473805ee8978</a:t>
            </a:r>
          </a:p>
          <a:p xmlns:a="http://schemas.openxmlformats.org/drawingml/2006/main">
            <a:r>
              <a:t>https://thebell.io/kuda-vedet-ekonomiku-andrej-belousov-zagadki-dmitriya-medvedeva-i-sposoby-perezhit-sanktsii</a:t>
            </a:r>
          </a:p>
          <a:p xmlns:a="http://schemas.openxmlformats.org/drawingml/2006/main">
            <a:r>
              <a:t>https://72.ru/text/politics/2024/05/14/73575386/</a:t>
            </a:r>
          </a:p>
          <a:p xmlns:a="http://schemas.openxmlformats.org/drawingml/2006/main">
            <a:r>
              <a:t>https://tass.ru/armiya-i-opk/22683223</a:t>
            </a:r>
          </a:p>
          <a:p xmlns:a="http://schemas.openxmlformats.org/drawingml/2006/main">
            <a:r>
              <a:t>https://www.rbc.ru/society/12/12/2017/5a2f9b5a9a79473649fe0042</a:t>
            </a:r>
          </a:p>
          <a:p xmlns:a="http://schemas.openxmlformats.org/drawingml/2006/main">
            <a:r>
              <a:t>https://www.istorex.org/post/russia-december-2024-february-2025</a:t>
            </a:r>
          </a:p>
          <a:p xmlns:a="http://schemas.openxmlformats.org/drawingml/2006/main">
            <a:r>
              <a:t>https://rosinform.ru/news/andrej-belousov-osoboe-znachenie-pridayom-obespecheniyu-voennoj-bezopasnosti-soyuznogo-gosudarstva</a:t>
            </a:r>
          </a:p>
          <a:p xmlns:a="http://schemas.openxmlformats.org/drawingml/2006/main">
            <a:r>
              <a:t>https://xn--b1apnk.xn--p1ai/tpost/nsk7vo4xh1-vstrecha-s-ministrom-oboroni-rossii-i-os</a:t>
            </a:r>
          </a:p>
          <a:p xmlns:a="http://schemas.openxmlformats.org/drawingml/2006/main">
            <a:r>
              <a:t>https://www.rbc.ru/person/62d120d89a79475f0ddd8b5e</a:t>
            </a:r>
          </a:p>
          <a:p xmlns:a="http://schemas.openxmlformats.org/drawingml/2006/main">
            <a:r>
              <a:t>http://scrf.gov.ru/news/allnews/2148/</a:t>
            </a:r>
          </a:p>
          <a:p xmlns:a="http://schemas.openxmlformats.org/drawingml/2006/main">
            <a:r>
              <a:t>https://www.rbc.ru/politics/14/05/2024/6643287b9a7947a8f0b8ba78</a:t>
            </a:r>
          </a:p>
          <a:p xmlns:a="http://schemas.openxmlformats.org/drawingml/2006/main">
            <a:r>
              <a:t>https://tass.ru/info/20789699</a:t>
            </a:r>
          </a:p>
          <a:p xmlns:a="http://schemas.openxmlformats.org/drawingml/2006/main">
            <a:r>
              <a:t>https://marine.org.ru/structure/person/56/</a:t>
            </a:r>
          </a:p>
          <a:p xmlns:a="http://schemas.openxmlformats.org/drawingml/2006/main">
            <a:r>
              <a:t>https://marine.org.ru/publication/smi/16108/</a:t>
            </a:r>
          </a:p>
          <a:p xmlns:a="http://schemas.openxmlformats.org/drawingml/2006/main">
            <a:r>
              <a:t>https://www.svoboda.org/a/30676123.html</a:t>
            </a:r>
          </a:p>
          <a:p xmlns:a="http://schemas.openxmlformats.org/drawingml/2006/main">
            <a:r>
              <a:t>https://aif.ru/society/safety/kuklovodstvo_k_deystviyu_nikolay_patrushev_o_metodah_cvetnyh_revolyuciy</a:t>
            </a:r>
          </a:p>
          <a:p xmlns:a="http://schemas.openxmlformats.org/drawingml/2006/main">
            <a:r>
              <a:t>https://vkrizis.info/vlast/czennosti-razmyvaniya/</a:t>
            </a:r>
          </a:p>
          <a:p xmlns:a="http://schemas.openxmlformats.org/drawingml/2006/main">
            <a:r>
              <a:t>https://infranomica.ru/2026/05/19/selskoe-hozyajstvo-est-rezultat-budet-i-pishha/</a:t>
            </a:r>
          </a:p>
          <a:p xmlns:a="http://schemas.openxmlformats.org/drawingml/2006/main">
            <a:r>
              <a:t>https://www.rbc.ru/person/660400989a79471b36dbb514</a:t>
            </a:r>
          </a:p>
          <a:p xmlns:a="http://schemas.openxmlformats.org/drawingml/2006/main">
            <a:r>
              <a:t>http://special.kremlin.ru/catalog/persons/100/events</a:t>
            </a:r>
          </a:p>
          <a:p xmlns:a="http://schemas.openxmlformats.org/drawingml/2006/main">
            <a:r>
              <a:t>https://nac.gov.ru/view/eb008ff4-1608-4b47-b2a9-3d604c1833c2</a:t>
            </a:r>
          </a:p>
          <a:p xmlns:a="http://schemas.openxmlformats.org/drawingml/2006/main">
            <a:r>
              <a:t>http://pfo.gov.ru/press/events/113336/</a:t>
            </a:r>
          </a:p>
          <a:p xmlns:a="http://schemas.openxmlformats.org/drawingml/2006/main">
            <a:r>
              <a:t>https://www.opensanctions.org/entities/Q516824/</a:t>
            </a:r>
          </a:p>
          <a:p xmlns:a="http://schemas.openxmlformats.org/drawingml/2006/main">
            <a:r>
              <a:t>https://www.agents.media/ssha-poprobuyut-vozobnovit-peregovory-o-mire-v-ukraine-cherez-glavu-fsb-che-vedomstvo-kak-schitaetsya-svoimi-dokladami-podtolknulo-putina-k-vojne/</a:t>
            </a:r>
          </a:p>
          <a:p xmlns:a="http://schemas.openxmlformats.org/drawingml/2006/main">
            <a:r>
              <a:t>https://letters.kremlin.ru/news/receptions/by-section/assignments/by-person/260</a:t>
            </a:r>
          </a:p>
          <a:p xmlns:a="http://schemas.openxmlformats.org/drawingml/2006/main">
            <a:r>
              <a:t>https://www.kommersant.ru/doc/3612580</a:t>
            </a:r>
          </a:p>
          <a:p xmlns:a="http://schemas.openxmlformats.org/drawingml/2006/main">
            <a:r>
              <a:t>https://fbk.info/ru/investigations/kirienko-kholyi-putina</a:t>
            </a:r>
          </a:p>
          <a:p xmlns:a="http://schemas.openxmlformats.org/drawingml/2006/main">
            <a:r>
              <a:t>https://utro02.tv/2022/05/24/kolebaniya-kirienok/</a:t>
            </a:r>
          </a:p>
          <a:p xmlns:a="http://schemas.openxmlformats.org/drawingml/2006/main">
            <a:r>
              <a:t>https://meduza.io/feature/2023/12/19/on-peresidel-v-svoem-kresle-v-kremle-i-pravitelstve-obsuzhdayut-chto-sergey-kirienko-mozhet-lishitsya-dolzhnosti-v-ap-posle-vyborov-prezidenta</a:t>
            </a:r>
          </a:p>
          <a:p xmlns:a="http://schemas.openxmlformats.org/drawingml/2006/main">
            <a:r>
              <a:t>https://verstka.media/kak-rossiya-prodvigaet-svoyu-molodezhnuyu-politiku-na-okkupirovannyh-territoriyah</a:t>
            </a:r>
          </a:p>
          <a:p xmlns:a="http://schemas.openxmlformats.org/drawingml/2006/main">
            <a:r>
              <a:t>https://dnrnews.ru/society/2025/09/04/1167117.html</a:t>
            </a:r>
          </a:p>
          <a:p xmlns:a="http://schemas.openxmlformats.org/drawingml/2006/main">
            <a:r>
              <a:t>https://www.tadviser.ru/index.php/%D0%9F%D0%B5%D1%80%D1%81%D0%BE%D0%BD%D0%B0:%D0%9A%D0%B8%D1%80%D0%B8%D0%B5%D0%BD%D0%BA%D0%BE_%D0%A1%D0%B5%D1%80%D0%B3%D0%B5%D0%B9_%D0%92%D0%BB%D0%B0%D0%B4%D0%B8%D0%BB%D0%B5%D0%BD%D0%BE%D0%B2%D0%B8%D1%87</a:t>
            </a:r>
          </a:p>
          <a:p xmlns:a="http://schemas.openxmlformats.org/drawingml/2006/main">
            <a:r>
              <a:t>https://tass.ru/politika/18225741</a:t>
            </a:r>
          </a:p>
          <a:p xmlns:a="http://schemas.openxmlformats.org/drawingml/2006/main">
            <a:r>
              <a:t>https://www.kommersant.ru/doc/6187168</a:t>
            </a:r>
          </a:p>
          <a:p xmlns:a="http://schemas.openxmlformats.org/drawingml/2006/main">
            <a:r>
              <a:t>https://duma.gov.ru/news/63383/</a:t>
            </a:r>
          </a:p>
          <a:p xmlns:a="http://schemas.openxmlformats.org/drawingml/2006/main">
            <a:r>
              <a:t>http://duma.gov.ru/en/duma/persons/99100829/news/</a:t>
            </a:r>
          </a:p>
          <a:p xmlns:a="http://schemas.openxmlformats.org/drawingml/2006/main">
            <a:r>
              <a:t>http://duma.gov.ru/en/news/62248/</a:t>
            </a:r>
          </a:p>
          <a:p xmlns:a="http://schemas.openxmlformats.org/drawingml/2006/main">
            <a:r>
              <a:t>http://duma.gov.ru/en/news/61352/</a:t>
            </a:r>
          </a:p>
          <a:p xmlns:a="http://schemas.openxmlformats.org/drawingml/2006/main">
            <a:r>
              <a:t>http://duma.gov.ru/en/news/64178/</a:t>
            </a:r>
          </a:p>
          <a:p xmlns:a="http://schemas.openxmlformats.org/drawingml/2006/main">
            <a:r>
              <a:t>http://duma.gov.ru/en/news/64216</a:t>
            </a:r>
          </a:p>
          <a:p xmlns:a="http://schemas.openxmlformats.org/drawingml/2006/main">
            <a:r>
              <a:t>http://duma.gov.ru/en/news/64239</a:t>
            </a:r>
          </a:p>
          <a:p xmlns:a="http://schemas.openxmlformats.org/drawingml/2006/main">
            <a:r>
              <a:t>https://en.wikipedia.org/wiki/Vyacheslav_Volodin</a:t>
            </a:r>
          </a:p>
          <a:p xmlns:a="http://schemas.openxmlformats.org/drawingml/2006/main">
            <a:r>
              <a:t>http://duma.gov.ru/news/56060/</a:t>
            </a:r>
          </a:p>
          <a:p xmlns:a="http://schemas.openxmlformats.org/drawingml/2006/main">
            <a:r>
              <a:t>http://duma.gov.ru/news/60448/</a:t>
            </a:r>
          </a:p>
          <a:p xmlns:a="http://schemas.openxmlformats.org/drawingml/2006/main">
            <a:r>
              <a:t>http://duma.gov.ru/news/61362/</a:t>
            </a:r>
          </a:p>
          <a:p xmlns:a="http://schemas.openxmlformats.org/drawingml/2006/main">
            <a:r>
              <a:t>http://duma.gov.ru/news/61384/</a:t>
            </a:r>
          </a:p>
          <a:p xmlns:a="http://schemas.openxmlformats.org/drawingml/2006/main">
            <a:r>
              <a:t>http://duma.gov.ru/news/61874/</a:t>
            </a:r>
          </a:p>
          <a:p xmlns:a="http://schemas.openxmlformats.org/drawingml/2006/main">
            <a:r>
              <a:t>http://duma.gov.ru/news/62022/</a:t>
            </a:r>
          </a:p>
          <a:p xmlns:a="http://schemas.openxmlformats.org/drawingml/2006/main">
            <a:r>
              <a:t>http://duma.gov.ru/news/63772/</a:t>
            </a:r>
          </a:p>
          <a:p xmlns:a="http://schemas.openxmlformats.org/drawingml/2006/main">
            <a:r>
              <a:t>https://council.gov.ru/events/news/160466/</a:t>
            </a:r>
          </a:p>
          <a:p xmlns:a="http://schemas.openxmlformats.org/drawingml/2006/main">
            <a:r>
              <a:t>http://council.gov.ru/structure/persons/257/</a:t>
            </a:r>
          </a:p>
          <a:p xmlns:a="http://schemas.openxmlformats.org/drawingml/2006/main">
            <a:r>
              <a:t>https://interaffairs.ru/news/show/16199</a:t>
            </a:r>
          </a:p>
          <a:p xmlns:a="http://schemas.openxmlformats.org/drawingml/2006/main">
            <a:r>
              <a:t>https://www.rbc.ru/person/617fb5ef9a79475c6cfc4502</a:t>
            </a:r>
          </a:p>
          <a:p xmlns:a="http://schemas.openxmlformats.org/drawingml/2006/main">
            <a:r>
              <a:t>https://vksrs.com/publications/matvienko-rasskazala-o-neobkhodimosti-protivostoyat-geroizatsii-natsistov/</a:t>
            </a:r>
          </a:p>
          <a:p xmlns:a="http://schemas.openxmlformats.org/drawingml/2006/main">
            <a:r>
              <a:t>https://absatz.media/politika/158438-valentine-matvienko-77-istoriya-uspeha-put-k-vershine-i-samye-yarkie-zayavleniya</a:t>
            </a:r>
          </a:p>
          <a:p xmlns:a="http://schemas.openxmlformats.org/drawingml/2006/main">
            <a:r>
              <a:t>https://www.rbc.ru/society/14/10/2026/6acf597c9a794743e0478a15?from=short_news</a:t>
            </a:r>
          </a:p>
          <a:p xmlns:a="http://schemas.openxmlformats.org/drawingml/2006/main">
            <a:r>
              <a:t>https://senatinform.ru/news/sf_stremitsya_byt_maksimalno_otkrytym_dlya_raboty_zhurnalistov_matvienko/</a:t>
            </a:r>
          </a:p>
          <a:p xmlns:a="http://schemas.openxmlformats.org/drawingml/2006/main">
            <a:r>
              <a:t>https://eparlament.irzs.ru/Files/getFile/11853</a:t>
            </a:r>
          </a:p>
          <a:p xmlns:a="http://schemas.openxmlformats.org/drawingml/2006/main">
            <a:r>
              <a:t>http://special.council.gov.ru/activity/meetings/170703/transcript/</a:t>
            </a:r>
          </a:p>
          <a:p xmlns:a="http://schemas.openxmlformats.org/drawingml/2006/main">
            <a:r>
              <a:t>https://bookonlime.ru/lecture/12-razvitie-ekonomicheskih-otnosheniy-i-strategicheskoe-planirovanie-v-cifrovoy-ekonomike-2</a:t>
            </a:r>
          </a:p>
          <a:p xmlns:a="http://schemas.openxmlformats.org/drawingml/2006/main">
            <a:r>
              <a:t>https://ru.wikipedia.org/wiki/Песков,_Дмитрий_Сергеевич</a:t>
            </a:r>
          </a:p>
          <a:p xmlns:a="http://schemas.openxmlformats.org/drawingml/2006/main">
            <a:r>
              <a:t>https://www.reuters.com/world/europe/kremlin-says-ukraine-is-now-paying-price-its-own-attacks-russia-2026-09-28/</a:t>
            </a:r>
          </a:p>
          <a:p xmlns:a="http://schemas.openxmlformats.org/drawingml/2006/main">
            <a:r>
              <a:t>https://www.reuters.com/world/europe/kremlin-rejects-le-penbardella-rebuke-says-russia-is-no-threat-france-2026-09-21/</a:t>
            </a:r>
          </a:p>
          <a:p xmlns:a="http://schemas.openxmlformats.org/drawingml/2006/main">
            <a:r>
              <a:t>https://theins.ru/antifake/295208</a:t>
            </a:r>
          </a:p>
          <a:p xmlns:a="http://schemas.openxmlformats.org/drawingml/2006/main">
            <a:r>
              <a:t>https://expert.ru/news/v-kremle-otvetili-na-slova-donalda-trampa-o-rossiyskom-vmeshatelstve</a:t>
            </a:r>
          </a:p>
          <a:p xmlns:a="http://schemas.openxmlformats.org/drawingml/2006/main">
            <a:r>
              <a:t>https://www.dw.com/ru/dmitrij-peskov/t-18146676/page-1</a:t>
            </a:r>
          </a:p>
          <a:p xmlns:a="http://schemas.openxmlformats.org/drawingml/2006/main">
            <a:r>
              <a:t>https://www.pnp.ru/person/dmitriy--peskov/</a:t>
            </a:r>
          </a:p>
          <a:p xmlns:a="http://schemas.openxmlformats.org/drawingml/2006/main">
            <a:r>
              <a:t>https://www.rbc.ua/ukr/dossier/peskov-19032015</a:t>
            </a:r>
          </a:p>
          <a:p xmlns:a="http://schemas.openxmlformats.org/drawingml/2006/main">
            <a:r>
              <a:t>https://www.rbc.ru/politics/12/10/2026/6accae3bb18f4460834ce063</a:t>
            </a:r>
          </a:p>
          <a:p xmlns:a="http://schemas.openxmlformats.org/drawingml/2006/main">
            <a:r>
              <a:t>https://tass.ru/politika/20355193</a:t>
            </a:r>
          </a:p>
          <a:p xmlns:a="http://schemas.openxmlformats.org/drawingml/2006/main">
            <a:r>
              <a:t>https://www.m24.ru/news/06052024/689412</a:t>
            </a:r>
          </a:p>
          <a:p xmlns:a="http://schemas.openxmlformats.org/drawingml/2006/main">
            <a:r>
              <a:t>http://www.kremlin.ru/acts/bank/48502</a:t>
            </a:r>
          </a:p>
          <a:p xmlns:a="http://schemas.openxmlformats.org/drawingml/2006/main">
            <a:r>
              <a:t>https://www.m24.ru/news/11022025/769070</a:t>
            </a:r>
          </a:p>
          <a:p xmlns:a="http://schemas.openxmlformats.org/drawingml/2006/main">
            <a:r>
              <a:t>https://www.m24.ru/news/23042026/894202</a:t>
            </a:r>
          </a:p>
          <a:p xmlns:a="http://schemas.openxmlformats.org/drawingml/2006/main">
            <a:r>
              <a:t>https://cbr.ru/about_br/nabiullinaes/</a:t>
            </a:r>
          </a:p>
          <a:p xmlns:a="http://schemas.openxmlformats.org/drawingml/2006/main">
            <a:r>
              <a:t>https://cbr.ru/press/event/?id=12840</a:t>
            </a:r>
          </a:p>
          <a:p xmlns:a="http://schemas.openxmlformats.org/drawingml/2006/main">
            <a:r>
              <a:t>https://www.cbr.ru/press/event/?id=12904</a:t>
            </a:r>
          </a:p>
          <a:p xmlns:a="http://schemas.openxmlformats.org/drawingml/2006/main">
            <a:r>
              <a:t>https://cbr.ru/press/event/?id=14033</a:t>
            </a:r>
          </a:p>
          <a:p xmlns:a="http://schemas.openxmlformats.org/drawingml/2006/main">
            <a:r>
              <a:t>https://www.cbr.ru/press/event/?id=12764</a:t>
            </a:r>
          </a:p>
          <a:p xmlns:a="http://schemas.openxmlformats.org/drawingml/2006/main">
            <a:r>
              <a:t>https://kazanfirst.ru/articles/534335</a:t>
            </a:r>
          </a:p>
          <a:p xmlns:a="http://schemas.openxmlformats.org/drawingml/2006/main">
            <a:r>
              <a:t>https://www.rbc.ru/person/65e831449a79476cbfd8e5fd</a:t>
            </a:r>
          </a:p>
          <a:p xmlns:a="http://schemas.openxmlformats.org/drawingml/2006/main">
            <a:r>
              <a:t>https://www.interfax.ru/russia/955290</a:t>
            </a:r>
          </a:p>
          <a:p xmlns:a="http://schemas.openxmlformats.org/drawingml/2006/main">
            <a:r>
              <a:t>https://minfin.gov.ru/ru/press-center/?id_4=38548-intervyu_ministra_finansov_antona_siluanova_gazete_argumenty_i_fakty</a:t>
            </a:r>
          </a:p>
          <a:p xmlns:a="http://schemas.openxmlformats.org/drawingml/2006/main">
            <a:r>
              <a:t>https://minfin.gov.ru/ru/press-center/?id_4=37667-vystuplenie_antona_siluanova_na_plenarnom_zasedanii_v_gosudarstvennoi_dume</a:t>
            </a:r>
          </a:p>
          <a:p xmlns:a="http://schemas.openxmlformats.org/drawingml/2006/main">
            <a:r>
              <a:t>https://www.rbc.ru/economics/24/10/2022/63529d159a7947efb82a59eb</a:t>
            </a:r>
          </a:p>
          <a:p xmlns:a="http://schemas.openxmlformats.org/drawingml/2006/main">
            <a:r>
              <a:t>https://www.rbc.ru/newspaper/2020/02/21/5e4e83289a79474bcf9f8cf9</a:t>
            </a:r>
          </a:p>
          <a:p xmlns:a="http://schemas.openxmlformats.org/drawingml/2006/main">
            <a:r>
              <a:t>https://www.rbc.ru/economics/20/02/2020/5e4e91919a79475559478893</a:t>
            </a:r>
          </a:p>
          <a:p xmlns:a="http://schemas.openxmlformats.org/drawingml/2006/main">
            <a:r>
              <a:t>https://minfin.gov.ru/ru/press-center/?id_4=39336-anton_siluanov_predstavil_na_parlamentskikh_slushaniyakh_v_sovete_federatsii_proekt_byudzheta_na_2025-2027_gg.</a:t>
            </a:r>
          </a:p>
          <a:p xmlns:a="http://schemas.openxmlformats.org/drawingml/2006/main">
            <a:r>
              <a:t>https://www.interfax.ru/amp/1035506</a:t>
            </a:r>
          </a:p>
          <a:p xmlns:a="http://schemas.openxmlformats.org/drawingml/2006/main">
            <a:r>
              <a:t>https://tass.ru/ekonomika/28198121</a:t>
            </a:r>
          </a:p>
          <a:p xmlns:a="http://schemas.openxmlformats.org/drawingml/2006/main">
            <a:r>
              <a:t>https://www.rbc.ru/person/65b9f4369a7947ec8a7f242a</a:t>
            </a:r>
          </a:p>
          <a:p xmlns:a="http://schemas.openxmlformats.org/drawingml/2006/main">
            <a:r>
              <a:t>https://www.bfm.ru/news/435050</a:t>
            </a:r>
          </a:p>
          <a:p xmlns:a="http://schemas.openxmlformats.org/drawingml/2006/main">
            <a:r>
              <a:t>https://ru.ruwiki.ru/wiki/%D0%93%D0%BE%D0%BB%D0%B8%D0%BA%D0%BE%D0%B2%D0%B0,_%D0%A2%D0%B0%D1%82%D1%8C%D1%8F%D0%BD%D0%B0_%D0%90%D0%BB%D0%B5%D0%BA%D1%81%D0%B5%D0%B5%D0%B2%D0%BD%D0%B0</a:t>
            </a:r>
          </a:p>
          <a:p xmlns:a="http://schemas.openxmlformats.org/drawingml/2006/main">
            <a:r>
              <a:t>http://www.kremlin.ru/events/president/transcripts/deliberations%20/77439</a:t>
            </a:r>
          </a:p>
          <a:p xmlns:a="http://schemas.openxmlformats.org/drawingml/2006/main">
            <a:r>
              <a:t>https://xn--90aivcdt6dxbc.xn--p1ai/articles/news/prezident-zdravookhranenie-zanimaet-klyuchevoe-mesto-v-sotsialnoy-politike-rossii/</a:t>
            </a:r>
          </a:p>
          <a:p xmlns:a="http://schemas.openxmlformats.org/drawingml/2006/main">
            <a:r>
              <a:t>https://xn--90aivcdt6dxbc.xn--p1ai/articles/news/tatyana-golikova-edinaya-rossiya-nadezhnyy-soyuznik-i-partner-pravitelstva/</a:t>
            </a:r>
          </a:p>
          <a:p xmlns:a="http://schemas.openxmlformats.org/drawingml/2006/main">
            <a:r>
              <a:t>http://government.ru/news/58648/</a:t>
            </a:r>
          </a:p>
          <a:p xmlns:a="http://schemas.openxmlformats.org/drawingml/2006/main">
            <a:r>
              <a:t>http://government.ru/news/54912/</a:t>
            </a:r>
          </a:p>
          <a:p xmlns:a="http://schemas.openxmlformats.org/drawingml/2006/main">
            <a:r>
              <a:t>http://government.ru/news/58000/</a:t>
            </a:r>
          </a:p>
          <a:p xmlns:a="http://schemas.openxmlformats.org/drawingml/2006/main">
            <a:r>
              <a:t>https://tass.ru/politika/28141547</a:t>
            </a:r>
          </a:p>
          <a:p xmlns:a="http://schemas.openxmlformats.org/drawingml/2006/main">
            <a:r>
              <a:t>https://duma.gov.ru/media/files/smUklOtuNPyzwTneQGCfFUHHIsilAqcm.pdf</a:t>
            </a:r>
          </a:p>
          <a:p xmlns:a="http://schemas.openxmlformats.org/drawingml/2006/main">
            <a:r>
              <a:t>https://kprf.ru/dep/gosduma/activities/187187.html</a:t>
            </a:r>
          </a:p>
          <a:p xmlns:a="http://schemas.openxmlformats.org/drawingml/2006/main">
            <a:r>
              <a:t>http://msk.kprf.ru/2022/08/22/222866/</a:t>
            </a:r>
          </a:p>
          <a:p xmlns:a="http://schemas.openxmlformats.org/drawingml/2006/main">
            <a:r>
              <a:t>https://kprf.ru/party-live/cknews/235903.html</a:t>
            </a:r>
          </a:p>
          <a:p xmlns:a="http://schemas.openxmlformats.org/drawingml/2006/main">
            <a:r>
              <a:t>https://kprf.ru/dep/gosduma/activities/236198.html/print</a:t>
            </a:r>
          </a:p>
          <a:p xmlns:a="http://schemas.openxmlformats.org/drawingml/2006/main">
            <a:r>
              <a:t>https://kprf.ru/dep/gosduma/activities/239812.html</a:t>
            </a:r>
          </a:p>
          <a:p xmlns:a="http://schemas.openxmlformats.org/drawingml/2006/main">
            <a:r>
              <a:t>https://kprf-don.ru/index.php/news/facts/12501-2025-09-15-12-58-35.html</a:t>
            </a:r>
          </a:p>
          <a:p xmlns:a="http://schemas.openxmlformats.org/drawingml/2006/main">
            <a:r>
              <a:t>https://kprf.ru/dep/gosduma/activities/237529.html</a:t>
            </a:r>
          </a:p>
          <a:p xmlns:a="http://schemas.openxmlformats.org/drawingml/2006/main">
            <a:r>
              <a:t>https://novayagazeta.ru/articles/2025/09/19/putin-udivilsia-khodu-zapushchennoi-im-vesnoi-munitsipalnoi-reformy-posle-slov-ziuganova-kak-regiony-dlia-nee-lomali-cherez-koleno-a-tatarstan-otkazalsia-ee-ispolniat-news</a:t>
            </a:r>
          </a:p>
          <a:p xmlns:a="http://schemas.openxmlformats.org/drawingml/2006/main">
            <a:r>
              <a:t>https://kprf.ru/official/2025/11/15/15-noiabria-2025-oda-sostoialsia-ii-noiabrskii-plenum-tsk-kprf/473.html</a:t>
            </a:r>
          </a:p>
          <a:p xmlns:a="http://schemas.openxmlformats.org/drawingml/2006/main">
            <a:r>
              <a:t>https://www.rbc.ru/person/617bfbb79a7947fc327a3bcb</a:t>
            </a:r>
          </a:p>
          <a:p xmlns:a="http://schemas.openxmlformats.org/drawingml/2006/main">
            <a:r>
              <a:t>https://www.bbc.com/russian/features-60873381</a:t>
            </a:r>
          </a:p>
          <a:p xmlns:a="http://schemas.openxmlformats.org/drawingml/2006/main">
            <a:r>
              <a:t>https://www.svoboda.org/a/umer-lider-partii-ldpr-vladimir-zhirinovskiy-nekrolog/31770134.html</a:t>
            </a:r>
          </a:p>
          <a:p xmlns:a="http://schemas.openxmlformats.org/drawingml/2006/main">
            <a:r>
              <a:t>https://www.rbc.ru/politics/06/04/2022/624d661b9a79473f7416fe26</a:t>
            </a:r>
          </a:p>
          <a:p xmlns:a="http://schemas.openxmlformats.org/drawingml/2006/main">
            <a:r>
              <a:t>https://tass.ru/politika/3392889</a:t>
            </a:r>
          </a:p>
          <a:p xmlns:a="http://schemas.openxmlformats.org/drawingml/2006/main">
            <a:r>
              <a:t>https://www.pnp.ru/politics/2016/06/28/v-centre-predvybornoy-programmy-ldpr-russkiy-vopros.html</a:t>
            </a:r>
          </a:p>
          <a:p xmlns:a="http://schemas.openxmlformats.org/drawingml/2006/main">
            <a:r>
              <a:t>https://ldpr.ru/party/history/</a:t>
            </a:r>
          </a:p>
          <a:p xmlns:a="http://schemas.openxmlformats.org/drawingml/2006/main">
            <a:r>
              <a:t>https://govoritmoskva.ru/interviews/1023/</a:t>
            </a:r>
          </a:p>
          <a:p xmlns:a="http://schemas.openxmlformats.org/drawingml/2006/main">
            <a:r>
              <a:t>https://www.gazeta.ru/politics/2017/03/17_a_10580999.shtml</a:t>
            </a:r>
          </a:p>
          <a:p xmlns:a="http://schemas.openxmlformats.org/drawingml/2006/main">
            <a:r>
              <a:t>https://ldpr.ru/upload/iblock/c88/1d6dstdexz6aw7dnwoubeobhr3mnwa1j/a799616e688866c49f2ef6b5b8cfe5c00d45080ae85ce0e5f6d36e2e010681d9.pdf</a:t>
            </a:r>
          </a:p>
          <a:p xmlns:a="http://schemas.openxmlformats.org/drawingml/2006/main">
            <a:r>
              <a:t>https://www.kommersant.ru/doc/3579566</a:t>
            </a:r>
          </a:p>
          <a:p xmlns:a="http://schemas.openxmlformats.org/drawingml/2006/main">
            <a:r>
              <a:t>https://spb.ldpr.ru/event/243915/</a:t>
            </a:r>
          </a:p>
          <a:p xmlns:a="http://schemas.openxmlformats.org/drawingml/2006/main">
            <a:r>
              <a:t>https://kursk.ldpr.ru/event/341398</a:t>
            </a:r>
          </a:p>
          <a:p xmlns:a="http://schemas.openxmlformats.org/drawingml/2006/main">
            <a:r>
              <a:t>https://cyberleninka.ru/article/n/sravnitelnyy-analiz-predvybornyh-programm-ldpr-na-vyborah-2021-g-i-l-e-slutskogo-na-vyborah-2024-g</a:t>
            </a:r>
          </a:p>
          <a:p xmlns:a="http://schemas.openxmlformats.org/drawingml/2006/main">
            <a:r>
              <a:t>https://kcr.ldpr.ru/event/347999/</a:t>
            </a:r>
          </a:p>
          <a:p xmlns:a="http://schemas.openxmlformats.org/drawingml/2006/main">
            <a:r>
              <a:t>https://msknews77.ru/society/2025/09/25/73500.html</a:t>
            </a:r>
          </a:p>
          <a:p xmlns:a="http://schemas.openxmlformats.org/drawingml/2006/main">
            <a:r>
              <a:t>https://bagaevka-press.ru/besplatnyj-zemelnyj-uchastok-dlya-semej-inicziativa-ldpr/</a:t>
            </a:r>
          </a:p>
          <a:p xmlns:a="http://schemas.openxmlformats.org/drawingml/2006/main">
            <a:r>
              <a:t>https://ldpr.ru/event/437527/</a:t>
            </a:r>
          </a:p>
          <a:p xmlns:a="http://schemas.openxmlformats.org/drawingml/2006/main">
            <a:r>
              <a:t>https://rg62.info/2025/11/01/leonid-sluczkij-vstupilsya-za-multserial-masha-i-medved/</a:t>
            </a:r>
          </a:p>
          <a:p xmlns:a="http://schemas.openxmlformats.org/drawingml/2006/main">
            <a:r>
              <a:t>https://mironov.ru/officially</a:t>
            </a:r>
          </a:p>
          <a:p xmlns:a="http://schemas.openxmlformats.org/drawingml/2006/main">
            <a:r>
              <a:t>https://mironov.ru/bio</a:t>
            </a:r>
          </a:p>
          <a:p xmlns:a="http://schemas.openxmlformats.org/drawingml/2006/main">
            <a:r>
              <a:t>https://mironov-online.ru/category/zayavleniya/</a:t>
            </a:r>
          </a:p>
          <a:p xmlns:a="http://schemas.openxmlformats.org/drawingml/2006/main">
            <a:r>
              <a:t>https://www.rbc.ru/person/69806d279a7947baf86c32c5</a:t>
            </a:r>
          </a:p>
          <a:p xmlns:a="http://schemas.openxmlformats.org/drawingml/2006/main">
            <a:r>
              <a:t>https://spravedlivo.ru/16303010</a:t>
            </a:r>
          </a:p>
          <a:p xmlns:a="http://schemas.openxmlformats.org/drawingml/2006/main">
            <a:r>
              <a:t>http://mironov.ru/15133910</a:t>
            </a:r>
          </a:p>
          <a:p xmlns:a="http://schemas.openxmlformats.org/drawingml/2006/main">
            <a:r>
              <a:t>http://www.special.spravedlivo.ru/5_140609.html</a:t>
            </a:r>
          </a:p>
          <a:p xmlns:a="http://schemas.openxmlformats.org/drawingml/2006/main">
            <a:r>
              <a:t>https://spravedlivo.ru/14681110</a:t>
            </a:r>
          </a:p>
          <a:p xmlns:a="http://schemas.openxmlformats.org/drawingml/2006/main">
            <a:r>
              <a:t>https://radiokp.ru/podcast/dialogi-na-radio-kp/759263</a:t>
            </a:r>
          </a:p>
          <a:p xmlns:a="http://schemas.openxmlformats.org/drawingml/2006/main">
            <a:r>
              <a:t>https://mironov.ru/51339910</a:t>
            </a:r>
          </a:p>
          <a:p xmlns:a="http://schemas.openxmlformats.org/drawingml/2006/main">
            <a:r>
              <a:t>https://mironov-online.ru/news/mironov-na-ukraine-idet-bitva-za-budushhee-vsego-chelovechestva-i-pobeda-v-nej-budet-za-rossiej/</a:t>
            </a:r>
          </a:p>
          <a:p xmlns:a="http://schemas.openxmlformats.org/drawingml/2006/main">
            <a:r>
              <a:t>https://spravedlivo.ru/12544510</a:t>
            </a:r>
          </a:p>
          <a:p xmlns:a="http://schemas.openxmlformats.org/drawingml/2006/main">
            <a:r>
              <a:t>https://www.rbc.ru/person/6aa3ef199a79475758621730</a:t>
            </a:r>
          </a:p>
          <a:p xmlns:a="http://schemas.openxmlformats.org/drawingml/2006/main">
            <a:r>
              <a:t>https://www.rbc.ru/politics/24/09/2021/614da73f9a7947b5e3d9399f</a:t>
            </a:r>
          </a:p>
          <a:p xmlns:a="http://schemas.openxmlformats.org/drawingml/2006/main">
            <a:r>
              <a:t>https://amp.rbc.ru/rbcnews/base/14/08/2026/6a957dfb9a79476ae3d823ba</a:t>
            </a:r>
          </a:p>
          <a:p xmlns:a="http://schemas.openxmlformats.org/drawingml/2006/main">
            <a:r>
              <a:t>https://en.wikipedia.org/wiki/Alexey_Nechayev</a:t>
            </a:r>
          </a:p>
          <a:p xmlns:a="http://schemas.openxmlformats.org/drawingml/2006/main">
            <a:r>
              <a:t>https://www.gazeta.ru/politics/23422027/novye-lyudi-na-vyborah-2026-goda.shtml</a:t>
            </a:r>
          </a:p>
          <a:p xmlns:a="http://schemas.openxmlformats.org/drawingml/2006/main">
            <a:r>
              <a:t>https://vremya-bir.ru/2026/03/07/dvenadtsat-shagov-k-strane-v-kotoroj-hochetsya-zhit/</a:t>
            </a:r>
          </a:p>
          <a:p xmlns:a="http://schemas.openxmlformats.org/drawingml/2006/main">
            <a:r>
              <a:t>https://www.rbc.ru/politics/08/09/2026/6aa023ec9a79471e4fd55d3c</a:t>
            </a:r>
          </a:p>
          <a:p xmlns:a="http://schemas.openxmlformats.org/drawingml/2006/main">
            <a:r>
              <a:t>https://www.interfax.ru/interview/1074248</a:t>
            </a:r>
          </a:p>
          <a:p xmlns:a="http://schemas.openxmlformats.org/drawingml/2006/main">
            <a:r>
              <a:t>https://www.interfax.ru/amp/1074248</a:t>
            </a:r>
          </a:p>
          <a:p xmlns:a="http://schemas.openxmlformats.org/drawingml/2006/main">
            <a:r>
              <a:t>https://www.vedomosti.ru/politics/articles/2026/09/09/1227352-novie-lyudi-sformulirovali-programmu</a:t>
            </a:r>
          </a:p>
          <a:p xmlns:a="http://schemas.openxmlformats.org/drawingml/2006/main">
            <a:r>
              <a:t>https://dddkursk.ru/lenta/2026/07/30/129483/</a:t>
            </a:r>
          </a:p>
          <a:p xmlns:a="http://schemas.openxmlformats.org/drawingml/2006/main">
            <a:r>
              <a:t>https://volga.news/article/803292.html</a:t>
            </a:r>
          </a:p>
          <a:p xmlns:a="http://schemas.openxmlformats.org/drawingml/2006/main">
            <a:r>
              <a:t>https://ru.wikipedia.org/wiki/%D0%9D%D0%B5%D1%87%D0%B0%D0%B5%D0%B2,_%D0%90%D0%BB%D0%B5%D0%BA%D1%81%D0%B5%D0%B9_%D0%93%D0%B5%D0%BD%D0%BD%D0%B0%D0%B4%D1%8C%D0%B5%D0%B2%D0%B8%D1%87</a:t>
            </a:r>
          </a:p>
          <a:p xmlns:a="http://schemas.openxmlformats.org/drawingml/2006/main">
            <a:r>
              <a:t>https://www.davankov2024.ru/page_biography/</a:t>
            </a:r>
          </a:p>
          <a:p xmlns:a="http://schemas.openxmlformats.org/drawingml/2006/main">
            <a:r>
              <a:t>https://davankov2024.ru/program</a:t>
            </a:r>
          </a:p>
          <a:p xmlns:a="http://schemas.openxmlformats.org/drawingml/2006/main">
            <a:r>
              <a:t>http://vote.duma.gov.ru/?convocation=AAAAAAA8&amp;deputy=99113489&amp;sort=date_desc</a:t>
            </a:r>
          </a:p>
          <a:p xmlns:a="http://schemas.openxmlformats.org/drawingml/2006/main">
            <a:r>
              <a:t>https://holod.media/2024/02/14/vladislav-davankov/</a:t>
            </a:r>
          </a:p>
          <a:p xmlns:a="http://schemas.openxmlformats.org/drawingml/2006/main">
            <a:r>
              <a:t>https://davankov2024.ru/</a:t>
            </a:r>
          </a:p>
          <a:p xmlns:a="http://schemas.openxmlformats.org/drawingml/2006/main">
            <a:r>
              <a:t>https://novayagazeta.eu/articles/2024/02/15/davankov-predstavil-predvybornuiu-programmu-bez-amnistii-politzakliuchennykh-i-s-namereniem-dobitsia-mira-na-nashikh-usloviiakh-news</a:t>
            </a:r>
          </a:p>
          <a:p xmlns:a="http://schemas.openxmlformats.org/drawingml/2006/main">
            <a:r>
              <a:t>https://www.kavkaz-uzel.eu/articles/398113</a:t>
            </a:r>
          </a:p>
          <a:p xmlns:a="http://schemas.openxmlformats.org/drawingml/2006/main">
            <a:r>
              <a:t>https://echofm.online/portret-dnya/portret-dnya-vladislav-davankov-kandidat-v-prezidenty-rossii</a:t>
            </a:r>
          </a:p>
          <a:p xmlns:a="http://schemas.openxmlformats.org/drawingml/2006/main">
            <a:r>
              <a:t>https://t.me/s/davankov?before=788</a:t>
            </a:r>
          </a:p>
          <a:p xmlns:a="http://schemas.openxmlformats.org/drawingml/2006/main">
            <a:r>
              <a:t>https://zaharprilepin.ru/ru/bio/</a:t>
            </a:r>
          </a:p>
          <a:p xmlns:a="http://schemas.openxmlformats.org/drawingml/2006/main">
            <a:r>
              <a:t>https://zaharprilepin.ru/ru/video/zapisi-vistuplenij/intervju/</a:t>
            </a:r>
          </a:p>
          <a:p xmlns:a="http://schemas.openxmlformats.org/drawingml/2006/main">
            <a:r>
              <a:t>https://zaharprilepin.ru/ru/pressa/intervyu/na-harkov.html</a:t>
            </a:r>
          </a:p>
          <a:p xmlns:a="http://schemas.openxmlformats.org/drawingml/2006/main">
            <a:r>
              <a:t>https://www.kommersant.ru/doc/4141912</a:t>
            </a:r>
          </a:p>
          <a:p xmlns:a="http://schemas.openxmlformats.org/drawingml/2006/main">
            <a:r>
              <a:t>https://novayagazeta.eu/articles/2023/05/06/plokhoi-uchenik-limonova</a:t>
            </a:r>
          </a:p>
          <a:p xmlns:a="http://schemas.openxmlformats.org/drawingml/2006/main">
            <a:r>
              <a:t>https://tass.ru/politika/11761037</a:t>
            </a:r>
          </a:p>
          <a:p xmlns:a="http://schemas.openxmlformats.org/drawingml/2006/main">
            <a:r>
              <a:t>https://www.nn.ru/text/politics/2021/10/11/70186523/</a:t>
            </a:r>
          </a:p>
          <a:p xmlns:a="http://schemas.openxmlformats.org/drawingml/2006/main">
            <a:r>
              <a:t>https://www.zaks.ru/new/archive/view/267194</a:t>
            </a:r>
          </a:p>
          <a:p xmlns:a="http://schemas.openxmlformats.org/drawingml/2006/main">
            <a:r>
              <a:t>https://spravedlivo.ru/11288710</a:t>
            </a:r>
          </a:p>
          <a:p xmlns:a="http://schemas.openxmlformats.org/drawingml/2006/main">
            <a:r>
              <a:t>https://www.kommersant.ru/doc/4241515</a:t>
            </a:r>
          </a:p>
          <a:p xmlns:a="http://schemas.openxmlformats.org/drawingml/2006/main">
            <a:r>
              <a:t>https://zaharprilepin.ru/ru/pressa/intervyu/radio-komsomolskaja-pravda-10022021.html</a:t>
            </a:r>
          </a:p>
          <a:p xmlns:a="http://schemas.openxmlformats.org/drawingml/2006/main">
            <a:r>
              <a:t>https://pozneronline.ru/2024/04/36826/</a:t>
            </a:r>
          </a:p>
          <a:p xmlns:a="http://schemas.openxmlformats.org/drawingml/2006/main">
            <a:r>
              <a:t>https://www.rbc.ru/person/62a85a259a7947b9ae5d6360</a:t>
            </a:r>
          </a:p>
          <a:p xmlns:a="http://schemas.openxmlformats.org/drawingml/2006/main">
            <a:r>
              <a:t>https://tass.ru/encyclopedia/person/poklonskaya-natalya-vladimirovna</a:t>
            </a:r>
          </a:p>
          <a:p xmlns:a="http://schemas.openxmlformats.org/drawingml/2006/main">
            <a:r>
              <a:t>https://tass.ru/tag/poklonskaya-natalya-vladimirovna</a:t>
            </a:r>
          </a:p>
          <a:p xmlns:a="http://schemas.openxmlformats.org/drawingml/2006/main">
            <a:r>
              <a:t>https://www.bbc.com/russian/features-44801571</a:t>
            </a:r>
          </a:p>
          <a:p xmlns:a="http://schemas.openxmlformats.org/drawingml/2006/main">
            <a:r>
              <a:t>https://www.rbc.ru/rbcfreenews/5ba8bd499a794792294ba05d</a:t>
            </a:r>
          </a:p>
          <a:p xmlns:a="http://schemas.openxmlformats.org/drawingml/2006/main">
            <a:r>
              <a:t>https://www.dp.ru/a/2018/08/31/Poklonskaja_otreazirovala</a:t>
            </a:r>
          </a:p>
          <a:p xmlns:a="http://schemas.openxmlformats.org/drawingml/2006/main">
            <a:r>
              <a:t>https://www.themoscowtimes.com/2022/06/13/former-crimea-prosecutor-dismissed-after-anti-war-comments-a77983</a:t>
            </a:r>
          </a:p>
          <a:p xmlns:a="http://schemas.openxmlformats.org/drawingml/2006/main">
            <a:r>
              <a:t>https://www.rbc.ru/politics/30/06/2023/649dee189a79473e3fdc8906</a:t>
            </a:r>
          </a:p>
          <a:p xmlns:a="http://schemas.openxmlformats.org/drawingml/2006/main">
            <a:r>
              <a:t>http://council.gov.ru/structure/persons/1044/</a:t>
            </a:r>
          </a:p>
          <a:p xmlns:a="http://schemas.openxmlformats.org/drawingml/2006/main">
            <a:r>
              <a:t>http://council.gov.ru/services/reference/9156/</a:t>
            </a:r>
          </a:p>
          <a:p xmlns:a="http://schemas.openxmlformats.org/drawingml/2006/main">
            <a:r>
              <a:t>http://council.gov.ru/events/news/135415/</a:t>
            </a:r>
          </a:p>
          <a:p xmlns:a="http://schemas.openxmlformats.org/drawingml/2006/main">
            <a:r>
              <a:t>https://24smi.org/celebrity/1156-elena-mizulina.html</a:t>
            </a:r>
          </a:p>
          <a:p xmlns:a="http://schemas.openxmlformats.org/drawingml/2006/main">
            <a:r>
              <a:t>https://www.bfometr.ru/blog/elena-mizulina</a:t>
            </a:r>
          </a:p>
          <a:p xmlns:a="http://schemas.openxmlformats.org/drawingml/2006/main">
            <a:r>
              <a:t>https://www.rbc.ru/society/30/03/2018/5abe1b849a79470dc3826f68</a:t>
            </a:r>
          </a:p>
          <a:p xmlns:a="http://schemas.openxmlformats.org/drawingml/2006/main">
            <a:r>
              <a:t>https://uznayvse.ru/znamenitosti/biografiya-elena-mizulina.html</a:t>
            </a:r>
          </a:p>
          <a:p xmlns:a="http://schemas.openxmlformats.org/drawingml/2006/main">
            <a:r>
              <a:t>https://radiokp.ru/people/elena-mizulina</a:t>
            </a:r>
          </a:p>
          <a:p xmlns:a="http://schemas.openxmlformats.org/drawingml/2006/main">
            <a:r>
              <a:t>https://ru.wikipedia.org/wiki/%D0%9C%D0%B8%D0%B7%D1%83%D0%BB%D0%B8%D0%BD%D0%B0,_%D0%95%D0%BB%D0%B5%D0%BD%D0%B0_%D0%91%D0%BE%D1%80%D0%B8%D1%81%D0%BE%D0%B2%D0%BD%D0%B0</a:t>
            </a:r>
          </a:p>
          <a:p xmlns:a="http://schemas.openxmlformats.org/drawingml/2006/main">
            <a:r>
              <a:t>https://ru.wikipedia.org/wiki/Милонов,_Виталий_Валентинович</a:t>
            </a:r>
          </a:p>
          <a:p xmlns:a="http://schemas.openxmlformats.org/drawingml/2006/main">
            <a:r>
              <a:t>https://tass.ru/encyclopedia/person/milonov-vitaliy-valentinovich</a:t>
            </a:r>
          </a:p>
          <a:p xmlns:a="http://schemas.openxmlformats.org/drawingml/2006/main">
            <a:r>
              <a:t>https://www.pnp.ru/person/vitaliy-milonov/</a:t>
            </a:r>
          </a:p>
          <a:p xmlns:a="http://schemas.openxmlformats.org/drawingml/2006/main">
            <a:r>
              <a:t>https://www.zaks.ru/new/person/view/172</a:t>
            </a:r>
          </a:p>
          <a:p xmlns:a="http://schemas.openxmlformats.org/drawingml/2006/main">
            <a:r>
              <a:t>https://svpressa.ru/persons/vitaliy-milonov/</a:t>
            </a:r>
          </a:p>
          <a:p xmlns:a="http://schemas.openxmlformats.org/drawingml/2006/main">
            <a:r>
              <a:t>https://stuki-druki.com/authors/Milonov-Vitaliy.php</a:t>
            </a:r>
          </a:p>
          <a:p xmlns:a="http://schemas.openxmlformats.org/drawingml/2006/main">
            <a:r>
              <a:t>https://pa.inion.ru/persons/7104/</a:t>
            </a:r>
          </a:p>
          <a:p xmlns:a="http://schemas.openxmlformats.org/drawingml/2006/main">
            <a:r>
              <a:t>https://pa.inion.ru/documents/16503/</a:t>
            </a:r>
          </a:p>
          <a:p xmlns:a="http://schemas.openxmlformats.org/drawingml/2006/main">
            <a:r>
              <a:t>https://pa.inion.ru/documents/27860/</a:t>
            </a:r>
          </a:p>
          <a:p xmlns:a="http://schemas.openxmlformats.org/drawingml/2006/main">
            <a:r>
              <a:t>https://kprf.ru/personal/ostanina</a:t>
            </a:r>
          </a:p>
          <a:p xmlns:a="http://schemas.openxmlformats.org/drawingml/2006/main">
            <a:r>
              <a:t>https://pa.inion.ru/documents/25577/</a:t>
            </a:r>
          </a:p>
          <a:p xmlns:a="http://schemas.openxmlformats.org/drawingml/2006/main">
            <a:r>
              <a:t>https://kprf.ru/dep/gosduma/activities/245108.html</a:t>
            </a:r>
          </a:p>
          <a:p xmlns:a="http://schemas.openxmlformats.org/drawingml/2006/main">
            <a:r>
              <a:t>https://www.pnp.ru/social/zashhita-detskogo-byudzheta-kruzhki-sokhranit-vyplaty-iz-matkapitala-uvelichit.html</a:t>
            </a:r>
          </a:p>
          <a:p xmlns:a="http://schemas.openxmlformats.org/drawingml/2006/main">
            <a:r>
              <a:t>https://www.pnp.ru/state-duma/nina-ostanina-o-byudzhete-na-2027-2029-gody-semeynoy-ipoteke-i-matkapitale.html</a:t>
            </a:r>
          </a:p>
          <a:p xmlns:a="http://schemas.openxmlformats.org/drawingml/2006/main">
            <a:r>
              <a:t>https://uznayvse.ru/znamenitosti/biografiya-nina-ostanina.html</a:t>
            </a:r>
          </a:p>
          <a:p xmlns:a="http://schemas.openxmlformats.org/drawingml/2006/main">
            <a:r>
              <a:t>https://dumatv.ru/news/ostanina--borba-za-mirovozzrencheskii-suverenitet-stanovitsya-gosudarstvennoi-politikoi</a:t>
            </a:r>
          </a:p>
          <a:p xmlns:a="http://schemas.openxmlformats.org/drawingml/2006/main">
            <a:r>
              <a:t>https://kprf.ru/dep/gosduma/activities/242132.html</a:t>
            </a:r>
          </a:p>
          <a:p xmlns:a="http://schemas.openxmlformats.org/drawingml/2006/main">
            <a:r>
              <a:t>https://www.business-gazeta.ru/article/625616</a:t>
            </a:r>
          </a:p>
          <a:p xmlns:a="http://schemas.openxmlformats.org/drawingml/2006/main">
            <a:r>
              <a:t>https://www.kommersant.ru/doc/3235400</a:t>
            </a:r>
          </a:p>
          <a:p xmlns:a="http://schemas.openxmlformats.org/drawingml/2006/main">
            <a:r>
              <a:t>https://www.rbc.ru/person/67d838f09a7947cdef0b1a95</a:t>
            </a:r>
          </a:p>
          <a:p xmlns:a="http://schemas.openxmlformats.org/drawingml/2006/main">
            <a:r>
              <a:t>https://www.vedomosti.ru/politics/articles/2020/03/10/824795-tereshkova-predlozhila</a:t>
            </a:r>
          </a:p>
          <a:p xmlns:a="http://schemas.openxmlformats.org/drawingml/2006/main">
            <a:r>
              <a:t>http://duma.gov.ru/news/49164/</a:t>
            </a:r>
          </a:p>
          <a:p xmlns:a="http://schemas.openxmlformats.org/drawingml/2006/main">
            <a:r>
              <a:t>https://meduza.io/news/2020/03/12/delayut-vse-dlya-togo-chtoby-gadosti-delat-tereshkova-o-protivnikah-popravki-obnulyayuschey-sroki-putina</a:t>
            </a:r>
          </a:p>
          <a:p xmlns:a="http://schemas.openxmlformats.org/drawingml/2006/main">
            <a:r>
              <a:t>https://meduza.io/feature/2020/03/10/gosduma-neozhidanno-dlya-sebya-obespechila-putina-novymi-prezidentskimi-srokami</a:t>
            </a:r>
          </a:p>
          <a:p xmlns:a="http://schemas.openxmlformats.org/drawingml/2006/main">
            <a:r>
              <a:t>https://hinshtein.ru/biography/</a:t>
            </a:r>
          </a:p>
          <a:p xmlns:a="http://schemas.openxmlformats.org/drawingml/2006/main">
            <a:r>
              <a:t>https://www.vedomosti.ru/politics/articles/2024/12/06/1079852-kto-takoi-aleksandr-hinshtein</a:t>
            </a:r>
          </a:p>
          <a:p xmlns:a="http://schemas.openxmlformats.org/drawingml/2006/main">
            <a:r>
              <a:t>https://www.rbc.ru/person/6752d12a9a7947d62166795e</a:t>
            </a:r>
          </a:p>
          <a:p xmlns:a="http://schemas.openxmlformats.org/drawingml/2006/main">
            <a:r>
              <a:t>https://www.rbc.ru/politics/06/12/2024/675207239a7947e74994842e</a:t>
            </a:r>
          </a:p>
          <a:p xmlns:a="http://schemas.openxmlformats.org/drawingml/2006/main">
            <a:r>
              <a:t>https://hinshtein.ru/news/aleksandr-hinshtejn-podvyol-itogi-goda-raboty-komiteta-gosdumy-po-informpolitike-informatsionnym-tehnologiyam-i-svyazi/</a:t>
            </a:r>
          </a:p>
          <a:p xmlns:a="http://schemas.openxmlformats.org/drawingml/2006/main">
            <a:r>
              <a:t>https://hinshtein.ru/news/a-hinshtejn-itogi-raboty-za-vii-sozyv/</a:t>
            </a:r>
          </a:p>
          <a:p xmlns:a="http://schemas.openxmlformats.org/drawingml/2006/main">
            <a:r>
              <a:t>https://www.kommersant.ru/doc/4660427</a:t>
            </a:r>
          </a:p>
          <a:p xmlns:a="http://schemas.openxmlformats.org/drawingml/2006/main">
            <a:r>
              <a:t>https://www.kommersant.ru/doc/4104004</a:t>
            </a:r>
          </a:p>
          <a:p xmlns:a="http://schemas.openxmlformats.org/drawingml/2006/main">
            <a:r>
              <a:t>https://www.nvgazeta.ru/news/12383/634260/</a:t>
            </a:r>
          </a:p>
          <a:p xmlns:a="http://schemas.openxmlformats.org/drawingml/2006/main">
            <a:r>
              <a:t>https://kpravda.ru/2025/02/11/kursk-poluchit-dengi-iz-gosbyudzheta-na-restavracziyu-istoricheskoj-kreposti/</a:t>
            </a:r>
          </a:p>
          <a:p xmlns:a="http://schemas.openxmlformats.org/drawingml/2006/main">
            <a:r>
              <a:t>https://tass.ru/obschestvo/24001633</a:t>
            </a:r>
          </a:p>
          <a:p xmlns:a="http://schemas.openxmlformats.org/drawingml/2006/main">
            <a:r>
              <a:t>https://www.kommersant.ru/doc/7737032</a:t>
            </a:r>
          </a:p>
          <a:p xmlns:a="http://schemas.openxmlformats.org/drawingml/2006/main">
            <a:r>
              <a:t>https://kpravda.ru/2025/03/21/edinaya-rossiya-pomozhet-v-restavraczii-kurskih-pamyatnikov/</a:t>
            </a:r>
          </a:p>
          <a:p xmlns:a="http://schemas.openxmlformats.org/drawingml/2006/main">
            <a:r>
              <a:t>https://news-kursk.ru/society/2025/07/13/65824.html</a:t>
            </a:r>
          </a:p>
          <a:p xmlns:a="http://schemas.openxmlformats.org/drawingml/2006/main">
            <a:r>
              <a:t>https://news.ru/russia/v-kurske-budet-alleya-geroev-hinshtejn-o-muzee-i-memoriale-zhertvam-vsu</a:t>
            </a:r>
          </a:p>
          <a:p xmlns:a="http://schemas.openxmlformats.org/drawingml/2006/main">
            <a:r>
              <a:t>https://ru.wikipedia.org/wiki/Пушков,_Алексей_Константинович</a:t>
            </a:r>
          </a:p>
          <a:p xmlns:a="http://schemas.openxmlformats.org/drawingml/2006/main">
            <a:r>
              <a:t>http://council.gov.ru/structure/persons/1316/</a:t>
            </a:r>
          </a:p>
          <a:p xmlns:a="http://schemas.openxmlformats.org/drawingml/2006/main">
            <a:r>
              <a:t>http://council.gov.ru/media/files/xjE2QHRAivCH7onABehAcG7OsnrO6DYb.pdf</a:t>
            </a:r>
          </a:p>
          <a:p xmlns:a="http://schemas.openxmlformats.org/drawingml/2006/main">
            <a:r>
              <a:t>https://base.garant.ru/406310971/</a:t>
            </a:r>
          </a:p>
          <a:p xmlns:a="http://schemas.openxmlformats.org/drawingml/2006/main">
            <a:r>
              <a:t>https://russiancouncil.ru/aleksey-pushkov/</a:t>
            </a:r>
          </a:p>
          <a:p xmlns:a="http://schemas.openxmlformats.org/drawingml/2006/main">
            <a:r>
              <a:t>http://legislation.council.gov.ru/events/announce/</a:t>
            </a:r>
          </a:p>
          <a:p xmlns:a="http://schemas.openxmlformats.org/drawingml/2006/main">
            <a:r>
              <a:t>http://council.gov.ru/events/news/173810/</a:t>
            </a:r>
          </a:p>
          <a:p xmlns:a="http://schemas.openxmlformats.org/drawingml/2006/main">
            <a:r>
              <a:t>http://www.council.gov.ru/events/news/175997/</a:t>
            </a:r>
          </a:p>
          <a:p xmlns:a="http://schemas.openxmlformats.org/drawingml/2006/main">
            <a:r>
              <a:t>http://council.gov.ru/media/report/pdf/HtoXfAAzeBJ8JwN0eAduo3rejTAYhqvB.pdf</a:t>
            </a:r>
          </a:p>
          <a:p xmlns:a="http://schemas.openxmlformats.org/drawingml/2006/main">
            <a:r>
              <a:t>http://council.gov.ru/events/news/164749/</a:t>
            </a:r>
          </a:p>
          <a:p xmlns:a="http://schemas.openxmlformats.org/drawingml/2006/main">
            <a:r>
              <a:t>https://t.me/s/alexey_pushkov?before=14914</a:t>
            </a:r>
          </a:p>
          <a:p xmlns:a="http://schemas.openxmlformats.org/drawingml/2006/main">
            <a:r>
              <a:t>http://legislation.council.gov.ru/events/multimedia/video/302078/</a:t>
            </a:r>
          </a:p>
          <a:p xmlns:a="http://schemas.openxmlformats.org/drawingml/2006/main">
            <a:r>
              <a:t>http://council.gov.ru/media/report/pdf/e8Awe3U6hNouHwSvME53OSPGGWxTeVAl.pdf</a:t>
            </a:r>
          </a:p>
          <a:p xmlns:a="http://schemas.openxmlformats.org/drawingml/2006/main">
            <a:r>
              <a:t>https://www.vedomosti.ru/person/1178385-kosachev-konstantin</a:t>
            </a:r>
          </a:p>
          <a:p xmlns:a="http://schemas.openxmlformats.org/drawingml/2006/main">
            <a:r>
              <a:t>https://www.interfax.ru/interview/812963</a:t>
            </a:r>
          </a:p>
          <a:p xmlns:a="http://schemas.openxmlformats.org/drawingml/2006/main">
            <a:r>
              <a:t>https://senatinform.ru/news/yuzhnuyu_osetiyu_neobkhodimo_vyvodit_iz_iskusstvennoy_izolyatsii_schitayut_rossiyskie_senatory_/</a:t>
            </a:r>
          </a:p>
          <a:p xmlns:a="http://schemas.openxmlformats.org/drawingml/2006/main">
            <a:r>
              <a:t>https://senatinform.ru/news/kosachyev_rossiya_gotova_rabotat_s_mps_s_uchyetom_ozabochennostey_nashey_strany/</a:t>
            </a:r>
          </a:p>
          <a:p xmlns:a="http://schemas.openxmlformats.org/drawingml/2006/main">
            <a:r>
              <a:t>https://www.bfm.ru/person/61</a:t>
            </a:r>
          </a:p>
          <a:p xmlns:a="http://schemas.openxmlformats.org/drawingml/2006/main">
            <a:r>
              <a:t>https://svpressa.ru/persons/konstantin-kosachev/</a:t>
            </a:r>
          </a:p>
          <a:p xmlns:a="http://schemas.openxmlformats.org/drawingml/2006/main">
            <a:r>
              <a:t>https://www.pnp.ru/person/konstantin-kosachev/</a:t>
            </a:r>
          </a:p>
          <a:p xmlns:a="http://schemas.openxmlformats.org/drawingml/2006/main">
            <a:r>
              <a:t>https://www.pnp.ru/politics/konstantin-kosachev-dlya-ssha-voyna-s-rossiey-eto-samoubiystvo.html</a:t>
            </a:r>
          </a:p>
          <a:p xmlns:a="http://schemas.openxmlformats.org/drawingml/2006/main">
            <a:r>
              <a:t>https://www.mlg.ru/ratings/vlast/senators/10844/</a:t>
            </a:r>
          </a:p>
          <a:p xmlns:a="http://schemas.openxmlformats.org/drawingml/2006/main">
            <a:r>
              <a:t>http://council.gov.ru/events/news/173506/</a:t>
            </a:r>
          </a:p>
          <a:p xmlns:a="http://schemas.openxmlformats.org/drawingml/2006/main">
            <a:r>
              <a:t>https://t.me/s/Kosachev62</a:t>
            </a:r>
          </a:p>
          <a:p xmlns:a="http://schemas.openxmlformats.org/drawingml/2006/main">
            <a:r>
              <a:t>http://council.gov.ru/events/news/177602/</a:t>
            </a:r>
          </a:p>
          <a:p xmlns:a="http://schemas.openxmlformats.org/drawingml/2006/main">
            <a:r>
              <a:t>https://vmeste-rf.tv/programs/205/konstantin-kosachev-sotrudnichestvo-rossii-i-efiopii-itogi-vizita-delegatsii-sf/</a:t>
            </a:r>
          </a:p>
          <a:p xmlns:a="http://schemas.openxmlformats.org/drawingml/2006/main">
            <a:r>
              <a:t>https://www.rbc.ru/person/64b8e1909a79474f30e86f98</a:t>
            </a:r>
          </a:p>
          <a:p xmlns:a="http://schemas.openxmlformats.org/drawingml/2006/main">
            <a:r>
              <a:t>https://www.kommersant.ru/doc/6041063</a:t>
            </a:r>
          </a:p>
          <a:p xmlns:a="http://schemas.openxmlformats.org/drawingml/2006/main">
            <a:r>
              <a:t>https://www.mos.ru/mayor/themes/6907050/</a:t>
            </a:r>
          </a:p>
          <a:p xmlns:a="http://schemas.openxmlformats.org/drawingml/2006/main">
            <a:r>
              <a:t>https://www.mos.ru/mayor/themes/7037050/</a:t>
            </a:r>
          </a:p>
          <a:p xmlns:a="http://schemas.openxmlformats.org/drawingml/2006/main">
            <a:r>
              <a:t>https://www.mos.ru/mayor/themes/8822050/</a:t>
            </a:r>
          </a:p>
          <a:p xmlns:a="http://schemas.openxmlformats.org/drawingml/2006/main">
            <a:r>
              <a:t>http://special.kremlin.ru/catalog/persons/38/events/70467</a:t>
            </a:r>
          </a:p>
          <a:p xmlns:a="http://schemas.openxmlformats.org/drawingml/2006/main">
            <a:r>
              <a:t>https://www.mos.ru/upload/content/files/15af077500dcc5a1547bf728abf25669/15Zakong_Moskviot17_05_2017N14Odopolnitelnihgaranti.pdf</a:t>
            </a:r>
          </a:p>
          <a:p xmlns:a="http://schemas.openxmlformats.org/drawingml/2006/main">
            <a:r>
              <a:t>https://www.rbc.ru/politics/03/05/2023/645245159a794763ce66d990</a:t>
            </a:r>
          </a:p>
          <a:p xmlns:a="http://schemas.openxmlformats.org/drawingml/2006/main">
            <a:r>
              <a:t>https://www.dw.com/ru/ataka-dronov-v-moskve-i-podmoskove-cto-izvestno/a-65771767</a:t>
            </a:r>
          </a:p>
          <a:p xmlns:a="http://schemas.openxmlformats.org/drawingml/2006/main">
            <a:r>
              <a:t>https://www.rbc.ru/politics/01/08/2023/64c856ce9a79471a722e13ad</a:t>
            </a:r>
          </a:p>
          <a:p xmlns:a="http://schemas.openxmlformats.org/drawingml/2006/main">
            <a:r>
              <a:t>https://www.rbc.ru/politics/23/08/2023/64e54f299a794789ddb55c65</a:t>
            </a:r>
          </a:p>
          <a:p xmlns:a="http://schemas.openxmlformats.org/drawingml/2006/main">
            <a:r>
              <a:t>https://ru.wikipedia.org/wiki/Беглов,_Александр_Дмитриевич</a:t>
            </a:r>
          </a:p>
          <a:p xmlns:a="http://schemas.openxmlformats.org/drawingml/2006/main">
            <a:r>
              <a:t>https://www.gov.spb.ru/governor/</a:t>
            </a:r>
          </a:p>
          <a:p xmlns:a="http://schemas.openxmlformats.org/drawingml/2006/main">
            <a:r>
              <a:t>https://www.rbc.ru/politics/30/05/2019/5cf02cf09a79475ed4d2fa3f</a:t>
            </a:r>
          </a:p>
          <a:p xmlns:a="http://schemas.openxmlformats.org/drawingml/2006/main">
            <a:r>
              <a:t>https://www.themoscowtimes.com/2019/09/11/st-petersburg-re-elects-governor-beglov-after-controversial-campaign-a67240</a:t>
            </a:r>
          </a:p>
          <a:p xmlns:a="http://schemas.openxmlformats.org/drawingml/2006/main">
            <a:r>
              <a:t>https://www.gov.spb.ru/press/governor/188637/</a:t>
            </a:r>
          </a:p>
          <a:p xmlns:a="http://schemas.openxmlformats.org/drawingml/2006/main">
            <a:r>
              <a:t>https://www.gov.spb.ru/press/governor/213661/</a:t>
            </a:r>
          </a:p>
          <a:p xmlns:a="http://schemas.openxmlformats.org/drawingml/2006/main">
            <a:r>
              <a:t>https://www.gov.spb.ru/press/governor/258831/</a:t>
            </a:r>
          </a:p>
          <a:p xmlns:a="http://schemas.openxmlformats.org/drawingml/2006/main">
            <a:r>
              <a:t>https://www.gov.spb.ru/governor/interview/7333/</a:t>
            </a:r>
          </a:p>
          <a:p xmlns:a="http://schemas.openxmlformats.org/drawingml/2006/main">
            <a:r>
              <a:t>https://tass.ru/interviews/21839179</a:t>
            </a:r>
          </a:p>
          <a:p xmlns:a="http://schemas.openxmlformats.org/drawingml/2006/main">
            <a:r>
              <a:t>https://www.gov.spb.ru/press/governor/236663/</a:t>
            </a:r>
          </a:p>
          <a:p xmlns:a="http://schemas.openxmlformats.org/drawingml/2006/main">
            <a:r>
              <a:t>https://tvspb.ru/news/2022/09/21/aleksandr-beglov-ukaz-prezidenta-o-chastichnoj-mobilizaczii-byl-trudnym-no-neobhodimym-shagom</a:t>
            </a:r>
          </a:p>
          <a:p xmlns:a="http://schemas.openxmlformats.org/drawingml/2006/main">
            <a:r>
              <a:t>https://spbvedomosti.ru/news/gorod/gubernator-aleksandr-beglov-obyavil-o-zavershenii-chastichnoy-mobilizatsii/</a:t>
            </a:r>
          </a:p>
          <a:p xmlns:a="http://schemas.openxmlformats.org/drawingml/2006/main">
            <a:r>
              <a:t>https://www.gov.spb.ru/press/governor/253716/</a:t>
            </a:r>
          </a:p>
          <a:p xmlns:a="http://schemas.openxmlformats.org/drawingml/2006/main">
            <a:r>
              <a:t>https://www.gov.spb.ru/press/governor/290070/</a:t>
            </a:r>
          </a:p>
          <a:p xmlns:a="http://schemas.openxmlformats.org/drawingml/2006/main">
            <a:r>
              <a:t>https://spbdnevnik.ru/news/2022-10-06/aleksandr-beglov-rasskazal-o-prizyve-po-mobilizatsii-peterburzhtsa-s-odnoy-pochkoy</a:t>
            </a:r>
          </a:p>
          <a:p xmlns:a="http://schemas.openxmlformats.org/drawingml/2006/main">
            <a:r>
              <a:t>https://www.rbc.ru/person/62c5c0899a79470082fa57eb</a:t>
            </a:r>
          </a:p>
          <a:p xmlns:a="http://schemas.openxmlformats.org/drawingml/2006/main">
            <a:r>
              <a:t>https://www.kavkaz-uzel.eu/articles/85366</a:t>
            </a:r>
          </a:p>
          <a:p xmlns:a="http://schemas.openxmlformats.org/drawingml/2006/main">
            <a:r>
              <a:t>https://news.ru/regions/my-dolzhny-zabrat-vsyu-ukrainu-chto-kadyrov-govoril-ob-svo-rossii-putine</a:t>
            </a:r>
          </a:p>
          <a:p xmlns:a="http://schemas.openxmlformats.org/drawingml/2006/main">
            <a:r>
              <a:t>https://minval.az/k/ramzan-kadyrov</a:t>
            </a:r>
          </a:p>
          <a:p xmlns:a="http://schemas.openxmlformats.org/drawingml/2006/main">
            <a:r>
              <a:t>http://publication.pravo.gov.ru/document/2000202609160002</a:t>
            </a:r>
          </a:p>
          <a:p xmlns:a="http://schemas.openxmlformats.org/drawingml/2006/main">
            <a:r>
              <a:t>https://vestikavkaza.ru/amp/291219</a:t>
            </a:r>
          </a:p>
          <a:p xmlns:a="http://schemas.openxmlformats.org/drawingml/2006/main">
            <a:r>
              <a:t>https://tass.ru/obschestvo/25968415</a:t>
            </a:r>
          </a:p>
          <a:p xmlns:a="http://schemas.openxmlformats.org/drawingml/2006/main">
            <a:r>
              <a:t>https://www.rbc.ru/rbcfreenews/694558f89a794775c8b05d2e</a:t>
            </a:r>
          </a:p>
          <a:p xmlns:a="http://schemas.openxmlformats.org/drawingml/2006/main">
            <a:r>
              <a:t>https://rais.tatarstan.ru/biografiya.htm</a:t>
            </a:r>
          </a:p>
          <a:p xmlns:a="http://schemas.openxmlformats.org/drawingml/2006/main">
            <a:r>
              <a:t>https://rt.rbc.ru/tatarstan/freenews/68c7f77d9a79472be550408e</a:t>
            </a:r>
          </a:p>
          <a:p xmlns:a="http://schemas.openxmlformats.org/drawingml/2006/main">
            <a:r>
              <a:t>https://rt.rbc.ru/tatarstan/freenews/68c90bdc9a794783273a16b6</a:t>
            </a:r>
          </a:p>
          <a:p xmlns:a="http://schemas.openxmlformats.org/drawingml/2006/main">
            <a:r>
              <a:t>https://tass.ru/politika/25045679</a:t>
            </a:r>
          </a:p>
          <a:p xmlns:a="http://schemas.openxmlformats.org/drawingml/2006/main">
            <a:r>
              <a:t>https://tass.ru/info/25058299</a:t>
            </a:r>
          </a:p>
          <a:p xmlns:a="http://schemas.openxmlformats.org/drawingml/2006/main">
            <a:r>
              <a:t>https://tatarstan.ru/index.htm/news/2454245.htm</a:t>
            </a:r>
          </a:p>
          <a:p xmlns:a="http://schemas.openxmlformats.org/drawingml/2006/main">
            <a:r>
              <a:t>https://izbirkom.tatarstan.ru/file/pub/pub_4719790.docx</a:t>
            </a:r>
          </a:p>
          <a:p xmlns:a="http://schemas.openxmlformats.org/drawingml/2006/main">
            <a:r>
              <a:t>http://www.pfo.gov.ru/press/events/112125/</a:t>
            </a:r>
          </a:p>
          <a:p xmlns:a="http://schemas.openxmlformats.org/drawingml/2006/main">
            <a:r>
              <a:t>https://www.tatar-inform.ru/news/rustam-minnixanov-sankcii-ne-koncatsya-poka-my-ne-stanem-samodostatocnymi-5896958</a:t>
            </a:r>
          </a:p>
          <a:p xmlns:a="http://schemas.openxmlformats.org/drawingml/2006/main">
            <a:r>
              <a:t>https://tatarstan.ru/index.htm/news/1916025.htm</a:t>
            </a:r>
          </a:p>
          <a:p xmlns:a="http://schemas.openxmlformats.org/drawingml/2006/main">
            <a:r>
              <a:t>https://kitaphane.tatarstan.ru/digital.htm</a:t>
            </a:r>
          </a:p>
          <a:p xmlns:a="http://schemas.openxmlformats.org/drawingml/2006/main">
            <a:r>
              <a:t>https://kt.tatarstan.ru/index.htm/news/2266706.htm</a:t>
            </a:r>
          </a:p>
          <a:p xmlns:a="http://schemas.openxmlformats.org/drawingml/2006/main">
            <a:r>
              <a:t>https://tatarstan.ru/index.htm/news/2460505.htm</a:t>
            </a:r>
          </a:p>
          <a:p xmlns:a="http://schemas.openxmlformats.org/drawingml/2006/main">
            <a:r>
              <a:t>https://digital.tatarstan.ru/index.htm/news/2460691.htm</a:t>
            </a:r>
          </a:p>
          <a:p xmlns:a="http://schemas.openxmlformats.org/drawingml/2006/main">
            <a:r>
              <a:t>https://amp.rbc.ru/rbcnews/politics/09/07/2020/5f06bbb69a79475c40a9a094</a:t>
            </a:r>
          </a:p>
          <a:p xmlns:a="http://schemas.openxmlformats.org/drawingml/2006/main">
            <a:r>
              <a:t>https://1kas.sudrf.ru/modules.php?name=sud_delo&amp;name_op=doc&amp;number=39453936&amp;delo_id=2450001&amp;case_type=0&amp;new=2450001&amp;text_number=1&amp;srv_num=1</a:t>
            </a:r>
          </a:p>
          <a:p xmlns:a="http://schemas.openxmlformats.org/drawingml/2006/main">
            <a:r>
              <a:t>https://www.interfax.ru/russia/982916</a:t>
            </a:r>
          </a:p>
          <a:p xmlns:a="http://schemas.openxmlformats.org/drawingml/2006/main">
            <a:r>
              <a:t>https://www.svoboda.org/a/sud-ostavil-v-sile-prigovor-habarovskomu-eks-gubernatoru-sergeyu-furgalu/32686024.html</a:t>
            </a:r>
          </a:p>
          <a:p xmlns:a="http://schemas.openxmlformats.org/drawingml/2006/main">
            <a:r>
              <a:t>https://www.dw.com/ru/kommentarij-furgal-peresidit-putina/a-64670560</a:t>
            </a:r>
          </a:p>
          <a:p xmlns:a="http://schemas.openxmlformats.org/drawingml/2006/main">
            <a:r>
              <a:t>https://www.kommersant.ru/doc/3896415</a:t>
            </a:r>
          </a:p>
          <a:p xmlns:a="http://schemas.openxmlformats.org/drawingml/2006/main">
            <a:r>
              <a:t>https://todaykhv.ru/news/policy/19386/</a:t>
            </a:r>
          </a:p>
          <a:p xmlns:a="http://schemas.openxmlformats.org/drawingml/2006/main">
            <a:r>
              <a:t>https://meduza.io/feature/2018/09/19/ya-dumayu-chto-situatsiya-kak-v-primorie-u-nas-ne-povtoritsya</a:t>
            </a:r>
          </a:p>
          <a:p xmlns:a="http://schemas.openxmlformats.org/drawingml/2006/main">
            <a:r>
              <a:t>https://govoritmoskva.ru/news/174327/</a:t>
            </a:r>
          </a:p>
          <a:p xmlns:a="http://schemas.openxmlformats.org/drawingml/2006/main">
            <a:r>
              <a:t>https://todaykhv.ru/news/policy/22426/?sphrase_id=2620206</a:t>
            </a:r>
          </a:p>
          <a:p xmlns:a="http://schemas.openxmlformats.org/drawingml/2006/main">
            <a:r>
              <a:t>https://ru.wikipedia.org/wiki/%D0%A4%D1%83%D1%80%D0%B3%D0%B0%D0%BB,_%D0%A1%D0%B5%D1%80%D0%B3%D0%B5%D0%B9_%D0%98%D0%B2%D0%B0%D0%BD%D0%BE%D0%B2%D0%B8%D1%87</a:t>
            </a:r>
          </a:p>
          <a:p xmlns:a="http://schemas.openxmlformats.org/drawingml/2006/main">
            <a:r>
              <a:t>https://novayagazeta.ru/articles/2018/09/18/77870-ne-dopuschu-zdes-revolyutsii</a:t>
            </a:r>
          </a:p>
          <a:p xmlns:a="http://schemas.openxmlformats.org/drawingml/2006/main">
            <a:r>
              <a:t>https://opkhv.ru/publications/4888</a:t>
            </a:r>
          </a:p>
          <a:p xmlns:a="http://schemas.openxmlformats.org/drawingml/2006/main">
            <a:r>
              <a:t>https://meduza.io/feature/2019/08/26/partiya-vlasti-zdes-ldpr</a:t>
            </a:r>
          </a:p>
          <a:p xmlns:a="http://schemas.openxmlformats.org/drawingml/2006/main">
            <a:r>
              <a:t>https://tass.ru/obschestvo/5946495</a:t>
            </a:r>
          </a:p>
          <a:p xmlns:a="http://schemas.openxmlformats.org/drawingml/2006/main">
            <a:r>
              <a:t>https://amurmedia.ru/news/775590/</a:t>
            </a:r>
          </a:p>
          <a:p xmlns:a="http://schemas.openxmlformats.org/drawingml/2006/main">
            <a:r>
              <a:t>https://www.eastrussia.ru/material/ne-planiruyushchim-pereezzhat-sovetuyu-pomolchat/</a:t>
            </a:r>
          </a:p>
          <a:p xmlns:a="http://schemas.openxmlformats.org/drawingml/2006/main">
            <a:r>
              <a:t>https://www.dw.com/ru/v-habarovske-priznali-ekstremistskim-dvizenie-v-zasitu-furgala/a-68334442</a:t>
            </a:r>
          </a:p>
          <a:p xmlns:a="http://schemas.openxmlformats.org/drawingml/2006/main">
            <a:r>
              <a:t>https://www.rbc.ru/person/66475fec9a79475c4d9443ad</a:t>
            </a:r>
          </a:p>
          <a:p xmlns:a="http://schemas.openxmlformats.org/drawingml/2006/main">
            <a:r>
              <a:t>https://tass.ru/info/12453099</a:t>
            </a:r>
          </a:p>
          <a:p xmlns:a="http://schemas.openxmlformats.org/drawingml/2006/main">
            <a:r>
              <a:t>https://tass.ru/info/9007455</a:t>
            </a:r>
          </a:p>
          <a:p xmlns:a="http://schemas.openxmlformats.org/drawingml/2006/main">
            <a:r>
              <a:t>https://tass.ru/info/20795009</a:t>
            </a:r>
          </a:p>
          <a:p xmlns:a="http://schemas.openxmlformats.org/drawingml/2006/main">
            <a:r>
              <a:t>https://tass.ru/encyclopedia/person/degtyarev-mihail-vladimirovich</a:t>
            </a:r>
          </a:p>
          <a:p xmlns:a="http://schemas.openxmlformats.org/drawingml/2006/main">
            <a:r>
              <a:t>https://www.rbc.ru/politics/20/07/2020/5f1586289a794722b2457d61</a:t>
            </a:r>
          </a:p>
          <a:p xmlns:a="http://schemas.openxmlformats.org/drawingml/2006/main">
            <a:r>
              <a:t>https://www.minsport.gov.ru/press-center/news/intervyu-mihaila-degtyareva-gazete-kommersant/</a:t>
            </a:r>
          </a:p>
          <a:p xmlns:a="http://schemas.openxmlformats.org/drawingml/2006/main">
            <a:r>
              <a:t>https://minsport.gov.ru/press-center/news/mihail-degtyarev-nashe-mesto-za-stolom-a-ne-v-perednej/</a:t>
            </a:r>
          </a:p>
          <a:p xmlns:a="http://schemas.openxmlformats.org/drawingml/2006/main">
            <a:r>
              <a:t>https://news.ru/vlast/degtyarev-prizval-ne-doveryat-evrope-provedenie-sorevnovanij</a:t>
            </a:r>
          </a:p>
          <a:p xmlns:a="http://schemas.openxmlformats.org/drawingml/2006/main">
            <a:r>
              <a:t>https://www.interfax.ru/presscenter/622170</a:t>
            </a:r>
          </a:p>
          <a:p xmlns:a="http://schemas.openxmlformats.org/drawingml/2006/main">
            <a:r>
              <a:t>https://tass.ru/interviews/13152777</a:t>
            </a:r>
          </a:p>
          <a:p xmlns:a="http://schemas.openxmlformats.org/drawingml/2006/main">
            <a:r>
              <a:t>https://www.sports.ru/others/blogs/3302024.html</a:t>
            </a:r>
          </a:p>
          <a:p xmlns:a="http://schemas.openxmlformats.org/drawingml/2006/main">
            <a:r>
              <a:t>https://www.vremyan.ru/news/556863</a:t>
            </a:r>
          </a:p>
          <a:p xmlns:a="http://schemas.openxmlformats.org/drawingml/2006/main">
            <a:r>
              <a:t>https://kprf.ru/personal/levchenko</a:t>
            </a:r>
          </a:p>
          <a:p xmlns:a="http://schemas.openxmlformats.org/drawingml/2006/main">
            <a:r>
              <a:t>https://www.rbc.ru/politics/23/06/2020/5ef0bd949a7947b3cd3dcba6</a:t>
            </a:r>
          </a:p>
          <a:p xmlns:a="http://schemas.openxmlformats.org/drawingml/2006/main">
            <a:r>
              <a:t>https://kprf.ru/party-live/regnews/194838.html</a:t>
            </a:r>
          </a:p>
          <a:p xmlns:a="http://schemas.openxmlformats.org/drawingml/2006/main">
            <a:r>
              <a:t>https://liveangarsk.ru/news/20191214/v-slozhivsheisya</a:t>
            </a:r>
          </a:p>
          <a:p xmlns:a="http://schemas.openxmlformats.org/drawingml/2006/main">
            <a:r>
              <a:t>https://kprf.ru/dep/gosduma/activities/240271.html</a:t>
            </a:r>
          </a:p>
          <a:p xmlns:a="http://schemas.openxmlformats.org/drawingml/2006/main">
            <a:r>
              <a:t>https://kprf.ru/dep/gosduma/activities/241686.html</a:t>
            </a:r>
          </a:p>
          <a:p xmlns:a="http://schemas.openxmlformats.org/drawingml/2006/main">
            <a:r>
              <a:t>https://altairk.ru/new/policy/the_message_of_the_governor</a:t>
            </a:r>
          </a:p>
          <a:p xmlns:a="http://schemas.openxmlformats.org/drawingml/2006/main">
            <a:r>
              <a:t>https://kto-irkutsk.ru/2026/07/20/sergej-levchenko-deyatelnost-i-zayavleniya-i-ix-ocenka/</a:t>
            </a:r>
          </a:p>
          <a:p xmlns:a="http://schemas.openxmlformats.org/drawingml/2006/main">
            <a:r>
              <a:t>https://ru.wikipedia.org/wiki/%D0%9B%D0%B5%D0%B2%D1%87%D0%B5%D0%BD%D0%BA%D0%BE,_%D0%A1%D0%B5%D1%80%D0%B3%D0%B5%D0%B9_%D0%93%D0%B5%D0%BE%D1%80%D0%B3%D0%B8%D0%B5%D0%B2%D0%B8%D1%87</a:t>
            </a:r>
          </a:p>
          <a:p xmlns:a="http://schemas.openxmlformats.org/drawingml/2006/main">
            <a:r>
              <a:t>https://www.newsru.com/dossiers/10330/</a:t>
            </a:r>
          </a:p>
          <a:p xmlns:a="http://schemas.openxmlformats.org/drawingml/2006/main">
            <a:r>
              <a:t>https://www.interfax.ru/russia/714300</a:t>
            </a:r>
          </a:p>
          <a:p xmlns:a="http://schemas.openxmlformats.org/drawingml/2006/main">
            <a:r>
              <a:t>https://www.rbc.ru/politics/14/09/2020/5f5e7dfb9a79477f7753d651</a:t>
            </a:r>
          </a:p>
          <a:p xmlns:a="http://schemas.openxmlformats.org/drawingml/2006/main">
            <a:r>
              <a:t>https://www.rline.tv/podrobnosti/2019-10-06-sergey-levchenko-za-chetyre-goda-sdelano-bolshe-chem-za-predydushchie-15-let/</a:t>
            </a:r>
          </a:p>
          <a:p xmlns:a="http://schemas.openxmlformats.org/drawingml/2006/main">
            <a:r>
              <a:t>https://vs19.ru/verhovny-sovet/deputati/670-konovalov-valentin-olegovich</a:t>
            </a:r>
          </a:p>
          <a:p xmlns:a="http://schemas.openxmlformats.org/drawingml/2006/main">
            <a:r>
              <a:t>https://meduza.io/feature/2018/09/10/etu-vlast-nichego-ne-spaset</a:t>
            </a:r>
          </a:p>
          <a:p xmlns:a="http://schemas.openxmlformats.org/drawingml/2006/main">
            <a:r>
              <a:t>https://kprf.ru/party-live/regnews/188553.html</a:t>
            </a:r>
          </a:p>
          <a:p xmlns:a="http://schemas.openxmlformats.org/drawingml/2006/main">
            <a:r>
              <a:t>https://www.kommersant.ru/doc/4441936</a:t>
            </a:r>
          </a:p>
          <a:p xmlns:a="http://schemas.openxmlformats.org/drawingml/2006/main">
            <a:r>
              <a:t>http://www.youtube.com/watch?v=eO6lUkFCAqM</a:t>
            </a:r>
          </a:p>
          <a:p xmlns:a="http://schemas.openxmlformats.org/drawingml/2006/main">
            <a:r>
              <a:t>https://ru.wikipedia.org/wiki/%D0%92%D1%8B%D0%B1%D0%BE%D1%80%D1%8B_%D0%B3%D0%BB%D0%B0%D0%B2%D1%8B_%D0%A0%D0%B5%D1%81%D0%BF%D1%83%D0%B1%D0%BB%D0%B8%D0%BA%D0%B8_%D0%A5%D0%B0%D0%BA%D0%B0%D1%81%D0%B8%D1%8F_(2018)</a:t>
            </a:r>
          </a:p>
          <a:p xmlns:a="http://schemas.openxmlformats.org/drawingml/2006/main">
            <a:r>
              <a:t>https://ok.ru/group/51615057903766/topic/157744983021718</a:t>
            </a:r>
          </a:p>
          <a:p xmlns:a="http://schemas.openxmlformats.org/drawingml/2006/main">
            <a:r>
              <a:t>https://kprf.ru/party-live/cknews/245343.html</a:t>
            </a:r>
          </a:p>
          <a:p xmlns:a="http://schemas.openxmlformats.org/drawingml/2006/main">
            <a:r>
              <a:t>https://r-19.ru/news/politika/190680/</a:t>
            </a:r>
          </a:p>
          <a:p xmlns:a="http://schemas.openxmlformats.org/drawingml/2006/main">
            <a:r>
              <a:t>https://r-19.ru/news/ekonomika/193031/</a:t>
            </a:r>
          </a:p>
          <a:p xmlns:a="http://schemas.openxmlformats.org/drawingml/2006/main">
            <a:r>
              <a:t>https://19rusinfo.ru/ekonomika/118670-otchjot</a:t>
            </a:r>
          </a:p>
          <a:p xmlns:a="http://schemas.openxmlformats.org/drawingml/2006/main">
            <a:r>
              <a:t>https://iditena.ru/candidates/konovalov-valentin-olegovich/</a:t>
            </a:r>
          </a:p>
          <a:p xmlns:a="http://schemas.openxmlformats.org/drawingml/2006/main">
            <a:r>
              <a:t>https://56.kprf.ru/deyatelnost/tpost/gjjjuy1zi1-glava-hakasii-valentin-konovalov-dal-int</a:t>
            </a:r>
          </a:p>
          <a:p xmlns:a="http://schemas.openxmlformats.org/drawingml/2006/main">
            <a:r>
              <a:t>https://meduza.io/feature/2019/05/31/strana-pobedivshego-kommunista</a:t>
            </a:r>
          </a:p>
          <a:p xmlns:a="http://schemas.openxmlformats.org/drawingml/2006/main">
            <a:r>
              <a:t>https://xn--80aac0c2a.xn--p1acf/2026/08/22/vstrecha-s-uchastiem-valentina-konovalova-i-alekseya-kornienko-proshla-v-habarovske</a:t>
            </a:r>
          </a:p>
          <a:p xmlns:a="http://schemas.openxmlformats.org/drawingml/2006/main">
            <a:r>
              <a:t>https://www.vedomosti.ru/politics/characters/2026/07/06/1211370-valentin-konovalov-rossiya-na-moskve-ne-zakanchivaetsya?from=newsline</a:t>
            </a:r>
          </a:p>
          <a:p xmlns:a="http://schemas.openxmlformats.org/drawingml/2006/main">
            <a:r>
              <a:t>https://www.vedomosti.ru/person/1215197-aksenov-sergei</a:t>
            </a:r>
          </a:p>
          <a:p xmlns:a="http://schemas.openxmlformats.org/drawingml/2006/main">
            <a:r>
              <a:t>https://www.rbc.ru/person/65f020599a79475815e702c9</a:t>
            </a:r>
          </a:p>
          <a:p xmlns:a="http://schemas.openxmlformats.org/drawingml/2006/main">
            <a:r>
              <a:t>http://crimea.gov.ru/news/30_03_18_10</a:t>
            </a:r>
          </a:p>
          <a:p xmlns:a="http://schemas.openxmlformats.org/drawingml/2006/main">
            <a:r>
              <a:t>https://www.npr.org/sections/parallels/2018/01/27/581114772/putins-man-in-crimea-we-ve-returned-to-russia-forever</a:t>
            </a:r>
          </a:p>
          <a:p xmlns:a="http://schemas.openxmlformats.org/drawingml/2006/main">
            <a:r>
              <a:t>http://crimea.gov.ru/en/news/26_02_19_6</a:t>
            </a:r>
          </a:p>
          <a:p xmlns:a="http://schemas.openxmlformats.org/drawingml/2006/main">
            <a:r>
              <a:t>https://antifashist.com/item/kto-polomal-infopole-kryma-i-ne-otvechaet-na-voprosy.html</a:t>
            </a:r>
          </a:p>
          <a:p xmlns:a="http://schemas.openxmlformats.org/drawingml/2006/main">
            <a:r>
              <a:t>https://ru.krymr.com/a/news/27913548.html</a:t>
            </a:r>
          </a:p>
          <a:p xmlns:a="http://schemas.openxmlformats.org/drawingml/2006/main">
            <a:r>
              <a:t>https://simfch.ru/2022/03/02/glava-respubliki-krym-sergej-aksyonov-prizval-krymchan-k-informaczionnoj-mobilizaczii-otkrytomu-i-publichnomu-vyrazheniyu-svoej-patrioticheskoj-poziczii/</a:t>
            </a:r>
          </a:p>
          <a:p xmlns:a="http://schemas.openxmlformats.org/drawingml/2006/main">
            <a:r>
              <a:t>https://www.rbc.ru/politics/29/05/2023/64749e389a7947f3de98dff2</a:t>
            </a:r>
          </a:p>
          <a:p xmlns:a="http://schemas.openxmlformats.org/drawingml/2006/main">
            <a:r>
              <a:t>https://ru.krymr.com/a/krym-sergey-aksenov-pvo-prilety-bavovna-bezopasnost-pvo-udar/32631709.html</a:t>
            </a:r>
          </a:p>
          <a:p xmlns:a="http://schemas.openxmlformats.org/drawingml/2006/main">
            <a:r>
              <a:t>https://rostov.rbc.ru/rostov/interview/18/03/2024/65f75c4f9a7947c8b475ab94</a:t>
            </a:r>
          </a:p>
          <a:p xmlns:a="http://schemas.openxmlformats.org/drawingml/2006/main">
            <a:r>
              <a:t>https://www.kommersant.ru/doc/7715230</a:t>
            </a:r>
          </a:p>
          <a:p xmlns:a="http://schemas.openxmlformats.org/drawingml/2006/main">
            <a:r>
              <a:t>https://www.kommersant.ru/doc/5154319</a:t>
            </a:r>
          </a:p>
          <a:p xmlns:a="http://schemas.openxmlformats.org/drawingml/2006/main">
            <a:r>
              <a:t>https://www.rbc.ru/person/660290b19a7947801fe9439b</a:t>
            </a:r>
          </a:p>
          <a:p xmlns:a="http://schemas.openxmlformats.org/drawingml/2006/main">
            <a:r>
              <a:t>https://www.kommersant.ru/doc/3759211</a:t>
            </a:r>
          </a:p>
          <a:p xmlns:a="http://schemas.openxmlformats.org/drawingml/2006/main">
            <a:r>
              <a:t>https://tass.ru/info/6656656</a:t>
            </a:r>
          </a:p>
          <a:p xmlns:a="http://schemas.openxmlformats.org/drawingml/2006/main">
            <a:r>
              <a:t>https://sevastopol.er.ru/pages/otchet-gubernatora-sevastopolya-mihaila-razvozhaeva</a:t>
            </a:r>
          </a:p>
          <a:p xmlns:a="http://schemas.openxmlformats.org/drawingml/2006/main">
            <a:r>
              <a:t>http://special.kremlin.ru/catalog/persons/579/events/76271</a:t>
            </a:r>
          </a:p>
          <a:p xmlns:a="http://schemas.openxmlformats.org/drawingml/2006/main">
            <a:r>
              <a:t>https://sevastopol.su/news/chastnyy-biznes-vlozhil-v-sevastopol-250-mlrd-rubley-za-tri-goda</a:t>
            </a:r>
          </a:p>
          <a:p xmlns:a="http://schemas.openxmlformats.org/drawingml/2006/main">
            <a:r>
              <a:t>https://sevastopol.su/news/v-sevastopole-ocenili-perspektivy-mikhaila-razvozhaeva-na-sleduyuschikh-vyborakh</a:t>
            </a:r>
          </a:p>
          <a:p xmlns:a="http://schemas.openxmlformats.org/drawingml/2006/main">
            <a:r>
              <a:t>https://tass.ru/interviews/10248577</a:t>
            </a:r>
          </a:p>
          <a:p xmlns:a="http://schemas.openxmlformats.org/drawingml/2006/main">
            <a:r>
              <a:t>https://news.ru/russia/u-nas-smelye-plany-gubernator-sevastopolya-razvozzhaev-o-budushem-goroda</a:t>
            </a:r>
          </a:p>
          <a:p xmlns:a="http://schemas.openxmlformats.org/drawingml/2006/main">
            <a:r>
              <a:t>http://kremlin.ru/events/administration/80838</a:t>
            </a:r>
          </a:p>
          <a:p xmlns:a="http://schemas.openxmlformats.org/drawingml/2006/main">
            <a:r>
              <a:t>https://tass.ru/kultura/28214691</a:t>
            </a:r>
          </a:p>
          <a:p xmlns:a="http://schemas.openxmlformats.org/drawingml/2006/main">
            <a:r>
              <a:t>http://kremlin.ru/events/administration/80591</a:t>
            </a:r>
          </a:p>
          <a:p xmlns:a="http://schemas.openxmlformats.org/drawingml/2006/main">
            <a:r>
              <a:t>https://governors.ru/glava-regiona/Belgorodskaya-oblast/Gladkov-Vyacheslav-Vladimirovich</a:t>
            </a:r>
          </a:p>
          <a:p xmlns:a="http://schemas.openxmlformats.org/drawingml/2006/main">
            <a:r>
              <a:t>https://ru.wikipedia.org/wiki/%D0%93%D0%BB%D0%B0%D0%B4%D0%BA%D0%BE%D0%B2,_%D0%92%D1%8F%D1%87%D0%B5%D1%81%D0%BB%D0%B0%D0%B2_%D0%92%D0%BB%D0%B0%D0%B4%D0%B8%D0%BC%D0%B8%D1%80%D0%BE%D0%B2%D0%B8%D1%87</a:t>
            </a:r>
          </a:p>
          <a:p xmlns:a="http://schemas.openxmlformats.org/drawingml/2006/main">
            <a:r>
              <a:t>http://council.gov.ru/structure/persons/1543/</a:t>
            </a:r>
          </a:p>
          <a:p xmlns:a="http://schemas.openxmlformats.org/drawingml/2006/main">
            <a:r>
              <a:t>https://ufa.rbc.ru/person/648345539a794760fd0c17e8</a:t>
            </a:r>
          </a:p>
          <a:p xmlns:a="http://schemas.openxmlformats.org/drawingml/2006/main">
            <a:r>
              <a:t>https://www.kommersant.ru/doc/8571119</a:t>
            </a:r>
          </a:p>
          <a:p xmlns:a="http://schemas.openxmlformats.org/drawingml/2006/main">
            <a:r>
              <a:t>https://www.kommersant.ru/doc/8655079</a:t>
            </a:r>
          </a:p>
          <a:p xmlns:a="http://schemas.openxmlformats.org/drawingml/2006/main">
            <a:r>
              <a:t>https://tass.ru/info/27861241</a:t>
            </a:r>
          </a:p>
          <a:p xmlns:a="http://schemas.openxmlformats.org/drawingml/2006/main">
            <a:r>
              <a:t>https://meduza.io/feature/2023/06/08/emu-by-vse-eto-razgresti</a:t>
            </a:r>
          </a:p>
          <a:p xmlns:a="http://schemas.openxmlformats.org/drawingml/2006/main">
            <a:r>
              <a:t>http://www.kremlin.ru/events/president/transcripts/66288</a:t>
            </a:r>
          </a:p>
          <a:p xmlns:a="http://schemas.openxmlformats.org/drawingml/2006/main">
            <a:r>
              <a:t>https://www.belpressa.ru/politics/vlast/62665.html</a:t>
            </a:r>
          </a:p>
          <a:p xmlns:a="http://schemas.openxmlformats.org/drawingml/2006/main">
            <a:r>
              <a:t>https://www.belpressa.ru/politics/vlast/71368.html</a:t>
            </a:r>
          </a:p>
          <a:p xmlns:a="http://schemas.openxmlformats.org/drawingml/2006/main">
            <a:r>
              <a:t>https://www.belnovosti.ru/politika/gubernator/127077.html</a:t>
            </a:r>
          </a:p>
          <a:p xmlns:a="http://schemas.openxmlformats.org/drawingml/2006/main">
            <a:r>
              <a:t>https://chr.plus.rbc.ru/news/694b9fb67a8aa90f9c2ce17d</a:t>
            </a:r>
          </a:p>
          <a:p xmlns:a="http://schemas.openxmlformats.org/drawingml/2006/main">
            <a:r>
              <a:t>https://www.belpressa.ru/society/bezopasnost/43348.html</a:t>
            </a:r>
          </a:p>
          <a:p xmlns:a="http://schemas.openxmlformats.org/drawingml/2006/main">
            <a:r>
              <a:t>https://www.rbc.ru/politics/07/03/2023/640758bf9a7947f6af99d464</a:t>
            </a:r>
          </a:p>
          <a:p xmlns:a="http://schemas.openxmlformats.org/drawingml/2006/main">
            <a:r>
              <a:t>https://www.rbc.ru/politics/24/05/2023/646d22029a794797c4bac4bf</a:t>
            </a:r>
          </a:p>
          <a:p xmlns:a="http://schemas.openxmlformats.org/drawingml/2006/main">
            <a:r>
              <a:t>https://www.bbc.com/russian/articles/c70dkd0pvrlo</a:t>
            </a:r>
          </a:p>
          <a:p xmlns:a="http://schemas.openxmlformats.org/drawingml/2006/main">
            <a:r>
              <a:t>https://www.go31.ru/news/proisshestviya/kak-nikto-drugoy-ponimaem-chto-takoe-agressiya-so-storony-ukrainy-gladkov-o-proryve-granitsy-v-kursk/</a:t>
            </a:r>
          </a:p>
          <a:p xmlns:a="http://schemas.openxmlformats.org/drawingml/2006/main">
            <a:r>
              <a:t>https://echofm.online/portret-dnya/portret-dnya-vyacheslav-gladkov-gubernator-belgorodskoj-oblasti-prognozy-o-sudbe-kotorogo-raznyatsya-ot-posta-posla-v-abhazii-do-ugolovnogo-dela</a:t>
            </a:r>
          </a:p>
          <a:p xmlns:a="http://schemas.openxmlformats.org/drawingml/2006/main">
            <a:r>
              <a:t>https://www.kommersant.ru/doc/3917861</a:t>
            </a:r>
          </a:p>
          <a:p xmlns:a="http://schemas.openxmlformats.org/drawingml/2006/main">
            <a:r>
              <a:t>https://minstroyrf.gov.ru/press/okolo-40-kontsessionnykh-soglasheniy-v-rossii-deystvuet-v-sfere-zhkkh/</a:t>
            </a:r>
          </a:p>
          <a:p xmlns:a="http://schemas.openxmlformats.org/drawingml/2006/main">
            <a:r>
              <a:t>https://newsroom24.ru/murmansk/news/politics/2026/news_323931/</a:t>
            </a:r>
          </a:p>
          <a:p xmlns:a="http://schemas.openxmlformats.org/drawingml/2006/main">
            <a:r>
              <a:t>https://murmansk.ru/52053</a:t>
            </a:r>
          </a:p>
          <a:p xmlns:a="http://schemas.openxmlformats.org/drawingml/2006/main">
            <a:r>
              <a:t>https://51.ru/text/gorod/2026/01/22/76228112/</a:t>
            </a:r>
          </a:p>
          <a:p xmlns:a="http://schemas.openxmlformats.org/drawingml/2006/main">
            <a:r>
              <a:t>https://www.murman.ru/news/2026/05/02/2334/</a:t>
            </a:r>
          </a:p>
          <a:p xmlns:a="http://schemas.openxmlformats.org/drawingml/2006/main">
            <a:r>
              <a:t>https://murman.ru/news/2026/09/06/2141/</a:t>
            </a:r>
          </a:p>
          <a:p xmlns:a="http://schemas.openxmlformats.org/drawingml/2006/main">
            <a:r>
              <a:t>https://www.murman.ru/news/2026/09/13/2242/</a:t>
            </a:r>
          </a:p>
          <a:p xmlns:a="http://schemas.openxmlformats.org/drawingml/2006/main">
            <a:r>
              <a:t>https://ru.wikipedia.org/wiki/%D0%A7%D0%B8%D0%B1%D0%B8%D1%81,_%D0%90%D0%BD%D0%B4%D1%80%D0%B5%D0%B9_%D0%92%D0%BB%D0%B0%D0%B4%D0%B8%D0%BC%D0%B8%D1%80%D0%BE%D0%B2%D0%B8%D1%87</a:t>
            </a:r>
          </a:p>
          <a:p xmlns:a="http://schemas.openxmlformats.org/drawingml/2006/main">
            <a:r>
              <a:t>https://tass.ru/obschestvo/23491353</a:t>
            </a:r>
          </a:p>
          <a:p xmlns:a="http://schemas.openxmlformats.org/drawingml/2006/main">
            <a:r>
              <a:t>https://www.murman.ru/news/2026/09/03/2243/</a:t>
            </a:r>
          </a:p>
          <a:p xmlns:a="http://schemas.openxmlformats.org/drawingml/2006/main">
            <a:r>
              <a:t>https://msp.citymurmansk.ru/news/2026/09/03/0930/</a:t>
            </a:r>
          </a:p>
          <a:p xmlns:a="http://schemas.openxmlformats.org/drawingml/2006/main">
            <a:r>
              <a:t>http://kremlin.ru/events/president/letters/80916</a:t>
            </a:r>
          </a:p>
          <a:p xmlns:a="http://schemas.openxmlformats.org/drawingml/2006/main">
            <a:r>
              <a:t>https://www.murmansk.kp.ru/daily/277813.4/5300258/</a:t>
            </a:r>
          </a:p>
          <a:p xmlns:a="http://schemas.openxmlformats.org/drawingml/2006/main">
            <a:r>
              <a:t>https://www.fontanka.ru/2021/07/27/70046798/</a:t>
            </a:r>
          </a:p>
          <a:p xmlns:a="http://schemas.openxmlformats.org/drawingml/2006/main">
            <a:r>
              <a:t>https://www.kommersant.ru/doc/4639758</a:t>
            </a:r>
          </a:p>
          <a:p xmlns:a="http://schemas.openxmlformats.org/drawingml/2006/main">
            <a:r>
              <a:t>https://www.bbc.com/russian/news-55614829</a:t>
            </a:r>
          </a:p>
          <a:p xmlns:a="http://schemas.openxmlformats.org/drawingml/2006/main">
            <a:r>
              <a:t>https://newpeople.ru/Deputy/sardana-avksenteva</a:t>
            </a:r>
          </a:p>
          <a:p xmlns:a="http://schemas.openxmlformats.org/drawingml/2006/main">
            <a:r>
              <a:t>https://www.pnp.ru/economics/kontrol-za-koncessionnymi-soglasheniyami-predlozhili-usilit.html</a:t>
            </a:r>
          </a:p>
          <a:p xmlns:a="http://schemas.openxmlformats.org/drawingml/2006/main">
            <a:r>
              <a:t>https://www.ng.ru/politics/2024-12-05/1_9150_right.html</a:t>
            </a:r>
          </a:p>
          <a:p xmlns:a="http://schemas.openxmlformats.org/drawingml/2006/main">
            <a:r>
              <a:t>https://news.ru/society/v-novyh-lyudyah-rasskazali-o-glavnyh-zadachah-partii-pered-vyborami</a:t>
            </a:r>
          </a:p>
          <a:p xmlns:a="http://schemas.openxmlformats.org/drawingml/2006/main">
            <a:r>
              <a:t>https://www.kommersant.ru/doc/8939397</a:t>
            </a:r>
          </a:p>
          <a:p xmlns:a="http://schemas.openxmlformats.org/drawingml/2006/main">
            <a:r>
              <a:t>https://tass.ru/info/5220823</a:t>
            </a:r>
          </a:p>
          <a:p xmlns:a="http://schemas.openxmlformats.org/drawingml/2006/main">
            <a:r>
              <a:t>https://tass.ru/info/15547711</a:t>
            </a:r>
          </a:p>
          <a:p xmlns:a="http://schemas.openxmlformats.org/drawingml/2006/main">
            <a:r>
              <a:t>https://www.bbc.com/russian/features-62661643</a:t>
            </a:r>
          </a:p>
          <a:p xmlns:a="http://schemas.openxmlformats.org/drawingml/2006/main">
            <a:r>
              <a:t>https://www.kommersant.ru/doc/3298219</a:t>
            </a:r>
          </a:p>
          <a:p xmlns:a="http://schemas.openxmlformats.org/drawingml/2006/main">
            <a:r>
              <a:t>https://www.svoboda.org/a/31217129.html</a:t>
            </a:r>
          </a:p>
          <a:p xmlns:a="http://schemas.openxmlformats.org/drawingml/2006/main">
            <a:r>
              <a:t>https://www.interfax.ru/russia/902059</a:t>
            </a:r>
          </a:p>
          <a:p xmlns:a="http://schemas.openxmlformats.org/drawingml/2006/main">
            <a:r>
              <a:t>https://www.bfm.ru/news/525620</a:t>
            </a:r>
          </a:p>
          <a:p xmlns:a="http://schemas.openxmlformats.org/drawingml/2006/main">
            <a:r>
              <a:t>https://novayagazeta.ru/articles/2023/03/16/do-urovnia-myshei-media</a:t>
            </a:r>
          </a:p>
          <a:p xmlns:a="http://schemas.openxmlformats.org/drawingml/2006/main">
            <a:r>
              <a:t>https://tjournal.ru/71076</a:t>
            </a:r>
          </a:p>
          <a:p xmlns:a="http://schemas.openxmlformats.org/drawingml/2006/main">
            <a:r>
              <a:t>https://www.nakanune.ru/articles/111648/</a:t>
            </a:r>
          </a:p>
          <a:p xmlns:a="http://schemas.openxmlformats.org/drawingml/2006/main">
            <a:r>
              <a:t>https://adcmemorial.org/statyi/kolonki/neprotivlenie-rasizmu/</a:t>
            </a:r>
          </a:p>
          <a:p xmlns:a="http://schemas.openxmlformats.org/drawingml/2006/main">
            <a:r>
              <a:t>https://www.svoboda.org/a/royzman-i-drugie-zhiteli-ekaterinburga/31997151.html</a:t>
            </a:r>
          </a:p>
          <a:p xmlns:a="http://schemas.openxmlformats.org/drawingml/2006/main">
            <a:r>
              <a:t>https://www.e1.ru/text/politics/2022/02/24/70466417/</a:t>
            </a:r>
          </a:p>
          <a:p xmlns:a="http://schemas.openxmlformats.org/drawingml/2006/main">
            <a:r>
              <a:t>https://www.dw.com/ru/kommentarij-evgenij-rojzman-i-sila-pravdy/a-62917754</a:t>
            </a:r>
          </a:p>
          <a:p xmlns:a="http://schemas.openxmlformats.org/drawingml/2006/main">
            <a:r>
              <a:t>https://meduza.io/paragraph/2022/08/26/priehali-moskvichi-i-dumali-chto-zdes-duraki-sobralis</a:t>
            </a:r>
          </a:p>
          <a:p xmlns:a="http://schemas.openxmlformats.org/drawingml/2006/main">
            <a:r>
              <a:t>https://znamlit.ru/publication.php?id=7379</a:t>
            </a:r>
          </a:p>
          <a:p xmlns:a="http://schemas.openxmlformats.org/drawingml/2006/main">
            <a:r>
              <a:t>https://tass.ru/interviews/6080499</a:t>
            </a:r>
          </a:p>
          <a:p xmlns:a="http://schemas.openxmlformats.org/drawingml/2006/main">
            <a:r>
              <a:t>https://45.ru/text/politics/2024/09/09/73952072/</a:t>
            </a:r>
          </a:p>
          <a:p xmlns:a="http://schemas.openxmlformats.org/drawingml/2006/main">
            <a:r>
              <a:t>http://special.kremlin.ru/events/president/news/70638</a:t>
            </a:r>
          </a:p>
          <a:p xmlns:a="http://schemas.openxmlformats.org/drawingml/2006/main">
            <a:r>
              <a:t>https://ura.news/news/1053132902</a:t>
            </a:r>
          </a:p>
          <a:p xmlns:a="http://schemas.openxmlformats.org/drawingml/2006/main">
            <a:r>
              <a:t>https://ura.news/articles/1036276564</a:t>
            </a:r>
          </a:p>
          <a:p xmlns:a="http://schemas.openxmlformats.org/drawingml/2006/main">
            <a:r>
              <a:t>https://tass.ru/novosti-regionov/28187431</a:t>
            </a:r>
          </a:p>
          <a:p xmlns:a="http://schemas.openxmlformats.org/drawingml/2006/main">
            <a:r>
              <a:t>https://fedpress.ru/person/1753607</a:t>
            </a:r>
          </a:p>
          <a:p xmlns:a="http://schemas.openxmlformats.org/drawingml/2006/main">
            <a:r>
              <a:t>https://eburg.mk.ru/social/2026/10/14/zhiteley-zauralya-predupredili-o-lozhnykh-videorolikakh-s-gubernatorom.html</a:t>
            </a:r>
          </a:p>
          <a:p xmlns:a="http://schemas.openxmlformats.org/drawingml/2006/main">
            <a:r>
              <a:t>https://regnum.ru/news/3530808</a:t>
            </a:r>
          </a:p>
          <a:p xmlns:a="http://schemas.openxmlformats.org/drawingml/2006/main">
            <a:r>
              <a:t>https://kurganvera.ru/news/vrns/mitropolit-daniil-i-vadim-shumkov-vozglavili-delegatsiyu-kurganskoy-oblasti-na-vsemirnom-russkom-sob/</a:t>
            </a:r>
          </a:p>
          <a:p xmlns:a="http://schemas.openxmlformats.org/drawingml/2006/main">
            <a:r>
              <a:t>https://45.ru/text/politics/2026/06/26/76499700/</a:t>
            </a:r>
          </a:p>
          <a:p xmlns:a="http://schemas.openxmlformats.org/drawingml/2006/main">
            <a:r>
              <a:t>https://niva-kurtamysh.com/news/obshchestvo/vystuplenie-gubernatora-kurganskoy-oblasti-vadima-shumkova</a:t>
            </a:r>
          </a:p>
          <a:p xmlns:a="http://schemas.openxmlformats.org/drawingml/2006/main">
            <a:r>
              <a:t>https://t.me/s/kurganskayaobl?before=42616</a:t>
            </a:r>
          </a:p>
          <a:p xmlns:a="http://schemas.openxmlformats.org/drawingml/2006/main">
            <a:r>
              <a:t>https://www.bbc.com/russian/news-54368577</a:t>
            </a:r>
          </a:p>
          <a:p xmlns:a="http://schemas.openxmlformats.org/drawingml/2006/main">
            <a:r>
              <a:t>https://www.bbc.com/russian/articles/cp0769dp15eo</a:t>
            </a:r>
          </a:p>
          <a:p xmlns:a="http://schemas.openxmlformats.org/drawingml/2006/main">
            <a:r>
              <a:t>https://navalny.com/materials/blogpost-6017</a:t>
            </a:r>
          </a:p>
          <a:p xmlns:a="http://schemas.openxmlformats.org/drawingml/2006/main">
            <a:r>
              <a:t>https://www.bbc.com/russian/news-58563592</a:t>
            </a:r>
          </a:p>
          <a:p xmlns:a="http://schemas.openxmlformats.org/drawingml/2006/main">
            <a:r>
              <a:t>https://navalny.com/materials/blogpost-6544</a:t>
            </a:r>
          </a:p>
          <a:p xmlns:a="http://schemas.openxmlformats.org/drawingml/2006/main">
            <a:r>
              <a:t>https://www.bbc.com/russian/news-58270043</a:t>
            </a:r>
          </a:p>
          <a:p xmlns:a="http://schemas.openxmlformats.org/drawingml/2006/main">
            <a:r>
              <a:t>https://www.bbc.com/russian/articles/cvg3p9l1e5ro</a:t>
            </a:r>
          </a:p>
          <a:p xmlns:a="http://schemas.openxmlformats.org/drawingml/2006/main">
            <a:r>
              <a:t>https://www.bbc.com/russian/features-54435835</a:t>
            </a:r>
          </a:p>
          <a:p xmlns:a="http://schemas.openxmlformats.org/drawingml/2006/main">
            <a:r>
              <a:t>https://2018.navalny.com/platform/7/</a:t>
            </a:r>
          </a:p>
          <a:p xmlns:a="http://schemas.openxmlformats.org/drawingml/2006/main">
            <a:r>
              <a:t>https://2018.navalny.com/platform/3/</a:t>
            </a:r>
          </a:p>
          <a:p xmlns:a="http://schemas.openxmlformats.org/drawingml/2006/main">
            <a:r>
              <a:t>https://2018.navalny.com/platform/10/</a:t>
            </a:r>
          </a:p>
          <a:p xmlns:a="http://schemas.openxmlformats.org/drawingml/2006/main">
            <a:r>
              <a:t>https://2018.navalny.com/platform/9/</a:t>
            </a:r>
          </a:p>
          <a:p xmlns:a="http://schemas.openxmlformats.org/drawingml/2006/main">
            <a:r>
              <a:t>https://navalny.com/editorials/aleksey-navalnyy-protiv-voyny</a:t>
            </a:r>
          </a:p>
          <a:p xmlns:a="http://schemas.openxmlformats.org/drawingml/2006/main">
            <a:r>
              <a:t>https://navalny.com/?p=149</a:t>
            </a:r>
          </a:p>
          <a:p xmlns:a="http://schemas.openxmlformats.org/drawingml/2006/main">
            <a:r>
              <a:t>https://www.interfax.ru/russia/876151</a:t>
            </a:r>
          </a:p>
          <a:p xmlns:a="http://schemas.openxmlformats.org/drawingml/2006/main">
            <a:r>
              <a:t>https://www.dw.com/ru/srok-ne-za-fejk-a-za-politiku-reakcii-v-frg-i-rf-na-prigovor-asinu/a-64049957</a:t>
            </a:r>
          </a:p>
          <a:p xmlns:a="http://schemas.openxmlformats.org/drawingml/2006/main">
            <a:r>
              <a:t>https://www.lemonde.fr/en/international/article/2025/05/27/russian-opposition-figure-ilya-yashin-if-ukraine-is-handed-over-to-putin-it-will-be-a-tragedy-and-the-prologue-to-a-global-confrontation_6741728_4.html</a:t>
            </a:r>
          </a:p>
          <a:p xmlns:a="http://schemas.openxmlformats.org/drawingml/2006/main">
            <a:r>
              <a:t>https://www.bbc.com/russian/articles/crgl69w9472o</a:t>
            </a:r>
          </a:p>
          <a:p xmlns:a="http://schemas.openxmlformats.org/drawingml/2006/main">
            <a:r>
              <a:t>https://www.svoboda.org/a/yashin-court/32165539.html</a:t>
            </a:r>
          </a:p>
          <a:p xmlns:a="http://schemas.openxmlformats.org/drawingml/2006/main">
            <a:r>
              <a:t>https://www.dw.com/ru/ila-asin-putin-predvoditel-sil-mrakobesia/a-69923731</a:t>
            </a:r>
          </a:p>
          <a:p xmlns:a="http://schemas.openxmlformats.org/drawingml/2006/main">
            <a:r>
              <a:t>https://novayagazeta.eu/articles/2025/08/01/my-ne-mozhem-trebovat-no-mozhem-obiasniat</a:t>
            </a:r>
          </a:p>
          <a:p xmlns:a="http://schemas.openxmlformats.org/drawingml/2006/main">
            <a:r>
              <a:t>https://meduza.io/feature/2019/07/20/to-chto-putin-ne-smog-sdelat-za-20-let-sobyanin-sdelal-za-mesyats</a:t>
            </a:r>
          </a:p>
          <a:p xmlns:a="http://schemas.openxmlformats.org/drawingml/2006/main">
            <a:r>
              <a:t>https://novayagazeta.eu/articles/2024/11/18/pochuvstvovat-sebia-ne-odinokimi</a:t>
            </a:r>
          </a:p>
          <a:p xmlns:a="http://schemas.openxmlformats.org/drawingml/2006/main">
            <a:r>
              <a:t>https://www.svoboda.org/a/voyna-putin-i-politzaklyuchennye-iljya-yashin-o-svoih-planah/33177839.html</a:t>
            </a:r>
          </a:p>
          <a:p xmlns:a="http://schemas.openxmlformats.org/drawingml/2006/main">
            <a:r>
              <a:t>https://www.dw.com/ru/asin-sejcas-nevozmozno-obedinit-rossijskuu-oppoziciu-da-i-ne-nuzno/a-70291088</a:t>
            </a:r>
          </a:p>
          <a:p xmlns:a="http://schemas.openxmlformats.org/drawingml/2006/main">
            <a:r>
              <a:t>https://www.dw.com/ru/vladimir-karamurza/t-37465233</a:t>
            </a:r>
          </a:p>
          <a:p xmlns:a="http://schemas.openxmlformats.org/drawingml/2006/main">
            <a:r>
              <a:t>https://ovd.info/persons/kara-murza-vladimir-vladimirovich</a:t>
            </a:r>
          </a:p>
          <a:p xmlns:a="http://schemas.openxmlformats.org/drawingml/2006/main">
            <a:r>
              <a:t>https://ovd.info/2024/08/03/kogo-rossiya-vydala-v-ramkakh-obmena-zaklyuchennymi-s-zapadom-istorii-osvobozhdennykh</a:t>
            </a:r>
          </a:p>
          <a:p xmlns:a="http://schemas.openxmlformats.org/drawingml/2006/main">
            <a:r>
              <a:t>https://www.svoboda.org/a/kara-murza-obmen/33059121.html</a:t>
            </a:r>
          </a:p>
          <a:p xmlns:a="http://schemas.openxmlformats.org/drawingml/2006/main">
            <a:r>
              <a:t>https://novayagazeta.ru/articles/2024/08/16/prezident-baiden-prinial-osvobozhdennogo-v-rezultate-obmena-politzakliuchennogo-vladimira-kara-murzu-s-semei-v-belom-dome-news</a:t>
            </a:r>
          </a:p>
          <a:p xmlns:a="http://schemas.openxmlformats.org/drawingml/2006/main">
            <a:r>
              <a:t>https://genevasummit.org/speech/vladimir-kara-murza-speaks-at-2018-geneva-summit-main-event/</a:t>
            </a:r>
          </a:p>
          <a:p xmlns:a="http://schemas.openxmlformats.org/drawingml/2006/main">
            <a:r>
              <a:t>https://humanrights.ca/event-series/presidents-lecture-series</a:t>
            </a:r>
          </a:p>
          <a:p xmlns:a="http://schemas.openxmlformats.org/drawingml/2006/main">
            <a:r>
              <a:t>https://www.radiofrance.fr/franceinter/podcasts/l-info-de-france-inter/la-democratie-doit-etre-protegee-chaque-minute-de-chaque-jour-declare-l-opposant-russe-vladimir-kara-mourza-8105094</a:t>
            </a:r>
          </a:p>
          <a:p xmlns:a="http://schemas.openxmlformats.org/drawingml/2006/main">
            <a:r>
              <a:t>https://georgetownvoice.com/2025/10/08/dissident-in-residence-vladimir-kara-murza-applies-past-lessons-to-present-day-in-recent-event-discussing-democracy/</a:t>
            </a:r>
          </a:p>
          <a:p xmlns:a="http://schemas.openxmlformats.org/drawingml/2006/main">
            <a:r>
              <a:t>https://www.oscepa.org/en/documents/winter-meetings/2025-vienna/speeches-36/5176-vladimir-kara-murza-address-to-the-osce-pa-winter-meeting-in-vienna-21-february-2025/file</a:t>
            </a:r>
          </a:p>
          <a:p xmlns:a="http://schemas.openxmlformats.org/drawingml/2006/main">
            <a:r>
              <a:t>https://hrf.org/wp-content/uploads/2024/10/VKM-%E2%80%93-Statement-of-Facts-and-Levinson-Analysis.pdf</a:t>
            </a:r>
          </a:p>
          <a:p xmlns:a="http://schemas.openxmlformats.org/drawingml/2006/main">
            <a:r>
              <a:t>https://www.govinfo.gov/content/pkg/CREC-2024-06-11/html/CREC-2024-06-11-pt1-PgH3699.htm</a:t>
            </a:r>
          </a:p>
          <a:p xmlns:a="http://schemas.openxmlformats.org/drawingml/2006/main">
            <a:r>
              <a:t>https://antiwarcommittee.info/en/statement-on-the-persecution-of-vladimir-kara-murza/</a:t>
            </a:r>
          </a:p>
          <a:p xmlns:a="http://schemas.openxmlformats.org/drawingml/2006/main">
            <a:r>
              <a:t>https://www.norway.no/en/missions/osce/norway-and-the-osce/statements/statements-with--norwegian-alignment-2024/joint-statement-on-vladimir-kara-murza/</a:t>
            </a:r>
          </a:p>
          <a:p xmlns:a="http://schemas.openxmlformats.org/drawingml/2006/main">
            <a:r>
              <a:t>https://www.aljazeera.com/news/2025/4/23/kremlin-critic-decried-for-racist-rant-on-minorities-fighting-for-russia</a:t>
            </a:r>
          </a:p>
          <a:p xmlns:a="http://schemas.openxmlformats.org/drawingml/2006/main">
            <a:r>
              <a:t>https://www.rmc.edu/news/former-political-prisoner-vladimir-kara-murza-offers-vision-of-hope-for-russian-democracy/</a:t>
            </a:r>
          </a:p>
          <a:p xmlns:a="http://schemas.openxmlformats.org/drawingml/2006/main">
            <a:r>
              <a:t>https://2018.yavlinsky.ru/campaign/</a:t>
            </a:r>
          </a:p>
          <a:p xmlns:a="http://schemas.openxmlformats.org/drawingml/2006/main">
            <a:r>
              <a:t>http://2018.yavlinsky.ru/programm/</a:t>
            </a:r>
          </a:p>
          <a:p xmlns:a="http://schemas.openxmlformats.org/drawingml/2006/main">
            <a:r>
              <a:t>https://campaign2018.yavlinsky.ru/</a:t>
            </a:r>
          </a:p>
          <a:p xmlns:a="http://schemas.openxmlformats.org/drawingml/2006/main">
            <a:r>
              <a:t>https://www.yavlinsky.ru/position/war/</a:t>
            </a:r>
          </a:p>
          <a:p xmlns:a="http://schemas.openxmlformats.org/drawingml/2006/main">
            <a:r>
              <a:t>https://www.yavlinsky.ru/position/cease-fire/</a:t>
            </a:r>
          </a:p>
          <a:p xmlns:a="http://schemas.openxmlformats.org/drawingml/2006/main">
            <a:r>
              <a:t>https://www.yavlinsky.ru/article_tax/ukraina/</a:t>
            </a:r>
          </a:p>
          <a:p xmlns:a="http://schemas.openxmlformats.org/drawingml/2006/main">
            <a:r>
              <a:t>https://www.yavlinsky.ru/biografiya/</a:t>
            </a:r>
          </a:p>
          <a:p xmlns:a="http://schemas.openxmlformats.org/drawingml/2006/main">
            <a:r>
              <a:t>https://www.yabloko.ru/publikatsii/2018/02/15_0</a:t>
            </a:r>
          </a:p>
          <a:p xmlns:a="http://schemas.openxmlformats.org/drawingml/2006/main">
            <a:r>
              <a:t>https://www.yabloko.ru/publikatsii/2018/06/19</a:t>
            </a:r>
          </a:p>
          <a:p xmlns:a="http://schemas.openxmlformats.org/drawingml/2006/main">
            <a:r>
              <a:t>https://www.yavlinsky.ru/article/eto-referendum/</a:t>
            </a:r>
          </a:p>
          <a:p xmlns:a="http://schemas.openxmlformats.org/drawingml/2006/main">
            <a:r>
              <a:t>https://www.svoboda.org/a/27801792.html</a:t>
            </a:r>
          </a:p>
          <a:p xmlns:a="http://schemas.openxmlformats.org/drawingml/2006/main">
            <a:r>
              <a:t>https://www.svoboda.org/a/29294829.html</a:t>
            </a:r>
          </a:p>
          <a:p xmlns:a="http://schemas.openxmlformats.org/drawingml/2006/main">
            <a:r>
              <a:t>https://www.yavlinsky.ru/article/intervyu-g-yavlinskogo-zhertvy-budut-proryva-net/</a:t>
            </a:r>
          </a:p>
          <a:p xmlns:a="http://schemas.openxmlformats.org/drawingml/2006/main">
            <a:r>
              <a:t>https://www.yavlinsky.ru/article/my-budem-idti-do-kontsa/</a:t>
            </a:r>
          </a:p>
          <a:p xmlns:a="http://schemas.openxmlformats.org/drawingml/2006/main">
            <a:r>
              <a:t>https://www.yavlinsky.ru/article/prezidentskie-vybory-1996-30-let-spustya/</a:t>
            </a:r>
          </a:p>
          <a:p xmlns:a="http://schemas.openxmlformats.org/drawingml/2006/main">
            <a:r>
              <a:t>https://www.forbes.ru/interview/45575-reformatory-prihodyat-k-vlasti-grigorii-yavlinskii</a:t>
            </a:r>
          </a:p>
          <a:p xmlns:a="http://schemas.openxmlformats.org/drawingml/2006/main">
            <a:r>
              <a:t>https://www.bbc.com/russian/articles/cy8ee2wngd8o</a:t>
            </a:r>
          </a:p>
          <a:p xmlns:a="http://schemas.openxmlformats.org/drawingml/2006/main">
            <a:r>
              <a:t>https://www.yabloko.ru/regnews/Pskov/2019/01/21-0</a:t>
            </a:r>
          </a:p>
          <a:p xmlns:a="http://schemas.openxmlformats.org/drawingml/2006/main">
            <a:r>
              <a:t>https://www.yabloko.ru/publikatsii/2019/06/14</a:t>
            </a:r>
          </a:p>
          <a:p xmlns:a="http://schemas.openxmlformats.org/drawingml/2006/main">
            <a:r>
              <a:t>https://zona.media/article/2019/02/27/pskov</a:t>
            </a:r>
          </a:p>
          <a:p xmlns:a="http://schemas.openxmlformats.org/drawingml/2006/main">
            <a:r>
              <a:t>https://spektr.press/ya-otvechayu-za-vse-mnoj-skazannoe-no-ne-otvechayu-za-izvraschenie-skazannogo-lev-shlosberg-o-travle-i-setkah-telegram-kanalov-odnokletochnyh-politikah-reshivshih-pobedit-putina-rukami-u/</a:t>
            </a:r>
          </a:p>
          <a:p xmlns:a="http://schemas.openxmlformats.org/drawingml/2006/main">
            <a:r>
              <a:t>https://www.yabloko.ru/Persons/shlosberg.html</a:t>
            </a:r>
          </a:p>
          <a:p xmlns:a="http://schemas.openxmlformats.org/drawingml/2006/main">
            <a:r>
              <a:t>https://pln-pskov.ru/politics/314872.html</a:t>
            </a:r>
          </a:p>
          <a:p xmlns:a="http://schemas.openxmlformats.org/drawingml/2006/main">
            <a:r>
              <a:t>https://www.yabloko.ru/publikatsii/2022/02/18-0</a:t>
            </a:r>
          </a:p>
          <a:p xmlns:a="http://schemas.openxmlformats.org/drawingml/2006/main">
            <a:r>
              <a:t>https://ru.krymr.com/a/rossiya-putin-voyna-repressii-lev-shlosberg-intervyu/31806389.html</a:t>
            </a:r>
          </a:p>
          <a:p xmlns:a="http://schemas.openxmlformats.org/drawingml/2006/main">
            <a:r>
              <a:t>https://www.currenttime.tv/a/politika-vlastey-chtoby-lyudi-perestali-govorit-o-spetsialnoy-voennoy-operatsii-lev-shlosberg-o-dele-protiv-nego-i-nikolaya-kuzmina/31807396.html</a:t>
            </a:r>
          </a:p>
          <a:p xmlns:a="http://schemas.openxmlformats.org/drawingml/2006/main">
            <a:r>
              <a:t>https://zona.media/article/2026/08/14/schlosberg</a:t>
            </a:r>
          </a:p>
          <a:p xmlns:a="http://schemas.openxmlformats.org/drawingml/2006/main">
            <a:r>
              <a:t>https://www.svoboda.org/a/lishniy-zalozhnik-vot-chto-im-vazhno-arest-lva-shlosberga/33615624.html</a:t>
            </a:r>
          </a:p>
          <a:p xmlns:a="http://schemas.openxmlformats.org/drawingml/2006/main">
            <a:r>
              <a:t>https://novayagazeta.eu/articles/2026/08/17/ostavshiisia</a:t>
            </a:r>
          </a:p>
          <a:p xmlns:a="http://schemas.openxmlformats.org/drawingml/2006/main">
            <a:r>
              <a:t>https://www.yabloko.ru/content/vishnevskii_boris_lazarevich</a:t>
            </a:r>
          </a:p>
          <a:p xmlns:a="http://schemas.openxmlformats.org/drawingml/2006/main">
            <a:r>
              <a:t>https://www.dp.ru/a/2018/06/18/Aktivnaja_storona_konflikt</a:t>
            </a:r>
          </a:p>
          <a:p xmlns:a="http://schemas.openxmlformats.org/drawingml/2006/main">
            <a:r>
              <a:t>https://www.bbc.com/russian/features-58481940</a:t>
            </a:r>
          </a:p>
          <a:p xmlns:a="http://schemas.openxmlformats.org/drawingml/2006/main">
            <a:r>
              <a:t>https://www.dp.ru/a/2023/01/16/Deputat_Peterburga_Vishnev</a:t>
            </a:r>
          </a:p>
          <a:p xmlns:a="http://schemas.openxmlformats.org/drawingml/2006/main">
            <a:r>
              <a:t>https://echofm.online/portret-dnya/portret-dnya-boris-vishnevskij-peterburgskij-politik</a:t>
            </a:r>
          </a:p>
          <a:p xmlns:a="http://schemas.openxmlformats.org/drawingml/2006/main">
            <a:r>
              <a:t>https://spb.yabloko.ru/people/vishnevskij-boris-lazarevich/</a:t>
            </a:r>
          </a:p>
          <a:p xmlns:a="http://schemas.openxmlformats.org/drawingml/2006/main">
            <a:r>
              <a:t>https://www.dp.ru/a/2026/08/26/bitva-nachalas-gde-v-peterburge</a:t>
            </a:r>
          </a:p>
          <a:p xmlns:a="http://schemas.openxmlformats.org/drawingml/2006/main">
            <a:r>
              <a:t>https://www.yabloko.ru/regnews/Spb/2022/02/21</a:t>
            </a:r>
          </a:p>
          <a:p xmlns:a="http://schemas.openxmlformats.org/drawingml/2006/main">
            <a:r>
              <a:t>https://www.yabloko.ru/cat-news/2021/08/06-0</a:t>
            </a:r>
          </a:p>
          <a:p xmlns:a="http://schemas.openxmlformats.org/drawingml/2006/main">
            <a:r>
              <a:t>https://www.rbc.ru/spb_sz/16/01/2023/63c53d9c9a7947d9bef4b853</a:t>
            </a:r>
          </a:p>
          <a:p xmlns:a="http://schemas.openxmlformats.org/drawingml/2006/main">
            <a:r>
              <a:t>https://www.rbc.ru/politics/06/05/2024/6638a8609a79472c01075a2c</a:t>
            </a:r>
          </a:p>
          <a:p xmlns:a="http://schemas.openxmlformats.org/drawingml/2006/main">
            <a:r>
              <a:t>https://www.svoboda.org/a/politika-dmitriya-gudkova-deportirovali-iz-gruzii-v-kiev/31679697.html</a:t>
            </a:r>
          </a:p>
          <a:p xmlns:a="http://schemas.openxmlformats.org/drawingml/2006/main">
            <a:r>
              <a:t>https://ru.krymr.com/a/dmitriy-gudkov-ob-otyezde-iz-rossii/31295079.html</a:t>
            </a:r>
          </a:p>
          <a:p xmlns:a="http://schemas.openxmlformats.org/drawingml/2006/main">
            <a:r>
              <a:t>https://daily.afisha.ru/news/114366-syn-politika-dmitriya-gudkova-pokonchil-s-soboy-v-emigracii/amp/</a:t>
            </a:r>
          </a:p>
          <a:p xmlns:a="http://schemas.openxmlformats.org/drawingml/2006/main">
            <a:r>
              <a:t>https://life.ru/t/dmitriygudkov</a:t>
            </a:r>
          </a:p>
          <a:p xmlns:a="http://schemas.openxmlformats.org/drawingml/2006/main">
            <a:r>
              <a:t>https://uk.wikipedia.org/wiki/%D0%93%D1%83%D0%B4%D0%BA%D0%BE%D0%B2_%D0%94%D0%BC%D0%B8%D1%82%D1%80%D1%96%D0%B9_%D0%93%D0%B5%D0%BD%D0%B0%D0%B4%D1%96%D0%B9%D0%BE%D0%B2%D0%B8%D1%87</a:t>
            </a:r>
          </a:p>
          <a:p xmlns:a="http://schemas.openxmlformats.org/drawingml/2006/main">
            <a:r>
              <a:t>https://mt.gazeta.ru/blog/43692366076/Syin-byivshego-deputata-Gosdumyi-Dmitriya-Gudkova-pokonchil-s-so?utm_referrer=mirtesen.ru</a:t>
            </a:r>
          </a:p>
          <a:p xmlns:a="http://schemas.openxmlformats.org/drawingml/2006/main">
            <a:r>
              <a:t>https://www.bbc.com/russian/news-57381443</a:t>
            </a:r>
          </a:p>
          <a:p xmlns:a="http://schemas.openxmlformats.org/drawingml/2006/main">
            <a:r>
              <a:t>https://www.themoscowtimes.com/2021/06/06/kremlin-critic-dmitry-gudkov-flees-to-ukraine-a74123</a:t>
            </a:r>
          </a:p>
          <a:p xmlns:a="http://schemas.openxmlformats.org/drawingml/2006/main">
            <a:r>
              <a:t>https://www.yabloko.ru/publikatsii/2016/09/15</a:t>
            </a:r>
          </a:p>
          <a:p xmlns:a="http://schemas.openxmlformats.org/drawingml/2006/main">
            <a:r>
              <a:t>https://novayagazeta.ru/articles/2018/03/21/75886-ya-privyk-lyudyam-verit</a:t>
            </a:r>
          </a:p>
          <a:p xmlns:a="http://schemas.openxmlformats.org/drawingml/2006/main">
            <a:r>
              <a:t>https://www.rbc.ru/politics/15/03/2018/5aaa98049a7947d12d63f1e1</a:t>
            </a:r>
          </a:p>
          <a:p xmlns:a="http://schemas.openxmlformats.org/drawingml/2006/main">
            <a:r>
              <a:t>https://rus.team/people/gudkov-dmitrij-gennadevich</a:t>
            </a:r>
          </a:p>
          <a:p xmlns:a="http://schemas.openxmlformats.org/drawingml/2006/main">
            <a:r>
              <a:t>https://www.azattyqasia.org/a/chto-proiskhodit-v-donbasse-/31863310/lbl0lbi299676.html</a:t>
            </a:r>
          </a:p>
          <a:p xmlns:a="http://schemas.openxmlformats.org/drawingml/2006/main">
            <a:r>
              <a:t>https://www.dw.com/ru/dmitrij-gudkov-putin-na-storone-partii-vojny-no-pri-etom-on-trus-21092022/video-63193199</a:t>
            </a:r>
          </a:p>
          <a:p xmlns:a="http://schemas.openxmlformats.org/drawingml/2006/main">
            <a:r>
              <a:t>https://ru.wikinews.org/wiki/%D0%9A%D0%B0%D1%82%D0%B5%D0%B3%D0%BE%D1%80%D0%B8%D1%8F:%D0%93%D0%B5%D0%BD%D0%BD%D0%B0%D0%B4%D0%B8%D0%B9_%D0%93%D1%83%D0%B4%D0%BA%D0%BE%D0%B2</a:t>
            </a:r>
          </a:p>
          <a:p xmlns:a="http://schemas.openxmlformats.org/drawingml/2006/main">
            <a:r>
              <a:t>https://en.wikipedia.org/wiki/Gennady_Gudkov</a:t>
            </a:r>
          </a:p>
          <a:p xmlns:a="http://schemas.openxmlformats.org/drawingml/2006/main">
            <a:r>
              <a:t>https://x.com/gudkov_g</a:t>
            </a:r>
          </a:p>
          <a:p xmlns:a="http://schemas.openxmlformats.org/drawingml/2006/main">
            <a:r>
              <a:t>https://www.dw.com/ru/chto-dmitrij-gudkov-nameren-delat-v-ukraine-i-vernetsja-li-v-rossiju/a-57830619</a:t>
            </a:r>
          </a:p>
          <a:p xmlns:a="http://schemas.openxmlformats.org/drawingml/2006/main">
            <a:r>
              <a:t>https://ru.wikipedia.org/wiki/%D0%93%D1%83%D0%B4%D0%BA%D0%BE%D0%B2,_%D0%93%D0%B5%D0%BD%D0%BD%D0%B0%D0%B4%D0%B8%D0%B9_%D0%92%D0%BB%D0%B0%D0%B4%D0%B8%D0%BC%D0%B8%D1%80%D0%BE%D0%B2%D0%B8%D1%87</a:t>
            </a:r>
          </a:p>
          <a:p xmlns:a="http://schemas.openxmlformats.org/drawingml/2006/main">
            <a:r>
              <a:t>https://ru.wikipedia.org/wiki/%D0%93%D1%83%D0%B4%D0%BA%D0%BE%D0%B2,_%D0%94%D0%BC%D0%B8%D1%82%D1%80%D0%B8%D0%B9_%D0%93%D0%B5%D0%BD%D0%BD%D0%B0%D0%B4%D1%8C%D0%B5%D0%B2%D0%B8%D1%87</a:t>
            </a:r>
          </a:p>
          <a:p xmlns:a="http://schemas.openxmlformats.org/drawingml/2006/main">
            <a:r>
              <a:t>https://utro02.tv/2022/10/31/navstrechu-sezdu-gennadij-gudkov-o-vyborah-obedinenii-oppoziczii-i-razdelenii-vlasti/</a:t>
            </a:r>
          </a:p>
          <a:p xmlns:a="http://schemas.openxmlformats.org/drawingml/2006/main">
            <a:r>
              <a:t>https://www.unian.net/war/rossiyskiy-oppozicioner-gudkov-putin-nachinaet-ponimat-chto-nastupaet-zh-pa-12031263.html</a:t>
            </a:r>
          </a:p>
          <a:p xmlns:a="http://schemas.openxmlformats.org/drawingml/2006/main">
            <a:r>
              <a:t>https://bntnews.bg/genadiy-gudkov-86846tag.html</a:t>
            </a:r>
          </a:p>
          <a:p xmlns:a="http://schemas.openxmlformats.org/drawingml/2006/main">
            <a:r>
              <a:t>https://tass.ru/encyclopedia/person/gudkov-dmitriy-gennadevich</a:t>
            </a:r>
          </a:p>
          <a:p xmlns:a="http://schemas.openxmlformats.org/drawingml/2006/main">
            <a:r>
              <a:t>https://www.kasparov.com/garry-kasparov-on-putin-and-the-virus-of-imperialism-wsj-free-expression-april-11-2022/</a:t>
            </a:r>
          </a:p>
          <a:p xmlns:a="http://schemas.openxmlformats.org/drawingml/2006/main">
            <a:r>
              <a:t>https://www.ilmessaggero.it/en/garry_kasparov_from_chess_champion_to_kremlin_critic-9797261.html</a:t>
            </a:r>
          </a:p>
          <a:p xmlns:a="http://schemas.openxmlformats.org/drawingml/2006/main">
            <a:r>
              <a:t>https://www.kasparov.com/category/russia/</a:t>
            </a:r>
          </a:p>
          <a:p xmlns:a="http://schemas.openxmlformats.org/drawingml/2006/main">
            <a:r>
              <a:t>https://www.kasparov.com/category/politics/</a:t>
            </a:r>
          </a:p>
          <a:p xmlns:a="http://schemas.openxmlformats.org/drawingml/2006/main">
            <a:r>
              <a:t>https://en.wikipedia.org/wiki/Political_views_of_Garry_Kasparov</a:t>
            </a:r>
          </a:p>
          <a:p xmlns:a="http://schemas.openxmlformats.org/drawingml/2006/main">
            <a:r>
              <a:t>https://www.dw.com/ru/kasparov-v-intervu-dw-vse-cto-delal-delaet-i-budet-delat-tramp-pomogaet-putinu/a-79633734</a:t>
            </a:r>
          </a:p>
          <a:p xmlns:a="http://schemas.openxmlformats.org/drawingml/2006/main">
            <a:r>
              <a:t>https://www.kasparov.com/</a:t>
            </a:r>
          </a:p>
          <a:p xmlns:a="http://schemas.openxmlformats.org/drawingml/2006/main">
            <a:r>
              <a:t>https://www.kasparov.com/a-conversation-with-garry-kasparov-thought-economics-with-vikas-shas-may-21-2017/</a:t>
            </a:r>
          </a:p>
          <a:p xmlns:a="http://schemas.openxmlformats.org/drawingml/2006/main">
            <a:r>
              <a:t>https://www.kasparov.com/new-yorker-interview-the-chess-grandmaster-and-political-activist-on-putin-trump-and-how-we-are-living-again-through-the-eighteen-fifties/</a:t>
            </a:r>
          </a:p>
          <a:p xmlns:a="http://schemas.openxmlformats.org/drawingml/2006/main">
            <a:r>
              <a:t>https://www.cnbc.com/2017/02/13/the-full-interview-with-former-world-chess-champion-garry-kasparov-on-trump-putin.html</a:t>
            </a:r>
          </a:p>
          <a:p xmlns:a="http://schemas.openxmlformats.org/drawingml/2006/main">
            <a:r>
              <a:t>https://www.reuters.com/world/europe/kasparov-calls-world-powers-throw-russia-back-into-stone-age-2022-03-03/</a:t>
            </a:r>
          </a:p>
          <a:p xmlns:a="http://schemas.openxmlformats.org/drawingml/2006/main">
            <a:r>
              <a:t>https://khodorkovsky.com/open-russia-manifesto/</a:t>
            </a:r>
          </a:p>
          <a:p xmlns:a="http://schemas.openxmlformats.org/drawingml/2006/main">
            <a:r>
              <a:t>https://khodorkovsky.com/programmes/initiatives/openrussia/</a:t>
            </a:r>
          </a:p>
          <a:p xmlns:a="http://schemas.openxmlformats.org/drawingml/2006/main">
            <a:r>
              <a:t>https://khodorkovsky.com/page/65/?m</a:t>
            </a:r>
          </a:p>
          <a:p xmlns:a="http://schemas.openxmlformats.org/drawingml/2006/main">
            <a:r>
              <a:t>https://khodorkovsky.com/page/80/?m</a:t>
            </a:r>
          </a:p>
          <a:p xmlns:a="http://schemas.openxmlformats.org/drawingml/2006/main">
            <a:r>
              <a:t>https://angliya.com/publication/mihail-hodorkovskiy-ne-priznayu-razdelenie-lyudey-na-osnovanii-politicheskih-vzglyadov/</a:t>
            </a:r>
          </a:p>
          <a:p xmlns:a="http://schemas.openxmlformats.org/drawingml/2006/main">
            <a:r>
              <a:t>https://www.dw.com/ru/mihail-hodorkovski-bojus-jeta-vojna-ne-budet-poslednej/a-61314556</a:t>
            </a:r>
          </a:p>
          <a:p xmlns:a="http://schemas.openxmlformats.org/drawingml/2006/main">
            <a:r>
              <a:t>https://ru.euronews.com/2022/06/21/ru-khodorkovsky-interview</a:t>
            </a:r>
          </a:p>
          <a:p xmlns:a="http://schemas.openxmlformats.org/drawingml/2006/main">
            <a:r>
              <a:t>https://ru.euronews.com/2022/06/23/mikhail-khodorkovsky</a:t>
            </a:r>
          </a:p>
          <a:p xmlns:a="http://schemas.openxmlformats.org/drawingml/2006/main">
            <a:r>
              <a:t>https://poligonmedia.io/mihail-hodorkovskij-putin-ne-pobedil/</a:t>
            </a:r>
          </a:p>
          <a:p xmlns:a="http://schemas.openxmlformats.org/drawingml/2006/main">
            <a:r>
              <a:t>https://www.pap.pl/ru/russian/news/khodorkovskiy-u-putina-est-prichiny-vesti-peregovory-o-prekraschenii-voyny-na-ukraine</a:t>
            </a:r>
          </a:p>
          <a:p xmlns:a="http://schemas.openxmlformats.org/drawingml/2006/main">
            <a:r>
              <a:t>https://milov.org/cat/debates</a:t>
            </a:r>
          </a:p>
          <a:p xmlns:a="http://schemas.openxmlformats.org/drawingml/2006/main">
            <a:r>
              <a:t>https://milov.org/entry/4188</a:t>
            </a:r>
          </a:p>
          <a:p xmlns:a="http://schemas.openxmlformats.org/drawingml/2006/main">
            <a:r>
              <a:t>https://milov.org/cat/international</a:t>
            </a:r>
          </a:p>
          <a:p xmlns:a="http://schemas.openxmlformats.org/drawingml/2006/main">
            <a:r>
              <a:t>https://tvrain.tv/teleshow/amerikanskie_gonki/tramp_vynashivaet_ideju_primiritsja_s_putinym-453802/</a:t>
            </a:r>
          </a:p>
          <a:p xmlns:a="http://schemas.openxmlformats.org/drawingml/2006/main">
            <a:r>
              <a:t>https://www.currenttime.tv/a/vladimir-milov-interview/31505887.html</a:t>
            </a:r>
          </a:p>
          <a:p xmlns:a="http://schemas.openxmlformats.org/drawingml/2006/main">
            <a:r>
              <a:t>https://ovd.info/express-news/2021/07/27/roskomnadzor-potreboval-ot-youtube-zablokirovat-kanaly-troikh-soratnikov</a:t>
            </a:r>
          </a:p>
          <a:p xmlns:a="http://schemas.openxmlformats.org/drawingml/2006/main">
            <a:r>
              <a:t>https://www.dw.com/ru/sud-v-moskve-prigovoril-vladimira-milova-k-8-godam-kolonii/a-67415717</a:t>
            </a:r>
          </a:p>
          <a:p xmlns:a="http://schemas.openxmlformats.org/drawingml/2006/main">
            <a:r>
              <a:t>https://ru.wikipedia.org/wiki/%D0%9C%D0%B8%D0%BB%D0%BE%D0%B2,_%D0%92%D0%BB%D0%B0%D0%B4%D0%B8%D0%BC%D0%B8%D1%80_%D0%A1%D1%82%D0%B0%D0%BD%D0%B8%D1%81%D0%BB%D0%B0%D0%B2%D0%BE%D0%B2%D0%B8%D1%87</a:t>
            </a:r>
          </a:p>
          <a:p xmlns:a="http://schemas.openxmlformats.org/drawingml/2006/main">
            <a:r>
              <a:t>https://gordonua.com/news/worldnews/milov-merkel-molodec-poteryala-vsego-7-8-v-polzu-svezhey-antiimmigrantskoy-partii-na-fone-migrantskogo-krizisa-208758.html</a:t>
            </a:r>
          </a:p>
          <a:p xmlns:a="http://schemas.openxmlformats.org/drawingml/2006/main">
            <a:r>
              <a:t>https://echofm.online/programs/hochu-skazat/hochu-skazat-larina-69</a:t>
            </a:r>
          </a:p>
          <a:p xmlns:a="http://schemas.openxmlformats.org/drawingml/2006/main">
            <a:r>
              <a:t>https://www.hoover.org/plus/research/russian-opposition-and-ukraine-conversation-vladimir-milov</a:t>
            </a:r>
          </a:p>
          <a:p xmlns:a="http://schemas.openxmlformats.org/drawingml/2006/main">
            <a:r>
              <a:t>https://www.golosameriki.com/a/washington-dialogue-russian-opposition-conference/7648250.html</a:t>
            </a:r>
          </a:p>
          <a:p xmlns:a="http://schemas.openxmlformats.org/drawingml/2006/main">
            <a:r>
              <a:t>https://glavred.info/chat/1337-vladimir-milov.html</a:t>
            </a:r>
          </a:p>
          <a:p xmlns:a="http://schemas.openxmlformats.org/drawingml/2006/main">
            <a:r>
              <a:t>https://www.interfax.ru/moscow/669378</a:t>
            </a:r>
          </a:p>
          <a:p xmlns:a="http://schemas.openxmlformats.org/drawingml/2006/main">
            <a:r>
              <a:t>https://tass.ru/politika/6670439</a:t>
            </a:r>
          </a:p>
          <a:p xmlns:a="http://schemas.openxmlformats.org/drawingml/2006/main">
            <a:r>
              <a:t>https://www.rbc.ru/politics/16/07/2019/5d2c8b3b9a794799a7c7d413</a:t>
            </a:r>
          </a:p>
          <a:p xmlns:a="http://schemas.openxmlformats.org/drawingml/2006/main">
            <a:r>
              <a:t>https://www.bbc.com/russian/news-56269079</a:t>
            </a:r>
          </a:p>
          <a:p xmlns:a="http://schemas.openxmlformats.org/drawingml/2006/main">
            <a:r>
              <a:t>https://ovd.info/express-news/2020/12/28/s-yurista-fbk-kotoraya-provela-pochti-dvoe-sutok-v-ivs-pytalis-vzyat</a:t>
            </a:r>
          </a:p>
          <a:p xmlns:a="http://schemas.openxmlformats.org/drawingml/2006/main">
            <a:r>
              <a:t>https://ovd.info/express-news/2021/02/26/prokuratura-utverdila-obvinenie-sobol-po-delu-o-proniknovenii-v-kvartiru</a:t>
            </a:r>
          </a:p>
          <a:p xmlns:a="http://schemas.openxmlformats.org/drawingml/2006/main">
            <a:r>
              <a:t>https://ovd.info/express-news/2020/12/29/protiv-alekseya-navalnogo-vozbudili-ugolovnoe-delo-o-moshennichestve-iz-za</a:t>
            </a:r>
          </a:p>
          <a:p xmlns:a="http://schemas.openxmlformats.org/drawingml/2006/main">
            <a:r>
              <a:t>https://www.currenttime.tv/a/sobol/31723600.html</a:t>
            </a:r>
          </a:p>
          <a:p xmlns:a="http://schemas.openxmlformats.org/drawingml/2006/main">
            <a:r>
              <a:t>https://www.currenttime.tv/interview/episodes/2022/2/26</a:t>
            </a:r>
          </a:p>
          <a:p xmlns:a="http://schemas.openxmlformats.org/drawingml/2006/main">
            <a:r>
              <a:t>https://ochevidcy.com/putin-budet-vorovat-do-groba/</a:t>
            </a:r>
          </a:p>
          <a:p xmlns:a="http://schemas.openxmlformats.org/drawingml/2006/main">
            <a:r>
              <a:t>https://www.svoboda.org/a/32881433.html</a:t>
            </a:r>
          </a:p>
          <a:p xmlns:a="http://schemas.openxmlformats.org/drawingml/2006/main">
            <a:r>
              <a:t>https://echofm.online/programs/idyom-po-zvyozdam/idyom-po-zvezdam-s-lyubovyu-sobol</a:t>
            </a:r>
          </a:p>
          <a:p xmlns:a="http://schemas.openxmlformats.org/drawingml/2006/main">
            <a:r>
              <a:t>https://x.com/SobolLubov</a:t>
            </a:r>
          </a:p>
          <a:p xmlns:a="http://schemas.openxmlformats.org/drawingml/2006/main">
            <a:r>
              <a:t>https://stuki-druki.com/authors/sobol-lubov.php</a:t>
            </a:r>
          </a:p>
          <a:p xmlns:a="http://schemas.openxmlformats.org/drawingml/2006/main">
            <a:r>
              <a:t>https://www.interfax.ru/elections2018/593143</a:t>
            </a:r>
          </a:p>
          <a:p xmlns:a="http://schemas.openxmlformats.org/drawingml/2006/main">
            <a:r>
              <a:t>https://elections2018.tass.ru/candidate/sobchak</a:t>
            </a:r>
          </a:p>
          <a:p xmlns:a="http://schemas.openxmlformats.org/drawingml/2006/main">
            <a:r>
              <a:t>https://www.interfax.ru/elections2018/604186</a:t>
            </a:r>
          </a:p>
          <a:p xmlns:a="http://schemas.openxmlformats.org/drawingml/2006/main">
            <a:r>
              <a:t>https://www.interfax.ru/elections2018/604908</a:t>
            </a:r>
          </a:p>
          <a:p xmlns:a="http://schemas.openxmlformats.org/drawingml/2006/main">
            <a:r>
              <a:t>https://www.consultant.ru/law/hotdocs/53066.html</a:t>
            </a:r>
          </a:p>
          <a:p xmlns:a="http://schemas.openxmlformats.org/drawingml/2006/main">
            <a:r>
              <a:t>https://www.rbc.ru/newspaper/2018/03/20/5aae9ca49a794739b02918a0</a:t>
            </a:r>
          </a:p>
          <a:p xmlns:a="http://schemas.openxmlformats.org/drawingml/2006/main">
            <a:r>
              <a:t>https://www.interfax.ru/elections2018/604136</a:t>
            </a:r>
          </a:p>
          <a:p xmlns:a="http://schemas.openxmlformats.org/drawingml/2006/main">
            <a:r>
              <a:t>https://www.interfax.ru/elections2018/604190</a:t>
            </a:r>
          </a:p>
          <a:p xmlns:a="http://schemas.openxmlformats.org/drawingml/2006/main">
            <a:r>
              <a:t>https://www.rbc.ru/economics/25/12/2017/5a4025f19a79472e3f5f4ad9?from=right_column_materials_3</a:t>
            </a:r>
          </a:p>
          <a:p xmlns:a="http://schemas.openxmlformats.org/drawingml/2006/main">
            <a:r>
              <a:t>https://news.ru/show-business/otezd-iz-rf-vybory-svo-v-chem-priznalas-kseniya-sobchak-v-novom-intervyu</a:t>
            </a:r>
          </a:p>
          <a:p xmlns:a="http://schemas.openxmlformats.org/drawingml/2006/main">
            <a:r>
              <a:t>https://rtvi.com/news/sobchak-otvetila-na-vopros-putin-ili-zelenskij/</a:t>
            </a:r>
          </a:p>
          <a:p xmlns:a="http://schemas.openxmlformats.org/drawingml/2006/main">
            <a:r>
              <a:t>https://informator.ua/ru/kompromissy-iz-rf-legitimnost-zelenskogo-i-gotovnost-pozhat-ruku-putinu-o-chem-govoril-arestovich-v-intervyu-sobchak</a:t>
            </a:r>
          </a:p>
          <a:p xmlns:a="http://schemas.openxmlformats.org/drawingml/2006/main">
            <a:r>
              <a:t>https://rassvet-party.info/</a:t>
            </a:r>
          </a:p>
          <a:p xmlns:a="http://schemas.openxmlformats.org/drawingml/2006/main">
            <a:r>
              <a:t>https://en.wikipedia.org/wiki/Yekaterina_Duntsova</a:t>
            </a:r>
          </a:p>
          <a:p xmlns:a="http://schemas.openxmlformats.org/drawingml/2006/main">
            <a:r>
              <a:t>https://www.dw.com/ru/cto-nuzno-znat-o-ekaterine-duncovoj-kotoraa-hocet-stat-prezidentom-rf/a-67832425</a:t>
            </a:r>
          </a:p>
          <a:p xmlns:a="http://schemas.openxmlformats.org/drawingml/2006/main">
            <a:r>
              <a:t>https://baj.media/ru/ya-gotova-idti-do-konca-zhurnalistka-iz-rossiyskoy-provincii-reshila-stat-prezidentom-i-2/</a:t>
            </a:r>
          </a:p>
          <a:p xmlns:a="http://schemas.openxmlformats.org/drawingml/2006/main">
            <a:r>
              <a:t>https://echofm.online/portret-dnya/portret-dnya-ekaterina-dunczova-reshivshaya-vydvinutsya-kandidatom-v-prezidenty-rossii-zhurnalistka-iz-rzheva</a:t>
            </a:r>
          </a:p>
          <a:p xmlns:a="http://schemas.openxmlformats.org/drawingml/2006/main">
            <a:r>
              <a:t>https://novayagazeta.eu/articles/2024/03/15/zlost-i-nenavist-vsem-nadoeli</a:t>
            </a:r>
          </a:p>
          <a:p xmlns:a="http://schemas.openxmlformats.org/drawingml/2006/main">
            <a:r>
              <a:t>https://altapress.ru/politika/story/kto-takaya-ekaterina-duntsova-kotoraya-sobiraetsya-stat-poslednim-prezidentom-rossii-i-kto-eshche-hochet-ballotirovatsya-336526</a:t>
            </a:r>
          </a:p>
          <a:p xmlns:a="http://schemas.openxmlformats.org/drawingml/2006/main">
            <a:r>
              <a:t>https://cherta.media/interview/ekaterina-duncova-kandidat-v-prezidenty/</a:t>
            </a:r>
          </a:p>
          <a:p xmlns:a="http://schemas.openxmlformats.org/drawingml/2006/main">
            <a:r>
              <a:t>https://novayagazeta.eu/articles/2023/12/05/zachem-ia-budu-stoiat-na-barrikadakh-esli-mogu-zanimatsia-realnymi-delami</a:t>
            </a:r>
          </a:p>
          <a:p xmlns:a="http://schemas.openxmlformats.org/drawingml/2006/main">
            <a:r>
              <a:t>https://holod.media/2023/12/20/ekaterina-duntsova-view/</a:t>
            </a:r>
          </a:p>
          <a:p xmlns:a="http://schemas.openxmlformats.org/drawingml/2006/main">
            <a:r>
              <a:t>https://www.dw.com/ru/ekaterina-duncova-o-sozdanii-partii-rassvet-my-mezdu-dvuh-ognej/a-68992724</a:t>
            </a:r>
          </a:p>
          <a:p xmlns:a="http://schemas.openxmlformats.org/drawingml/2006/main">
            <a:r>
              <a:t>https://rassvet-party.info/static/program.pdf</a:t>
            </a:r>
          </a:p>
          <a:p xmlns:a="http://schemas.openxmlformats.org/drawingml/2006/main">
            <a:r>
              <a:t>https://www.currenttime.tv/a/ekaterina-duntsova-o-sozdanii-partii-i-svoem-zaderzhanii/32775510.html</a:t>
            </a:r>
          </a:p>
          <a:p xmlns:a="http://schemas.openxmlformats.org/drawingml/2006/main">
            <a:r>
              <a:t>https://duntsovainitiative.1c-umi.ru/galereya/</a:t>
            </a:r>
          </a:p>
          <a:p xmlns:a="http://schemas.openxmlformats.org/drawingml/2006/main">
            <a:r>
              <a:t>https://rassvet-party.info/static/manifest.pdf</a:t>
            </a:r>
          </a:p>
          <a:p xmlns:a="http://schemas.openxmlformats.org/drawingml/2006/main">
            <a:r>
              <a:t>https://www.rbc.ru/person/65afb4a99a79470e434da73d</a:t>
            </a:r>
          </a:p>
          <a:p xmlns:a="http://schemas.openxmlformats.org/drawingml/2006/main">
            <a:r>
              <a:t>https://www.bbc.com/russian/articles/c84npr0wxx9o</a:t>
            </a:r>
          </a:p>
          <a:p xmlns:a="http://schemas.openxmlformats.org/drawingml/2006/main">
            <a:r>
              <a:t>https://www.rbc.ru/politics/08/02/2024/65c3749b9a79479ef5fe7934</a:t>
            </a:r>
          </a:p>
          <a:p xmlns:a="http://schemas.openxmlformats.org/drawingml/2006/main">
            <a:r>
              <a:t>https://www.business-gazeta.ru/article/622600</a:t>
            </a:r>
          </a:p>
          <a:p xmlns:a="http://schemas.openxmlformats.org/drawingml/2006/main">
            <a:r>
              <a:t>https://semnasem.org/articles/2024/02/02/poslednij-sredi-antivoennyh-kto-takoj-boris-nadezhdin-kotoryj-vse-eshe-nadeetsya-stat-prezidentom</a:t>
            </a:r>
          </a:p>
          <a:p xmlns:a="http://schemas.openxmlformats.org/drawingml/2006/main">
            <a:r>
              <a:t>https://novayagazeta.eu/articles/2024/02/03/17-marta-nachalo-kontsa-epokhi-putina</a:t>
            </a:r>
          </a:p>
          <a:p xmlns:a="http://schemas.openxmlformats.org/drawingml/2006/main">
            <a:r>
              <a:t>https://www.youtube.com/watch?v=mGMdgxBCdns</a:t>
            </a:r>
          </a:p>
          <a:p xmlns:a="http://schemas.openxmlformats.org/drawingml/2006/main">
            <a:r>
              <a:t>https://www.dw.com/ru/boris-nadezdin-moj-rejting-rastet-na-5-v-nedelu/a-68154251</a:t>
            </a:r>
          </a:p>
          <a:p xmlns:a="http://schemas.openxmlformats.org/drawingml/2006/main">
            <a:r>
              <a:t>https://ovd.info/express-news/2026/07/17/u-menya-dva-puti-lenina-ili-navalnogo-chto-nuzhno-znat-o-borise-nadezhdine</a:t>
            </a:r>
          </a:p>
          <a:p xmlns:a="http://schemas.openxmlformats.org/drawingml/2006/main">
            <a:r>
              <a:t>https://www.rbc.ru/person/65afb4a99a79470e434da73d?ysclid=mrt22n99to603501119</a:t>
            </a:r>
          </a:p>
          <a:p xmlns:a="http://schemas.openxmlformats.org/drawingml/2006/main">
            <a:r>
              <a:t>https://www.youtube.com/watch?v=UNytg_H_1pY</a:t>
            </a:r>
          </a:p>
          <a:p xmlns:a="http://schemas.openxmlformats.org/drawingml/2006/main">
            <a:r>
              <a:t>https://www.youtube.com/watch?v=DwTC5bilf_8</a:t>
            </a:r>
          </a:p>
          <a:p xmlns:a="http://schemas.openxmlformats.org/drawingml/2006/main">
            <a:r>
              <a:t>https://www.youtube.com/watch?v=sG4_THnT9W0</a:t>
            </a:r>
          </a:p>
          <a:p xmlns:a="http://schemas.openxmlformats.org/drawingml/2006/main">
            <a:r>
              <a:t>https://www.rbc.ru/rbcfreenews/6586cdf49a79479c3cd3d4b3</a:t>
            </a:r>
          </a:p>
          <a:p xmlns:a="http://schemas.openxmlformats.org/drawingml/2006/main">
            <a:r>
              <a:t>https://kprf.ru/activity/elections/223485.html/print</a:t>
            </a:r>
          </a:p>
          <a:p xmlns:a="http://schemas.openxmlformats.org/drawingml/2006/main">
            <a:r>
              <a:t>http://msk.kprf.ru/2024/01/24/247473/</a:t>
            </a:r>
          </a:p>
          <a:p xmlns:a="http://schemas.openxmlformats.org/drawingml/2006/main">
            <a:r>
              <a:t>https://www.dw.com/ru/vybory-prezidenta-rossii-2024/a-68528003</a:t>
            </a:r>
          </a:p>
          <a:p xmlns:a="http://schemas.openxmlformats.org/drawingml/2006/main">
            <a:r>
              <a:t>https://ru.wikipedia.org/wiki/%D0%A5%D0%B0%D1%80%D0%B8%D1%82%D0%BE%D0%BD%D0%BE%D0%B2,_%D0%9D%D0%B8%D0%BA%D0%BE%D0%BB%D0%B0%D0%B9_%D0%9C%D0%B8%D1%85%D0%B0%D0%B9%D0%BB%D0%BE%D0%B2%D0%B8%D1%87</a:t>
            </a:r>
          </a:p>
          <a:p xmlns:a="http://schemas.openxmlformats.org/drawingml/2006/main">
            <a:r>
              <a:t>https://kprf.ru/party-live/cknews/225170.html</a:t>
            </a:r>
          </a:p>
          <a:p xmlns:a="http://schemas.openxmlformats.org/drawingml/2006/main">
            <a:r>
              <a:t>https://kprf.ru/dep/gosduma/activities/232802.html</a:t>
            </a:r>
          </a:p>
          <a:p xmlns:a="http://schemas.openxmlformats.org/drawingml/2006/main">
            <a:r>
              <a:t>https://kprf35.com/2024/02/17/32710/</a:t>
            </a:r>
          </a:p>
          <a:p xmlns:a="http://schemas.openxmlformats.org/drawingml/2006/main">
            <a:r>
              <a:t>https://www.pkokprf.ru/news/view/35448</a:t>
            </a:r>
          </a:p>
          <a:p xmlns:a="http://schemas.openxmlformats.org/drawingml/2006/main">
            <a:r>
              <a:t>https://altkprf.ru/upload/iblock/eea/jiv0wm7hzk6gq4qdxw0r5wvp7zwb6luk.pdf</a:t>
            </a:r>
          </a:p>
          <a:p xmlns:a="http://schemas.openxmlformats.org/drawingml/2006/main">
            <a:r>
              <a:t>https://kprf.ru/activity/army/224789.html</a:t>
            </a:r>
          </a:p>
          <a:p xmlns:a="http://schemas.openxmlformats.org/drawingml/2006/main">
            <a:r>
              <a:t>https://gazeta-pravda.ru/issue/24-31517-711-marta-2024-goda-/alternativa-polupravde/</a:t>
            </a:r>
          </a:p>
          <a:p xmlns:a="http://schemas.openxmlformats.org/drawingml/2006/main">
            <a:r>
              <a:t>https://spbpalata.ru/?p=13755</a:t>
            </a:r>
          </a:p>
          <a:p xmlns:a="http://schemas.openxmlformats.org/drawingml/2006/main">
            <a:r>
              <a:t>https://kprf.ru/activity/elections/171941.html</a:t>
            </a:r>
          </a:p>
          <a:p xmlns:a="http://schemas.openxmlformats.org/drawingml/2006/main">
            <a:r>
              <a:t>https://kprf.ru/party-live/cknews/171994.html</a:t>
            </a:r>
          </a:p>
          <a:p xmlns:a="http://schemas.openxmlformats.org/drawingml/2006/main">
            <a:r>
              <a:t>https://elections2018.tass.ru/candidate/grudinin</a:t>
            </a:r>
          </a:p>
          <a:p xmlns:a="http://schemas.openxmlformats.org/drawingml/2006/main">
            <a:r>
              <a:t>https://www.bbc.com/russian/features-43105617</a:t>
            </a:r>
          </a:p>
          <a:p xmlns:a="http://schemas.openxmlformats.org/drawingml/2006/main">
            <a:r>
              <a:t>https://www.rbc.ru/politics/24/07/2021/60fbe35b9a794716f25253a0</a:t>
            </a:r>
          </a:p>
          <a:p xmlns:a="http://schemas.openxmlformats.org/drawingml/2006/main">
            <a:r>
              <a:t>https://kprf.ru/dep/reg/204410.html</a:t>
            </a:r>
          </a:p>
          <a:p xmlns:a="http://schemas.openxmlformats.org/drawingml/2006/main">
            <a:r>
              <a:t>https://msk.kprf.ru/2021/09/16/168273/</a:t>
            </a:r>
          </a:p>
          <a:p xmlns:a="http://schemas.openxmlformats.org/drawingml/2006/main">
            <a:r>
              <a:t>https://svpressa.ru/persons/pavel-grudinin/</a:t>
            </a:r>
          </a:p>
          <a:p xmlns:a="http://schemas.openxmlformats.org/drawingml/2006/main">
            <a:r>
              <a:t>https://carnegieendowment.org/ru/russia-eurasia/posts/2018/02/kuda-privedut-ekonomiku-rossii-20-shagov-grudinina</a:t>
            </a:r>
          </a:p>
          <a:p xmlns:a="http://schemas.openxmlformats.org/drawingml/2006/main">
            <a:r>
              <a:t>https://www.kompas-rf.ru/2018/01/2980/</a:t>
            </a:r>
          </a:p>
          <a:p xmlns:a="http://schemas.openxmlformats.org/drawingml/2006/main">
            <a:r>
              <a:t>https://www.svoboda.org/a/30073365.html</a:t>
            </a:r>
          </a:p>
          <a:p xmlns:a="http://schemas.openxmlformats.org/drawingml/2006/main">
            <a:r>
              <a:t>https://kandidativprezidenti.ru/programma-grudinina-2018/</a:t>
            </a:r>
          </a:p>
          <a:p xmlns:a="http://schemas.openxmlformats.org/drawingml/2006/main">
            <a:r>
              <a:t>https://mbk-news.appspot.com/suzhet/za-lenina-i-protiv-ege/</a:t>
            </a:r>
          </a:p>
          <a:p xmlns:a="http://schemas.openxmlformats.org/drawingml/2006/main">
            <a:r>
              <a:t>https://www.amnesty.org/ru/latest/research/2021/06/zayavlenie-rossijskaya-federacziya-obvinitelnyj-prigovor-nikolayu-platoshkinu-dolzhen-byt-otmenyon/</a:t>
            </a:r>
          </a:p>
          <a:p xmlns:a="http://schemas.openxmlformats.org/drawingml/2006/main">
            <a:r>
              <a:t>https://zona.media/article/2021/05/20/nikolay-nikolaevitch</a:t>
            </a:r>
          </a:p>
          <a:p xmlns:a="http://schemas.openxmlformats.org/drawingml/2006/main">
            <a:r>
              <a:t>https://novayagazeta.ru/articles/2020/06/05/85705-sotsialisticheskiy-prizyv</a:t>
            </a:r>
          </a:p>
          <a:p xmlns:a="http://schemas.openxmlformats.org/drawingml/2006/main">
            <a:r>
              <a:t>https://www.revda-info.ru/2020/08/26/v-revde-poyavilos-otdelenie-dvizheniya-za-novyj-sotsializm-ego-lider-sejchas-pod-arestom</a:t>
            </a:r>
          </a:p>
          <a:p xmlns:a="http://schemas.openxmlformats.org/drawingml/2006/main">
            <a:r>
              <a:t>https://new-socialism.org/o-dvizhenii/programma/</a:t>
            </a:r>
          </a:p>
          <a:p xmlns:a="http://schemas.openxmlformats.org/drawingml/2006/main">
            <a:r>
              <a:t>https://new-socialism.org/o-dvizhenii/lider/</a:t>
            </a:r>
          </a:p>
          <a:p xmlns:a="http://schemas.openxmlformats.org/drawingml/2006/main">
            <a:r>
              <a:t>https://www.themoscowtimes.com/2024/01/19/ilya-ponomaryov-we-have-to-capture-the-kremlin-there-is-no-other-way-a83772</a:t>
            </a:r>
          </a:p>
          <a:p xmlns:a="http://schemas.openxmlformats.org/drawingml/2006/main">
            <a:r>
              <a:t>https://www.dw.com/ru/cto-izvestno-o-rossijskih-podrazdeleniah-v-sostave-vsu/a-63915634</a:t>
            </a:r>
          </a:p>
          <a:p xmlns:a="http://schemas.openxmlformats.org/drawingml/2006/main">
            <a:r>
              <a:t>https://www.svoboda.org/a/32321226.html</a:t>
            </a:r>
          </a:p>
          <a:p xmlns:a="http://schemas.openxmlformats.org/drawingml/2006/main">
            <a:r>
              <a:t>https://hromadske.ua/ru/posts/nasha-cel-moskva-my-dolzhny-sbrosit-putina-rossijskie-partizany-mif-ili-pravda</a:t>
            </a:r>
          </a:p>
          <a:p xmlns:a="http://schemas.openxmlformats.org/drawingml/2006/main">
            <a:r>
              <a:t>https://epravda.com.ua/rus/publications/2018/06/11/637572/</a:t>
            </a:r>
          </a:p>
          <a:p xmlns:a="http://schemas.openxmlformats.org/drawingml/2006/main">
            <a:r>
              <a:t>https://pointmedia.io/story/672b355fdc48800406e0f515</a:t>
            </a:r>
          </a:p>
          <a:p xmlns:a="http://schemas.openxmlformats.org/drawingml/2006/main">
            <a:r>
              <a:t>https://ru.wikipedia.org/wiki/%D0%9B%D0%B5%D0%B3%D0%B8%D0%BE%D0%BD_%C2%AB%D0%A1%D0%B2%D0%BE%D0%B1%D0%BE%D0%B4%D0%B0_%D0%A0%D0%BE%D1%81%D1%81%D0%B8%D0%B8%C2%BB</a:t>
            </a:r>
          </a:p>
          <a:p xmlns:a="http://schemas.openxmlformats.org/drawingml/2006/main">
            <a:r>
              <a:t>https://ru.wikipedia.org/wiki/%D0%9F%D0%BE%D0%BD%D0%BE%D0%BC%D0%B0%D1%80%D1%91%D0%B2,_%D0%98%D0%BB%D1%8C%D1%8F_%D0%92%D0%BB%D0%B0%D0%B4%D0%B8%D0%BC%D0%B8%D1%80%D0%BE%D0%B2%D0%B8%D1%87</a:t>
            </a:r>
          </a:p>
          <a:p xmlns:a="http://schemas.openxmlformats.org/drawingml/2006/main">
            <a:r>
              <a:t>https://russophob.ru/person/ponomarev_ilya_vladimirovich</a:t>
            </a:r>
          </a:p>
          <a:p xmlns:a="http://schemas.openxmlformats.org/drawingml/2006/main">
            <a:r>
              <a:t>https://www.svoboda.org/a/32063164.html</a:t>
            </a:r>
          </a:p>
          <a:p xmlns:a="http://schemas.openxmlformats.org/drawingml/2006/main">
            <a:r>
              <a:t>https://www.kpbs.org/news/news/international/2023/03/26/a-scrappy-newscast-in-kyiv-aimed-at-russians-counters-putins-propaganda-machine</a:t>
            </a:r>
          </a:p>
          <a:p xmlns:a="http://schemas.openxmlformats.org/drawingml/2006/main">
            <a:r>
              <a:t>https://ovd.info/express-news/2022/10/02/politik-leonid-gozman-uekhal-iz-rossii-posle-dvukh-administrativnykh</a:t>
            </a:r>
          </a:p>
          <a:p xmlns:a="http://schemas.openxmlformats.org/drawingml/2006/main">
            <a:r>
              <a:t>https://ovd.info/express-news/2022/08/30/politika-leonida-gozmana-arestovali-na-15-sutok-iz-za-posta-v-feysbuke</a:t>
            </a:r>
          </a:p>
          <a:p xmlns:a="http://schemas.openxmlformats.org/drawingml/2006/main">
            <a:r>
              <a:t>https://www.rbc.ru/politics/15/07/2022/62d1b3f39a7947299cdeb6a4</a:t>
            </a:r>
          </a:p>
          <a:p xmlns:a="http://schemas.openxmlformats.org/drawingml/2006/main">
            <a:r>
              <a:t>https://novayagazeta.eu/articles/2022/07/15/sk-doprosil-politika-leonida-gozmana-kak-podozrevaemogo-po-delu-o-neuvedomlenii-o-vtorom-grazhdanstve-news</a:t>
            </a:r>
          </a:p>
          <a:p xmlns:a="http://schemas.openxmlformats.org/drawingml/2006/main">
            <a:r>
              <a:t>https://www.rbc.ru/politics/15/02/2024/65cdc9e09a7947a2995026fa</a:t>
            </a:r>
          </a:p>
          <a:p xmlns:a="http://schemas.openxmlformats.org/drawingml/2006/main">
            <a:r>
              <a:t>https://ovd.info/express-news/2025/01/22/leonida-gozmana-i-rovshana-askerova-vnesli-v-reestr-terroristov-i</a:t>
            </a:r>
          </a:p>
          <a:p xmlns:a="http://schemas.openxmlformats.org/drawingml/2006/main">
            <a:r>
              <a:t>https://www.rbc.ru/opinion-authors/gozman</a:t>
            </a:r>
          </a:p>
          <a:p xmlns:a="http://schemas.openxmlformats.org/drawingml/2006/main">
            <a:r>
              <a:t>https://novayagazeta.eu/articles/2022/07/25/ovd-info-v-moskve-zaderzhali-politika-leonida-gozmana-news</a:t>
            </a:r>
          </a:p>
          <a:p xmlns:a="http://schemas.openxmlformats.org/drawingml/2006/main">
            <a:r>
              <a:t>https://gefter.ru/archive/23487</a:t>
            </a:r>
          </a:p>
          <a:p xmlns:a="http://schemas.openxmlformats.org/drawingml/2006/main">
            <a:r>
              <a:t>https://www.svoboda.org/a/31147156.html</a:t>
            </a:r>
          </a:p>
          <a:p xmlns:a="http://schemas.openxmlformats.org/drawingml/2006/main">
            <a:r>
              <a:t>https://uatv.ua/gozman-putin-zagnal-rossiyu-v-ugol-sleduyushhij-shag-repressii/</a:t>
            </a:r>
          </a:p>
          <a:p xmlns:a="http://schemas.openxmlformats.org/drawingml/2006/main">
            <a:r>
              <a:t>https://echofm.online/programs/hochu-skazat/hochu-skazat-odin-protiv-vseh-kak-ne-dat-strahu-pobedit-sebya</a:t>
            </a:r>
          </a:p>
          <a:p xmlns:a="http://schemas.openxmlformats.org/drawingml/2006/main">
            <a:r>
              <a:t>https://www.svoboda.org/a/leonid-gozman-russkih-lyudey-neljzya-mazatj-odnoy-chernoy-kraskoy-/32732625.html</a:t>
            </a:r>
          </a:p>
          <a:p xmlns:a="http://schemas.openxmlformats.org/drawingml/2006/main">
            <a:r>
              <a:t>https://novayagazeta.eu/articles/2022/07/18/prepiatstvovat-prosveshcheniiu-liudei-vlast-budet-pulemiotami</a:t>
            </a:r>
          </a:p>
          <a:p xmlns:a="http://schemas.openxmlformats.org/drawingml/2006/main">
            <a:r>
              <a:t>https://www.svoboda.org/a/29652429.html</a:t>
            </a:r>
          </a:p>
          <a:p xmlns:a="http://schemas.openxmlformats.org/drawingml/2006/main">
            <a:r>
              <a:t>https://novayagazeta.eu/articles/2022/04/26/nesobliudenie-rezhima</a:t>
            </a:r>
          </a:p>
          <a:p xmlns:a="http://schemas.openxmlformats.org/drawingml/2006/main">
            <a:r>
              <a:t>https://novayagazeta.eu/articles/2022/07/21/zapiski-ugolovnika</a:t>
            </a:r>
          </a:p>
          <a:p xmlns:a="http://schemas.openxmlformats.org/drawingml/2006/main">
            <a:r>
              <a:t>https://novayagazeta.ru/authors/2349</a:t>
            </a:r>
          </a:p>
          <a:p xmlns:a="http://schemas.openxmlformats.org/drawingml/2006/main">
            <a:r>
              <a:t>https://www.rbc.ru/politics/10/08/2017/598c8d6d9a79474cff05cbab</a:t>
            </a:r>
          </a:p>
          <a:p xmlns:a="http://schemas.openxmlformats.org/drawingml/2006/main">
            <a:r>
              <a:t>https://www.bbc.com/russian/news-40853405</a:t>
            </a:r>
          </a:p>
          <a:p xmlns:a="http://schemas.openxmlformats.org/drawingml/2006/main">
            <a:r>
              <a:t>https://www.rbc.ru/politics/10/08/2017/598c0a8e9a7947569574ba10?from=right_column_materials_1</a:t>
            </a:r>
          </a:p>
          <a:p xmlns:a="http://schemas.openxmlformats.org/drawingml/2006/main">
            <a:r>
              <a:t>https://www.vedomosti.ru/politics/articles/2017/08/10/728820-udaltsov</a:t>
            </a:r>
          </a:p>
          <a:p xmlns:a="http://schemas.openxmlformats.org/drawingml/2006/main">
            <a:r>
              <a:t>https://www.interfax.ru/elections2018/598382</a:t>
            </a:r>
          </a:p>
          <a:p xmlns:a="http://schemas.openxmlformats.org/drawingml/2006/main">
            <a:r>
              <a:t>https://sotaproject.com/article/sergeia-udaltsova-opiat-pytaiutsia-posadit-khotia-on-vsego-lish-prosit-putina-postroit-sotsializm</a:t>
            </a:r>
          </a:p>
          <a:p xmlns:a="http://schemas.openxmlformats.org/drawingml/2006/main">
            <a:r>
              <a:t>https://www.gazeta.ru/tags/person/sergei_udaltsov.shtml</a:t>
            </a:r>
          </a:p>
          <a:p xmlns:a="http://schemas.openxmlformats.org/drawingml/2006/main">
            <a:r>
              <a:t>https://www.kommersant.ru/doc/8317316</a:t>
            </a:r>
          </a:p>
          <a:p xmlns:a="http://schemas.openxmlformats.org/drawingml/2006/main">
            <a:r>
              <a:t>https://www.kommersant.ru/doc/8972418</a:t>
            </a:r>
          </a:p>
          <a:p xmlns:a="http://schemas.openxmlformats.org/drawingml/2006/main">
            <a:r>
              <a:t>https://holod.media/2023/09/12/udaltsov-interview/</a:t>
            </a:r>
          </a:p>
          <a:p xmlns:a="http://schemas.openxmlformats.org/drawingml/2006/main">
            <a:r>
              <a:t>https://meduza.io/feature/2024/01/11/sergey-udaltsov-zaderzhan-po-obvineniyu-v-opravdanii-terrorizma</a:t>
            </a:r>
          </a:p>
          <a:p xmlns:a="http://schemas.openxmlformats.org/drawingml/2006/main">
            <a:r>
              <a:t>https://ref-book.sova-center.ru/index.php/%D0%94%D1%80%D1%83%D0%B3%D0%B0%D1%8F_%D0%A0%D0%BE%D1%81%D1%81%D0%B8%D1%8F,_%D0%BF%D0%B0%D1%80%D1%82%D0%B8%D1%8F</a:t>
            </a:r>
          </a:p>
          <a:p xmlns:a="http://schemas.openxmlformats.org/drawingml/2006/main">
            <a:r>
              <a:t>https://www.rbc.ru/society/17/03/2020/5e71048d9a79473925ab81a7</a:t>
            </a:r>
          </a:p>
          <a:p xmlns:a="http://schemas.openxmlformats.org/drawingml/2006/main">
            <a:r>
              <a:t>https://rt.rbc.ru/society/18/03/2020/5e71acc49a794773553f824e</a:t>
            </a:r>
          </a:p>
          <a:p xmlns:a="http://schemas.openxmlformats.org/drawingml/2006/main">
            <a:r>
              <a:t>https://www.bostonglobe.com/metro/obituaries/2020/03/18/russian-author-political-activist-eduard-limonov-dies/jnjHywBRjVTTgnlsqI12vN/story.html</a:t>
            </a:r>
          </a:p>
          <a:p xmlns:a="http://schemas.openxmlformats.org/drawingml/2006/main">
            <a:r>
              <a:t>https://nsn.fm/society/poslednee-intervu-pisatelya-i-politika-eduarda-limonova</a:t>
            </a:r>
          </a:p>
          <a:p xmlns:a="http://schemas.openxmlformats.org/drawingml/2006/main">
            <a:r>
              <a:t>http://www.grso.ru/person/limonov-eduard.html</a:t>
            </a:r>
          </a:p>
          <a:p xmlns:a="http://schemas.openxmlformats.org/drawingml/2006/main">
            <a:r>
              <a:t>https://ru.wikipedia.org/wiki/%D0%94%D1%80%D1%83%D0%B3%D0%B0%D1%8F_%D0%A0%D0%BE%D1%81%D1%81%D0%B8%D1%8F_%D0%AD._%D0%92._%D0%9B%D0%B8%D0%BC%D0%BE%D0%BD%D0%BE%D0%B2%D0%B0</a:t>
            </a:r>
          </a:p>
          <a:p xmlns:a="http://schemas.openxmlformats.org/drawingml/2006/main">
            <a:r>
              <a:t>https://novayagazeta.ru/articles/2017/03/12/71752-puteshestvie-natsbolov-k-putinu-i-obratno</a:t>
            </a:r>
          </a:p>
          <a:p xmlns:a="http://schemas.openxmlformats.org/drawingml/2006/main">
            <a:r>
              <a:t>https://mediabrest.by/news/lyudi/umer-eduard-limonov-chem-zapomnilsya-pisatel</a:t>
            </a:r>
          </a:p>
          <a:p xmlns:a="http://schemas.openxmlformats.org/drawingml/2006/main">
            <a:r>
              <a:t>https://www.limonow.de/read/EL_2013-2018_T.html</a:t>
            </a:r>
          </a:p>
          <a:p xmlns:a="http://schemas.openxmlformats.org/drawingml/2006/main">
            <a:r>
              <a:t>https://www.infpol.ru/203662-ot-ubezhdennogo-antisovetchika-do-kolumnista-rt/</a:t>
            </a:r>
          </a:p>
          <a:p xmlns:a="http://schemas.openxmlformats.org/drawingml/2006/main">
            <a:r>
              <a:t>https://www.bbc.com/russian/articles/c2eg90d7gg9o</a:t>
            </a:r>
          </a:p>
          <a:p xmlns:a="http://schemas.openxmlformats.org/drawingml/2006/main">
            <a:r>
              <a:t>https://www.dw.com/ru/mosgorsud-prigovoril-igora-girkina-strelkova-k-4-godam-kolonii/a-68080937</a:t>
            </a:r>
          </a:p>
          <a:p xmlns:a="http://schemas.openxmlformats.org/drawingml/2006/main">
            <a:r>
              <a:t>https://www.fontanka.ru/2023/07/21/72520253</a:t>
            </a:r>
          </a:p>
          <a:p xmlns:a="http://schemas.openxmlformats.org/drawingml/2006/main">
            <a:r>
              <a:t>https://www.svoboda.org/a/strelkov-iz-sizo-opasayusj-amnistii-kak-u-prigozhina-/32722083.html</a:t>
            </a:r>
          </a:p>
          <a:p xmlns:a="http://schemas.openxmlformats.org/drawingml/2006/main">
            <a:r>
              <a:t>https://ru.themoscowtimes.com/2023/12/07/girkin-zayavil-chto-opasaetsya-povtorit-sudbu-prigozhina-a115592</a:t>
            </a:r>
          </a:p>
          <a:p xmlns:a="http://schemas.openxmlformats.org/drawingml/2006/main">
            <a:r>
              <a:t>https://ru.krymr.com/a/boing-mn17-10-let-podozrevayemyye-obvinyayemyye-vinovnyye/33040170.html</a:t>
            </a:r>
          </a:p>
          <a:p xmlns:a="http://schemas.openxmlformats.org/drawingml/2006/main">
            <a:r>
              <a:t>https://charter97.org/ru/news/2023/7/22/556802/</a:t>
            </a:r>
          </a:p>
          <a:p xmlns:a="http://schemas.openxmlformats.org/drawingml/2006/main">
            <a:r>
              <a:t>https://t.me/s/pgubarev?after=622</a:t>
            </a:r>
          </a:p>
          <a:p xmlns:a="http://schemas.openxmlformats.org/drawingml/2006/main">
            <a:r>
              <a:t>https://rabkor.ru/columns/debates/2023/05/23/angry_patriots_of_an_imaginary_country/</a:t>
            </a:r>
          </a:p>
          <a:p xmlns:a="http://schemas.openxmlformats.org/drawingml/2006/main">
            <a:r>
              <a:t>https://www.bbc.com/news/world-60947877</a:t>
            </a:r>
          </a:p>
          <a:p xmlns:a="http://schemas.openxmlformats.org/drawingml/2006/main">
            <a:r>
              <a:t>https://www.reuters.com/world/europe/russian-mercenary-boss-courts-putin-with-ukrainian-battlefield-success-2023-01-13/</a:t>
            </a:r>
          </a:p>
          <a:p xmlns:a="http://schemas.openxmlformats.org/drawingml/2006/main">
            <a:r>
              <a:t>https://www.reuters.com/world/europe/russias-wagner-mercenaries-halt-prisoner-recruitment-campaign-founder-prigozhin-2023-02-09/</a:t>
            </a:r>
          </a:p>
          <a:p xmlns:a="http://schemas.openxmlformats.org/drawingml/2006/main">
            <a:r>
              <a:t>https://www.reuters.com/investigates/special-report/ukraine-crisis-russia-wagner/</a:t>
            </a:r>
          </a:p>
          <a:p xmlns:a="http://schemas.openxmlformats.org/drawingml/2006/main">
            <a:r>
              <a:t>https://www.reuters.com/world/europe/russias-wagner-chief-prigozhin-says-ukraine-counteroffensive-already-under-way-2023-05-03/</a:t>
            </a:r>
          </a:p>
          <a:p xmlns:a="http://schemas.openxmlformats.org/drawingml/2006/main">
            <a:r>
              <a:t>https://www.bbc.com/russian/media-66023357</a:t>
            </a:r>
          </a:p>
          <a:p xmlns:a="http://schemas.openxmlformats.org/drawingml/2006/main">
            <a:r>
              <a:t>https://www.reuters.com/world/europe/russias-prigozhin-his-own-words-mutiny-2023-06-26/</a:t>
            </a:r>
          </a:p>
          <a:p xmlns:a="http://schemas.openxmlformats.org/drawingml/2006/main">
            <a:r>
              <a:t>https://x.com/Reuters/status/1632709213641113601</a:t>
            </a:r>
          </a:p>
          <a:p xmlns:a="http://schemas.openxmlformats.org/drawingml/2006/main">
            <a:r>
              <a:t>https://www.reuters.com/world/europe/russian-mercenary-boss-says-moscows-war-ukraine-based-lies-2023-06-23/</a:t>
            </a:r>
          </a:p>
          <a:p xmlns:a="http://schemas.openxmlformats.org/drawingml/2006/main">
            <a:r>
              <a:t>https://www.rbc.ru/spb_sz/02/10/2026/6abfb91afd4c7ff957d9cbe8</a:t>
            </a:r>
          </a:p>
          <a:p xmlns:a="http://schemas.openxmlformats.org/drawingml/2006/main">
            <a:r>
              <a:t>https://www.zaks.ru/new/person/view/639</a:t>
            </a:r>
          </a:p>
          <a:p xmlns:a="http://schemas.openxmlformats.org/drawingml/2006/main">
            <a:r>
              <a:t>https://www.zaks.ru/new/archive/view/219520</a:t>
            </a:r>
          </a:p>
          <a:p xmlns:a="http://schemas.openxmlformats.org/drawingml/2006/main">
            <a:r>
              <a:t>https://tvspb.ru/news/2016/09/27/novyij-sostav-parlamenta-kto-zajmet-kresla-v-zakonodatelnom-sobranii-vi-sozyiva</a:t>
            </a:r>
          </a:p>
          <a:p xmlns:a="http://schemas.openxmlformats.org/drawingml/2006/main">
            <a:r>
              <a:t>https://tass.ru/politika/20994233</a:t>
            </a:r>
          </a:p>
          <a:p xmlns:a="http://schemas.openxmlformats.org/drawingml/2006/main">
            <a:r>
              <a:t>https://www.zaks.ru/new/archive/view/265712</a:t>
            </a:r>
          </a:p>
          <a:p xmlns:a="http://schemas.openxmlformats.org/drawingml/2006/main">
            <a:r>
              <a:t>https://www.zaks.ru/new/archive/view/269374</a:t>
            </a:r>
          </a:p>
          <a:p xmlns:a="http://schemas.openxmlformats.org/drawingml/2006/main">
            <a:r>
              <a:t>https://www.dp.ru/a/2026/10/02/oksana-dmitrieva-proigrala</a:t>
            </a:r>
          </a:p>
          <a:p xmlns:a="http://schemas.openxmlformats.org/drawingml/2006/main">
            <a:r>
              <a:t>https://ru.wikipedia.org/wiki/%D0%9F%D0%B0%D1%80%D1%82%D0%B8%D1%8F_%D1%80%D0%BE%D1%81%D1%82%D0%B0</a:t>
            </a:r>
          </a:p>
          <a:p xmlns:a="http://schemas.openxmlformats.org/drawingml/2006/main">
            <a:r>
              <a:t>https://dmitrieva.org/category/gosduma/zakonoproekty/</a:t>
            </a:r>
          </a:p>
          <a:p xmlns:a="http://schemas.openxmlformats.org/drawingml/2006/main">
            <a:r>
              <a:t>https://t.me/s/oxdmitrieva?before=1072</a:t>
            </a:r>
          </a:p>
          <a:p xmlns:a="http://schemas.openxmlformats.org/drawingml/2006/main">
            <a:r>
              <a:t>http://api.duma.gov.ru/api/transcriptFull/2023-09-28</a:t>
            </a:r>
          </a:p>
          <a:p xmlns:a="http://schemas.openxmlformats.org/drawingml/2006/main">
            <a:r>
              <a:t>https://www.fontanka.ru/2026/09/04/76623983/</a:t>
            </a:r>
          </a:p>
          <a:p xmlns:a="http://schemas.openxmlformats.org/drawingml/2006/main">
            <a:r>
              <a:t>https://www.vedomosti.ru/politics/articles/2026/03/10/1181644-deputat-semi-sozivov-oksana-dmitrieva-snova-poidet-v-gosdumu</a:t>
            </a:r>
          </a:p>
          <a:p xmlns:a="http://schemas.openxmlformats.org/drawingml/2006/main">
            <a:r>
              <a:t>https://www.kommersant.ru/doc/8497588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"id": "C2",</a:t>
            </a:r>
          </a:p>
          <a:p xmlns:a="http://schemas.openxmlformats.org/drawingml/2006/main">
            <a:r>
              <a:t>  "name": "Антивоенная оппозиция и электоральная легитимность",</a:t>
            </a:r>
          </a:p>
          <a:p xmlns:a="http://schemas.openxmlformats.org/drawingml/2006/main">
            <a:r>
              <a:t>  "count": 15,</a:t>
            </a:r>
          </a:p>
          <a:p xmlns:a="http://schemas.openxmlformats.org/drawingml/2006/main">
            <a:r>
              <a:t>  "members":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"yevgeny-royzman",</a:t>
            </a:r>
          </a:p>
          <a:p xmlns:a="http://schemas.openxmlformats.org/drawingml/2006/main">
            <a:r>
              <a:t>      "name": "Евгений Ройзман"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"alexey-navalny",</a:t>
            </a:r>
          </a:p>
          <a:p xmlns:a="http://schemas.openxmlformats.org/drawingml/2006/main">
            <a:r>
              <a:t>      "name": "Алексей Навальный"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"ilya-yashin",</a:t>
            </a:r>
          </a:p>
          <a:p xmlns:a="http://schemas.openxmlformats.org/drawingml/2006/main">
            <a:r>
              <a:t>      "name": "Илья Яшин"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"vladimir-kara-murza",</a:t>
            </a:r>
          </a:p>
          <a:p xmlns:a="http://schemas.openxmlformats.org/drawingml/2006/main">
            <a:r>
              <a:t>      "name": "Владимир Кара-Мурза"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"grigory-yavlinsky",</a:t>
            </a:r>
          </a:p>
          <a:p xmlns:a="http://schemas.openxmlformats.org/drawingml/2006/main">
            <a:r>
              <a:t>      "name": "Григорий Явлинский"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"lev-shlosberg",</a:t>
            </a:r>
          </a:p>
          <a:p xmlns:a="http://schemas.openxmlformats.org/drawingml/2006/main">
            <a:r>
              <a:t>      "name": "Лев Шлосберг"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"boris-vishnevsky",</a:t>
            </a:r>
          </a:p>
          <a:p xmlns:a="http://schemas.openxmlformats.org/drawingml/2006/main">
            <a:r>
              <a:t>      "name": "Борис Вишневский"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"gennady-gudkov",</a:t>
            </a:r>
          </a:p>
          <a:p xmlns:a="http://schemas.openxmlformats.org/drawingml/2006/main">
            <a:r>
              <a:t>      "name": "Геннадий Гудков"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"garry-kasparov",</a:t>
            </a:r>
          </a:p>
          <a:p xmlns:a="http://schemas.openxmlformats.org/drawingml/2006/main">
            <a:r>
              <a:t>      "name": "Гарри Каспаров"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"mikhail-khodorkovsky",</a:t>
            </a:r>
          </a:p>
          <a:p xmlns:a="http://schemas.openxmlformats.org/drawingml/2006/main">
            <a:r>
              <a:t>      "name": "Михаил Ходорковский"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"vladimir-milov",</a:t>
            </a:r>
          </a:p>
          <a:p xmlns:a="http://schemas.openxmlformats.org/drawingml/2006/main">
            <a:r>
              <a:t>      "name": "Владимир Милов"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"lyubov-sobol",</a:t>
            </a:r>
          </a:p>
          <a:p xmlns:a="http://schemas.openxmlformats.org/drawingml/2006/main">
            <a:r>
              <a:t>      "name": "Любовь Соболь"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"yekaterina-duntsova",</a:t>
            </a:r>
          </a:p>
          <a:p xmlns:a="http://schemas.openxmlformats.org/drawingml/2006/main">
            <a:r>
              <a:t>      "name": "Екатерина Дунцова"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"pavel-grudinin",</a:t>
            </a:r>
          </a:p>
          <a:p xmlns:a="http://schemas.openxmlformats.org/drawingml/2006/main">
            <a:r>
              <a:t>      "name": "Павел Грудинин"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"leonid-gozman",</a:t>
            </a:r>
          </a:p>
          <a:p xmlns:a="http://schemas.openxmlformats.org/drawingml/2006/main">
            <a:r>
              <a:t>      "name": "Леонид Гозман"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"representatives":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"mikhail-khodorkovsky",</a:t>
            </a:r>
          </a:p>
          <a:p xmlns:a="http://schemas.openxmlformats.org/drawingml/2006/main">
            <a:r>
              <a:t>      "name": "Михаил Ходорковский",</a:t>
            </a:r>
          </a:p>
          <a:p xmlns:a="http://schemas.openxmlformats.org/drawingml/2006/main">
            <a:r>
              <a:t>      "distance": 0.1897415538894511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"vladimir-kara-murza",</a:t>
            </a:r>
          </a:p>
          <a:p xmlns:a="http://schemas.openxmlformats.org/drawingml/2006/main">
            <a:r>
              <a:t>      "name": "Владимир Кара-Мурза",</a:t>
            </a:r>
          </a:p>
          <a:p xmlns:a="http://schemas.openxmlformats.org/drawingml/2006/main">
            <a:r>
              <a:t>      "distance": 0.2492237687630286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"leonid-gozman",</a:t>
            </a:r>
          </a:p>
          <a:p xmlns:a="http://schemas.openxmlformats.org/drawingml/2006/main">
            <a:r>
              <a:t>      "name": "Леонид Гозман",</a:t>
            </a:r>
          </a:p>
          <a:p xmlns:a="http://schemas.openxmlformats.org/drawingml/2006/main">
            <a:r>
              <a:t>      "distance": 0.31632069912358696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"ilya-yashin",</a:t>
            </a:r>
          </a:p>
          <a:p xmlns:a="http://schemas.openxmlformats.org/drawingml/2006/main">
            <a:r>
              <a:t>      "name": "Илья Яшин",</a:t>
            </a:r>
          </a:p>
          <a:p xmlns:a="http://schemas.openxmlformats.org/drawingml/2006/main">
            <a:r>
              <a:t>      "distance": 0.4134338586919229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"vladimir-milov",</a:t>
            </a:r>
          </a:p>
          <a:p xmlns:a="http://schemas.openxmlformats.org/drawingml/2006/main">
            <a:r>
              <a:t>      "name": "Владимир Милов",</a:t>
            </a:r>
          </a:p>
          <a:p xmlns:a="http://schemas.openxmlformats.org/drawingml/2006/main">
            <a:r>
              <a:t>      "distance": 0.4537846148170234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"factor_center": {</a:t>
            </a:r>
          </a:p>
          <a:p xmlns:a="http://schemas.openxmlformats.org/drawingml/2006/main">
            <a:r>
              <a:t>    "F1": 1.6080754316825694,</a:t>
            </a:r>
          </a:p>
          <a:p xmlns:a="http://schemas.openxmlformats.org/drawingml/2006/main">
            <a:r>
              <a:t>    "F2": -0.49805859826781224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"distinguishing_scales":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"security-sovereignty",</a:t>
            </a:r>
          </a:p>
          <a:p xmlns:a="http://schemas.openxmlformats.org/drawingml/2006/main">
            <a:r>
              <a:t>      "name": "Суверенная самостоятельность — международная интеграция",</a:t>
            </a:r>
          </a:p>
          <a:p xmlns:a="http://schemas.openxmlformats.org/drawingml/2006/main">
            <a:r>
              <a:t>      "positive": "Суверенная самостоятельность и защита от внешнего влияния",</a:t>
            </a:r>
          </a:p>
          <a:p xmlns:a="http://schemas.openxmlformats.org/drawingml/2006/main">
            <a:r>
              <a:t>      "negative": "Международная интеграция и взаимозависимость",</a:t>
            </a:r>
          </a:p>
          <a:p xmlns:a="http://schemas.openxmlformats.org/drawingml/2006/main">
            <a:r>
              <a:t>      "difference": -1.739556612736331,</a:t>
            </a:r>
          </a:p>
          <a:p xmlns:a="http://schemas.openxmlformats.org/drawingml/2006/main">
            <a:r>
              <a:t>      "group_mean": -2.7777777777777777,</a:t>
            </a:r>
          </a:p>
          <a:p xmlns:a="http://schemas.openxmlformats.org/drawingml/2006/main">
            <a:r>
              <a:t>      "overall_mean": 1.607843137254902,</a:t>
            </a:r>
          </a:p>
          <a:p xmlns:a="http://schemas.openxmlformats.org/drawingml/2006/main">
            <a:r>
              <a:t>      "direction": "negative",</a:t>
            </a:r>
          </a:p>
          <a:p xmlns:a="http://schemas.openxmlformats.org/drawingml/2006/main">
            <a:r>
              <a:t>      "observed_group_count": 9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"national-patriotism",</a:t>
            </a:r>
          </a:p>
          <a:p xmlns:a="http://schemas.openxmlformats.org/drawingml/2006/main">
            <a:r>
              <a:t>      "name": "Национальная общность — универсальные права",</a:t>
            </a:r>
          </a:p>
          <a:p xmlns:a="http://schemas.openxmlformats.org/drawingml/2006/main">
            <a:r>
              <a:t>      "positive": "Особые интересы национальной общности и защита культурной идентичности",</a:t>
            </a:r>
          </a:p>
          <a:p xmlns:a="http://schemas.openxmlformats.org/drawingml/2006/main">
            <a:r>
              <a:t>      "negative": "Универсальные права и равное отношение независимо от национальной принадлежности",</a:t>
            </a:r>
          </a:p>
          <a:p xmlns:a="http://schemas.openxmlformats.org/drawingml/2006/main">
            <a:r>
              <a:t>      "difference": -1.6721942696269279,</a:t>
            </a:r>
          </a:p>
          <a:p xmlns:a="http://schemas.openxmlformats.org/drawingml/2006/main">
            <a:r>
              <a:t>      "group_mean": -1.875,</a:t>
            </a:r>
          </a:p>
          <a:p xmlns:a="http://schemas.openxmlformats.org/drawingml/2006/main">
            <a:r>
              <a:t>      "overall_mean": 1.6956521739130435,</a:t>
            </a:r>
          </a:p>
          <a:p xmlns:a="http://schemas.openxmlformats.org/drawingml/2006/main">
            <a:r>
              <a:t>      "direction": "negative",</a:t>
            </a:r>
          </a:p>
          <a:p xmlns:a="http://schemas.openxmlformats.org/drawingml/2006/main">
            <a:r>
              <a:t>      "observed_group_count": 8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"federal-loyalty",</a:t>
            </a:r>
          </a:p>
          <a:p xmlns:a="http://schemas.openxmlformats.org/drawingml/2006/main">
            <a:r>
              <a:t>      "name": "Централизация — децентрализация",</a:t>
            </a:r>
          </a:p>
          <a:p xmlns:a="http://schemas.openxmlformats.org/drawingml/2006/main">
            <a:r>
              <a:t>      "positive": "Единая вертикаль и концентрация полномочий в центре",</a:t>
            </a:r>
          </a:p>
          <a:p xmlns:a="http://schemas.openxmlformats.org/drawingml/2006/main">
            <a:r>
              <a:t>      "negative": "Региональная и муниципальная автономия, распределение полномочий",</a:t>
            </a:r>
          </a:p>
          <a:p xmlns:a="http://schemas.openxmlformats.org/drawingml/2006/main">
            <a:r>
              <a:t>      "difference": -1.6079919277740513,</a:t>
            </a:r>
          </a:p>
          <a:p xmlns:a="http://schemas.openxmlformats.org/drawingml/2006/main">
            <a:r>
              <a:t>      "group_mean": -2.888888888888889,</a:t>
            </a:r>
          </a:p>
          <a:p xmlns:a="http://schemas.openxmlformats.org/drawingml/2006/main">
            <a:r>
              <a:t>      "overall_mean": 1.1666666666666667,</a:t>
            </a:r>
          </a:p>
          <a:p xmlns:a="http://schemas.openxmlformats.org/drawingml/2006/main">
            <a:r>
              <a:t>      "direction": "negative",</a:t>
            </a:r>
          </a:p>
          <a:p xmlns:a="http://schemas.openxmlformats.org/drawingml/2006/main">
            <a:r>
              <a:t>      "observed_group_count": 9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"oppositionality",</a:t>
            </a:r>
          </a:p>
          <a:p xmlns:a="http://schemas.openxmlformats.org/drawingml/2006/main">
            <a:r>
              <a:t>      "name": "Критика действующей власти — поддержка её курса",</a:t>
            </a:r>
          </a:p>
          <a:p xmlns:a="http://schemas.openxmlformats.org/drawingml/2006/main">
            <a:r>
              <a:t>      "positive": "Публичная критика действующей федеральной власти",</a:t>
            </a:r>
          </a:p>
          <a:p xmlns:a="http://schemas.openxmlformats.org/drawingml/2006/main">
            <a:r>
              <a:t>      "negative": "Публичная поддержка курса действующей федеральной власти",</a:t>
            </a:r>
          </a:p>
          <a:p xmlns:a="http://schemas.openxmlformats.org/drawingml/2006/main">
            <a:r>
              <a:t>      "difference": 1.3679149835301119,</a:t>
            </a:r>
          </a:p>
          <a:p xmlns:a="http://schemas.openxmlformats.org/drawingml/2006/main">
            <a:r>
              <a:t>      "group_mean": 4.666666666666667,</a:t>
            </a:r>
          </a:p>
          <a:p xmlns:a="http://schemas.openxmlformats.org/drawingml/2006/main">
            <a:r>
              <a:t>      "overall_mean": -0.41935483870967744,</a:t>
            </a:r>
          </a:p>
          <a:p xmlns:a="http://schemas.openxmlformats.org/drawingml/2006/main">
            <a:r>
              <a:t>      "direction": "positive",</a:t>
            </a:r>
          </a:p>
          <a:p xmlns:a="http://schemas.openxmlformats.org/drawingml/2006/main">
            <a:r>
              <a:t>      "observed_group_count": 15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"antiwar-rhetoric",</a:t>
            </a:r>
          </a:p>
          <a:p xmlns:a="http://schemas.openxmlformats.org/drawingml/2006/main">
            <a:r>
              <a:t>      "name": "Прекращение военных действий — их продолжение",</a:t>
            </a:r>
          </a:p>
          <a:p xmlns:a="http://schemas.openxmlformats.org/drawingml/2006/main">
            <a:r>
              <a:t>      "positive": "Публичные призывы прекратить военные действия и перейти к миру",</a:t>
            </a:r>
          </a:p>
          <a:p xmlns:a="http://schemas.openxmlformats.org/drawingml/2006/main">
            <a:r>
              <a:t>      "negative": "Публичная поддержка продолжения военных действий ради заявленных целей",</a:t>
            </a:r>
          </a:p>
          <a:p xmlns:a="http://schemas.openxmlformats.org/drawingml/2006/main">
            <a:r>
              <a:t>      "difference": 1.2870726132463293,</a:t>
            </a:r>
          </a:p>
          <a:p xmlns:a="http://schemas.openxmlformats.org/drawingml/2006/main">
            <a:r>
              <a:t>      "group_mean": 3.7333333333333334,</a:t>
            </a:r>
          </a:p>
          <a:p xmlns:a="http://schemas.openxmlformats.org/drawingml/2006/main">
            <a:r>
              <a:t>      "overall_mean": -0.4318181818181818,</a:t>
            </a:r>
          </a:p>
          <a:p xmlns:a="http://schemas.openxmlformats.org/drawingml/2006/main">
            <a:r>
              <a:t>      "direction": "positive",</a:t>
            </a:r>
          </a:p>
          <a:p xmlns:a="http://schemas.openxmlformats.org/drawingml/2006/main">
            <a:r>
              <a:t>      "observed_group_count": 15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"electoral-legitimacy",</a:t>
            </a:r>
          </a:p>
          <a:p xmlns:a="http://schemas.openxmlformats.org/drawingml/2006/main">
            <a:r>
              <a:t>      "name": "Электоральный мандат — административный мандат",</a:t>
            </a:r>
          </a:p>
          <a:p xmlns:a="http://schemas.openxmlformats.org/drawingml/2006/main">
            <a:r>
              <a:t>      "positive": "Конкурентные выборы и воля избирателей как источник полномочий",</a:t>
            </a:r>
          </a:p>
          <a:p xmlns:a="http://schemas.openxmlformats.org/drawingml/2006/main">
            <a:r>
              <a:t>      "negative": "Назначение, государственная иерархия и управленческая преемственность как источник полномочий",</a:t>
            </a:r>
          </a:p>
          <a:p xmlns:a="http://schemas.openxmlformats.org/drawingml/2006/main">
            <a:r>
              <a:t>      "difference": 1.1981444723521157,</a:t>
            </a:r>
          </a:p>
          <a:p xmlns:a="http://schemas.openxmlformats.org/drawingml/2006/main">
            <a:r>
              <a:t>      "group_mean": 3.4545454545454546,</a:t>
            </a:r>
          </a:p>
          <a:p xmlns:a="http://schemas.openxmlformats.org/drawingml/2006/main">
            <a:r>
              <a:t>      "overall_mean": 0.17777777777777778,</a:t>
            </a:r>
          </a:p>
          <a:p xmlns:a="http://schemas.openxmlformats.org/drawingml/2006/main">
            <a:r>
              <a:t>      "direction": "positive",</a:t>
            </a:r>
          </a:p>
          <a:p xmlns:a="http://schemas.openxmlformats.org/drawingml/2006/main">
            <a:r>
              <a:t>      "observed_group_count": 11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"interpretation": "Группа объединяет публичные образы с выраженной критикой действующей власти, антивоенной риторикой, акцентом на конкурентных выборах, поддержкой международной интеграции, универсальных прав и децентрализации. Организационные стратегии внутри группы могут различаться: близость по главным факторам не требует единой партийной формы. Типичные профили сочетают критику действующего курса, призывы к прекращению военных действий и электоральный мандат как источник полномочий.\n\nВнутри группы возможны различия по степени акцентирования отдельных тем (например, между либеральными и левоцентристскими позициями), однако всех объединяет сочетание антивоенной, оппозиционной и электорально-легитимистской риторики. Граница группы проходит по выраженности критики власти и антивоенных позиций; пограничные случаи встречаются среди умеренных реформаторов и независимых кандидатов.",</a:t>
            </a:r>
          </a:p>
          <a:p xmlns:a="http://schemas.openxmlformats.org/drawingml/2006/main">
            <a:r>
              <a:t>  "boundary_objects": [],</a:t>
            </a:r>
          </a:p>
          <a:p xmlns:a="http://schemas.openxmlformats.org/drawingml/2006/main">
            <a:r>
              <a:t>  "stability": {</a:t>
            </a:r>
          </a:p>
          <a:p xmlns:a="http://schemas.openxmlformats.org/drawingml/2006/main">
            <a:r>
              <a:t>    "median_jaccard": 1,</a:t>
            </a:r>
          </a:p>
          <a:p xmlns:a="http://schemas.openxmlformats.org/drawingml/2006/main">
            <a:r>
              <a:t>    "conditional_mean_ari": 0.9135227370355609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"numeric_label": "Группа 2",</a:t>
            </a:r>
          </a:p>
          <a:p xmlns:a="http://schemas.openxmlformats.org/drawingml/2006/main">
            <a:r>
              <a:t>  "label": "Антивоенная оппозиция и электоральная легитимность"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Числа: metadata.json, scores.csv, loadings.csv и утверждённая матрица оценок.</a:t>
            </a:r>
          </a:p>
          <a:p xmlns:a="http://schemas.openxmlformats.org/drawingml/2006/main">
            <a:r>
              <a:t>Изучаемое пространство: Публичный политический образ российских политиков и иных заметных политических акторов, включая деятелей за рубежом, активных хотя бы в части периода. Не рейтинг популярности..</a:t>
            </a:r>
          </a:p>
          <a:p xmlns:a="http://schemas.openxmlformats.org/drawingml/2006/main">
            <a:r>
              <a:t>Оценщик: llm_exploratory.</a:t>
            </a:r>
          </a:p>
          <a:p xmlns:a="http://schemas.openxmlformats.org/drawingml/2006/main">
            <a:r>
              <a:t>Исходные URL:</a:t>
            </a:r>
          </a:p>
          <a:p xmlns:a="http://schemas.openxmlformats.org/drawingml/2006/main">
            <a:r>
              <a:t>https://kremlin.ru/structure/president</a:t>
            </a:r>
          </a:p>
          <a:p xmlns:a="http://schemas.openxmlformats.org/drawingml/2006/main">
            <a:r>
              <a:t>http://www.special.kremlin.ru/events/president/transcripts/67843</a:t>
            </a:r>
          </a:p>
          <a:p xmlns:a="http://schemas.openxmlformats.org/drawingml/2006/main">
            <a:r>
              <a:t>http://en.kremlin.ru/events/president/news/70315</a:t>
            </a:r>
          </a:p>
          <a:p xmlns:a="http://schemas.openxmlformats.org/drawingml/2006/main">
            <a:r>
              <a:t>http://special.kremlin.ru/events/president/transcripts/70565</a:t>
            </a:r>
          </a:p>
          <a:p xmlns:a="http://schemas.openxmlformats.org/drawingml/2006/main">
            <a:r>
              <a:t>http://special.kremlin.ru/events/president/transcripts/72994</a:t>
            </a:r>
          </a:p>
          <a:p xmlns:a="http://schemas.openxmlformats.org/drawingml/2006/main">
            <a:r>
              <a:t>http://kremlin.ru/events/president/news/73585</a:t>
            </a:r>
          </a:p>
          <a:p xmlns:a="http://schemas.openxmlformats.org/drawingml/2006/main">
            <a:r>
              <a:t>http://special.kremlin.ru/events/president/transcripts/75762</a:t>
            </a:r>
          </a:p>
          <a:p xmlns:a="http://schemas.openxmlformats.org/drawingml/2006/main">
            <a:r>
              <a:t>http://www.special.kremlin.ru/events/president/transcripts/76899</a:t>
            </a:r>
          </a:p>
          <a:p xmlns:a="http://schemas.openxmlformats.org/drawingml/2006/main">
            <a:r>
              <a:t>http://special.kremlin.ru/events/president/transcripts/80017</a:t>
            </a:r>
          </a:p>
          <a:p xmlns:a="http://schemas.openxmlformats.org/drawingml/2006/main">
            <a:r>
              <a:t>http://www.special.kremlin.ru/events/president/transcripts/72084</a:t>
            </a:r>
          </a:p>
          <a:p xmlns:a="http://schemas.openxmlformats.org/drawingml/2006/main">
            <a:r>
              <a:t>http://www.special.kremlin.ru/events/president/transcripts/80172</a:t>
            </a:r>
          </a:p>
          <a:p xmlns:a="http://schemas.openxmlformats.org/drawingml/2006/main">
            <a:r>
              <a:t>https://www.diva-portal.org/smash/get/diva2:2035197/FULLTEXT01.pdf</a:t>
            </a:r>
          </a:p>
          <a:p xmlns:a="http://schemas.openxmlformats.org/drawingml/2006/main">
            <a:r>
              <a:t>https://www.reuters.com/world/what-know-about-russias-upcoming-parliamentary-election-2026-09-15/</a:t>
            </a:r>
          </a:p>
          <a:p xmlns:a="http://schemas.openxmlformats.org/drawingml/2006/main">
            <a:r>
              <a:t>https://www.reuters.com/world/europe/how-putin-may-leverage-predictable-outcome-russias-elections-2026-09-18/</a:t>
            </a:r>
          </a:p>
          <a:p xmlns:a="http://schemas.openxmlformats.org/drawingml/2006/main">
            <a:r>
              <a:t>https://ru.wikipedia.org/wiki/Медведев,_Дмитрий_Анатольевич</a:t>
            </a:r>
          </a:p>
          <a:p xmlns:a="http://schemas.openxmlformats.org/drawingml/2006/main">
            <a:r>
              <a:t>https://tass.ru/ekonomika/3941450</a:t>
            </a:r>
          </a:p>
          <a:p xmlns:a="http://schemas.openxmlformats.org/drawingml/2006/main">
            <a:r>
              <a:t>http://archive.government.ru/docs/21653/print/</a:t>
            </a:r>
          </a:p>
          <a:p xmlns:a="http://schemas.openxmlformats.org/drawingml/2006/main">
            <a:r>
              <a:t>https://netfreedom.org.ua/ru/dmytro-anatoliiovych-medvediev-biohrafiia-posady-i-sanktsii/</a:t>
            </a:r>
          </a:p>
          <a:p xmlns:a="http://schemas.openxmlformats.org/drawingml/2006/main">
            <a:r>
              <a:t>https://verstka.media/czeli-svo-kak-kreml-menyal-ih-na-protyazhenii-tryoh-let-vojny</a:t>
            </a:r>
          </a:p>
          <a:p xmlns:a="http://schemas.openxmlformats.org/drawingml/2006/main">
            <a:r>
              <a:t>http://www.scrf.gov.ru/news/allnews/3820/</a:t>
            </a:r>
          </a:p>
          <a:p xmlns:a="http://schemas.openxmlformats.org/drawingml/2006/main">
            <a:r>
              <a:t>http://scrf.gov.ru/news/allnews/3837/</a:t>
            </a:r>
          </a:p>
          <a:p xmlns:a="http://schemas.openxmlformats.org/drawingml/2006/main">
            <a:r>
              <a:t>https://baike.baidu.com/ru/item/%D0%94%D0%BC%D0%B8%D1%82%D1%80%D0%B8%D0%B9%20%D0%90%D0%BD%D0%B0%D1%82%D0%BE%D0%BB%D1%8C%D0%B5%D0%B2%D0%B8%D1%87%20%D0%9C%D0%B5%D0%B4%D0%B2%D0%B5%D0%B4%D0%B5%D0%B2/3254451</a:t>
            </a:r>
          </a:p>
          <a:p xmlns:a="http://schemas.openxmlformats.org/drawingml/2006/main">
            <a:r>
              <a:t>https://tass.ru/politika/5889577</a:t>
            </a:r>
          </a:p>
          <a:p xmlns:a="http://schemas.openxmlformats.org/drawingml/2006/main">
            <a:r>
              <a:t>https://meduza.io/feature/2023/06/26/chto-proizoshlo-s-dmitriem-medvedevym</a:t>
            </a:r>
          </a:p>
          <a:p xmlns:a="http://schemas.openxmlformats.org/drawingml/2006/main">
            <a:r>
              <a:t>https://www.bbc.com/russian/articles/c6evw7d22lv0o</a:t>
            </a:r>
          </a:p>
          <a:p xmlns:a="http://schemas.openxmlformats.org/drawingml/2006/main">
            <a:r>
              <a:t>https://er.ru/activity/news/dmitrij-medvedev-edinaya-rossiya-ne-dopustit-razrusheniya-cennostnyh-osnov-strany</a:t>
            </a:r>
          </a:p>
          <a:p xmlns:a="http://schemas.openxmlformats.org/drawingml/2006/main">
            <a:r>
              <a:t>https://en.wikipedia.org/wiki/Media_freedom_in_Russia</a:t>
            </a:r>
          </a:p>
          <a:p xmlns:a="http://schemas.openxmlformats.org/drawingml/2006/main">
            <a:r>
              <a:t>https://government.ru/gov/persons/151/travel/?area=KHA</a:t>
            </a:r>
          </a:p>
          <a:p xmlns:a="http://schemas.openxmlformats.org/drawingml/2006/main">
            <a:r>
              <a:t>http://government.ru/gov/persons/151/biography/</a:t>
            </a:r>
          </a:p>
          <a:p xmlns:a="http://schemas.openxmlformats.org/drawingml/2006/main">
            <a:r>
              <a:t>https://www.reuters.com/world/europe/who-is-russias-mikhail-mishustin-2024-05-10/</a:t>
            </a:r>
          </a:p>
          <a:p xmlns:a="http://schemas.openxmlformats.org/drawingml/2006/main">
            <a:r>
              <a:t>https://www.kommersant.ru/doc/4220798</a:t>
            </a:r>
          </a:p>
          <a:p xmlns:a="http://schemas.openxmlformats.org/drawingml/2006/main">
            <a:r>
              <a:t>https://www.vedomosti.ru/politics/galleries/2026/03/03/1179718-nalogi-pod-kontrolem</a:t>
            </a:r>
          </a:p>
          <a:p xmlns:a="http://schemas.openxmlformats.org/drawingml/2006/main">
            <a:r>
              <a:t>http://government.ru/gov/persons/151/travel/?page=5</a:t>
            </a:r>
          </a:p>
          <a:p xmlns:a="http://schemas.openxmlformats.org/drawingml/2006/main">
            <a:r>
              <a:t>http://government.ru/news/46476/</a:t>
            </a:r>
          </a:p>
          <a:p xmlns:a="http://schemas.openxmlformats.org/drawingml/2006/main">
            <a:r>
              <a:t>http://government.ru/news/52063/</a:t>
            </a:r>
          </a:p>
          <a:p xmlns:a="http://schemas.openxmlformats.org/drawingml/2006/main">
            <a:r>
              <a:t>http://government.ru/news/52851/</a:t>
            </a:r>
          </a:p>
          <a:p xmlns:a="http://schemas.openxmlformats.org/drawingml/2006/main">
            <a:r>
              <a:t>https://nangs.org/news/society/kabmin-privlek-otdelnye-gosorgany-k-ukrepleniyu-traditsionnykh-tsennostej</a:t>
            </a:r>
          </a:p>
          <a:p xmlns:a="http://schemas.openxmlformats.org/drawingml/2006/main">
            <a:r>
              <a:t>http://government.ru/news/57315/</a:t>
            </a:r>
          </a:p>
          <a:p xmlns:a="http://schemas.openxmlformats.org/drawingml/2006/main">
            <a:r>
              <a:t>https://www.rbc.ru/person/617bf30d9a7947f92ee2d266</a:t>
            </a:r>
          </a:p>
          <a:p xmlns:a="http://schemas.openxmlformats.org/drawingml/2006/main">
            <a:r>
              <a:t>https://mid.ru/ru/press_service/video/view/1848395/</a:t>
            </a:r>
          </a:p>
          <a:p xmlns:a="http://schemas.openxmlformats.org/drawingml/2006/main">
            <a:r>
              <a:t>https://mid.ru/ru/foreign_policy/international_organizations/1932076/</a:t>
            </a:r>
          </a:p>
          <a:p xmlns:a="http://schemas.openxmlformats.org/drawingml/2006/main">
            <a:r>
              <a:t>https://mid.ru/ru/press_service/minister_speeches/1991476/</a:t>
            </a:r>
          </a:p>
          <a:p xmlns:a="http://schemas.openxmlformats.org/drawingml/2006/main">
            <a:r>
              <a:t>https://www.mid.ru/ru/press_service/vizity-ministra/1922112/</a:t>
            </a:r>
          </a:p>
          <a:p xmlns:a="http://schemas.openxmlformats.org/drawingml/2006/main">
            <a:r>
              <a:t>https://www.mid.ru/ru/foreign_policy/news/1927568/</a:t>
            </a:r>
          </a:p>
          <a:p xmlns:a="http://schemas.openxmlformats.org/drawingml/2006/main">
            <a:r>
              <a:t>https://mid.ru/ru/foreign_policy/news/1912973/</a:t>
            </a:r>
          </a:p>
          <a:p xmlns:a="http://schemas.openxmlformats.org/drawingml/2006/main">
            <a:r>
              <a:t>https://www.reuters.com/world/europe/russias-lavrov-says-moscow-committed-us-proposals-peace-rejects-europes-2026-06-15/</a:t>
            </a:r>
          </a:p>
          <a:p xmlns:a="http://schemas.openxmlformats.org/drawingml/2006/main">
            <a:r>
              <a:t>https://www.reuters.com/world/lavrov-says-russia-is-ready-resume-talks-with-ukraine-point-where-they-left-off-2026-06-23/</a:t>
            </a:r>
          </a:p>
          <a:p xmlns:a="http://schemas.openxmlformats.org/drawingml/2006/main">
            <a:r>
              <a:t>https://mid.ru/ru/press_service/video/view/1799184/</a:t>
            </a:r>
          </a:p>
          <a:p xmlns:a="http://schemas.openxmlformats.org/drawingml/2006/main">
            <a:r>
              <a:t>https://en.wikipedia.org/wiki/Sergey_Lavrov</a:t>
            </a:r>
          </a:p>
          <a:p xmlns:a="http://schemas.openxmlformats.org/drawingml/2006/main">
            <a:r>
              <a:t>https://www.garant.ru/products/ipo/prime/doc/70627660/</a:t>
            </a:r>
          </a:p>
          <a:p xmlns:a="http://schemas.openxmlformats.org/drawingml/2006/main">
            <a:r>
              <a:t>https://www.rbc.ru/person/617fc0679a794761d6170b80</a:t>
            </a:r>
          </a:p>
          <a:p xmlns:a="http://schemas.openxmlformats.org/drawingml/2006/main">
            <a:r>
              <a:t>http://www.kremlin.ru/acts/bank/50544</a:t>
            </a:r>
          </a:p>
          <a:p xmlns:a="http://schemas.openxmlformats.org/drawingml/2006/main">
            <a:r>
              <a:t>http://special.kremlin.ru/events/president/news/74019</a:t>
            </a:r>
          </a:p>
          <a:p xmlns:a="http://schemas.openxmlformats.org/drawingml/2006/main">
            <a:r>
              <a:t>https://www.interfax.ru/russia/960081</a:t>
            </a:r>
          </a:p>
          <a:p xmlns:a="http://schemas.openxmlformats.org/drawingml/2006/main">
            <a:r>
              <a:t>https://www.rbc.ru/politics/21/09/2022/632ab17c9a794781413c8582</a:t>
            </a:r>
          </a:p>
          <a:p xmlns:a="http://schemas.openxmlformats.org/drawingml/2006/main">
            <a:r>
              <a:t>https://www.bbc.com/russian/articles/c72p0jq04gjo</a:t>
            </a:r>
          </a:p>
          <a:p xmlns:a="http://schemas.openxmlformats.org/drawingml/2006/main">
            <a:r>
              <a:t>https://meduza.io/feature/2024/05/12/putin-uvolil-shoygu-s-posta-ministra-oborony-i-perevel-v-sovbez</a:t>
            </a:r>
          </a:p>
          <a:p xmlns:a="http://schemas.openxmlformats.org/drawingml/2006/main">
            <a:r>
              <a:t>https://paodkb.org/events/sergey-shoygu-naznachen-sekretarem-soveta-bezopasnosti-rf</a:t>
            </a:r>
          </a:p>
          <a:p xmlns:a="http://schemas.openxmlformats.org/drawingml/2006/main">
            <a:r>
              <a:t>https://base.garant.ru/409005084/</a:t>
            </a:r>
          </a:p>
          <a:p xmlns:a="http://schemas.openxmlformats.org/drawingml/2006/main">
            <a:r>
              <a:t>http://special.kremlin.ru/supplement/6345</a:t>
            </a:r>
          </a:p>
          <a:p xmlns:a="http://schemas.openxmlformats.org/drawingml/2006/main">
            <a:r>
              <a:t>http://en.kremlin.ru/supplement/6345</a:t>
            </a:r>
          </a:p>
          <a:p xmlns:a="http://schemas.openxmlformats.org/drawingml/2006/main">
            <a:r>
              <a:t>https://www.kp.ru/daily/27656.5/5040576/</a:t>
            </a:r>
          </a:p>
          <a:p xmlns:a="http://schemas.openxmlformats.org/drawingml/2006/main">
            <a:r>
              <a:t>https://www.fontanka.ru/2025/06/10/75574928/</a:t>
            </a:r>
          </a:p>
          <a:p xmlns:a="http://schemas.openxmlformats.org/drawingml/2006/main">
            <a:r>
              <a:t>https://tass.ru/politika/25506737</a:t>
            </a:r>
          </a:p>
          <a:p xmlns:a="http://schemas.openxmlformats.org/drawingml/2006/main">
            <a:r>
              <a:t>https://www.rbc.ru/person/6181419c9a7947df128a22f7</a:t>
            </a:r>
          </a:p>
          <a:p xmlns:a="http://schemas.openxmlformats.org/drawingml/2006/main">
            <a:r>
              <a:t>https://www.rbc.ru/economics/31/05/2021/60b3de5d9a7947f2883f7aa0</a:t>
            </a:r>
          </a:p>
          <a:p xmlns:a="http://schemas.openxmlformats.org/drawingml/2006/main">
            <a:r>
              <a:t>https://www.rbc.ru/politics/13/05/2024/6641109a9a7947ab8eebcf7f</a:t>
            </a:r>
          </a:p>
          <a:p xmlns:a="http://schemas.openxmlformats.org/drawingml/2006/main">
            <a:r>
              <a:t>https://www.rbc.ru/business/13/06/2023/6482d3389a79473805ee8978</a:t>
            </a:r>
          </a:p>
          <a:p xmlns:a="http://schemas.openxmlformats.org/drawingml/2006/main">
            <a:r>
              <a:t>https://thebell.io/kuda-vedet-ekonomiku-andrej-belousov-zagadki-dmitriya-medvedeva-i-sposoby-perezhit-sanktsii</a:t>
            </a:r>
          </a:p>
          <a:p xmlns:a="http://schemas.openxmlformats.org/drawingml/2006/main">
            <a:r>
              <a:t>https://72.ru/text/politics/2024/05/14/73575386/</a:t>
            </a:r>
          </a:p>
          <a:p xmlns:a="http://schemas.openxmlformats.org/drawingml/2006/main">
            <a:r>
              <a:t>https://tass.ru/armiya-i-opk/22683223</a:t>
            </a:r>
          </a:p>
          <a:p xmlns:a="http://schemas.openxmlformats.org/drawingml/2006/main">
            <a:r>
              <a:t>https://www.rbc.ru/society/12/12/2017/5a2f9b5a9a79473649fe0042</a:t>
            </a:r>
          </a:p>
          <a:p xmlns:a="http://schemas.openxmlformats.org/drawingml/2006/main">
            <a:r>
              <a:t>https://www.istorex.org/post/russia-december-2024-february-2025</a:t>
            </a:r>
          </a:p>
          <a:p xmlns:a="http://schemas.openxmlformats.org/drawingml/2006/main">
            <a:r>
              <a:t>https://rosinform.ru/news/andrej-belousov-osoboe-znachenie-pridayom-obespecheniyu-voennoj-bezopasnosti-soyuznogo-gosudarstva</a:t>
            </a:r>
          </a:p>
          <a:p xmlns:a="http://schemas.openxmlformats.org/drawingml/2006/main">
            <a:r>
              <a:t>https://xn--b1apnk.xn--p1ai/tpost/nsk7vo4xh1-vstrecha-s-ministrom-oboroni-rossii-i-os</a:t>
            </a:r>
          </a:p>
          <a:p xmlns:a="http://schemas.openxmlformats.org/drawingml/2006/main">
            <a:r>
              <a:t>https://www.rbc.ru/person/62d120d89a79475f0ddd8b5e</a:t>
            </a:r>
          </a:p>
          <a:p xmlns:a="http://schemas.openxmlformats.org/drawingml/2006/main">
            <a:r>
              <a:t>http://scrf.gov.ru/news/allnews/2148/</a:t>
            </a:r>
          </a:p>
          <a:p xmlns:a="http://schemas.openxmlformats.org/drawingml/2006/main">
            <a:r>
              <a:t>https://www.rbc.ru/politics/14/05/2024/6643287b9a7947a8f0b8ba78</a:t>
            </a:r>
          </a:p>
          <a:p xmlns:a="http://schemas.openxmlformats.org/drawingml/2006/main">
            <a:r>
              <a:t>https://tass.ru/info/20789699</a:t>
            </a:r>
          </a:p>
          <a:p xmlns:a="http://schemas.openxmlformats.org/drawingml/2006/main">
            <a:r>
              <a:t>https://marine.org.ru/structure/person/56/</a:t>
            </a:r>
          </a:p>
          <a:p xmlns:a="http://schemas.openxmlformats.org/drawingml/2006/main">
            <a:r>
              <a:t>https://marine.org.ru/publication/smi/16108/</a:t>
            </a:r>
          </a:p>
          <a:p xmlns:a="http://schemas.openxmlformats.org/drawingml/2006/main">
            <a:r>
              <a:t>https://www.svoboda.org/a/30676123.html</a:t>
            </a:r>
          </a:p>
          <a:p xmlns:a="http://schemas.openxmlformats.org/drawingml/2006/main">
            <a:r>
              <a:t>https://aif.ru/society/safety/kuklovodstvo_k_deystviyu_nikolay_patrushev_o_metodah_cvetnyh_revolyuciy</a:t>
            </a:r>
          </a:p>
          <a:p xmlns:a="http://schemas.openxmlformats.org/drawingml/2006/main">
            <a:r>
              <a:t>https://vkrizis.info/vlast/czennosti-razmyvaniya/</a:t>
            </a:r>
          </a:p>
          <a:p xmlns:a="http://schemas.openxmlformats.org/drawingml/2006/main">
            <a:r>
              <a:t>https://infranomica.ru/2026/05/19/selskoe-hozyajstvo-est-rezultat-budet-i-pishha/</a:t>
            </a:r>
          </a:p>
          <a:p xmlns:a="http://schemas.openxmlformats.org/drawingml/2006/main">
            <a:r>
              <a:t>https://www.rbc.ru/person/660400989a79471b36dbb514</a:t>
            </a:r>
          </a:p>
          <a:p xmlns:a="http://schemas.openxmlformats.org/drawingml/2006/main">
            <a:r>
              <a:t>http://special.kremlin.ru/catalog/persons/100/events</a:t>
            </a:r>
          </a:p>
          <a:p xmlns:a="http://schemas.openxmlformats.org/drawingml/2006/main">
            <a:r>
              <a:t>https://nac.gov.ru/view/eb008ff4-1608-4b47-b2a9-3d604c1833c2</a:t>
            </a:r>
          </a:p>
          <a:p xmlns:a="http://schemas.openxmlformats.org/drawingml/2006/main">
            <a:r>
              <a:t>http://pfo.gov.ru/press/events/113336/</a:t>
            </a:r>
          </a:p>
          <a:p xmlns:a="http://schemas.openxmlformats.org/drawingml/2006/main">
            <a:r>
              <a:t>https://www.opensanctions.org/entities/Q516824/</a:t>
            </a:r>
          </a:p>
          <a:p xmlns:a="http://schemas.openxmlformats.org/drawingml/2006/main">
            <a:r>
              <a:t>https://www.agents.media/ssha-poprobuyut-vozobnovit-peregovory-o-mire-v-ukraine-cherez-glavu-fsb-che-vedomstvo-kak-schitaetsya-svoimi-dokladami-podtolknulo-putina-k-vojne/</a:t>
            </a:r>
          </a:p>
          <a:p xmlns:a="http://schemas.openxmlformats.org/drawingml/2006/main">
            <a:r>
              <a:t>https://letters.kremlin.ru/news/receptions/by-section/assignments/by-person/260</a:t>
            </a:r>
          </a:p>
          <a:p xmlns:a="http://schemas.openxmlformats.org/drawingml/2006/main">
            <a:r>
              <a:t>https://www.kommersant.ru/doc/3612580</a:t>
            </a:r>
          </a:p>
          <a:p xmlns:a="http://schemas.openxmlformats.org/drawingml/2006/main">
            <a:r>
              <a:t>https://fbk.info/ru/investigations/kirienko-kholyi-putina</a:t>
            </a:r>
          </a:p>
          <a:p xmlns:a="http://schemas.openxmlformats.org/drawingml/2006/main">
            <a:r>
              <a:t>https://utro02.tv/2022/05/24/kolebaniya-kirienok/</a:t>
            </a:r>
          </a:p>
          <a:p xmlns:a="http://schemas.openxmlformats.org/drawingml/2006/main">
            <a:r>
              <a:t>https://meduza.io/feature/2023/12/19/on-peresidel-v-svoem-kresle-v-kremle-i-pravitelstve-obsuzhdayut-chto-sergey-kirienko-mozhet-lishitsya-dolzhnosti-v-ap-posle-vyborov-prezidenta</a:t>
            </a:r>
          </a:p>
          <a:p xmlns:a="http://schemas.openxmlformats.org/drawingml/2006/main">
            <a:r>
              <a:t>https://verstka.media/kak-rossiya-prodvigaet-svoyu-molodezhnuyu-politiku-na-okkupirovannyh-territoriyah</a:t>
            </a:r>
          </a:p>
          <a:p xmlns:a="http://schemas.openxmlformats.org/drawingml/2006/main">
            <a:r>
              <a:t>https://dnrnews.ru/society/2025/09/04/1167117.html</a:t>
            </a:r>
          </a:p>
          <a:p xmlns:a="http://schemas.openxmlformats.org/drawingml/2006/main">
            <a:r>
              <a:t>https://www.tadviser.ru/index.php/%D0%9F%D0%B5%D1%80%D1%81%D0%BE%D0%BD%D0%B0:%D0%9A%D0%B8%D1%80%D0%B8%D0%B5%D0%BD%D0%BA%D0%BE_%D0%A1%D0%B5%D1%80%D0%B3%D0%B5%D0%B9_%D0%92%D0%BB%D0%B0%D0%B4%D0%B8%D0%BB%D0%B5%D0%BD%D0%BE%D0%B2%D0%B8%D1%87</a:t>
            </a:r>
          </a:p>
          <a:p xmlns:a="http://schemas.openxmlformats.org/drawingml/2006/main">
            <a:r>
              <a:t>https://tass.ru/politika/18225741</a:t>
            </a:r>
          </a:p>
          <a:p xmlns:a="http://schemas.openxmlformats.org/drawingml/2006/main">
            <a:r>
              <a:t>https://www.kommersant.ru/doc/6187168</a:t>
            </a:r>
          </a:p>
          <a:p xmlns:a="http://schemas.openxmlformats.org/drawingml/2006/main">
            <a:r>
              <a:t>https://duma.gov.ru/news/63383/</a:t>
            </a:r>
          </a:p>
          <a:p xmlns:a="http://schemas.openxmlformats.org/drawingml/2006/main">
            <a:r>
              <a:t>http://duma.gov.ru/en/duma/persons/99100829/news/</a:t>
            </a:r>
          </a:p>
          <a:p xmlns:a="http://schemas.openxmlformats.org/drawingml/2006/main">
            <a:r>
              <a:t>http://duma.gov.ru/en/news/62248/</a:t>
            </a:r>
          </a:p>
          <a:p xmlns:a="http://schemas.openxmlformats.org/drawingml/2006/main">
            <a:r>
              <a:t>http://duma.gov.ru/en/news/61352/</a:t>
            </a:r>
          </a:p>
          <a:p xmlns:a="http://schemas.openxmlformats.org/drawingml/2006/main">
            <a:r>
              <a:t>http://duma.gov.ru/en/news/64178/</a:t>
            </a:r>
          </a:p>
          <a:p xmlns:a="http://schemas.openxmlformats.org/drawingml/2006/main">
            <a:r>
              <a:t>http://duma.gov.ru/en/news/64216</a:t>
            </a:r>
          </a:p>
          <a:p xmlns:a="http://schemas.openxmlformats.org/drawingml/2006/main">
            <a:r>
              <a:t>http://duma.gov.ru/en/news/64239</a:t>
            </a:r>
          </a:p>
          <a:p xmlns:a="http://schemas.openxmlformats.org/drawingml/2006/main">
            <a:r>
              <a:t>https://en.wikipedia.org/wiki/Vyacheslav_Volodin</a:t>
            </a:r>
          </a:p>
          <a:p xmlns:a="http://schemas.openxmlformats.org/drawingml/2006/main">
            <a:r>
              <a:t>http://duma.gov.ru/news/56060/</a:t>
            </a:r>
          </a:p>
          <a:p xmlns:a="http://schemas.openxmlformats.org/drawingml/2006/main">
            <a:r>
              <a:t>http://duma.gov.ru/news/60448/</a:t>
            </a:r>
          </a:p>
          <a:p xmlns:a="http://schemas.openxmlformats.org/drawingml/2006/main">
            <a:r>
              <a:t>http://duma.gov.ru/news/61362/</a:t>
            </a:r>
          </a:p>
          <a:p xmlns:a="http://schemas.openxmlformats.org/drawingml/2006/main">
            <a:r>
              <a:t>http://duma.gov.ru/news/61384/</a:t>
            </a:r>
          </a:p>
          <a:p xmlns:a="http://schemas.openxmlformats.org/drawingml/2006/main">
            <a:r>
              <a:t>http://duma.gov.ru/news/61874/</a:t>
            </a:r>
          </a:p>
          <a:p xmlns:a="http://schemas.openxmlformats.org/drawingml/2006/main">
            <a:r>
              <a:t>http://duma.gov.ru/news/62022/</a:t>
            </a:r>
          </a:p>
          <a:p xmlns:a="http://schemas.openxmlformats.org/drawingml/2006/main">
            <a:r>
              <a:t>http://duma.gov.ru/news/63772/</a:t>
            </a:r>
          </a:p>
          <a:p xmlns:a="http://schemas.openxmlformats.org/drawingml/2006/main">
            <a:r>
              <a:t>https://council.gov.ru/events/news/160466/</a:t>
            </a:r>
          </a:p>
          <a:p xmlns:a="http://schemas.openxmlformats.org/drawingml/2006/main">
            <a:r>
              <a:t>http://council.gov.ru/structure/persons/257/</a:t>
            </a:r>
          </a:p>
          <a:p xmlns:a="http://schemas.openxmlformats.org/drawingml/2006/main">
            <a:r>
              <a:t>https://interaffairs.ru/news/show/16199</a:t>
            </a:r>
          </a:p>
          <a:p xmlns:a="http://schemas.openxmlformats.org/drawingml/2006/main">
            <a:r>
              <a:t>https://www.rbc.ru/person/617fb5ef9a79475c6cfc4502</a:t>
            </a:r>
          </a:p>
          <a:p xmlns:a="http://schemas.openxmlformats.org/drawingml/2006/main">
            <a:r>
              <a:t>https://vksrs.com/publications/matvienko-rasskazala-o-neobkhodimosti-protivostoyat-geroizatsii-natsistov/</a:t>
            </a:r>
          </a:p>
          <a:p xmlns:a="http://schemas.openxmlformats.org/drawingml/2006/main">
            <a:r>
              <a:t>https://absatz.media/politika/158438-valentine-matvienko-77-istoriya-uspeha-put-k-vershine-i-samye-yarkie-zayavleniya</a:t>
            </a:r>
          </a:p>
          <a:p xmlns:a="http://schemas.openxmlformats.org/drawingml/2006/main">
            <a:r>
              <a:t>https://www.rbc.ru/society/14/10/2026/6acf597c9a794743e0478a15?from=short_news</a:t>
            </a:r>
          </a:p>
          <a:p xmlns:a="http://schemas.openxmlformats.org/drawingml/2006/main">
            <a:r>
              <a:t>https://senatinform.ru/news/sf_stremitsya_byt_maksimalno_otkrytym_dlya_raboty_zhurnalistov_matvienko/</a:t>
            </a:r>
          </a:p>
          <a:p xmlns:a="http://schemas.openxmlformats.org/drawingml/2006/main">
            <a:r>
              <a:t>https://eparlament.irzs.ru/Files/getFile/11853</a:t>
            </a:r>
          </a:p>
          <a:p xmlns:a="http://schemas.openxmlformats.org/drawingml/2006/main">
            <a:r>
              <a:t>http://special.council.gov.ru/activity/meetings/170703/transcript/</a:t>
            </a:r>
          </a:p>
          <a:p xmlns:a="http://schemas.openxmlformats.org/drawingml/2006/main">
            <a:r>
              <a:t>https://bookonlime.ru/lecture/12-razvitie-ekonomicheskih-otnosheniy-i-strategicheskoe-planirovanie-v-cifrovoy-ekonomike-2</a:t>
            </a:r>
          </a:p>
          <a:p xmlns:a="http://schemas.openxmlformats.org/drawingml/2006/main">
            <a:r>
              <a:t>https://ru.wikipedia.org/wiki/Песков,_Дмитрий_Сергеевич</a:t>
            </a:r>
          </a:p>
          <a:p xmlns:a="http://schemas.openxmlformats.org/drawingml/2006/main">
            <a:r>
              <a:t>https://www.reuters.com/world/europe/kremlin-says-ukraine-is-now-paying-price-its-own-attacks-russia-2026-09-28/</a:t>
            </a:r>
          </a:p>
          <a:p xmlns:a="http://schemas.openxmlformats.org/drawingml/2006/main">
            <a:r>
              <a:t>https://www.reuters.com/world/europe/kremlin-rejects-le-penbardella-rebuke-says-russia-is-no-threat-france-2026-09-21/</a:t>
            </a:r>
          </a:p>
          <a:p xmlns:a="http://schemas.openxmlformats.org/drawingml/2006/main">
            <a:r>
              <a:t>https://theins.ru/antifake/295208</a:t>
            </a:r>
          </a:p>
          <a:p xmlns:a="http://schemas.openxmlformats.org/drawingml/2006/main">
            <a:r>
              <a:t>https://expert.ru/news/v-kremle-otvetili-na-slova-donalda-trampa-o-rossiyskom-vmeshatelstve</a:t>
            </a:r>
          </a:p>
          <a:p xmlns:a="http://schemas.openxmlformats.org/drawingml/2006/main">
            <a:r>
              <a:t>https://www.dw.com/ru/dmitrij-peskov/t-18146676/page-1</a:t>
            </a:r>
          </a:p>
          <a:p xmlns:a="http://schemas.openxmlformats.org/drawingml/2006/main">
            <a:r>
              <a:t>https://www.pnp.ru/person/dmitriy--peskov/</a:t>
            </a:r>
          </a:p>
          <a:p xmlns:a="http://schemas.openxmlformats.org/drawingml/2006/main">
            <a:r>
              <a:t>https://www.rbc.ua/ukr/dossier/peskov-19032015</a:t>
            </a:r>
          </a:p>
          <a:p xmlns:a="http://schemas.openxmlformats.org/drawingml/2006/main">
            <a:r>
              <a:t>https://www.rbc.ru/politics/12/10/2026/6accae3bb18f4460834ce063</a:t>
            </a:r>
          </a:p>
          <a:p xmlns:a="http://schemas.openxmlformats.org/drawingml/2006/main">
            <a:r>
              <a:t>https://tass.ru/politika/20355193</a:t>
            </a:r>
          </a:p>
          <a:p xmlns:a="http://schemas.openxmlformats.org/drawingml/2006/main">
            <a:r>
              <a:t>https://www.m24.ru/news/06052024/689412</a:t>
            </a:r>
          </a:p>
          <a:p xmlns:a="http://schemas.openxmlformats.org/drawingml/2006/main">
            <a:r>
              <a:t>http://www.kremlin.ru/acts/bank/48502</a:t>
            </a:r>
          </a:p>
          <a:p xmlns:a="http://schemas.openxmlformats.org/drawingml/2006/main">
            <a:r>
              <a:t>https://www.m24.ru/news/11022025/769070</a:t>
            </a:r>
          </a:p>
          <a:p xmlns:a="http://schemas.openxmlformats.org/drawingml/2006/main">
            <a:r>
              <a:t>https://www.m24.ru/news/23042026/894202</a:t>
            </a:r>
          </a:p>
          <a:p xmlns:a="http://schemas.openxmlformats.org/drawingml/2006/main">
            <a:r>
              <a:t>https://cbr.ru/about_br/nabiullinaes/</a:t>
            </a:r>
          </a:p>
          <a:p xmlns:a="http://schemas.openxmlformats.org/drawingml/2006/main">
            <a:r>
              <a:t>https://cbr.ru/press/event/?id=12840</a:t>
            </a:r>
          </a:p>
          <a:p xmlns:a="http://schemas.openxmlformats.org/drawingml/2006/main">
            <a:r>
              <a:t>https://www.cbr.ru/press/event/?id=12904</a:t>
            </a:r>
          </a:p>
          <a:p xmlns:a="http://schemas.openxmlformats.org/drawingml/2006/main">
            <a:r>
              <a:t>https://cbr.ru/press/event/?id=14033</a:t>
            </a:r>
          </a:p>
          <a:p xmlns:a="http://schemas.openxmlformats.org/drawingml/2006/main">
            <a:r>
              <a:t>https://www.cbr.ru/press/event/?id=12764</a:t>
            </a:r>
          </a:p>
          <a:p xmlns:a="http://schemas.openxmlformats.org/drawingml/2006/main">
            <a:r>
              <a:t>https://kazanfirst.ru/articles/534335</a:t>
            </a:r>
          </a:p>
          <a:p xmlns:a="http://schemas.openxmlformats.org/drawingml/2006/main">
            <a:r>
              <a:t>https://www.rbc.ru/person/65e831449a79476cbfd8e5fd</a:t>
            </a:r>
          </a:p>
          <a:p xmlns:a="http://schemas.openxmlformats.org/drawingml/2006/main">
            <a:r>
              <a:t>https://www.interfax.ru/russia/955290</a:t>
            </a:r>
          </a:p>
          <a:p xmlns:a="http://schemas.openxmlformats.org/drawingml/2006/main">
            <a:r>
              <a:t>https://minfin.gov.ru/ru/press-center/?id_4=38548-intervyu_ministra_finansov_antona_siluanova_gazete_argumenty_i_fakty</a:t>
            </a:r>
          </a:p>
          <a:p xmlns:a="http://schemas.openxmlformats.org/drawingml/2006/main">
            <a:r>
              <a:t>https://minfin.gov.ru/ru/press-center/?id_4=37667-vystuplenie_antona_siluanova_na_plenarnom_zasedanii_v_gosudarstvennoi_dume</a:t>
            </a:r>
          </a:p>
          <a:p xmlns:a="http://schemas.openxmlformats.org/drawingml/2006/main">
            <a:r>
              <a:t>https://www.rbc.ru/economics/24/10/2022/63529d159a7947efb82a59eb</a:t>
            </a:r>
          </a:p>
          <a:p xmlns:a="http://schemas.openxmlformats.org/drawingml/2006/main">
            <a:r>
              <a:t>https://www.rbc.ru/newspaper/2020/02/21/5e4e83289a79474bcf9f8cf9</a:t>
            </a:r>
          </a:p>
          <a:p xmlns:a="http://schemas.openxmlformats.org/drawingml/2006/main">
            <a:r>
              <a:t>https://www.rbc.ru/economics/20/02/2020/5e4e91919a79475559478893</a:t>
            </a:r>
          </a:p>
          <a:p xmlns:a="http://schemas.openxmlformats.org/drawingml/2006/main">
            <a:r>
              <a:t>https://minfin.gov.ru/ru/press-center/?id_4=39336-anton_siluanov_predstavil_na_parlamentskikh_slushaniyakh_v_sovete_federatsii_proekt_byudzheta_na_2025-2027_gg.</a:t>
            </a:r>
          </a:p>
          <a:p xmlns:a="http://schemas.openxmlformats.org/drawingml/2006/main">
            <a:r>
              <a:t>https://www.interfax.ru/amp/1035506</a:t>
            </a:r>
          </a:p>
          <a:p xmlns:a="http://schemas.openxmlformats.org/drawingml/2006/main">
            <a:r>
              <a:t>https://tass.ru/ekonomika/28198121</a:t>
            </a:r>
          </a:p>
          <a:p xmlns:a="http://schemas.openxmlformats.org/drawingml/2006/main">
            <a:r>
              <a:t>https://www.rbc.ru/person/65b9f4369a7947ec8a7f242a</a:t>
            </a:r>
          </a:p>
          <a:p xmlns:a="http://schemas.openxmlformats.org/drawingml/2006/main">
            <a:r>
              <a:t>https://www.bfm.ru/news/435050</a:t>
            </a:r>
          </a:p>
          <a:p xmlns:a="http://schemas.openxmlformats.org/drawingml/2006/main">
            <a:r>
              <a:t>https://ru.ruwiki.ru/wiki/%D0%93%D0%BE%D0%BB%D0%B8%D0%BA%D0%BE%D0%B2%D0%B0,_%D0%A2%D0%B0%D1%82%D1%8C%D1%8F%D0%BD%D0%B0_%D0%90%D0%BB%D0%B5%D0%BA%D1%81%D0%B5%D0%B5%D0%B2%D0%BD%D0%B0</a:t>
            </a:r>
          </a:p>
          <a:p xmlns:a="http://schemas.openxmlformats.org/drawingml/2006/main">
            <a:r>
              <a:t>http://www.kremlin.ru/events/president/transcripts/deliberations%20/77439</a:t>
            </a:r>
          </a:p>
          <a:p xmlns:a="http://schemas.openxmlformats.org/drawingml/2006/main">
            <a:r>
              <a:t>https://xn--90aivcdt6dxbc.xn--p1ai/articles/news/prezident-zdravookhranenie-zanimaet-klyuchevoe-mesto-v-sotsialnoy-politike-rossii/</a:t>
            </a:r>
          </a:p>
          <a:p xmlns:a="http://schemas.openxmlformats.org/drawingml/2006/main">
            <a:r>
              <a:t>https://xn--90aivcdt6dxbc.xn--p1ai/articles/news/tatyana-golikova-edinaya-rossiya-nadezhnyy-soyuznik-i-partner-pravitelstva/</a:t>
            </a:r>
          </a:p>
          <a:p xmlns:a="http://schemas.openxmlformats.org/drawingml/2006/main">
            <a:r>
              <a:t>http://government.ru/news/58648/</a:t>
            </a:r>
          </a:p>
          <a:p xmlns:a="http://schemas.openxmlformats.org/drawingml/2006/main">
            <a:r>
              <a:t>http://government.ru/news/54912/</a:t>
            </a:r>
          </a:p>
          <a:p xmlns:a="http://schemas.openxmlformats.org/drawingml/2006/main">
            <a:r>
              <a:t>http://government.ru/news/58000/</a:t>
            </a:r>
          </a:p>
          <a:p xmlns:a="http://schemas.openxmlformats.org/drawingml/2006/main">
            <a:r>
              <a:t>https://tass.ru/politika/28141547</a:t>
            </a:r>
          </a:p>
          <a:p xmlns:a="http://schemas.openxmlformats.org/drawingml/2006/main">
            <a:r>
              <a:t>https://duma.gov.ru/media/files/smUklOtuNPyzwTneQGCfFUHHIsilAqcm.pdf</a:t>
            </a:r>
          </a:p>
          <a:p xmlns:a="http://schemas.openxmlformats.org/drawingml/2006/main">
            <a:r>
              <a:t>https://kprf.ru/dep/gosduma/activities/187187.html</a:t>
            </a:r>
          </a:p>
          <a:p xmlns:a="http://schemas.openxmlformats.org/drawingml/2006/main">
            <a:r>
              <a:t>http://msk.kprf.ru/2022/08/22/222866/</a:t>
            </a:r>
          </a:p>
          <a:p xmlns:a="http://schemas.openxmlformats.org/drawingml/2006/main">
            <a:r>
              <a:t>https://kprf.ru/party-live/cknews/235903.html</a:t>
            </a:r>
          </a:p>
          <a:p xmlns:a="http://schemas.openxmlformats.org/drawingml/2006/main">
            <a:r>
              <a:t>https://kprf.ru/dep/gosduma/activities/236198.html/print</a:t>
            </a:r>
          </a:p>
          <a:p xmlns:a="http://schemas.openxmlformats.org/drawingml/2006/main">
            <a:r>
              <a:t>https://kprf.ru/dep/gosduma/activities/239812.html</a:t>
            </a:r>
          </a:p>
          <a:p xmlns:a="http://schemas.openxmlformats.org/drawingml/2006/main">
            <a:r>
              <a:t>https://kprf-don.ru/index.php/news/facts/12501-2025-09-15-12-58-35.html</a:t>
            </a:r>
          </a:p>
          <a:p xmlns:a="http://schemas.openxmlformats.org/drawingml/2006/main">
            <a:r>
              <a:t>https://kprf.ru/dep/gosduma/activities/237529.html</a:t>
            </a:r>
          </a:p>
          <a:p xmlns:a="http://schemas.openxmlformats.org/drawingml/2006/main">
            <a:r>
              <a:t>https://novayagazeta.ru/articles/2025/09/19/putin-udivilsia-khodu-zapushchennoi-im-vesnoi-munitsipalnoi-reformy-posle-slov-ziuganova-kak-regiony-dlia-nee-lomali-cherez-koleno-a-tatarstan-otkazalsia-ee-ispolniat-news</a:t>
            </a:r>
          </a:p>
          <a:p xmlns:a="http://schemas.openxmlformats.org/drawingml/2006/main">
            <a:r>
              <a:t>https://kprf.ru/official/2025/11/15/15-noiabria-2025-oda-sostoialsia-ii-noiabrskii-plenum-tsk-kprf/473.html</a:t>
            </a:r>
          </a:p>
          <a:p xmlns:a="http://schemas.openxmlformats.org/drawingml/2006/main">
            <a:r>
              <a:t>https://www.rbc.ru/person/617bfbb79a7947fc327a3bcb</a:t>
            </a:r>
          </a:p>
          <a:p xmlns:a="http://schemas.openxmlformats.org/drawingml/2006/main">
            <a:r>
              <a:t>https://www.bbc.com/russian/features-60873381</a:t>
            </a:r>
          </a:p>
          <a:p xmlns:a="http://schemas.openxmlformats.org/drawingml/2006/main">
            <a:r>
              <a:t>https://www.svoboda.org/a/umer-lider-partii-ldpr-vladimir-zhirinovskiy-nekrolog/31770134.html</a:t>
            </a:r>
          </a:p>
          <a:p xmlns:a="http://schemas.openxmlformats.org/drawingml/2006/main">
            <a:r>
              <a:t>https://www.rbc.ru/politics/06/04/2022/624d661b9a79473f7416fe26</a:t>
            </a:r>
          </a:p>
          <a:p xmlns:a="http://schemas.openxmlformats.org/drawingml/2006/main">
            <a:r>
              <a:t>https://tass.ru/politika/3392889</a:t>
            </a:r>
          </a:p>
          <a:p xmlns:a="http://schemas.openxmlformats.org/drawingml/2006/main">
            <a:r>
              <a:t>https://www.pnp.ru/politics/2016/06/28/v-centre-predvybornoy-programmy-ldpr-russkiy-vopros.html</a:t>
            </a:r>
          </a:p>
          <a:p xmlns:a="http://schemas.openxmlformats.org/drawingml/2006/main">
            <a:r>
              <a:t>https://ldpr.ru/party/history/</a:t>
            </a:r>
          </a:p>
          <a:p xmlns:a="http://schemas.openxmlformats.org/drawingml/2006/main">
            <a:r>
              <a:t>https://govoritmoskva.ru/interviews/1023/</a:t>
            </a:r>
          </a:p>
          <a:p xmlns:a="http://schemas.openxmlformats.org/drawingml/2006/main">
            <a:r>
              <a:t>https://www.gazeta.ru/politics/2017/03/17_a_10580999.shtml</a:t>
            </a:r>
          </a:p>
          <a:p xmlns:a="http://schemas.openxmlformats.org/drawingml/2006/main">
            <a:r>
              <a:t>https://ldpr.ru/upload/iblock/c88/1d6dstdexz6aw7dnwoubeobhr3mnwa1j/a799616e688866c49f2ef6b5b8cfe5c00d45080ae85ce0e5f6d36e2e010681d9.pdf</a:t>
            </a:r>
          </a:p>
          <a:p xmlns:a="http://schemas.openxmlformats.org/drawingml/2006/main">
            <a:r>
              <a:t>https://www.kommersant.ru/doc/3579566</a:t>
            </a:r>
          </a:p>
          <a:p xmlns:a="http://schemas.openxmlformats.org/drawingml/2006/main">
            <a:r>
              <a:t>https://spb.ldpr.ru/event/243915/</a:t>
            </a:r>
          </a:p>
          <a:p xmlns:a="http://schemas.openxmlformats.org/drawingml/2006/main">
            <a:r>
              <a:t>https://kursk.ldpr.ru/event/341398</a:t>
            </a:r>
          </a:p>
          <a:p xmlns:a="http://schemas.openxmlformats.org/drawingml/2006/main">
            <a:r>
              <a:t>https://cyberleninka.ru/article/n/sravnitelnyy-analiz-predvybornyh-programm-ldpr-na-vyborah-2021-g-i-l-e-slutskogo-na-vyborah-2024-g</a:t>
            </a:r>
          </a:p>
          <a:p xmlns:a="http://schemas.openxmlformats.org/drawingml/2006/main">
            <a:r>
              <a:t>https://kcr.ldpr.ru/event/347999/</a:t>
            </a:r>
          </a:p>
          <a:p xmlns:a="http://schemas.openxmlformats.org/drawingml/2006/main">
            <a:r>
              <a:t>https://msknews77.ru/society/2025/09/25/73500.html</a:t>
            </a:r>
          </a:p>
          <a:p xmlns:a="http://schemas.openxmlformats.org/drawingml/2006/main">
            <a:r>
              <a:t>https://bagaevka-press.ru/besplatnyj-zemelnyj-uchastok-dlya-semej-inicziativa-ldpr/</a:t>
            </a:r>
          </a:p>
          <a:p xmlns:a="http://schemas.openxmlformats.org/drawingml/2006/main">
            <a:r>
              <a:t>https://ldpr.ru/event/437527/</a:t>
            </a:r>
          </a:p>
          <a:p xmlns:a="http://schemas.openxmlformats.org/drawingml/2006/main">
            <a:r>
              <a:t>https://rg62.info/2025/11/01/leonid-sluczkij-vstupilsya-za-multserial-masha-i-medved/</a:t>
            </a:r>
          </a:p>
          <a:p xmlns:a="http://schemas.openxmlformats.org/drawingml/2006/main">
            <a:r>
              <a:t>https://mironov.ru/officially</a:t>
            </a:r>
          </a:p>
          <a:p xmlns:a="http://schemas.openxmlformats.org/drawingml/2006/main">
            <a:r>
              <a:t>https://mironov.ru/bio</a:t>
            </a:r>
          </a:p>
          <a:p xmlns:a="http://schemas.openxmlformats.org/drawingml/2006/main">
            <a:r>
              <a:t>https://mironov-online.ru/category/zayavleniya/</a:t>
            </a:r>
          </a:p>
          <a:p xmlns:a="http://schemas.openxmlformats.org/drawingml/2006/main">
            <a:r>
              <a:t>https://www.rbc.ru/person/69806d279a7947baf86c32c5</a:t>
            </a:r>
          </a:p>
          <a:p xmlns:a="http://schemas.openxmlformats.org/drawingml/2006/main">
            <a:r>
              <a:t>https://spravedlivo.ru/16303010</a:t>
            </a:r>
          </a:p>
          <a:p xmlns:a="http://schemas.openxmlformats.org/drawingml/2006/main">
            <a:r>
              <a:t>http://mironov.ru/15133910</a:t>
            </a:r>
          </a:p>
          <a:p xmlns:a="http://schemas.openxmlformats.org/drawingml/2006/main">
            <a:r>
              <a:t>http://www.special.spravedlivo.ru/5_140609.html</a:t>
            </a:r>
          </a:p>
          <a:p xmlns:a="http://schemas.openxmlformats.org/drawingml/2006/main">
            <a:r>
              <a:t>https://spravedlivo.ru/14681110</a:t>
            </a:r>
          </a:p>
          <a:p xmlns:a="http://schemas.openxmlformats.org/drawingml/2006/main">
            <a:r>
              <a:t>https://radiokp.ru/podcast/dialogi-na-radio-kp/759263</a:t>
            </a:r>
          </a:p>
          <a:p xmlns:a="http://schemas.openxmlformats.org/drawingml/2006/main">
            <a:r>
              <a:t>https://mironov.ru/51339910</a:t>
            </a:r>
          </a:p>
          <a:p xmlns:a="http://schemas.openxmlformats.org/drawingml/2006/main">
            <a:r>
              <a:t>https://mironov-online.ru/news/mironov-na-ukraine-idet-bitva-za-budushhee-vsego-chelovechestva-i-pobeda-v-nej-budet-za-rossiej/</a:t>
            </a:r>
          </a:p>
          <a:p xmlns:a="http://schemas.openxmlformats.org/drawingml/2006/main">
            <a:r>
              <a:t>https://spravedlivo.ru/12544510</a:t>
            </a:r>
          </a:p>
          <a:p xmlns:a="http://schemas.openxmlformats.org/drawingml/2006/main">
            <a:r>
              <a:t>https://www.rbc.ru/person/6aa3ef199a79475758621730</a:t>
            </a:r>
          </a:p>
          <a:p xmlns:a="http://schemas.openxmlformats.org/drawingml/2006/main">
            <a:r>
              <a:t>https://www.rbc.ru/politics/24/09/2021/614da73f9a7947b5e3d9399f</a:t>
            </a:r>
          </a:p>
          <a:p xmlns:a="http://schemas.openxmlformats.org/drawingml/2006/main">
            <a:r>
              <a:t>https://amp.rbc.ru/rbcnews/base/14/08/2026/6a957dfb9a79476ae3d823ba</a:t>
            </a:r>
          </a:p>
          <a:p xmlns:a="http://schemas.openxmlformats.org/drawingml/2006/main">
            <a:r>
              <a:t>https://en.wikipedia.org/wiki/Alexey_Nechayev</a:t>
            </a:r>
          </a:p>
          <a:p xmlns:a="http://schemas.openxmlformats.org/drawingml/2006/main">
            <a:r>
              <a:t>https://www.gazeta.ru/politics/23422027/novye-lyudi-na-vyborah-2026-goda.shtml</a:t>
            </a:r>
          </a:p>
          <a:p xmlns:a="http://schemas.openxmlformats.org/drawingml/2006/main">
            <a:r>
              <a:t>https://vremya-bir.ru/2026/03/07/dvenadtsat-shagov-k-strane-v-kotoroj-hochetsya-zhit/</a:t>
            </a:r>
          </a:p>
          <a:p xmlns:a="http://schemas.openxmlformats.org/drawingml/2006/main">
            <a:r>
              <a:t>https://www.rbc.ru/politics/08/09/2026/6aa023ec9a79471e4fd55d3c</a:t>
            </a:r>
          </a:p>
          <a:p xmlns:a="http://schemas.openxmlformats.org/drawingml/2006/main">
            <a:r>
              <a:t>https://www.interfax.ru/interview/1074248</a:t>
            </a:r>
          </a:p>
          <a:p xmlns:a="http://schemas.openxmlformats.org/drawingml/2006/main">
            <a:r>
              <a:t>https://www.interfax.ru/amp/1074248</a:t>
            </a:r>
          </a:p>
          <a:p xmlns:a="http://schemas.openxmlformats.org/drawingml/2006/main">
            <a:r>
              <a:t>https://www.vedomosti.ru/politics/articles/2026/09/09/1227352-novie-lyudi-sformulirovali-programmu</a:t>
            </a:r>
          </a:p>
          <a:p xmlns:a="http://schemas.openxmlformats.org/drawingml/2006/main">
            <a:r>
              <a:t>https://dddkursk.ru/lenta/2026/07/30/129483/</a:t>
            </a:r>
          </a:p>
          <a:p xmlns:a="http://schemas.openxmlformats.org/drawingml/2006/main">
            <a:r>
              <a:t>https://volga.news/article/803292.html</a:t>
            </a:r>
          </a:p>
          <a:p xmlns:a="http://schemas.openxmlformats.org/drawingml/2006/main">
            <a:r>
              <a:t>https://ru.wikipedia.org/wiki/%D0%9D%D0%B5%D1%87%D0%B0%D0%B5%D0%B2,_%D0%90%D0%BB%D0%B5%D0%BA%D1%81%D0%B5%D0%B9_%D0%93%D0%B5%D0%BD%D0%BD%D0%B0%D0%B4%D1%8C%D0%B5%D0%B2%D0%B8%D1%87</a:t>
            </a:r>
          </a:p>
          <a:p xmlns:a="http://schemas.openxmlformats.org/drawingml/2006/main">
            <a:r>
              <a:t>https://www.davankov2024.ru/page_biography/</a:t>
            </a:r>
          </a:p>
          <a:p xmlns:a="http://schemas.openxmlformats.org/drawingml/2006/main">
            <a:r>
              <a:t>https://davankov2024.ru/program</a:t>
            </a:r>
          </a:p>
          <a:p xmlns:a="http://schemas.openxmlformats.org/drawingml/2006/main">
            <a:r>
              <a:t>http://vote.duma.gov.ru/?convocation=AAAAAAA8&amp;deputy=99113489&amp;sort=date_desc</a:t>
            </a:r>
          </a:p>
          <a:p xmlns:a="http://schemas.openxmlformats.org/drawingml/2006/main">
            <a:r>
              <a:t>https://holod.media/2024/02/14/vladislav-davankov/</a:t>
            </a:r>
          </a:p>
          <a:p xmlns:a="http://schemas.openxmlformats.org/drawingml/2006/main">
            <a:r>
              <a:t>https://davankov2024.ru/</a:t>
            </a:r>
          </a:p>
          <a:p xmlns:a="http://schemas.openxmlformats.org/drawingml/2006/main">
            <a:r>
              <a:t>https://novayagazeta.eu/articles/2024/02/15/davankov-predstavil-predvybornuiu-programmu-bez-amnistii-politzakliuchennykh-i-s-namereniem-dobitsia-mira-na-nashikh-usloviiakh-news</a:t>
            </a:r>
          </a:p>
          <a:p xmlns:a="http://schemas.openxmlformats.org/drawingml/2006/main">
            <a:r>
              <a:t>https://www.kavkaz-uzel.eu/articles/398113</a:t>
            </a:r>
          </a:p>
          <a:p xmlns:a="http://schemas.openxmlformats.org/drawingml/2006/main">
            <a:r>
              <a:t>https://echofm.online/portret-dnya/portret-dnya-vladislav-davankov-kandidat-v-prezidenty-rossii</a:t>
            </a:r>
          </a:p>
          <a:p xmlns:a="http://schemas.openxmlformats.org/drawingml/2006/main">
            <a:r>
              <a:t>https://t.me/s/davankov?before=788</a:t>
            </a:r>
          </a:p>
          <a:p xmlns:a="http://schemas.openxmlformats.org/drawingml/2006/main">
            <a:r>
              <a:t>https://zaharprilepin.ru/ru/bio/</a:t>
            </a:r>
          </a:p>
          <a:p xmlns:a="http://schemas.openxmlformats.org/drawingml/2006/main">
            <a:r>
              <a:t>https://zaharprilepin.ru/ru/video/zapisi-vistuplenij/intervju/</a:t>
            </a:r>
          </a:p>
          <a:p xmlns:a="http://schemas.openxmlformats.org/drawingml/2006/main">
            <a:r>
              <a:t>https://zaharprilepin.ru/ru/pressa/intervyu/na-harkov.html</a:t>
            </a:r>
          </a:p>
          <a:p xmlns:a="http://schemas.openxmlformats.org/drawingml/2006/main">
            <a:r>
              <a:t>https://www.kommersant.ru/doc/4141912</a:t>
            </a:r>
          </a:p>
          <a:p xmlns:a="http://schemas.openxmlformats.org/drawingml/2006/main">
            <a:r>
              <a:t>https://novayagazeta.eu/articles/2023/05/06/plokhoi-uchenik-limonova</a:t>
            </a:r>
          </a:p>
          <a:p xmlns:a="http://schemas.openxmlformats.org/drawingml/2006/main">
            <a:r>
              <a:t>https://tass.ru/politika/11761037</a:t>
            </a:r>
          </a:p>
          <a:p xmlns:a="http://schemas.openxmlformats.org/drawingml/2006/main">
            <a:r>
              <a:t>https://www.nn.ru/text/politics/2021/10/11/70186523/</a:t>
            </a:r>
          </a:p>
          <a:p xmlns:a="http://schemas.openxmlformats.org/drawingml/2006/main">
            <a:r>
              <a:t>https://www.zaks.ru/new/archive/view/267194</a:t>
            </a:r>
          </a:p>
          <a:p xmlns:a="http://schemas.openxmlformats.org/drawingml/2006/main">
            <a:r>
              <a:t>https://spravedlivo.ru/11288710</a:t>
            </a:r>
          </a:p>
          <a:p xmlns:a="http://schemas.openxmlformats.org/drawingml/2006/main">
            <a:r>
              <a:t>https://www.kommersant.ru/doc/4241515</a:t>
            </a:r>
          </a:p>
          <a:p xmlns:a="http://schemas.openxmlformats.org/drawingml/2006/main">
            <a:r>
              <a:t>https://zaharprilepin.ru/ru/pressa/intervyu/radio-komsomolskaja-pravda-10022021.html</a:t>
            </a:r>
          </a:p>
          <a:p xmlns:a="http://schemas.openxmlformats.org/drawingml/2006/main">
            <a:r>
              <a:t>https://pozneronline.ru/2024/04/36826/</a:t>
            </a:r>
          </a:p>
          <a:p xmlns:a="http://schemas.openxmlformats.org/drawingml/2006/main">
            <a:r>
              <a:t>https://www.rbc.ru/person/62a85a259a7947b9ae5d6360</a:t>
            </a:r>
          </a:p>
          <a:p xmlns:a="http://schemas.openxmlformats.org/drawingml/2006/main">
            <a:r>
              <a:t>https://tass.ru/encyclopedia/person/poklonskaya-natalya-vladimirovna</a:t>
            </a:r>
          </a:p>
          <a:p xmlns:a="http://schemas.openxmlformats.org/drawingml/2006/main">
            <a:r>
              <a:t>https://tass.ru/tag/poklonskaya-natalya-vladimirovna</a:t>
            </a:r>
          </a:p>
          <a:p xmlns:a="http://schemas.openxmlformats.org/drawingml/2006/main">
            <a:r>
              <a:t>https://www.bbc.com/russian/features-44801571</a:t>
            </a:r>
          </a:p>
          <a:p xmlns:a="http://schemas.openxmlformats.org/drawingml/2006/main">
            <a:r>
              <a:t>https://www.rbc.ru/rbcfreenews/5ba8bd499a794792294ba05d</a:t>
            </a:r>
          </a:p>
          <a:p xmlns:a="http://schemas.openxmlformats.org/drawingml/2006/main">
            <a:r>
              <a:t>https://www.dp.ru/a/2018/08/31/Poklonskaja_otreazirovala</a:t>
            </a:r>
          </a:p>
          <a:p xmlns:a="http://schemas.openxmlformats.org/drawingml/2006/main">
            <a:r>
              <a:t>https://www.themoscowtimes.com/2022/06/13/former-crimea-prosecutor-dismissed-after-anti-war-comments-a77983</a:t>
            </a:r>
          </a:p>
          <a:p xmlns:a="http://schemas.openxmlformats.org/drawingml/2006/main">
            <a:r>
              <a:t>https://www.rbc.ru/politics/30/06/2023/649dee189a79473e3fdc8906</a:t>
            </a:r>
          </a:p>
          <a:p xmlns:a="http://schemas.openxmlformats.org/drawingml/2006/main">
            <a:r>
              <a:t>http://council.gov.ru/structure/persons/1044/</a:t>
            </a:r>
          </a:p>
          <a:p xmlns:a="http://schemas.openxmlformats.org/drawingml/2006/main">
            <a:r>
              <a:t>http://council.gov.ru/services/reference/9156/</a:t>
            </a:r>
          </a:p>
          <a:p xmlns:a="http://schemas.openxmlformats.org/drawingml/2006/main">
            <a:r>
              <a:t>http://council.gov.ru/events/news/135415/</a:t>
            </a:r>
          </a:p>
          <a:p xmlns:a="http://schemas.openxmlformats.org/drawingml/2006/main">
            <a:r>
              <a:t>https://24smi.org/celebrity/1156-elena-mizulina.html</a:t>
            </a:r>
          </a:p>
          <a:p xmlns:a="http://schemas.openxmlformats.org/drawingml/2006/main">
            <a:r>
              <a:t>https://www.bfometr.ru/blog/elena-mizulina</a:t>
            </a:r>
          </a:p>
          <a:p xmlns:a="http://schemas.openxmlformats.org/drawingml/2006/main">
            <a:r>
              <a:t>https://www.rbc.ru/society/30/03/2018/5abe1b849a79470dc3826f68</a:t>
            </a:r>
          </a:p>
          <a:p xmlns:a="http://schemas.openxmlformats.org/drawingml/2006/main">
            <a:r>
              <a:t>https://uznayvse.ru/znamenitosti/biografiya-elena-mizulina.html</a:t>
            </a:r>
          </a:p>
          <a:p xmlns:a="http://schemas.openxmlformats.org/drawingml/2006/main">
            <a:r>
              <a:t>https://radiokp.ru/people/elena-mizulina</a:t>
            </a:r>
          </a:p>
          <a:p xmlns:a="http://schemas.openxmlformats.org/drawingml/2006/main">
            <a:r>
              <a:t>https://ru.wikipedia.org/wiki/%D0%9C%D0%B8%D0%B7%D1%83%D0%BB%D0%B8%D0%BD%D0%B0,_%D0%95%D0%BB%D0%B5%D0%BD%D0%B0_%D0%91%D0%BE%D1%80%D0%B8%D1%81%D0%BE%D0%B2%D0%BD%D0%B0</a:t>
            </a:r>
          </a:p>
          <a:p xmlns:a="http://schemas.openxmlformats.org/drawingml/2006/main">
            <a:r>
              <a:t>https://ru.wikipedia.org/wiki/Милонов,_Виталий_Валентинович</a:t>
            </a:r>
          </a:p>
          <a:p xmlns:a="http://schemas.openxmlformats.org/drawingml/2006/main">
            <a:r>
              <a:t>https://tass.ru/encyclopedia/person/milonov-vitaliy-valentinovich</a:t>
            </a:r>
          </a:p>
          <a:p xmlns:a="http://schemas.openxmlformats.org/drawingml/2006/main">
            <a:r>
              <a:t>https://www.pnp.ru/person/vitaliy-milonov/</a:t>
            </a:r>
          </a:p>
          <a:p xmlns:a="http://schemas.openxmlformats.org/drawingml/2006/main">
            <a:r>
              <a:t>https://www.zaks.ru/new/person/view/172</a:t>
            </a:r>
          </a:p>
          <a:p xmlns:a="http://schemas.openxmlformats.org/drawingml/2006/main">
            <a:r>
              <a:t>https://svpressa.ru/persons/vitaliy-milonov/</a:t>
            </a:r>
          </a:p>
          <a:p xmlns:a="http://schemas.openxmlformats.org/drawingml/2006/main">
            <a:r>
              <a:t>https://stuki-druki.com/authors/Milonov-Vitaliy.php</a:t>
            </a:r>
          </a:p>
          <a:p xmlns:a="http://schemas.openxmlformats.org/drawingml/2006/main">
            <a:r>
              <a:t>https://pa.inion.ru/persons/7104/</a:t>
            </a:r>
          </a:p>
          <a:p xmlns:a="http://schemas.openxmlformats.org/drawingml/2006/main">
            <a:r>
              <a:t>https://pa.inion.ru/documents/16503/</a:t>
            </a:r>
          </a:p>
          <a:p xmlns:a="http://schemas.openxmlformats.org/drawingml/2006/main">
            <a:r>
              <a:t>https://pa.inion.ru/documents/27860/</a:t>
            </a:r>
          </a:p>
          <a:p xmlns:a="http://schemas.openxmlformats.org/drawingml/2006/main">
            <a:r>
              <a:t>https://kprf.ru/personal/ostanina</a:t>
            </a:r>
          </a:p>
          <a:p xmlns:a="http://schemas.openxmlformats.org/drawingml/2006/main">
            <a:r>
              <a:t>https://pa.inion.ru/documents/25577/</a:t>
            </a:r>
          </a:p>
          <a:p xmlns:a="http://schemas.openxmlformats.org/drawingml/2006/main">
            <a:r>
              <a:t>https://kprf.ru/dep/gosduma/activities/245108.html</a:t>
            </a:r>
          </a:p>
          <a:p xmlns:a="http://schemas.openxmlformats.org/drawingml/2006/main">
            <a:r>
              <a:t>https://www.pnp.ru/social/zashhita-detskogo-byudzheta-kruzhki-sokhranit-vyplaty-iz-matkapitala-uvelichit.html</a:t>
            </a:r>
          </a:p>
          <a:p xmlns:a="http://schemas.openxmlformats.org/drawingml/2006/main">
            <a:r>
              <a:t>https://www.pnp.ru/state-duma/nina-ostanina-o-byudzhete-na-2027-2029-gody-semeynoy-ipoteke-i-matkapitale.html</a:t>
            </a:r>
          </a:p>
          <a:p xmlns:a="http://schemas.openxmlformats.org/drawingml/2006/main">
            <a:r>
              <a:t>https://uznayvse.ru/znamenitosti/biografiya-nina-ostanina.html</a:t>
            </a:r>
          </a:p>
          <a:p xmlns:a="http://schemas.openxmlformats.org/drawingml/2006/main">
            <a:r>
              <a:t>https://dumatv.ru/news/ostanina--borba-za-mirovozzrencheskii-suverenitet-stanovitsya-gosudarstvennoi-politikoi</a:t>
            </a:r>
          </a:p>
          <a:p xmlns:a="http://schemas.openxmlformats.org/drawingml/2006/main">
            <a:r>
              <a:t>https://kprf.ru/dep/gosduma/activities/242132.html</a:t>
            </a:r>
          </a:p>
          <a:p xmlns:a="http://schemas.openxmlformats.org/drawingml/2006/main">
            <a:r>
              <a:t>https://www.business-gazeta.ru/article/625616</a:t>
            </a:r>
          </a:p>
          <a:p xmlns:a="http://schemas.openxmlformats.org/drawingml/2006/main">
            <a:r>
              <a:t>https://www.kommersant.ru/doc/3235400</a:t>
            </a:r>
          </a:p>
          <a:p xmlns:a="http://schemas.openxmlformats.org/drawingml/2006/main">
            <a:r>
              <a:t>https://www.rbc.ru/person/67d838f09a7947cdef0b1a95</a:t>
            </a:r>
          </a:p>
          <a:p xmlns:a="http://schemas.openxmlformats.org/drawingml/2006/main">
            <a:r>
              <a:t>https://www.vedomosti.ru/politics/articles/2020/03/10/824795-tereshkova-predlozhila</a:t>
            </a:r>
          </a:p>
          <a:p xmlns:a="http://schemas.openxmlformats.org/drawingml/2006/main">
            <a:r>
              <a:t>http://duma.gov.ru/news/49164/</a:t>
            </a:r>
          </a:p>
          <a:p xmlns:a="http://schemas.openxmlformats.org/drawingml/2006/main">
            <a:r>
              <a:t>https://meduza.io/news/2020/03/12/delayut-vse-dlya-togo-chtoby-gadosti-delat-tereshkova-o-protivnikah-popravki-obnulyayuschey-sroki-putina</a:t>
            </a:r>
          </a:p>
          <a:p xmlns:a="http://schemas.openxmlformats.org/drawingml/2006/main">
            <a:r>
              <a:t>https://meduza.io/feature/2020/03/10/gosduma-neozhidanno-dlya-sebya-obespechila-putina-novymi-prezidentskimi-srokami</a:t>
            </a:r>
          </a:p>
          <a:p xmlns:a="http://schemas.openxmlformats.org/drawingml/2006/main">
            <a:r>
              <a:t>https://hinshtein.ru/biography/</a:t>
            </a:r>
          </a:p>
          <a:p xmlns:a="http://schemas.openxmlformats.org/drawingml/2006/main">
            <a:r>
              <a:t>https://www.vedomosti.ru/politics/articles/2024/12/06/1079852-kto-takoi-aleksandr-hinshtein</a:t>
            </a:r>
          </a:p>
          <a:p xmlns:a="http://schemas.openxmlformats.org/drawingml/2006/main">
            <a:r>
              <a:t>https://www.rbc.ru/person/6752d12a9a7947d62166795e</a:t>
            </a:r>
          </a:p>
          <a:p xmlns:a="http://schemas.openxmlformats.org/drawingml/2006/main">
            <a:r>
              <a:t>https://www.rbc.ru/politics/06/12/2024/675207239a7947e74994842e</a:t>
            </a:r>
          </a:p>
          <a:p xmlns:a="http://schemas.openxmlformats.org/drawingml/2006/main">
            <a:r>
              <a:t>https://hinshtein.ru/news/aleksandr-hinshtejn-podvyol-itogi-goda-raboty-komiteta-gosdumy-po-informpolitike-informatsionnym-tehnologiyam-i-svyazi/</a:t>
            </a:r>
          </a:p>
          <a:p xmlns:a="http://schemas.openxmlformats.org/drawingml/2006/main">
            <a:r>
              <a:t>https://hinshtein.ru/news/a-hinshtejn-itogi-raboty-za-vii-sozyv/</a:t>
            </a:r>
          </a:p>
          <a:p xmlns:a="http://schemas.openxmlformats.org/drawingml/2006/main">
            <a:r>
              <a:t>https://www.kommersant.ru/doc/4660427</a:t>
            </a:r>
          </a:p>
          <a:p xmlns:a="http://schemas.openxmlformats.org/drawingml/2006/main">
            <a:r>
              <a:t>https://www.kommersant.ru/doc/4104004</a:t>
            </a:r>
          </a:p>
          <a:p xmlns:a="http://schemas.openxmlformats.org/drawingml/2006/main">
            <a:r>
              <a:t>https://www.nvgazeta.ru/news/12383/634260/</a:t>
            </a:r>
          </a:p>
          <a:p xmlns:a="http://schemas.openxmlformats.org/drawingml/2006/main">
            <a:r>
              <a:t>https://kpravda.ru/2025/02/11/kursk-poluchit-dengi-iz-gosbyudzheta-na-restavracziyu-istoricheskoj-kreposti/</a:t>
            </a:r>
          </a:p>
          <a:p xmlns:a="http://schemas.openxmlformats.org/drawingml/2006/main">
            <a:r>
              <a:t>https://tass.ru/obschestvo/24001633</a:t>
            </a:r>
          </a:p>
          <a:p xmlns:a="http://schemas.openxmlformats.org/drawingml/2006/main">
            <a:r>
              <a:t>https://www.kommersant.ru/doc/7737032</a:t>
            </a:r>
          </a:p>
          <a:p xmlns:a="http://schemas.openxmlformats.org/drawingml/2006/main">
            <a:r>
              <a:t>https://kpravda.ru/2025/03/21/edinaya-rossiya-pomozhet-v-restavraczii-kurskih-pamyatnikov/</a:t>
            </a:r>
          </a:p>
          <a:p xmlns:a="http://schemas.openxmlformats.org/drawingml/2006/main">
            <a:r>
              <a:t>https://news-kursk.ru/society/2025/07/13/65824.html</a:t>
            </a:r>
          </a:p>
          <a:p xmlns:a="http://schemas.openxmlformats.org/drawingml/2006/main">
            <a:r>
              <a:t>https://news.ru/russia/v-kurske-budet-alleya-geroev-hinshtejn-o-muzee-i-memoriale-zhertvam-vsu</a:t>
            </a:r>
          </a:p>
          <a:p xmlns:a="http://schemas.openxmlformats.org/drawingml/2006/main">
            <a:r>
              <a:t>https://ru.wikipedia.org/wiki/Пушков,_Алексей_Константинович</a:t>
            </a:r>
          </a:p>
          <a:p xmlns:a="http://schemas.openxmlformats.org/drawingml/2006/main">
            <a:r>
              <a:t>http://council.gov.ru/structure/persons/1316/</a:t>
            </a:r>
          </a:p>
          <a:p xmlns:a="http://schemas.openxmlformats.org/drawingml/2006/main">
            <a:r>
              <a:t>http://council.gov.ru/media/files/xjE2QHRAivCH7onABehAcG7OsnrO6DYb.pdf</a:t>
            </a:r>
          </a:p>
          <a:p xmlns:a="http://schemas.openxmlformats.org/drawingml/2006/main">
            <a:r>
              <a:t>https://base.garant.ru/406310971/</a:t>
            </a:r>
          </a:p>
          <a:p xmlns:a="http://schemas.openxmlformats.org/drawingml/2006/main">
            <a:r>
              <a:t>https://russiancouncil.ru/aleksey-pushkov/</a:t>
            </a:r>
          </a:p>
          <a:p xmlns:a="http://schemas.openxmlformats.org/drawingml/2006/main">
            <a:r>
              <a:t>http://legislation.council.gov.ru/events/announce/</a:t>
            </a:r>
          </a:p>
          <a:p xmlns:a="http://schemas.openxmlformats.org/drawingml/2006/main">
            <a:r>
              <a:t>http://council.gov.ru/events/news/173810/</a:t>
            </a:r>
          </a:p>
          <a:p xmlns:a="http://schemas.openxmlformats.org/drawingml/2006/main">
            <a:r>
              <a:t>http://www.council.gov.ru/events/news/175997/</a:t>
            </a:r>
          </a:p>
          <a:p xmlns:a="http://schemas.openxmlformats.org/drawingml/2006/main">
            <a:r>
              <a:t>http://council.gov.ru/media/report/pdf/HtoXfAAzeBJ8JwN0eAduo3rejTAYhqvB.pdf</a:t>
            </a:r>
          </a:p>
          <a:p xmlns:a="http://schemas.openxmlformats.org/drawingml/2006/main">
            <a:r>
              <a:t>http://council.gov.ru/events/news/164749/</a:t>
            </a:r>
          </a:p>
          <a:p xmlns:a="http://schemas.openxmlformats.org/drawingml/2006/main">
            <a:r>
              <a:t>https://t.me/s/alexey_pushkov?before=14914</a:t>
            </a:r>
          </a:p>
          <a:p xmlns:a="http://schemas.openxmlformats.org/drawingml/2006/main">
            <a:r>
              <a:t>http://legislation.council.gov.ru/events/multimedia/video/302078/</a:t>
            </a:r>
          </a:p>
          <a:p xmlns:a="http://schemas.openxmlformats.org/drawingml/2006/main">
            <a:r>
              <a:t>http://council.gov.ru/media/report/pdf/e8Awe3U6hNouHwSvME53OSPGGWxTeVAl.pdf</a:t>
            </a:r>
          </a:p>
          <a:p xmlns:a="http://schemas.openxmlformats.org/drawingml/2006/main">
            <a:r>
              <a:t>https://www.vedomosti.ru/person/1178385-kosachev-konstantin</a:t>
            </a:r>
          </a:p>
          <a:p xmlns:a="http://schemas.openxmlformats.org/drawingml/2006/main">
            <a:r>
              <a:t>https://www.interfax.ru/interview/812963</a:t>
            </a:r>
          </a:p>
          <a:p xmlns:a="http://schemas.openxmlformats.org/drawingml/2006/main">
            <a:r>
              <a:t>https://senatinform.ru/news/yuzhnuyu_osetiyu_neobkhodimo_vyvodit_iz_iskusstvennoy_izolyatsii_schitayut_rossiyskie_senatory_/</a:t>
            </a:r>
          </a:p>
          <a:p xmlns:a="http://schemas.openxmlformats.org/drawingml/2006/main">
            <a:r>
              <a:t>https://senatinform.ru/news/kosachyev_rossiya_gotova_rabotat_s_mps_s_uchyetom_ozabochennostey_nashey_strany/</a:t>
            </a:r>
          </a:p>
          <a:p xmlns:a="http://schemas.openxmlformats.org/drawingml/2006/main">
            <a:r>
              <a:t>https://www.bfm.ru/person/61</a:t>
            </a:r>
          </a:p>
          <a:p xmlns:a="http://schemas.openxmlformats.org/drawingml/2006/main">
            <a:r>
              <a:t>https://svpressa.ru/persons/konstantin-kosachev/</a:t>
            </a:r>
          </a:p>
          <a:p xmlns:a="http://schemas.openxmlformats.org/drawingml/2006/main">
            <a:r>
              <a:t>https://www.pnp.ru/person/konstantin-kosachev/</a:t>
            </a:r>
          </a:p>
          <a:p xmlns:a="http://schemas.openxmlformats.org/drawingml/2006/main">
            <a:r>
              <a:t>https://www.pnp.ru/politics/konstantin-kosachev-dlya-ssha-voyna-s-rossiey-eto-samoubiystvo.html</a:t>
            </a:r>
          </a:p>
          <a:p xmlns:a="http://schemas.openxmlformats.org/drawingml/2006/main">
            <a:r>
              <a:t>https://www.mlg.ru/ratings/vlast/senators/10844/</a:t>
            </a:r>
          </a:p>
          <a:p xmlns:a="http://schemas.openxmlformats.org/drawingml/2006/main">
            <a:r>
              <a:t>http://council.gov.ru/events/news/173506/</a:t>
            </a:r>
          </a:p>
          <a:p xmlns:a="http://schemas.openxmlformats.org/drawingml/2006/main">
            <a:r>
              <a:t>https://t.me/s/Kosachev62</a:t>
            </a:r>
          </a:p>
          <a:p xmlns:a="http://schemas.openxmlformats.org/drawingml/2006/main">
            <a:r>
              <a:t>http://council.gov.ru/events/news/177602/</a:t>
            </a:r>
          </a:p>
          <a:p xmlns:a="http://schemas.openxmlformats.org/drawingml/2006/main">
            <a:r>
              <a:t>https://vmeste-rf.tv/programs/205/konstantin-kosachev-sotrudnichestvo-rossii-i-efiopii-itogi-vizita-delegatsii-sf/</a:t>
            </a:r>
          </a:p>
          <a:p xmlns:a="http://schemas.openxmlformats.org/drawingml/2006/main">
            <a:r>
              <a:t>https://www.rbc.ru/person/64b8e1909a79474f30e86f98</a:t>
            </a:r>
          </a:p>
          <a:p xmlns:a="http://schemas.openxmlformats.org/drawingml/2006/main">
            <a:r>
              <a:t>https://www.kommersant.ru/doc/6041063</a:t>
            </a:r>
          </a:p>
          <a:p xmlns:a="http://schemas.openxmlformats.org/drawingml/2006/main">
            <a:r>
              <a:t>https://www.mos.ru/mayor/themes/6907050/</a:t>
            </a:r>
          </a:p>
          <a:p xmlns:a="http://schemas.openxmlformats.org/drawingml/2006/main">
            <a:r>
              <a:t>https://www.mos.ru/mayor/themes/7037050/</a:t>
            </a:r>
          </a:p>
          <a:p xmlns:a="http://schemas.openxmlformats.org/drawingml/2006/main">
            <a:r>
              <a:t>https://www.mos.ru/mayor/themes/8822050/</a:t>
            </a:r>
          </a:p>
          <a:p xmlns:a="http://schemas.openxmlformats.org/drawingml/2006/main">
            <a:r>
              <a:t>http://special.kremlin.ru/catalog/persons/38/events/70467</a:t>
            </a:r>
          </a:p>
          <a:p xmlns:a="http://schemas.openxmlformats.org/drawingml/2006/main">
            <a:r>
              <a:t>https://www.mos.ru/upload/content/files/15af077500dcc5a1547bf728abf25669/15Zakong_Moskviot17_05_2017N14Odopolnitelnihgaranti.pdf</a:t>
            </a:r>
          </a:p>
          <a:p xmlns:a="http://schemas.openxmlformats.org/drawingml/2006/main">
            <a:r>
              <a:t>https://www.rbc.ru/politics/03/05/2023/645245159a794763ce66d990</a:t>
            </a:r>
          </a:p>
          <a:p xmlns:a="http://schemas.openxmlformats.org/drawingml/2006/main">
            <a:r>
              <a:t>https://www.dw.com/ru/ataka-dronov-v-moskve-i-podmoskove-cto-izvestno/a-65771767</a:t>
            </a:r>
          </a:p>
          <a:p xmlns:a="http://schemas.openxmlformats.org/drawingml/2006/main">
            <a:r>
              <a:t>https://www.rbc.ru/politics/01/08/2023/64c856ce9a79471a722e13ad</a:t>
            </a:r>
          </a:p>
          <a:p xmlns:a="http://schemas.openxmlformats.org/drawingml/2006/main">
            <a:r>
              <a:t>https://www.rbc.ru/politics/23/08/2023/64e54f299a794789ddb55c65</a:t>
            </a:r>
          </a:p>
          <a:p xmlns:a="http://schemas.openxmlformats.org/drawingml/2006/main">
            <a:r>
              <a:t>https://ru.wikipedia.org/wiki/Беглов,_Александр_Дмитриевич</a:t>
            </a:r>
          </a:p>
          <a:p xmlns:a="http://schemas.openxmlformats.org/drawingml/2006/main">
            <a:r>
              <a:t>https://www.gov.spb.ru/governor/</a:t>
            </a:r>
          </a:p>
          <a:p xmlns:a="http://schemas.openxmlformats.org/drawingml/2006/main">
            <a:r>
              <a:t>https://www.rbc.ru/politics/30/05/2019/5cf02cf09a79475ed4d2fa3f</a:t>
            </a:r>
          </a:p>
          <a:p xmlns:a="http://schemas.openxmlformats.org/drawingml/2006/main">
            <a:r>
              <a:t>https://www.themoscowtimes.com/2019/09/11/st-petersburg-re-elects-governor-beglov-after-controversial-campaign-a67240</a:t>
            </a:r>
          </a:p>
          <a:p xmlns:a="http://schemas.openxmlformats.org/drawingml/2006/main">
            <a:r>
              <a:t>https://www.gov.spb.ru/press/governor/188637/</a:t>
            </a:r>
          </a:p>
          <a:p xmlns:a="http://schemas.openxmlformats.org/drawingml/2006/main">
            <a:r>
              <a:t>https://www.gov.spb.ru/press/governor/213661/</a:t>
            </a:r>
          </a:p>
          <a:p xmlns:a="http://schemas.openxmlformats.org/drawingml/2006/main">
            <a:r>
              <a:t>https://www.gov.spb.ru/press/governor/258831/</a:t>
            </a:r>
          </a:p>
          <a:p xmlns:a="http://schemas.openxmlformats.org/drawingml/2006/main">
            <a:r>
              <a:t>https://www.gov.spb.ru/governor/interview/7333/</a:t>
            </a:r>
          </a:p>
          <a:p xmlns:a="http://schemas.openxmlformats.org/drawingml/2006/main">
            <a:r>
              <a:t>https://tass.ru/interviews/21839179</a:t>
            </a:r>
          </a:p>
          <a:p xmlns:a="http://schemas.openxmlformats.org/drawingml/2006/main">
            <a:r>
              <a:t>https://www.gov.spb.ru/press/governor/236663/</a:t>
            </a:r>
          </a:p>
          <a:p xmlns:a="http://schemas.openxmlformats.org/drawingml/2006/main">
            <a:r>
              <a:t>https://tvspb.ru/news/2022/09/21/aleksandr-beglov-ukaz-prezidenta-o-chastichnoj-mobilizaczii-byl-trudnym-no-neobhodimym-shagom</a:t>
            </a:r>
          </a:p>
          <a:p xmlns:a="http://schemas.openxmlformats.org/drawingml/2006/main">
            <a:r>
              <a:t>https://spbvedomosti.ru/news/gorod/gubernator-aleksandr-beglov-obyavil-o-zavershenii-chastichnoy-mobilizatsii/</a:t>
            </a:r>
          </a:p>
          <a:p xmlns:a="http://schemas.openxmlformats.org/drawingml/2006/main">
            <a:r>
              <a:t>https://www.gov.spb.ru/press/governor/253716/</a:t>
            </a:r>
          </a:p>
          <a:p xmlns:a="http://schemas.openxmlformats.org/drawingml/2006/main">
            <a:r>
              <a:t>https://www.gov.spb.ru/press/governor/290070/</a:t>
            </a:r>
          </a:p>
          <a:p xmlns:a="http://schemas.openxmlformats.org/drawingml/2006/main">
            <a:r>
              <a:t>https://spbdnevnik.ru/news/2022-10-06/aleksandr-beglov-rasskazal-o-prizyve-po-mobilizatsii-peterburzhtsa-s-odnoy-pochkoy</a:t>
            </a:r>
          </a:p>
          <a:p xmlns:a="http://schemas.openxmlformats.org/drawingml/2006/main">
            <a:r>
              <a:t>https://www.rbc.ru/person/62c5c0899a79470082fa57eb</a:t>
            </a:r>
          </a:p>
          <a:p xmlns:a="http://schemas.openxmlformats.org/drawingml/2006/main">
            <a:r>
              <a:t>https://www.kavkaz-uzel.eu/articles/85366</a:t>
            </a:r>
          </a:p>
          <a:p xmlns:a="http://schemas.openxmlformats.org/drawingml/2006/main">
            <a:r>
              <a:t>https://news.ru/regions/my-dolzhny-zabrat-vsyu-ukrainu-chto-kadyrov-govoril-ob-svo-rossii-putine</a:t>
            </a:r>
          </a:p>
          <a:p xmlns:a="http://schemas.openxmlformats.org/drawingml/2006/main">
            <a:r>
              <a:t>https://minval.az/k/ramzan-kadyrov</a:t>
            </a:r>
          </a:p>
          <a:p xmlns:a="http://schemas.openxmlformats.org/drawingml/2006/main">
            <a:r>
              <a:t>http://publication.pravo.gov.ru/document/2000202609160002</a:t>
            </a:r>
          </a:p>
          <a:p xmlns:a="http://schemas.openxmlformats.org/drawingml/2006/main">
            <a:r>
              <a:t>https://vestikavkaza.ru/amp/291219</a:t>
            </a:r>
          </a:p>
          <a:p xmlns:a="http://schemas.openxmlformats.org/drawingml/2006/main">
            <a:r>
              <a:t>https://tass.ru/obschestvo/25968415</a:t>
            </a:r>
          </a:p>
          <a:p xmlns:a="http://schemas.openxmlformats.org/drawingml/2006/main">
            <a:r>
              <a:t>https://www.rbc.ru/rbcfreenews/694558f89a794775c8b05d2e</a:t>
            </a:r>
          </a:p>
          <a:p xmlns:a="http://schemas.openxmlformats.org/drawingml/2006/main">
            <a:r>
              <a:t>https://rais.tatarstan.ru/biografiya.htm</a:t>
            </a:r>
          </a:p>
          <a:p xmlns:a="http://schemas.openxmlformats.org/drawingml/2006/main">
            <a:r>
              <a:t>https://rt.rbc.ru/tatarstan/freenews/68c7f77d9a79472be550408e</a:t>
            </a:r>
          </a:p>
          <a:p xmlns:a="http://schemas.openxmlformats.org/drawingml/2006/main">
            <a:r>
              <a:t>https://rt.rbc.ru/tatarstan/freenews/68c90bdc9a794783273a16b6</a:t>
            </a:r>
          </a:p>
          <a:p xmlns:a="http://schemas.openxmlformats.org/drawingml/2006/main">
            <a:r>
              <a:t>https://tass.ru/politika/25045679</a:t>
            </a:r>
          </a:p>
          <a:p xmlns:a="http://schemas.openxmlformats.org/drawingml/2006/main">
            <a:r>
              <a:t>https://tass.ru/info/25058299</a:t>
            </a:r>
          </a:p>
          <a:p xmlns:a="http://schemas.openxmlformats.org/drawingml/2006/main">
            <a:r>
              <a:t>https://tatarstan.ru/index.htm/news/2454245.htm</a:t>
            </a:r>
          </a:p>
          <a:p xmlns:a="http://schemas.openxmlformats.org/drawingml/2006/main">
            <a:r>
              <a:t>https://izbirkom.tatarstan.ru/file/pub/pub_4719790.docx</a:t>
            </a:r>
          </a:p>
          <a:p xmlns:a="http://schemas.openxmlformats.org/drawingml/2006/main">
            <a:r>
              <a:t>http://www.pfo.gov.ru/press/events/112125/</a:t>
            </a:r>
          </a:p>
          <a:p xmlns:a="http://schemas.openxmlformats.org/drawingml/2006/main">
            <a:r>
              <a:t>https://www.tatar-inform.ru/news/rustam-minnixanov-sankcii-ne-koncatsya-poka-my-ne-stanem-samodostatocnymi-5896958</a:t>
            </a:r>
          </a:p>
          <a:p xmlns:a="http://schemas.openxmlformats.org/drawingml/2006/main">
            <a:r>
              <a:t>https://tatarstan.ru/index.htm/news/1916025.htm</a:t>
            </a:r>
          </a:p>
          <a:p xmlns:a="http://schemas.openxmlformats.org/drawingml/2006/main">
            <a:r>
              <a:t>https://kitaphane.tatarstan.ru/digital.htm</a:t>
            </a:r>
          </a:p>
          <a:p xmlns:a="http://schemas.openxmlformats.org/drawingml/2006/main">
            <a:r>
              <a:t>https://kt.tatarstan.ru/index.htm/news/2266706.htm</a:t>
            </a:r>
          </a:p>
          <a:p xmlns:a="http://schemas.openxmlformats.org/drawingml/2006/main">
            <a:r>
              <a:t>https://tatarstan.ru/index.htm/news/2460505.htm</a:t>
            </a:r>
          </a:p>
          <a:p xmlns:a="http://schemas.openxmlformats.org/drawingml/2006/main">
            <a:r>
              <a:t>https://digital.tatarstan.ru/index.htm/news/2460691.htm</a:t>
            </a:r>
          </a:p>
          <a:p xmlns:a="http://schemas.openxmlformats.org/drawingml/2006/main">
            <a:r>
              <a:t>https://amp.rbc.ru/rbcnews/politics/09/07/2020/5f06bbb69a79475c40a9a094</a:t>
            </a:r>
          </a:p>
          <a:p xmlns:a="http://schemas.openxmlformats.org/drawingml/2006/main">
            <a:r>
              <a:t>https://1kas.sudrf.ru/modules.php?name=sud_delo&amp;name_op=doc&amp;number=39453936&amp;delo_id=2450001&amp;case_type=0&amp;new=2450001&amp;text_number=1&amp;srv_num=1</a:t>
            </a:r>
          </a:p>
          <a:p xmlns:a="http://schemas.openxmlformats.org/drawingml/2006/main">
            <a:r>
              <a:t>https://www.interfax.ru/russia/982916</a:t>
            </a:r>
          </a:p>
          <a:p xmlns:a="http://schemas.openxmlformats.org/drawingml/2006/main">
            <a:r>
              <a:t>https://www.svoboda.org/a/sud-ostavil-v-sile-prigovor-habarovskomu-eks-gubernatoru-sergeyu-furgalu/32686024.html</a:t>
            </a:r>
          </a:p>
          <a:p xmlns:a="http://schemas.openxmlformats.org/drawingml/2006/main">
            <a:r>
              <a:t>https://www.dw.com/ru/kommentarij-furgal-peresidit-putina/a-64670560</a:t>
            </a:r>
          </a:p>
          <a:p xmlns:a="http://schemas.openxmlformats.org/drawingml/2006/main">
            <a:r>
              <a:t>https://www.kommersant.ru/doc/3896415</a:t>
            </a:r>
          </a:p>
          <a:p xmlns:a="http://schemas.openxmlformats.org/drawingml/2006/main">
            <a:r>
              <a:t>https://todaykhv.ru/news/policy/19386/</a:t>
            </a:r>
          </a:p>
          <a:p xmlns:a="http://schemas.openxmlformats.org/drawingml/2006/main">
            <a:r>
              <a:t>https://meduza.io/feature/2018/09/19/ya-dumayu-chto-situatsiya-kak-v-primorie-u-nas-ne-povtoritsya</a:t>
            </a:r>
          </a:p>
          <a:p xmlns:a="http://schemas.openxmlformats.org/drawingml/2006/main">
            <a:r>
              <a:t>https://govoritmoskva.ru/news/174327/</a:t>
            </a:r>
          </a:p>
          <a:p xmlns:a="http://schemas.openxmlformats.org/drawingml/2006/main">
            <a:r>
              <a:t>https://todaykhv.ru/news/policy/22426/?sphrase_id=2620206</a:t>
            </a:r>
          </a:p>
          <a:p xmlns:a="http://schemas.openxmlformats.org/drawingml/2006/main">
            <a:r>
              <a:t>https://ru.wikipedia.org/wiki/%D0%A4%D1%83%D1%80%D0%B3%D0%B0%D0%BB,_%D0%A1%D0%B5%D1%80%D0%B3%D0%B5%D0%B9_%D0%98%D0%B2%D0%B0%D0%BD%D0%BE%D0%B2%D0%B8%D1%87</a:t>
            </a:r>
          </a:p>
          <a:p xmlns:a="http://schemas.openxmlformats.org/drawingml/2006/main">
            <a:r>
              <a:t>https://novayagazeta.ru/articles/2018/09/18/77870-ne-dopuschu-zdes-revolyutsii</a:t>
            </a:r>
          </a:p>
          <a:p xmlns:a="http://schemas.openxmlformats.org/drawingml/2006/main">
            <a:r>
              <a:t>https://opkhv.ru/publications/4888</a:t>
            </a:r>
          </a:p>
          <a:p xmlns:a="http://schemas.openxmlformats.org/drawingml/2006/main">
            <a:r>
              <a:t>https://meduza.io/feature/2019/08/26/partiya-vlasti-zdes-ldpr</a:t>
            </a:r>
          </a:p>
          <a:p xmlns:a="http://schemas.openxmlformats.org/drawingml/2006/main">
            <a:r>
              <a:t>https://tass.ru/obschestvo/5946495</a:t>
            </a:r>
          </a:p>
          <a:p xmlns:a="http://schemas.openxmlformats.org/drawingml/2006/main">
            <a:r>
              <a:t>https://amurmedia.ru/news/775590/</a:t>
            </a:r>
          </a:p>
          <a:p xmlns:a="http://schemas.openxmlformats.org/drawingml/2006/main">
            <a:r>
              <a:t>https://www.eastrussia.ru/material/ne-planiruyushchim-pereezzhat-sovetuyu-pomolchat/</a:t>
            </a:r>
          </a:p>
          <a:p xmlns:a="http://schemas.openxmlformats.org/drawingml/2006/main">
            <a:r>
              <a:t>https://www.dw.com/ru/v-habarovske-priznali-ekstremistskim-dvizenie-v-zasitu-furgala/a-68334442</a:t>
            </a:r>
          </a:p>
          <a:p xmlns:a="http://schemas.openxmlformats.org/drawingml/2006/main">
            <a:r>
              <a:t>https://www.rbc.ru/person/66475fec9a79475c4d9443ad</a:t>
            </a:r>
          </a:p>
          <a:p xmlns:a="http://schemas.openxmlformats.org/drawingml/2006/main">
            <a:r>
              <a:t>https://tass.ru/info/12453099</a:t>
            </a:r>
          </a:p>
          <a:p xmlns:a="http://schemas.openxmlformats.org/drawingml/2006/main">
            <a:r>
              <a:t>https://tass.ru/info/9007455</a:t>
            </a:r>
          </a:p>
          <a:p xmlns:a="http://schemas.openxmlformats.org/drawingml/2006/main">
            <a:r>
              <a:t>https://tass.ru/info/20795009</a:t>
            </a:r>
          </a:p>
          <a:p xmlns:a="http://schemas.openxmlformats.org/drawingml/2006/main">
            <a:r>
              <a:t>https://tass.ru/encyclopedia/person/degtyarev-mihail-vladimirovich</a:t>
            </a:r>
          </a:p>
          <a:p xmlns:a="http://schemas.openxmlformats.org/drawingml/2006/main">
            <a:r>
              <a:t>https://www.rbc.ru/politics/20/07/2020/5f1586289a794722b2457d61</a:t>
            </a:r>
          </a:p>
          <a:p xmlns:a="http://schemas.openxmlformats.org/drawingml/2006/main">
            <a:r>
              <a:t>https://www.minsport.gov.ru/press-center/news/intervyu-mihaila-degtyareva-gazete-kommersant/</a:t>
            </a:r>
          </a:p>
          <a:p xmlns:a="http://schemas.openxmlformats.org/drawingml/2006/main">
            <a:r>
              <a:t>https://minsport.gov.ru/press-center/news/mihail-degtyarev-nashe-mesto-za-stolom-a-ne-v-perednej/</a:t>
            </a:r>
          </a:p>
          <a:p xmlns:a="http://schemas.openxmlformats.org/drawingml/2006/main">
            <a:r>
              <a:t>https://news.ru/vlast/degtyarev-prizval-ne-doveryat-evrope-provedenie-sorevnovanij</a:t>
            </a:r>
          </a:p>
          <a:p xmlns:a="http://schemas.openxmlformats.org/drawingml/2006/main">
            <a:r>
              <a:t>https://www.interfax.ru/presscenter/622170</a:t>
            </a:r>
          </a:p>
          <a:p xmlns:a="http://schemas.openxmlformats.org/drawingml/2006/main">
            <a:r>
              <a:t>https://tass.ru/interviews/13152777</a:t>
            </a:r>
          </a:p>
          <a:p xmlns:a="http://schemas.openxmlformats.org/drawingml/2006/main">
            <a:r>
              <a:t>https://www.sports.ru/others/blogs/3302024.html</a:t>
            </a:r>
          </a:p>
          <a:p xmlns:a="http://schemas.openxmlformats.org/drawingml/2006/main">
            <a:r>
              <a:t>https://www.vremyan.ru/news/556863</a:t>
            </a:r>
          </a:p>
          <a:p xmlns:a="http://schemas.openxmlformats.org/drawingml/2006/main">
            <a:r>
              <a:t>https://kprf.ru/personal/levchenko</a:t>
            </a:r>
          </a:p>
          <a:p xmlns:a="http://schemas.openxmlformats.org/drawingml/2006/main">
            <a:r>
              <a:t>https://www.rbc.ru/politics/23/06/2020/5ef0bd949a7947b3cd3dcba6</a:t>
            </a:r>
          </a:p>
          <a:p xmlns:a="http://schemas.openxmlformats.org/drawingml/2006/main">
            <a:r>
              <a:t>https://kprf.ru/party-live/regnews/194838.html</a:t>
            </a:r>
          </a:p>
          <a:p xmlns:a="http://schemas.openxmlformats.org/drawingml/2006/main">
            <a:r>
              <a:t>https://liveangarsk.ru/news/20191214/v-slozhivsheisya</a:t>
            </a:r>
          </a:p>
          <a:p xmlns:a="http://schemas.openxmlformats.org/drawingml/2006/main">
            <a:r>
              <a:t>https://kprf.ru/dep/gosduma/activities/240271.html</a:t>
            </a:r>
          </a:p>
          <a:p xmlns:a="http://schemas.openxmlformats.org/drawingml/2006/main">
            <a:r>
              <a:t>https://kprf.ru/dep/gosduma/activities/241686.html</a:t>
            </a:r>
          </a:p>
          <a:p xmlns:a="http://schemas.openxmlformats.org/drawingml/2006/main">
            <a:r>
              <a:t>https://altairk.ru/new/policy/the_message_of_the_governor</a:t>
            </a:r>
          </a:p>
          <a:p xmlns:a="http://schemas.openxmlformats.org/drawingml/2006/main">
            <a:r>
              <a:t>https://kto-irkutsk.ru/2026/07/20/sergej-levchenko-deyatelnost-i-zayavleniya-i-ix-ocenka/</a:t>
            </a:r>
          </a:p>
          <a:p xmlns:a="http://schemas.openxmlformats.org/drawingml/2006/main">
            <a:r>
              <a:t>https://ru.wikipedia.org/wiki/%D0%9B%D0%B5%D0%B2%D1%87%D0%B5%D0%BD%D0%BA%D0%BE,_%D0%A1%D0%B5%D1%80%D0%B3%D0%B5%D0%B9_%D0%93%D0%B5%D0%BE%D1%80%D0%B3%D0%B8%D0%B5%D0%B2%D0%B8%D1%87</a:t>
            </a:r>
          </a:p>
          <a:p xmlns:a="http://schemas.openxmlformats.org/drawingml/2006/main">
            <a:r>
              <a:t>https://www.newsru.com/dossiers/10330/</a:t>
            </a:r>
          </a:p>
          <a:p xmlns:a="http://schemas.openxmlformats.org/drawingml/2006/main">
            <a:r>
              <a:t>https://www.interfax.ru/russia/714300</a:t>
            </a:r>
          </a:p>
          <a:p xmlns:a="http://schemas.openxmlformats.org/drawingml/2006/main">
            <a:r>
              <a:t>https://www.rbc.ru/politics/14/09/2020/5f5e7dfb9a79477f7753d651</a:t>
            </a:r>
          </a:p>
          <a:p xmlns:a="http://schemas.openxmlformats.org/drawingml/2006/main">
            <a:r>
              <a:t>https://www.rline.tv/podrobnosti/2019-10-06-sergey-levchenko-za-chetyre-goda-sdelano-bolshe-chem-za-predydushchie-15-let/</a:t>
            </a:r>
          </a:p>
          <a:p xmlns:a="http://schemas.openxmlformats.org/drawingml/2006/main">
            <a:r>
              <a:t>https://vs19.ru/verhovny-sovet/deputati/670-konovalov-valentin-olegovich</a:t>
            </a:r>
          </a:p>
          <a:p xmlns:a="http://schemas.openxmlformats.org/drawingml/2006/main">
            <a:r>
              <a:t>https://meduza.io/feature/2018/09/10/etu-vlast-nichego-ne-spaset</a:t>
            </a:r>
          </a:p>
          <a:p xmlns:a="http://schemas.openxmlformats.org/drawingml/2006/main">
            <a:r>
              <a:t>https://kprf.ru/party-live/regnews/188553.html</a:t>
            </a:r>
          </a:p>
          <a:p xmlns:a="http://schemas.openxmlformats.org/drawingml/2006/main">
            <a:r>
              <a:t>https://www.kommersant.ru/doc/4441936</a:t>
            </a:r>
          </a:p>
          <a:p xmlns:a="http://schemas.openxmlformats.org/drawingml/2006/main">
            <a:r>
              <a:t>http://www.youtube.com/watch?v=eO6lUkFCAqM</a:t>
            </a:r>
          </a:p>
          <a:p xmlns:a="http://schemas.openxmlformats.org/drawingml/2006/main">
            <a:r>
              <a:t>https://ru.wikipedia.org/wiki/%D0%92%D1%8B%D0%B1%D0%BE%D1%80%D1%8B_%D0%B3%D0%BB%D0%B0%D0%B2%D1%8B_%D0%A0%D0%B5%D1%81%D0%BF%D1%83%D0%B1%D0%BB%D0%B8%D0%BA%D0%B8_%D0%A5%D0%B0%D0%BA%D0%B0%D1%81%D0%B8%D1%8F_(2018)</a:t>
            </a:r>
          </a:p>
          <a:p xmlns:a="http://schemas.openxmlformats.org/drawingml/2006/main">
            <a:r>
              <a:t>https://ok.ru/group/51615057903766/topic/157744983021718</a:t>
            </a:r>
          </a:p>
          <a:p xmlns:a="http://schemas.openxmlformats.org/drawingml/2006/main">
            <a:r>
              <a:t>https://kprf.ru/party-live/cknews/245343.html</a:t>
            </a:r>
          </a:p>
          <a:p xmlns:a="http://schemas.openxmlformats.org/drawingml/2006/main">
            <a:r>
              <a:t>https://r-19.ru/news/politika/190680/</a:t>
            </a:r>
          </a:p>
          <a:p xmlns:a="http://schemas.openxmlformats.org/drawingml/2006/main">
            <a:r>
              <a:t>https://r-19.ru/news/ekonomika/193031/</a:t>
            </a:r>
          </a:p>
          <a:p xmlns:a="http://schemas.openxmlformats.org/drawingml/2006/main">
            <a:r>
              <a:t>https://19rusinfo.ru/ekonomika/118670-otchjot</a:t>
            </a:r>
          </a:p>
          <a:p xmlns:a="http://schemas.openxmlformats.org/drawingml/2006/main">
            <a:r>
              <a:t>https://iditena.ru/candidates/konovalov-valentin-olegovich/</a:t>
            </a:r>
          </a:p>
          <a:p xmlns:a="http://schemas.openxmlformats.org/drawingml/2006/main">
            <a:r>
              <a:t>https://56.kprf.ru/deyatelnost/tpost/gjjjuy1zi1-glava-hakasii-valentin-konovalov-dal-int</a:t>
            </a:r>
          </a:p>
          <a:p xmlns:a="http://schemas.openxmlformats.org/drawingml/2006/main">
            <a:r>
              <a:t>https://meduza.io/feature/2019/05/31/strana-pobedivshego-kommunista</a:t>
            </a:r>
          </a:p>
          <a:p xmlns:a="http://schemas.openxmlformats.org/drawingml/2006/main">
            <a:r>
              <a:t>https://xn--80aac0c2a.xn--p1acf/2026/08/22/vstrecha-s-uchastiem-valentina-konovalova-i-alekseya-kornienko-proshla-v-habarovske</a:t>
            </a:r>
          </a:p>
          <a:p xmlns:a="http://schemas.openxmlformats.org/drawingml/2006/main">
            <a:r>
              <a:t>https://www.vedomosti.ru/politics/characters/2026/07/06/1211370-valentin-konovalov-rossiya-na-moskve-ne-zakanchivaetsya?from=newsline</a:t>
            </a:r>
          </a:p>
          <a:p xmlns:a="http://schemas.openxmlformats.org/drawingml/2006/main">
            <a:r>
              <a:t>https://www.vedomosti.ru/person/1215197-aksenov-sergei</a:t>
            </a:r>
          </a:p>
          <a:p xmlns:a="http://schemas.openxmlformats.org/drawingml/2006/main">
            <a:r>
              <a:t>https://www.rbc.ru/person/65f020599a79475815e702c9</a:t>
            </a:r>
          </a:p>
          <a:p xmlns:a="http://schemas.openxmlformats.org/drawingml/2006/main">
            <a:r>
              <a:t>http://crimea.gov.ru/news/30_03_18_10</a:t>
            </a:r>
          </a:p>
          <a:p xmlns:a="http://schemas.openxmlformats.org/drawingml/2006/main">
            <a:r>
              <a:t>https://www.npr.org/sections/parallels/2018/01/27/581114772/putins-man-in-crimea-we-ve-returned-to-russia-forever</a:t>
            </a:r>
          </a:p>
          <a:p xmlns:a="http://schemas.openxmlformats.org/drawingml/2006/main">
            <a:r>
              <a:t>http://crimea.gov.ru/en/news/26_02_19_6</a:t>
            </a:r>
          </a:p>
          <a:p xmlns:a="http://schemas.openxmlformats.org/drawingml/2006/main">
            <a:r>
              <a:t>https://antifashist.com/item/kto-polomal-infopole-kryma-i-ne-otvechaet-na-voprosy.html</a:t>
            </a:r>
          </a:p>
          <a:p xmlns:a="http://schemas.openxmlformats.org/drawingml/2006/main">
            <a:r>
              <a:t>https://ru.krymr.com/a/news/27913548.html</a:t>
            </a:r>
          </a:p>
          <a:p xmlns:a="http://schemas.openxmlformats.org/drawingml/2006/main">
            <a:r>
              <a:t>https://simfch.ru/2022/03/02/glava-respubliki-krym-sergej-aksyonov-prizval-krymchan-k-informaczionnoj-mobilizaczii-otkrytomu-i-publichnomu-vyrazheniyu-svoej-patrioticheskoj-poziczii/</a:t>
            </a:r>
          </a:p>
          <a:p xmlns:a="http://schemas.openxmlformats.org/drawingml/2006/main">
            <a:r>
              <a:t>https://www.rbc.ru/politics/29/05/2023/64749e389a7947f3de98dff2</a:t>
            </a:r>
          </a:p>
          <a:p xmlns:a="http://schemas.openxmlformats.org/drawingml/2006/main">
            <a:r>
              <a:t>https://ru.krymr.com/a/krym-sergey-aksenov-pvo-prilety-bavovna-bezopasnost-pvo-udar/32631709.html</a:t>
            </a:r>
          </a:p>
          <a:p xmlns:a="http://schemas.openxmlformats.org/drawingml/2006/main">
            <a:r>
              <a:t>https://rostov.rbc.ru/rostov/interview/18/03/2024/65f75c4f9a7947c8b475ab94</a:t>
            </a:r>
          </a:p>
          <a:p xmlns:a="http://schemas.openxmlformats.org/drawingml/2006/main">
            <a:r>
              <a:t>https://www.kommersant.ru/doc/7715230</a:t>
            </a:r>
          </a:p>
          <a:p xmlns:a="http://schemas.openxmlformats.org/drawingml/2006/main">
            <a:r>
              <a:t>https://www.kommersant.ru/doc/5154319</a:t>
            </a:r>
          </a:p>
          <a:p xmlns:a="http://schemas.openxmlformats.org/drawingml/2006/main">
            <a:r>
              <a:t>https://www.rbc.ru/person/660290b19a7947801fe9439b</a:t>
            </a:r>
          </a:p>
          <a:p xmlns:a="http://schemas.openxmlformats.org/drawingml/2006/main">
            <a:r>
              <a:t>https://www.kommersant.ru/doc/3759211</a:t>
            </a:r>
          </a:p>
          <a:p xmlns:a="http://schemas.openxmlformats.org/drawingml/2006/main">
            <a:r>
              <a:t>https://tass.ru/info/6656656</a:t>
            </a:r>
          </a:p>
          <a:p xmlns:a="http://schemas.openxmlformats.org/drawingml/2006/main">
            <a:r>
              <a:t>https://sevastopol.er.ru/pages/otchet-gubernatora-sevastopolya-mihaila-razvozhaeva</a:t>
            </a:r>
          </a:p>
          <a:p xmlns:a="http://schemas.openxmlformats.org/drawingml/2006/main">
            <a:r>
              <a:t>http://special.kremlin.ru/catalog/persons/579/events/76271</a:t>
            </a:r>
          </a:p>
          <a:p xmlns:a="http://schemas.openxmlformats.org/drawingml/2006/main">
            <a:r>
              <a:t>https://sevastopol.su/news/chastnyy-biznes-vlozhil-v-sevastopol-250-mlrd-rubley-za-tri-goda</a:t>
            </a:r>
          </a:p>
          <a:p xmlns:a="http://schemas.openxmlformats.org/drawingml/2006/main">
            <a:r>
              <a:t>https://sevastopol.su/news/v-sevastopole-ocenili-perspektivy-mikhaila-razvozhaeva-na-sleduyuschikh-vyborakh</a:t>
            </a:r>
          </a:p>
          <a:p xmlns:a="http://schemas.openxmlformats.org/drawingml/2006/main">
            <a:r>
              <a:t>https://tass.ru/interviews/10248577</a:t>
            </a:r>
          </a:p>
          <a:p xmlns:a="http://schemas.openxmlformats.org/drawingml/2006/main">
            <a:r>
              <a:t>https://news.ru/russia/u-nas-smelye-plany-gubernator-sevastopolya-razvozzhaev-o-budushem-goroda</a:t>
            </a:r>
          </a:p>
          <a:p xmlns:a="http://schemas.openxmlformats.org/drawingml/2006/main">
            <a:r>
              <a:t>http://kremlin.ru/events/administration/80838</a:t>
            </a:r>
          </a:p>
          <a:p xmlns:a="http://schemas.openxmlformats.org/drawingml/2006/main">
            <a:r>
              <a:t>https://tass.ru/kultura/28214691</a:t>
            </a:r>
          </a:p>
          <a:p xmlns:a="http://schemas.openxmlformats.org/drawingml/2006/main">
            <a:r>
              <a:t>http://kremlin.ru/events/administration/80591</a:t>
            </a:r>
          </a:p>
          <a:p xmlns:a="http://schemas.openxmlformats.org/drawingml/2006/main">
            <a:r>
              <a:t>https://governors.ru/glava-regiona/Belgorodskaya-oblast/Gladkov-Vyacheslav-Vladimirovich</a:t>
            </a:r>
          </a:p>
          <a:p xmlns:a="http://schemas.openxmlformats.org/drawingml/2006/main">
            <a:r>
              <a:t>https://ru.wikipedia.org/wiki/%D0%93%D0%BB%D0%B0%D0%B4%D0%BA%D0%BE%D0%B2,_%D0%92%D1%8F%D1%87%D0%B5%D1%81%D0%BB%D0%B0%D0%B2_%D0%92%D0%BB%D0%B0%D0%B4%D0%B8%D0%BC%D0%B8%D1%80%D0%BE%D0%B2%D0%B8%D1%87</a:t>
            </a:r>
          </a:p>
          <a:p xmlns:a="http://schemas.openxmlformats.org/drawingml/2006/main">
            <a:r>
              <a:t>http://council.gov.ru/structure/persons/1543/</a:t>
            </a:r>
          </a:p>
          <a:p xmlns:a="http://schemas.openxmlformats.org/drawingml/2006/main">
            <a:r>
              <a:t>https://ufa.rbc.ru/person/648345539a794760fd0c17e8</a:t>
            </a:r>
          </a:p>
          <a:p xmlns:a="http://schemas.openxmlformats.org/drawingml/2006/main">
            <a:r>
              <a:t>https://www.kommersant.ru/doc/8571119</a:t>
            </a:r>
          </a:p>
          <a:p xmlns:a="http://schemas.openxmlformats.org/drawingml/2006/main">
            <a:r>
              <a:t>https://www.kommersant.ru/doc/8655079</a:t>
            </a:r>
          </a:p>
          <a:p xmlns:a="http://schemas.openxmlformats.org/drawingml/2006/main">
            <a:r>
              <a:t>https://tass.ru/info/27861241</a:t>
            </a:r>
          </a:p>
          <a:p xmlns:a="http://schemas.openxmlformats.org/drawingml/2006/main">
            <a:r>
              <a:t>https://meduza.io/feature/2023/06/08/emu-by-vse-eto-razgresti</a:t>
            </a:r>
          </a:p>
          <a:p xmlns:a="http://schemas.openxmlformats.org/drawingml/2006/main">
            <a:r>
              <a:t>http://www.kremlin.ru/events/president/transcripts/66288</a:t>
            </a:r>
          </a:p>
          <a:p xmlns:a="http://schemas.openxmlformats.org/drawingml/2006/main">
            <a:r>
              <a:t>https://www.belpressa.ru/politics/vlast/62665.html</a:t>
            </a:r>
          </a:p>
          <a:p xmlns:a="http://schemas.openxmlformats.org/drawingml/2006/main">
            <a:r>
              <a:t>https://www.belpressa.ru/politics/vlast/71368.html</a:t>
            </a:r>
          </a:p>
          <a:p xmlns:a="http://schemas.openxmlformats.org/drawingml/2006/main">
            <a:r>
              <a:t>https://www.belnovosti.ru/politika/gubernator/127077.html</a:t>
            </a:r>
          </a:p>
          <a:p xmlns:a="http://schemas.openxmlformats.org/drawingml/2006/main">
            <a:r>
              <a:t>https://chr.plus.rbc.ru/news/694b9fb67a8aa90f9c2ce17d</a:t>
            </a:r>
          </a:p>
          <a:p xmlns:a="http://schemas.openxmlformats.org/drawingml/2006/main">
            <a:r>
              <a:t>https://www.belpressa.ru/society/bezopasnost/43348.html</a:t>
            </a:r>
          </a:p>
          <a:p xmlns:a="http://schemas.openxmlformats.org/drawingml/2006/main">
            <a:r>
              <a:t>https://www.rbc.ru/politics/07/03/2023/640758bf9a7947f6af99d464</a:t>
            </a:r>
          </a:p>
          <a:p xmlns:a="http://schemas.openxmlformats.org/drawingml/2006/main">
            <a:r>
              <a:t>https://www.rbc.ru/politics/24/05/2023/646d22029a794797c4bac4bf</a:t>
            </a:r>
          </a:p>
          <a:p xmlns:a="http://schemas.openxmlformats.org/drawingml/2006/main">
            <a:r>
              <a:t>https://www.bbc.com/russian/articles/c70dkd0pvrlo</a:t>
            </a:r>
          </a:p>
          <a:p xmlns:a="http://schemas.openxmlformats.org/drawingml/2006/main">
            <a:r>
              <a:t>https://www.go31.ru/news/proisshestviya/kak-nikto-drugoy-ponimaem-chto-takoe-agressiya-so-storony-ukrainy-gladkov-o-proryve-granitsy-v-kursk/</a:t>
            </a:r>
          </a:p>
          <a:p xmlns:a="http://schemas.openxmlformats.org/drawingml/2006/main">
            <a:r>
              <a:t>https://echofm.online/portret-dnya/portret-dnya-vyacheslav-gladkov-gubernator-belgorodskoj-oblasti-prognozy-o-sudbe-kotorogo-raznyatsya-ot-posta-posla-v-abhazii-do-ugolovnogo-dela</a:t>
            </a:r>
          </a:p>
          <a:p xmlns:a="http://schemas.openxmlformats.org/drawingml/2006/main">
            <a:r>
              <a:t>https://www.kommersant.ru/doc/3917861</a:t>
            </a:r>
          </a:p>
          <a:p xmlns:a="http://schemas.openxmlformats.org/drawingml/2006/main">
            <a:r>
              <a:t>https://minstroyrf.gov.ru/press/okolo-40-kontsessionnykh-soglasheniy-v-rossii-deystvuet-v-sfere-zhkkh/</a:t>
            </a:r>
          </a:p>
          <a:p xmlns:a="http://schemas.openxmlformats.org/drawingml/2006/main">
            <a:r>
              <a:t>https://newsroom24.ru/murmansk/news/politics/2026/news_323931/</a:t>
            </a:r>
          </a:p>
          <a:p xmlns:a="http://schemas.openxmlformats.org/drawingml/2006/main">
            <a:r>
              <a:t>https://murmansk.ru/52053</a:t>
            </a:r>
          </a:p>
          <a:p xmlns:a="http://schemas.openxmlformats.org/drawingml/2006/main">
            <a:r>
              <a:t>https://51.ru/text/gorod/2026/01/22/76228112/</a:t>
            </a:r>
          </a:p>
          <a:p xmlns:a="http://schemas.openxmlformats.org/drawingml/2006/main">
            <a:r>
              <a:t>https://www.murman.ru/news/2026/05/02/2334/</a:t>
            </a:r>
          </a:p>
          <a:p xmlns:a="http://schemas.openxmlformats.org/drawingml/2006/main">
            <a:r>
              <a:t>https://murman.ru/news/2026/09/06/2141/</a:t>
            </a:r>
          </a:p>
          <a:p xmlns:a="http://schemas.openxmlformats.org/drawingml/2006/main">
            <a:r>
              <a:t>https://www.murman.ru/news/2026/09/13/2242/</a:t>
            </a:r>
          </a:p>
          <a:p xmlns:a="http://schemas.openxmlformats.org/drawingml/2006/main">
            <a:r>
              <a:t>https://ru.wikipedia.org/wiki/%D0%A7%D0%B8%D0%B1%D0%B8%D1%81,_%D0%90%D0%BD%D0%B4%D1%80%D0%B5%D0%B9_%D0%92%D0%BB%D0%B0%D0%B4%D0%B8%D0%BC%D0%B8%D1%80%D0%BE%D0%B2%D0%B8%D1%87</a:t>
            </a:r>
          </a:p>
          <a:p xmlns:a="http://schemas.openxmlformats.org/drawingml/2006/main">
            <a:r>
              <a:t>https://tass.ru/obschestvo/23491353</a:t>
            </a:r>
          </a:p>
          <a:p xmlns:a="http://schemas.openxmlformats.org/drawingml/2006/main">
            <a:r>
              <a:t>https://www.murman.ru/news/2026/09/03/2243/</a:t>
            </a:r>
          </a:p>
          <a:p xmlns:a="http://schemas.openxmlformats.org/drawingml/2006/main">
            <a:r>
              <a:t>https://msp.citymurmansk.ru/news/2026/09/03/0930/</a:t>
            </a:r>
          </a:p>
          <a:p xmlns:a="http://schemas.openxmlformats.org/drawingml/2006/main">
            <a:r>
              <a:t>http://kremlin.ru/events/president/letters/80916</a:t>
            </a:r>
          </a:p>
          <a:p xmlns:a="http://schemas.openxmlformats.org/drawingml/2006/main">
            <a:r>
              <a:t>https://www.murmansk.kp.ru/daily/277813.4/5300258/</a:t>
            </a:r>
          </a:p>
          <a:p xmlns:a="http://schemas.openxmlformats.org/drawingml/2006/main">
            <a:r>
              <a:t>https://www.fontanka.ru/2021/07/27/70046798/</a:t>
            </a:r>
          </a:p>
          <a:p xmlns:a="http://schemas.openxmlformats.org/drawingml/2006/main">
            <a:r>
              <a:t>https://www.kommersant.ru/doc/4639758</a:t>
            </a:r>
          </a:p>
          <a:p xmlns:a="http://schemas.openxmlformats.org/drawingml/2006/main">
            <a:r>
              <a:t>https://www.bbc.com/russian/news-55614829</a:t>
            </a:r>
          </a:p>
          <a:p xmlns:a="http://schemas.openxmlformats.org/drawingml/2006/main">
            <a:r>
              <a:t>https://newpeople.ru/Deputy/sardana-avksenteva</a:t>
            </a:r>
          </a:p>
          <a:p xmlns:a="http://schemas.openxmlformats.org/drawingml/2006/main">
            <a:r>
              <a:t>https://www.pnp.ru/economics/kontrol-za-koncessionnymi-soglasheniyami-predlozhili-usilit.html</a:t>
            </a:r>
          </a:p>
          <a:p xmlns:a="http://schemas.openxmlformats.org/drawingml/2006/main">
            <a:r>
              <a:t>https://www.ng.ru/politics/2024-12-05/1_9150_right.html</a:t>
            </a:r>
          </a:p>
          <a:p xmlns:a="http://schemas.openxmlformats.org/drawingml/2006/main">
            <a:r>
              <a:t>https://news.ru/society/v-novyh-lyudyah-rasskazali-o-glavnyh-zadachah-partii-pered-vyborami</a:t>
            </a:r>
          </a:p>
          <a:p xmlns:a="http://schemas.openxmlformats.org/drawingml/2006/main">
            <a:r>
              <a:t>https://www.kommersant.ru/doc/8939397</a:t>
            </a:r>
          </a:p>
          <a:p xmlns:a="http://schemas.openxmlformats.org/drawingml/2006/main">
            <a:r>
              <a:t>https://tass.ru/info/5220823</a:t>
            </a:r>
          </a:p>
          <a:p xmlns:a="http://schemas.openxmlformats.org/drawingml/2006/main">
            <a:r>
              <a:t>https://tass.ru/info/15547711</a:t>
            </a:r>
          </a:p>
          <a:p xmlns:a="http://schemas.openxmlformats.org/drawingml/2006/main">
            <a:r>
              <a:t>https://www.bbc.com/russian/features-62661643</a:t>
            </a:r>
          </a:p>
          <a:p xmlns:a="http://schemas.openxmlformats.org/drawingml/2006/main">
            <a:r>
              <a:t>https://www.kommersant.ru/doc/3298219</a:t>
            </a:r>
          </a:p>
          <a:p xmlns:a="http://schemas.openxmlformats.org/drawingml/2006/main">
            <a:r>
              <a:t>https://www.svoboda.org/a/31217129.html</a:t>
            </a:r>
          </a:p>
          <a:p xmlns:a="http://schemas.openxmlformats.org/drawingml/2006/main">
            <a:r>
              <a:t>https://www.interfax.ru/russia/902059</a:t>
            </a:r>
          </a:p>
          <a:p xmlns:a="http://schemas.openxmlformats.org/drawingml/2006/main">
            <a:r>
              <a:t>https://www.bfm.ru/news/525620</a:t>
            </a:r>
          </a:p>
          <a:p xmlns:a="http://schemas.openxmlformats.org/drawingml/2006/main">
            <a:r>
              <a:t>https://novayagazeta.ru/articles/2023/03/16/do-urovnia-myshei-media</a:t>
            </a:r>
          </a:p>
          <a:p xmlns:a="http://schemas.openxmlformats.org/drawingml/2006/main">
            <a:r>
              <a:t>https://tjournal.ru/71076</a:t>
            </a:r>
          </a:p>
          <a:p xmlns:a="http://schemas.openxmlformats.org/drawingml/2006/main">
            <a:r>
              <a:t>https://www.nakanune.ru/articles/111648/</a:t>
            </a:r>
          </a:p>
          <a:p xmlns:a="http://schemas.openxmlformats.org/drawingml/2006/main">
            <a:r>
              <a:t>https://adcmemorial.org/statyi/kolonki/neprotivlenie-rasizmu/</a:t>
            </a:r>
          </a:p>
          <a:p xmlns:a="http://schemas.openxmlformats.org/drawingml/2006/main">
            <a:r>
              <a:t>https://www.svoboda.org/a/royzman-i-drugie-zhiteli-ekaterinburga/31997151.html</a:t>
            </a:r>
          </a:p>
          <a:p xmlns:a="http://schemas.openxmlformats.org/drawingml/2006/main">
            <a:r>
              <a:t>https://www.e1.ru/text/politics/2022/02/24/70466417/</a:t>
            </a:r>
          </a:p>
          <a:p xmlns:a="http://schemas.openxmlformats.org/drawingml/2006/main">
            <a:r>
              <a:t>https://www.dw.com/ru/kommentarij-evgenij-rojzman-i-sila-pravdy/a-62917754</a:t>
            </a:r>
          </a:p>
          <a:p xmlns:a="http://schemas.openxmlformats.org/drawingml/2006/main">
            <a:r>
              <a:t>https://meduza.io/paragraph/2022/08/26/priehali-moskvichi-i-dumali-chto-zdes-duraki-sobralis</a:t>
            </a:r>
          </a:p>
          <a:p xmlns:a="http://schemas.openxmlformats.org/drawingml/2006/main">
            <a:r>
              <a:t>https://znamlit.ru/publication.php?id=7379</a:t>
            </a:r>
          </a:p>
          <a:p xmlns:a="http://schemas.openxmlformats.org/drawingml/2006/main">
            <a:r>
              <a:t>https://tass.ru/interviews/6080499</a:t>
            </a:r>
          </a:p>
          <a:p xmlns:a="http://schemas.openxmlformats.org/drawingml/2006/main">
            <a:r>
              <a:t>https://45.ru/text/politics/2024/09/09/73952072/</a:t>
            </a:r>
          </a:p>
          <a:p xmlns:a="http://schemas.openxmlformats.org/drawingml/2006/main">
            <a:r>
              <a:t>http://special.kremlin.ru/events/president/news/70638</a:t>
            </a:r>
          </a:p>
          <a:p xmlns:a="http://schemas.openxmlformats.org/drawingml/2006/main">
            <a:r>
              <a:t>https://ura.news/news/1053132902</a:t>
            </a:r>
          </a:p>
          <a:p xmlns:a="http://schemas.openxmlformats.org/drawingml/2006/main">
            <a:r>
              <a:t>https://ura.news/articles/1036276564</a:t>
            </a:r>
          </a:p>
          <a:p xmlns:a="http://schemas.openxmlformats.org/drawingml/2006/main">
            <a:r>
              <a:t>https://tass.ru/novosti-regionov/28187431</a:t>
            </a:r>
          </a:p>
          <a:p xmlns:a="http://schemas.openxmlformats.org/drawingml/2006/main">
            <a:r>
              <a:t>https://fedpress.ru/person/1753607</a:t>
            </a:r>
          </a:p>
          <a:p xmlns:a="http://schemas.openxmlformats.org/drawingml/2006/main">
            <a:r>
              <a:t>https://eburg.mk.ru/social/2026/10/14/zhiteley-zauralya-predupredili-o-lozhnykh-videorolikakh-s-gubernatorom.html</a:t>
            </a:r>
          </a:p>
          <a:p xmlns:a="http://schemas.openxmlformats.org/drawingml/2006/main">
            <a:r>
              <a:t>https://regnum.ru/news/3530808</a:t>
            </a:r>
          </a:p>
          <a:p xmlns:a="http://schemas.openxmlformats.org/drawingml/2006/main">
            <a:r>
              <a:t>https://kurganvera.ru/news/vrns/mitropolit-daniil-i-vadim-shumkov-vozglavili-delegatsiyu-kurganskoy-oblasti-na-vsemirnom-russkom-sob/</a:t>
            </a:r>
          </a:p>
          <a:p xmlns:a="http://schemas.openxmlformats.org/drawingml/2006/main">
            <a:r>
              <a:t>https://45.ru/text/politics/2026/06/26/76499700/</a:t>
            </a:r>
          </a:p>
          <a:p xmlns:a="http://schemas.openxmlformats.org/drawingml/2006/main">
            <a:r>
              <a:t>https://niva-kurtamysh.com/news/obshchestvo/vystuplenie-gubernatora-kurganskoy-oblasti-vadima-shumkova</a:t>
            </a:r>
          </a:p>
          <a:p xmlns:a="http://schemas.openxmlformats.org/drawingml/2006/main">
            <a:r>
              <a:t>https://t.me/s/kurganskayaobl?before=42616</a:t>
            </a:r>
          </a:p>
          <a:p xmlns:a="http://schemas.openxmlformats.org/drawingml/2006/main">
            <a:r>
              <a:t>https://www.bbc.com/russian/news-54368577</a:t>
            </a:r>
          </a:p>
          <a:p xmlns:a="http://schemas.openxmlformats.org/drawingml/2006/main">
            <a:r>
              <a:t>https://www.bbc.com/russian/articles/cp0769dp15eo</a:t>
            </a:r>
          </a:p>
          <a:p xmlns:a="http://schemas.openxmlformats.org/drawingml/2006/main">
            <a:r>
              <a:t>https://navalny.com/materials/blogpost-6017</a:t>
            </a:r>
          </a:p>
          <a:p xmlns:a="http://schemas.openxmlformats.org/drawingml/2006/main">
            <a:r>
              <a:t>https://www.bbc.com/russian/news-58563592</a:t>
            </a:r>
          </a:p>
          <a:p xmlns:a="http://schemas.openxmlformats.org/drawingml/2006/main">
            <a:r>
              <a:t>https://navalny.com/materials/blogpost-6544</a:t>
            </a:r>
          </a:p>
          <a:p xmlns:a="http://schemas.openxmlformats.org/drawingml/2006/main">
            <a:r>
              <a:t>https://www.bbc.com/russian/news-58270043</a:t>
            </a:r>
          </a:p>
          <a:p xmlns:a="http://schemas.openxmlformats.org/drawingml/2006/main">
            <a:r>
              <a:t>https://www.bbc.com/russian/articles/cvg3p9l1e5ro</a:t>
            </a:r>
          </a:p>
          <a:p xmlns:a="http://schemas.openxmlformats.org/drawingml/2006/main">
            <a:r>
              <a:t>https://www.bbc.com/russian/features-54435835</a:t>
            </a:r>
          </a:p>
          <a:p xmlns:a="http://schemas.openxmlformats.org/drawingml/2006/main">
            <a:r>
              <a:t>https://2018.navalny.com/platform/7/</a:t>
            </a:r>
          </a:p>
          <a:p xmlns:a="http://schemas.openxmlformats.org/drawingml/2006/main">
            <a:r>
              <a:t>https://2018.navalny.com/platform/3/</a:t>
            </a:r>
          </a:p>
          <a:p xmlns:a="http://schemas.openxmlformats.org/drawingml/2006/main">
            <a:r>
              <a:t>https://2018.navalny.com/platform/10/</a:t>
            </a:r>
          </a:p>
          <a:p xmlns:a="http://schemas.openxmlformats.org/drawingml/2006/main">
            <a:r>
              <a:t>https://2018.navalny.com/platform/9/</a:t>
            </a:r>
          </a:p>
          <a:p xmlns:a="http://schemas.openxmlformats.org/drawingml/2006/main">
            <a:r>
              <a:t>https://navalny.com/editorials/aleksey-navalnyy-protiv-voyny</a:t>
            </a:r>
          </a:p>
          <a:p xmlns:a="http://schemas.openxmlformats.org/drawingml/2006/main">
            <a:r>
              <a:t>https://navalny.com/?p=149</a:t>
            </a:r>
          </a:p>
          <a:p xmlns:a="http://schemas.openxmlformats.org/drawingml/2006/main">
            <a:r>
              <a:t>https://www.interfax.ru/russia/876151</a:t>
            </a:r>
          </a:p>
          <a:p xmlns:a="http://schemas.openxmlformats.org/drawingml/2006/main">
            <a:r>
              <a:t>https://www.dw.com/ru/srok-ne-za-fejk-a-za-politiku-reakcii-v-frg-i-rf-na-prigovor-asinu/a-64049957</a:t>
            </a:r>
          </a:p>
          <a:p xmlns:a="http://schemas.openxmlformats.org/drawingml/2006/main">
            <a:r>
              <a:t>https://www.lemonde.fr/en/international/article/2025/05/27/russian-opposition-figure-ilya-yashin-if-ukraine-is-handed-over-to-putin-it-will-be-a-tragedy-and-the-prologue-to-a-global-confrontation_6741728_4.html</a:t>
            </a:r>
          </a:p>
          <a:p xmlns:a="http://schemas.openxmlformats.org/drawingml/2006/main">
            <a:r>
              <a:t>https://www.bbc.com/russian/articles/crgl69w9472o</a:t>
            </a:r>
          </a:p>
          <a:p xmlns:a="http://schemas.openxmlformats.org/drawingml/2006/main">
            <a:r>
              <a:t>https://www.svoboda.org/a/yashin-court/32165539.html</a:t>
            </a:r>
          </a:p>
          <a:p xmlns:a="http://schemas.openxmlformats.org/drawingml/2006/main">
            <a:r>
              <a:t>https://www.dw.com/ru/ila-asin-putin-predvoditel-sil-mrakobesia/a-69923731</a:t>
            </a:r>
          </a:p>
          <a:p xmlns:a="http://schemas.openxmlformats.org/drawingml/2006/main">
            <a:r>
              <a:t>https://novayagazeta.eu/articles/2025/08/01/my-ne-mozhem-trebovat-no-mozhem-obiasniat</a:t>
            </a:r>
          </a:p>
          <a:p xmlns:a="http://schemas.openxmlformats.org/drawingml/2006/main">
            <a:r>
              <a:t>https://meduza.io/feature/2019/07/20/to-chto-putin-ne-smog-sdelat-za-20-let-sobyanin-sdelal-za-mesyats</a:t>
            </a:r>
          </a:p>
          <a:p xmlns:a="http://schemas.openxmlformats.org/drawingml/2006/main">
            <a:r>
              <a:t>https://novayagazeta.eu/articles/2024/11/18/pochuvstvovat-sebia-ne-odinokimi</a:t>
            </a:r>
          </a:p>
          <a:p xmlns:a="http://schemas.openxmlformats.org/drawingml/2006/main">
            <a:r>
              <a:t>https://www.svoboda.org/a/voyna-putin-i-politzaklyuchennye-iljya-yashin-o-svoih-planah/33177839.html</a:t>
            </a:r>
          </a:p>
          <a:p xmlns:a="http://schemas.openxmlformats.org/drawingml/2006/main">
            <a:r>
              <a:t>https://www.dw.com/ru/asin-sejcas-nevozmozno-obedinit-rossijskuu-oppoziciu-da-i-ne-nuzno/a-70291088</a:t>
            </a:r>
          </a:p>
          <a:p xmlns:a="http://schemas.openxmlformats.org/drawingml/2006/main">
            <a:r>
              <a:t>https://www.dw.com/ru/vladimir-karamurza/t-37465233</a:t>
            </a:r>
          </a:p>
          <a:p xmlns:a="http://schemas.openxmlformats.org/drawingml/2006/main">
            <a:r>
              <a:t>https://ovd.info/persons/kara-murza-vladimir-vladimirovich</a:t>
            </a:r>
          </a:p>
          <a:p xmlns:a="http://schemas.openxmlformats.org/drawingml/2006/main">
            <a:r>
              <a:t>https://ovd.info/2024/08/03/kogo-rossiya-vydala-v-ramkakh-obmena-zaklyuchennymi-s-zapadom-istorii-osvobozhdennykh</a:t>
            </a:r>
          </a:p>
          <a:p xmlns:a="http://schemas.openxmlformats.org/drawingml/2006/main">
            <a:r>
              <a:t>https://www.svoboda.org/a/kara-murza-obmen/33059121.html</a:t>
            </a:r>
          </a:p>
          <a:p xmlns:a="http://schemas.openxmlformats.org/drawingml/2006/main">
            <a:r>
              <a:t>https://novayagazeta.ru/articles/2024/08/16/prezident-baiden-prinial-osvobozhdennogo-v-rezultate-obmena-politzakliuchennogo-vladimira-kara-murzu-s-semei-v-belom-dome-news</a:t>
            </a:r>
          </a:p>
          <a:p xmlns:a="http://schemas.openxmlformats.org/drawingml/2006/main">
            <a:r>
              <a:t>https://genevasummit.org/speech/vladimir-kara-murza-speaks-at-2018-geneva-summit-main-event/</a:t>
            </a:r>
          </a:p>
          <a:p xmlns:a="http://schemas.openxmlformats.org/drawingml/2006/main">
            <a:r>
              <a:t>https://humanrights.ca/event-series/presidents-lecture-series</a:t>
            </a:r>
          </a:p>
          <a:p xmlns:a="http://schemas.openxmlformats.org/drawingml/2006/main">
            <a:r>
              <a:t>https://www.radiofrance.fr/franceinter/podcasts/l-info-de-france-inter/la-democratie-doit-etre-protegee-chaque-minute-de-chaque-jour-declare-l-opposant-russe-vladimir-kara-mourza-8105094</a:t>
            </a:r>
          </a:p>
          <a:p xmlns:a="http://schemas.openxmlformats.org/drawingml/2006/main">
            <a:r>
              <a:t>https://georgetownvoice.com/2025/10/08/dissident-in-residence-vladimir-kara-murza-applies-past-lessons-to-present-day-in-recent-event-discussing-democracy/</a:t>
            </a:r>
          </a:p>
          <a:p xmlns:a="http://schemas.openxmlformats.org/drawingml/2006/main">
            <a:r>
              <a:t>https://www.oscepa.org/en/documents/winter-meetings/2025-vienna/speeches-36/5176-vladimir-kara-murza-address-to-the-osce-pa-winter-meeting-in-vienna-21-february-2025/file</a:t>
            </a:r>
          </a:p>
          <a:p xmlns:a="http://schemas.openxmlformats.org/drawingml/2006/main">
            <a:r>
              <a:t>https://hrf.org/wp-content/uploads/2024/10/VKM-%E2%80%93-Statement-of-Facts-and-Levinson-Analysis.pdf</a:t>
            </a:r>
          </a:p>
          <a:p xmlns:a="http://schemas.openxmlformats.org/drawingml/2006/main">
            <a:r>
              <a:t>https://www.govinfo.gov/content/pkg/CREC-2024-06-11/html/CREC-2024-06-11-pt1-PgH3699.htm</a:t>
            </a:r>
          </a:p>
          <a:p xmlns:a="http://schemas.openxmlformats.org/drawingml/2006/main">
            <a:r>
              <a:t>https://antiwarcommittee.info/en/statement-on-the-persecution-of-vladimir-kara-murza/</a:t>
            </a:r>
          </a:p>
          <a:p xmlns:a="http://schemas.openxmlformats.org/drawingml/2006/main">
            <a:r>
              <a:t>https://www.norway.no/en/missions/osce/norway-and-the-osce/statements/statements-with--norwegian-alignment-2024/joint-statement-on-vladimir-kara-murza/</a:t>
            </a:r>
          </a:p>
          <a:p xmlns:a="http://schemas.openxmlformats.org/drawingml/2006/main">
            <a:r>
              <a:t>https://www.aljazeera.com/news/2025/4/23/kremlin-critic-decried-for-racist-rant-on-minorities-fighting-for-russia</a:t>
            </a:r>
          </a:p>
          <a:p xmlns:a="http://schemas.openxmlformats.org/drawingml/2006/main">
            <a:r>
              <a:t>https://www.rmc.edu/news/former-political-prisoner-vladimir-kara-murza-offers-vision-of-hope-for-russian-democracy/</a:t>
            </a:r>
          </a:p>
          <a:p xmlns:a="http://schemas.openxmlformats.org/drawingml/2006/main">
            <a:r>
              <a:t>https://2018.yavlinsky.ru/campaign/</a:t>
            </a:r>
          </a:p>
          <a:p xmlns:a="http://schemas.openxmlformats.org/drawingml/2006/main">
            <a:r>
              <a:t>http://2018.yavlinsky.ru/programm/</a:t>
            </a:r>
          </a:p>
          <a:p xmlns:a="http://schemas.openxmlformats.org/drawingml/2006/main">
            <a:r>
              <a:t>https://campaign2018.yavlinsky.ru/</a:t>
            </a:r>
          </a:p>
          <a:p xmlns:a="http://schemas.openxmlformats.org/drawingml/2006/main">
            <a:r>
              <a:t>https://www.yavlinsky.ru/position/war/</a:t>
            </a:r>
          </a:p>
          <a:p xmlns:a="http://schemas.openxmlformats.org/drawingml/2006/main">
            <a:r>
              <a:t>https://www.yavlinsky.ru/position/cease-fire/</a:t>
            </a:r>
          </a:p>
          <a:p xmlns:a="http://schemas.openxmlformats.org/drawingml/2006/main">
            <a:r>
              <a:t>https://www.yavlinsky.ru/article_tax/ukraina/</a:t>
            </a:r>
          </a:p>
          <a:p xmlns:a="http://schemas.openxmlformats.org/drawingml/2006/main">
            <a:r>
              <a:t>https://www.yavlinsky.ru/biografiya/</a:t>
            </a:r>
          </a:p>
          <a:p xmlns:a="http://schemas.openxmlformats.org/drawingml/2006/main">
            <a:r>
              <a:t>https://www.yabloko.ru/publikatsii/2018/02/15_0</a:t>
            </a:r>
          </a:p>
          <a:p xmlns:a="http://schemas.openxmlformats.org/drawingml/2006/main">
            <a:r>
              <a:t>https://www.yabloko.ru/publikatsii/2018/06/19</a:t>
            </a:r>
          </a:p>
          <a:p xmlns:a="http://schemas.openxmlformats.org/drawingml/2006/main">
            <a:r>
              <a:t>https://www.yavlinsky.ru/article/eto-referendum/</a:t>
            </a:r>
          </a:p>
          <a:p xmlns:a="http://schemas.openxmlformats.org/drawingml/2006/main">
            <a:r>
              <a:t>https://www.svoboda.org/a/27801792.html</a:t>
            </a:r>
          </a:p>
          <a:p xmlns:a="http://schemas.openxmlformats.org/drawingml/2006/main">
            <a:r>
              <a:t>https://www.svoboda.org/a/29294829.html</a:t>
            </a:r>
          </a:p>
          <a:p xmlns:a="http://schemas.openxmlformats.org/drawingml/2006/main">
            <a:r>
              <a:t>https://www.yavlinsky.ru/article/intervyu-g-yavlinskogo-zhertvy-budut-proryva-net/</a:t>
            </a:r>
          </a:p>
          <a:p xmlns:a="http://schemas.openxmlformats.org/drawingml/2006/main">
            <a:r>
              <a:t>https://www.yavlinsky.ru/article/my-budem-idti-do-kontsa/</a:t>
            </a:r>
          </a:p>
          <a:p xmlns:a="http://schemas.openxmlformats.org/drawingml/2006/main">
            <a:r>
              <a:t>https://www.yavlinsky.ru/article/prezidentskie-vybory-1996-30-let-spustya/</a:t>
            </a:r>
          </a:p>
          <a:p xmlns:a="http://schemas.openxmlformats.org/drawingml/2006/main">
            <a:r>
              <a:t>https://www.forbes.ru/interview/45575-reformatory-prihodyat-k-vlasti-grigorii-yavlinskii</a:t>
            </a:r>
          </a:p>
          <a:p xmlns:a="http://schemas.openxmlformats.org/drawingml/2006/main">
            <a:r>
              <a:t>https://www.bbc.com/russian/articles/cy8ee2wngd8o</a:t>
            </a:r>
          </a:p>
          <a:p xmlns:a="http://schemas.openxmlformats.org/drawingml/2006/main">
            <a:r>
              <a:t>https://www.yabloko.ru/regnews/Pskov/2019/01/21-0</a:t>
            </a:r>
          </a:p>
          <a:p xmlns:a="http://schemas.openxmlformats.org/drawingml/2006/main">
            <a:r>
              <a:t>https://www.yabloko.ru/publikatsii/2019/06/14</a:t>
            </a:r>
          </a:p>
          <a:p xmlns:a="http://schemas.openxmlformats.org/drawingml/2006/main">
            <a:r>
              <a:t>https://zona.media/article/2019/02/27/pskov</a:t>
            </a:r>
          </a:p>
          <a:p xmlns:a="http://schemas.openxmlformats.org/drawingml/2006/main">
            <a:r>
              <a:t>https://spektr.press/ya-otvechayu-za-vse-mnoj-skazannoe-no-ne-otvechayu-za-izvraschenie-skazannogo-lev-shlosberg-o-travle-i-setkah-telegram-kanalov-odnokletochnyh-politikah-reshivshih-pobedit-putina-rukami-u/</a:t>
            </a:r>
          </a:p>
          <a:p xmlns:a="http://schemas.openxmlformats.org/drawingml/2006/main">
            <a:r>
              <a:t>https://www.yabloko.ru/Persons/shlosberg.html</a:t>
            </a:r>
          </a:p>
          <a:p xmlns:a="http://schemas.openxmlformats.org/drawingml/2006/main">
            <a:r>
              <a:t>https://pln-pskov.ru/politics/314872.html</a:t>
            </a:r>
          </a:p>
          <a:p xmlns:a="http://schemas.openxmlformats.org/drawingml/2006/main">
            <a:r>
              <a:t>https://www.yabloko.ru/publikatsii/2022/02/18-0</a:t>
            </a:r>
          </a:p>
          <a:p xmlns:a="http://schemas.openxmlformats.org/drawingml/2006/main">
            <a:r>
              <a:t>https://ru.krymr.com/a/rossiya-putin-voyna-repressii-lev-shlosberg-intervyu/31806389.html</a:t>
            </a:r>
          </a:p>
          <a:p xmlns:a="http://schemas.openxmlformats.org/drawingml/2006/main">
            <a:r>
              <a:t>https://www.currenttime.tv/a/politika-vlastey-chtoby-lyudi-perestali-govorit-o-spetsialnoy-voennoy-operatsii-lev-shlosberg-o-dele-protiv-nego-i-nikolaya-kuzmina/31807396.html</a:t>
            </a:r>
          </a:p>
          <a:p xmlns:a="http://schemas.openxmlformats.org/drawingml/2006/main">
            <a:r>
              <a:t>https://zona.media/article/2026/08/14/schlosberg</a:t>
            </a:r>
          </a:p>
          <a:p xmlns:a="http://schemas.openxmlformats.org/drawingml/2006/main">
            <a:r>
              <a:t>https://www.svoboda.org/a/lishniy-zalozhnik-vot-chto-im-vazhno-arest-lva-shlosberga/33615624.html</a:t>
            </a:r>
          </a:p>
          <a:p xmlns:a="http://schemas.openxmlformats.org/drawingml/2006/main">
            <a:r>
              <a:t>https://novayagazeta.eu/articles/2026/08/17/ostavshiisia</a:t>
            </a:r>
          </a:p>
          <a:p xmlns:a="http://schemas.openxmlformats.org/drawingml/2006/main">
            <a:r>
              <a:t>https://www.yabloko.ru/content/vishnevskii_boris_lazarevich</a:t>
            </a:r>
          </a:p>
          <a:p xmlns:a="http://schemas.openxmlformats.org/drawingml/2006/main">
            <a:r>
              <a:t>https://www.dp.ru/a/2018/06/18/Aktivnaja_storona_konflikt</a:t>
            </a:r>
          </a:p>
          <a:p xmlns:a="http://schemas.openxmlformats.org/drawingml/2006/main">
            <a:r>
              <a:t>https://www.bbc.com/russian/features-58481940</a:t>
            </a:r>
          </a:p>
          <a:p xmlns:a="http://schemas.openxmlformats.org/drawingml/2006/main">
            <a:r>
              <a:t>https://www.dp.ru/a/2023/01/16/Deputat_Peterburga_Vishnev</a:t>
            </a:r>
          </a:p>
          <a:p xmlns:a="http://schemas.openxmlformats.org/drawingml/2006/main">
            <a:r>
              <a:t>https://echofm.online/portret-dnya/portret-dnya-boris-vishnevskij-peterburgskij-politik</a:t>
            </a:r>
          </a:p>
          <a:p xmlns:a="http://schemas.openxmlformats.org/drawingml/2006/main">
            <a:r>
              <a:t>https://spb.yabloko.ru/people/vishnevskij-boris-lazarevich/</a:t>
            </a:r>
          </a:p>
          <a:p xmlns:a="http://schemas.openxmlformats.org/drawingml/2006/main">
            <a:r>
              <a:t>https://www.dp.ru/a/2026/08/26/bitva-nachalas-gde-v-peterburge</a:t>
            </a:r>
          </a:p>
          <a:p xmlns:a="http://schemas.openxmlformats.org/drawingml/2006/main">
            <a:r>
              <a:t>https://www.yabloko.ru/regnews/Spb/2022/02/21</a:t>
            </a:r>
          </a:p>
          <a:p xmlns:a="http://schemas.openxmlformats.org/drawingml/2006/main">
            <a:r>
              <a:t>https://www.yabloko.ru/cat-news/2021/08/06-0</a:t>
            </a:r>
          </a:p>
          <a:p xmlns:a="http://schemas.openxmlformats.org/drawingml/2006/main">
            <a:r>
              <a:t>https://www.rbc.ru/spb_sz/16/01/2023/63c53d9c9a7947d9bef4b853</a:t>
            </a:r>
          </a:p>
          <a:p xmlns:a="http://schemas.openxmlformats.org/drawingml/2006/main">
            <a:r>
              <a:t>https://www.rbc.ru/politics/06/05/2024/6638a8609a79472c01075a2c</a:t>
            </a:r>
          </a:p>
          <a:p xmlns:a="http://schemas.openxmlformats.org/drawingml/2006/main">
            <a:r>
              <a:t>https://www.svoboda.org/a/politika-dmitriya-gudkova-deportirovali-iz-gruzii-v-kiev/31679697.html</a:t>
            </a:r>
          </a:p>
          <a:p xmlns:a="http://schemas.openxmlformats.org/drawingml/2006/main">
            <a:r>
              <a:t>https://ru.krymr.com/a/dmitriy-gudkov-ob-otyezde-iz-rossii/31295079.html</a:t>
            </a:r>
          </a:p>
          <a:p xmlns:a="http://schemas.openxmlformats.org/drawingml/2006/main">
            <a:r>
              <a:t>https://daily.afisha.ru/news/114366-syn-politika-dmitriya-gudkova-pokonchil-s-soboy-v-emigracii/amp/</a:t>
            </a:r>
          </a:p>
          <a:p xmlns:a="http://schemas.openxmlformats.org/drawingml/2006/main">
            <a:r>
              <a:t>https://life.ru/t/dmitriygudkov</a:t>
            </a:r>
          </a:p>
          <a:p xmlns:a="http://schemas.openxmlformats.org/drawingml/2006/main">
            <a:r>
              <a:t>https://uk.wikipedia.org/wiki/%D0%93%D1%83%D0%B4%D0%BA%D0%BE%D0%B2_%D0%94%D0%BC%D0%B8%D1%82%D1%80%D1%96%D0%B9_%D0%93%D0%B5%D0%BD%D0%B0%D0%B4%D1%96%D0%B9%D0%BE%D0%B2%D0%B8%D1%87</a:t>
            </a:r>
          </a:p>
          <a:p xmlns:a="http://schemas.openxmlformats.org/drawingml/2006/main">
            <a:r>
              <a:t>https://mt.gazeta.ru/blog/43692366076/Syin-byivshego-deputata-Gosdumyi-Dmitriya-Gudkova-pokonchil-s-so?utm_referrer=mirtesen.ru</a:t>
            </a:r>
          </a:p>
          <a:p xmlns:a="http://schemas.openxmlformats.org/drawingml/2006/main">
            <a:r>
              <a:t>https://www.bbc.com/russian/news-57381443</a:t>
            </a:r>
          </a:p>
          <a:p xmlns:a="http://schemas.openxmlformats.org/drawingml/2006/main">
            <a:r>
              <a:t>https://www.themoscowtimes.com/2021/06/06/kremlin-critic-dmitry-gudkov-flees-to-ukraine-a74123</a:t>
            </a:r>
          </a:p>
          <a:p xmlns:a="http://schemas.openxmlformats.org/drawingml/2006/main">
            <a:r>
              <a:t>https://www.yabloko.ru/publikatsii/2016/09/15</a:t>
            </a:r>
          </a:p>
          <a:p xmlns:a="http://schemas.openxmlformats.org/drawingml/2006/main">
            <a:r>
              <a:t>https://novayagazeta.ru/articles/2018/03/21/75886-ya-privyk-lyudyam-verit</a:t>
            </a:r>
          </a:p>
          <a:p xmlns:a="http://schemas.openxmlformats.org/drawingml/2006/main">
            <a:r>
              <a:t>https://www.rbc.ru/politics/15/03/2018/5aaa98049a7947d12d63f1e1</a:t>
            </a:r>
          </a:p>
          <a:p xmlns:a="http://schemas.openxmlformats.org/drawingml/2006/main">
            <a:r>
              <a:t>https://rus.team/people/gudkov-dmitrij-gennadevich</a:t>
            </a:r>
          </a:p>
          <a:p xmlns:a="http://schemas.openxmlformats.org/drawingml/2006/main">
            <a:r>
              <a:t>https://www.azattyqasia.org/a/chto-proiskhodit-v-donbasse-/31863310/lbl0lbi299676.html</a:t>
            </a:r>
          </a:p>
          <a:p xmlns:a="http://schemas.openxmlformats.org/drawingml/2006/main">
            <a:r>
              <a:t>https://www.dw.com/ru/dmitrij-gudkov-putin-na-storone-partii-vojny-no-pri-etom-on-trus-21092022/video-63193199</a:t>
            </a:r>
          </a:p>
          <a:p xmlns:a="http://schemas.openxmlformats.org/drawingml/2006/main">
            <a:r>
              <a:t>https://ru.wikinews.org/wiki/%D0%9A%D0%B0%D1%82%D0%B5%D0%B3%D0%BE%D1%80%D0%B8%D1%8F:%D0%93%D0%B5%D0%BD%D0%BD%D0%B0%D0%B4%D0%B8%D0%B9_%D0%93%D1%83%D0%B4%D0%BA%D0%BE%D0%B2</a:t>
            </a:r>
          </a:p>
          <a:p xmlns:a="http://schemas.openxmlformats.org/drawingml/2006/main">
            <a:r>
              <a:t>https://en.wikipedia.org/wiki/Gennady_Gudkov</a:t>
            </a:r>
          </a:p>
          <a:p xmlns:a="http://schemas.openxmlformats.org/drawingml/2006/main">
            <a:r>
              <a:t>https://x.com/gudkov_g</a:t>
            </a:r>
          </a:p>
          <a:p xmlns:a="http://schemas.openxmlformats.org/drawingml/2006/main">
            <a:r>
              <a:t>https://www.dw.com/ru/chto-dmitrij-gudkov-nameren-delat-v-ukraine-i-vernetsja-li-v-rossiju/a-57830619</a:t>
            </a:r>
          </a:p>
          <a:p xmlns:a="http://schemas.openxmlformats.org/drawingml/2006/main">
            <a:r>
              <a:t>https://ru.wikipedia.org/wiki/%D0%93%D1%83%D0%B4%D0%BA%D0%BE%D0%B2,_%D0%93%D0%B5%D0%BD%D0%BD%D0%B0%D0%B4%D0%B8%D0%B9_%D0%92%D0%BB%D0%B0%D0%B4%D0%B8%D0%BC%D0%B8%D1%80%D0%BE%D0%B2%D0%B8%D1%87</a:t>
            </a:r>
          </a:p>
          <a:p xmlns:a="http://schemas.openxmlformats.org/drawingml/2006/main">
            <a:r>
              <a:t>https://ru.wikipedia.org/wiki/%D0%93%D1%83%D0%B4%D0%BA%D0%BE%D0%B2,_%D0%94%D0%BC%D0%B8%D1%82%D1%80%D0%B8%D0%B9_%D0%93%D0%B5%D0%BD%D0%BD%D0%B0%D0%B4%D1%8C%D0%B5%D0%B2%D0%B8%D1%87</a:t>
            </a:r>
          </a:p>
          <a:p xmlns:a="http://schemas.openxmlformats.org/drawingml/2006/main">
            <a:r>
              <a:t>https://utro02.tv/2022/10/31/navstrechu-sezdu-gennadij-gudkov-o-vyborah-obedinenii-oppoziczii-i-razdelenii-vlasti/</a:t>
            </a:r>
          </a:p>
          <a:p xmlns:a="http://schemas.openxmlformats.org/drawingml/2006/main">
            <a:r>
              <a:t>https://www.unian.net/war/rossiyskiy-oppozicioner-gudkov-putin-nachinaet-ponimat-chto-nastupaet-zh-pa-12031263.html</a:t>
            </a:r>
          </a:p>
          <a:p xmlns:a="http://schemas.openxmlformats.org/drawingml/2006/main">
            <a:r>
              <a:t>https://bntnews.bg/genadiy-gudkov-86846tag.html</a:t>
            </a:r>
          </a:p>
          <a:p xmlns:a="http://schemas.openxmlformats.org/drawingml/2006/main">
            <a:r>
              <a:t>https://tass.ru/encyclopedia/person/gudkov-dmitriy-gennadevich</a:t>
            </a:r>
          </a:p>
          <a:p xmlns:a="http://schemas.openxmlformats.org/drawingml/2006/main">
            <a:r>
              <a:t>https://www.kasparov.com/garry-kasparov-on-putin-and-the-virus-of-imperialism-wsj-free-expression-april-11-2022/</a:t>
            </a:r>
          </a:p>
          <a:p xmlns:a="http://schemas.openxmlformats.org/drawingml/2006/main">
            <a:r>
              <a:t>https://www.ilmessaggero.it/en/garry_kasparov_from_chess_champion_to_kremlin_critic-9797261.html</a:t>
            </a:r>
          </a:p>
          <a:p xmlns:a="http://schemas.openxmlformats.org/drawingml/2006/main">
            <a:r>
              <a:t>https://www.kasparov.com/category/russia/</a:t>
            </a:r>
          </a:p>
          <a:p xmlns:a="http://schemas.openxmlformats.org/drawingml/2006/main">
            <a:r>
              <a:t>https://www.kasparov.com/category/politics/</a:t>
            </a:r>
          </a:p>
          <a:p xmlns:a="http://schemas.openxmlformats.org/drawingml/2006/main">
            <a:r>
              <a:t>https://en.wikipedia.org/wiki/Political_views_of_Garry_Kasparov</a:t>
            </a:r>
          </a:p>
          <a:p xmlns:a="http://schemas.openxmlformats.org/drawingml/2006/main">
            <a:r>
              <a:t>https://www.dw.com/ru/kasparov-v-intervu-dw-vse-cto-delal-delaet-i-budet-delat-tramp-pomogaet-putinu/a-79633734</a:t>
            </a:r>
          </a:p>
          <a:p xmlns:a="http://schemas.openxmlformats.org/drawingml/2006/main">
            <a:r>
              <a:t>https://www.kasparov.com/</a:t>
            </a:r>
          </a:p>
          <a:p xmlns:a="http://schemas.openxmlformats.org/drawingml/2006/main">
            <a:r>
              <a:t>https://www.kasparov.com/a-conversation-with-garry-kasparov-thought-economics-with-vikas-shas-may-21-2017/</a:t>
            </a:r>
          </a:p>
          <a:p xmlns:a="http://schemas.openxmlformats.org/drawingml/2006/main">
            <a:r>
              <a:t>https://www.kasparov.com/new-yorker-interview-the-chess-grandmaster-and-political-activist-on-putin-trump-and-how-we-are-living-again-through-the-eighteen-fifties/</a:t>
            </a:r>
          </a:p>
          <a:p xmlns:a="http://schemas.openxmlformats.org/drawingml/2006/main">
            <a:r>
              <a:t>https://www.cnbc.com/2017/02/13/the-full-interview-with-former-world-chess-champion-garry-kasparov-on-trump-putin.html</a:t>
            </a:r>
          </a:p>
          <a:p xmlns:a="http://schemas.openxmlformats.org/drawingml/2006/main">
            <a:r>
              <a:t>https://www.reuters.com/world/europe/kasparov-calls-world-powers-throw-russia-back-into-stone-age-2022-03-03/</a:t>
            </a:r>
          </a:p>
          <a:p xmlns:a="http://schemas.openxmlformats.org/drawingml/2006/main">
            <a:r>
              <a:t>https://khodorkovsky.com/open-russia-manifesto/</a:t>
            </a:r>
          </a:p>
          <a:p xmlns:a="http://schemas.openxmlformats.org/drawingml/2006/main">
            <a:r>
              <a:t>https://khodorkovsky.com/programmes/initiatives/openrussia/</a:t>
            </a:r>
          </a:p>
          <a:p xmlns:a="http://schemas.openxmlformats.org/drawingml/2006/main">
            <a:r>
              <a:t>https://khodorkovsky.com/page/65/?m</a:t>
            </a:r>
          </a:p>
          <a:p xmlns:a="http://schemas.openxmlformats.org/drawingml/2006/main">
            <a:r>
              <a:t>https://khodorkovsky.com/page/80/?m</a:t>
            </a:r>
          </a:p>
          <a:p xmlns:a="http://schemas.openxmlformats.org/drawingml/2006/main">
            <a:r>
              <a:t>https://angliya.com/publication/mihail-hodorkovskiy-ne-priznayu-razdelenie-lyudey-na-osnovanii-politicheskih-vzglyadov/</a:t>
            </a:r>
          </a:p>
          <a:p xmlns:a="http://schemas.openxmlformats.org/drawingml/2006/main">
            <a:r>
              <a:t>https://www.dw.com/ru/mihail-hodorkovski-bojus-jeta-vojna-ne-budet-poslednej/a-61314556</a:t>
            </a:r>
          </a:p>
          <a:p xmlns:a="http://schemas.openxmlformats.org/drawingml/2006/main">
            <a:r>
              <a:t>https://ru.euronews.com/2022/06/21/ru-khodorkovsky-interview</a:t>
            </a:r>
          </a:p>
          <a:p xmlns:a="http://schemas.openxmlformats.org/drawingml/2006/main">
            <a:r>
              <a:t>https://ru.euronews.com/2022/06/23/mikhail-khodorkovsky</a:t>
            </a:r>
          </a:p>
          <a:p xmlns:a="http://schemas.openxmlformats.org/drawingml/2006/main">
            <a:r>
              <a:t>https://poligonmedia.io/mihail-hodorkovskij-putin-ne-pobedil/</a:t>
            </a:r>
          </a:p>
          <a:p xmlns:a="http://schemas.openxmlformats.org/drawingml/2006/main">
            <a:r>
              <a:t>https://www.pap.pl/ru/russian/news/khodorkovskiy-u-putina-est-prichiny-vesti-peregovory-o-prekraschenii-voyny-na-ukraine</a:t>
            </a:r>
          </a:p>
          <a:p xmlns:a="http://schemas.openxmlformats.org/drawingml/2006/main">
            <a:r>
              <a:t>https://milov.org/cat/debates</a:t>
            </a:r>
          </a:p>
          <a:p xmlns:a="http://schemas.openxmlformats.org/drawingml/2006/main">
            <a:r>
              <a:t>https://milov.org/entry/4188</a:t>
            </a:r>
          </a:p>
          <a:p xmlns:a="http://schemas.openxmlformats.org/drawingml/2006/main">
            <a:r>
              <a:t>https://milov.org/cat/international</a:t>
            </a:r>
          </a:p>
          <a:p xmlns:a="http://schemas.openxmlformats.org/drawingml/2006/main">
            <a:r>
              <a:t>https://tvrain.tv/teleshow/amerikanskie_gonki/tramp_vynashivaet_ideju_primiritsja_s_putinym-453802/</a:t>
            </a:r>
          </a:p>
          <a:p xmlns:a="http://schemas.openxmlformats.org/drawingml/2006/main">
            <a:r>
              <a:t>https://www.currenttime.tv/a/vladimir-milov-interview/31505887.html</a:t>
            </a:r>
          </a:p>
          <a:p xmlns:a="http://schemas.openxmlformats.org/drawingml/2006/main">
            <a:r>
              <a:t>https://ovd.info/express-news/2021/07/27/roskomnadzor-potreboval-ot-youtube-zablokirovat-kanaly-troikh-soratnikov</a:t>
            </a:r>
          </a:p>
          <a:p xmlns:a="http://schemas.openxmlformats.org/drawingml/2006/main">
            <a:r>
              <a:t>https://www.dw.com/ru/sud-v-moskve-prigovoril-vladimira-milova-k-8-godam-kolonii/a-67415717</a:t>
            </a:r>
          </a:p>
          <a:p xmlns:a="http://schemas.openxmlformats.org/drawingml/2006/main">
            <a:r>
              <a:t>https://ru.wikipedia.org/wiki/%D0%9C%D0%B8%D0%BB%D0%BE%D0%B2,_%D0%92%D0%BB%D0%B0%D0%B4%D0%B8%D0%BC%D0%B8%D1%80_%D0%A1%D1%82%D0%B0%D0%BD%D0%B8%D1%81%D0%BB%D0%B0%D0%B2%D0%BE%D0%B2%D0%B8%D1%87</a:t>
            </a:r>
          </a:p>
          <a:p xmlns:a="http://schemas.openxmlformats.org/drawingml/2006/main">
            <a:r>
              <a:t>https://gordonua.com/news/worldnews/milov-merkel-molodec-poteryala-vsego-7-8-v-polzu-svezhey-antiimmigrantskoy-partii-na-fone-migrantskogo-krizisa-208758.html</a:t>
            </a:r>
          </a:p>
          <a:p xmlns:a="http://schemas.openxmlformats.org/drawingml/2006/main">
            <a:r>
              <a:t>https://echofm.online/programs/hochu-skazat/hochu-skazat-larina-69</a:t>
            </a:r>
          </a:p>
          <a:p xmlns:a="http://schemas.openxmlformats.org/drawingml/2006/main">
            <a:r>
              <a:t>https://www.hoover.org/plus/research/russian-opposition-and-ukraine-conversation-vladimir-milov</a:t>
            </a:r>
          </a:p>
          <a:p xmlns:a="http://schemas.openxmlformats.org/drawingml/2006/main">
            <a:r>
              <a:t>https://www.golosameriki.com/a/washington-dialogue-russian-opposition-conference/7648250.html</a:t>
            </a:r>
          </a:p>
          <a:p xmlns:a="http://schemas.openxmlformats.org/drawingml/2006/main">
            <a:r>
              <a:t>https://glavred.info/chat/1337-vladimir-milov.html</a:t>
            </a:r>
          </a:p>
          <a:p xmlns:a="http://schemas.openxmlformats.org/drawingml/2006/main">
            <a:r>
              <a:t>https://www.interfax.ru/moscow/669378</a:t>
            </a:r>
          </a:p>
          <a:p xmlns:a="http://schemas.openxmlformats.org/drawingml/2006/main">
            <a:r>
              <a:t>https://tass.ru/politika/6670439</a:t>
            </a:r>
          </a:p>
          <a:p xmlns:a="http://schemas.openxmlformats.org/drawingml/2006/main">
            <a:r>
              <a:t>https://www.rbc.ru/politics/16/07/2019/5d2c8b3b9a794799a7c7d413</a:t>
            </a:r>
          </a:p>
          <a:p xmlns:a="http://schemas.openxmlformats.org/drawingml/2006/main">
            <a:r>
              <a:t>https://www.bbc.com/russian/news-56269079</a:t>
            </a:r>
          </a:p>
          <a:p xmlns:a="http://schemas.openxmlformats.org/drawingml/2006/main">
            <a:r>
              <a:t>https://ovd.info/express-news/2020/12/28/s-yurista-fbk-kotoraya-provela-pochti-dvoe-sutok-v-ivs-pytalis-vzyat</a:t>
            </a:r>
          </a:p>
          <a:p xmlns:a="http://schemas.openxmlformats.org/drawingml/2006/main">
            <a:r>
              <a:t>https://ovd.info/express-news/2021/02/26/prokuratura-utverdila-obvinenie-sobol-po-delu-o-proniknovenii-v-kvartiru</a:t>
            </a:r>
          </a:p>
          <a:p xmlns:a="http://schemas.openxmlformats.org/drawingml/2006/main">
            <a:r>
              <a:t>https://ovd.info/express-news/2020/12/29/protiv-alekseya-navalnogo-vozbudili-ugolovnoe-delo-o-moshennichestve-iz-za</a:t>
            </a:r>
          </a:p>
          <a:p xmlns:a="http://schemas.openxmlformats.org/drawingml/2006/main">
            <a:r>
              <a:t>https://www.currenttime.tv/a/sobol/31723600.html</a:t>
            </a:r>
          </a:p>
          <a:p xmlns:a="http://schemas.openxmlformats.org/drawingml/2006/main">
            <a:r>
              <a:t>https://www.currenttime.tv/interview/episodes/2022/2/26</a:t>
            </a:r>
          </a:p>
          <a:p xmlns:a="http://schemas.openxmlformats.org/drawingml/2006/main">
            <a:r>
              <a:t>https://ochevidcy.com/putin-budet-vorovat-do-groba/</a:t>
            </a:r>
          </a:p>
          <a:p xmlns:a="http://schemas.openxmlformats.org/drawingml/2006/main">
            <a:r>
              <a:t>https://www.svoboda.org/a/32881433.html</a:t>
            </a:r>
          </a:p>
          <a:p xmlns:a="http://schemas.openxmlformats.org/drawingml/2006/main">
            <a:r>
              <a:t>https://echofm.online/programs/idyom-po-zvyozdam/idyom-po-zvezdam-s-lyubovyu-sobol</a:t>
            </a:r>
          </a:p>
          <a:p xmlns:a="http://schemas.openxmlformats.org/drawingml/2006/main">
            <a:r>
              <a:t>https://x.com/SobolLubov</a:t>
            </a:r>
          </a:p>
          <a:p xmlns:a="http://schemas.openxmlformats.org/drawingml/2006/main">
            <a:r>
              <a:t>https://stuki-druki.com/authors/sobol-lubov.php</a:t>
            </a:r>
          </a:p>
          <a:p xmlns:a="http://schemas.openxmlformats.org/drawingml/2006/main">
            <a:r>
              <a:t>https://www.interfax.ru/elections2018/593143</a:t>
            </a:r>
          </a:p>
          <a:p xmlns:a="http://schemas.openxmlformats.org/drawingml/2006/main">
            <a:r>
              <a:t>https://elections2018.tass.ru/candidate/sobchak</a:t>
            </a:r>
          </a:p>
          <a:p xmlns:a="http://schemas.openxmlformats.org/drawingml/2006/main">
            <a:r>
              <a:t>https://www.interfax.ru/elections2018/604186</a:t>
            </a:r>
          </a:p>
          <a:p xmlns:a="http://schemas.openxmlformats.org/drawingml/2006/main">
            <a:r>
              <a:t>https://www.interfax.ru/elections2018/604908</a:t>
            </a:r>
          </a:p>
          <a:p xmlns:a="http://schemas.openxmlformats.org/drawingml/2006/main">
            <a:r>
              <a:t>https://www.consultant.ru/law/hotdocs/53066.html</a:t>
            </a:r>
          </a:p>
          <a:p xmlns:a="http://schemas.openxmlformats.org/drawingml/2006/main">
            <a:r>
              <a:t>https://www.rbc.ru/newspaper/2018/03/20/5aae9ca49a794739b02918a0</a:t>
            </a:r>
          </a:p>
          <a:p xmlns:a="http://schemas.openxmlformats.org/drawingml/2006/main">
            <a:r>
              <a:t>https://www.interfax.ru/elections2018/604136</a:t>
            </a:r>
          </a:p>
          <a:p xmlns:a="http://schemas.openxmlformats.org/drawingml/2006/main">
            <a:r>
              <a:t>https://www.interfax.ru/elections2018/604190</a:t>
            </a:r>
          </a:p>
          <a:p xmlns:a="http://schemas.openxmlformats.org/drawingml/2006/main">
            <a:r>
              <a:t>https://www.rbc.ru/economics/25/12/2017/5a4025f19a79472e3f5f4ad9?from=right_column_materials_3</a:t>
            </a:r>
          </a:p>
          <a:p xmlns:a="http://schemas.openxmlformats.org/drawingml/2006/main">
            <a:r>
              <a:t>https://news.ru/show-business/otezd-iz-rf-vybory-svo-v-chem-priznalas-kseniya-sobchak-v-novom-intervyu</a:t>
            </a:r>
          </a:p>
          <a:p xmlns:a="http://schemas.openxmlformats.org/drawingml/2006/main">
            <a:r>
              <a:t>https://rtvi.com/news/sobchak-otvetila-na-vopros-putin-ili-zelenskij/</a:t>
            </a:r>
          </a:p>
          <a:p xmlns:a="http://schemas.openxmlformats.org/drawingml/2006/main">
            <a:r>
              <a:t>https://informator.ua/ru/kompromissy-iz-rf-legitimnost-zelenskogo-i-gotovnost-pozhat-ruku-putinu-o-chem-govoril-arestovich-v-intervyu-sobchak</a:t>
            </a:r>
          </a:p>
          <a:p xmlns:a="http://schemas.openxmlformats.org/drawingml/2006/main">
            <a:r>
              <a:t>https://rassvet-party.info/</a:t>
            </a:r>
          </a:p>
          <a:p xmlns:a="http://schemas.openxmlformats.org/drawingml/2006/main">
            <a:r>
              <a:t>https://en.wikipedia.org/wiki/Yekaterina_Duntsova</a:t>
            </a:r>
          </a:p>
          <a:p xmlns:a="http://schemas.openxmlformats.org/drawingml/2006/main">
            <a:r>
              <a:t>https://www.dw.com/ru/cto-nuzno-znat-o-ekaterine-duncovoj-kotoraa-hocet-stat-prezidentom-rf/a-67832425</a:t>
            </a:r>
          </a:p>
          <a:p xmlns:a="http://schemas.openxmlformats.org/drawingml/2006/main">
            <a:r>
              <a:t>https://baj.media/ru/ya-gotova-idti-do-konca-zhurnalistka-iz-rossiyskoy-provincii-reshila-stat-prezidentom-i-2/</a:t>
            </a:r>
          </a:p>
          <a:p xmlns:a="http://schemas.openxmlformats.org/drawingml/2006/main">
            <a:r>
              <a:t>https://echofm.online/portret-dnya/portret-dnya-ekaterina-dunczova-reshivshaya-vydvinutsya-kandidatom-v-prezidenty-rossii-zhurnalistka-iz-rzheva</a:t>
            </a:r>
          </a:p>
          <a:p xmlns:a="http://schemas.openxmlformats.org/drawingml/2006/main">
            <a:r>
              <a:t>https://novayagazeta.eu/articles/2024/03/15/zlost-i-nenavist-vsem-nadoeli</a:t>
            </a:r>
          </a:p>
          <a:p xmlns:a="http://schemas.openxmlformats.org/drawingml/2006/main">
            <a:r>
              <a:t>https://altapress.ru/politika/story/kto-takaya-ekaterina-duntsova-kotoraya-sobiraetsya-stat-poslednim-prezidentom-rossii-i-kto-eshche-hochet-ballotirovatsya-336526</a:t>
            </a:r>
          </a:p>
          <a:p xmlns:a="http://schemas.openxmlformats.org/drawingml/2006/main">
            <a:r>
              <a:t>https://cherta.media/interview/ekaterina-duncova-kandidat-v-prezidenty/</a:t>
            </a:r>
          </a:p>
          <a:p xmlns:a="http://schemas.openxmlformats.org/drawingml/2006/main">
            <a:r>
              <a:t>https://novayagazeta.eu/articles/2023/12/05/zachem-ia-budu-stoiat-na-barrikadakh-esli-mogu-zanimatsia-realnymi-delami</a:t>
            </a:r>
          </a:p>
          <a:p xmlns:a="http://schemas.openxmlformats.org/drawingml/2006/main">
            <a:r>
              <a:t>https://holod.media/2023/12/20/ekaterina-duntsova-view/</a:t>
            </a:r>
          </a:p>
          <a:p xmlns:a="http://schemas.openxmlformats.org/drawingml/2006/main">
            <a:r>
              <a:t>https://www.dw.com/ru/ekaterina-duncova-o-sozdanii-partii-rassvet-my-mezdu-dvuh-ognej/a-68992724</a:t>
            </a:r>
          </a:p>
          <a:p xmlns:a="http://schemas.openxmlformats.org/drawingml/2006/main">
            <a:r>
              <a:t>https://rassvet-party.info/static/program.pdf</a:t>
            </a:r>
          </a:p>
          <a:p xmlns:a="http://schemas.openxmlformats.org/drawingml/2006/main">
            <a:r>
              <a:t>https://www.currenttime.tv/a/ekaterina-duntsova-o-sozdanii-partii-i-svoem-zaderzhanii/32775510.html</a:t>
            </a:r>
          </a:p>
          <a:p xmlns:a="http://schemas.openxmlformats.org/drawingml/2006/main">
            <a:r>
              <a:t>https://duntsovainitiative.1c-umi.ru/galereya/</a:t>
            </a:r>
          </a:p>
          <a:p xmlns:a="http://schemas.openxmlformats.org/drawingml/2006/main">
            <a:r>
              <a:t>https://rassvet-party.info/static/manifest.pdf</a:t>
            </a:r>
          </a:p>
          <a:p xmlns:a="http://schemas.openxmlformats.org/drawingml/2006/main">
            <a:r>
              <a:t>https://www.rbc.ru/person/65afb4a99a79470e434da73d</a:t>
            </a:r>
          </a:p>
          <a:p xmlns:a="http://schemas.openxmlformats.org/drawingml/2006/main">
            <a:r>
              <a:t>https://www.bbc.com/russian/articles/c84npr0wxx9o</a:t>
            </a:r>
          </a:p>
          <a:p xmlns:a="http://schemas.openxmlformats.org/drawingml/2006/main">
            <a:r>
              <a:t>https://www.rbc.ru/politics/08/02/2024/65c3749b9a79479ef5fe7934</a:t>
            </a:r>
          </a:p>
          <a:p xmlns:a="http://schemas.openxmlformats.org/drawingml/2006/main">
            <a:r>
              <a:t>https://www.business-gazeta.ru/article/622600</a:t>
            </a:r>
          </a:p>
          <a:p xmlns:a="http://schemas.openxmlformats.org/drawingml/2006/main">
            <a:r>
              <a:t>https://semnasem.org/articles/2024/02/02/poslednij-sredi-antivoennyh-kto-takoj-boris-nadezhdin-kotoryj-vse-eshe-nadeetsya-stat-prezidentom</a:t>
            </a:r>
          </a:p>
          <a:p xmlns:a="http://schemas.openxmlformats.org/drawingml/2006/main">
            <a:r>
              <a:t>https://novayagazeta.eu/articles/2024/02/03/17-marta-nachalo-kontsa-epokhi-putina</a:t>
            </a:r>
          </a:p>
          <a:p xmlns:a="http://schemas.openxmlformats.org/drawingml/2006/main">
            <a:r>
              <a:t>https://www.youtube.com/watch?v=mGMdgxBCdns</a:t>
            </a:r>
          </a:p>
          <a:p xmlns:a="http://schemas.openxmlformats.org/drawingml/2006/main">
            <a:r>
              <a:t>https://www.dw.com/ru/boris-nadezdin-moj-rejting-rastet-na-5-v-nedelu/a-68154251</a:t>
            </a:r>
          </a:p>
          <a:p xmlns:a="http://schemas.openxmlformats.org/drawingml/2006/main">
            <a:r>
              <a:t>https://ovd.info/express-news/2026/07/17/u-menya-dva-puti-lenina-ili-navalnogo-chto-nuzhno-znat-o-borise-nadezhdine</a:t>
            </a:r>
          </a:p>
          <a:p xmlns:a="http://schemas.openxmlformats.org/drawingml/2006/main">
            <a:r>
              <a:t>https://www.rbc.ru/person/65afb4a99a79470e434da73d?ysclid=mrt22n99to603501119</a:t>
            </a:r>
          </a:p>
          <a:p xmlns:a="http://schemas.openxmlformats.org/drawingml/2006/main">
            <a:r>
              <a:t>https://www.youtube.com/watch?v=UNytg_H_1pY</a:t>
            </a:r>
          </a:p>
          <a:p xmlns:a="http://schemas.openxmlformats.org/drawingml/2006/main">
            <a:r>
              <a:t>https://www.youtube.com/watch?v=DwTC5bilf_8</a:t>
            </a:r>
          </a:p>
          <a:p xmlns:a="http://schemas.openxmlformats.org/drawingml/2006/main">
            <a:r>
              <a:t>https://www.youtube.com/watch?v=sG4_THnT9W0</a:t>
            </a:r>
          </a:p>
          <a:p xmlns:a="http://schemas.openxmlformats.org/drawingml/2006/main">
            <a:r>
              <a:t>https://www.rbc.ru/rbcfreenews/6586cdf49a79479c3cd3d4b3</a:t>
            </a:r>
          </a:p>
          <a:p xmlns:a="http://schemas.openxmlformats.org/drawingml/2006/main">
            <a:r>
              <a:t>https://kprf.ru/activity/elections/223485.html/print</a:t>
            </a:r>
          </a:p>
          <a:p xmlns:a="http://schemas.openxmlformats.org/drawingml/2006/main">
            <a:r>
              <a:t>http://msk.kprf.ru/2024/01/24/247473/</a:t>
            </a:r>
          </a:p>
          <a:p xmlns:a="http://schemas.openxmlformats.org/drawingml/2006/main">
            <a:r>
              <a:t>https://www.dw.com/ru/vybory-prezidenta-rossii-2024/a-68528003</a:t>
            </a:r>
          </a:p>
          <a:p xmlns:a="http://schemas.openxmlformats.org/drawingml/2006/main">
            <a:r>
              <a:t>https://ru.wikipedia.org/wiki/%D0%A5%D0%B0%D1%80%D0%B8%D1%82%D0%BE%D0%BD%D0%BE%D0%B2,_%D0%9D%D0%B8%D0%BA%D0%BE%D0%BB%D0%B0%D0%B9_%D0%9C%D0%B8%D1%85%D0%B0%D0%B9%D0%BB%D0%BE%D0%B2%D0%B8%D1%87</a:t>
            </a:r>
          </a:p>
          <a:p xmlns:a="http://schemas.openxmlformats.org/drawingml/2006/main">
            <a:r>
              <a:t>https://kprf.ru/party-live/cknews/225170.html</a:t>
            </a:r>
          </a:p>
          <a:p xmlns:a="http://schemas.openxmlformats.org/drawingml/2006/main">
            <a:r>
              <a:t>https://kprf.ru/dep/gosduma/activities/232802.html</a:t>
            </a:r>
          </a:p>
          <a:p xmlns:a="http://schemas.openxmlformats.org/drawingml/2006/main">
            <a:r>
              <a:t>https://kprf35.com/2024/02/17/32710/</a:t>
            </a:r>
          </a:p>
          <a:p xmlns:a="http://schemas.openxmlformats.org/drawingml/2006/main">
            <a:r>
              <a:t>https://www.pkokprf.ru/news/view/35448</a:t>
            </a:r>
          </a:p>
          <a:p xmlns:a="http://schemas.openxmlformats.org/drawingml/2006/main">
            <a:r>
              <a:t>https://altkprf.ru/upload/iblock/eea/jiv0wm7hzk6gq4qdxw0r5wvp7zwb6luk.pdf</a:t>
            </a:r>
          </a:p>
          <a:p xmlns:a="http://schemas.openxmlformats.org/drawingml/2006/main">
            <a:r>
              <a:t>https://kprf.ru/activity/army/224789.html</a:t>
            </a:r>
          </a:p>
          <a:p xmlns:a="http://schemas.openxmlformats.org/drawingml/2006/main">
            <a:r>
              <a:t>https://gazeta-pravda.ru/issue/24-31517-711-marta-2024-goda-/alternativa-polupravde/</a:t>
            </a:r>
          </a:p>
          <a:p xmlns:a="http://schemas.openxmlformats.org/drawingml/2006/main">
            <a:r>
              <a:t>https://spbpalata.ru/?p=13755</a:t>
            </a:r>
          </a:p>
          <a:p xmlns:a="http://schemas.openxmlformats.org/drawingml/2006/main">
            <a:r>
              <a:t>https://kprf.ru/activity/elections/171941.html</a:t>
            </a:r>
          </a:p>
          <a:p xmlns:a="http://schemas.openxmlformats.org/drawingml/2006/main">
            <a:r>
              <a:t>https://kprf.ru/party-live/cknews/171994.html</a:t>
            </a:r>
          </a:p>
          <a:p xmlns:a="http://schemas.openxmlformats.org/drawingml/2006/main">
            <a:r>
              <a:t>https://elections2018.tass.ru/candidate/grudinin</a:t>
            </a:r>
          </a:p>
          <a:p xmlns:a="http://schemas.openxmlformats.org/drawingml/2006/main">
            <a:r>
              <a:t>https://www.bbc.com/russian/features-43105617</a:t>
            </a:r>
          </a:p>
          <a:p xmlns:a="http://schemas.openxmlformats.org/drawingml/2006/main">
            <a:r>
              <a:t>https://www.rbc.ru/politics/24/07/2021/60fbe35b9a794716f25253a0</a:t>
            </a:r>
          </a:p>
          <a:p xmlns:a="http://schemas.openxmlformats.org/drawingml/2006/main">
            <a:r>
              <a:t>https://kprf.ru/dep/reg/204410.html</a:t>
            </a:r>
          </a:p>
          <a:p xmlns:a="http://schemas.openxmlformats.org/drawingml/2006/main">
            <a:r>
              <a:t>https://msk.kprf.ru/2021/09/16/168273/</a:t>
            </a:r>
          </a:p>
          <a:p xmlns:a="http://schemas.openxmlformats.org/drawingml/2006/main">
            <a:r>
              <a:t>https://svpressa.ru/persons/pavel-grudinin/</a:t>
            </a:r>
          </a:p>
          <a:p xmlns:a="http://schemas.openxmlformats.org/drawingml/2006/main">
            <a:r>
              <a:t>https://carnegieendowment.org/ru/russia-eurasia/posts/2018/02/kuda-privedut-ekonomiku-rossii-20-shagov-grudinina</a:t>
            </a:r>
          </a:p>
          <a:p xmlns:a="http://schemas.openxmlformats.org/drawingml/2006/main">
            <a:r>
              <a:t>https://www.kompas-rf.ru/2018/01/2980/</a:t>
            </a:r>
          </a:p>
          <a:p xmlns:a="http://schemas.openxmlformats.org/drawingml/2006/main">
            <a:r>
              <a:t>https://www.svoboda.org/a/30073365.html</a:t>
            </a:r>
          </a:p>
          <a:p xmlns:a="http://schemas.openxmlformats.org/drawingml/2006/main">
            <a:r>
              <a:t>https://kandidativprezidenti.ru/programma-grudinina-2018/</a:t>
            </a:r>
          </a:p>
          <a:p xmlns:a="http://schemas.openxmlformats.org/drawingml/2006/main">
            <a:r>
              <a:t>https://mbk-news.appspot.com/suzhet/za-lenina-i-protiv-ege/</a:t>
            </a:r>
          </a:p>
          <a:p xmlns:a="http://schemas.openxmlformats.org/drawingml/2006/main">
            <a:r>
              <a:t>https://www.amnesty.org/ru/latest/research/2021/06/zayavlenie-rossijskaya-federacziya-obvinitelnyj-prigovor-nikolayu-platoshkinu-dolzhen-byt-otmenyon/</a:t>
            </a:r>
          </a:p>
          <a:p xmlns:a="http://schemas.openxmlformats.org/drawingml/2006/main">
            <a:r>
              <a:t>https://zona.media/article/2021/05/20/nikolay-nikolaevitch</a:t>
            </a:r>
          </a:p>
          <a:p xmlns:a="http://schemas.openxmlformats.org/drawingml/2006/main">
            <a:r>
              <a:t>https://novayagazeta.ru/articles/2020/06/05/85705-sotsialisticheskiy-prizyv</a:t>
            </a:r>
          </a:p>
          <a:p xmlns:a="http://schemas.openxmlformats.org/drawingml/2006/main">
            <a:r>
              <a:t>https://www.revda-info.ru/2020/08/26/v-revde-poyavilos-otdelenie-dvizheniya-za-novyj-sotsializm-ego-lider-sejchas-pod-arestom</a:t>
            </a:r>
          </a:p>
          <a:p xmlns:a="http://schemas.openxmlformats.org/drawingml/2006/main">
            <a:r>
              <a:t>https://new-socialism.org/o-dvizhenii/programma/</a:t>
            </a:r>
          </a:p>
          <a:p xmlns:a="http://schemas.openxmlformats.org/drawingml/2006/main">
            <a:r>
              <a:t>https://new-socialism.org/o-dvizhenii/lider/</a:t>
            </a:r>
          </a:p>
          <a:p xmlns:a="http://schemas.openxmlformats.org/drawingml/2006/main">
            <a:r>
              <a:t>https://www.themoscowtimes.com/2024/01/19/ilya-ponomaryov-we-have-to-capture-the-kremlin-there-is-no-other-way-a83772</a:t>
            </a:r>
          </a:p>
          <a:p xmlns:a="http://schemas.openxmlformats.org/drawingml/2006/main">
            <a:r>
              <a:t>https://www.dw.com/ru/cto-izvestno-o-rossijskih-podrazdeleniah-v-sostave-vsu/a-63915634</a:t>
            </a:r>
          </a:p>
          <a:p xmlns:a="http://schemas.openxmlformats.org/drawingml/2006/main">
            <a:r>
              <a:t>https://www.svoboda.org/a/32321226.html</a:t>
            </a:r>
          </a:p>
          <a:p xmlns:a="http://schemas.openxmlformats.org/drawingml/2006/main">
            <a:r>
              <a:t>https://hromadske.ua/ru/posts/nasha-cel-moskva-my-dolzhny-sbrosit-putina-rossijskie-partizany-mif-ili-pravda</a:t>
            </a:r>
          </a:p>
          <a:p xmlns:a="http://schemas.openxmlformats.org/drawingml/2006/main">
            <a:r>
              <a:t>https://epravda.com.ua/rus/publications/2018/06/11/637572/</a:t>
            </a:r>
          </a:p>
          <a:p xmlns:a="http://schemas.openxmlformats.org/drawingml/2006/main">
            <a:r>
              <a:t>https://pointmedia.io/story/672b355fdc48800406e0f515</a:t>
            </a:r>
          </a:p>
          <a:p xmlns:a="http://schemas.openxmlformats.org/drawingml/2006/main">
            <a:r>
              <a:t>https://ru.wikipedia.org/wiki/%D0%9B%D0%B5%D0%B3%D0%B8%D0%BE%D0%BD_%C2%AB%D0%A1%D0%B2%D0%BE%D0%B1%D0%BE%D0%B4%D0%B0_%D0%A0%D0%BE%D1%81%D1%81%D0%B8%D0%B8%C2%BB</a:t>
            </a:r>
          </a:p>
          <a:p xmlns:a="http://schemas.openxmlformats.org/drawingml/2006/main">
            <a:r>
              <a:t>https://ru.wikipedia.org/wiki/%D0%9F%D0%BE%D0%BD%D0%BE%D0%BC%D0%B0%D1%80%D1%91%D0%B2,_%D0%98%D0%BB%D1%8C%D1%8F_%D0%92%D0%BB%D0%B0%D0%B4%D0%B8%D0%BC%D0%B8%D1%80%D0%BE%D0%B2%D0%B8%D1%87</a:t>
            </a:r>
          </a:p>
          <a:p xmlns:a="http://schemas.openxmlformats.org/drawingml/2006/main">
            <a:r>
              <a:t>https://russophob.ru/person/ponomarev_ilya_vladimirovich</a:t>
            </a:r>
          </a:p>
          <a:p xmlns:a="http://schemas.openxmlformats.org/drawingml/2006/main">
            <a:r>
              <a:t>https://www.svoboda.org/a/32063164.html</a:t>
            </a:r>
          </a:p>
          <a:p xmlns:a="http://schemas.openxmlformats.org/drawingml/2006/main">
            <a:r>
              <a:t>https://www.kpbs.org/news/news/international/2023/03/26/a-scrappy-newscast-in-kyiv-aimed-at-russians-counters-putins-propaganda-machine</a:t>
            </a:r>
          </a:p>
          <a:p xmlns:a="http://schemas.openxmlformats.org/drawingml/2006/main">
            <a:r>
              <a:t>https://ovd.info/express-news/2022/10/02/politik-leonid-gozman-uekhal-iz-rossii-posle-dvukh-administrativnykh</a:t>
            </a:r>
          </a:p>
          <a:p xmlns:a="http://schemas.openxmlformats.org/drawingml/2006/main">
            <a:r>
              <a:t>https://ovd.info/express-news/2022/08/30/politika-leonida-gozmana-arestovali-na-15-sutok-iz-za-posta-v-feysbuke</a:t>
            </a:r>
          </a:p>
          <a:p xmlns:a="http://schemas.openxmlformats.org/drawingml/2006/main">
            <a:r>
              <a:t>https://www.rbc.ru/politics/15/07/2022/62d1b3f39a7947299cdeb6a4</a:t>
            </a:r>
          </a:p>
          <a:p xmlns:a="http://schemas.openxmlformats.org/drawingml/2006/main">
            <a:r>
              <a:t>https://novayagazeta.eu/articles/2022/07/15/sk-doprosil-politika-leonida-gozmana-kak-podozrevaemogo-po-delu-o-neuvedomlenii-o-vtorom-grazhdanstve-news</a:t>
            </a:r>
          </a:p>
          <a:p xmlns:a="http://schemas.openxmlformats.org/drawingml/2006/main">
            <a:r>
              <a:t>https://www.rbc.ru/politics/15/02/2024/65cdc9e09a7947a2995026fa</a:t>
            </a:r>
          </a:p>
          <a:p xmlns:a="http://schemas.openxmlformats.org/drawingml/2006/main">
            <a:r>
              <a:t>https://ovd.info/express-news/2025/01/22/leonida-gozmana-i-rovshana-askerova-vnesli-v-reestr-terroristov-i</a:t>
            </a:r>
          </a:p>
          <a:p xmlns:a="http://schemas.openxmlformats.org/drawingml/2006/main">
            <a:r>
              <a:t>https://www.rbc.ru/opinion-authors/gozman</a:t>
            </a:r>
          </a:p>
          <a:p xmlns:a="http://schemas.openxmlformats.org/drawingml/2006/main">
            <a:r>
              <a:t>https://novayagazeta.eu/articles/2022/07/25/ovd-info-v-moskve-zaderzhali-politika-leonida-gozmana-news</a:t>
            </a:r>
          </a:p>
          <a:p xmlns:a="http://schemas.openxmlformats.org/drawingml/2006/main">
            <a:r>
              <a:t>https://gefter.ru/archive/23487</a:t>
            </a:r>
          </a:p>
          <a:p xmlns:a="http://schemas.openxmlformats.org/drawingml/2006/main">
            <a:r>
              <a:t>https://www.svoboda.org/a/31147156.html</a:t>
            </a:r>
          </a:p>
          <a:p xmlns:a="http://schemas.openxmlformats.org/drawingml/2006/main">
            <a:r>
              <a:t>https://uatv.ua/gozman-putin-zagnal-rossiyu-v-ugol-sleduyushhij-shag-repressii/</a:t>
            </a:r>
          </a:p>
          <a:p xmlns:a="http://schemas.openxmlformats.org/drawingml/2006/main">
            <a:r>
              <a:t>https://echofm.online/programs/hochu-skazat/hochu-skazat-odin-protiv-vseh-kak-ne-dat-strahu-pobedit-sebya</a:t>
            </a:r>
          </a:p>
          <a:p xmlns:a="http://schemas.openxmlformats.org/drawingml/2006/main">
            <a:r>
              <a:t>https://www.svoboda.org/a/leonid-gozman-russkih-lyudey-neljzya-mazatj-odnoy-chernoy-kraskoy-/32732625.html</a:t>
            </a:r>
          </a:p>
          <a:p xmlns:a="http://schemas.openxmlformats.org/drawingml/2006/main">
            <a:r>
              <a:t>https://novayagazeta.eu/articles/2022/07/18/prepiatstvovat-prosveshcheniiu-liudei-vlast-budet-pulemiotami</a:t>
            </a:r>
          </a:p>
          <a:p xmlns:a="http://schemas.openxmlformats.org/drawingml/2006/main">
            <a:r>
              <a:t>https://www.svoboda.org/a/29652429.html</a:t>
            </a:r>
          </a:p>
          <a:p xmlns:a="http://schemas.openxmlformats.org/drawingml/2006/main">
            <a:r>
              <a:t>https://novayagazeta.eu/articles/2022/04/26/nesobliudenie-rezhima</a:t>
            </a:r>
          </a:p>
          <a:p xmlns:a="http://schemas.openxmlformats.org/drawingml/2006/main">
            <a:r>
              <a:t>https://novayagazeta.eu/articles/2022/07/21/zapiski-ugolovnika</a:t>
            </a:r>
          </a:p>
          <a:p xmlns:a="http://schemas.openxmlformats.org/drawingml/2006/main">
            <a:r>
              <a:t>https://novayagazeta.ru/authors/2349</a:t>
            </a:r>
          </a:p>
          <a:p xmlns:a="http://schemas.openxmlformats.org/drawingml/2006/main">
            <a:r>
              <a:t>https://www.rbc.ru/politics/10/08/2017/598c8d6d9a79474cff05cbab</a:t>
            </a:r>
          </a:p>
          <a:p xmlns:a="http://schemas.openxmlformats.org/drawingml/2006/main">
            <a:r>
              <a:t>https://www.bbc.com/russian/news-40853405</a:t>
            </a:r>
          </a:p>
          <a:p xmlns:a="http://schemas.openxmlformats.org/drawingml/2006/main">
            <a:r>
              <a:t>https://www.rbc.ru/politics/10/08/2017/598c0a8e9a7947569574ba10?from=right_column_materials_1</a:t>
            </a:r>
          </a:p>
          <a:p xmlns:a="http://schemas.openxmlformats.org/drawingml/2006/main">
            <a:r>
              <a:t>https://www.vedomosti.ru/politics/articles/2017/08/10/728820-udaltsov</a:t>
            </a:r>
          </a:p>
          <a:p xmlns:a="http://schemas.openxmlformats.org/drawingml/2006/main">
            <a:r>
              <a:t>https://www.interfax.ru/elections2018/598382</a:t>
            </a:r>
          </a:p>
          <a:p xmlns:a="http://schemas.openxmlformats.org/drawingml/2006/main">
            <a:r>
              <a:t>https://sotaproject.com/article/sergeia-udaltsova-opiat-pytaiutsia-posadit-khotia-on-vsego-lish-prosit-putina-postroit-sotsializm</a:t>
            </a:r>
          </a:p>
          <a:p xmlns:a="http://schemas.openxmlformats.org/drawingml/2006/main">
            <a:r>
              <a:t>https://www.gazeta.ru/tags/person/sergei_udaltsov.shtml</a:t>
            </a:r>
          </a:p>
          <a:p xmlns:a="http://schemas.openxmlformats.org/drawingml/2006/main">
            <a:r>
              <a:t>https://www.kommersant.ru/doc/8317316</a:t>
            </a:r>
          </a:p>
          <a:p xmlns:a="http://schemas.openxmlformats.org/drawingml/2006/main">
            <a:r>
              <a:t>https://www.kommersant.ru/doc/8972418</a:t>
            </a:r>
          </a:p>
          <a:p xmlns:a="http://schemas.openxmlformats.org/drawingml/2006/main">
            <a:r>
              <a:t>https://holod.media/2023/09/12/udaltsov-interview/</a:t>
            </a:r>
          </a:p>
          <a:p xmlns:a="http://schemas.openxmlformats.org/drawingml/2006/main">
            <a:r>
              <a:t>https://meduza.io/feature/2024/01/11/sergey-udaltsov-zaderzhan-po-obvineniyu-v-opravdanii-terrorizma</a:t>
            </a:r>
          </a:p>
          <a:p xmlns:a="http://schemas.openxmlformats.org/drawingml/2006/main">
            <a:r>
              <a:t>https://ref-book.sova-center.ru/index.php/%D0%94%D1%80%D1%83%D0%B3%D0%B0%D1%8F_%D0%A0%D0%BE%D1%81%D1%81%D0%B8%D1%8F,_%D0%BF%D0%B0%D1%80%D1%82%D0%B8%D1%8F</a:t>
            </a:r>
          </a:p>
          <a:p xmlns:a="http://schemas.openxmlformats.org/drawingml/2006/main">
            <a:r>
              <a:t>https://www.rbc.ru/society/17/03/2020/5e71048d9a79473925ab81a7</a:t>
            </a:r>
          </a:p>
          <a:p xmlns:a="http://schemas.openxmlformats.org/drawingml/2006/main">
            <a:r>
              <a:t>https://rt.rbc.ru/society/18/03/2020/5e71acc49a794773553f824e</a:t>
            </a:r>
          </a:p>
          <a:p xmlns:a="http://schemas.openxmlformats.org/drawingml/2006/main">
            <a:r>
              <a:t>https://www.bostonglobe.com/metro/obituaries/2020/03/18/russian-author-political-activist-eduard-limonov-dies/jnjHywBRjVTTgnlsqI12vN/story.html</a:t>
            </a:r>
          </a:p>
          <a:p xmlns:a="http://schemas.openxmlformats.org/drawingml/2006/main">
            <a:r>
              <a:t>https://nsn.fm/society/poslednee-intervu-pisatelya-i-politika-eduarda-limonova</a:t>
            </a:r>
          </a:p>
          <a:p xmlns:a="http://schemas.openxmlformats.org/drawingml/2006/main">
            <a:r>
              <a:t>http://www.grso.ru/person/limonov-eduard.html</a:t>
            </a:r>
          </a:p>
          <a:p xmlns:a="http://schemas.openxmlformats.org/drawingml/2006/main">
            <a:r>
              <a:t>https://ru.wikipedia.org/wiki/%D0%94%D1%80%D1%83%D0%B3%D0%B0%D1%8F_%D0%A0%D0%BE%D1%81%D1%81%D0%B8%D1%8F_%D0%AD._%D0%92._%D0%9B%D0%B8%D0%BC%D0%BE%D0%BD%D0%BE%D0%B2%D0%B0</a:t>
            </a:r>
          </a:p>
          <a:p xmlns:a="http://schemas.openxmlformats.org/drawingml/2006/main">
            <a:r>
              <a:t>https://novayagazeta.ru/articles/2017/03/12/71752-puteshestvie-natsbolov-k-putinu-i-obratno</a:t>
            </a:r>
          </a:p>
          <a:p xmlns:a="http://schemas.openxmlformats.org/drawingml/2006/main">
            <a:r>
              <a:t>https://mediabrest.by/news/lyudi/umer-eduard-limonov-chem-zapomnilsya-pisatel</a:t>
            </a:r>
          </a:p>
          <a:p xmlns:a="http://schemas.openxmlformats.org/drawingml/2006/main">
            <a:r>
              <a:t>https://www.limonow.de/read/EL_2013-2018_T.html</a:t>
            </a:r>
          </a:p>
          <a:p xmlns:a="http://schemas.openxmlformats.org/drawingml/2006/main">
            <a:r>
              <a:t>https://www.infpol.ru/203662-ot-ubezhdennogo-antisovetchika-do-kolumnista-rt/</a:t>
            </a:r>
          </a:p>
          <a:p xmlns:a="http://schemas.openxmlformats.org/drawingml/2006/main">
            <a:r>
              <a:t>https://www.bbc.com/russian/articles/c2eg90d7gg9o</a:t>
            </a:r>
          </a:p>
          <a:p xmlns:a="http://schemas.openxmlformats.org/drawingml/2006/main">
            <a:r>
              <a:t>https://www.dw.com/ru/mosgorsud-prigovoril-igora-girkina-strelkova-k-4-godam-kolonii/a-68080937</a:t>
            </a:r>
          </a:p>
          <a:p xmlns:a="http://schemas.openxmlformats.org/drawingml/2006/main">
            <a:r>
              <a:t>https://www.fontanka.ru/2023/07/21/72520253</a:t>
            </a:r>
          </a:p>
          <a:p xmlns:a="http://schemas.openxmlformats.org/drawingml/2006/main">
            <a:r>
              <a:t>https://www.svoboda.org/a/strelkov-iz-sizo-opasayusj-amnistii-kak-u-prigozhina-/32722083.html</a:t>
            </a:r>
          </a:p>
          <a:p xmlns:a="http://schemas.openxmlformats.org/drawingml/2006/main">
            <a:r>
              <a:t>https://ru.themoscowtimes.com/2023/12/07/girkin-zayavil-chto-opasaetsya-povtorit-sudbu-prigozhina-a115592</a:t>
            </a:r>
          </a:p>
          <a:p xmlns:a="http://schemas.openxmlformats.org/drawingml/2006/main">
            <a:r>
              <a:t>https://ru.krymr.com/a/boing-mn17-10-let-podozrevayemyye-obvinyayemyye-vinovnyye/33040170.html</a:t>
            </a:r>
          </a:p>
          <a:p xmlns:a="http://schemas.openxmlformats.org/drawingml/2006/main">
            <a:r>
              <a:t>https://charter97.org/ru/news/2023/7/22/556802/</a:t>
            </a:r>
          </a:p>
          <a:p xmlns:a="http://schemas.openxmlformats.org/drawingml/2006/main">
            <a:r>
              <a:t>https://t.me/s/pgubarev?after=622</a:t>
            </a:r>
          </a:p>
          <a:p xmlns:a="http://schemas.openxmlformats.org/drawingml/2006/main">
            <a:r>
              <a:t>https://rabkor.ru/columns/debates/2023/05/23/angry_patriots_of_an_imaginary_country/</a:t>
            </a:r>
          </a:p>
          <a:p xmlns:a="http://schemas.openxmlformats.org/drawingml/2006/main">
            <a:r>
              <a:t>https://www.bbc.com/news/world-60947877</a:t>
            </a:r>
          </a:p>
          <a:p xmlns:a="http://schemas.openxmlformats.org/drawingml/2006/main">
            <a:r>
              <a:t>https://www.reuters.com/world/europe/russian-mercenary-boss-courts-putin-with-ukrainian-battlefield-success-2023-01-13/</a:t>
            </a:r>
          </a:p>
          <a:p xmlns:a="http://schemas.openxmlformats.org/drawingml/2006/main">
            <a:r>
              <a:t>https://www.reuters.com/world/europe/russias-wagner-mercenaries-halt-prisoner-recruitment-campaign-founder-prigozhin-2023-02-09/</a:t>
            </a:r>
          </a:p>
          <a:p xmlns:a="http://schemas.openxmlformats.org/drawingml/2006/main">
            <a:r>
              <a:t>https://www.reuters.com/investigates/special-report/ukraine-crisis-russia-wagner/</a:t>
            </a:r>
          </a:p>
          <a:p xmlns:a="http://schemas.openxmlformats.org/drawingml/2006/main">
            <a:r>
              <a:t>https://www.reuters.com/world/europe/russias-wagner-chief-prigozhin-says-ukraine-counteroffensive-already-under-way-2023-05-03/</a:t>
            </a:r>
          </a:p>
          <a:p xmlns:a="http://schemas.openxmlformats.org/drawingml/2006/main">
            <a:r>
              <a:t>https://www.bbc.com/russian/media-66023357</a:t>
            </a:r>
          </a:p>
          <a:p xmlns:a="http://schemas.openxmlformats.org/drawingml/2006/main">
            <a:r>
              <a:t>https://www.reuters.com/world/europe/russias-prigozhin-his-own-words-mutiny-2023-06-26/</a:t>
            </a:r>
          </a:p>
          <a:p xmlns:a="http://schemas.openxmlformats.org/drawingml/2006/main">
            <a:r>
              <a:t>https://x.com/Reuters/status/1632709213641113601</a:t>
            </a:r>
          </a:p>
          <a:p xmlns:a="http://schemas.openxmlformats.org/drawingml/2006/main">
            <a:r>
              <a:t>https://www.reuters.com/world/europe/russian-mercenary-boss-says-moscows-war-ukraine-based-lies-2023-06-23/</a:t>
            </a:r>
          </a:p>
          <a:p xmlns:a="http://schemas.openxmlformats.org/drawingml/2006/main">
            <a:r>
              <a:t>https://www.rbc.ru/spb_sz/02/10/2026/6abfb91afd4c7ff957d9cbe8</a:t>
            </a:r>
          </a:p>
          <a:p xmlns:a="http://schemas.openxmlformats.org/drawingml/2006/main">
            <a:r>
              <a:t>https://www.zaks.ru/new/person/view/639</a:t>
            </a:r>
          </a:p>
          <a:p xmlns:a="http://schemas.openxmlformats.org/drawingml/2006/main">
            <a:r>
              <a:t>https://www.zaks.ru/new/archive/view/219520</a:t>
            </a:r>
          </a:p>
          <a:p xmlns:a="http://schemas.openxmlformats.org/drawingml/2006/main">
            <a:r>
              <a:t>https://tvspb.ru/news/2016/09/27/novyij-sostav-parlamenta-kto-zajmet-kresla-v-zakonodatelnom-sobranii-vi-sozyiva</a:t>
            </a:r>
          </a:p>
          <a:p xmlns:a="http://schemas.openxmlformats.org/drawingml/2006/main">
            <a:r>
              <a:t>https://tass.ru/politika/20994233</a:t>
            </a:r>
          </a:p>
          <a:p xmlns:a="http://schemas.openxmlformats.org/drawingml/2006/main">
            <a:r>
              <a:t>https://www.zaks.ru/new/archive/view/265712</a:t>
            </a:r>
          </a:p>
          <a:p xmlns:a="http://schemas.openxmlformats.org/drawingml/2006/main">
            <a:r>
              <a:t>https://www.zaks.ru/new/archive/view/269374</a:t>
            </a:r>
          </a:p>
          <a:p xmlns:a="http://schemas.openxmlformats.org/drawingml/2006/main">
            <a:r>
              <a:t>https://www.dp.ru/a/2026/10/02/oksana-dmitrieva-proigrala</a:t>
            </a:r>
          </a:p>
          <a:p xmlns:a="http://schemas.openxmlformats.org/drawingml/2006/main">
            <a:r>
              <a:t>https://ru.wikipedia.org/wiki/%D0%9F%D0%B0%D1%80%D1%82%D0%B8%D1%8F_%D1%80%D0%BE%D1%81%D1%82%D0%B0</a:t>
            </a:r>
          </a:p>
          <a:p xmlns:a="http://schemas.openxmlformats.org/drawingml/2006/main">
            <a:r>
              <a:t>https://dmitrieva.org/category/gosduma/zakonoproekty/</a:t>
            </a:r>
          </a:p>
          <a:p xmlns:a="http://schemas.openxmlformats.org/drawingml/2006/main">
            <a:r>
              <a:t>https://t.me/s/oxdmitrieva?before=1072</a:t>
            </a:r>
          </a:p>
          <a:p xmlns:a="http://schemas.openxmlformats.org/drawingml/2006/main">
            <a:r>
              <a:t>http://api.duma.gov.ru/api/transcriptFull/2023-09-28</a:t>
            </a:r>
          </a:p>
          <a:p xmlns:a="http://schemas.openxmlformats.org/drawingml/2006/main">
            <a:r>
              <a:t>https://www.fontanka.ru/2026/09/04/76623983/</a:t>
            </a:r>
          </a:p>
          <a:p xmlns:a="http://schemas.openxmlformats.org/drawingml/2006/main">
            <a:r>
              <a:t>https://www.vedomosti.ru/politics/articles/2026/03/10/1181644-deputat-semi-sozivov-oksana-dmitrieva-snova-poidet-v-gosdumu</a:t>
            </a:r>
          </a:p>
          <a:p xmlns:a="http://schemas.openxmlformats.org/drawingml/2006/main">
            <a:r>
              <a:t>https://www.kommersant.ru/doc/8497588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"id": "C3",</a:t>
            </a:r>
          </a:p>
          <a:p xmlns:a="http://schemas.openxmlformats.org/drawingml/2006/main">
            <a:r>
              <a:t>  "name": "Конфронтационная мобилизация и персонализация",</a:t>
            </a:r>
          </a:p>
          <a:p xmlns:a="http://schemas.openxmlformats.org/drawingml/2006/main">
            <a:r>
              <a:t>  "count": 8,</a:t>
            </a:r>
          </a:p>
          <a:p xmlns:a="http://schemas.openxmlformats.org/drawingml/2006/main">
            <a:r>
              <a:t>  "members":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"vladimir-zhirinovsky",</a:t>
            </a:r>
          </a:p>
          <a:p xmlns:a="http://schemas.openxmlformats.org/drawingml/2006/main">
            <a:r>
              <a:t>      "name": "Владимир Жириновский"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"zakhar-prilepin",</a:t>
            </a:r>
          </a:p>
          <a:p xmlns:a="http://schemas.openxmlformats.org/drawingml/2006/main">
            <a:r>
              <a:t>      "name": "Захар Прилепин"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"ramzan-kadyrov",</a:t>
            </a:r>
          </a:p>
          <a:p xmlns:a="http://schemas.openxmlformats.org/drawingml/2006/main">
            <a:r>
              <a:t>      "name": "Рамзан Кадыров"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"ilya-ponomarev",</a:t>
            </a:r>
          </a:p>
          <a:p xmlns:a="http://schemas.openxmlformats.org/drawingml/2006/main">
            <a:r>
              <a:t>      "name": "Илья Пономарёв"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"sergey-udaltsov",</a:t>
            </a:r>
          </a:p>
          <a:p xmlns:a="http://schemas.openxmlformats.org/drawingml/2006/main">
            <a:r>
              <a:t>      "name": "Сергей Удальцов"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"eduard-limonov",</a:t>
            </a:r>
          </a:p>
          <a:p xmlns:a="http://schemas.openxmlformats.org/drawingml/2006/main">
            <a:r>
              <a:t>      "name": "Эдуард Лимонов"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"igor-strelkov",</a:t>
            </a:r>
          </a:p>
          <a:p xmlns:a="http://schemas.openxmlformats.org/drawingml/2006/main">
            <a:r>
              <a:t>      "name": "Игорь Стрелков (Гиркин)"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"yevgeny-prigozhin",</a:t>
            </a:r>
          </a:p>
          <a:p xmlns:a="http://schemas.openxmlformats.org/drawingml/2006/main">
            <a:r>
              <a:t>      "name": "Евгений Пригожин"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"representatives":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"eduard-limonov",</a:t>
            </a:r>
          </a:p>
          <a:p xmlns:a="http://schemas.openxmlformats.org/drawingml/2006/main">
            <a:r>
              <a:t>      "name": "Эдуард Лимонов",</a:t>
            </a:r>
          </a:p>
          <a:p xmlns:a="http://schemas.openxmlformats.org/drawingml/2006/main">
            <a:r>
              <a:t>      "distance": 0.20035149839938612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"igor-strelkov",</a:t>
            </a:r>
          </a:p>
          <a:p xmlns:a="http://schemas.openxmlformats.org/drawingml/2006/main">
            <a:r>
              <a:t>      "name": "Игорь Стрелков (Гиркин)",</a:t>
            </a:r>
          </a:p>
          <a:p xmlns:a="http://schemas.openxmlformats.org/drawingml/2006/main">
            <a:r>
              <a:t>      "distance": 0.716736357280981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"vladimir-zhirinovsky",</a:t>
            </a:r>
          </a:p>
          <a:p xmlns:a="http://schemas.openxmlformats.org/drawingml/2006/main">
            <a:r>
              <a:t>      "name": "Владимир Жириновский",</a:t>
            </a:r>
          </a:p>
          <a:p xmlns:a="http://schemas.openxmlformats.org/drawingml/2006/main">
            <a:r>
              <a:t>      "distance": 0.763387749984511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"zakhar-prilepin",</a:t>
            </a:r>
          </a:p>
          <a:p xmlns:a="http://schemas.openxmlformats.org/drawingml/2006/main">
            <a:r>
              <a:t>      "name": "Захар Прилепин",</a:t>
            </a:r>
          </a:p>
          <a:p xmlns:a="http://schemas.openxmlformats.org/drawingml/2006/main">
            <a:r>
              <a:t>      "distance": 0.821730424940153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"yevgeny-prigozhin",</a:t>
            </a:r>
          </a:p>
          <a:p xmlns:a="http://schemas.openxmlformats.org/drawingml/2006/main">
            <a:r>
              <a:t>      "name": "Евгений Пригожин",</a:t>
            </a:r>
          </a:p>
          <a:p xmlns:a="http://schemas.openxmlformats.org/drawingml/2006/main">
            <a:r>
              <a:t>      "distance": 0.827199864760167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"factor_center": {</a:t>
            </a:r>
          </a:p>
          <a:p xmlns:a="http://schemas.openxmlformats.org/drawingml/2006/main">
            <a:r>
              <a:t>    "F1": -0.8972136416865527,</a:t>
            </a:r>
          </a:p>
          <a:p xmlns:a="http://schemas.openxmlformats.org/drawingml/2006/main">
            <a:r>
              <a:t>    "F2": -1.6627903006923874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"distinguishing_scales":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"conflictuality",</a:t>
            </a:r>
          </a:p>
          <a:p xmlns:a="http://schemas.openxmlformats.org/drawingml/2006/main">
            <a:r>
              <a:t>      "name": "Конфронтация — компромисс",</a:t>
            </a:r>
          </a:p>
          <a:p xmlns:a="http://schemas.openxmlformats.org/drawingml/2006/main">
            <a:r>
              <a:t>      "positive": "Конфронтационная полемика и жёсткое противопоставление оппонентам",</a:t>
            </a:r>
          </a:p>
          <a:p xmlns:a="http://schemas.openxmlformats.org/drawingml/2006/main">
            <a:r>
              <a:t>      "negative": "Компромиссная и согласительная риторика",</a:t>
            </a:r>
          </a:p>
          <a:p xmlns:a="http://schemas.openxmlformats.org/drawingml/2006/main">
            <a:r>
              <a:t>      "difference": 1.488923870350911,</a:t>
            </a:r>
          </a:p>
          <a:p xmlns:a="http://schemas.openxmlformats.org/drawingml/2006/main">
            <a:r>
              <a:t>      "group_mean": 3.875,</a:t>
            </a:r>
          </a:p>
          <a:p xmlns:a="http://schemas.openxmlformats.org/drawingml/2006/main">
            <a:r>
              <a:t>      "overall_mean": 0.9180327868852459,</a:t>
            </a:r>
          </a:p>
          <a:p xmlns:a="http://schemas.openxmlformats.org/drawingml/2006/main">
            <a:r>
              <a:t>      "direction": "positive",</a:t>
            </a:r>
          </a:p>
          <a:p xmlns:a="http://schemas.openxmlformats.org/drawingml/2006/main">
            <a:r>
              <a:t>      "observed_group_count": 8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"mobilization-rhetoric",</a:t>
            </a:r>
          </a:p>
          <a:p xmlns:a="http://schemas.openxmlformats.org/drawingml/2006/main">
            <a:r>
              <a:t>      "name": "Мобилизационный призыв — обсуждение и убеждение",</a:t>
            </a:r>
          </a:p>
          <a:p xmlns:a="http://schemas.openxmlformats.org/drawingml/2006/main">
            <a:r>
              <a:t>      "positive": "Призывы к единению, дисциплине и чрезвычайной мобилизации",</a:t>
            </a:r>
          </a:p>
          <a:p xmlns:a="http://schemas.openxmlformats.org/drawingml/2006/main">
            <a:r>
              <a:t>      "negative": "Призывы к открытому обсуждению, сомнению и убеждению",</a:t>
            </a:r>
          </a:p>
          <a:p xmlns:a="http://schemas.openxmlformats.org/drawingml/2006/main">
            <a:r>
              <a:t>      "difference": 1.3252655727236584,</a:t>
            </a:r>
          </a:p>
          <a:p xmlns:a="http://schemas.openxmlformats.org/drawingml/2006/main">
            <a:r>
              <a:t>      "group_mean": 3.375,</a:t>
            </a:r>
          </a:p>
          <a:p xmlns:a="http://schemas.openxmlformats.org/drawingml/2006/main">
            <a:r>
              <a:t>      "overall_mean": 0.6379310344827587,</a:t>
            </a:r>
          </a:p>
          <a:p xmlns:a="http://schemas.openxmlformats.org/drawingml/2006/main">
            <a:r>
              <a:t>      "direction": "positive",</a:t>
            </a:r>
          </a:p>
          <a:p xmlns:a="http://schemas.openxmlformats.org/drawingml/2006/main">
            <a:r>
              <a:t>      "observed_group_count": 8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"media-personalization",</a:t>
            </a:r>
          </a:p>
          <a:p xmlns:a="http://schemas.openxmlformats.org/drawingml/2006/main">
            <a:r>
              <a:t>      "name": "Персональный бренд — коллективный институт",</a:t>
            </a:r>
          </a:p>
          <a:p xmlns:a="http://schemas.openxmlformats.org/drawingml/2006/main">
            <a:r>
              <a:t>      "positive": "Личный бренд и обращение от собственного имени",</a:t>
            </a:r>
          </a:p>
          <a:p xmlns:a="http://schemas.openxmlformats.org/drawingml/2006/main">
            <a:r>
              <a:t>      "negative": "Коллективное представительство и институциональное авторство",</a:t>
            </a:r>
          </a:p>
          <a:p xmlns:a="http://schemas.openxmlformats.org/drawingml/2006/main">
            <a:r>
              <a:t>      "difference": 1.310319286852374,</a:t>
            </a:r>
          </a:p>
          <a:p xmlns:a="http://schemas.openxmlformats.org/drawingml/2006/main">
            <a:r>
              <a:t>      "group_mean": 2.75,</a:t>
            </a:r>
          </a:p>
          <a:p xmlns:a="http://schemas.openxmlformats.org/drawingml/2006/main">
            <a:r>
              <a:t>      "overall_mean": -0.031746031746031744,</a:t>
            </a:r>
          </a:p>
          <a:p xmlns:a="http://schemas.openxmlformats.org/drawingml/2006/main">
            <a:r>
              <a:t>      "direction": "positive",</a:t>
            </a:r>
          </a:p>
          <a:p xmlns:a="http://schemas.openxmlformats.org/drawingml/2006/main">
            <a:r>
              <a:t>      "observed_group_count": 8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"parliamentary-institutional",</a:t>
            </a:r>
          </a:p>
          <a:p xmlns:a="http://schemas.openxmlformats.org/drawingml/2006/main">
            <a:r>
              <a:t>      "name": "Институциональная работа — протестное действие",</a:t>
            </a:r>
          </a:p>
          <a:p xmlns:a="http://schemas.openxmlformats.org/drawingml/2006/main">
            <a:r>
              <a:t>      "positive": "Изменения через действующие правовые и парламентские процедуры",</a:t>
            </a:r>
          </a:p>
          <a:p xmlns:a="http://schemas.openxmlformats.org/drawingml/2006/main">
            <a:r>
              <a:t>      "negative": "Изменения через внеинституциональное протестное давление",</a:t>
            </a:r>
          </a:p>
          <a:p xmlns:a="http://schemas.openxmlformats.org/drawingml/2006/main">
            <a:r>
              <a:t>      "difference": -1.3046202426591846,</a:t>
            </a:r>
          </a:p>
          <a:p xmlns:a="http://schemas.openxmlformats.org/drawingml/2006/main">
            <a:r>
              <a:t>      "group_mean": -1.75,</a:t>
            </a:r>
          </a:p>
          <a:p xmlns:a="http://schemas.openxmlformats.org/drawingml/2006/main">
            <a:r>
              <a:t>      "overall_mean": 1.7333333333333334,</a:t>
            </a:r>
          </a:p>
          <a:p xmlns:a="http://schemas.openxmlformats.org/drawingml/2006/main">
            <a:r>
              <a:t>      "direction": "negative",</a:t>
            </a:r>
          </a:p>
          <a:p xmlns:a="http://schemas.openxmlformats.org/drawingml/2006/main">
            <a:r>
              <a:t>      "observed_group_count": 8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"rhetorical-simplicity",</a:t>
            </a:r>
          </a:p>
          <a:p xmlns:a="http://schemas.openxmlformats.org/drawingml/2006/main">
            <a:r>
              <a:t>      "name": "Лозунговая простота — развёрнутая аргументация",</a:t>
            </a:r>
          </a:p>
          <a:p xmlns:a="http://schemas.openxmlformats.org/drawingml/2006/main">
            <a:r>
              <a:t>      "positive": "Краткие лозунги и обещания простых быстрых решений",</a:t>
            </a:r>
          </a:p>
          <a:p xmlns:a="http://schemas.openxmlformats.org/drawingml/2006/main">
            <a:r>
              <a:t>      "negative": "Развёрнутое объяснение механизмов, ограничений и альтернатив",</a:t>
            </a:r>
          </a:p>
          <a:p xmlns:a="http://schemas.openxmlformats.org/drawingml/2006/main">
            <a:r>
              <a:t>      "difference": 1.0128780817875038,</a:t>
            </a:r>
          </a:p>
          <a:p xmlns:a="http://schemas.openxmlformats.org/drawingml/2006/main">
            <a:r>
              <a:t>      "group_mean": 1.1428571428571428,</a:t>
            </a:r>
          </a:p>
          <a:p xmlns:a="http://schemas.openxmlformats.org/drawingml/2006/main">
            <a:r>
              <a:t>      "overall_mean": -0.5517241379310345,</a:t>
            </a:r>
          </a:p>
          <a:p xmlns:a="http://schemas.openxmlformats.org/drawingml/2006/main">
            <a:r>
              <a:t>      "direction": "positive",</a:t>
            </a:r>
          </a:p>
          <a:p xmlns:a="http://schemas.openxmlformats.org/drawingml/2006/main">
            <a:r>
              <a:t>      "observed_group_count": 7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"id": "national-patriotism",</a:t>
            </a:r>
          </a:p>
          <a:p xmlns:a="http://schemas.openxmlformats.org/drawingml/2006/main">
            <a:r>
              <a:t>      "name": "Национальная общность — универсальные права",</a:t>
            </a:r>
          </a:p>
          <a:p xmlns:a="http://schemas.openxmlformats.org/drawingml/2006/main">
            <a:r>
              <a:t>      "positive": "Особые интересы национальной общности и защита культурной идентичности",</a:t>
            </a:r>
          </a:p>
          <a:p xmlns:a="http://schemas.openxmlformats.org/drawingml/2006/main">
            <a:r>
              <a:t>      "negative": "Универсальные права и равное отношение независимо от национальной принадлежности",</a:t>
            </a:r>
          </a:p>
          <a:p xmlns:a="http://schemas.openxmlformats.org/drawingml/2006/main">
            <a:r>
              <a:t>      "difference": 0.9453587956142667,</a:t>
            </a:r>
          </a:p>
          <a:p xmlns:a="http://schemas.openxmlformats.org/drawingml/2006/main">
            <a:r>
              <a:t>      "group_mean": 3.7142857142857144,</a:t>
            </a:r>
          </a:p>
          <a:p xmlns:a="http://schemas.openxmlformats.org/drawingml/2006/main">
            <a:r>
              <a:t>      "overall_mean": 1.6956521739130435,</a:t>
            </a:r>
          </a:p>
          <a:p xmlns:a="http://schemas.openxmlformats.org/drawingml/2006/main">
            <a:r>
              <a:t>      "direction": "positive",</a:t>
            </a:r>
          </a:p>
          <a:p xmlns:a="http://schemas.openxmlformats.org/drawingml/2006/main">
            <a:r>
              <a:t>      "observed_group_count": 7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"interpretation": "Группа характеризуется выраженной конфронтационной риторикой, мобилизационными призывами, персонализированным стилем публичности и протестной стратегией. Здесь преобладают образы, строящиеся на личном бренде, лозунговой простоте, акценте на национальной идентичности и внеинституциональных формах действия. Типичные представители — лидеры радикальных движений, харизматические фигуры и деятели, использующие прямую мобилизацию и конфронтацию как основной инструмент публичной политики.\n\nВнутри группы возможны различия по идеологическим основаниям (от национал-патриотических до левых протестных), однако всех объединяет сочетание персонализации, конфликтности и мобилизационного стиля. Пограничность проявляется у тех, кто сочетает протестную риторику с элементами институциональной работы или коллективного авторства, но в целом группа выделяется по максимальной выраженности конфликтных и мобилизационных признаков.",</a:t>
            </a:r>
          </a:p>
          <a:p xmlns:a="http://schemas.openxmlformats.org/drawingml/2006/main">
            <a:r>
              <a:t>  "boundary_objects": [],</a:t>
            </a:r>
          </a:p>
          <a:p xmlns:a="http://schemas.openxmlformats.org/drawingml/2006/main">
            <a:r>
              <a:t>  "stability": {</a:t>
            </a:r>
          </a:p>
          <a:p xmlns:a="http://schemas.openxmlformats.org/drawingml/2006/main">
            <a:r>
              <a:t>    "median_jaccard": 1,</a:t>
            </a:r>
          </a:p>
          <a:p xmlns:a="http://schemas.openxmlformats.org/drawingml/2006/main">
            <a:r>
              <a:t>    "conditional_mean_ari": 0.9135227370355609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"numeric_label": "Группа 3",</a:t>
            </a:r>
          </a:p>
          <a:p xmlns:a="http://schemas.openxmlformats.org/drawingml/2006/main">
            <a:r>
              <a:t>  "label": "Конфронтационная мобилизация и персонализация"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Числа: metadata.json, scores.csv, loadings.csv и утверждённая матрица оценок.</a:t>
            </a:r>
          </a:p>
          <a:p xmlns:a="http://schemas.openxmlformats.org/drawingml/2006/main">
            <a:r>
              <a:t>Изучаемое пространство: Публичный политический образ российских политиков и иных заметных политических акторов, включая деятелей за рубежом, активных хотя бы в части периода. Не рейтинг популярности..</a:t>
            </a:r>
          </a:p>
          <a:p xmlns:a="http://schemas.openxmlformats.org/drawingml/2006/main">
            <a:r>
              <a:t>Оценщик: llm_exploratory.</a:t>
            </a:r>
          </a:p>
          <a:p xmlns:a="http://schemas.openxmlformats.org/drawingml/2006/main">
            <a:r>
              <a:t>Исходные URL:</a:t>
            </a:r>
          </a:p>
          <a:p xmlns:a="http://schemas.openxmlformats.org/drawingml/2006/main">
            <a:r>
              <a:t>https://kremlin.ru/structure/president</a:t>
            </a:r>
          </a:p>
          <a:p xmlns:a="http://schemas.openxmlformats.org/drawingml/2006/main">
            <a:r>
              <a:t>http://www.special.kremlin.ru/events/president/transcripts/67843</a:t>
            </a:r>
          </a:p>
          <a:p xmlns:a="http://schemas.openxmlformats.org/drawingml/2006/main">
            <a:r>
              <a:t>http://en.kremlin.ru/events/president/news/70315</a:t>
            </a:r>
          </a:p>
          <a:p xmlns:a="http://schemas.openxmlformats.org/drawingml/2006/main">
            <a:r>
              <a:t>http://special.kremlin.ru/events/president/transcripts/70565</a:t>
            </a:r>
          </a:p>
          <a:p xmlns:a="http://schemas.openxmlformats.org/drawingml/2006/main">
            <a:r>
              <a:t>http://special.kremlin.ru/events/president/transcripts/72994</a:t>
            </a:r>
          </a:p>
          <a:p xmlns:a="http://schemas.openxmlformats.org/drawingml/2006/main">
            <a:r>
              <a:t>http://kremlin.ru/events/president/news/73585</a:t>
            </a:r>
          </a:p>
          <a:p xmlns:a="http://schemas.openxmlformats.org/drawingml/2006/main">
            <a:r>
              <a:t>http://special.kremlin.ru/events/president/transcripts/75762</a:t>
            </a:r>
          </a:p>
          <a:p xmlns:a="http://schemas.openxmlformats.org/drawingml/2006/main">
            <a:r>
              <a:t>http://www.special.kremlin.ru/events/president/transcripts/76899</a:t>
            </a:r>
          </a:p>
          <a:p xmlns:a="http://schemas.openxmlformats.org/drawingml/2006/main">
            <a:r>
              <a:t>http://special.kremlin.ru/events/president/transcripts/80017</a:t>
            </a:r>
          </a:p>
          <a:p xmlns:a="http://schemas.openxmlformats.org/drawingml/2006/main">
            <a:r>
              <a:t>http://www.special.kremlin.ru/events/president/transcripts/72084</a:t>
            </a:r>
          </a:p>
          <a:p xmlns:a="http://schemas.openxmlformats.org/drawingml/2006/main">
            <a:r>
              <a:t>http://www.special.kremlin.ru/events/president/transcripts/80172</a:t>
            </a:r>
          </a:p>
          <a:p xmlns:a="http://schemas.openxmlformats.org/drawingml/2006/main">
            <a:r>
              <a:t>https://www.diva-portal.org/smash/get/diva2:2035197/FULLTEXT01.pdf</a:t>
            </a:r>
          </a:p>
          <a:p xmlns:a="http://schemas.openxmlformats.org/drawingml/2006/main">
            <a:r>
              <a:t>https://www.reuters.com/world/what-know-about-russias-upcoming-parliamentary-election-2026-09-15/</a:t>
            </a:r>
          </a:p>
          <a:p xmlns:a="http://schemas.openxmlformats.org/drawingml/2006/main">
            <a:r>
              <a:t>https://www.reuters.com/world/europe/how-putin-may-leverage-predictable-outcome-russias-elections-2026-09-18/</a:t>
            </a:r>
          </a:p>
          <a:p xmlns:a="http://schemas.openxmlformats.org/drawingml/2006/main">
            <a:r>
              <a:t>https://ru.wikipedia.org/wiki/Медведев,_Дмитрий_Анатольевич</a:t>
            </a:r>
          </a:p>
          <a:p xmlns:a="http://schemas.openxmlformats.org/drawingml/2006/main">
            <a:r>
              <a:t>https://tass.ru/ekonomika/3941450</a:t>
            </a:r>
          </a:p>
          <a:p xmlns:a="http://schemas.openxmlformats.org/drawingml/2006/main">
            <a:r>
              <a:t>http://archive.government.ru/docs/21653/print/</a:t>
            </a:r>
          </a:p>
          <a:p xmlns:a="http://schemas.openxmlformats.org/drawingml/2006/main">
            <a:r>
              <a:t>https://netfreedom.org.ua/ru/dmytro-anatoliiovych-medvediev-biohrafiia-posady-i-sanktsii/</a:t>
            </a:r>
          </a:p>
          <a:p xmlns:a="http://schemas.openxmlformats.org/drawingml/2006/main">
            <a:r>
              <a:t>https://verstka.media/czeli-svo-kak-kreml-menyal-ih-na-protyazhenii-tryoh-let-vojny</a:t>
            </a:r>
          </a:p>
          <a:p xmlns:a="http://schemas.openxmlformats.org/drawingml/2006/main">
            <a:r>
              <a:t>http://www.scrf.gov.ru/news/allnews/3820/</a:t>
            </a:r>
          </a:p>
          <a:p xmlns:a="http://schemas.openxmlformats.org/drawingml/2006/main">
            <a:r>
              <a:t>http://scrf.gov.ru/news/allnews/3837/</a:t>
            </a:r>
          </a:p>
          <a:p xmlns:a="http://schemas.openxmlformats.org/drawingml/2006/main">
            <a:r>
              <a:t>https://baike.baidu.com/ru/item/%D0%94%D0%BC%D0%B8%D1%82%D1%80%D0%B8%D0%B9%20%D0%90%D0%BD%D0%B0%D1%82%D0%BE%D0%BB%D1%8C%D0%B5%D0%B2%D0%B8%D1%87%20%D0%9C%D0%B5%D0%B4%D0%B2%D0%B5%D0%B4%D0%B5%D0%B2/3254451</a:t>
            </a:r>
          </a:p>
          <a:p xmlns:a="http://schemas.openxmlformats.org/drawingml/2006/main">
            <a:r>
              <a:t>https://tass.ru/politika/5889577</a:t>
            </a:r>
          </a:p>
          <a:p xmlns:a="http://schemas.openxmlformats.org/drawingml/2006/main">
            <a:r>
              <a:t>https://meduza.io/feature/2023/06/26/chto-proizoshlo-s-dmitriem-medvedevym</a:t>
            </a:r>
          </a:p>
          <a:p xmlns:a="http://schemas.openxmlformats.org/drawingml/2006/main">
            <a:r>
              <a:t>https://www.bbc.com/russian/articles/c6evw7d22lv0o</a:t>
            </a:r>
          </a:p>
          <a:p xmlns:a="http://schemas.openxmlformats.org/drawingml/2006/main">
            <a:r>
              <a:t>https://er.ru/activity/news/dmitrij-medvedev-edinaya-rossiya-ne-dopustit-razrusheniya-cennostnyh-osnov-strany</a:t>
            </a:r>
          </a:p>
          <a:p xmlns:a="http://schemas.openxmlformats.org/drawingml/2006/main">
            <a:r>
              <a:t>https://en.wikipedia.org/wiki/Media_freedom_in_Russia</a:t>
            </a:r>
          </a:p>
          <a:p xmlns:a="http://schemas.openxmlformats.org/drawingml/2006/main">
            <a:r>
              <a:t>https://government.ru/gov/persons/151/travel/?area=KHA</a:t>
            </a:r>
          </a:p>
          <a:p xmlns:a="http://schemas.openxmlformats.org/drawingml/2006/main">
            <a:r>
              <a:t>http://government.ru/gov/persons/151/biography/</a:t>
            </a:r>
          </a:p>
          <a:p xmlns:a="http://schemas.openxmlformats.org/drawingml/2006/main">
            <a:r>
              <a:t>https://www.reuters.com/world/europe/who-is-russias-mikhail-mishustin-2024-05-10/</a:t>
            </a:r>
          </a:p>
          <a:p xmlns:a="http://schemas.openxmlformats.org/drawingml/2006/main">
            <a:r>
              <a:t>https://www.kommersant.ru/doc/4220798</a:t>
            </a:r>
          </a:p>
          <a:p xmlns:a="http://schemas.openxmlformats.org/drawingml/2006/main">
            <a:r>
              <a:t>https://www.vedomosti.ru/politics/galleries/2026/03/03/1179718-nalogi-pod-kontrolem</a:t>
            </a:r>
          </a:p>
          <a:p xmlns:a="http://schemas.openxmlformats.org/drawingml/2006/main">
            <a:r>
              <a:t>http://government.ru/gov/persons/151/travel/?page=5</a:t>
            </a:r>
          </a:p>
          <a:p xmlns:a="http://schemas.openxmlformats.org/drawingml/2006/main">
            <a:r>
              <a:t>http://government.ru/news/46476/</a:t>
            </a:r>
          </a:p>
          <a:p xmlns:a="http://schemas.openxmlformats.org/drawingml/2006/main">
            <a:r>
              <a:t>http://government.ru/news/52063/</a:t>
            </a:r>
          </a:p>
          <a:p xmlns:a="http://schemas.openxmlformats.org/drawingml/2006/main">
            <a:r>
              <a:t>http://government.ru/news/52851/</a:t>
            </a:r>
          </a:p>
          <a:p xmlns:a="http://schemas.openxmlformats.org/drawingml/2006/main">
            <a:r>
              <a:t>https://nangs.org/news/society/kabmin-privlek-otdelnye-gosorgany-k-ukrepleniyu-traditsionnykh-tsennostej</a:t>
            </a:r>
          </a:p>
          <a:p xmlns:a="http://schemas.openxmlformats.org/drawingml/2006/main">
            <a:r>
              <a:t>http://government.ru/news/57315/</a:t>
            </a:r>
          </a:p>
          <a:p xmlns:a="http://schemas.openxmlformats.org/drawingml/2006/main">
            <a:r>
              <a:t>https://www.rbc.ru/person/617bf30d9a7947f92ee2d266</a:t>
            </a:r>
          </a:p>
          <a:p xmlns:a="http://schemas.openxmlformats.org/drawingml/2006/main">
            <a:r>
              <a:t>https://mid.ru/ru/press_service/video/view/1848395/</a:t>
            </a:r>
          </a:p>
          <a:p xmlns:a="http://schemas.openxmlformats.org/drawingml/2006/main">
            <a:r>
              <a:t>https://mid.ru/ru/foreign_policy/international_organizations/1932076/</a:t>
            </a:r>
          </a:p>
          <a:p xmlns:a="http://schemas.openxmlformats.org/drawingml/2006/main">
            <a:r>
              <a:t>https://mid.ru/ru/press_service/minister_speeches/1991476/</a:t>
            </a:r>
          </a:p>
          <a:p xmlns:a="http://schemas.openxmlformats.org/drawingml/2006/main">
            <a:r>
              <a:t>https://www.mid.ru/ru/press_service/vizity-ministra/1922112/</a:t>
            </a:r>
          </a:p>
          <a:p xmlns:a="http://schemas.openxmlformats.org/drawingml/2006/main">
            <a:r>
              <a:t>https://www.mid.ru/ru/foreign_policy/news/1927568/</a:t>
            </a:r>
          </a:p>
          <a:p xmlns:a="http://schemas.openxmlformats.org/drawingml/2006/main">
            <a:r>
              <a:t>https://mid.ru/ru/foreign_policy/news/1912973/</a:t>
            </a:r>
          </a:p>
          <a:p xmlns:a="http://schemas.openxmlformats.org/drawingml/2006/main">
            <a:r>
              <a:t>https://www.reuters.com/world/europe/russias-lavrov-says-moscow-committed-us-proposals-peace-rejects-europes-2026-06-15/</a:t>
            </a:r>
          </a:p>
          <a:p xmlns:a="http://schemas.openxmlformats.org/drawingml/2006/main">
            <a:r>
              <a:t>https://www.reuters.com/world/lavrov-says-russia-is-ready-resume-talks-with-ukraine-point-where-they-left-off-2026-06-23/</a:t>
            </a:r>
          </a:p>
          <a:p xmlns:a="http://schemas.openxmlformats.org/drawingml/2006/main">
            <a:r>
              <a:t>https://mid.ru/ru/press_service/video/view/1799184/</a:t>
            </a:r>
          </a:p>
          <a:p xmlns:a="http://schemas.openxmlformats.org/drawingml/2006/main">
            <a:r>
              <a:t>https://en.wikipedia.org/wiki/Sergey_Lavrov</a:t>
            </a:r>
          </a:p>
          <a:p xmlns:a="http://schemas.openxmlformats.org/drawingml/2006/main">
            <a:r>
              <a:t>https://www.garant.ru/products/ipo/prime/doc/70627660/</a:t>
            </a:r>
          </a:p>
          <a:p xmlns:a="http://schemas.openxmlformats.org/drawingml/2006/main">
            <a:r>
              <a:t>https://www.rbc.ru/person/617fc0679a794761d6170b80</a:t>
            </a:r>
          </a:p>
          <a:p xmlns:a="http://schemas.openxmlformats.org/drawingml/2006/main">
            <a:r>
              <a:t>http://www.kremlin.ru/acts/bank/50544</a:t>
            </a:r>
          </a:p>
          <a:p xmlns:a="http://schemas.openxmlformats.org/drawingml/2006/main">
            <a:r>
              <a:t>http://special.kremlin.ru/events/president/news/74019</a:t>
            </a:r>
          </a:p>
          <a:p xmlns:a="http://schemas.openxmlformats.org/drawingml/2006/main">
            <a:r>
              <a:t>https://www.interfax.ru/russia/960081</a:t>
            </a:r>
          </a:p>
          <a:p xmlns:a="http://schemas.openxmlformats.org/drawingml/2006/main">
            <a:r>
              <a:t>https://www.rbc.ru/politics/21/09/2022/632ab17c9a794781413c8582</a:t>
            </a:r>
          </a:p>
          <a:p xmlns:a="http://schemas.openxmlformats.org/drawingml/2006/main">
            <a:r>
              <a:t>https://www.bbc.com/russian/articles/c72p0jq04gjo</a:t>
            </a:r>
          </a:p>
          <a:p xmlns:a="http://schemas.openxmlformats.org/drawingml/2006/main">
            <a:r>
              <a:t>https://meduza.io/feature/2024/05/12/putin-uvolil-shoygu-s-posta-ministra-oborony-i-perevel-v-sovbez</a:t>
            </a:r>
          </a:p>
          <a:p xmlns:a="http://schemas.openxmlformats.org/drawingml/2006/main">
            <a:r>
              <a:t>https://paodkb.org/events/sergey-shoygu-naznachen-sekretarem-soveta-bezopasnosti-rf</a:t>
            </a:r>
          </a:p>
          <a:p xmlns:a="http://schemas.openxmlformats.org/drawingml/2006/main">
            <a:r>
              <a:t>https://base.garant.ru/409005084/</a:t>
            </a:r>
          </a:p>
          <a:p xmlns:a="http://schemas.openxmlformats.org/drawingml/2006/main">
            <a:r>
              <a:t>http://special.kremlin.ru/supplement/6345</a:t>
            </a:r>
          </a:p>
          <a:p xmlns:a="http://schemas.openxmlformats.org/drawingml/2006/main">
            <a:r>
              <a:t>http://en.kremlin.ru/supplement/6345</a:t>
            </a:r>
          </a:p>
          <a:p xmlns:a="http://schemas.openxmlformats.org/drawingml/2006/main">
            <a:r>
              <a:t>https://www.kp.ru/daily/27656.5/5040576/</a:t>
            </a:r>
          </a:p>
          <a:p xmlns:a="http://schemas.openxmlformats.org/drawingml/2006/main">
            <a:r>
              <a:t>https://www.fontanka.ru/2025/06/10/75574928/</a:t>
            </a:r>
          </a:p>
          <a:p xmlns:a="http://schemas.openxmlformats.org/drawingml/2006/main">
            <a:r>
              <a:t>https://tass.ru/politika/25506737</a:t>
            </a:r>
          </a:p>
          <a:p xmlns:a="http://schemas.openxmlformats.org/drawingml/2006/main">
            <a:r>
              <a:t>https://www.rbc.ru/person/6181419c9a7947df128a22f7</a:t>
            </a:r>
          </a:p>
          <a:p xmlns:a="http://schemas.openxmlformats.org/drawingml/2006/main">
            <a:r>
              <a:t>https://www.rbc.ru/economics/31/05/2021/60b3de5d9a7947f2883f7aa0</a:t>
            </a:r>
          </a:p>
          <a:p xmlns:a="http://schemas.openxmlformats.org/drawingml/2006/main">
            <a:r>
              <a:t>https://www.rbc.ru/politics/13/05/2024/6641109a9a7947ab8eebcf7f</a:t>
            </a:r>
          </a:p>
          <a:p xmlns:a="http://schemas.openxmlformats.org/drawingml/2006/main">
            <a:r>
              <a:t>https://www.rbc.ru/business/13/06/2023/6482d3389a79473805ee8978</a:t>
            </a:r>
          </a:p>
          <a:p xmlns:a="http://schemas.openxmlformats.org/drawingml/2006/main">
            <a:r>
              <a:t>https://thebell.io/kuda-vedet-ekonomiku-andrej-belousov-zagadki-dmitriya-medvedeva-i-sposoby-perezhit-sanktsii</a:t>
            </a:r>
          </a:p>
          <a:p xmlns:a="http://schemas.openxmlformats.org/drawingml/2006/main">
            <a:r>
              <a:t>https://72.ru/text/politics/2024/05/14/73575386/</a:t>
            </a:r>
          </a:p>
          <a:p xmlns:a="http://schemas.openxmlformats.org/drawingml/2006/main">
            <a:r>
              <a:t>https://tass.ru/armiya-i-opk/22683223</a:t>
            </a:r>
          </a:p>
          <a:p xmlns:a="http://schemas.openxmlformats.org/drawingml/2006/main">
            <a:r>
              <a:t>https://www.rbc.ru/society/12/12/2017/5a2f9b5a9a79473649fe0042</a:t>
            </a:r>
          </a:p>
          <a:p xmlns:a="http://schemas.openxmlformats.org/drawingml/2006/main">
            <a:r>
              <a:t>https://www.istorex.org/post/russia-december-2024-february-2025</a:t>
            </a:r>
          </a:p>
          <a:p xmlns:a="http://schemas.openxmlformats.org/drawingml/2006/main">
            <a:r>
              <a:t>https://rosinform.ru/news/andrej-belousov-osoboe-znachenie-pridayom-obespecheniyu-voennoj-bezopasnosti-soyuznogo-gosudarstva</a:t>
            </a:r>
          </a:p>
          <a:p xmlns:a="http://schemas.openxmlformats.org/drawingml/2006/main">
            <a:r>
              <a:t>https://xn--b1apnk.xn--p1ai/tpost/nsk7vo4xh1-vstrecha-s-ministrom-oboroni-rossii-i-os</a:t>
            </a:r>
          </a:p>
          <a:p xmlns:a="http://schemas.openxmlformats.org/drawingml/2006/main">
            <a:r>
              <a:t>https://www.rbc.ru/person/62d120d89a79475f0ddd8b5e</a:t>
            </a:r>
          </a:p>
          <a:p xmlns:a="http://schemas.openxmlformats.org/drawingml/2006/main">
            <a:r>
              <a:t>http://scrf.gov.ru/news/allnews/2148/</a:t>
            </a:r>
          </a:p>
          <a:p xmlns:a="http://schemas.openxmlformats.org/drawingml/2006/main">
            <a:r>
              <a:t>https://www.rbc.ru/politics/14/05/2024/6643287b9a7947a8f0b8ba78</a:t>
            </a:r>
          </a:p>
          <a:p xmlns:a="http://schemas.openxmlformats.org/drawingml/2006/main">
            <a:r>
              <a:t>https://tass.ru/info/20789699</a:t>
            </a:r>
          </a:p>
          <a:p xmlns:a="http://schemas.openxmlformats.org/drawingml/2006/main">
            <a:r>
              <a:t>https://marine.org.ru/structure/person/56/</a:t>
            </a:r>
          </a:p>
          <a:p xmlns:a="http://schemas.openxmlformats.org/drawingml/2006/main">
            <a:r>
              <a:t>https://marine.org.ru/publication/smi/16108/</a:t>
            </a:r>
          </a:p>
          <a:p xmlns:a="http://schemas.openxmlformats.org/drawingml/2006/main">
            <a:r>
              <a:t>https://www.svoboda.org/a/30676123.html</a:t>
            </a:r>
          </a:p>
          <a:p xmlns:a="http://schemas.openxmlformats.org/drawingml/2006/main">
            <a:r>
              <a:t>https://aif.ru/society/safety/kuklovodstvo_k_deystviyu_nikolay_patrushev_o_metodah_cvetnyh_revolyuciy</a:t>
            </a:r>
          </a:p>
          <a:p xmlns:a="http://schemas.openxmlformats.org/drawingml/2006/main">
            <a:r>
              <a:t>https://vkrizis.info/vlast/czennosti-razmyvaniya/</a:t>
            </a:r>
          </a:p>
          <a:p xmlns:a="http://schemas.openxmlformats.org/drawingml/2006/main">
            <a:r>
              <a:t>https://infranomica.ru/2026/05/19/selskoe-hozyajstvo-est-rezultat-budet-i-pishha/</a:t>
            </a:r>
          </a:p>
          <a:p xmlns:a="http://schemas.openxmlformats.org/drawingml/2006/main">
            <a:r>
              <a:t>https://www.rbc.ru/person/660400989a79471b36dbb514</a:t>
            </a:r>
          </a:p>
          <a:p xmlns:a="http://schemas.openxmlformats.org/drawingml/2006/main">
            <a:r>
              <a:t>http://special.kremlin.ru/catalog/persons/100/events</a:t>
            </a:r>
          </a:p>
          <a:p xmlns:a="http://schemas.openxmlformats.org/drawingml/2006/main">
            <a:r>
              <a:t>https://nac.gov.ru/view/eb008ff4-1608-4b47-b2a9-3d604c1833c2</a:t>
            </a:r>
          </a:p>
          <a:p xmlns:a="http://schemas.openxmlformats.org/drawingml/2006/main">
            <a:r>
              <a:t>http://pfo.gov.ru/press/events/113336/</a:t>
            </a:r>
          </a:p>
          <a:p xmlns:a="http://schemas.openxmlformats.org/drawingml/2006/main">
            <a:r>
              <a:t>https://www.opensanctions.org/entities/Q516824/</a:t>
            </a:r>
          </a:p>
          <a:p xmlns:a="http://schemas.openxmlformats.org/drawingml/2006/main">
            <a:r>
              <a:t>https://www.agents.media/ssha-poprobuyut-vozobnovit-peregovory-o-mire-v-ukraine-cherez-glavu-fsb-che-vedomstvo-kak-schitaetsya-svoimi-dokladami-podtolknulo-putina-k-vojne/</a:t>
            </a:r>
          </a:p>
          <a:p xmlns:a="http://schemas.openxmlformats.org/drawingml/2006/main">
            <a:r>
              <a:t>https://letters.kremlin.ru/news/receptions/by-section/assignments/by-person/260</a:t>
            </a:r>
          </a:p>
          <a:p xmlns:a="http://schemas.openxmlformats.org/drawingml/2006/main">
            <a:r>
              <a:t>https://www.kommersant.ru/doc/3612580</a:t>
            </a:r>
          </a:p>
          <a:p xmlns:a="http://schemas.openxmlformats.org/drawingml/2006/main">
            <a:r>
              <a:t>https://fbk.info/ru/investigations/kirienko-kholyi-putina</a:t>
            </a:r>
          </a:p>
          <a:p xmlns:a="http://schemas.openxmlformats.org/drawingml/2006/main">
            <a:r>
              <a:t>https://utro02.tv/2022/05/24/kolebaniya-kirienok/</a:t>
            </a:r>
          </a:p>
          <a:p xmlns:a="http://schemas.openxmlformats.org/drawingml/2006/main">
            <a:r>
              <a:t>https://meduza.io/feature/2023/12/19/on-peresidel-v-svoem-kresle-v-kremle-i-pravitelstve-obsuzhdayut-chto-sergey-kirienko-mozhet-lishitsya-dolzhnosti-v-ap-posle-vyborov-prezidenta</a:t>
            </a:r>
          </a:p>
          <a:p xmlns:a="http://schemas.openxmlformats.org/drawingml/2006/main">
            <a:r>
              <a:t>https://verstka.media/kak-rossiya-prodvigaet-svoyu-molodezhnuyu-politiku-na-okkupirovannyh-territoriyah</a:t>
            </a:r>
          </a:p>
          <a:p xmlns:a="http://schemas.openxmlformats.org/drawingml/2006/main">
            <a:r>
              <a:t>https://dnrnews.ru/society/2025/09/04/1167117.html</a:t>
            </a:r>
          </a:p>
          <a:p xmlns:a="http://schemas.openxmlformats.org/drawingml/2006/main">
            <a:r>
              <a:t>https://www.tadviser.ru/index.php/%D0%9F%D0%B5%D1%80%D1%81%D0%BE%D0%BD%D0%B0:%D0%9A%D0%B8%D1%80%D0%B8%D0%B5%D0%BD%D0%BA%D0%BE_%D0%A1%D0%B5%D1%80%D0%B3%D0%B5%D0%B9_%D0%92%D0%BB%D0%B0%D0%B4%D0%B8%D0%BB%D0%B5%D0%BD%D0%BE%D0%B2%D0%B8%D1%87</a:t>
            </a:r>
          </a:p>
          <a:p xmlns:a="http://schemas.openxmlformats.org/drawingml/2006/main">
            <a:r>
              <a:t>https://tass.ru/politika/18225741</a:t>
            </a:r>
          </a:p>
          <a:p xmlns:a="http://schemas.openxmlformats.org/drawingml/2006/main">
            <a:r>
              <a:t>https://www.kommersant.ru/doc/6187168</a:t>
            </a:r>
          </a:p>
          <a:p xmlns:a="http://schemas.openxmlformats.org/drawingml/2006/main">
            <a:r>
              <a:t>https://duma.gov.ru/news/63383/</a:t>
            </a:r>
          </a:p>
          <a:p xmlns:a="http://schemas.openxmlformats.org/drawingml/2006/main">
            <a:r>
              <a:t>http://duma.gov.ru/en/duma/persons/99100829/news/</a:t>
            </a:r>
          </a:p>
          <a:p xmlns:a="http://schemas.openxmlformats.org/drawingml/2006/main">
            <a:r>
              <a:t>http://duma.gov.ru/en/news/62248/</a:t>
            </a:r>
          </a:p>
          <a:p xmlns:a="http://schemas.openxmlformats.org/drawingml/2006/main">
            <a:r>
              <a:t>http://duma.gov.ru/en/news/61352/</a:t>
            </a:r>
          </a:p>
          <a:p xmlns:a="http://schemas.openxmlformats.org/drawingml/2006/main">
            <a:r>
              <a:t>http://duma.gov.ru/en/news/64178/</a:t>
            </a:r>
          </a:p>
          <a:p xmlns:a="http://schemas.openxmlformats.org/drawingml/2006/main">
            <a:r>
              <a:t>http://duma.gov.ru/en/news/64216</a:t>
            </a:r>
          </a:p>
          <a:p xmlns:a="http://schemas.openxmlformats.org/drawingml/2006/main">
            <a:r>
              <a:t>http://duma.gov.ru/en/news/64239</a:t>
            </a:r>
          </a:p>
          <a:p xmlns:a="http://schemas.openxmlformats.org/drawingml/2006/main">
            <a:r>
              <a:t>https://en.wikipedia.org/wiki/Vyacheslav_Volodin</a:t>
            </a:r>
          </a:p>
          <a:p xmlns:a="http://schemas.openxmlformats.org/drawingml/2006/main">
            <a:r>
              <a:t>http://duma.gov.ru/news/56060/</a:t>
            </a:r>
          </a:p>
          <a:p xmlns:a="http://schemas.openxmlformats.org/drawingml/2006/main">
            <a:r>
              <a:t>http://duma.gov.ru/news/60448/</a:t>
            </a:r>
          </a:p>
          <a:p xmlns:a="http://schemas.openxmlformats.org/drawingml/2006/main">
            <a:r>
              <a:t>http://duma.gov.ru/news/61362/</a:t>
            </a:r>
          </a:p>
          <a:p xmlns:a="http://schemas.openxmlformats.org/drawingml/2006/main">
            <a:r>
              <a:t>http://duma.gov.ru/news/61384/</a:t>
            </a:r>
          </a:p>
          <a:p xmlns:a="http://schemas.openxmlformats.org/drawingml/2006/main">
            <a:r>
              <a:t>http://duma.gov.ru/news/61874/</a:t>
            </a:r>
          </a:p>
          <a:p xmlns:a="http://schemas.openxmlformats.org/drawingml/2006/main">
            <a:r>
              <a:t>http://duma.gov.ru/news/62022/</a:t>
            </a:r>
          </a:p>
          <a:p xmlns:a="http://schemas.openxmlformats.org/drawingml/2006/main">
            <a:r>
              <a:t>http://duma.gov.ru/news/63772/</a:t>
            </a:r>
          </a:p>
          <a:p xmlns:a="http://schemas.openxmlformats.org/drawingml/2006/main">
            <a:r>
              <a:t>https://council.gov.ru/events/news/160466/</a:t>
            </a:r>
          </a:p>
          <a:p xmlns:a="http://schemas.openxmlformats.org/drawingml/2006/main">
            <a:r>
              <a:t>http://council.gov.ru/structure/persons/257/</a:t>
            </a:r>
          </a:p>
          <a:p xmlns:a="http://schemas.openxmlformats.org/drawingml/2006/main">
            <a:r>
              <a:t>https://interaffairs.ru/news/show/16199</a:t>
            </a:r>
          </a:p>
          <a:p xmlns:a="http://schemas.openxmlformats.org/drawingml/2006/main">
            <a:r>
              <a:t>https://www.rbc.ru/person/617fb5ef9a79475c6cfc4502</a:t>
            </a:r>
          </a:p>
          <a:p xmlns:a="http://schemas.openxmlformats.org/drawingml/2006/main">
            <a:r>
              <a:t>https://vksrs.com/publications/matvienko-rasskazala-o-neobkhodimosti-protivostoyat-geroizatsii-natsistov/</a:t>
            </a:r>
          </a:p>
          <a:p xmlns:a="http://schemas.openxmlformats.org/drawingml/2006/main">
            <a:r>
              <a:t>https://absatz.media/politika/158438-valentine-matvienko-77-istoriya-uspeha-put-k-vershine-i-samye-yarkie-zayavleniya</a:t>
            </a:r>
          </a:p>
          <a:p xmlns:a="http://schemas.openxmlformats.org/drawingml/2006/main">
            <a:r>
              <a:t>https://www.rbc.ru/society/14/10/2026/6acf597c9a794743e0478a15?from=short_news</a:t>
            </a:r>
          </a:p>
          <a:p xmlns:a="http://schemas.openxmlformats.org/drawingml/2006/main">
            <a:r>
              <a:t>https://senatinform.ru/news/sf_stremitsya_byt_maksimalno_otkrytym_dlya_raboty_zhurnalistov_matvienko/</a:t>
            </a:r>
          </a:p>
          <a:p xmlns:a="http://schemas.openxmlformats.org/drawingml/2006/main">
            <a:r>
              <a:t>https://eparlament.irzs.ru/Files/getFile/11853</a:t>
            </a:r>
          </a:p>
          <a:p xmlns:a="http://schemas.openxmlformats.org/drawingml/2006/main">
            <a:r>
              <a:t>http://special.council.gov.ru/activity/meetings/170703/transcript/</a:t>
            </a:r>
          </a:p>
          <a:p xmlns:a="http://schemas.openxmlformats.org/drawingml/2006/main">
            <a:r>
              <a:t>https://bookonlime.ru/lecture/12-razvitie-ekonomicheskih-otnosheniy-i-strategicheskoe-planirovanie-v-cifrovoy-ekonomike-2</a:t>
            </a:r>
          </a:p>
          <a:p xmlns:a="http://schemas.openxmlformats.org/drawingml/2006/main">
            <a:r>
              <a:t>https://ru.wikipedia.org/wiki/Песков,_Дмитрий_Сергеевич</a:t>
            </a:r>
          </a:p>
          <a:p xmlns:a="http://schemas.openxmlformats.org/drawingml/2006/main">
            <a:r>
              <a:t>https://www.reuters.com/world/europe/kremlin-says-ukraine-is-now-paying-price-its-own-attacks-russia-2026-09-28/</a:t>
            </a:r>
          </a:p>
          <a:p xmlns:a="http://schemas.openxmlformats.org/drawingml/2006/main">
            <a:r>
              <a:t>https://www.reuters.com/world/europe/kremlin-rejects-le-penbardella-rebuke-says-russia-is-no-threat-france-2026-09-21/</a:t>
            </a:r>
          </a:p>
          <a:p xmlns:a="http://schemas.openxmlformats.org/drawingml/2006/main">
            <a:r>
              <a:t>https://theins.ru/antifake/295208</a:t>
            </a:r>
          </a:p>
          <a:p xmlns:a="http://schemas.openxmlformats.org/drawingml/2006/main">
            <a:r>
              <a:t>https://expert.ru/news/v-kremle-otvetili-na-slova-donalda-trampa-o-rossiyskom-vmeshatelstve</a:t>
            </a:r>
          </a:p>
          <a:p xmlns:a="http://schemas.openxmlformats.org/drawingml/2006/main">
            <a:r>
              <a:t>https://www.dw.com/ru/dmitrij-peskov/t-18146676/page-1</a:t>
            </a:r>
          </a:p>
          <a:p xmlns:a="http://schemas.openxmlformats.org/drawingml/2006/main">
            <a:r>
              <a:t>https://www.pnp.ru/person/dmitriy--peskov/</a:t>
            </a:r>
          </a:p>
          <a:p xmlns:a="http://schemas.openxmlformats.org/drawingml/2006/main">
            <a:r>
              <a:t>https://www.rbc.ua/ukr/dossier/peskov-19032015</a:t>
            </a:r>
          </a:p>
          <a:p xmlns:a="http://schemas.openxmlformats.org/drawingml/2006/main">
            <a:r>
              <a:t>https://www.rbc.ru/politics/12/10/2026/6accae3bb18f4460834ce063</a:t>
            </a:r>
          </a:p>
          <a:p xmlns:a="http://schemas.openxmlformats.org/drawingml/2006/main">
            <a:r>
              <a:t>https://tass.ru/politika/20355193</a:t>
            </a:r>
          </a:p>
          <a:p xmlns:a="http://schemas.openxmlformats.org/drawingml/2006/main">
            <a:r>
              <a:t>https://www.m24.ru/news/06052024/689412</a:t>
            </a:r>
          </a:p>
          <a:p xmlns:a="http://schemas.openxmlformats.org/drawingml/2006/main">
            <a:r>
              <a:t>http://www.kremlin.ru/acts/bank/48502</a:t>
            </a:r>
          </a:p>
          <a:p xmlns:a="http://schemas.openxmlformats.org/drawingml/2006/main">
            <a:r>
              <a:t>https://www.m24.ru/news/11022025/769070</a:t>
            </a:r>
          </a:p>
          <a:p xmlns:a="http://schemas.openxmlformats.org/drawingml/2006/main">
            <a:r>
              <a:t>https://www.m24.ru/news/23042026/894202</a:t>
            </a:r>
          </a:p>
          <a:p xmlns:a="http://schemas.openxmlformats.org/drawingml/2006/main">
            <a:r>
              <a:t>https://cbr.ru/about_br/nabiullinaes/</a:t>
            </a:r>
          </a:p>
          <a:p xmlns:a="http://schemas.openxmlformats.org/drawingml/2006/main">
            <a:r>
              <a:t>https://cbr.ru/press/event/?id=12840</a:t>
            </a:r>
          </a:p>
          <a:p xmlns:a="http://schemas.openxmlformats.org/drawingml/2006/main">
            <a:r>
              <a:t>https://www.cbr.ru/press/event/?id=12904</a:t>
            </a:r>
          </a:p>
          <a:p xmlns:a="http://schemas.openxmlformats.org/drawingml/2006/main">
            <a:r>
              <a:t>https://cbr.ru/press/event/?id=14033</a:t>
            </a:r>
          </a:p>
          <a:p xmlns:a="http://schemas.openxmlformats.org/drawingml/2006/main">
            <a:r>
              <a:t>https://www.cbr.ru/press/event/?id=12764</a:t>
            </a:r>
          </a:p>
          <a:p xmlns:a="http://schemas.openxmlformats.org/drawingml/2006/main">
            <a:r>
              <a:t>https://kazanfirst.ru/articles/534335</a:t>
            </a:r>
          </a:p>
          <a:p xmlns:a="http://schemas.openxmlformats.org/drawingml/2006/main">
            <a:r>
              <a:t>https://www.rbc.ru/person/65e831449a79476cbfd8e5fd</a:t>
            </a:r>
          </a:p>
          <a:p xmlns:a="http://schemas.openxmlformats.org/drawingml/2006/main">
            <a:r>
              <a:t>https://www.interfax.ru/russia/955290</a:t>
            </a:r>
          </a:p>
          <a:p xmlns:a="http://schemas.openxmlformats.org/drawingml/2006/main">
            <a:r>
              <a:t>https://minfin.gov.ru/ru/press-center/?id_4=38548-intervyu_ministra_finansov_antona_siluanova_gazete_argumenty_i_fakty</a:t>
            </a:r>
          </a:p>
          <a:p xmlns:a="http://schemas.openxmlformats.org/drawingml/2006/main">
            <a:r>
              <a:t>https://minfin.gov.ru/ru/press-center/?id_4=37667-vystuplenie_antona_siluanova_na_plenarnom_zasedanii_v_gosudarstvennoi_dume</a:t>
            </a:r>
          </a:p>
          <a:p xmlns:a="http://schemas.openxmlformats.org/drawingml/2006/main">
            <a:r>
              <a:t>https://www.rbc.ru/economics/24/10/2022/63529d159a7947efb82a59eb</a:t>
            </a:r>
          </a:p>
          <a:p xmlns:a="http://schemas.openxmlformats.org/drawingml/2006/main">
            <a:r>
              <a:t>https://www.rbc.ru/newspaper/2020/02/21/5e4e83289a79474bcf9f8cf9</a:t>
            </a:r>
          </a:p>
          <a:p xmlns:a="http://schemas.openxmlformats.org/drawingml/2006/main">
            <a:r>
              <a:t>https://www.rbc.ru/economics/20/02/2020/5e4e91919a79475559478893</a:t>
            </a:r>
          </a:p>
          <a:p xmlns:a="http://schemas.openxmlformats.org/drawingml/2006/main">
            <a:r>
              <a:t>https://minfin.gov.ru/ru/press-center/?id_4=39336-anton_siluanov_predstavil_na_parlamentskikh_slushaniyakh_v_sovete_federatsii_proekt_byudzheta_na_2025-2027_gg.</a:t>
            </a:r>
          </a:p>
          <a:p xmlns:a="http://schemas.openxmlformats.org/drawingml/2006/main">
            <a:r>
              <a:t>https://www.interfax.ru/amp/1035506</a:t>
            </a:r>
          </a:p>
          <a:p xmlns:a="http://schemas.openxmlformats.org/drawingml/2006/main">
            <a:r>
              <a:t>https://tass.ru/ekonomika/28198121</a:t>
            </a:r>
          </a:p>
          <a:p xmlns:a="http://schemas.openxmlformats.org/drawingml/2006/main">
            <a:r>
              <a:t>https://www.rbc.ru/person/65b9f4369a7947ec8a7f242a</a:t>
            </a:r>
          </a:p>
          <a:p xmlns:a="http://schemas.openxmlformats.org/drawingml/2006/main">
            <a:r>
              <a:t>https://www.bfm.ru/news/435050</a:t>
            </a:r>
          </a:p>
          <a:p xmlns:a="http://schemas.openxmlformats.org/drawingml/2006/main">
            <a:r>
              <a:t>https://ru.ruwiki.ru/wiki/%D0%93%D0%BE%D0%BB%D0%B8%D0%BA%D0%BE%D0%B2%D0%B0,_%D0%A2%D0%B0%D1%82%D1%8C%D1%8F%D0%BD%D0%B0_%D0%90%D0%BB%D0%B5%D0%BA%D1%81%D0%B5%D0%B5%D0%B2%D0%BD%D0%B0</a:t>
            </a:r>
          </a:p>
          <a:p xmlns:a="http://schemas.openxmlformats.org/drawingml/2006/main">
            <a:r>
              <a:t>http://www.kremlin.ru/events/president/transcripts/deliberations%20/77439</a:t>
            </a:r>
          </a:p>
          <a:p xmlns:a="http://schemas.openxmlformats.org/drawingml/2006/main">
            <a:r>
              <a:t>https://xn--90aivcdt6dxbc.xn--p1ai/articles/news/prezident-zdravookhranenie-zanimaet-klyuchevoe-mesto-v-sotsialnoy-politike-rossii/</a:t>
            </a:r>
          </a:p>
          <a:p xmlns:a="http://schemas.openxmlformats.org/drawingml/2006/main">
            <a:r>
              <a:t>https://xn--90aivcdt6dxbc.xn--p1ai/articles/news/tatyana-golikova-edinaya-rossiya-nadezhnyy-soyuznik-i-partner-pravitelstva/</a:t>
            </a:r>
          </a:p>
          <a:p xmlns:a="http://schemas.openxmlformats.org/drawingml/2006/main">
            <a:r>
              <a:t>http://government.ru/news/58648/</a:t>
            </a:r>
          </a:p>
          <a:p xmlns:a="http://schemas.openxmlformats.org/drawingml/2006/main">
            <a:r>
              <a:t>http://government.ru/news/54912/</a:t>
            </a:r>
          </a:p>
          <a:p xmlns:a="http://schemas.openxmlformats.org/drawingml/2006/main">
            <a:r>
              <a:t>http://government.ru/news/58000/</a:t>
            </a:r>
          </a:p>
          <a:p xmlns:a="http://schemas.openxmlformats.org/drawingml/2006/main">
            <a:r>
              <a:t>https://tass.ru/politika/28141547</a:t>
            </a:r>
          </a:p>
          <a:p xmlns:a="http://schemas.openxmlformats.org/drawingml/2006/main">
            <a:r>
              <a:t>https://duma.gov.ru/media/files/smUklOtuNPyzwTneQGCfFUHHIsilAqcm.pdf</a:t>
            </a:r>
          </a:p>
          <a:p xmlns:a="http://schemas.openxmlformats.org/drawingml/2006/main">
            <a:r>
              <a:t>https://kprf.ru/dep/gosduma/activities/187187.html</a:t>
            </a:r>
          </a:p>
          <a:p xmlns:a="http://schemas.openxmlformats.org/drawingml/2006/main">
            <a:r>
              <a:t>http://msk.kprf.ru/2022/08/22/222866/</a:t>
            </a:r>
          </a:p>
          <a:p xmlns:a="http://schemas.openxmlformats.org/drawingml/2006/main">
            <a:r>
              <a:t>https://kprf.ru/party-live/cknews/235903.html</a:t>
            </a:r>
          </a:p>
          <a:p xmlns:a="http://schemas.openxmlformats.org/drawingml/2006/main">
            <a:r>
              <a:t>https://kprf.ru/dep/gosduma/activities/236198.html/print</a:t>
            </a:r>
          </a:p>
          <a:p xmlns:a="http://schemas.openxmlformats.org/drawingml/2006/main">
            <a:r>
              <a:t>https://kprf.ru/dep/gosduma/activities/239812.html</a:t>
            </a:r>
          </a:p>
          <a:p xmlns:a="http://schemas.openxmlformats.org/drawingml/2006/main">
            <a:r>
              <a:t>https://kprf-don.ru/index.php/news/facts/12501-2025-09-15-12-58-35.html</a:t>
            </a:r>
          </a:p>
          <a:p xmlns:a="http://schemas.openxmlformats.org/drawingml/2006/main">
            <a:r>
              <a:t>https://kprf.ru/dep/gosduma/activities/237529.html</a:t>
            </a:r>
          </a:p>
          <a:p xmlns:a="http://schemas.openxmlformats.org/drawingml/2006/main">
            <a:r>
              <a:t>https://novayagazeta.ru/articles/2025/09/19/putin-udivilsia-khodu-zapushchennoi-im-vesnoi-munitsipalnoi-reformy-posle-slov-ziuganova-kak-regiony-dlia-nee-lomali-cherez-koleno-a-tatarstan-otkazalsia-ee-ispolniat-news</a:t>
            </a:r>
          </a:p>
          <a:p xmlns:a="http://schemas.openxmlformats.org/drawingml/2006/main">
            <a:r>
              <a:t>https://kprf.ru/official/2025/11/15/15-noiabria-2025-oda-sostoialsia-ii-noiabrskii-plenum-tsk-kprf/473.html</a:t>
            </a:r>
          </a:p>
          <a:p xmlns:a="http://schemas.openxmlformats.org/drawingml/2006/main">
            <a:r>
              <a:t>https://www.rbc.ru/person/617bfbb79a7947fc327a3bcb</a:t>
            </a:r>
          </a:p>
          <a:p xmlns:a="http://schemas.openxmlformats.org/drawingml/2006/main">
            <a:r>
              <a:t>https://www.bbc.com/russian/features-60873381</a:t>
            </a:r>
          </a:p>
          <a:p xmlns:a="http://schemas.openxmlformats.org/drawingml/2006/main">
            <a:r>
              <a:t>https://www.svoboda.org/a/umer-lider-partii-ldpr-vladimir-zhirinovskiy-nekrolog/31770134.html</a:t>
            </a:r>
          </a:p>
          <a:p xmlns:a="http://schemas.openxmlformats.org/drawingml/2006/main">
            <a:r>
              <a:t>https://www.rbc.ru/politics/06/04/2022/624d661b9a79473f7416fe26</a:t>
            </a:r>
          </a:p>
          <a:p xmlns:a="http://schemas.openxmlformats.org/drawingml/2006/main">
            <a:r>
              <a:t>https://tass.ru/politika/3392889</a:t>
            </a:r>
          </a:p>
          <a:p xmlns:a="http://schemas.openxmlformats.org/drawingml/2006/main">
            <a:r>
              <a:t>https://www.pnp.ru/politics/2016/06/28/v-centre-predvybornoy-programmy-ldpr-russkiy-vopros.html</a:t>
            </a:r>
          </a:p>
          <a:p xmlns:a="http://schemas.openxmlformats.org/drawingml/2006/main">
            <a:r>
              <a:t>https://ldpr.ru/party/history/</a:t>
            </a:r>
          </a:p>
          <a:p xmlns:a="http://schemas.openxmlformats.org/drawingml/2006/main">
            <a:r>
              <a:t>https://govoritmoskva.ru/interviews/1023/</a:t>
            </a:r>
          </a:p>
          <a:p xmlns:a="http://schemas.openxmlformats.org/drawingml/2006/main">
            <a:r>
              <a:t>https://www.gazeta.ru/politics/2017/03/17_a_10580999.shtml</a:t>
            </a:r>
          </a:p>
          <a:p xmlns:a="http://schemas.openxmlformats.org/drawingml/2006/main">
            <a:r>
              <a:t>https://ldpr.ru/upload/iblock/c88/1d6dstdexz6aw7dnwoubeobhr3mnwa1j/a799616e688866c49f2ef6b5b8cfe5c00d45080ae85ce0e5f6d36e2e010681d9.pdf</a:t>
            </a:r>
          </a:p>
          <a:p xmlns:a="http://schemas.openxmlformats.org/drawingml/2006/main">
            <a:r>
              <a:t>https://www.kommersant.ru/doc/3579566</a:t>
            </a:r>
          </a:p>
          <a:p xmlns:a="http://schemas.openxmlformats.org/drawingml/2006/main">
            <a:r>
              <a:t>https://spb.ldpr.ru/event/243915/</a:t>
            </a:r>
          </a:p>
          <a:p xmlns:a="http://schemas.openxmlformats.org/drawingml/2006/main">
            <a:r>
              <a:t>https://kursk.ldpr.ru/event/341398</a:t>
            </a:r>
          </a:p>
          <a:p xmlns:a="http://schemas.openxmlformats.org/drawingml/2006/main">
            <a:r>
              <a:t>https://cyberleninka.ru/article/n/sravnitelnyy-analiz-predvybornyh-programm-ldpr-na-vyborah-2021-g-i-l-e-slutskogo-na-vyborah-2024-g</a:t>
            </a:r>
          </a:p>
          <a:p xmlns:a="http://schemas.openxmlformats.org/drawingml/2006/main">
            <a:r>
              <a:t>https://kcr.ldpr.ru/event/347999/</a:t>
            </a:r>
          </a:p>
          <a:p xmlns:a="http://schemas.openxmlformats.org/drawingml/2006/main">
            <a:r>
              <a:t>https://msknews77.ru/society/2025/09/25/73500.html</a:t>
            </a:r>
          </a:p>
          <a:p xmlns:a="http://schemas.openxmlformats.org/drawingml/2006/main">
            <a:r>
              <a:t>https://bagaevka-press.ru/besplatnyj-zemelnyj-uchastok-dlya-semej-inicziativa-ldpr/</a:t>
            </a:r>
          </a:p>
          <a:p xmlns:a="http://schemas.openxmlformats.org/drawingml/2006/main">
            <a:r>
              <a:t>https://ldpr.ru/event/437527/</a:t>
            </a:r>
          </a:p>
          <a:p xmlns:a="http://schemas.openxmlformats.org/drawingml/2006/main">
            <a:r>
              <a:t>https://rg62.info/2025/11/01/leonid-sluczkij-vstupilsya-za-multserial-masha-i-medved/</a:t>
            </a:r>
          </a:p>
          <a:p xmlns:a="http://schemas.openxmlformats.org/drawingml/2006/main">
            <a:r>
              <a:t>https://mironov.ru/officially</a:t>
            </a:r>
          </a:p>
          <a:p xmlns:a="http://schemas.openxmlformats.org/drawingml/2006/main">
            <a:r>
              <a:t>https://mironov.ru/bio</a:t>
            </a:r>
          </a:p>
          <a:p xmlns:a="http://schemas.openxmlformats.org/drawingml/2006/main">
            <a:r>
              <a:t>https://mironov-online.ru/category/zayavleniya/</a:t>
            </a:r>
          </a:p>
          <a:p xmlns:a="http://schemas.openxmlformats.org/drawingml/2006/main">
            <a:r>
              <a:t>https://www.rbc.ru/person/69806d279a7947baf86c32c5</a:t>
            </a:r>
          </a:p>
          <a:p xmlns:a="http://schemas.openxmlformats.org/drawingml/2006/main">
            <a:r>
              <a:t>https://spravedlivo.ru/16303010</a:t>
            </a:r>
          </a:p>
          <a:p xmlns:a="http://schemas.openxmlformats.org/drawingml/2006/main">
            <a:r>
              <a:t>http://mironov.ru/15133910</a:t>
            </a:r>
          </a:p>
          <a:p xmlns:a="http://schemas.openxmlformats.org/drawingml/2006/main">
            <a:r>
              <a:t>http://www.special.spravedlivo.ru/5_140609.html</a:t>
            </a:r>
          </a:p>
          <a:p xmlns:a="http://schemas.openxmlformats.org/drawingml/2006/main">
            <a:r>
              <a:t>https://spravedlivo.ru/14681110</a:t>
            </a:r>
          </a:p>
          <a:p xmlns:a="http://schemas.openxmlformats.org/drawingml/2006/main">
            <a:r>
              <a:t>https://radiokp.ru/podcast/dialogi-na-radio-kp/759263</a:t>
            </a:r>
          </a:p>
          <a:p xmlns:a="http://schemas.openxmlformats.org/drawingml/2006/main">
            <a:r>
              <a:t>https://mironov.ru/51339910</a:t>
            </a:r>
          </a:p>
          <a:p xmlns:a="http://schemas.openxmlformats.org/drawingml/2006/main">
            <a:r>
              <a:t>https://mironov-online.ru/news/mironov-na-ukraine-idet-bitva-za-budushhee-vsego-chelovechestva-i-pobeda-v-nej-budet-za-rossiej/</a:t>
            </a:r>
          </a:p>
          <a:p xmlns:a="http://schemas.openxmlformats.org/drawingml/2006/main">
            <a:r>
              <a:t>https://spravedlivo.ru/12544510</a:t>
            </a:r>
          </a:p>
          <a:p xmlns:a="http://schemas.openxmlformats.org/drawingml/2006/main">
            <a:r>
              <a:t>https://www.rbc.ru/person/6aa3ef199a79475758621730</a:t>
            </a:r>
          </a:p>
          <a:p xmlns:a="http://schemas.openxmlformats.org/drawingml/2006/main">
            <a:r>
              <a:t>https://www.rbc.ru/politics/24/09/2021/614da73f9a7947b5e3d9399f</a:t>
            </a:r>
          </a:p>
          <a:p xmlns:a="http://schemas.openxmlformats.org/drawingml/2006/main">
            <a:r>
              <a:t>https://amp.rbc.ru/rbcnews/base/14/08/2026/6a957dfb9a79476ae3d823ba</a:t>
            </a:r>
          </a:p>
          <a:p xmlns:a="http://schemas.openxmlformats.org/drawingml/2006/main">
            <a:r>
              <a:t>https://en.wikipedia.org/wiki/Alexey_Nechayev</a:t>
            </a:r>
          </a:p>
          <a:p xmlns:a="http://schemas.openxmlformats.org/drawingml/2006/main">
            <a:r>
              <a:t>https://www.gazeta.ru/politics/23422027/novye-lyudi-na-vyborah-2026-goda.shtml</a:t>
            </a:r>
          </a:p>
          <a:p xmlns:a="http://schemas.openxmlformats.org/drawingml/2006/main">
            <a:r>
              <a:t>https://vremya-bir.ru/2026/03/07/dvenadtsat-shagov-k-strane-v-kotoroj-hochetsya-zhit/</a:t>
            </a:r>
          </a:p>
          <a:p xmlns:a="http://schemas.openxmlformats.org/drawingml/2006/main">
            <a:r>
              <a:t>https://www.rbc.ru/politics/08/09/2026/6aa023ec9a79471e4fd55d3c</a:t>
            </a:r>
          </a:p>
          <a:p xmlns:a="http://schemas.openxmlformats.org/drawingml/2006/main">
            <a:r>
              <a:t>https://www.interfax.ru/interview/1074248</a:t>
            </a:r>
          </a:p>
          <a:p xmlns:a="http://schemas.openxmlformats.org/drawingml/2006/main">
            <a:r>
              <a:t>https://www.interfax.ru/amp/1074248</a:t>
            </a:r>
          </a:p>
          <a:p xmlns:a="http://schemas.openxmlformats.org/drawingml/2006/main">
            <a:r>
              <a:t>https://www.vedomosti.ru/politics/articles/2026/09/09/1227352-novie-lyudi-sformulirovali-programmu</a:t>
            </a:r>
          </a:p>
          <a:p xmlns:a="http://schemas.openxmlformats.org/drawingml/2006/main">
            <a:r>
              <a:t>https://dddkursk.ru/lenta/2026/07/30/129483/</a:t>
            </a:r>
          </a:p>
          <a:p xmlns:a="http://schemas.openxmlformats.org/drawingml/2006/main">
            <a:r>
              <a:t>https://volga.news/article/803292.html</a:t>
            </a:r>
          </a:p>
          <a:p xmlns:a="http://schemas.openxmlformats.org/drawingml/2006/main">
            <a:r>
              <a:t>https://ru.wikipedia.org/wiki/%D0%9D%D0%B5%D1%87%D0%B0%D0%B5%D0%B2,_%D0%90%D0%BB%D0%B5%D0%BA%D1%81%D0%B5%D0%B9_%D0%93%D0%B5%D0%BD%D0%BD%D0%B0%D0%B4%D1%8C%D0%B5%D0%B2%D0%B8%D1%87</a:t>
            </a:r>
          </a:p>
          <a:p xmlns:a="http://schemas.openxmlformats.org/drawingml/2006/main">
            <a:r>
              <a:t>https://www.davankov2024.ru/page_biography/</a:t>
            </a:r>
          </a:p>
          <a:p xmlns:a="http://schemas.openxmlformats.org/drawingml/2006/main">
            <a:r>
              <a:t>https://davankov2024.ru/program</a:t>
            </a:r>
          </a:p>
          <a:p xmlns:a="http://schemas.openxmlformats.org/drawingml/2006/main">
            <a:r>
              <a:t>http://vote.duma.gov.ru/?convocation=AAAAAAA8&amp;deputy=99113489&amp;sort=date_desc</a:t>
            </a:r>
          </a:p>
          <a:p xmlns:a="http://schemas.openxmlformats.org/drawingml/2006/main">
            <a:r>
              <a:t>https://holod.media/2024/02/14/vladislav-davankov/</a:t>
            </a:r>
          </a:p>
          <a:p xmlns:a="http://schemas.openxmlformats.org/drawingml/2006/main">
            <a:r>
              <a:t>https://davankov2024.ru/</a:t>
            </a:r>
          </a:p>
          <a:p xmlns:a="http://schemas.openxmlformats.org/drawingml/2006/main">
            <a:r>
              <a:t>https://novayagazeta.eu/articles/2024/02/15/davankov-predstavil-predvybornuiu-programmu-bez-amnistii-politzakliuchennykh-i-s-namereniem-dobitsia-mira-na-nashikh-usloviiakh-news</a:t>
            </a:r>
          </a:p>
          <a:p xmlns:a="http://schemas.openxmlformats.org/drawingml/2006/main">
            <a:r>
              <a:t>https://www.kavkaz-uzel.eu/articles/398113</a:t>
            </a:r>
          </a:p>
          <a:p xmlns:a="http://schemas.openxmlformats.org/drawingml/2006/main">
            <a:r>
              <a:t>https://echofm.online/portret-dnya/portret-dnya-vladislav-davankov-kandidat-v-prezidenty-rossii</a:t>
            </a:r>
          </a:p>
          <a:p xmlns:a="http://schemas.openxmlformats.org/drawingml/2006/main">
            <a:r>
              <a:t>https://t.me/s/davankov?before=788</a:t>
            </a:r>
          </a:p>
          <a:p xmlns:a="http://schemas.openxmlformats.org/drawingml/2006/main">
            <a:r>
              <a:t>https://zaharprilepin.ru/ru/bio/</a:t>
            </a:r>
          </a:p>
          <a:p xmlns:a="http://schemas.openxmlformats.org/drawingml/2006/main">
            <a:r>
              <a:t>https://zaharprilepin.ru/ru/video/zapisi-vistuplenij/intervju/</a:t>
            </a:r>
          </a:p>
          <a:p xmlns:a="http://schemas.openxmlformats.org/drawingml/2006/main">
            <a:r>
              <a:t>https://zaharprilepin.ru/ru/pressa/intervyu/na-harkov.html</a:t>
            </a:r>
          </a:p>
          <a:p xmlns:a="http://schemas.openxmlformats.org/drawingml/2006/main">
            <a:r>
              <a:t>https://www.kommersant.ru/doc/4141912</a:t>
            </a:r>
          </a:p>
          <a:p xmlns:a="http://schemas.openxmlformats.org/drawingml/2006/main">
            <a:r>
              <a:t>https://novayagazeta.eu/articles/2023/05/06/plokhoi-uchenik-limonova</a:t>
            </a:r>
          </a:p>
          <a:p xmlns:a="http://schemas.openxmlformats.org/drawingml/2006/main">
            <a:r>
              <a:t>https://tass.ru/politika/11761037</a:t>
            </a:r>
          </a:p>
          <a:p xmlns:a="http://schemas.openxmlformats.org/drawingml/2006/main">
            <a:r>
              <a:t>https://www.nn.ru/text/politics/2021/10/11/70186523/</a:t>
            </a:r>
          </a:p>
          <a:p xmlns:a="http://schemas.openxmlformats.org/drawingml/2006/main">
            <a:r>
              <a:t>https://www.zaks.ru/new/archive/view/267194</a:t>
            </a:r>
          </a:p>
          <a:p xmlns:a="http://schemas.openxmlformats.org/drawingml/2006/main">
            <a:r>
              <a:t>https://spravedlivo.ru/11288710</a:t>
            </a:r>
          </a:p>
          <a:p xmlns:a="http://schemas.openxmlformats.org/drawingml/2006/main">
            <a:r>
              <a:t>https://www.kommersant.ru/doc/4241515</a:t>
            </a:r>
          </a:p>
          <a:p xmlns:a="http://schemas.openxmlformats.org/drawingml/2006/main">
            <a:r>
              <a:t>https://zaharprilepin.ru/ru/pressa/intervyu/radio-komsomolskaja-pravda-10022021.html</a:t>
            </a:r>
          </a:p>
          <a:p xmlns:a="http://schemas.openxmlformats.org/drawingml/2006/main">
            <a:r>
              <a:t>https://pozneronline.ru/2024/04/36826/</a:t>
            </a:r>
          </a:p>
          <a:p xmlns:a="http://schemas.openxmlformats.org/drawingml/2006/main">
            <a:r>
              <a:t>https://www.rbc.ru/person/62a85a259a7947b9ae5d6360</a:t>
            </a:r>
          </a:p>
          <a:p xmlns:a="http://schemas.openxmlformats.org/drawingml/2006/main">
            <a:r>
              <a:t>https://tass.ru/encyclopedia/person/poklonskaya-natalya-vladimirovna</a:t>
            </a:r>
          </a:p>
          <a:p xmlns:a="http://schemas.openxmlformats.org/drawingml/2006/main">
            <a:r>
              <a:t>https://tass.ru/tag/poklonskaya-natalya-vladimirovna</a:t>
            </a:r>
          </a:p>
          <a:p xmlns:a="http://schemas.openxmlformats.org/drawingml/2006/main">
            <a:r>
              <a:t>https://www.bbc.com/russian/features-44801571</a:t>
            </a:r>
          </a:p>
          <a:p xmlns:a="http://schemas.openxmlformats.org/drawingml/2006/main">
            <a:r>
              <a:t>https://www.rbc.ru/rbcfreenews/5ba8bd499a794792294ba05d</a:t>
            </a:r>
          </a:p>
          <a:p xmlns:a="http://schemas.openxmlformats.org/drawingml/2006/main">
            <a:r>
              <a:t>https://www.dp.ru/a/2018/08/31/Poklonskaja_otreazirovala</a:t>
            </a:r>
          </a:p>
          <a:p xmlns:a="http://schemas.openxmlformats.org/drawingml/2006/main">
            <a:r>
              <a:t>https://www.themoscowtimes.com/2022/06/13/former-crimea-prosecutor-dismissed-after-anti-war-comments-a77983</a:t>
            </a:r>
          </a:p>
          <a:p xmlns:a="http://schemas.openxmlformats.org/drawingml/2006/main">
            <a:r>
              <a:t>https://www.rbc.ru/politics/30/06/2023/649dee189a79473e3fdc8906</a:t>
            </a:r>
          </a:p>
          <a:p xmlns:a="http://schemas.openxmlformats.org/drawingml/2006/main">
            <a:r>
              <a:t>http://council.gov.ru/structure/persons/1044/</a:t>
            </a:r>
          </a:p>
          <a:p xmlns:a="http://schemas.openxmlformats.org/drawingml/2006/main">
            <a:r>
              <a:t>http://council.gov.ru/services/reference/9156/</a:t>
            </a:r>
          </a:p>
          <a:p xmlns:a="http://schemas.openxmlformats.org/drawingml/2006/main">
            <a:r>
              <a:t>http://council.gov.ru/events/news/135415/</a:t>
            </a:r>
          </a:p>
          <a:p xmlns:a="http://schemas.openxmlformats.org/drawingml/2006/main">
            <a:r>
              <a:t>https://24smi.org/celebrity/1156-elena-mizulina.html</a:t>
            </a:r>
          </a:p>
          <a:p xmlns:a="http://schemas.openxmlformats.org/drawingml/2006/main">
            <a:r>
              <a:t>https://www.bfometr.ru/blog/elena-mizulina</a:t>
            </a:r>
          </a:p>
          <a:p xmlns:a="http://schemas.openxmlformats.org/drawingml/2006/main">
            <a:r>
              <a:t>https://www.rbc.ru/society/30/03/2018/5abe1b849a79470dc3826f68</a:t>
            </a:r>
          </a:p>
          <a:p xmlns:a="http://schemas.openxmlformats.org/drawingml/2006/main">
            <a:r>
              <a:t>https://uznayvse.ru/znamenitosti/biografiya-elena-mizulina.html</a:t>
            </a:r>
          </a:p>
          <a:p xmlns:a="http://schemas.openxmlformats.org/drawingml/2006/main">
            <a:r>
              <a:t>https://radiokp.ru/people/elena-mizulina</a:t>
            </a:r>
          </a:p>
          <a:p xmlns:a="http://schemas.openxmlformats.org/drawingml/2006/main">
            <a:r>
              <a:t>https://ru.wikipedia.org/wiki/%D0%9C%D0%B8%D0%B7%D1%83%D0%BB%D0%B8%D0%BD%D0%B0,_%D0%95%D0%BB%D0%B5%D0%BD%D0%B0_%D0%91%D0%BE%D1%80%D0%B8%D1%81%D0%BE%D0%B2%D0%BD%D0%B0</a:t>
            </a:r>
          </a:p>
          <a:p xmlns:a="http://schemas.openxmlformats.org/drawingml/2006/main">
            <a:r>
              <a:t>https://ru.wikipedia.org/wiki/Милонов,_Виталий_Валентинович</a:t>
            </a:r>
          </a:p>
          <a:p xmlns:a="http://schemas.openxmlformats.org/drawingml/2006/main">
            <a:r>
              <a:t>https://tass.ru/encyclopedia/person/milonov-vitaliy-valentinovich</a:t>
            </a:r>
          </a:p>
          <a:p xmlns:a="http://schemas.openxmlformats.org/drawingml/2006/main">
            <a:r>
              <a:t>https://www.pnp.ru/person/vitaliy-milonov/</a:t>
            </a:r>
          </a:p>
          <a:p xmlns:a="http://schemas.openxmlformats.org/drawingml/2006/main">
            <a:r>
              <a:t>https://www.zaks.ru/new/person/view/172</a:t>
            </a:r>
          </a:p>
          <a:p xmlns:a="http://schemas.openxmlformats.org/drawingml/2006/main">
            <a:r>
              <a:t>https://svpressa.ru/persons/vitaliy-milonov/</a:t>
            </a:r>
          </a:p>
          <a:p xmlns:a="http://schemas.openxmlformats.org/drawingml/2006/main">
            <a:r>
              <a:t>https://stuki-druki.com/authors/Milonov-Vitaliy.php</a:t>
            </a:r>
          </a:p>
          <a:p xmlns:a="http://schemas.openxmlformats.org/drawingml/2006/main">
            <a:r>
              <a:t>https://pa.inion.ru/persons/7104/</a:t>
            </a:r>
          </a:p>
          <a:p xmlns:a="http://schemas.openxmlformats.org/drawingml/2006/main">
            <a:r>
              <a:t>https://pa.inion.ru/documents/16503/</a:t>
            </a:r>
          </a:p>
          <a:p xmlns:a="http://schemas.openxmlformats.org/drawingml/2006/main">
            <a:r>
              <a:t>https://pa.inion.ru/documents/27860/</a:t>
            </a:r>
          </a:p>
          <a:p xmlns:a="http://schemas.openxmlformats.org/drawingml/2006/main">
            <a:r>
              <a:t>https://kprf.ru/personal/ostanina</a:t>
            </a:r>
          </a:p>
          <a:p xmlns:a="http://schemas.openxmlformats.org/drawingml/2006/main">
            <a:r>
              <a:t>https://pa.inion.ru/documents/25577/</a:t>
            </a:r>
          </a:p>
          <a:p xmlns:a="http://schemas.openxmlformats.org/drawingml/2006/main">
            <a:r>
              <a:t>https://kprf.ru/dep/gosduma/activities/245108.html</a:t>
            </a:r>
          </a:p>
          <a:p xmlns:a="http://schemas.openxmlformats.org/drawingml/2006/main">
            <a:r>
              <a:t>https://www.pnp.ru/social/zashhita-detskogo-byudzheta-kruzhki-sokhranit-vyplaty-iz-matkapitala-uvelichit.html</a:t>
            </a:r>
          </a:p>
          <a:p xmlns:a="http://schemas.openxmlformats.org/drawingml/2006/main">
            <a:r>
              <a:t>https://www.pnp.ru/state-duma/nina-ostanina-o-byudzhete-na-2027-2029-gody-semeynoy-ipoteke-i-matkapitale.html</a:t>
            </a:r>
          </a:p>
          <a:p xmlns:a="http://schemas.openxmlformats.org/drawingml/2006/main">
            <a:r>
              <a:t>https://uznayvse.ru/znamenitosti/biografiya-nina-ostanina.html</a:t>
            </a:r>
          </a:p>
          <a:p xmlns:a="http://schemas.openxmlformats.org/drawingml/2006/main">
            <a:r>
              <a:t>https://dumatv.ru/news/ostanina--borba-za-mirovozzrencheskii-suverenitet-stanovitsya-gosudarstvennoi-politikoi</a:t>
            </a:r>
          </a:p>
          <a:p xmlns:a="http://schemas.openxmlformats.org/drawingml/2006/main">
            <a:r>
              <a:t>https://kprf.ru/dep/gosduma/activities/242132.html</a:t>
            </a:r>
          </a:p>
          <a:p xmlns:a="http://schemas.openxmlformats.org/drawingml/2006/main">
            <a:r>
              <a:t>https://www.business-gazeta.ru/article/625616</a:t>
            </a:r>
          </a:p>
          <a:p xmlns:a="http://schemas.openxmlformats.org/drawingml/2006/main">
            <a:r>
              <a:t>https://www.kommersant.ru/doc/3235400</a:t>
            </a:r>
          </a:p>
          <a:p xmlns:a="http://schemas.openxmlformats.org/drawingml/2006/main">
            <a:r>
              <a:t>https://www.rbc.ru/person/67d838f09a7947cdef0b1a95</a:t>
            </a:r>
          </a:p>
          <a:p xmlns:a="http://schemas.openxmlformats.org/drawingml/2006/main">
            <a:r>
              <a:t>https://www.vedomosti.ru/politics/articles/2020/03/10/824795-tereshkova-predlozhila</a:t>
            </a:r>
          </a:p>
          <a:p xmlns:a="http://schemas.openxmlformats.org/drawingml/2006/main">
            <a:r>
              <a:t>http://duma.gov.ru/news/49164/</a:t>
            </a:r>
          </a:p>
          <a:p xmlns:a="http://schemas.openxmlformats.org/drawingml/2006/main">
            <a:r>
              <a:t>https://meduza.io/news/2020/03/12/delayut-vse-dlya-togo-chtoby-gadosti-delat-tereshkova-o-protivnikah-popravki-obnulyayuschey-sroki-putina</a:t>
            </a:r>
          </a:p>
          <a:p xmlns:a="http://schemas.openxmlformats.org/drawingml/2006/main">
            <a:r>
              <a:t>https://meduza.io/feature/2020/03/10/gosduma-neozhidanno-dlya-sebya-obespechila-putina-novymi-prezidentskimi-srokami</a:t>
            </a:r>
          </a:p>
          <a:p xmlns:a="http://schemas.openxmlformats.org/drawingml/2006/main">
            <a:r>
              <a:t>https://hinshtein.ru/biography/</a:t>
            </a:r>
          </a:p>
          <a:p xmlns:a="http://schemas.openxmlformats.org/drawingml/2006/main">
            <a:r>
              <a:t>https://www.vedomosti.ru/politics/articles/2024/12/06/1079852-kto-takoi-aleksandr-hinshtein</a:t>
            </a:r>
          </a:p>
          <a:p xmlns:a="http://schemas.openxmlformats.org/drawingml/2006/main">
            <a:r>
              <a:t>https://www.rbc.ru/person/6752d12a9a7947d62166795e</a:t>
            </a:r>
          </a:p>
          <a:p xmlns:a="http://schemas.openxmlformats.org/drawingml/2006/main">
            <a:r>
              <a:t>https://www.rbc.ru/politics/06/12/2024/675207239a7947e74994842e</a:t>
            </a:r>
          </a:p>
          <a:p xmlns:a="http://schemas.openxmlformats.org/drawingml/2006/main">
            <a:r>
              <a:t>https://hinshtein.ru/news/aleksandr-hinshtejn-podvyol-itogi-goda-raboty-komiteta-gosdumy-po-informpolitike-informatsionnym-tehnologiyam-i-svyazi/</a:t>
            </a:r>
          </a:p>
          <a:p xmlns:a="http://schemas.openxmlformats.org/drawingml/2006/main">
            <a:r>
              <a:t>https://hinshtein.ru/news/a-hinshtejn-itogi-raboty-za-vii-sozyv/</a:t>
            </a:r>
          </a:p>
          <a:p xmlns:a="http://schemas.openxmlformats.org/drawingml/2006/main">
            <a:r>
              <a:t>https://www.kommersant.ru/doc/4660427</a:t>
            </a:r>
          </a:p>
          <a:p xmlns:a="http://schemas.openxmlformats.org/drawingml/2006/main">
            <a:r>
              <a:t>https://www.kommersant.ru/doc/4104004</a:t>
            </a:r>
          </a:p>
          <a:p xmlns:a="http://schemas.openxmlformats.org/drawingml/2006/main">
            <a:r>
              <a:t>https://www.nvgazeta.ru/news/12383/634260/</a:t>
            </a:r>
          </a:p>
          <a:p xmlns:a="http://schemas.openxmlformats.org/drawingml/2006/main">
            <a:r>
              <a:t>https://kpravda.ru/2025/02/11/kursk-poluchit-dengi-iz-gosbyudzheta-na-restavracziyu-istoricheskoj-kreposti/</a:t>
            </a:r>
          </a:p>
          <a:p xmlns:a="http://schemas.openxmlformats.org/drawingml/2006/main">
            <a:r>
              <a:t>https://tass.ru/obschestvo/24001633</a:t>
            </a:r>
          </a:p>
          <a:p xmlns:a="http://schemas.openxmlformats.org/drawingml/2006/main">
            <a:r>
              <a:t>https://www.kommersant.ru/doc/7737032</a:t>
            </a:r>
          </a:p>
          <a:p xmlns:a="http://schemas.openxmlformats.org/drawingml/2006/main">
            <a:r>
              <a:t>https://kpravda.ru/2025/03/21/edinaya-rossiya-pomozhet-v-restavraczii-kurskih-pamyatnikov/</a:t>
            </a:r>
          </a:p>
          <a:p xmlns:a="http://schemas.openxmlformats.org/drawingml/2006/main">
            <a:r>
              <a:t>https://news-kursk.ru/society/2025/07/13/65824.html</a:t>
            </a:r>
          </a:p>
          <a:p xmlns:a="http://schemas.openxmlformats.org/drawingml/2006/main">
            <a:r>
              <a:t>https://news.ru/russia/v-kurske-budet-alleya-geroev-hinshtejn-o-muzee-i-memoriale-zhertvam-vsu</a:t>
            </a:r>
          </a:p>
          <a:p xmlns:a="http://schemas.openxmlformats.org/drawingml/2006/main">
            <a:r>
              <a:t>https://ru.wikipedia.org/wiki/Пушков,_Алексей_Константинович</a:t>
            </a:r>
          </a:p>
          <a:p xmlns:a="http://schemas.openxmlformats.org/drawingml/2006/main">
            <a:r>
              <a:t>http://council.gov.ru/structure/persons/1316/</a:t>
            </a:r>
          </a:p>
          <a:p xmlns:a="http://schemas.openxmlformats.org/drawingml/2006/main">
            <a:r>
              <a:t>http://council.gov.ru/media/files/xjE2QHRAivCH7onABehAcG7OsnrO6DYb.pdf</a:t>
            </a:r>
          </a:p>
          <a:p xmlns:a="http://schemas.openxmlformats.org/drawingml/2006/main">
            <a:r>
              <a:t>https://base.garant.ru/406310971/</a:t>
            </a:r>
          </a:p>
          <a:p xmlns:a="http://schemas.openxmlformats.org/drawingml/2006/main">
            <a:r>
              <a:t>https://russiancouncil.ru/aleksey-pushkov/</a:t>
            </a:r>
          </a:p>
          <a:p xmlns:a="http://schemas.openxmlformats.org/drawingml/2006/main">
            <a:r>
              <a:t>http://legislation.council.gov.ru/events/announce/</a:t>
            </a:r>
          </a:p>
          <a:p xmlns:a="http://schemas.openxmlformats.org/drawingml/2006/main">
            <a:r>
              <a:t>http://council.gov.ru/events/news/173810/</a:t>
            </a:r>
          </a:p>
          <a:p xmlns:a="http://schemas.openxmlformats.org/drawingml/2006/main">
            <a:r>
              <a:t>http://www.council.gov.ru/events/news/175997/</a:t>
            </a:r>
          </a:p>
          <a:p xmlns:a="http://schemas.openxmlformats.org/drawingml/2006/main">
            <a:r>
              <a:t>http://council.gov.ru/media/report/pdf/HtoXfAAzeBJ8JwN0eAduo3rejTAYhqvB.pdf</a:t>
            </a:r>
          </a:p>
          <a:p xmlns:a="http://schemas.openxmlformats.org/drawingml/2006/main">
            <a:r>
              <a:t>http://council.gov.ru/events/news/164749/</a:t>
            </a:r>
          </a:p>
          <a:p xmlns:a="http://schemas.openxmlformats.org/drawingml/2006/main">
            <a:r>
              <a:t>https://t.me/s/alexey_pushkov?before=14914</a:t>
            </a:r>
          </a:p>
          <a:p xmlns:a="http://schemas.openxmlformats.org/drawingml/2006/main">
            <a:r>
              <a:t>http://legislation.council.gov.ru/events/multimedia/video/302078/</a:t>
            </a:r>
          </a:p>
          <a:p xmlns:a="http://schemas.openxmlformats.org/drawingml/2006/main">
            <a:r>
              <a:t>http://council.gov.ru/media/report/pdf/e8Awe3U6hNouHwSvME53OSPGGWxTeVAl.pdf</a:t>
            </a:r>
          </a:p>
          <a:p xmlns:a="http://schemas.openxmlformats.org/drawingml/2006/main">
            <a:r>
              <a:t>https://www.vedomosti.ru/person/1178385-kosachev-konstantin</a:t>
            </a:r>
          </a:p>
          <a:p xmlns:a="http://schemas.openxmlformats.org/drawingml/2006/main">
            <a:r>
              <a:t>https://www.interfax.ru/interview/812963</a:t>
            </a:r>
          </a:p>
          <a:p xmlns:a="http://schemas.openxmlformats.org/drawingml/2006/main">
            <a:r>
              <a:t>https://senatinform.ru/news/yuzhnuyu_osetiyu_neobkhodimo_vyvodit_iz_iskusstvennoy_izolyatsii_schitayut_rossiyskie_senatory_/</a:t>
            </a:r>
          </a:p>
          <a:p xmlns:a="http://schemas.openxmlformats.org/drawingml/2006/main">
            <a:r>
              <a:t>https://senatinform.ru/news/kosachyev_rossiya_gotova_rabotat_s_mps_s_uchyetom_ozabochennostey_nashey_strany/</a:t>
            </a:r>
          </a:p>
          <a:p xmlns:a="http://schemas.openxmlformats.org/drawingml/2006/main">
            <a:r>
              <a:t>https://www.bfm.ru/person/61</a:t>
            </a:r>
          </a:p>
          <a:p xmlns:a="http://schemas.openxmlformats.org/drawingml/2006/main">
            <a:r>
              <a:t>https://svpressa.ru/persons/konstantin-kosachev/</a:t>
            </a:r>
          </a:p>
          <a:p xmlns:a="http://schemas.openxmlformats.org/drawingml/2006/main">
            <a:r>
              <a:t>https://www.pnp.ru/person/konstantin-kosachev/</a:t>
            </a:r>
          </a:p>
          <a:p xmlns:a="http://schemas.openxmlformats.org/drawingml/2006/main">
            <a:r>
              <a:t>https://www.pnp.ru/politics/konstantin-kosachev-dlya-ssha-voyna-s-rossiey-eto-samoubiystvo.html</a:t>
            </a:r>
          </a:p>
          <a:p xmlns:a="http://schemas.openxmlformats.org/drawingml/2006/main">
            <a:r>
              <a:t>https://www.mlg.ru/ratings/vlast/senators/10844/</a:t>
            </a:r>
          </a:p>
          <a:p xmlns:a="http://schemas.openxmlformats.org/drawingml/2006/main">
            <a:r>
              <a:t>http://council.gov.ru/events/news/173506/</a:t>
            </a:r>
          </a:p>
          <a:p xmlns:a="http://schemas.openxmlformats.org/drawingml/2006/main">
            <a:r>
              <a:t>https://t.me/s/Kosachev62</a:t>
            </a:r>
          </a:p>
          <a:p xmlns:a="http://schemas.openxmlformats.org/drawingml/2006/main">
            <a:r>
              <a:t>http://council.gov.ru/events/news/177602/</a:t>
            </a:r>
          </a:p>
          <a:p xmlns:a="http://schemas.openxmlformats.org/drawingml/2006/main">
            <a:r>
              <a:t>https://vmeste-rf.tv/programs/205/konstantin-kosachev-sotrudnichestvo-rossii-i-efiopii-itogi-vizita-delegatsii-sf/</a:t>
            </a:r>
          </a:p>
          <a:p xmlns:a="http://schemas.openxmlformats.org/drawingml/2006/main">
            <a:r>
              <a:t>https://www.rbc.ru/person/64b8e1909a79474f30e86f98</a:t>
            </a:r>
          </a:p>
          <a:p xmlns:a="http://schemas.openxmlformats.org/drawingml/2006/main">
            <a:r>
              <a:t>https://www.kommersant.ru/doc/6041063</a:t>
            </a:r>
          </a:p>
          <a:p xmlns:a="http://schemas.openxmlformats.org/drawingml/2006/main">
            <a:r>
              <a:t>https://www.mos.ru/mayor/themes/6907050/</a:t>
            </a:r>
          </a:p>
          <a:p xmlns:a="http://schemas.openxmlformats.org/drawingml/2006/main">
            <a:r>
              <a:t>https://www.mos.ru/mayor/themes/7037050/</a:t>
            </a:r>
          </a:p>
          <a:p xmlns:a="http://schemas.openxmlformats.org/drawingml/2006/main">
            <a:r>
              <a:t>https://www.mos.ru/mayor/themes/8822050/</a:t>
            </a:r>
          </a:p>
          <a:p xmlns:a="http://schemas.openxmlformats.org/drawingml/2006/main">
            <a:r>
              <a:t>http://special.kremlin.ru/catalog/persons/38/events/70467</a:t>
            </a:r>
          </a:p>
          <a:p xmlns:a="http://schemas.openxmlformats.org/drawingml/2006/main">
            <a:r>
              <a:t>https://www.mos.ru/upload/content/files/15af077500dcc5a1547bf728abf25669/15Zakong_Moskviot17_05_2017N14Odopolnitelnihgaranti.pdf</a:t>
            </a:r>
          </a:p>
          <a:p xmlns:a="http://schemas.openxmlformats.org/drawingml/2006/main">
            <a:r>
              <a:t>https://www.rbc.ru/politics/03/05/2023/645245159a794763ce66d990</a:t>
            </a:r>
          </a:p>
          <a:p xmlns:a="http://schemas.openxmlformats.org/drawingml/2006/main">
            <a:r>
              <a:t>https://www.dw.com/ru/ataka-dronov-v-moskve-i-podmoskove-cto-izvestno/a-65771767</a:t>
            </a:r>
          </a:p>
          <a:p xmlns:a="http://schemas.openxmlformats.org/drawingml/2006/main">
            <a:r>
              <a:t>https://www.rbc.ru/politics/01/08/2023/64c856ce9a79471a722e13ad</a:t>
            </a:r>
          </a:p>
          <a:p xmlns:a="http://schemas.openxmlformats.org/drawingml/2006/main">
            <a:r>
              <a:t>https://www.rbc.ru/politics/23/08/2023/64e54f299a794789ddb55c65</a:t>
            </a:r>
          </a:p>
          <a:p xmlns:a="http://schemas.openxmlformats.org/drawingml/2006/main">
            <a:r>
              <a:t>https://ru.wikipedia.org/wiki/Беглов,_Александр_Дмитриевич</a:t>
            </a:r>
          </a:p>
          <a:p xmlns:a="http://schemas.openxmlformats.org/drawingml/2006/main">
            <a:r>
              <a:t>https://www.gov.spb.ru/governor/</a:t>
            </a:r>
          </a:p>
          <a:p xmlns:a="http://schemas.openxmlformats.org/drawingml/2006/main">
            <a:r>
              <a:t>https://www.rbc.ru/politics/30/05/2019/5cf02cf09a79475ed4d2fa3f</a:t>
            </a:r>
          </a:p>
          <a:p xmlns:a="http://schemas.openxmlformats.org/drawingml/2006/main">
            <a:r>
              <a:t>https://www.themoscowtimes.com/2019/09/11/st-petersburg-re-elects-governor-beglov-after-controversial-campaign-a67240</a:t>
            </a:r>
          </a:p>
          <a:p xmlns:a="http://schemas.openxmlformats.org/drawingml/2006/main">
            <a:r>
              <a:t>https://www.gov.spb.ru/press/governor/188637/</a:t>
            </a:r>
          </a:p>
          <a:p xmlns:a="http://schemas.openxmlformats.org/drawingml/2006/main">
            <a:r>
              <a:t>https://www.gov.spb.ru/press/governor/213661/</a:t>
            </a:r>
          </a:p>
          <a:p xmlns:a="http://schemas.openxmlformats.org/drawingml/2006/main">
            <a:r>
              <a:t>https://www.gov.spb.ru/press/governor/258831/</a:t>
            </a:r>
          </a:p>
          <a:p xmlns:a="http://schemas.openxmlformats.org/drawingml/2006/main">
            <a:r>
              <a:t>https://www.gov.spb.ru/governor/interview/7333/</a:t>
            </a:r>
          </a:p>
          <a:p xmlns:a="http://schemas.openxmlformats.org/drawingml/2006/main">
            <a:r>
              <a:t>https://tass.ru/interviews/21839179</a:t>
            </a:r>
          </a:p>
          <a:p xmlns:a="http://schemas.openxmlformats.org/drawingml/2006/main">
            <a:r>
              <a:t>https://www.gov.spb.ru/press/governor/236663/</a:t>
            </a:r>
          </a:p>
          <a:p xmlns:a="http://schemas.openxmlformats.org/drawingml/2006/main">
            <a:r>
              <a:t>https://tvspb.ru/news/2022/09/21/aleksandr-beglov-ukaz-prezidenta-o-chastichnoj-mobilizaczii-byl-trudnym-no-neobhodimym-shagom</a:t>
            </a:r>
          </a:p>
          <a:p xmlns:a="http://schemas.openxmlformats.org/drawingml/2006/main">
            <a:r>
              <a:t>https://spbvedomosti.ru/news/gorod/gubernator-aleksandr-beglov-obyavil-o-zavershenii-chastichnoy-mobilizatsii/</a:t>
            </a:r>
          </a:p>
          <a:p xmlns:a="http://schemas.openxmlformats.org/drawingml/2006/main">
            <a:r>
              <a:t>https://www.gov.spb.ru/press/governor/253716/</a:t>
            </a:r>
          </a:p>
          <a:p xmlns:a="http://schemas.openxmlformats.org/drawingml/2006/main">
            <a:r>
              <a:t>https://www.gov.spb.ru/press/governor/290070/</a:t>
            </a:r>
          </a:p>
          <a:p xmlns:a="http://schemas.openxmlformats.org/drawingml/2006/main">
            <a:r>
              <a:t>https://spbdnevnik.ru/news/2022-10-06/aleksandr-beglov-rasskazal-o-prizyve-po-mobilizatsii-peterburzhtsa-s-odnoy-pochkoy</a:t>
            </a:r>
          </a:p>
          <a:p xmlns:a="http://schemas.openxmlformats.org/drawingml/2006/main">
            <a:r>
              <a:t>https://www.rbc.ru/person/62c5c0899a79470082fa57eb</a:t>
            </a:r>
          </a:p>
          <a:p xmlns:a="http://schemas.openxmlformats.org/drawingml/2006/main">
            <a:r>
              <a:t>https://www.kavkaz-uzel.eu/articles/85366</a:t>
            </a:r>
          </a:p>
          <a:p xmlns:a="http://schemas.openxmlformats.org/drawingml/2006/main">
            <a:r>
              <a:t>https://news.ru/regions/my-dolzhny-zabrat-vsyu-ukrainu-chto-kadyrov-govoril-ob-svo-rossii-putine</a:t>
            </a:r>
          </a:p>
          <a:p xmlns:a="http://schemas.openxmlformats.org/drawingml/2006/main">
            <a:r>
              <a:t>https://minval.az/k/ramzan-kadyrov</a:t>
            </a:r>
          </a:p>
          <a:p xmlns:a="http://schemas.openxmlformats.org/drawingml/2006/main">
            <a:r>
              <a:t>http://publication.pravo.gov.ru/document/2000202609160002</a:t>
            </a:r>
          </a:p>
          <a:p xmlns:a="http://schemas.openxmlformats.org/drawingml/2006/main">
            <a:r>
              <a:t>https://vestikavkaza.ru/amp/291219</a:t>
            </a:r>
          </a:p>
          <a:p xmlns:a="http://schemas.openxmlformats.org/drawingml/2006/main">
            <a:r>
              <a:t>https://tass.ru/obschestvo/25968415</a:t>
            </a:r>
          </a:p>
          <a:p xmlns:a="http://schemas.openxmlformats.org/drawingml/2006/main">
            <a:r>
              <a:t>https://www.rbc.ru/rbcfreenews/694558f89a794775c8b05d2e</a:t>
            </a:r>
          </a:p>
          <a:p xmlns:a="http://schemas.openxmlformats.org/drawingml/2006/main">
            <a:r>
              <a:t>https://rais.tatarstan.ru/biografiya.htm</a:t>
            </a:r>
          </a:p>
          <a:p xmlns:a="http://schemas.openxmlformats.org/drawingml/2006/main">
            <a:r>
              <a:t>https://rt.rbc.ru/tatarstan/freenews/68c7f77d9a79472be550408e</a:t>
            </a:r>
          </a:p>
          <a:p xmlns:a="http://schemas.openxmlformats.org/drawingml/2006/main">
            <a:r>
              <a:t>https://rt.rbc.ru/tatarstan/freenews/68c90bdc9a794783273a16b6</a:t>
            </a:r>
          </a:p>
          <a:p xmlns:a="http://schemas.openxmlformats.org/drawingml/2006/main">
            <a:r>
              <a:t>https://tass.ru/politika/25045679</a:t>
            </a:r>
          </a:p>
          <a:p xmlns:a="http://schemas.openxmlformats.org/drawingml/2006/main">
            <a:r>
              <a:t>https://tass.ru/info/25058299</a:t>
            </a:r>
          </a:p>
          <a:p xmlns:a="http://schemas.openxmlformats.org/drawingml/2006/main">
            <a:r>
              <a:t>https://tatarstan.ru/index.htm/news/2454245.htm</a:t>
            </a:r>
          </a:p>
          <a:p xmlns:a="http://schemas.openxmlformats.org/drawingml/2006/main">
            <a:r>
              <a:t>https://izbirkom.tatarstan.ru/file/pub/pub_4719790.docx</a:t>
            </a:r>
          </a:p>
          <a:p xmlns:a="http://schemas.openxmlformats.org/drawingml/2006/main">
            <a:r>
              <a:t>http://www.pfo.gov.ru/press/events/112125/</a:t>
            </a:r>
          </a:p>
          <a:p xmlns:a="http://schemas.openxmlformats.org/drawingml/2006/main">
            <a:r>
              <a:t>https://www.tatar-inform.ru/news/rustam-minnixanov-sankcii-ne-koncatsya-poka-my-ne-stanem-samodostatocnymi-5896958</a:t>
            </a:r>
          </a:p>
          <a:p xmlns:a="http://schemas.openxmlformats.org/drawingml/2006/main">
            <a:r>
              <a:t>https://tatarstan.ru/index.htm/news/1916025.htm</a:t>
            </a:r>
          </a:p>
          <a:p xmlns:a="http://schemas.openxmlformats.org/drawingml/2006/main">
            <a:r>
              <a:t>https://kitaphane.tatarstan.ru/digital.htm</a:t>
            </a:r>
          </a:p>
          <a:p xmlns:a="http://schemas.openxmlformats.org/drawingml/2006/main">
            <a:r>
              <a:t>https://kt.tatarstan.ru/index.htm/news/2266706.htm</a:t>
            </a:r>
          </a:p>
          <a:p xmlns:a="http://schemas.openxmlformats.org/drawingml/2006/main">
            <a:r>
              <a:t>https://tatarstan.ru/index.htm/news/2460505.htm</a:t>
            </a:r>
          </a:p>
          <a:p xmlns:a="http://schemas.openxmlformats.org/drawingml/2006/main">
            <a:r>
              <a:t>https://digital.tatarstan.ru/index.htm/news/2460691.htm</a:t>
            </a:r>
          </a:p>
          <a:p xmlns:a="http://schemas.openxmlformats.org/drawingml/2006/main">
            <a:r>
              <a:t>https://amp.rbc.ru/rbcnews/politics/09/07/2020/5f06bbb69a79475c40a9a094</a:t>
            </a:r>
          </a:p>
          <a:p xmlns:a="http://schemas.openxmlformats.org/drawingml/2006/main">
            <a:r>
              <a:t>https://1kas.sudrf.ru/modules.php?name=sud_delo&amp;name_op=doc&amp;number=39453936&amp;delo_id=2450001&amp;case_type=0&amp;new=2450001&amp;text_number=1&amp;srv_num=1</a:t>
            </a:r>
          </a:p>
          <a:p xmlns:a="http://schemas.openxmlformats.org/drawingml/2006/main">
            <a:r>
              <a:t>https://www.interfax.ru/russia/982916</a:t>
            </a:r>
          </a:p>
          <a:p xmlns:a="http://schemas.openxmlformats.org/drawingml/2006/main">
            <a:r>
              <a:t>https://www.svoboda.org/a/sud-ostavil-v-sile-prigovor-habarovskomu-eks-gubernatoru-sergeyu-furgalu/32686024.html</a:t>
            </a:r>
          </a:p>
          <a:p xmlns:a="http://schemas.openxmlformats.org/drawingml/2006/main">
            <a:r>
              <a:t>https://www.dw.com/ru/kommentarij-furgal-peresidit-putina/a-64670560</a:t>
            </a:r>
          </a:p>
          <a:p xmlns:a="http://schemas.openxmlformats.org/drawingml/2006/main">
            <a:r>
              <a:t>https://www.kommersant.ru/doc/3896415</a:t>
            </a:r>
          </a:p>
          <a:p xmlns:a="http://schemas.openxmlformats.org/drawingml/2006/main">
            <a:r>
              <a:t>https://todaykhv.ru/news/policy/19386/</a:t>
            </a:r>
          </a:p>
          <a:p xmlns:a="http://schemas.openxmlformats.org/drawingml/2006/main">
            <a:r>
              <a:t>https://meduza.io/feature/2018/09/19/ya-dumayu-chto-situatsiya-kak-v-primorie-u-nas-ne-povtoritsya</a:t>
            </a:r>
          </a:p>
          <a:p xmlns:a="http://schemas.openxmlformats.org/drawingml/2006/main">
            <a:r>
              <a:t>https://govoritmoskva.ru/news/174327/</a:t>
            </a:r>
          </a:p>
          <a:p xmlns:a="http://schemas.openxmlformats.org/drawingml/2006/main">
            <a:r>
              <a:t>https://todaykhv.ru/news/policy/22426/?sphrase_id=2620206</a:t>
            </a:r>
          </a:p>
          <a:p xmlns:a="http://schemas.openxmlformats.org/drawingml/2006/main">
            <a:r>
              <a:t>https://ru.wikipedia.org/wiki/%D0%A4%D1%83%D1%80%D0%B3%D0%B0%D0%BB,_%D0%A1%D0%B5%D1%80%D0%B3%D0%B5%D0%B9_%D0%98%D0%B2%D0%B0%D0%BD%D0%BE%D0%B2%D0%B8%D1%87</a:t>
            </a:r>
          </a:p>
          <a:p xmlns:a="http://schemas.openxmlformats.org/drawingml/2006/main">
            <a:r>
              <a:t>https://novayagazeta.ru/articles/2018/09/18/77870-ne-dopuschu-zdes-revolyutsii</a:t>
            </a:r>
          </a:p>
          <a:p xmlns:a="http://schemas.openxmlformats.org/drawingml/2006/main">
            <a:r>
              <a:t>https://opkhv.ru/publications/4888</a:t>
            </a:r>
          </a:p>
          <a:p xmlns:a="http://schemas.openxmlformats.org/drawingml/2006/main">
            <a:r>
              <a:t>https://meduza.io/feature/2019/08/26/partiya-vlasti-zdes-ldpr</a:t>
            </a:r>
          </a:p>
          <a:p xmlns:a="http://schemas.openxmlformats.org/drawingml/2006/main">
            <a:r>
              <a:t>https://tass.ru/obschestvo/5946495</a:t>
            </a:r>
          </a:p>
          <a:p xmlns:a="http://schemas.openxmlformats.org/drawingml/2006/main">
            <a:r>
              <a:t>https://amurmedia.ru/news/775590/</a:t>
            </a:r>
          </a:p>
          <a:p xmlns:a="http://schemas.openxmlformats.org/drawingml/2006/main">
            <a:r>
              <a:t>https://www.eastrussia.ru/material/ne-planiruyushchim-pereezzhat-sovetuyu-pomolchat/</a:t>
            </a:r>
          </a:p>
          <a:p xmlns:a="http://schemas.openxmlformats.org/drawingml/2006/main">
            <a:r>
              <a:t>https://www.dw.com/ru/v-habarovske-priznali-ekstremistskim-dvizenie-v-zasitu-furgala/a-68334442</a:t>
            </a:r>
          </a:p>
          <a:p xmlns:a="http://schemas.openxmlformats.org/drawingml/2006/main">
            <a:r>
              <a:t>https://www.rbc.ru/person/66475fec9a79475c4d9443ad</a:t>
            </a:r>
          </a:p>
          <a:p xmlns:a="http://schemas.openxmlformats.org/drawingml/2006/main">
            <a:r>
              <a:t>https://tass.ru/info/12453099</a:t>
            </a:r>
          </a:p>
          <a:p xmlns:a="http://schemas.openxmlformats.org/drawingml/2006/main">
            <a:r>
              <a:t>https://tass.ru/info/9007455</a:t>
            </a:r>
          </a:p>
          <a:p xmlns:a="http://schemas.openxmlformats.org/drawingml/2006/main">
            <a:r>
              <a:t>https://tass.ru/info/20795009</a:t>
            </a:r>
          </a:p>
          <a:p xmlns:a="http://schemas.openxmlformats.org/drawingml/2006/main">
            <a:r>
              <a:t>https://tass.ru/encyclopedia/person/degtyarev-mihail-vladimirovich</a:t>
            </a:r>
          </a:p>
          <a:p xmlns:a="http://schemas.openxmlformats.org/drawingml/2006/main">
            <a:r>
              <a:t>https://www.rbc.ru/politics/20/07/2020/5f1586289a794722b2457d61</a:t>
            </a:r>
          </a:p>
          <a:p xmlns:a="http://schemas.openxmlformats.org/drawingml/2006/main">
            <a:r>
              <a:t>https://www.minsport.gov.ru/press-center/news/intervyu-mihaila-degtyareva-gazete-kommersant/</a:t>
            </a:r>
          </a:p>
          <a:p xmlns:a="http://schemas.openxmlformats.org/drawingml/2006/main">
            <a:r>
              <a:t>https://minsport.gov.ru/press-center/news/mihail-degtyarev-nashe-mesto-za-stolom-a-ne-v-perednej/</a:t>
            </a:r>
          </a:p>
          <a:p xmlns:a="http://schemas.openxmlformats.org/drawingml/2006/main">
            <a:r>
              <a:t>https://news.ru/vlast/degtyarev-prizval-ne-doveryat-evrope-provedenie-sorevnovanij</a:t>
            </a:r>
          </a:p>
          <a:p xmlns:a="http://schemas.openxmlformats.org/drawingml/2006/main">
            <a:r>
              <a:t>https://www.interfax.ru/presscenter/622170</a:t>
            </a:r>
          </a:p>
          <a:p xmlns:a="http://schemas.openxmlformats.org/drawingml/2006/main">
            <a:r>
              <a:t>https://tass.ru/interviews/13152777</a:t>
            </a:r>
          </a:p>
          <a:p xmlns:a="http://schemas.openxmlformats.org/drawingml/2006/main">
            <a:r>
              <a:t>https://www.sports.ru/others/blogs/3302024.html</a:t>
            </a:r>
          </a:p>
          <a:p xmlns:a="http://schemas.openxmlformats.org/drawingml/2006/main">
            <a:r>
              <a:t>https://www.vremyan.ru/news/556863</a:t>
            </a:r>
          </a:p>
          <a:p xmlns:a="http://schemas.openxmlformats.org/drawingml/2006/main">
            <a:r>
              <a:t>https://kprf.ru/personal/levchenko</a:t>
            </a:r>
          </a:p>
          <a:p xmlns:a="http://schemas.openxmlformats.org/drawingml/2006/main">
            <a:r>
              <a:t>https://www.rbc.ru/politics/23/06/2020/5ef0bd949a7947b3cd3dcba6</a:t>
            </a:r>
          </a:p>
          <a:p xmlns:a="http://schemas.openxmlformats.org/drawingml/2006/main">
            <a:r>
              <a:t>https://kprf.ru/party-live/regnews/194838.html</a:t>
            </a:r>
          </a:p>
          <a:p xmlns:a="http://schemas.openxmlformats.org/drawingml/2006/main">
            <a:r>
              <a:t>https://liveangarsk.ru/news/20191214/v-slozhivsheisya</a:t>
            </a:r>
          </a:p>
          <a:p xmlns:a="http://schemas.openxmlformats.org/drawingml/2006/main">
            <a:r>
              <a:t>https://kprf.ru/dep/gosduma/activities/240271.html</a:t>
            </a:r>
          </a:p>
          <a:p xmlns:a="http://schemas.openxmlformats.org/drawingml/2006/main">
            <a:r>
              <a:t>https://kprf.ru/dep/gosduma/activities/241686.html</a:t>
            </a:r>
          </a:p>
          <a:p xmlns:a="http://schemas.openxmlformats.org/drawingml/2006/main">
            <a:r>
              <a:t>https://altairk.ru/new/policy/the_message_of_the_governor</a:t>
            </a:r>
          </a:p>
          <a:p xmlns:a="http://schemas.openxmlformats.org/drawingml/2006/main">
            <a:r>
              <a:t>https://kto-irkutsk.ru/2026/07/20/sergej-levchenko-deyatelnost-i-zayavleniya-i-ix-ocenka/</a:t>
            </a:r>
          </a:p>
          <a:p xmlns:a="http://schemas.openxmlformats.org/drawingml/2006/main">
            <a:r>
              <a:t>https://ru.wikipedia.org/wiki/%D0%9B%D0%B5%D0%B2%D1%87%D0%B5%D0%BD%D0%BA%D0%BE,_%D0%A1%D0%B5%D1%80%D0%B3%D0%B5%D0%B9_%D0%93%D0%B5%D0%BE%D1%80%D0%B3%D0%B8%D0%B5%D0%B2%D0%B8%D1%87</a:t>
            </a:r>
          </a:p>
          <a:p xmlns:a="http://schemas.openxmlformats.org/drawingml/2006/main">
            <a:r>
              <a:t>https://www.newsru.com/dossiers/10330/</a:t>
            </a:r>
          </a:p>
          <a:p xmlns:a="http://schemas.openxmlformats.org/drawingml/2006/main">
            <a:r>
              <a:t>https://www.interfax.ru/russia/714300</a:t>
            </a:r>
          </a:p>
          <a:p xmlns:a="http://schemas.openxmlformats.org/drawingml/2006/main">
            <a:r>
              <a:t>https://www.rbc.ru/politics/14/09/2020/5f5e7dfb9a79477f7753d651</a:t>
            </a:r>
          </a:p>
          <a:p xmlns:a="http://schemas.openxmlformats.org/drawingml/2006/main">
            <a:r>
              <a:t>https://www.rline.tv/podrobnosti/2019-10-06-sergey-levchenko-za-chetyre-goda-sdelano-bolshe-chem-za-predydushchie-15-let/</a:t>
            </a:r>
          </a:p>
          <a:p xmlns:a="http://schemas.openxmlformats.org/drawingml/2006/main">
            <a:r>
              <a:t>https://vs19.ru/verhovny-sovet/deputati/670-konovalov-valentin-olegovich</a:t>
            </a:r>
          </a:p>
          <a:p xmlns:a="http://schemas.openxmlformats.org/drawingml/2006/main">
            <a:r>
              <a:t>https://meduza.io/feature/2018/09/10/etu-vlast-nichego-ne-spaset</a:t>
            </a:r>
          </a:p>
          <a:p xmlns:a="http://schemas.openxmlformats.org/drawingml/2006/main">
            <a:r>
              <a:t>https://kprf.ru/party-live/regnews/188553.html</a:t>
            </a:r>
          </a:p>
          <a:p xmlns:a="http://schemas.openxmlformats.org/drawingml/2006/main">
            <a:r>
              <a:t>https://www.kommersant.ru/doc/4441936</a:t>
            </a:r>
          </a:p>
          <a:p xmlns:a="http://schemas.openxmlformats.org/drawingml/2006/main">
            <a:r>
              <a:t>http://www.youtube.com/watch?v=eO6lUkFCAqM</a:t>
            </a:r>
          </a:p>
          <a:p xmlns:a="http://schemas.openxmlformats.org/drawingml/2006/main">
            <a:r>
              <a:t>https://ru.wikipedia.org/wiki/%D0%92%D1%8B%D0%B1%D0%BE%D1%80%D1%8B_%D0%B3%D0%BB%D0%B0%D0%B2%D1%8B_%D0%A0%D0%B5%D1%81%D0%BF%D1%83%D0%B1%D0%BB%D0%B8%D0%BA%D0%B8_%D0%A5%D0%B0%D0%BA%D0%B0%D1%81%D0%B8%D1%8F_(2018)</a:t>
            </a:r>
          </a:p>
          <a:p xmlns:a="http://schemas.openxmlformats.org/drawingml/2006/main">
            <a:r>
              <a:t>https://ok.ru/group/51615057903766/topic/157744983021718</a:t>
            </a:r>
          </a:p>
          <a:p xmlns:a="http://schemas.openxmlformats.org/drawingml/2006/main">
            <a:r>
              <a:t>https://kprf.ru/party-live/cknews/245343.html</a:t>
            </a:r>
          </a:p>
          <a:p xmlns:a="http://schemas.openxmlformats.org/drawingml/2006/main">
            <a:r>
              <a:t>https://r-19.ru/news/politika/190680/</a:t>
            </a:r>
          </a:p>
          <a:p xmlns:a="http://schemas.openxmlformats.org/drawingml/2006/main">
            <a:r>
              <a:t>https://r-19.ru/news/ekonomika/193031/</a:t>
            </a:r>
          </a:p>
          <a:p xmlns:a="http://schemas.openxmlformats.org/drawingml/2006/main">
            <a:r>
              <a:t>https://19rusinfo.ru/ekonomika/118670-otchjot</a:t>
            </a:r>
          </a:p>
          <a:p xmlns:a="http://schemas.openxmlformats.org/drawingml/2006/main">
            <a:r>
              <a:t>https://iditena.ru/candidates/konovalov-valentin-olegovich/</a:t>
            </a:r>
          </a:p>
          <a:p xmlns:a="http://schemas.openxmlformats.org/drawingml/2006/main">
            <a:r>
              <a:t>https://56.kprf.ru/deyatelnost/tpost/gjjjuy1zi1-glava-hakasii-valentin-konovalov-dal-int</a:t>
            </a:r>
          </a:p>
          <a:p xmlns:a="http://schemas.openxmlformats.org/drawingml/2006/main">
            <a:r>
              <a:t>https://meduza.io/feature/2019/05/31/strana-pobedivshego-kommunista</a:t>
            </a:r>
          </a:p>
          <a:p xmlns:a="http://schemas.openxmlformats.org/drawingml/2006/main">
            <a:r>
              <a:t>https://xn--80aac0c2a.xn--p1acf/2026/08/22/vstrecha-s-uchastiem-valentina-konovalova-i-alekseya-kornienko-proshla-v-habarovske</a:t>
            </a:r>
          </a:p>
          <a:p xmlns:a="http://schemas.openxmlformats.org/drawingml/2006/main">
            <a:r>
              <a:t>https://www.vedomosti.ru/politics/characters/2026/07/06/1211370-valentin-konovalov-rossiya-na-moskve-ne-zakanchivaetsya?from=newsline</a:t>
            </a:r>
          </a:p>
          <a:p xmlns:a="http://schemas.openxmlformats.org/drawingml/2006/main">
            <a:r>
              <a:t>https://www.vedomosti.ru/person/1215197-aksenov-sergei</a:t>
            </a:r>
          </a:p>
          <a:p xmlns:a="http://schemas.openxmlformats.org/drawingml/2006/main">
            <a:r>
              <a:t>https://www.rbc.ru/person/65f020599a79475815e702c9</a:t>
            </a:r>
          </a:p>
          <a:p xmlns:a="http://schemas.openxmlformats.org/drawingml/2006/main">
            <a:r>
              <a:t>http://crimea.gov.ru/news/30_03_18_10</a:t>
            </a:r>
          </a:p>
          <a:p xmlns:a="http://schemas.openxmlformats.org/drawingml/2006/main">
            <a:r>
              <a:t>https://www.npr.org/sections/parallels/2018/01/27/581114772/putins-man-in-crimea-we-ve-returned-to-russia-forever</a:t>
            </a:r>
          </a:p>
          <a:p xmlns:a="http://schemas.openxmlformats.org/drawingml/2006/main">
            <a:r>
              <a:t>http://crimea.gov.ru/en/news/26_02_19_6</a:t>
            </a:r>
          </a:p>
          <a:p xmlns:a="http://schemas.openxmlformats.org/drawingml/2006/main">
            <a:r>
              <a:t>https://antifashist.com/item/kto-polomal-infopole-kryma-i-ne-otvechaet-na-voprosy.html</a:t>
            </a:r>
          </a:p>
          <a:p xmlns:a="http://schemas.openxmlformats.org/drawingml/2006/main">
            <a:r>
              <a:t>https://ru.krymr.com/a/news/27913548.html</a:t>
            </a:r>
          </a:p>
          <a:p xmlns:a="http://schemas.openxmlformats.org/drawingml/2006/main">
            <a:r>
              <a:t>https://simfch.ru/2022/03/02/glava-respubliki-krym-sergej-aksyonov-prizval-krymchan-k-informaczionnoj-mobilizaczii-otkrytomu-i-publichnomu-vyrazheniyu-svoej-patrioticheskoj-poziczii/</a:t>
            </a:r>
          </a:p>
          <a:p xmlns:a="http://schemas.openxmlformats.org/drawingml/2006/main">
            <a:r>
              <a:t>https://www.rbc.ru/politics/29/05/2023/64749e389a7947f3de98dff2</a:t>
            </a:r>
          </a:p>
          <a:p xmlns:a="http://schemas.openxmlformats.org/drawingml/2006/main">
            <a:r>
              <a:t>https://ru.krymr.com/a/krym-sergey-aksenov-pvo-prilety-bavovna-bezopasnost-pvo-udar/32631709.html</a:t>
            </a:r>
          </a:p>
          <a:p xmlns:a="http://schemas.openxmlformats.org/drawingml/2006/main">
            <a:r>
              <a:t>https://rostov.rbc.ru/rostov/interview/18/03/2024/65f75c4f9a7947c8b475ab94</a:t>
            </a:r>
          </a:p>
          <a:p xmlns:a="http://schemas.openxmlformats.org/drawingml/2006/main">
            <a:r>
              <a:t>https://www.kommersant.ru/doc/7715230</a:t>
            </a:r>
          </a:p>
          <a:p xmlns:a="http://schemas.openxmlformats.org/drawingml/2006/main">
            <a:r>
              <a:t>https://www.kommersant.ru/doc/5154319</a:t>
            </a:r>
          </a:p>
          <a:p xmlns:a="http://schemas.openxmlformats.org/drawingml/2006/main">
            <a:r>
              <a:t>https://www.rbc.ru/person/660290b19a7947801fe9439b</a:t>
            </a:r>
          </a:p>
          <a:p xmlns:a="http://schemas.openxmlformats.org/drawingml/2006/main">
            <a:r>
              <a:t>https://www.kommersant.ru/doc/3759211</a:t>
            </a:r>
          </a:p>
          <a:p xmlns:a="http://schemas.openxmlformats.org/drawingml/2006/main">
            <a:r>
              <a:t>https://tass.ru/info/6656656</a:t>
            </a:r>
          </a:p>
          <a:p xmlns:a="http://schemas.openxmlformats.org/drawingml/2006/main">
            <a:r>
              <a:t>https://sevastopol.er.ru/pages/otchet-gubernatora-sevastopolya-mihaila-razvozhaeva</a:t>
            </a:r>
          </a:p>
          <a:p xmlns:a="http://schemas.openxmlformats.org/drawingml/2006/main">
            <a:r>
              <a:t>http://special.kremlin.ru/catalog/persons/579/events/76271</a:t>
            </a:r>
          </a:p>
          <a:p xmlns:a="http://schemas.openxmlformats.org/drawingml/2006/main">
            <a:r>
              <a:t>https://sevastopol.su/news/chastnyy-biznes-vlozhil-v-sevastopol-250-mlrd-rubley-za-tri-goda</a:t>
            </a:r>
          </a:p>
          <a:p xmlns:a="http://schemas.openxmlformats.org/drawingml/2006/main">
            <a:r>
              <a:t>https://sevastopol.su/news/v-sevastopole-ocenili-perspektivy-mikhaila-razvozhaeva-na-sleduyuschikh-vyborakh</a:t>
            </a:r>
          </a:p>
          <a:p xmlns:a="http://schemas.openxmlformats.org/drawingml/2006/main">
            <a:r>
              <a:t>https://tass.ru/interviews/10248577</a:t>
            </a:r>
          </a:p>
          <a:p xmlns:a="http://schemas.openxmlformats.org/drawingml/2006/main">
            <a:r>
              <a:t>https://news.ru/russia/u-nas-smelye-plany-gubernator-sevastopolya-razvozzhaev-o-budushem-goroda</a:t>
            </a:r>
          </a:p>
          <a:p xmlns:a="http://schemas.openxmlformats.org/drawingml/2006/main">
            <a:r>
              <a:t>http://kremlin.ru/events/administration/80838</a:t>
            </a:r>
          </a:p>
          <a:p xmlns:a="http://schemas.openxmlformats.org/drawingml/2006/main">
            <a:r>
              <a:t>https://tass.ru/kultura/28214691</a:t>
            </a:r>
          </a:p>
          <a:p xmlns:a="http://schemas.openxmlformats.org/drawingml/2006/main">
            <a:r>
              <a:t>http://kremlin.ru/events/administration/80591</a:t>
            </a:r>
          </a:p>
          <a:p xmlns:a="http://schemas.openxmlformats.org/drawingml/2006/main">
            <a:r>
              <a:t>https://governors.ru/glava-regiona/Belgorodskaya-oblast/Gladkov-Vyacheslav-Vladimirovich</a:t>
            </a:r>
          </a:p>
          <a:p xmlns:a="http://schemas.openxmlformats.org/drawingml/2006/main">
            <a:r>
              <a:t>https://ru.wikipedia.org/wiki/%D0%93%D0%BB%D0%B0%D0%B4%D0%BA%D0%BE%D0%B2,_%D0%92%D1%8F%D1%87%D0%B5%D1%81%D0%BB%D0%B0%D0%B2_%D0%92%D0%BB%D0%B0%D0%B4%D0%B8%D0%BC%D0%B8%D1%80%D0%BE%D0%B2%D0%B8%D1%87</a:t>
            </a:r>
          </a:p>
          <a:p xmlns:a="http://schemas.openxmlformats.org/drawingml/2006/main">
            <a:r>
              <a:t>http://council.gov.ru/structure/persons/1543/</a:t>
            </a:r>
          </a:p>
          <a:p xmlns:a="http://schemas.openxmlformats.org/drawingml/2006/main">
            <a:r>
              <a:t>https://ufa.rbc.ru/person/648345539a794760fd0c17e8</a:t>
            </a:r>
          </a:p>
          <a:p xmlns:a="http://schemas.openxmlformats.org/drawingml/2006/main">
            <a:r>
              <a:t>https://www.kommersant.ru/doc/8571119</a:t>
            </a:r>
          </a:p>
          <a:p xmlns:a="http://schemas.openxmlformats.org/drawingml/2006/main">
            <a:r>
              <a:t>https://www.kommersant.ru/doc/8655079</a:t>
            </a:r>
          </a:p>
          <a:p xmlns:a="http://schemas.openxmlformats.org/drawingml/2006/main">
            <a:r>
              <a:t>https://tass.ru/info/27861241</a:t>
            </a:r>
          </a:p>
          <a:p xmlns:a="http://schemas.openxmlformats.org/drawingml/2006/main">
            <a:r>
              <a:t>https://meduza.io/feature/2023/06/08/emu-by-vse-eto-razgresti</a:t>
            </a:r>
          </a:p>
          <a:p xmlns:a="http://schemas.openxmlformats.org/drawingml/2006/main">
            <a:r>
              <a:t>http://www.kremlin.ru/events/president/transcripts/66288</a:t>
            </a:r>
          </a:p>
          <a:p xmlns:a="http://schemas.openxmlformats.org/drawingml/2006/main">
            <a:r>
              <a:t>https://www.belpressa.ru/politics/vlast/62665.html</a:t>
            </a:r>
          </a:p>
          <a:p xmlns:a="http://schemas.openxmlformats.org/drawingml/2006/main">
            <a:r>
              <a:t>https://www.belpressa.ru/politics/vlast/71368.html</a:t>
            </a:r>
          </a:p>
          <a:p xmlns:a="http://schemas.openxmlformats.org/drawingml/2006/main">
            <a:r>
              <a:t>https://www.belnovosti.ru/politika/gubernator/127077.html</a:t>
            </a:r>
          </a:p>
          <a:p xmlns:a="http://schemas.openxmlformats.org/drawingml/2006/main">
            <a:r>
              <a:t>https://chr.plus.rbc.ru/news/694b9fb67a8aa90f9c2ce17d</a:t>
            </a:r>
          </a:p>
          <a:p xmlns:a="http://schemas.openxmlformats.org/drawingml/2006/main">
            <a:r>
              <a:t>https://www.belpressa.ru/society/bezopasnost/43348.html</a:t>
            </a:r>
          </a:p>
          <a:p xmlns:a="http://schemas.openxmlformats.org/drawingml/2006/main">
            <a:r>
              <a:t>https://www.rbc.ru/politics/07/03/2023/640758bf9a7947f6af99d464</a:t>
            </a:r>
          </a:p>
          <a:p xmlns:a="http://schemas.openxmlformats.org/drawingml/2006/main">
            <a:r>
              <a:t>https://www.rbc.ru/politics/24/05/2023/646d22029a794797c4bac4bf</a:t>
            </a:r>
          </a:p>
          <a:p xmlns:a="http://schemas.openxmlformats.org/drawingml/2006/main">
            <a:r>
              <a:t>https://www.bbc.com/russian/articles/c70dkd0pvrlo</a:t>
            </a:r>
          </a:p>
          <a:p xmlns:a="http://schemas.openxmlformats.org/drawingml/2006/main">
            <a:r>
              <a:t>https://www.go31.ru/news/proisshestviya/kak-nikto-drugoy-ponimaem-chto-takoe-agressiya-so-storony-ukrainy-gladkov-o-proryve-granitsy-v-kursk/</a:t>
            </a:r>
          </a:p>
          <a:p xmlns:a="http://schemas.openxmlformats.org/drawingml/2006/main">
            <a:r>
              <a:t>https://echofm.online/portret-dnya/portret-dnya-vyacheslav-gladkov-gubernator-belgorodskoj-oblasti-prognozy-o-sudbe-kotorogo-raznyatsya-ot-posta-posla-v-abhazii-do-ugolovnogo-dela</a:t>
            </a:r>
          </a:p>
          <a:p xmlns:a="http://schemas.openxmlformats.org/drawingml/2006/main">
            <a:r>
              <a:t>https://www.kommersant.ru/doc/3917861</a:t>
            </a:r>
          </a:p>
          <a:p xmlns:a="http://schemas.openxmlformats.org/drawingml/2006/main">
            <a:r>
              <a:t>https://minstroyrf.gov.ru/press/okolo-40-kontsessionnykh-soglasheniy-v-rossii-deystvuet-v-sfere-zhkkh/</a:t>
            </a:r>
          </a:p>
          <a:p xmlns:a="http://schemas.openxmlformats.org/drawingml/2006/main">
            <a:r>
              <a:t>https://newsroom24.ru/murmansk/news/politics/2026/news_323931/</a:t>
            </a:r>
          </a:p>
          <a:p xmlns:a="http://schemas.openxmlformats.org/drawingml/2006/main">
            <a:r>
              <a:t>https://murmansk.ru/52053</a:t>
            </a:r>
          </a:p>
          <a:p xmlns:a="http://schemas.openxmlformats.org/drawingml/2006/main">
            <a:r>
              <a:t>https://51.ru/text/gorod/2026/01/22/76228112/</a:t>
            </a:r>
          </a:p>
          <a:p xmlns:a="http://schemas.openxmlformats.org/drawingml/2006/main">
            <a:r>
              <a:t>https://www.murman.ru/news/2026/05/02/2334/</a:t>
            </a:r>
          </a:p>
          <a:p xmlns:a="http://schemas.openxmlformats.org/drawingml/2006/main">
            <a:r>
              <a:t>https://murman.ru/news/2026/09/06/2141/</a:t>
            </a:r>
          </a:p>
          <a:p xmlns:a="http://schemas.openxmlformats.org/drawingml/2006/main">
            <a:r>
              <a:t>https://www.murman.ru/news/2026/09/13/2242/</a:t>
            </a:r>
          </a:p>
          <a:p xmlns:a="http://schemas.openxmlformats.org/drawingml/2006/main">
            <a:r>
              <a:t>https://ru.wikipedia.org/wiki/%D0%A7%D0%B8%D0%B1%D0%B8%D1%81,_%D0%90%D0%BD%D0%B4%D1%80%D0%B5%D0%B9_%D0%92%D0%BB%D0%B0%D0%B4%D0%B8%D0%BC%D0%B8%D1%80%D0%BE%D0%B2%D0%B8%D1%87</a:t>
            </a:r>
          </a:p>
          <a:p xmlns:a="http://schemas.openxmlformats.org/drawingml/2006/main">
            <a:r>
              <a:t>https://tass.ru/obschestvo/23491353</a:t>
            </a:r>
          </a:p>
          <a:p xmlns:a="http://schemas.openxmlformats.org/drawingml/2006/main">
            <a:r>
              <a:t>https://www.murman.ru/news/2026/09/03/2243/</a:t>
            </a:r>
          </a:p>
          <a:p xmlns:a="http://schemas.openxmlformats.org/drawingml/2006/main">
            <a:r>
              <a:t>https://msp.citymurmansk.ru/news/2026/09/03/0930/</a:t>
            </a:r>
          </a:p>
          <a:p xmlns:a="http://schemas.openxmlformats.org/drawingml/2006/main">
            <a:r>
              <a:t>http://kremlin.ru/events/president/letters/80916</a:t>
            </a:r>
          </a:p>
          <a:p xmlns:a="http://schemas.openxmlformats.org/drawingml/2006/main">
            <a:r>
              <a:t>https://www.murmansk.kp.ru/daily/277813.4/5300258/</a:t>
            </a:r>
          </a:p>
          <a:p xmlns:a="http://schemas.openxmlformats.org/drawingml/2006/main">
            <a:r>
              <a:t>https://www.fontanka.ru/2021/07/27/70046798/</a:t>
            </a:r>
          </a:p>
          <a:p xmlns:a="http://schemas.openxmlformats.org/drawingml/2006/main">
            <a:r>
              <a:t>https://www.kommersant.ru/doc/4639758</a:t>
            </a:r>
          </a:p>
          <a:p xmlns:a="http://schemas.openxmlformats.org/drawingml/2006/main">
            <a:r>
              <a:t>https://www.bbc.com/russian/news-55614829</a:t>
            </a:r>
          </a:p>
          <a:p xmlns:a="http://schemas.openxmlformats.org/drawingml/2006/main">
            <a:r>
              <a:t>https://newpeople.ru/Deputy/sardana-avksenteva</a:t>
            </a:r>
          </a:p>
          <a:p xmlns:a="http://schemas.openxmlformats.org/drawingml/2006/main">
            <a:r>
              <a:t>https://www.pnp.ru/economics/kontrol-za-koncessionnymi-soglasheniyami-predlozhili-usilit.html</a:t>
            </a:r>
          </a:p>
          <a:p xmlns:a="http://schemas.openxmlformats.org/drawingml/2006/main">
            <a:r>
              <a:t>https://www.ng.ru/politics/2024-12-05/1_9150_right.html</a:t>
            </a:r>
          </a:p>
          <a:p xmlns:a="http://schemas.openxmlformats.org/drawingml/2006/main">
            <a:r>
              <a:t>https://news.ru/society/v-novyh-lyudyah-rasskazali-o-glavnyh-zadachah-partii-pered-vyborami</a:t>
            </a:r>
          </a:p>
          <a:p xmlns:a="http://schemas.openxmlformats.org/drawingml/2006/main">
            <a:r>
              <a:t>https://www.kommersant.ru/doc/8939397</a:t>
            </a:r>
          </a:p>
          <a:p xmlns:a="http://schemas.openxmlformats.org/drawingml/2006/main">
            <a:r>
              <a:t>https://tass.ru/info/5220823</a:t>
            </a:r>
          </a:p>
          <a:p xmlns:a="http://schemas.openxmlformats.org/drawingml/2006/main">
            <a:r>
              <a:t>https://tass.ru/info/15547711</a:t>
            </a:r>
          </a:p>
          <a:p xmlns:a="http://schemas.openxmlformats.org/drawingml/2006/main">
            <a:r>
              <a:t>https://www.bbc.com/russian/features-62661643</a:t>
            </a:r>
          </a:p>
          <a:p xmlns:a="http://schemas.openxmlformats.org/drawingml/2006/main">
            <a:r>
              <a:t>https://www.kommersant.ru/doc/3298219</a:t>
            </a:r>
          </a:p>
          <a:p xmlns:a="http://schemas.openxmlformats.org/drawingml/2006/main">
            <a:r>
              <a:t>https://www.svoboda.org/a/31217129.html</a:t>
            </a:r>
          </a:p>
          <a:p xmlns:a="http://schemas.openxmlformats.org/drawingml/2006/main">
            <a:r>
              <a:t>https://www.interfax.ru/russia/902059</a:t>
            </a:r>
          </a:p>
          <a:p xmlns:a="http://schemas.openxmlformats.org/drawingml/2006/main">
            <a:r>
              <a:t>https://www.bfm.ru/news/525620</a:t>
            </a:r>
          </a:p>
          <a:p xmlns:a="http://schemas.openxmlformats.org/drawingml/2006/main">
            <a:r>
              <a:t>https://novayagazeta.ru/articles/2023/03/16/do-urovnia-myshei-media</a:t>
            </a:r>
          </a:p>
          <a:p xmlns:a="http://schemas.openxmlformats.org/drawingml/2006/main">
            <a:r>
              <a:t>https://tjournal.ru/71076</a:t>
            </a:r>
          </a:p>
          <a:p xmlns:a="http://schemas.openxmlformats.org/drawingml/2006/main">
            <a:r>
              <a:t>https://www.nakanune.ru/articles/111648/</a:t>
            </a:r>
          </a:p>
          <a:p xmlns:a="http://schemas.openxmlformats.org/drawingml/2006/main">
            <a:r>
              <a:t>https://adcmemorial.org/statyi/kolonki/neprotivlenie-rasizmu/</a:t>
            </a:r>
          </a:p>
          <a:p xmlns:a="http://schemas.openxmlformats.org/drawingml/2006/main">
            <a:r>
              <a:t>https://www.svoboda.org/a/royzman-i-drugie-zhiteli-ekaterinburga/31997151.html</a:t>
            </a:r>
          </a:p>
          <a:p xmlns:a="http://schemas.openxmlformats.org/drawingml/2006/main">
            <a:r>
              <a:t>https://www.e1.ru/text/politics/2022/02/24/70466417/</a:t>
            </a:r>
          </a:p>
          <a:p xmlns:a="http://schemas.openxmlformats.org/drawingml/2006/main">
            <a:r>
              <a:t>https://www.dw.com/ru/kommentarij-evgenij-rojzman-i-sila-pravdy/a-62917754</a:t>
            </a:r>
          </a:p>
          <a:p xmlns:a="http://schemas.openxmlformats.org/drawingml/2006/main">
            <a:r>
              <a:t>https://meduza.io/paragraph/2022/08/26/priehali-moskvichi-i-dumali-chto-zdes-duraki-sobralis</a:t>
            </a:r>
          </a:p>
          <a:p xmlns:a="http://schemas.openxmlformats.org/drawingml/2006/main">
            <a:r>
              <a:t>https://znamlit.ru/publication.php?id=7379</a:t>
            </a:r>
          </a:p>
          <a:p xmlns:a="http://schemas.openxmlformats.org/drawingml/2006/main">
            <a:r>
              <a:t>https://tass.ru/interviews/6080499</a:t>
            </a:r>
          </a:p>
          <a:p xmlns:a="http://schemas.openxmlformats.org/drawingml/2006/main">
            <a:r>
              <a:t>https://45.ru/text/politics/2024/09/09/73952072/</a:t>
            </a:r>
          </a:p>
          <a:p xmlns:a="http://schemas.openxmlformats.org/drawingml/2006/main">
            <a:r>
              <a:t>http://special.kremlin.ru/events/president/news/70638</a:t>
            </a:r>
          </a:p>
          <a:p xmlns:a="http://schemas.openxmlformats.org/drawingml/2006/main">
            <a:r>
              <a:t>https://ura.news/news/1053132902</a:t>
            </a:r>
          </a:p>
          <a:p xmlns:a="http://schemas.openxmlformats.org/drawingml/2006/main">
            <a:r>
              <a:t>https://ura.news/articles/1036276564</a:t>
            </a:r>
          </a:p>
          <a:p xmlns:a="http://schemas.openxmlformats.org/drawingml/2006/main">
            <a:r>
              <a:t>https://tass.ru/novosti-regionov/28187431</a:t>
            </a:r>
          </a:p>
          <a:p xmlns:a="http://schemas.openxmlformats.org/drawingml/2006/main">
            <a:r>
              <a:t>https://fedpress.ru/person/1753607</a:t>
            </a:r>
          </a:p>
          <a:p xmlns:a="http://schemas.openxmlformats.org/drawingml/2006/main">
            <a:r>
              <a:t>https://eburg.mk.ru/social/2026/10/14/zhiteley-zauralya-predupredili-o-lozhnykh-videorolikakh-s-gubernatorom.html</a:t>
            </a:r>
          </a:p>
          <a:p xmlns:a="http://schemas.openxmlformats.org/drawingml/2006/main">
            <a:r>
              <a:t>https://regnum.ru/news/3530808</a:t>
            </a:r>
          </a:p>
          <a:p xmlns:a="http://schemas.openxmlformats.org/drawingml/2006/main">
            <a:r>
              <a:t>https://kurganvera.ru/news/vrns/mitropolit-daniil-i-vadim-shumkov-vozglavili-delegatsiyu-kurganskoy-oblasti-na-vsemirnom-russkom-sob/</a:t>
            </a:r>
          </a:p>
          <a:p xmlns:a="http://schemas.openxmlformats.org/drawingml/2006/main">
            <a:r>
              <a:t>https://45.ru/text/politics/2026/06/26/76499700/</a:t>
            </a:r>
          </a:p>
          <a:p xmlns:a="http://schemas.openxmlformats.org/drawingml/2006/main">
            <a:r>
              <a:t>https://niva-kurtamysh.com/news/obshchestvo/vystuplenie-gubernatora-kurganskoy-oblasti-vadima-shumkova</a:t>
            </a:r>
          </a:p>
          <a:p xmlns:a="http://schemas.openxmlformats.org/drawingml/2006/main">
            <a:r>
              <a:t>https://t.me/s/kurganskayaobl?before=42616</a:t>
            </a:r>
          </a:p>
          <a:p xmlns:a="http://schemas.openxmlformats.org/drawingml/2006/main">
            <a:r>
              <a:t>https://www.bbc.com/russian/news-54368577</a:t>
            </a:r>
          </a:p>
          <a:p xmlns:a="http://schemas.openxmlformats.org/drawingml/2006/main">
            <a:r>
              <a:t>https://www.bbc.com/russian/articles/cp0769dp15eo</a:t>
            </a:r>
          </a:p>
          <a:p xmlns:a="http://schemas.openxmlformats.org/drawingml/2006/main">
            <a:r>
              <a:t>https://navalny.com/materials/blogpost-6017</a:t>
            </a:r>
          </a:p>
          <a:p xmlns:a="http://schemas.openxmlformats.org/drawingml/2006/main">
            <a:r>
              <a:t>https://www.bbc.com/russian/news-58563592</a:t>
            </a:r>
          </a:p>
          <a:p xmlns:a="http://schemas.openxmlformats.org/drawingml/2006/main">
            <a:r>
              <a:t>https://navalny.com/materials/blogpost-6544</a:t>
            </a:r>
          </a:p>
          <a:p xmlns:a="http://schemas.openxmlformats.org/drawingml/2006/main">
            <a:r>
              <a:t>https://www.bbc.com/russian/news-58270043</a:t>
            </a:r>
          </a:p>
          <a:p xmlns:a="http://schemas.openxmlformats.org/drawingml/2006/main">
            <a:r>
              <a:t>https://www.bbc.com/russian/articles/cvg3p9l1e5ro</a:t>
            </a:r>
          </a:p>
          <a:p xmlns:a="http://schemas.openxmlformats.org/drawingml/2006/main">
            <a:r>
              <a:t>https://www.bbc.com/russian/features-54435835</a:t>
            </a:r>
          </a:p>
          <a:p xmlns:a="http://schemas.openxmlformats.org/drawingml/2006/main">
            <a:r>
              <a:t>https://2018.navalny.com/platform/7/</a:t>
            </a:r>
          </a:p>
          <a:p xmlns:a="http://schemas.openxmlformats.org/drawingml/2006/main">
            <a:r>
              <a:t>https://2018.navalny.com/platform/3/</a:t>
            </a:r>
          </a:p>
          <a:p xmlns:a="http://schemas.openxmlformats.org/drawingml/2006/main">
            <a:r>
              <a:t>https://2018.navalny.com/platform/10/</a:t>
            </a:r>
          </a:p>
          <a:p xmlns:a="http://schemas.openxmlformats.org/drawingml/2006/main">
            <a:r>
              <a:t>https://2018.navalny.com/platform/9/</a:t>
            </a:r>
          </a:p>
          <a:p xmlns:a="http://schemas.openxmlformats.org/drawingml/2006/main">
            <a:r>
              <a:t>https://navalny.com/editorials/aleksey-navalnyy-protiv-voyny</a:t>
            </a:r>
          </a:p>
          <a:p xmlns:a="http://schemas.openxmlformats.org/drawingml/2006/main">
            <a:r>
              <a:t>https://navalny.com/?p=149</a:t>
            </a:r>
          </a:p>
          <a:p xmlns:a="http://schemas.openxmlformats.org/drawingml/2006/main">
            <a:r>
              <a:t>https://www.interfax.ru/russia/876151</a:t>
            </a:r>
          </a:p>
          <a:p xmlns:a="http://schemas.openxmlformats.org/drawingml/2006/main">
            <a:r>
              <a:t>https://www.dw.com/ru/srok-ne-za-fejk-a-za-politiku-reakcii-v-frg-i-rf-na-prigovor-asinu/a-64049957</a:t>
            </a:r>
          </a:p>
          <a:p xmlns:a="http://schemas.openxmlformats.org/drawingml/2006/main">
            <a:r>
              <a:t>https://www.lemonde.fr/en/international/article/2025/05/27/russian-opposition-figure-ilya-yashin-if-ukraine-is-handed-over-to-putin-it-will-be-a-tragedy-and-the-prologue-to-a-global-confrontation_6741728_4.html</a:t>
            </a:r>
          </a:p>
          <a:p xmlns:a="http://schemas.openxmlformats.org/drawingml/2006/main">
            <a:r>
              <a:t>https://www.bbc.com/russian/articles/crgl69w9472o</a:t>
            </a:r>
          </a:p>
          <a:p xmlns:a="http://schemas.openxmlformats.org/drawingml/2006/main">
            <a:r>
              <a:t>https://www.svoboda.org/a/yashin-court/32165539.html</a:t>
            </a:r>
          </a:p>
          <a:p xmlns:a="http://schemas.openxmlformats.org/drawingml/2006/main">
            <a:r>
              <a:t>https://www.dw.com/ru/ila-asin-putin-predvoditel-sil-mrakobesia/a-69923731</a:t>
            </a:r>
          </a:p>
          <a:p xmlns:a="http://schemas.openxmlformats.org/drawingml/2006/main">
            <a:r>
              <a:t>https://novayagazeta.eu/articles/2025/08/01/my-ne-mozhem-trebovat-no-mozhem-obiasniat</a:t>
            </a:r>
          </a:p>
          <a:p xmlns:a="http://schemas.openxmlformats.org/drawingml/2006/main">
            <a:r>
              <a:t>https://meduza.io/feature/2019/07/20/to-chto-putin-ne-smog-sdelat-za-20-let-sobyanin-sdelal-za-mesyats</a:t>
            </a:r>
          </a:p>
          <a:p xmlns:a="http://schemas.openxmlformats.org/drawingml/2006/main">
            <a:r>
              <a:t>https://novayagazeta.eu/articles/2024/11/18/pochuvstvovat-sebia-ne-odinokimi</a:t>
            </a:r>
          </a:p>
          <a:p xmlns:a="http://schemas.openxmlformats.org/drawingml/2006/main">
            <a:r>
              <a:t>https://www.svoboda.org/a/voyna-putin-i-politzaklyuchennye-iljya-yashin-o-svoih-planah/33177839.html</a:t>
            </a:r>
          </a:p>
          <a:p xmlns:a="http://schemas.openxmlformats.org/drawingml/2006/main">
            <a:r>
              <a:t>https://www.dw.com/ru/asin-sejcas-nevozmozno-obedinit-rossijskuu-oppoziciu-da-i-ne-nuzno/a-70291088</a:t>
            </a:r>
          </a:p>
          <a:p xmlns:a="http://schemas.openxmlformats.org/drawingml/2006/main">
            <a:r>
              <a:t>https://www.dw.com/ru/vladimir-karamurza/t-37465233</a:t>
            </a:r>
          </a:p>
          <a:p xmlns:a="http://schemas.openxmlformats.org/drawingml/2006/main">
            <a:r>
              <a:t>https://ovd.info/persons/kara-murza-vladimir-vladimirovich</a:t>
            </a:r>
          </a:p>
          <a:p xmlns:a="http://schemas.openxmlformats.org/drawingml/2006/main">
            <a:r>
              <a:t>https://ovd.info/2024/08/03/kogo-rossiya-vydala-v-ramkakh-obmena-zaklyuchennymi-s-zapadom-istorii-osvobozhdennykh</a:t>
            </a:r>
          </a:p>
          <a:p xmlns:a="http://schemas.openxmlformats.org/drawingml/2006/main">
            <a:r>
              <a:t>https://www.svoboda.org/a/kara-murza-obmen/33059121.html</a:t>
            </a:r>
          </a:p>
          <a:p xmlns:a="http://schemas.openxmlformats.org/drawingml/2006/main">
            <a:r>
              <a:t>https://novayagazeta.ru/articles/2024/08/16/prezident-baiden-prinial-osvobozhdennogo-v-rezultate-obmena-politzakliuchennogo-vladimira-kara-murzu-s-semei-v-belom-dome-news</a:t>
            </a:r>
          </a:p>
          <a:p xmlns:a="http://schemas.openxmlformats.org/drawingml/2006/main">
            <a:r>
              <a:t>https://genevasummit.org/speech/vladimir-kara-murza-speaks-at-2018-geneva-summit-main-event/</a:t>
            </a:r>
          </a:p>
          <a:p xmlns:a="http://schemas.openxmlformats.org/drawingml/2006/main">
            <a:r>
              <a:t>https://humanrights.ca/event-series/presidents-lecture-series</a:t>
            </a:r>
          </a:p>
          <a:p xmlns:a="http://schemas.openxmlformats.org/drawingml/2006/main">
            <a:r>
              <a:t>https://www.radiofrance.fr/franceinter/podcasts/l-info-de-france-inter/la-democratie-doit-etre-protegee-chaque-minute-de-chaque-jour-declare-l-opposant-russe-vladimir-kara-mourza-8105094</a:t>
            </a:r>
          </a:p>
          <a:p xmlns:a="http://schemas.openxmlformats.org/drawingml/2006/main">
            <a:r>
              <a:t>https://georgetownvoice.com/2025/10/08/dissident-in-residence-vladimir-kara-murza-applies-past-lessons-to-present-day-in-recent-event-discussing-democracy/</a:t>
            </a:r>
          </a:p>
          <a:p xmlns:a="http://schemas.openxmlformats.org/drawingml/2006/main">
            <a:r>
              <a:t>https://www.oscepa.org/en/documents/winter-meetings/2025-vienna/speeches-36/5176-vladimir-kara-murza-address-to-the-osce-pa-winter-meeting-in-vienna-21-february-2025/file</a:t>
            </a:r>
          </a:p>
          <a:p xmlns:a="http://schemas.openxmlformats.org/drawingml/2006/main">
            <a:r>
              <a:t>https://hrf.org/wp-content/uploads/2024/10/VKM-%E2%80%93-Statement-of-Facts-and-Levinson-Analysis.pdf</a:t>
            </a:r>
          </a:p>
          <a:p xmlns:a="http://schemas.openxmlformats.org/drawingml/2006/main">
            <a:r>
              <a:t>https://www.govinfo.gov/content/pkg/CREC-2024-06-11/html/CREC-2024-06-11-pt1-PgH3699.htm</a:t>
            </a:r>
          </a:p>
          <a:p xmlns:a="http://schemas.openxmlformats.org/drawingml/2006/main">
            <a:r>
              <a:t>https://antiwarcommittee.info/en/statement-on-the-persecution-of-vladimir-kara-murza/</a:t>
            </a:r>
          </a:p>
          <a:p xmlns:a="http://schemas.openxmlformats.org/drawingml/2006/main">
            <a:r>
              <a:t>https://www.norway.no/en/missions/osce/norway-and-the-osce/statements/statements-with--norwegian-alignment-2024/joint-statement-on-vladimir-kara-murza/</a:t>
            </a:r>
          </a:p>
          <a:p xmlns:a="http://schemas.openxmlformats.org/drawingml/2006/main">
            <a:r>
              <a:t>https://www.aljazeera.com/news/2025/4/23/kremlin-critic-decried-for-racist-rant-on-minorities-fighting-for-russia</a:t>
            </a:r>
          </a:p>
          <a:p xmlns:a="http://schemas.openxmlformats.org/drawingml/2006/main">
            <a:r>
              <a:t>https://www.rmc.edu/news/former-political-prisoner-vladimir-kara-murza-offers-vision-of-hope-for-russian-democracy/</a:t>
            </a:r>
          </a:p>
          <a:p xmlns:a="http://schemas.openxmlformats.org/drawingml/2006/main">
            <a:r>
              <a:t>https://2018.yavlinsky.ru/campaign/</a:t>
            </a:r>
          </a:p>
          <a:p xmlns:a="http://schemas.openxmlformats.org/drawingml/2006/main">
            <a:r>
              <a:t>http://2018.yavlinsky.ru/programm/</a:t>
            </a:r>
          </a:p>
          <a:p xmlns:a="http://schemas.openxmlformats.org/drawingml/2006/main">
            <a:r>
              <a:t>https://campaign2018.yavlinsky.ru/</a:t>
            </a:r>
          </a:p>
          <a:p xmlns:a="http://schemas.openxmlformats.org/drawingml/2006/main">
            <a:r>
              <a:t>https://www.yavlinsky.ru/position/war/</a:t>
            </a:r>
          </a:p>
          <a:p xmlns:a="http://schemas.openxmlformats.org/drawingml/2006/main">
            <a:r>
              <a:t>https://www.yavlinsky.ru/position/cease-fire/</a:t>
            </a:r>
          </a:p>
          <a:p xmlns:a="http://schemas.openxmlformats.org/drawingml/2006/main">
            <a:r>
              <a:t>https://www.yavlinsky.ru/article_tax/ukraina/</a:t>
            </a:r>
          </a:p>
          <a:p xmlns:a="http://schemas.openxmlformats.org/drawingml/2006/main">
            <a:r>
              <a:t>https://www.yavlinsky.ru/biografiya/</a:t>
            </a:r>
          </a:p>
          <a:p xmlns:a="http://schemas.openxmlformats.org/drawingml/2006/main">
            <a:r>
              <a:t>https://www.yabloko.ru/publikatsii/2018/02/15_0</a:t>
            </a:r>
          </a:p>
          <a:p xmlns:a="http://schemas.openxmlformats.org/drawingml/2006/main">
            <a:r>
              <a:t>https://www.yabloko.ru/publikatsii/2018/06/19</a:t>
            </a:r>
          </a:p>
          <a:p xmlns:a="http://schemas.openxmlformats.org/drawingml/2006/main">
            <a:r>
              <a:t>https://www.yavlinsky.ru/article/eto-referendum/</a:t>
            </a:r>
          </a:p>
          <a:p xmlns:a="http://schemas.openxmlformats.org/drawingml/2006/main">
            <a:r>
              <a:t>https://www.svoboda.org/a/27801792.html</a:t>
            </a:r>
          </a:p>
          <a:p xmlns:a="http://schemas.openxmlformats.org/drawingml/2006/main">
            <a:r>
              <a:t>https://www.svoboda.org/a/29294829.html</a:t>
            </a:r>
          </a:p>
          <a:p xmlns:a="http://schemas.openxmlformats.org/drawingml/2006/main">
            <a:r>
              <a:t>https://www.yavlinsky.ru/article/intervyu-g-yavlinskogo-zhertvy-budut-proryva-net/</a:t>
            </a:r>
          </a:p>
          <a:p xmlns:a="http://schemas.openxmlformats.org/drawingml/2006/main">
            <a:r>
              <a:t>https://www.yavlinsky.ru/article/my-budem-idti-do-kontsa/</a:t>
            </a:r>
          </a:p>
          <a:p xmlns:a="http://schemas.openxmlformats.org/drawingml/2006/main">
            <a:r>
              <a:t>https://www.yavlinsky.ru/article/prezidentskie-vybory-1996-30-let-spustya/</a:t>
            </a:r>
          </a:p>
          <a:p xmlns:a="http://schemas.openxmlformats.org/drawingml/2006/main">
            <a:r>
              <a:t>https://www.forbes.ru/interview/45575-reformatory-prihodyat-k-vlasti-grigorii-yavlinskii</a:t>
            </a:r>
          </a:p>
          <a:p xmlns:a="http://schemas.openxmlformats.org/drawingml/2006/main">
            <a:r>
              <a:t>https://www.bbc.com/russian/articles/cy8ee2wngd8o</a:t>
            </a:r>
          </a:p>
          <a:p xmlns:a="http://schemas.openxmlformats.org/drawingml/2006/main">
            <a:r>
              <a:t>https://www.yabloko.ru/regnews/Pskov/2019/01/21-0</a:t>
            </a:r>
          </a:p>
          <a:p xmlns:a="http://schemas.openxmlformats.org/drawingml/2006/main">
            <a:r>
              <a:t>https://www.yabloko.ru/publikatsii/2019/06/14</a:t>
            </a:r>
          </a:p>
          <a:p xmlns:a="http://schemas.openxmlformats.org/drawingml/2006/main">
            <a:r>
              <a:t>https://zona.media/article/2019/02/27/pskov</a:t>
            </a:r>
          </a:p>
          <a:p xmlns:a="http://schemas.openxmlformats.org/drawingml/2006/main">
            <a:r>
              <a:t>https://spektr.press/ya-otvechayu-za-vse-mnoj-skazannoe-no-ne-otvechayu-za-izvraschenie-skazannogo-lev-shlosberg-o-travle-i-setkah-telegram-kanalov-odnokletochnyh-politikah-reshivshih-pobedit-putina-rukami-u/</a:t>
            </a:r>
          </a:p>
          <a:p xmlns:a="http://schemas.openxmlformats.org/drawingml/2006/main">
            <a:r>
              <a:t>https://www.yabloko.ru/Persons/shlosberg.html</a:t>
            </a:r>
          </a:p>
          <a:p xmlns:a="http://schemas.openxmlformats.org/drawingml/2006/main">
            <a:r>
              <a:t>https://pln-pskov.ru/politics/314872.html</a:t>
            </a:r>
          </a:p>
          <a:p xmlns:a="http://schemas.openxmlformats.org/drawingml/2006/main">
            <a:r>
              <a:t>https://www.yabloko.ru/publikatsii/2022/02/18-0</a:t>
            </a:r>
          </a:p>
          <a:p xmlns:a="http://schemas.openxmlformats.org/drawingml/2006/main">
            <a:r>
              <a:t>https://ru.krymr.com/a/rossiya-putin-voyna-repressii-lev-shlosberg-intervyu/31806389.html</a:t>
            </a:r>
          </a:p>
          <a:p xmlns:a="http://schemas.openxmlformats.org/drawingml/2006/main">
            <a:r>
              <a:t>https://www.currenttime.tv/a/politika-vlastey-chtoby-lyudi-perestali-govorit-o-spetsialnoy-voennoy-operatsii-lev-shlosberg-o-dele-protiv-nego-i-nikolaya-kuzmina/31807396.html</a:t>
            </a:r>
          </a:p>
          <a:p xmlns:a="http://schemas.openxmlformats.org/drawingml/2006/main">
            <a:r>
              <a:t>https://zona.media/article/2026/08/14/schlosberg</a:t>
            </a:r>
          </a:p>
          <a:p xmlns:a="http://schemas.openxmlformats.org/drawingml/2006/main">
            <a:r>
              <a:t>https://www.svoboda.org/a/lishniy-zalozhnik-vot-chto-im-vazhno-arest-lva-shlosberga/33615624.html</a:t>
            </a:r>
          </a:p>
          <a:p xmlns:a="http://schemas.openxmlformats.org/drawingml/2006/main">
            <a:r>
              <a:t>https://novayagazeta.eu/articles/2026/08/17/ostavshiisia</a:t>
            </a:r>
          </a:p>
          <a:p xmlns:a="http://schemas.openxmlformats.org/drawingml/2006/main">
            <a:r>
              <a:t>https://www.yabloko.ru/content/vishnevskii_boris_lazarevich</a:t>
            </a:r>
          </a:p>
          <a:p xmlns:a="http://schemas.openxmlformats.org/drawingml/2006/main">
            <a:r>
              <a:t>https://www.dp.ru/a/2018/06/18/Aktivnaja_storona_konflikt</a:t>
            </a:r>
          </a:p>
          <a:p xmlns:a="http://schemas.openxmlformats.org/drawingml/2006/main">
            <a:r>
              <a:t>https://www.bbc.com/russian/features-58481940</a:t>
            </a:r>
          </a:p>
          <a:p xmlns:a="http://schemas.openxmlformats.org/drawingml/2006/main">
            <a:r>
              <a:t>https://www.dp.ru/a/2023/01/16/Deputat_Peterburga_Vishnev</a:t>
            </a:r>
          </a:p>
          <a:p xmlns:a="http://schemas.openxmlformats.org/drawingml/2006/main">
            <a:r>
              <a:t>https://echofm.online/portret-dnya/portret-dnya-boris-vishnevskij-peterburgskij-politik</a:t>
            </a:r>
          </a:p>
          <a:p xmlns:a="http://schemas.openxmlformats.org/drawingml/2006/main">
            <a:r>
              <a:t>https://spb.yabloko.ru/people/vishnevskij-boris-lazarevich/</a:t>
            </a:r>
          </a:p>
          <a:p xmlns:a="http://schemas.openxmlformats.org/drawingml/2006/main">
            <a:r>
              <a:t>https://www.dp.ru/a/2026/08/26/bitva-nachalas-gde-v-peterburge</a:t>
            </a:r>
          </a:p>
          <a:p xmlns:a="http://schemas.openxmlformats.org/drawingml/2006/main">
            <a:r>
              <a:t>https://www.yabloko.ru/regnews/Spb/2022/02/21</a:t>
            </a:r>
          </a:p>
          <a:p xmlns:a="http://schemas.openxmlformats.org/drawingml/2006/main">
            <a:r>
              <a:t>https://www.yabloko.ru/cat-news/2021/08/06-0</a:t>
            </a:r>
          </a:p>
          <a:p xmlns:a="http://schemas.openxmlformats.org/drawingml/2006/main">
            <a:r>
              <a:t>https://www.rbc.ru/spb_sz/16/01/2023/63c53d9c9a7947d9bef4b853</a:t>
            </a:r>
          </a:p>
          <a:p xmlns:a="http://schemas.openxmlformats.org/drawingml/2006/main">
            <a:r>
              <a:t>https://www.rbc.ru/politics/06/05/2024/6638a8609a79472c01075a2c</a:t>
            </a:r>
          </a:p>
          <a:p xmlns:a="http://schemas.openxmlformats.org/drawingml/2006/main">
            <a:r>
              <a:t>https://www.svoboda.org/a/politika-dmitriya-gudkova-deportirovali-iz-gruzii-v-kiev/31679697.html</a:t>
            </a:r>
          </a:p>
          <a:p xmlns:a="http://schemas.openxmlformats.org/drawingml/2006/main">
            <a:r>
              <a:t>https://ru.krymr.com/a/dmitriy-gudkov-ob-otyezde-iz-rossii/31295079.html</a:t>
            </a:r>
          </a:p>
          <a:p xmlns:a="http://schemas.openxmlformats.org/drawingml/2006/main">
            <a:r>
              <a:t>https://daily.afisha.ru/news/114366-syn-politika-dmitriya-gudkova-pokonchil-s-soboy-v-emigracii/amp/</a:t>
            </a:r>
          </a:p>
          <a:p xmlns:a="http://schemas.openxmlformats.org/drawingml/2006/main">
            <a:r>
              <a:t>https://life.ru/t/dmitriygudkov</a:t>
            </a:r>
          </a:p>
          <a:p xmlns:a="http://schemas.openxmlformats.org/drawingml/2006/main">
            <a:r>
              <a:t>https://uk.wikipedia.org/wiki/%D0%93%D1%83%D0%B4%D0%BA%D0%BE%D0%B2_%D0%94%D0%BC%D0%B8%D1%82%D1%80%D1%96%D0%B9_%D0%93%D0%B5%D0%BD%D0%B0%D0%B4%D1%96%D0%B9%D0%BE%D0%B2%D0%B8%D1%87</a:t>
            </a:r>
          </a:p>
          <a:p xmlns:a="http://schemas.openxmlformats.org/drawingml/2006/main">
            <a:r>
              <a:t>https://mt.gazeta.ru/blog/43692366076/Syin-byivshego-deputata-Gosdumyi-Dmitriya-Gudkova-pokonchil-s-so?utm_referrer=mirtesen.ru</a:t>
            </a:r>
          </a:p>
          <a:p xmlns:a="http://schemas.openxmlformats.org/drawingml/2006/main">
            <a:r>
              <a:t>https://www.bbc.com/russian/news-57381443</a:t>
            </a:r>
          </a:p>
          <a:p xmlns:a="http://schemas.openxmlformats.org/drawingml/2006/main">
            <a:r>
              <a:t>https://www.themoscowtimes.com/2021/06/06/kremlin-critic-dmitry-gudkov-flees-to-ukraine-a74123</a:t>
            </a:r>
          </a:p>
          <a:p xmlns:a="http://schemas.openxmlformats.org/drawingml/2006/main">
            <a:r>
              <a:t>https://www.yabloko.ru/publikatsii/2016/09/15</a:t>
            </a:r>
          </a:p>
          <a:p xmlns:a="http://schemas.openxmlformats.org/drawingml/2006/main">
            <a:r>
              <a:t>https://novayagazeta.ru/articles/2018/03/21/75886-ya-privyk-lyudyam-verit</a:t>
            </a:r>
          </a:p>
          <a:p xmlns:a="http://schemas.openxmlformats.org/drawingml/2006/main">
            <a:r>
              <a:t>https://www.rbc.ru/politics/15/03/2018/5aaa98049a7947d12d63f1e1</a:t>
            </a:r>
          </a:p>
          <a:p xmlns:a="http://schemas.openxmlformats.org/drawingml/2006/main">
            <a:r>
              <a:t>https://rus.team/people/gudkov-dmitrij-gennadevich</a:t>
            </a:r>
          </a:p>
          <a:p xmlns:a="http://schemas.openxmlformats.org/drawingml/2006/main">
            <a:r>
              <a:t>https://www.azattyqasia.org/a/chto-proiskhodit-v-donbasse-/31863310/lbl0lbi299676.html</a:t>
            </a:r>
          </a:p>
          <a:p xmlns:a="http://schemas.openxmlformats.org/drawingml/2006/main">
            <a:r>
              <a:t>https://www.dw.com/ru/dmitrij-gudkov-putin-na-storone-partii-vojny-no-pri-etom-on-trus-21092022/video-63193199</a:t>
            </a:r>
          </a:p>
          <a:p xmlns:a="http://schemas.openxmlformats.org/drawingml/2006/main">
            <a:r>
              <a:t>https://ru.wikinews.org/wiki/%D0%9A%D0%B0%D1%82%D0%B5%D0%B3%D0%BE%D1%80%D0%B8%D1%8F:%D0%93%D0%B5%D0%BD%D0%BD%D0%B0%D0%B4%D0%B8%D0%B9_%D0%93%D1%83%D0%B4%D0%BA%D0%BE%D0%B2</a:t>
            </a:r>
          </a:p>
          <a:p xmlns:a="http://schemas.openxmlformats.org/drawingml/2006/main">
            <a:r>
              <a:t>https://en.wikipedia.org/wiki/Gennady_Gudkov</a:t>
            </a:r>
          </a:p>
          <a:p xmlns:a="http://schemas.openxmlformats.org/drawingml/2006/main">
            <a:r>
              <a:t>https://x.com/gudkov_g</a:t>
            </a:r>
          </a:p>
          <a:p xmlns:a="http://schemas.openxmlformats.org/drawingml/2006/main">
            <a:r>
              <a:t>https://www.dw.com/ru/chto-dmitrij-gudkov-nameren-delat-v-ukraine-i-vernetsja-li-v-rossiju/a-57830619</a:t>
            </a:r>
          </a:p>
          <a:p xmlns:a="http://schemas.openxmlformats.org/drawingml/2006/main">
            <a:r>
              <a:t>https://ru.wikipedia.org/wiki/%D0%93%D1%83%D0%B4%D0%BA%D0%BE%D0%B2,_%D0%93%D0%B5%D0%BD%D0%BD%D0%B0%D0%B4%D0%B8%D0%B9_%D0%92%D0%BB%D0%B0%D0%B4%D0%B8%D0%BC%D0%B8%D1%80%D0%BE%D0%B2%D0%B8%D1%87</a:t>
            </a:r>
          </a:p>
          <a:p xmlns:a="http://schemas.openxmlformats.org/drawingml/2006/main">
            <a:r>
              <a:t>https://ru.wikipedia.org/wiki/%D0%93%D1%83%D0%B4%D0%BA%D0%BE%D0%B2,_%D0%94%D0%BC%D0%B8%D1%82%D1%80%D0%B8%D0%B9_%D0%93%D0%B5%D0%BD%D0%BD%D0%B0%D0%B4%D1%8C%D0%B5%D0%B2%D0%B8%D1%87</a:t>
            </a:r>
          </a:p>
          <a:p xmlns:a="http://schemas.openxmlformats.org/drawingml/2006/main">
            <a:r>
              <a:t>https://utro02.tv/2022/10/31/navstrechu-sezdu-gennadij-gudkov-o-vyborah-obedinenii-oppoziczii-i-razdelenii-vlasti/</a:t>
            </a:r>
          </a:p>
          <a:p xmlns:a="http://schemas.openxmlformats.org/drawingml/2006/main">
            <a:r>
              <a:t>https://www.unian.net/war/rossiyskiy-oppozicioner-gudkov-putin-nachinaet-ponimat-chto-nastupaet-zh-pa-12031263.html</a:t>
            </a:r>
          </a:p>
          <a:p xmlns:a="http://schemas.openxmlformats.org/drawingml/2006/main">
            <a:r>
              <a:t>https://bntnews.bg/genadiy-gudkov-86846tag.html</a:t>
            </a:r>
          </a:p>
          <a:p xmlns:a="http://schemas.openxmlformats.org/drawingml/2006/main">
            <a:r>
              <a:t>https://tass.ru/encyclopedia/person/gudkov-dmitriy-gennadevich</a:t>
            </a:r>
          </a:p>
          <a:p xmlns:a="http://schemas.openxmlformats.org/drawingml/2006/main">
            <a:r>
              <a:t>https://www.kasparov.com/garry-kasparov-on-putin-and-the-virus-of-imperialism-wsj-free-expression-april-11-2022/</a:t>
            </a:r>
          </a:p>
          <a:p xmlns:a="http://schemas.openxmlformats.org/drawingml/2006/main">
            <a:r>
              <a:t>https://www.ilmessaggero.it/en/garry_kasparov_from_chess_champion_to_kremlin_critic-9797261.html</a:t>
            </a:r>
          </a:p>
          <a:p xmlns:a="http://schemas.openxmlformats.org/drawingml/2006/main">
            <a:r>
              <a:t>https://www.kasparov.com/category/russia/</a:t>
            </a:r>
          </a:p>
          <a:p xmlns:a="http://schemas.openxmlformats.org/drawingml/2006/main">
            <a:r>
              <a:t>https://www.kasparov.com/category/politics/</a:t>
            </a:r>
          </a:p>
          <a:p xmlns:a="http://schemas.openxmlformats.org/drawingml/2006/main">
            <a:r>
              <a:t>https://en.wikipedia.org/wiki/Political_views_of_Garry_Kasparov</a:t>
            </a:r>
          </a:p>
          <a:p xmlns:a="http://schemas.openxmlformats.org/drawingml/2006/main">
            <a:r>
              <a:t>https://www.dw.com/ru/kasparov-v-intervu-dw-vse-cto-delal-delaet-i-budet-delat-tramp-pomogaet-putinu/a-79633734</a:t>
            </a:r>
          </a:p>
          <a:p xmlns:a="http://schemas.openxmlformats.org/drawingml/2006/main">
            <a:r>
              <a:t>https://www.kasparov.com/</a:t>
            </a:r>
          </a:p>
          <a:p xmlns:a="http://schemas.openxmlformats.org/drawingml/2006/main">
            <a:r>
              <a:t>https://www.kasparov.com/a-conversation-with-garry-kasparov-thought-economics-with-vikas-shas-may-21-2017/</a:t>
            </a:r>
          </a:p>
          <a:p xmlns:a="http://schemas.openxmlformats.org/drawingml/2006/main">
            <a:r>
              <a:t>https://www.kasparov.com/new-yorker-interview-the-chess-grandmaster-and-political-activist-on-putin-trump-and-how-we-are-living-again-through-the-eighteen-fifties/</a:t>
            </a:r>
          </a:p>
          <a:p xmlns:a="http://schemas.openxmlformats.org/drawingml/2006/main">
            <a:r>
              <a:t>https://www.cnbc.com/2017/02/13/the-full-interview-with-former-world-chess-champion-garry-kasparov-on-trump-putin.html</a:t>
            </a:r>
          </a:p>
          <a:p xmlns:a="http://schemas.openxmlformats.org/drawingml/2006/main">
            <a:r>
              <a:t>https://www.reuters.com/world/europe/kasparov-calls-world-powers-throw-russia-back-into-stone-age-2022-03-03/</a:t>
            </a:r>
          </a:p>
          <a:p xmlns:a="http://schemas.openxmlformats.org/drawingml/2006/main">
            <a:r>
              <a:t>https://khodorkovsky.com/open-russia-manifesto/</a:t>
            </a:r>
          </a:p>
          <a:p xmlns:a="http://schemas.openxmlformats.org/drawingml/2006/main">
            <a:r>
              <a:t>https://khodorkovsky.com/programmes/initiatives/openrussia/</a:t>
            </a:r>
          </a:p>
          <a:p xmlns:a="http://schemas.openxmlformats.org/drawingml/2006/main">
            <a:r>
              <a:t>https://khodorkovsky.com/page/65/?m</a:t>
            </a:r>
          </a:p>
          <a:p xmlns:a="http://schemas.openxmlformats.org/drawingml/2006/main">
            <a:r>
              <a:t>https://khodorkovsky.com/page/80/?m</a:t>
            </a:r>
          </a:p>
          <a:p xmlns:a="http://schemas.openxmlformats.org/drawingml/2006/main">
            <a:r>
              <a:t>https://angliya.com/publication/mihail-hodorkovskiy-ne-priznayu-razdelenie-lyudey-na-osnovanii-politicheskih-vzglyadov/</a:t>
            </a:r>
          </a:p>
          <a:p xmlns:a="http://schemas.openxmlformats.org/drawingml/2006/main">
            <a:r>
              <a:t>https://www.dw.com/ru/mihail-hodorkovski-bojus-jeta-vojna-ne-budet-poslednej/a-61314556</a:t>
            </a:r>
          </a:p>
          <a:p xmlns:a="http://schemas.openxmlformats.org/drawingml/2006/main">
            <a:r>
              <a:t>https://ru.euronews.com/2022/06/21/ru-khodorkovsky-interview</a:t>
            </a:r>
          </a:p>
          <a:p xmlns:a="http://schemas.openxmlformats.org/drawingml/2006/main">
            <a:r>
              <a:t>https://ru.euronews.com/2022/06/23/mikhail-khodorkovsky</a:t>
            </a:r>
          </a:p>
          <a:p xmlns:a="http://schemas.openxmlformats.org/drawingml/2006/main">
            <a:r>
              <a:t>https://poligonmedia.io/mihail-hodorkovskij-putin-ne-pobedil/</a:t>
            </a:r>
          </a:p>
          <a:p xmlns:a="http://schemas.openxmlformats.org/drawingml/2006/main">
            <a:r>
              <a:t>https://www.pap.pl/ru/russian/news/khodorkovskiy-u-putina-est-prichiny-vesti-peregovory-o-prekraschenii-voyny-na-ukraine</a:t>
            </a:r>
          </a:p>
          <a:p xmlns:a="http://schemas.openxmlformats.org/drawingml/2006/main">
            <a:r>
              <a:t>https://milov.org/cat/debates</a:t>
            </a:r>
          </a:p>
          <a:p xmlns:a="http://schemas.openxmlformats.org/drawingml/2006/main">
            <a:r>
              <a:t>https://milov.org/entry/4188</a:t>
            </a:r>
          </a:p>
          <a:p xmlns:a="http://schemas.openxmlformats.org/drawingml/2006/main">
            <a:r>
              <a:t>https://milov.org/cat/international</a:t>
            </a:r>
          </a:p>
          <a:p xmlns:a="http://schemas.openxmlformats.org/drawingml/2006/main">
            <a:r>
              <a:t>https://tvrain.tv/teleshow/amerikanskie_gonki/tramp_vynashivaet_ideju_primiritsja_s_putinym-453802/</a:t>
            </a:r>
          </a:p>
          <a:p xmlns:a="http://schemas.openxmlformats.org/drawingml/2006/main">
            <a:r>
              <a:t>https://www.currenttime.tv/a/vladimir-milov-interview/31505887.html</a:t>
            </a:r>
          </a:p>
          <a:p xmlns:a="http://schemas.openxmlformats.org/drawingml/2006/main">
            <a:r>
              <a:t>https://ovd.info/express-news/2021/07/27/roskomnadzor-potreboval-ot-youtube-zablokirovat-kanaly-troikh-soratnikov</a:t>
            </a:r>
          </a:p>
          <a:p xmlns:a="http://schemas.openxmlformats.org/drawingml/2006/main">
            <a:r>
              <a:t>https://www.dw.com/ru/sud-v-moskve-prigovoril-vladimira-milova-k-8-godam-kolonii/a-67415717</a:t>
            </a:r>
          </a:p>
          <a:p xmlns:a="http://schemas.openxmlformats.org/drawingml/2006/main">
            <a:r>
              <a:t>https://ru.wikipedia.org/wiki/%D0%9C%D0%B8%D0%BB%D0%BE%D0%B2,_%D0%92%D0%BB%D0%B0%D0%B4%D0%B8%D0%BC%D0%B8%D1%80_%D0%A1%D1%82%D0%B0%D0%BD%D0%B8%D1%81%D0%BB%D0%B0%D0%B2%D0%BE%D0%B2%D0%B8%D1%87</a:t>
            </a:r>
          </a:p>
          <a:p xmlns:a="http://schemas.openxmlformats.org/drawingml/2006/main">
            <a:r>
              <a:t>https://gordonua.com/news/worldnews/milov-merkel-molodec-poteryala-vsego-7-8-v-polzu-svezhey-antiimmigrantskoy-partii-na-fone-migrantskogo-krizisa-208758.html</a:t>
            </a:r>
          </a:p>
          <a:p xmlns:a="http://schemas.openxmlformats.org/drawingml/2006/main">
            <a:r>
              <a:t>https://echofm.online/programs/hochu-skazat/hochu-skazat-larina-69</a:t>
            </a:r>
          </a:p>
          <a:p xmlns:a="http://schemas.openxmlformats.org/drawingml/2006/main">
            <a:r>
              <a:t>https://www.hoover.org/plus/research/russian-opposition-and-ukraine-conversation-vladimir-milov</a:t>
            </a:r>
          </a:p>
          <a:p xmlns:a="http://schemas.openxmlformats.org/drawingml/2006/main">
            <a:r>
              <a:t>https://www.golosameriki.com/a/washington-dialogue-russian-opposition-conference/7648250.html</a:t>
            </a:r>
          </a:p>
          <a:p xmlns:a="http://schemas.openxmlformats.org/drawingml/2006/main">
            <a:r>
              <a:t>https://glavred.info/chat/1337-vladimir-milov.html</a:t>
            </a:r>
          </a:p>
          <a:p xmlns:a="http://schemas.openxmlformats.org/drawingml/2006/main">
            <a:r>
              <a:t>https://www.interfax.ru/moscow/669378</a:t>
            </a:r>
          </a:p>
          <a:p xmlns:a="http://schemas.openxmlformats.org/drawingml/2006/main">
            <a:r>
              <a:t>https://tass.ru/politika/6670439</a:t>
            </a:r>
          </a:p>
          <a:p xmlns:a="http://schemas.openxmlformats.org/drawingml/2006/main">
            <a:r>
              <a:t>https://www.rbc.ru/politics/16/07/2019/5d2c8b3b9a794799a7c7d413</a:t>
            </a:r>
          </a:p>
          <a:p xmlns:a="http://schemas.openxmlformats.org/drawingml/2006/main">
            <a:r>
              <a:t>https://www.bbc.com/russian/news-56269079</a:t>
            </a:r>
          </a:p>
          <a:p xmlns:a="http://schemas.openxmlformats.org/drawingml/2006/main">
            <a:r>
              <a:t>https://ovd.info/express-news/2020/12/28/s-yurista-fbk-kotoraya-provela-pochti-dvoe-sutok-v-ivs-pytalis-vzyat</a:t>
            </a:r>
          </a:p>
          <a:p xmlns:a="http://schemas.openxmlformats.org/drawingml/2006/main">
            <a:r>
              <a:t>https://ovd.info/express-news/2021/02/26/prokuratura-utverdila-obvinenie-sobol-po-delu-o-proniknovenii-v-kvartiru</a:t>
            </a:r>
          </a:p>
          <a:p xmlns:a="http://schemas.openxmlformats.org/drawingml/2006/main">
            <a:r>
              <a:t>https://ovd.info/express-news/2020/12/29/protiv-alekseya-navalnogo-vozbudili-ugolovnoe-delo-o-moshennichestve-iz-za</a:t>
            </a:r>
          </a:p>
          <a:p xmlns:a="http://schemas.openxmlformats.org/drawingml/2006/main">
            <a:r>
              <a:t>https://www.currenttime.tv/a/sobol/31723600.html</a:t>
            </a:r>
          </a:p>
          <a:p xmlns:a="http://schemas.openxmlformats.org/drawingml/2006/main">
            <a:r>
              <a:t>https://www.currenttime.tv/interview/episodes/2022/2/26</a:t>
            </a:r>
          </a:p>
          <a:p xmlns:a="http://schemas.openxmlformats.org/drawingml/2006/main">
            <a:r>
              <a:t>https://ochevidcy.com/putin-budet-vorovat-do-groba/</a:t>
            </a:r>
          </a:p>
          <a:p xmlns:a="http://schemas.openxmlformats.org/drawingml/2006/main">
            <a:r>
              <a:t>https://www.svoboda.org/a/32881433.html</a:t>
            </a:r>
          </a:p>
          <a:p xmlns:a="http://schemas.openxmlformats.org/drawingml/2006/main">
            <a:r>
              <a:t>https://echofm.online/programs/idyom-po-zvyozdam/idyom-po-zvezdam-s-lyubovyu-sobol</a:t>
            </a:r>
          </a:p>
          <a:p xmlns:a="http://schemas.openxmlformats.org/drawingml/2006/main">
            <a:r>
              <a:t>https://x.com/SobolLubov</a:t>
            </a:r>
          </a:p>
          <a:p xmlns:a="http://schemas.openxmlformats.org/drawingml/2006/main">
            <a:r>
              <a:t>https://stuki-druki.com/authors/sobol-lubov.php</a:t>
            </a:r>
          </a:p>
          <a:p xmlns:a="http://schemas.openxmlformats.org/drawingml/2006/main">
            <a:r>
              <a:t>https://www.interfax.ru/elections2018/593143</a:t>
            </a:r>
          </a:p>
          <a:p xmlns:a="http://schemas.openxmlformats.org/drawingml/2006/main">
            <a:r>
              <a:t>https://elections2018.tass.ru/candidate/sobchak</a:t>
            </a:r>
          </a:p>
          <a:p xmlns:a="http://schemas.openxmlformats.org/drawingml/2006/main">
            <a:r>
              <a:t>https://www.interfax.ru/elections2018/604186</a:t>
            </a:r>
          </a:p>
          <a:p xmlns:a="http://schemas.openxmlformats.org/drawingml/2006/main">
            <a:r>
              <a:t>https://www.interfax.ru/elections2018/604908</a:t>
            </a:r>
          </a:p>
          <a:p xmlns:a="http://schemas.openxmlformats.org/drawingml/2006/main">
            <a:r>
              <a:t>https://www.consultant.ru/law/hotdocs/53066.html</a:t>
            </a:r>
          </a:p>
          <a:p xmlns:a="http://schemas.openxmlformats.org/drawingml/2006/main">
            <a:r>
              <a:t>https://www.rbc.ru/newspaper/2018/03/20/5aae9ca49a794739b02918a0</a:t>
            </a:r>
          </a:p>
          <a:p xmlns:a="http://schemas.openxmlformats.org/drawingml/2006/main">
            <a:r>
              <a:t>https://www.interfax.ru/elections2018/604136</a:t>
            </a:r>
          </a:p>
          <a:p xmlns:a="http://schemas.openxmlformats.org/drawingml/2006/main">
            <a:r>
              <a:t>https://www.interfax.ru/elections2018/604190</a:t>
            </a:r>
          </a:p>
          <a:p xmlns:a="http://schemas.openxmlformats.org/drawingml/2006/main">
            <a:r>
              <a:t>https://www.rbc.ru/economics/25/12/2017/5a4025f19a79472e3f5f4ad9?from=right_column_materials_3</a:t>
            </a:r>
          </a:p>
          <a:p xmlns:a="http://schemas.openxmlformats.org/drawingml/2006/main">
            <a:r>
              <a:t>https://news.ru/show-business/otezd-iz-rf-vybory-svo-v-chem-priznalas-kseniya-sobchak-v-novom-intervyu</a:t>
            </a:r>
          </a:p>
          <a:p xmlns:a="http://schemas.openxmlformats.org/drawingml/2006/main">
            <a:r>
              <a:t>https://rtvi.com/news/sobchak-otvetila-na-vopros-putin-ili-zelenskij/</a:t>
            </a:r>
          </a:p>
          <a:p xmlns:a="http://schemas.openxmlformats.org/drawingml/2006/main">
            <a:r>
              <a:t>https://informator.ua/ru/kompromissy-iz-rf-legitimnost-zelenskogo-i-gotovnost-pozhat-ruku-putinu-o-chem-govoril-arestovich-v-intervyu-sobchak</a:t>
            </a:r>
          </a:p>
          <a:p xmlns:a="http://schemas.openxmlformats.org/drawingml/2006/main">
            <a:r>
              <a:t>https://rassvet-party.info/</a:t>
            </a:r>
          </a:p>
          <a:p xmlns:a="http://schemas.openxmlformats.org/drawingml/2006/main">
            <a:r>
              <a:t>https://en.wikipedia.org/wiki/Yekaterina_Duntsova</a:t>
            </a:r>
          </a:p>
          <a:p xmlns:a="http://schemas.openxmlformats.org/drawingml/2006/main">
            <a:r>
              <a:t>https://www.dw.com/ru/cto-nuzno-znat-o-ekaterine-duncovoj-kotoraa-hocet-stat-prezidentom-rf/a-67832425</a:t>
            </a:r>
          </a:p>
          <a:p xmlns:a="http://schemas.openxmlformats.org/drawingml/2006/main">
            <a:r>
              <a:t>https://baj.media/ru/ya-gotova-idti-do-konca-zhurnalistka-iz-rossiyskoy-provincii-reshila-stat-prezidentom-i-2/</a:t>
            </a:r>
          </a:p>
          <a:p xmlns:a="http://schemas.openxmlformats.org/drawingml/2006/main">
            <a:r>
              <a:t>https://echofm.online/portret-dnya/portret-dnya-ekaterina-dunczova-reshivshaya-vydvinutsya-kandidatom-v-prezidenty-rossii-zhurnalistka-iz-rzheva</a:t>
            </a:r>
          </a:p>
          <a:p xmlns:a="http://schemas.openxmlformats.org/drawingml/2006/main">
            <a:r>
              <a:t>https://novayagazeta.eu/articles/2024/03/15/zlost-i-nenavist-vsem-nadoeli</a:t>
            </a:r>
          </a:p>
          <a:p xmlns:a="http://schemas.openxmlformats.org/drawingml/2006/main">
            <a:r>
              <a:t>https://altapress.ru/politika/story/kto-takaya-ekaterina-duntsova-kotoraya-sobiraetsya-stat-poslednim-prezidentom-rossii-i-kto-eshche-hochet-ballotirovatsya-336526</a:t>
            </a:r>
          </a:p>
          <a:p xmlns:a="http://schemas.openxmlformats.org/drawingml/2006/main">
            <a:r>
              <a:t>https://cherta.media/interview/ekaterina-duncova-kandidat-v-prezidenty/</a:t>
            </a:r>
          </a:p>
          <a:p xmlns:a="http://schemas.openxmlformats.org/drawingml/2006/main">
            <a:r>
              <a:t>https://novayagazeta.eu/articles/2023/12/05/zachem-ia-budu-stoiat-na-barrikadakh-esli-mogu-zanimatsia-realnymi-delami</a:t>
            </a:r>
          </a:p>
          <a:p xmlns:a="http://schemas.openxmlformats.org/drawingml/2006/main">
            <a:r>
              <a:t>https://holod.media/2023/12/20/ekaterina-duntsova-view/</a:t>
            </a:r>
          </a:p>
          <a:p xmlns:a="http://schemas.openxmlformats.org/drawingml/2006/main">
            <a:r>
              <a:t>https://www.dw.com/ru/ekaterina-duncova-o-sozdanii-partii-rassvet-my-mezdu-dvuh-ognej/a-68992724</a:t>
            </a:r>
          </a:p>
          <a:p xmlns:a="http://schemas.openxmlformats.org/drawingml/2006/main">
            <a:r>
              <a:t>https://rassvet-party.info/static/program.pdf</a:t>
            </a:r>
          </a:p>
          <a:p xmlns:a="http://schemas.openxmlformats.org/drawingml/2006/main">
            <a:r>
              <a:t>https://www.currenttime.tv/a/ekaterina-duntsova-o-sozdanii-partii-i-svoem-zaderzhanii/32775510.html</a:t>
            </a:r>
          </a:p>
          <a:p xmlns:a="http://schemas.openxmlformats.org/drawingml/2006/main">
            <a:r>
              <a:t>https://duntsovainitiative.1c-umi.ru/galereya/</a:t>
            </a:r>
          </a:p>
          <a:p xmlns:a="http://schemas.openxmlformats.org/drawingml/2006/main">
            <a:r>
              <a:t>https://rassvet-party.info/static/manifest.pdf</a:t>
            </a:r>
          </a:p>
          <a:p xmlns:a="http://schemas.openxmlformats.org/drawingml/2006/main">
            <a:r>
              <a:t>https://www.rbc.ru/person/65afb4a99a79470e434da73d</a:t>
            </a:r>
          </a:p>
          <a:p xmlns:a="http://schemas.openxmlformats.org/drawingml/2006/main">
            <a:r>
              <a:t>https://www.bbc.com/russian/articles/c84npr0wxx9o</a:t>
            </a:r>
          </a:p>
          <a:p xmlns:a="http://schemas.openxmlformats.org/drawingml/2006/main">
            <a:r>
              <a:t>https://www.rbc.ru/politics/08/02/2024/65c3749b9a79479ef5fe7934</a:t>
            </a:r>
          </a:p>
          <a:p xmlns:a="http://schemas.openxmlformats.org/drawingml/2006/main">
            <a:r>
              <a:t>https://www.business-gazeta.ru/article/622600</a:t>
            </a:r>
          </a:p>
          <a:p xmlns:a="http://schemas.openxmlformats.org/drawingml/2006/main">
            <a:r>
              <a:t>https://semnasem.org/articles/2024/02/02/poslednij-sredi-antivoennyh-kto-takoj-boris-nadezhdin-kotoryj-vse-eshe-nadeetsya-stat-prezidentom</a:t>
            </a:r>
          </a:p>
          <a:p xmlns:a="http://schemas.openxmlformats.org/drawingml/2006/main">
            <a:r>
              <a:t>https://novayagazeta.eu/articles/2024/02/03/17-marta-nachalo-kontsa-epokhi-putina</a:t>
            </a:r>
          </a:p>
          <a:p xmlns:a="http://schemas.openxmlformats.org/drawingml/2006/main">
            <a:r>
              <a:t>https://www.youtube.com/watch?v=mGMdgxBCdns</a:t>
            </a:r>
          </a:p>
          <a:p xmlns:a="http://schemas.openxmlformats.org/drawingml/2006/main">
            <a:r>
              <a:t>https://www.dw.com/ru/boris-nadezdin-moj-rejting-rastet-na-5-v-nedelu/a-68154251</a:t>
            </a:r>
          </a:p>
          <a:p xmlns:a="http://schemas.openxmlformats.org/drawingml/2006/main">
            <a:r>
              <a:t>https://ovd.info/express-news/2026/07/17/u-menya-dva-puti-lenina-ili-navalnogo-chto-nuzhno-znat-o-borise-nadezhdine</a:t>
            </a:r>
          </a:p>
          <a:p xmlns:a="http://schemas.openxmlformats.org/drawingml/2006/main">
            <a:r>
              <a:t>https://www.rbc.ru/person/65afb4a99a79470e434da73d?ysclid=mrt22n99to603501119</a:t>
            </a:r>
          </a:p>
          <a:p xmlns:a="http://schemas.openxmlformats.org/drawingml/2006/main">
            <a:r>
              <a:t>https://www.youtube.com/watch?v=UNytg_H_1pY</a:t>
            </a:r>
          </a:p>
          <a:p xmlns:a="http://schemas.openxmlformats.org/drawingml/2006/main">
            <a:r>
              <a:t>https://www.youtube.com/watch?v=DwTC5bilf_8</a:t>
            </a:r>
          </a:p>
          <a:p xmlns:a="http://schemas.openxmlformats.org/drawingml/2006/main">
            <a:r>
              <a:t>https://www.youtube.com/watch?v=sG4_THnT9W0</a:t>
            </a:r>
          </a:p>
          <a:p xmlns:a="http://schemas.openxmlformats.org/drawingml/2006/main">
            <a:r>
              <a:t>https://www.rbc.ru/rbcfreenews/6586cdf49a79479c3cd3d4b3</a:t>
            </a:r>
          </a:p>
          <a:p xmlns:a="http://schemas.openxmlformats.org/drawingml/2006/main">
            <a:r>
              <a:t>https://kprf.ru/activity/elections/223485.html/print</a:t>
            </a:r>
          </a:p>
          <a:p xmlns:a="http://schemas.openxmlformats.org/drawingml/2006/main">
            <a:r>
              <a:t>http://msk.kprf.ru/2024/01/24/247473/</a:t>
            </a:r>
          </a:p>
          <a:p xmlns:a="http://schemas.openxmlformats.org/drawingml/2006/main">
            <a:r>
              <a:t>https://www.dw.com/ru/vybory-prezidenta-rossii-2024/a-68528003</a:t>
            </a:r>
          </a:p>
          <a:p xmlns:a="http://schemas.openxmlformats.org/drawingml/2006/main">
            <a:r>
              <a:t>https://ru.wikipedia.org/wiki/%D0%A5%D0%B0%D1%80%D0%B8%D1%82%D0%BE%D0%BD%D0%BE%D0%B2,_%D0%9D%D0%B8%D0%BA%D0%BE%D0%BB%D0%B0%D0%B9_%D0%9C%D0%B8%D1%85%D0%B0%D0%B9%D0%BB%D0%BE%D0%B2%D0%B8%D1%87</a:t>
            </a:r>
          </a:p>
          <a:p xmlns:a="http://schemas.openxmlformats.org/drawingml/2006/main">
            <a:r>
              <a:t>https://kprf.ru/party-live/cknews/225170.html</a:t>
            </a:r>
          </a:p>
          <a:p xmlns:a="http://schemas.openxmlformats.org/drawingml/2006/main">
            <a:r>
              <a:t>https://kprf.ru/dep/gosduma/activities/232802.html</a:t>
            </a:r>
          </a:p>
          <a:p xmlns:a="http://schemas.openxmlformats.org/drawingml/2006/main">
            <a:r>
              <a:t>https://kprf35.com/2024/02/17/32710/</a:t>
            </a:r>
          </a:p>
          <a:p xmlns:a="http://schemas.openxmlformats.org/drawingml/2006/main">
            <a:r>
              <a:t>https://www.pkokprf.ru/news/view/35448</a:t>
            </a:r>
          </a:p>
          <a:p xmlns:a="http://schemas.openxmlformats.org/drawingml/2006/main">
            <a:r>
              <a:t>https://altkprf.ru/upload/iblock/eea/jiv0wm7hzk6gq4qdxw0r5wvp7zwb6luk.pdf</a:t>
            </a:r>
          </a:p>
          <a:p xmlns:a="http://schemas.openxmlformats.org/drawingml/2006/main">
            <a:r>
              <a:t>https://kprf.ru/activity/army/224789.html</a:t>
            </a:r>
          </a:p>
          <a:p xmlns:a="http://schemas.openxmlformats.org/drawingml/2006/main">
            <a:r>
              <a:t>https://gazeta-pravda.ru/issue/24-31517-711-marta-2024-goda-/alternativa-polupravde/</a:t>
            </a:r>
          </a:p>
          <a:p xmlns:a="http://schemas.openxmlformats.org/drawingml/2006/main">
            <a:r>
              <a:t>https://spbpalata.ru/?p=13755</a:t>
            </a:r>
          </a:p>
          <a:p xmlns:a="http://schemas.openxmlformats.org/drawingml/2006/main">
            <a:r>
              <a:t>https://kprf.ru/activity/elections/171941.html</a:t>
            </a:r>
          </a:p>
          <a:p xmlns:a="http://schemas.openxmlformats.org/drawingml/2006/main">
            <a:r>
              <a:t>https://kprf.ru/party-live/cknews/171994.html</a:t>
            </a:r>
          </a:p>
          <a:p xmlns:a="http://schemas.openxmlformats.org/drawingml/2006/main">
            <a:r>
              <a:t>https://elections2018.tass.ru/candidate/grudinin</a:t>
            </a:r>
          </a:p>
          <a:p xmlns:a="http://schemas.openxmlformats.org/drawingml/2006/main">
            <a:r>
              <a:t>https://www.bbc.com/russian/features-43105617</a:t>
            </a:r>
          </a:p>
          <a:p xmlns:a="http://schemas.openxmlformats.org/drawingml/2006/main">
            <a:r>
              <a:t>https://www.rbc.ru/politics/24/07/2021/60fbe35b9a794716f25253a0</a:t>
            </a:r>
          </a:p>
          <a:p xmlns:a="http://schemas.openxmlformats.org/drawingml/2006/main">
            <a:r>
              <a:t>https://kprf.ru/dep/reg/204410.html</a:t>
            </a:r>
          </a:p>
          <a:p xmlns:a="http://schemas.openxmlformats.org/drawingml/2006/main">
            <a:r>
              <a:t>https://msk.kprf.ru/2021/09/16/168273/</a:t>
            </a:r>
          </a:p>
          <a:p xmlns:a="http://schemas.openxmlformats.org/drawingml/2006/main">
            <a:r>
              <a:t>https://svpressa.ru/persons/pavel-grudinin/</a:t>
            </a:r>
          </a:p>
          <a:p xmlns:a="http://schemas.openxmlformats.org/drawingml/2006/main">
            <a:r>
              <a:t>https://carnegieendowment.org/ru/russia-eurasia/posts/2018/02/kuda-privedut-ekonomiku-rossii-20-shagov-grudinina</a:t>
            </a:r>
          </a:p>
          <a:p xmlns:a="http://schemas.openxmlformats.org/drawingml/2006/main">
            <a:r>
              <a:t>https://www.kompas-rf.ru/2018/01/2980/</a:t>
            </a:r>
          </a:p>
          <a:p xmlns:a="http://schemas.openxmlformats.org/drawingml/2006/main">
            <a:r>
              <a:t>https://www.svoboda.org/a/30073365.html</a:t>
            </a:r>
          </a:p>
          <a:p xmlns:a="http://schemas.openxmlformats.org/drawingml/2006/main">
            <a:r>
              <a:t>https://kandidativprezidenti.ru/programma-grudinina-2018/</a:t>
            </a:r>
          </a:p>
          <a:p xmlns:a="http://schemas.openxmlformats.org/drawingml/2006/main">
            <a:r>
              <a:t>https://mbk-news.appspot.com/suzhet/za-lenina-i-protiv-ege/</a:t>
            </a:r>
          </a:p>
          <a:p xmlns:a="http://schemas.openxmlformats.org/drawingml/2006/main">
            <a:r>
              <a:t>https://www.amnesty.org/ru/latest/research/2021/06/zayavlenie-rossijskaya-federacziya-obvinitelnyj-prigovor-nikolayu-platoshkinu-dolzhen-byt-otmenyon/</a:t>
            </a:r>
          </a:p>
          <a:p xmlns:a="http://schemas.openxmlformats.org/drawingml/2006/main">
            <a:r>
              <a:t>https://zona.media/article/2021/05/20/nikolay-nikolaevitch</a:t>
            </a:r>
          </a:p>
          <a:p xmlns:a="http://schemas.openxmlformats.org/drawingml/2006/main">
            <a:r>
              <a:t>https://novayagazeta.ru/articles/2020/06/05/85705-sotsialisticheskiy-prizyv</a:t>
            </a:r>
          </a:p>
          <a:p xmlns:a="http://schemas.openxmlformats.org/drawingml/2006/main">
            <a:r>
              <a:t>https://www.revda-info.ru/2020/08/26/v-revde-poyavilos-otdelenie-dvizheniya-za-novyj-sotsializm-ego-lider-sejchas-pod-arestom</a:t>
            </a:r>
          </a:p>
          <a:p xmlns:a="http://schemas.openxmlformats.org/drawingml/2006/main">
            <a:r>
              <a:t>https://new-socialism.org/o-dvizhenii/programma/</a:t>
            </a:r>
          </a:p>
          <a:p xmlns:a="http://schemas.openxmlformats.org/drawingml/2006/main">
            <a:r>
              <a:t>https://new-socialism.org/o-dvizhenii/lider/</a:t>
            </a:r>
          </a:p>
          <a:p xmlns:a="http://schemas.openxmlformats.org/drawingml/2006/main">
            <a:r>
              <a:t>https://www.themoscowtimes.com/2024/01/19/ilya-ponomaryov-we-have-to-capture-the-kremlin-there-is-no-other-way-a83772</a:t>
            </a:r>
          </a:p>
          <a:p xmlns:a="http://schemas.openxmlformats.org/drawingml/2006/main">
            <a:r>
              <a:t>https://www.dw.com/ru/cto-izvestno-o-rossijskih-podrazdeleniah-v-sostave-vsu/a-63915634</a:t>
            </a:r>
          </a:p>
          <a:p xmlns:a="http://schemas.openxmlformats.org/drawingml/2006/main">
            <a:r>
              <a:t>https://www.svoboda.org/a/32321226.html</a:t>
            </a:r>
          </a:p>
          <a:p xmlns:a="http://schemas.openxmlformats.org/drawingml/2006/main">
            <a:r>
              <a:t>https://hromadske.ua/ru/posts/nasha-cel-moskva-my-dolzhny-sbrosit-putina-rossijskie-partizany-mif-ili-pravda</a:t>
            </a:r>
          </a:p>
          <a:p xmlns:a="http://schemas.openxmlformats.org/drawingml/2006/main">
            <a:r>
              <a:t>https://epravda.com.ua/rus/publications/2018/06/11/637572/</a:t>
            </a:r>
          </a:p>
          <a:p xmlns:a="http://schemas.openxmlformats.org/drawingml/2006/main">
            <a:r>
              <a:t>https://pointmedia.io/story/672b355fdc48800406e0f515</a:t>
            </a:r>
          </a:p>
          <a:p xmlns:a="http://schemas.openxmlformats.org/drawingml/2006/main">
            <a:r>
              <a:t>https://ru.wikipedia.org/wiki/%D0%9B%D0%B5%D0%B3%D0%B8%D0%BE%D0%BD_%C2%AB%D0%A1%D0%B2%D0%BE%D0%B1%D0%BE%D0%B4%D0%B0_%D0%A0%D0%BE%D1%81%D1%81%D0%B8%D0%B8%C2%BB</a:t>
            </a:r>
          </a:p>
          <a:p xmlns:a="http://schemas.openxmlformats.org/drawingml/2006/main">
            <a:r>
              <a:t>https://ru.wikipedia.org/wiki/%D0%9F%D0%BE%D0%BD%D0%BE%D0%BC%D0%B0%D1%80%D1%91%D0%B2,_%D0%98%D0%BB%D1%8C%D1%8F_%D0%92%D0%BB%D0%B0%D0%B4%D0%B8%D0%BC%D0%B8%D1%80%D0%BE%D0%B2%D0%B8%D1%87</a:t>
            </a:r>
          </a:p>
          <a:p xmlns:a="http://schemas.openxmlformats.org/drawingml/2006/main">
            <a:r>
              <a:t>https://russophob.ru/person/ponomarev_ilya_vladimirovich</a:t>
            </a:r>
          </a:p>
          <a:p xmlns:a="http://schemas.openxmlformats.org/drawingml/2006/main">
            <a:r>
              <a:t>https://www.svoboda.org/a/32063164.html</a:t>
            </a:r>
          </a:p>
          <a:p xmlns:a="http://schemas.openxmlformats.org/drawingml/2006/main">
            <a:r>
              <a:t>https://www.kpbs.org/news/news/international/2023/03/26/a-scrappy-newscast-in-kyiv-aimed-at-russians-counters-putins-propaganda-machine</a:t>
            </a:r>
          </a:p>
          <a:p xmlns:a="http://schemas.openxmlformats.org/drawingml/2006/main">
            <a:r>
              <a:t>https://ovd.info/express-news/2022/10/02/politik-leonid-gozman-uekhal-iz-rossii-posle-dvukh-administrativnykh</a:t>
            </a:r>
          </a:p>
          <a:p xmlns:a="http://schemas.openxmlformats.org/drawingml/2006/main">
            <a:r>
              <a:t>https://ovd.info/express-news/2022/08/30/politika-leonida-gozmana-arestovali-na-15-sutok-iz-za-posta-v-feysbuke</a:t>
            </a:r>
          </a:p>
          <a:p xmlns:a="http://schemas.openxmlformats.org/drawingml/2006/main">
            <a:r>
              <a:t>https://www.rbc.ru/politics/15/07/2022/62d1b3f39a7947299cdeb6a4</a:t>
            </a:r>
          </a:p>
          <a:p xmlns:a="http://schemas.openxmlformats.org/drawingml/2006/main">
            <a:r>
              <a:t>https://novayagazeta.eu/articles/2022/07/15/sk-doprosil-politika-leonida-gozmana-kak-podozrevaemogo-po-delu-o-neuvedomlenii-o-vtorom-grazhdanstve-news</a:t>
            </a:r>
          </a:p>
          <a:p xmlns:a="http://schemas.openxmlformats.org/drawingml/2006/main">
            <a:r>
              <a:t>https://www.rbc.ru/politics/15/02/2024/65cdc9e09a7947a2995026fa</a:t>
            </a:r>
          </a:p>
          <a:p xmlns:a="http://schemas.openxmlformats.org/drawingml/2006/main">
            <a:r>
              <a:t>https://ovd.info/express-news/2025/01/22/leonida-gozmana-i-rovshana-askerova-vnesli-v-reestr-terroristov-i</a:t>
            </a:r>
          </a:p>
          <a:p xmlns:a="http://schemas.openxmlformats.org/drawingml/2006/main">
            <a:r>
              <a:t>https://www.rbc.ru/opinion-authors/gozman</a:t>
            </a:r>
          </a:p>
          <a:p xmlns:a="http://schemas.openxmlformats.org/drawingml/2006/main">
            <a:r>
              <a:t>https://novayagazeta.eu/articles/2022/07/25/ovd-info-v-moskve-zaderzhali-politika-leonida-gozmana-news</a:t>
            </a:r>
          </a:p>
          <a:p xmlns:a="http://schemas.openxmlformats.org/drawingml/2006/main">
            <a:r>
              <a:t>https://gefter.ru/archive/23487</a:t>
            </a:r>
          </a:p>
          <a:p xmlns:a="http://schemas.openxmlformats.org/drawingml/2006/main">
            <a:r>
              <a:t>https://www.svoboda.org/a/31147156.html</a:t>
            </a:r>
          </a:p>
          <a:p xmlns:a="http://schemas.openxmlformats.org/drawingml/2006/main">
            <a:r>
              <a:t>https://uatv.ua/gozman-putin-zagnal-rossiyu-v-ugol-sleduyushhij-shag-repressii/</a:t>
            </a:r>
          </a:p>
          <a:p xmlns:a="http://schemas.openxmlformats.org/drawingml/2006/main">
            <a:r>
              <a:t>https://echofm.online/programs/hochu-skazat/hochu-skazat-odin-protiv-vseh-kak-ne-dat-strahu-pobedit-sebya</a:t>
            </a:r>
          </a:p>
          <a:p xmlns:a="http://schemas.openxmlformats.org/drawingml/2006/main">
            <a:r>
              <a:t>https://www.svoboda.org/a/leonid-gozman-russkih-lyudey-neljzya-mazatj-odnoy-chernoy-kraskoy-/32732625.html</a:t>
            </a:r>
          </a:p>
          <a:p xmlns:a="http://schemas.openxmlformats.org/drawingml/2006/main">
            <a:r>
              <a:t>https://novayagazeta.eu/articles/2022/07/18/prepiatstvovat-prosveshcheniiu-liudei-vlast-budet-pulemiotami</a:t>
            </a:r>
          </a:p>
          <a:p xmlns:a="http://schemas.openxmlformats.org/drawingml/2006/main">
            <a:r>
              <a:t>https://www.svoboda.org/a/29652429.html</a:t>
            </a:r>
          </a:p>
          <a:p xmlns:a="http://schemas.openxmlformats.org/drawingml/2006/main">
            <a:r>
              <a:t>https://novayagazeta.eu/articles/2022/04/26/nesobliudenie-rezhima</a:t>
            </a:r>
          </a:p>
          <a:p xmlns:a="http://schemas.openxmlformats.org/drawingml/2006/main">
            <a:r>
              <a:t>https://novayagazeta.eu/articles/2022/07/21/zapiski-ugolovnika</a:t>
            </a:r>
          </a:p>
          <a:p xmlns:a="http://schemas.openxmlformats.org/drawingml/2006/main">
            <a:r>
              <a:t>https://novayagazeta.ru/authors/2349</a:t>
            </a:r>
          </a:p>
          <a:p xmlns:a="http://schemas.openxmlformats.org/drawingml/2006/main">
            <a:r>
              <a:t>https://www.rbc.ru/politics/10/08/2017/598c8d6d9a79474cff05cbab</a:t>
            </a:r>
          </a:p>
          <a:p xmlns:a="http://schemas.openxmlformats.org/drawingml/2006/main">
            <a:r>
              <a:t>https://www.bbc.com/russian/news-40853405</a:t>
            </a:r>
          </a:p>
          <a:p xmlns:a="http://schemas.openxmlformats.org/drawingml/2006/main">
            <a:r>
              <a:t>https://www.rbc.ru/politics/10/08/2017/598c0a8e9a7947569574ba10?from=right_column_materials_1</a:t>
            </a:r>
          </a:p>
          <a:p xmlns:a="http://schemas.openxmlformats.org/drawingml/2006/main">
            <a:r>
              <a:t>https://www.vedomosti.ru/politics/articles/2017/08/10/728820-udaltsov</a:t>
            </a:r>
          </a:p>
          <a:p xmlns:a="http://schemas.openxmlformats.org/drawingml/2006/main">
            <a:r>
              <a:t>https://www.interfax.ru/elections2018/598382</a:t>
            </a:r>
          </a:p>
          <a:p xmlns:a="http://schemas.openxmlformats.org/drawingml/2006/main">
            <a:r>
              <a:t>https://sotaproject.com/article/sergeia-udaltsova-opiat-pytaiutsia-posadit-khotia-on-vsego-lish-prosit-putina-postroit-sotsializm</a:t>
            </a:r>
          </a:p>
          <a:p xmlns:a="http://schemas.openxmlformats.org/drawingml/2006/main">
            <a:r>
              <a:t>https://www.gazeta.ru/tags/person/sergei_udaltsov.shtml</a:t>
            </a:r>
          </a:p>
          <a:p xmlns:a="http://schemas.openxmlformats.org/drawingml/2006/main">
            <a:r>
              <a:t>https://www.kommersant.ru/doc/8317316</a:t>
            </a:r>
          </a:p>
          <a:p xmlns:a="http://schemas.openxmlformats.org/drawingml/2006/main">
            <a:r>
              <a:t>https://www.kommersant.ru/doc/8972418</a:t>
            </a:r>
          </a:p>
          <a:p xmlns:a="http://schemas.openxmlformats.org/drawingml/2006/main">
            <a:r>
              <a:t>https://holod.media/2023/09/12/udaltsov-interview/</a:t>
            </a:r>
          </a:p>
          <a:p xmlns:a="http://schemas.openxmlformats.org/drawingml/2006/main">
            <a:r>
              <a:t>https://meduza.io/feature/2024/01/11/sergey-udaltsov-zaderzhan-po-obvineniyu-v-opravdanii-terrorizma</a:t>
            </a:r>
          </a:p>
          <a:p xmlns:a="http://schemas.openxmlformats.org/drawingml/2006/main">
            <a:r>
              <a:t>https://ref-book.sova-center.ru/index.php/%D0%94%D1%80%D1%83%D0%B3%D0%B0%D1%8F_%D0%A0%D0%BE%D1%81%D1%81%D0%B8%D1%8F,_%D0%BF%D0%B0%D1%80%D1%82%D0%B8%D1%8F</a:t>
            </a:r>
          </a:p>
          <a:p xmlns:a="http://schemas.openxmlformats.org/drawingml/2006/main">
            <a:r>
              <a:t>https://www.rbc.ru/society/17/03/2020/5e71048d9a79473925ab81a7</a:t>
            </a:r>
          </a:p>
          <a:p xmlns:a="http://schemas.openxmlformats.org/drawingml/2006/main">
            <a:r>
              <a:t>https://rt.rbc.ru/society/18/03/2020/5e71acc49a794773553f824e</a:t>
            </a:r>
          </a:p>
          <a:p xmlns:a="http://schemas.openxmlformats.org/drawingml/2006/main">
            <a:r>
              <a:t>https://www.bostonglobe.com/metro/obituaries/2020/03/18/russian-author-political-activist-eduard-limonov-dies/jnjHywBRjVTTgnlsqI12vN/story.html</a:t>
            </a:r>
          </a:p>
          <a:p xmlns:a="http://schemas.openxmlformats.org/drawingml/2006/main">
            <a:r>
              <a:t>https://nsn.fm/society/poslednee-intervu-pisatelya-i-politika-eduarda-limonova</a:t>
            </a:r>
          </a:p>
          <a:p xmlns:a="http://schemas.openxmlformats.org/drawingml/2006/main">
            <a:r>
              <a:t>http://www.grso.ru/person/limonov-eduard.html</a:t>
            </a:r>
          </a:p>
          <a:p xmlns:a="http://schemas.openxmlformats.org/drawingml/2006/main">
            <a:r>
              <a:t>https://ru.wikipedia.org/wiki/%D0%94%D1%80%D1%83%D0%B3%D0%B0%D1%8F_%D0%A0%D0%BE%D1%81%D1%81%D0%B8%D1%8F_%D0%AD._%D0%92._%D0%9B%D0%B8%D0%BC%D0%BE%D0%BD%D0%BE%D0%B2%D0%B0</a:t>
            </a:r>
          </a:p>
          <a:p xmlns:a="http://schemas.openxmlformats.org/drawingml/2006/main">
            <a:r>
              <a:t>https://novayagazeta.ru/articles/2017/03/12/71752-puteshestvie-natsbolov-k-putinu-i-obratno</a:t>
            </a:r>
          </a:p>
          <a:p xmlns:a="http://schemas.openxmlformats.org/drawingml/2006/main">
            <a:r>
              <a:t>https://mediabrest.by/news/lyudi/umer-eduard-limonov-chem-zapomnilsya-pisatel</a:t>
            </a:r>
          </a:p>
          <a:p xmlns:a="http://schemas.openxmlformats.org/drawingml/2006/main">
            <a:r>
              <a:t>https://www.limonow.de/read/EL_2013-2018_T.html</a:t>
            </a:r>
          </a:p>
          <a:p xmlns:a="http://schemas.openxmlformats.org/drawingml/2006/main">
            <a:r>
              <a:t>https://www.infpol.ru/203662-ot-ubezhdennogo-antisovetchika-do-kolumnista-rt/</a:t>
            </a:r>
          </a:p>
          <a:p xmlns:a="http://schemas.openxmlformats.org/drawingml/2006/main">
            <a:r>
              <a:t>https://www.bbc.com/russian/articles/c2eg90d7gg9o</a:t>
            </a:r>
          </a:p>
          <a:p xmlns:a="http://schemas.openxmlformats.org/drawingml/2006/main">
            <a:r>
              <a:t>https://www.dw.com/ru/mosgorsud-prigovoril-igora-girkina-strelkova-k-4-godam-kolonii/a-68080937</a:t>
            </a:r>
          </a:p>
          <a:p xmlns:a="http://schemas.openxmlformats.org/drawingml/2006/main">
            <a:r>
              <a:t>https://www.fontanka.ru/2023/07/21/72520253</a:t>
            </a:r>
          </a:p>
          <a:p xmlns:a="http://schemas.openxmlformats.org/drawingml/2006/main">
            <a:r>
              <a:t>https://www.svoboda.org/a/strelkov-iz-sizo-opasayusj-amnistii-kak-u-prigozhina-/32722083.html</a:t>
            </a:r>
          </a:p>
          <a:p xmlns:a="http://schemas.openxmlformats.org/drawingml/2006/main">
            <a:r>
              <a:t>https://ru.themoscowtimes.com/2023/12/07/girkin-zayavil-chto-opasaetsya-povtorit-sudbu-prigozhina-a115592</a:t>
            </a:r>
          </a:p>
          <a:p xmlns:a="http://schemas.openxmlformats.org/drawingml/2006/main">
            <a:r>
              <a:t>https://ru.krymr.com/a/boing-mn17-10-let-podozrevayemyye-obvinyayemyye-vinovnyye/33040170.html</a:t>
            </a:r>
          </a:p>
          <a:p xmlns:a="http://schemas.openxmlformats.org/drawingml/2006/main">
            <a:r>
              <a:t>https://charter97.org/ru/news/2023/7/22/556802/</a:t>
            </a:r>
          </a:p>
          <a:p xmlns:a="http://schemas.openxmlformats.org/drawingml/2006/main">
            <a:r>
              <a:t>https://t.me/s/pgubarev?after=622</a:t>
            </a:r>
          </a:p>
          <a:p xmlns:a="http://schemas.openxmlformats.org/drawingml/2006/main">
            <a:r>
              <a:t>https://rabkor.ru/columns/debates/2023/05/23/angry_patriots_of_an_imaginary_country/</a:t>
            </a:r>
          </a:p>
          <a:p xmlns:a="http://schemas.openxmlformats.org/drawingml/2006/main">
            <a:r>
              <a:t>https://www.bbc.com/news/world-60947877</a:t>
            </a:r>
          </a:p>
          <a:p xmlns:a="http://schemas.openxmlformats.org/drawingml/2006/main">
            <a:r>
              <a:t>https://www.reuters.com/world/europe/russian-mercenary-boss-courts-putin-with-ukrainian-battlefield-success-2023-01-13/</a:t>
            </a:r>
          </a:p>
          <a:p xmlns:a="http://schemas.openxmlformats.org/drawingml/2006/main">
            <a:r>
              <a:t>https://www.reuters.com/world/europe/russias-wagner-mercenaries-halt-prisoner-recruitment-campaign-founder-prigozhin-2023-02-09/</a:t>
            </a:r>
          </a:p>
          <a:p xmlns:a="http://schemas.openxmlformats.org/drawingml/2006/main">
            <a:r>
              <a:t>https://www.reuters.com/investigates/special-report/ukraine-crisis-russia-wagner/</a:t>
            </a:r>
          </a:p>
          <a:p xmlns:a="http://schemas.openxmlformats.org/drawingml/2006/main">
            <a:r>
              <a:t>https://www.reuters.com/world/europe/russias-wagner-chief-prigozhin-says-ukraine-counteroffensive-already-under-way-2023-05-03/</a:t>
            </a:r>
          </a:p>
          <a:p xmlns:a="http://schemas.openxmlformats.org/drawingml/2006/main">
            <a:r>
              <a:t>https://www.bbc.com/russian/media-66023357</a:t>
            </a:r>
          </a:p>
          <a:p xmlns:a="http://schemas.openxmlformats.org/drawingml/2006/main">
            <a:r>
              <a:t>https://www.reuters.com/world/europe/russias-prigozhin-his-own-words-mutiny-2023-06-26/</a:t>
            </a:r>
          </a:p>
          <a:p xmlns:a="http://schemas.openxmlformats.org/drawingml/2006/main">
            <a:r>
              <a:t>https://x.com/Reuters/status/1632709213641113601</a:t>
            </a:r>
          </a:p>
          <a:p xmlns:a="http://schemas.openxmlformats.org/drawingml/2006/main">
            <a:r>
              <a:t>https://www.reuters.com/world/europe/russian-mercenary-boss-says-moscows-war-ukraine-based-lies-2023-06-23/</a:t>
            </a:r>
          </a:p>
          <a:p xmlns:a="http://schemas.openxmlformats.org/drawingml/2006/main">
            <a:r>
              <a:t>https://www.rbc.ru/spb_sz/02/10/2026/6abfb91afd4c7ff957d9cbe8</a:t>
            </a:r>
          </a:p>
          <a:p xmlns:a="http://schemas.openxmlformats.org/drawingml/2006/main">
            <a:r>
              <a:t>https://www.zaks.ru/new/person/view/639</a:t>
            </a:r>
          </a:p>
          <a:p xmlns:a="http://schemas.openxmlformats.org/drawingml/2006/main">
            <a:r>
              <a:t>https://www.zaks.ru/new/archive/view/219520</a:t>
            </a:r>
          </a:p>
          <a:p xmlns:a="http://schemas.openxmlformats.org/drawingml/2006/main">
            <a:r>
              <a:t>https://tvspb.ru/news/2016/09/27/novyij-sostav-parlamenta-kto-zajmet-kresla-v-zakonodatelnom-sobranii-vi-sozyiva</a:t>
            </a:r>
          </a:p>
          <a:p xmlns:a="http://schemas.openxmlformats.org/drawingml/2006/main">
            <a:r>
              <a:t>https://tass.ru/politika/20994233</a:t>
            </a:r>
          </a:p>
          <a:p xmlns:a="http://schemas.openxmlformats.org/drawingml/2006/main">
            <a:r>
              <a:t>https://www.zaks.ru/new/archive/view/265712</a:t>
            </a:r>
          </a:p>
          <a:p xmlns:a="http://schemas.openxmlformats.org/drawingml/2006/main">
            <a:r>
              <a:t>https://www.zaks.ru/new/archive/view/269374</a:t>
            </a:r>
          </a:p>
          <a:p xmlns:a="http://schemas.openxmlformats.org/drawingml/2006/main">
            <a:r>
              <a:t>https://www.dp.ru/a/2026/10/02/oksana-dmitrieva-proigrala</a:t>
            </a:r>
          </a:p>
          <a:p xmlns:a="http://schemas.openxmlformats.org/drawingml/2006/main">
            <a:r>
              <a:t>https://ru.wikipedia.org/wiki/%D0%9F%D0%B0%D1%80%D1%82%D0%B8%D1%8F_%D1%80%D0%BE%D1%81%D1%82%D0%B0</a:t>
            </a:r>
          </a:p>
          <a:p xmlns:a="http://schemas.openxmlformats.org/drawingml/2006/main">
            <a:r>
              <a:t>https://dmitrieva.org/category/gosduma/zakonoproekty/</a:t>
            </a:r>
          </a:p>
          <a:p xmlns:a="http://schemas.openxmlformats.org/drawingml/2006/main">
            <a:r>
              <a:t>https://t.me/s/oxdmitrieva?before=1072</a:t>
            </a:r>
          </a:p>
          <a:p xmlns:a="http://schemas.openxmlformats.org/drawingml/2006/main">
            <a:r>
              <a:t>http://api.duma.gov.ru/api/transcriptFull/2023-09-28</a:t>
            </a:r>
          </a:p>
          <a:p xmlns:a="http://schemas.openxmlformats.org/drawingml/2006/main">
            <a:r>
              <a:t>https://www.fontanka.ru/2026/09/04/76623983/</a:t>
            </a:r>
          </a:p>
          <a:p xmlns:a="http://schemas.openxmlformats.org/drawingml/2006/main">
            <a:r>
              <a:t>https://www.vedomosti.ru/politics/articles/2026/03/10/1181644-deputat-semi-sozivov-oksana-dmitrieva-snova-poidet-v-gosdumu</a:t>
            </a:r>
          </a:p>
          <a:p xmlns:a="http://schemas.openxmlformats.org/drawingml/2006/main">
            <a:r>
              <a:t>https://www.kommersant.ru/doc/8497588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Рассчитанное пространство публичных политических образов российских политиков и заметных акторов за 2016–2026 годы структурировано по двум главным осям: первая противопоставляет антивоенную, оппозиционную и электорально-легитимистскую риторику — антизападной мобилизации, суверенитету и поддержке административного порядка; вторая различает институционально-коллективные и партийные стратегии — и конфронтационно-персонализированные, протестные стили публичности.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Выделено три кластера, для которых проверена устойчивость при фиксированных факторных координатах: группа институциональной поддержки курса и партийной централизации, антивоенная оппозиция с акцентом на электоральную легитимность и международную интеграцию, а также конфронтационная мобилизация с персонализированным стилем и протестной стратегией. Основные противопоставления проходят по линиям отношения к власти, способам легитимации, формам публичной риторики и организационной структуре.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Модель позволяет выявить устойчивые сочетания публичных позиций, риторических акцентов и стратегий действия, но не устанавливает причинно-следственных связей между ними. Она не даёт оснований для выводов о личных свойствах, электоральной поддержке или мотивах участников, а также не позволяет судить о распространённости тех или иных позиций в обществе в целом.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Ограничения анализа связаны с разведочным характером исследования, приближённостью линейной факторной модели к порядковым оценкам и условностью кластеризации. Группы могут возникать и в непрерывном пространстве, а устойчивость кластеров не гарантирует полноты охвата всех возможных публичных стратегий.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Интерпретация опирается только на реально выраженные и агрегированные свойства публичных образов, без привязки к партийным ярлыкам или именам. Не все возможные сочетания представлены в выборке, и модель не фиксирует статистическую значимость различий или их причинность.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Пограничных профилей: 3 из 63. Их свойства могут сочетать признаки нескольких групп.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Незаполненный сектор означает отсутствие такого профиля в выбранной выборке и корпусе. Международное сравнение требует единого словаря и сопоставимого отбора.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Числа: metadata.json, scores.csv, loadings.csv и утверждённая матрица оценок.</a:t>
            </a:r>
          </a:p>
          <a:p xmlns:a="http://schemas.openxmlformats.org/drawingml/2006/main">
            <a:r>
              <a:t>Изучаемое пространство: Публичный политический образ российских политиков и иных заметных политических акторов, включая деятелей за рубежом, активных хотя бы в части периода. Не рейтинг популярности..</a:t>
            </a:r>
          </a:p>
          <a:p xmlns:a="http://schemas.openxmlformats.org/drawingml/2006/main">
            <a:r>
              <a:t>Оценщик: llm_exploratory.</a:t>
            </a:r>
          </a:p>
          <a:p xmlns:a="http://schemas.openxmlformats.org/drawingml/2006/main">
            <a:r>
              <a:t>Исходные URL:</a:t>
            </a:r>
          </a:p>
          <a:p xmlns:a="http://schemas.openxmlformats.org/drawingml/2006/main">
            <a:r>
              <a:t>https://kremlin.ru/structure/president</a:t>
            </a:r>
          </a:p>
          <a:p xmlns:a="http://schemas.openxmlformats.org/drawingml/2006/main">
            <a:r>
              <a:t>http://www.special.kremlin.ru/events/president/transcripts/67843</a:t>
            </a:r>
          </a:p>
          <a:p xmlns:a="http://schemas.openxmlformats.org/drawingml/2006/main">
            <a:r>
              <a:t>http://en.kremlin.ru/events/president/news/70315</a:t>
            </a:r>
          </a:p>
          <a:p xmlns:a="http://schemas.openxmlformats.org/drawingml/2006/main">
            <a:r>
              <a:t>http://special.kremlin.ru/events/president/transcripts/70565</a:t>
            </a:r>
          </a:p>
          <a:p xmlns:a="http://schemas.openxmlformats.org/drawingml/2006/main">
            <a:r>
              <a:t>http://special.kremlin.ru/events/president/transcripts/72994</a:t>
            </a:r>
          </a:p>
          <a:p xmlns:a="http://schemas.openxmlformats.org/drawingml/2006/main">
            <a:r>
              <a:t>http://kremlin.ru/events/president/news/73585</a:t>
            </a:r>
          </a:p>
          <a:p xmlns:a="http://schemas.openxmlformats.org/drawingml/2006/main">
            <a:r>
              <a:t>http://special.kremlin.ru/events/president/transcripts/75762</a:t>
            </a:r>
          </a:p>
          <a:p xmlns:a="http://schemas.openxmlformats.org/drawingml/2006/main">
            <a:r>
              <a:t>http://www.special.kremlin.ru/events/president/transcripts/76899</a:t>
            </a:r>
          </a:p>
          <a:p xmlns:a="http://schemas.openxmlformats.org/drawingml/2006/main">
            <a:r>
              <a:t>http://special.kremlin.ru/events/president/transcripts/80017</a:t>
            </a:r>
          </a:p>
          <a:p xmlns:a="http://schemas.openxmlformats.org/drawingml/2006/main">
            <a:r>
              <a:t>http://www.special.kremlin.ru/events/president/transcripts/72084</a:t>
            </a:r>
          </a:p>
          <a:p xmlns:a="http://schemas.openxmlformats.org/drawingml/2006/main">
            <a:r>
              <a:t>http://www.special.kremlin.ru/events/president/transcripts/80172</a:t>
            </a:r>
          </a:p>
          <a:p xmlns:a="http://schemas.openxmlformats.org/drawingml/2006/main">
            <a:r>
              <a:t>https://www.diva-portal.org/smash/get/diva2:2035197/FULLTEXT01.pdf</a:t>
            </a:r>
          </a:p>
          <a:p xmlns:a="http://schemas.openxmlformats.org/drawingml/2006/main">
            <a:r>
              <a:t>https://www.reuters.com/world/what-know-about-russias-upcoming-parliamentary-election-2026-09-15/</a:t>
            </a:r>
          </a:p>
          <a:p xmlns:a="http://schemas.openxmlformats.org/drawingml/2006/main">
            <a:r>
              <a:t>https://www.reuters.com/world/europe/how-putin-may-leverage-predictable-outcome-russias-elections-2026-09-18/</a:t>
            </a:r>
          </a:p>
          <a:p xmlns:a="http://schemas.openxmlformats.org/drawingml/2006/main">
            <a:r>
              <a:t>https://ru.wikipedia.org/wiki/Медведев,_Дмитрий_Анатольевич</a:t>
            </a:r>
          </a:p>
          <a:p xmlns:a="http://schemas.openxmlformats.org/drawingml/2006/main">
            <a:r>
              <a:t>https://tass.ru/ekonomika/3941450</a:t>
            </a:r>
          </a:p>
          <a:p xmlns:a="http://schemas.openxmlformats.org/drawingml/2006/main">
            <a:r>
              <a:t>http://archive.government.ru/docs/21653/print/</a:t>
            </a:r>
          </a:p>
          <a:p xmlns:a="http://schemas.openxmlformats.org/drawingml/2006/main">
            <a:r>
              <a:t>https://netfreedom.org.ua/ru/dmytro-anatoliiovych-medvediev-biohrafiia-posady-i-sanktsii/</a:t>
            </a:r>
          </a:p>
          <a:p xmlns:a="http://schemas.openxmlformats.org/drawingml/2006/main">
            <a:r>
              <a:t>https://verstka.media/czeli-svo-kak-kreml-menyal-ih-na-protyazhenii-tryoh-let-vojny</a:t>
            </a:r>
          </a:p>
          <a:p xmlns:a="http://schemas.openxmlformats.org/drawingml/2006/main">
            <a:r>
              <a:t>http://www.scrf.gov.ru/news/allnews/3820/</a:t>
            </a:r>
          </a:p>
          <a:p xmlns:a="http://schemas.openxmlformats.org/drawingml/2006/main">
            <a:r>
              <a:t>http://scrf.gov.ru/news/allnews/3837/</a:t>
            </a:r>
          </a:p>
          <a:p xmlns:a="http://schemas.openxmlformats.org/drawingml/2006/main">
            <a:r>
              <a:t>https://baike.baidu.com/ru/item/%D0%94%D0%BC%D0%B8%D1%82%D1%80%D0%B8%D0%B9%20%D0%90%D0%BD%D0%B0%D1%82%D0%BE%D0%BB%D1%8C%D0%B5%D0%B2%D0%B8%D1%87%20%D0%9C%D0%B5%D0%B4%D0%B2%D0%B5%D0%B4%D0%B5%D0%B2/3254451</a:t>
            </a:r>
          </a:p>
          <a:p xmlns:a="http://schemas.openxmlformats.org/drawingml/2006/main">
            <a:r>
              <a:t>https://tass.ru/politika/5889577</a:t>
            </a:r>
          </a:p>
          <a:p xmlns:a="http://schemas.openxmlformats.org/drawingml/2006/main">
            <a:r>
              <a:t>https://meduza.io/feature/2023/06/26/chto-proizoshlo-s-dmitriem-medvedevym</a:t>
            </a:r>
          </a:p>
          <a:p xmlns:a="http://schemas.openxmlformats.org/drawingml/2006/main">
            <a:r>
              <a:t>https://www.bbc.com/russian/articles/c6evw7d22lv0o</a:t>
            </a:r>
          </a:p>
          <a:p xmlns:a="http://schemas.openxmlformats.org/drawingml/2006/main">
            <a:r>
              <a:t>https://er.ru/activity/news/dmitrij-medvedev-edinaya-rossiya-ne-dopustit-razrusheniya-cennostnyh-osnov-strany</a:t>
            </a:r>
          </a:p>
          <a:p xmlns:a="http://schemas.openxmlformats.org/drawingml/2006/main">
            <a:r>
              <a:t>https://en.wikipedia.org/wiki/Media_freedom_in_Russia</a:t>
            </a:r>
          </a:p>
          <a:p xmlns:a="http://schemas.openxmlformats.org/drawingml/2006/main">
            <a:r>
              <a:t>https://government.ru/gov/persons/151/travel/?area=KHA</a:t>
            </a:r>
          </a:p>
          <a:p xmlns:a="http://schemas.openxmlformats.org/drawingml/2006/main">
            <a:r>
              <a:t>http://government.ru/gov/persons/151/biography/</a:t>
            </a:r>
          </a:p>
          <a:p xmlns:a="http://schemas.openxmlformats.org/drawingml/2006/main">
            <a:r>
              <a:t>https://www.reuters.com/world/europe/who-is-russias-mikhail-mishustin-2024-05-10/</a:t>
            </a:r>
          </a:p>
          <a:p xmlns:a="http://schemas.openxmlformats.org/drawingml/2006/main">
            <a:r>
              <a:t>https://www.kommersant.ru/doc/4220798</a:t>
            </a:r>
          </a:p>
          <a:p xmlns:a="http://schemas.openxmlformats.org/drawingml/2006/main">
            <a:r>
              <a:t>https://www.vedomosti.ru/politics/galleries/2026/03/03/1179718-nalogi-pod-kontrolem</a:t>
            </a:r>
          </a:p>
          <a:p xmlns:a="http://schemas.openxmlformats.org/drawingml/2006/main">
            <a:r>
              <a:t>http://government.ru/gov/persons/151/travel/?page=5</a:t>
            </a:r>
          </a:p>
          <a:p xmlns:a="http://schemas.openxmlformats.org/drawingml/2006/main">
            <a:r>
              <a:t>http://government.ru/news/46476/</a:t>
            </a:r>
          </a:p>
          <a:p xmlns:a="http://schemas.openxmlformats.org/drawingml/2006/main">
            <a:r>
              <a:t>http://government.ru/news/52063/</a:t>
            </a:r>
          </a:p>
          <a:p xmlns:a="http://schemas.openxmlformats.org/drawingml/2006/main">
            <a:r>
              <a:t>http://government.ru/news/52851/</a:t>
            </a:r>
          </a:p>
          <a:p xmlns:a="http://schemas.openxmlformats.org/drawingml/2006/main">
            <a:r>
              <a:t>https://nangs.org/news/society/kabmin-privlek-otdelnye-gosorgany-k-ukrepleniyu-traditsionnykh-tsennostej</a:t>
            </a:r>
          </a:p>
          <a:p xmlns:a="http://schemas.openxmlformats.org/drawingml/2006/main">
            <a:r>
              <a:t>http://government.ru/news/57315/</a:t>
            </a:r>
          </a:p>
          <a:p xmlns:a="http://schemas.openxmlformats.org/drawingml/2006/main">
            <a:r>
              <a:t>https://www.rbc.ru/person/617bf30d9a7947f92ee2d266</a:t>
            </a:r>
          </a:p>
          <a:p xmlns:a="http://schemas.openxmlformats.org/drawingml/2006/main">
            <a:r>
              <a:t>https://mid.ru/ru/press_service/video/view/1848395/</a:t>
            </a:r>
          </a:p>
          <a:p xmlns:a="http://schemas.openxmlformats.org/drawingml/2006/main">
            <a:r>
              <a:t>https://mid.ru/ru/foreign_policy/international_organizations/1932076/</a:t>
            </a:r>
          </a:p>
          <a:p xmlns:a="http://schemas.openxmlformats.org/drawingml/2006/main">
            <a:r>
              <a:t>https://mid.ru/ru/press_service/minister_speeches/1991476/</a:t>
            </a:r>
          </a:p>
          <a:p xmlns:a="http://schemas.openxmlformats.org/drawingml/2006/main">
            <a:r>
              <a:t>https://www.mid.ru/ru/press_service/vizity-ministra/1922112/</a:t>
            </a:r>
          </a:p>
          <a:p xmlns:a="http://schemas.openxmlformats.org/drawingml/2006/main">
            <a:r>
              <a:t>https://www.mid.ru/ru/foreign_policy/news/1927568/</a:t>
            </a:r>
          </a:p>
          <a:p xmlns:a="http://schemas.openxmlformats.org/drawingml/2006/main">
            <a:r>
              <a:t>https://mid.ru/ru/foreign_policy/news/1912973/</a:t>
            </a:r>
          </a:p>
          <a:p xmlns:a="http://schemas.openxmlformats.org/drawingml/2006/main">
            <a:r>
              <a:t>https://www.reuters.com/world/europe/russias-lavrov-says-moscow-committed-us-proposals-peace-rejects-europes-2026-06-15/</a:t>
            </a:r>
          </a:p>
          <a:p xmlns:a="http://schemas.openxmlformats.org/drawingml/2006/main">
            <a:r>
              <a:t>https://www.reuters.com/world/lavrov-says-russia-is-ready-resume-talks-with-ukraine-point-where-they-left-off-2026-06-23/</a:t>
            </a:r>
          </a:p>
          <a:p xmlns:a="http://schemas.openxmlformats.org/drawingml/2006/main">
            <a:r>
              <a:t>https://mid.ru/ru/press_service/video/view/1799184/</a:t>
            </a:r>
          </a:p>
          <a:p xmlns:a="http://schemas.openxmlformats.org/drawingml/2006/main">
            <a:r>
              <a:t>https://en.wikipedia.org/wiki/Sergey_Lavrov</a:t>
            </a:r>
          </a:p>
          <a:p xmlns:a="http://schemas.openxmlformats.org/drawingml/2006/main">
            <a:r>
              <a:t>https://www.garant.ru/products/ipo/prime/doc/70627660/</a:t>
            </a:r>
          </a:p>
          <a:p xmlns:a="http://schemas.openxmlformats.org/drawingml/2006/main">
            <a:r>
              <a:t>https://www.rbc.ru/person/617fc0679a794761d6170b80</a:t>
            </a:r>
          </a:p>
          <a:p xmlns:a="http://schemas.openxmlformats.org/drawingml/2006/main">
            <a:r>
              <a:t>http://www.kremlin.ru/acts/bank/50544</a:t>
            </a:r>
          </a:p>
          <a:p xmlns:a="http://schemas.openxmlformats.org/drawingml/2006/main">
            <a:r>
              <a:t>http://special.kremlin.ru/events/president/news/74019</a:t>
            </a:r>
          </a:p>
          <a:p xmlns:a="http://schemas.openxmlformats.org/drawingml/2006/main">
            <a:r>
              <a:t>https://www.interfax.ru/russia/960081</a:t>
            </a:r>
          </a:p>
          <a:p xmlns:a="http://schemas.openxmlformats.org/drawingml/2006/main">
            <a:r>
              <a:t>https://www.rbc.ru/politics/21/09/2022/632ab17c9a794781413c8582</a:t>
            </a:r>
          </a:p>
          <a:p xmlns:a="http://schemas.openxmlformats.org/drawingml/2006/main">
            <a:r>
              <a:t>https://www.bbc.com/russian/articles/c72p0jq04gjo</a:t>
            </a:r>
          </a:p>
          <a:p xmlns:a="http://schemas.openxmlformats.org/drawingml/2006/main">
            <a:r>
              <a:t>https://meduza.io/feature/2024/05/12/putin-uvolil-shoygu-s-posta-ministra-oborony-i-perevel-v-sovbez</a:t>
            </a:r>
          </a:p>
          <a:p xmlns:a="http://schemas.openxmlformats.org/drawingml/2006/main">
            <a:r>
              <a:t>https://paodkb.org/events/sergey-shoygu-naznachen-sekretarem-soveta-bezopasnosti-rf</a:t>
            </a:r>
          </a:p>
          <a:p xmlns:a="http://schemas.openxmlformats.org/drawingml/2006/main">
            <a:r>
              <a:t>https://base.garant.ru/409005084/</a:t>
            </a:r>
          </a:p>
          <a:p xmlns:a="http://schemas.openxmlformats.org/drawingml/2006/main">
            <a:r>
              <a:t>http://special.kremlin.ru/supplement/6345</a:t>
            </a:r>
          </a:p>
          <a:p xmlns:a="http://schemas.openxmlformats.org/drawingml/2006/main">
            <a:r>
              <a:t>http://en.kremlin.ru/supplement/6345</a:t>
            </a:r>
          </a:p>
          <a:p xmlns:a="http://schemas.openxmlformats.org/drawingml/2006/main">
            <a:r>
              <a:t>https://www.kp.ru/daily/27656.5/5040576/</a:t>
            </a:r>
          </a:p>
          <a:p xmlns:a="http://schemas.openxmlformats.org/drawingml/2006/main">
            <a:r>
              <a:t>https://www.fontanka.ru/2025/06/10/75574928/</a:t>
            </a:r>
          </a:p>
          <a:p xmlns:a="http://schemas.openxmlformats.org/drawingml/2006/main">
            <a:r>
              <a:t>https://tass.ru/politika/25506737</a:t>
            </a:r>
          </a:p>
          <a:p xmlns:a="http://schemas.openxmlformats.org/drawingml/2006/main">
            <a:r>
              <a:t>https://www.rbc.ru/person/6181419c9a7947df128a22f7</a:t>
            </a:r>
          </a:p>
          <a:p xmlns:a="http://schemas.openxmlformats.org/drawingml/2006/main">
            <a:r>
              <a:t>https://www.rbc.ru/economics/31/05/2021/60b3de5d9a7947f2883f7aa0</a:t>
            </a:r>
          </a:p>
          <a:p xmlns:a="http://schemas.openxmlformats.org/drawingml/2006/main">
            <a:r>
              <a:t>https://www.rbc.ru/politics/13/05/2024/6641109a9a7947ab8eebcf7f</a:t>
            </a:r>
          </a:p>
          <a:p xmlns:a="http://schemas.openxmlformats.org/drawingml/2006/main">
            <a:r>
              <a:t>https://www.rbc.ru/business/13/06/2023/6482d3389a79473805ee8978</a:t>
            </a:r>
          </a:p>
          <a:p xmlns:a="http://schemas.openxmlformats.org/drawingml/2006/main">
            <a:r>
              <a:t>https://thebell.io/kuda-vedet-ekonomiku-andrej-belousov-zagadki-dmitriya-medvedeva-i-sposoby-perezhit-sanktsii</a:t>
            </a:r>
          </a:p>
          <a:p xmlns:a="http://schemas.openxmlformats.org/drawingml/2006/main">
            <a:r>
              <a:t>https://72.ru/text/politics/2024/05/14/73575386/</a:t>
            </a:r>
          </a:p>
          <a:p xmlns:a="http://schemas.openxmlformats.org/drawingml/2006/main">
            <a:r>
              <a:t>https://tass.ru/armiya-i-opk/22683223</a:t>
            </a:r>
          </a:p>
          <a:p xmlns:a="http://schemas.openxmlformats.org/drawingml/2006/main">
            <a:r>
              <a:t>https://www.rbc.ru/society/12/12/2017/5a2f9b5a9a79473649fe0042</a:t>
            </a:r>
          </a:p>
          <a:p xmlns:a="http://schemas.openxmlformats.org/drawingml/2006/main">
            <a:r>
              <a:t>https://www.istorex.org/post/russia-december-2024-february-2025</a:t>
            </a:r>
          </a:p>
          <a:p xmlns:a="http://schemas.openxmlformats.org/drawingml/2006/main">
            <a:r>
              <a:t>https://rosinform.ru/news/andrej-belousov-osoboe-znachenie-pridayom-obespecheniyu-voennoj-bezopasnosti-soyuznogo-gosudarstva</a:t>
            </a:r>
          </a:p>
          <a:p xmlns:a="http://schemas.openxmlformats.org/drawingml/2006/main">
            <a:r>
              <a:t>https://xn--b1apnk.xn--p1ai/tpost/nsk7vo4xh1-vstrecha-s-ministrom-oboroni-rossii-i-os</a:t>
            </a:r>
          </a:p>
          <a:p xmlns:a="http://schemas.openxmlformats.org/drawingml/2006/main">
            <a:r>
              <a:t>https://www.rbc.ru/person/62d120d89a79475f0ddd8b5e</a:t>
            </a:r>
          </a:p>
          <a:p xmlns:a="http://schemas.openxmlformats.org/drawingml/2006/main">
            <a:r>
              <a:t>http://scrf.gov.ru/news/allnews/2148/</a:t>
            </a:r>
          </a:p>
          <a:p xmlns:a="http://schemas.openxmlformats.org/drawingml/2006/main">
            <a:r>
              <a:t>https://www.rbc.ru/politics/14/05/2024/6643287b9a7947a8f0b8ba78</a:t>
            </a:r>
          </a:p>
          <a:p xmlns:a="http://schemas.openxmlformats.org/drawingml/2006/main">
            <a:r>
              <a:t>https://tass.ru/info/20789699</a:t>
            </a:r>
          </a:p>
          <a:p xmlns:a="http://schemas.openxmlformats.org/drawingml/2006/main">
            <a:r>
              <a:t>https://marine.org.ru/structure/person/56/</a:t>
            </a:r>
          </a:p>
          <a:p xmlns:a="http://schemas.openxmlformats.org/drawingml/2006/main">
            <a:r>
              <a:t>https://marine.org.ru/publication/smi/16108/</a:t>
            </a:r>
          </a:p>
          <a:p xmlns:a="http://schemas.openxmlformats.org/drawingml/2006/main">
            <a:r>
              <a:t>https://www.svoboda.org/a/30676123.html</a:t>
            </a:r>
          </a:p>
          <a:p xmlns:a="http://schemas.openxmlformats.org/drawingml/2006/main">
            <a:r>
              <a:t>https://aif.ru/society/safety/kuklovodstvo_k_deystviyu_nikolay_patrushev_o_metodah_cvetnyh_revolyuciy</a:t>
            </a:r>
          </a:p>
          <a:p xmlns:a="http://schemas.openxmlformats.org/drawingml/2006/main">
            <a:r>
              <a:t>https://vkrizis.info/vlast/czennosti-razmyvaniya/</a:t>
            </a:r>
          </a:p>
          <a:p xmlns:a="http://schemas.openxmlformats.org/drawingml/2006/main">
            <a:r>
              <a:t>https://infranomica.ru/2026/05/19/selskoe-hozyajstvo-est-rezultat-budet-i-pishha/</a:t>
            </a:r>
          </a:p>
          <a:p xmlns:a="http://schemas.openxmlformats.org/drawingml/2006/main">
            <a:r>
              <a:t>https://www.rbc.ru/person/660400989a79471b36dbb514</a:t>
            </a:r>
          </a:p>
          <a:p xmlns:a="http://schemas.openxmlformats.org/drawingml/2006/main">
            <a:r>
              <a:t>http://special.kremlin.ru/catalog/persons/100/events</a:t>
            </a:r>
          </a:p>
          <a:p xmlns:a="http://schemas.openxmlformats.org/drawingml/2006/main">
            <a:r>
              <a:t>https://nac.gov.ru/view/eb008ff4-1608-4b47-b2a9-3d604c1833c2</a:t>
            </a:r>
          </a:p>
          <a:p xmlns:a="http://schemas.openxmlformats.org/drawingml/2006/main">
            <a:r>
              <a:t>http://pfo.gov.ru/press/events/113336/</a:t>
            </a:r>
          </a:p>
          <a:p xmlns:a="http://schemas.openxmlformats.org/drawingml/2006/main">
            <a:r>
              <a:t>https://www.opensanctions.org/entities/Q516824/</a:t>
            </a:r>
          </a:p>
          <a:p xmlns:a="http://schemas.openxmlformats.org/drawingml/2006/main">
            <a:r>
              <a:t>https://www.agents.media/ssha-poprobuyut-vozobnovit-peregovory-o-mire-v-ukraine-cherez-glavu-fsb-che-vedomstvo-kak-schitaetsya-svoimi-dokladami-podtolknulo-putina-k-vojne/</a:t>
            </a:r>
          </a:p>
          <a:p xmlns:a="http://schemas.openxmlformats.org/drawingml/2006/main">
            <a:r>
              <a:t>https://letters.kremlin.ru/news/receptions/by-section/assignments/by-person/260</a:t>
            </a:r>
          </a:p>
          <a:p xmlns:a="http://schemas.openxmlformats.org/drawingml/2006/main">
            <a:r>
              <a:t>https://www.kommersant.ru/doc/3612580</a:t>
            </a:r>
          </a:p>
          <a:p xmlns:a="http://schemas.openxmlformats.org/drawingml/2006/main">
            <a:r>
              <a:t>https://fbk.info/ru/investigations/kirienko-kholyi-putina</a:t>
            </a:r>
          </a:p>
          <a:p xmlns:a="http://schemas.openxmlformats.org/drawingml/2006/main">
            <a:r>
              <a:t>https://utro02.tv/2022/05/24/kolebaniya-kirienok/</a:t>
            </a:r>
          </a:p>
          <a:p xmlns:a="http://schemas.openxmlformats.org/drawingml/2006/main">
            <a:r>
              <a:t>https://meduza.io/feature/2023/12/19/on-peresidel-v-svoem-kresle-v-kremle-i-pravitelstve-obsuzhdayut-chto-sergey-kirienko-mozhet-lishitsya-dolzhnosti-v-ap-posle-vyborov-prezidenta</a:t>
            </a:r>
          </a:p>
          <a:p xmlns:a="http://schemas.openxmlformats.org/drawingml/2006/main">
            <a:r>
              <a:t>https://verstka.media/kak-rossiya-prodvigaet-svoyu-molodezhnuyu-politiku-na-okkupirovannyh-territoriyah</a:t>
            </a:r>
          </a:p>
          <a:p xmlns:a="http://schemas.openxmlformats.org/drawingml/2006/main">
            <a:r>
              <a:t>https://dnrnews.ru/society/2025/09/04/1167117.html</a:t>
            </a:r>
          </a:p>
          <a:p xmlns:a="http://schemas.openxmlformats.org/drawingml/2006/main">
            <a:r>
              <a:t>https://www.tadviser.ru/index.php/%D0%9F%D0%B5%D1%80%D1%81%D0%BE%D0%BD%D0%B0:%D0%9A%D0%B8%D1%80%D0%B8%D0%B5%D0%BD%D0%BA%D0%BE_%D0%A1%D0%B5%D1%80%D0%B3%D0%B5%D0%B9_%D0%92%D0%BB%D0%B0%D0%B4%D0%B8%D0%BB%D0%B5%D0%BD%D0%BE%D0%B2%D0%B8%D1%87</a:t>
            </a:r>
          </a:p>
          <a:p xmlns:a="http://schemas.openxmlformats.org/drawingml/2006/main">
            <a:r>
              <a:t>https://tass.ru/politika/18225741</a:t>
            </a:r>
          </a:p>
          <a:p xmlns:a="http://schemas.openxmlformats.org/drawingml/2006/main">
            <a:r>
              <a:t>https://www.kommersant.ru/doc/6187168</a:t>
            </a:r>
          </a:p>
          <a:p xmlns:a="http://schemas.openxmlformats.org/drawingml/2006/main">
            <a:r>
              <a:t>https://duma.gov.ru/news/63383/</a:t>
            </a:r>
          </a:p>
          <a:p xmlns:a="http://schemas.openxmlformats.org/drawingml/2006/main">
            <a:r>
              <a:t>http://duma.gov.ru/en/duma/persons/99100829/news/</a:t>
            </a:r>
          </a:p>
          <a:p xmlns:a="http://schemas.openxmlformats.org/drawingml/2006/main">
            <a:r>
              <a:t>http://duma.gov.ru/en/news/62248/</a:t>
            </a:r>
          </a:p>
          <a:p xmlns:a="http://schemas.openxmlformats.org/drawingml/2006/main">
            <a:r>
              <a:t>http://duma.gov.ru/en/news/61352/</a:t>
            </a:r>
          </a:p>
          <a:p xmlns:a="http://schemas.openxmlformats.org/drawingml/2006/main">
            <a:r>
              <a:t>http://duma.gov.ru/en/news/64178/</a:t>
            </a:r>
          </a:p>
          <a:p xmlns:a="http://schemas.openxmlformats.org/drawingml/2006/main">
            <a:r>
              <a:t>http://duma.gov.ru/en/news/64216</a:t>
            </a:r>
          </a:p>
          <a:p xmlns:a="http://schemas.openxmlformats.org/drawingml/2006/main">
            <a:r>
              <a:t>http://duma.gov.ru/en/news/64239</a:t>
            </a:r>
          </a:p>
          <a:p xmlns:a="http://schemas.openxmlformats.org/drawingml/2006/main">
            <a:r>
              <a:t>https://en.wikipedia.org/wiki/Vyacheslav_Volodin</a:t>
            </a:r>
          </a:p>
          <a:p xmlns:a="http://schemas.openxmlformats.org/drawingml/2006/main">
            <a:r>
              <a:t>http://duma.gov.ru/news/56060/</a:t>
            </a:r>
          </a:p>
          <a:p xmlns:a="http://schemas.openxmlformats.org/drawingml/2006/main">
            <a:r>
              <a:t>http://duma.gov.ru/news/60448/</a:t>
            </a:r>
          </a:p>
          <a:p xmlns:a="http://schemas.openxmlformats.org/drawingml/2006/main">
            <a:r>
              <a:t>http://duma.gov.ru/news/61362/</a:t>
            </a:r>
          </a:p>
          <a:p xmlns:a="http://schemas.openxmlformats.org/drawingml/2006/main">
            <a:r>
              <a:t>http://duma.gov.ru/news/61384/</a:t>
            </a:r>
          </a:p>
          <a:p xmlns:a="http://schemas.openxmlformats.org/drawingml/2006/main">
            <a:r>
              <a:t>http://duma.gov.ru/news/61874/</a:t>
            </a:r>
          </a:p>
          <a:p xmlns:a="http://schemas.openxmlformats.org/drawingml/2006/main">
            <a:r>
              <a:t>http://duma.gov.ru/news/62022/</a:t>
            </a:r>
          </a:p>
          <a:p xmlns:a="http://schemas.openxmlformats.org/drawingml/2006/main">
            <a:r>
              <a:t>http://duma.gov.ru/news/63772/</a:t>
            </a:r>
          </a:p>
          <a:p xmlns:a="http://schemas.openxmlformats.org/drawingml/2006/main">
            <a:r>
              <a:t>https://council.gov.ru/events/news/160466/</a:t>
            </a:r>
          </a:p>
          <a:p xmlns:a="http://schemas.openxmlformats.org/drawingml/2006/main">
            <a:r>
              <a:t>http://council.gov.ru/structure/persons/257/</a:t>
            </a:r>
          </a:p>
          <a:p xmlns:a="http://schemas.openxmlformats.org/drawingml/2006/main">
            <a:r>
              <a:t>https://interaffairs.ru/news/show/16199</a:t>
            </a:r>
          </a:p>
          <a:p xmlns:a="http://schemas.openxmlformats.org/drawingml/2006/main">
            <a:r>
              <a:t>https://www.rbc.ru/person/617fb5ef9a79475c6cfc4502</a:t>
            </a:r>
          </a:p>
          <a:p xmlns:a="http://schemas.openxmlformats.org/drawingml/2006/main">
            <a:r>
              <a:t>https://vksrs.com/publications/matvienko-rasskazala-o-neobkhodimosti-protivostoyat-geroizatsii-natsistov/</a:t>
            </a:r>
          </a:p>
          <a:p xmlns:a="http://schemas.openxmlformats.org/drawingml/2006/main">
            <a:r>
              <a:t>https://absatz.media/politika/158438-valentine-matvienko-77-istoriya-uspeha-put-k-vershine-i-samye-yarkie-zayavleniya</a:t>
            </a:r>
          </a:p>
          <a:p xmlns:a="http://schemas.openxmlformats.org/drawingml/2006/main">
            <a:r>
              <a:t>https://www.rbc.ru/society/14/10/2026/6acf597c9a794743e0478a15?from=short_news</a:t>
            </a:r>
          </a:p>
          <a:p xmlns:a="http://schemas.openxmlformats.org/drawingml/2006/main">
            <a:r>
              <a:t>https://senatinform.ru/news/sf_stremitsya_byt_maksimalno_otkrytym_dlya_raboty_zhurnalistov_matvienko/</a:t>
            </a:r>
          </a:p>
          <a:p xmlns:a="http://schemas.openxmlformats.org/drawingml/2006/main">
            <a:r>
              <a:t>https://eparlament.irzs.ru/Files/getFile/11853</a:t>
            </a:r>
          </a:p>
          <a:p xmlns:a="http://schemas.openxmlformats.org/drawingml/2006/main">
            <a:r>
              <a:t>http://special.council.gov.ru/activity/meetings/170703/transcript/</a:t>
            </a:r>
          </a:p>
          <a:p xmlns:a="http://schemas.openxmlformats.org/drawingml/2006/main">
            <a:r>
              <a:t>https://bookonlime.ru/lecture/12-razvitie-ekonomicheskih-otnosheniy-i-strategicheskoe-planirovanie-v-cifrovoy-ekonomike-2</a:t>
            </a:r>
          </a:p>
          <a:p xmlns:a="http://schemas.openxmlformats.org/drawingml/2006/main">
            <a:r>
              <a:t>https://ru.wikipedia.org/wiki/Песков,_Дмитрий_Сергеевич</a:t>
            </a:r>
          </a:p>
          <a:p xmlns:a="http://schemas.openxmlformats.org/drawingml/2006/main">
            <a:r>
              <a:t>https://www.reuters.com/world/europe/kremlin-says-ukraine-is-now-paying-price-its-own-attacks-russia-2026-09-28/</a:t>
            </a:r>
          </a:p>
          <a:p xmlns:a="http://schemas.openxmlformats.org/drawingml/2006/main">
            <a:r>
              <a:t>https://www.reuters.com/world/europe/kremlin-rejects-le-penbardella-rebuke-says-russia-is-no-threat-france-2026-09-21/</a:t>
            </a:r>
          </a:p>
          <a:p xmlns:a="http://schemas.openxmlformats.org/drawingml/2006/main">
            <a:r>
              <a:t>https://theins.ru/antifake/295208</a:t>
            </a:r>
          </a:p>
          <a:p xmlns:a="http://schemas.openxmlformats.org/drawingml/2006/main">
            <a:r>
              <a:t>https://expert.ru/news/v-kremle-otvetili-na-slova-donalda-trampa-o-rossiyskom-vmeshatelstve</a:t>
            </a:r>
          </a:p>
          <a:p xmlns:a="http://schemas.openxmlformats.org/drawingml/2006/main">
            <a:r>
              <a:t>https://www.dw.com/ru/dmitrij-peskov/t-18146676/page-1</a:t>
            </a:r>
          </a:p>
          <a:p xmlns:a="http://schemas.openxmlformats.org/drawingml/2006/main">
            <a:r>
              <a:t>https://www.pnp.ru/person/dmitriy--peskov/</a:t>
            </a:r>
          </a:p>
          <a:p xmlns:a="http://schemas.openxmlformats.org/drawingml/2006/main">
            <a:r>
              <a:t>https://www.rbc.ua/ukr/dossier/peskov-19032015</a:t>
            </a:r>
          </a:p>
          <a:p xmlns:a="http://schemas.openxmlformats.org/drawingml/2006/main">
            <a:r>
              <a:t>https://www.rbc.ru/politics/12/10/2026/6accae3bb18f4460834ce063</a:t>
            </a:r>
          </a:p>
          <a:p xmlns:a="http://schemas.openxmlformats.org/drawingml/2006/main">
            <a:r>
              <a:t>https://tass.ru/politika/20355193</a:t>
            </a:r>
          </a:p>
          <a:p xmlns:a="http://schemas.openxmlformats.org/drawingml/2006/main">
            <a:r>
              <a:t>https://www.m24.ru/news/06052024/689412</a:t>
            </a:r>
          </a:p>
          <a:p xmlns:a="http://schemas.openxmlformats.org/drawingml/2006/main">
            <a:r>
              <a:t>http://www.kremlin.ru/acts/bank/48502</a:t>
            </a:r>
          </a:p>
          <a:p xmlns:a="http://schemas.openxmlformats.org/drawingml/2006/main">
            <a:r>
              <a:t>https://www.m24.ru/news/11022025/769070</a:t>
            </a:r>
          </a:p>
          <a:p xmlns:a="http://schemas.openxmlformats.org/drawingml/2006/main">
            <a:r>
              <a:t>https://www.m24.ru/news/23042026/894202</a:t>
            </a:r>
          </a:p>
          <a:p xmlns:a="http://schemas.openxmlformats.org/drawingml/2006/main">
            <a:r>
              <a:t>https://cbr.ru/about_br/nabiullinaes/</a:t>
            </a:r>
          </a:p>
          <a:p xmlns:a="http://schemas.openxmlformats.org/drawingml/2006/main">
            <a:r>
              <a:t>https://cbr.ru/press/event/?id=12840</a:t>
            </a:r>
          </a:p>
          <a:p xmlns:a="http://schemas.openxmlformats.org/drawingml/2006/main">
            <a:r>
              <a:t>https://www.cbr.ru/press/event/?id=12904</a:t>
            </a:r>
          </a:p>
          <a:p xmlns:a="http://schemas.openxmlformats.org/drawingml/2006/main">
            <a:r>
              <a:t>https://cbr.ru/press/event/?id=14033</a:t>
            </a:r>
          </a:p>
          <a:p xmlns:a="http://schemas.openxmlformats.org/drawingml/2006/main">
            <a:r>
              <a:t>https://www.cbr.ru/press/event/?id=12764</a:t>
            </a:r>
          </a:p>
          <a:p xmlns:a="http://schemas.openxmlformats.org/drawingml/2006/main">
            <a:r>
              <a:t>https://kazanfirst.ru/articles/534335</a:t>
            </a:r>
          </a:p>
          <a:p xmlns:a="http://schemas.openxmlformats.org/drawingml/2006/main">
            <a:r>
              <a:t>https://www.rbc.ru/person/65e831449a79476cbfd8e5fd</a:t>
            </a:r>
          </a:p>
          <a:p xmlns:a="http://schemas.openxmlformats.org/drawingml/2006/main">
            <a:r>
              <a:t>https://www.interfax.ru/russia/955290</a:t>
            </a:r>
          </a:p>
          <a:p xmlns:a="http://schemas.openxmlformats.org/drawingml/2006/main">
            <a:r>
              <a:t>https://minfin.gov.ru/ru/press-center/?id_4=38548-intervyu_ministra_finansov_antona_siluanova_gazete_argumenty_i_fakty</a:t>
            </a:r>
          </a:p>
          <a:p xmlns:a="http://schemas.openxmlformats.org/drawingml/2006/main">
            <a:r>
              <a:t>https://minfin.gov.ru/ru/press-center/?id_4=37667-vystuplenie_antona_siluanova_na_plenarnom_zasedanii_v_gosudarstvennoi_dume</a:t>
            </a:r>
          </a:p>
          <a:p xmlns:a="http://schemas.openxmlformats.org/drawingml/2006/main">
            <a:r>
              <a:t>https://www.rbc.ru/economics/24/10/2022/63529d159a7947efb82a59eb</a:t>
            </a:r>
          </a:p>
          <a:p xmlns:a="http://schemas.openxmlformats.org/drawingml/2006/main">
            <a:r>
              <a:t>https://www.rbc.ru/newspaper/2020/02/21/5e4e83289a79474bcf9f8cf9</a:t>
            </a:r>
          </a:p>
          <a:p xmlns:a="http://schemas.openxmlformats.org/drawingml/2006/main">
            <a:r>
              <a:t>https://www.rbc.ru/economics/20/02/2020/5e4e91919a79475559478893</a:t>
            </a:r>
          </a:p>
          <a:p xmlns:a="http://schemas.openxmlformats.org/drawingml/2006/main">
            <a:r>
              <a:t>https://minfin.gov.ru/ru/press-center/?id_4=39336-anton_siluanov_predstavil_na_parlamentskikh_slushaniyakh_v_sovete_federatsii_proekt_byudzheta_na_2025-2027_gg.</a:t>
            </a:r>
          </a:p>
          <a:p xmlns:a="http://schemas.openxmlformats.org/drawingml/2006/main">
            <a:r>
              <a:t>https://www.interfax.ru/amp/1035506</a:t>
            </a:r>
          </a:p>
          <a:p xmlns:a="http://schemas.openxmlformats.org/drawingml/2006/main">
            <a:r>
              <a:t>https://tass.ru/ekonomika/28198121</a:t>
            </a:r>
          </a:p>
          <a:p xmlns:a="http://schemas.openxmlformats.org/drawingml/2006/main">
            <a:r>
              <a:t>https://www.rbc.ru/person/65b9f4369a7947ec8a7f242a</a:t>
            </a:r>
          </a:p>
          <a:p xmlns:a="http://schemas.openxmlformats.org/drawingml/2006/main">
            <a:r>
              <a:t>https://www.bfm.ru/news/435050</a:t>
            </a:r>
          </a:p>
          <a:p xmlns:a="http://schemas.openxmlformats.org/drawingml/2006/main">
            <a:r>
              <a:t>https://ru.ruwiki.ru/wiki/%D0%93%D0%BE%D0%BB%D0%B8%D0%BA%D0%BE%D0%B2%D0%B0,_%D0%A2%D0%B0%D1%82%D1%8C%D1%8F%D0%BD%D0%B0_%D0%90%D0%BB%D0%B5%D0%BA%D1%81%D0%B5%D0%B5%D0%B2%D0%BD%D0%B0</a:t>
            </a:r>
          </a:p>
          <a:p xmlns:a="http://schemas.openxmlformats.org/drawingml/2006/main">
            <a:r>
              <a:t>http://www.kremlin.ru/events/president/transcripts/deliberations%20/77439</a:t>
            </a:r>
          </a:p>
          <a:p xmlns:a="http://schemas.openxmlformats.org/drawingml/2006/main">
            <a:r>
              <a:t>https://xn--90aivcdt6dxbc.xn--p1ai/articles/news/prezident-zdravookhranenie-zanimaet-klyuchevoe-mesto-v-sotsialnoy-politike-rossii/</a:t>
            </a:r>
          </a:p>
          <a:p xmlns:a="http://schemas.openxmlformats.org/drawingml/2006/main">
            <a:r>
              <a:t>https://xn--90aivcdt6dxbc.xn--p1ai/articles/news/tatyana-golikova-edinaya-rossiya-nadezhnyy-soyuznik-i-partner-pravitelstva/</a:t>
            </a:r>
          </a:p>
          <a:p xmlns:a="http://schemas.openxmlformats.org/drawingml/2006/main">
            <a:r>
              <a:t>http://government.ru/news/58648/</a:t>
            </a:r>
          </a:p>
          <a:p xmlns:a="http://schemas.openxmlformats.org/drawingml/2006/main">
            <a:r>
              <a:t>http://government.ru/news/54912/</a:t>
            </a:r>
          </a:p>
          <a:p xmlns:a="http://schemas.openxmlformats.org/drawingml/2006/main">
            <a:r>
              <a:t>http://government.ru/news/58000/</a:t>
            </a:r>
          </a:p>
          <a:p xmlns:a="http://schemas.openxmlformats.org/drawingml/2006/main">
            <a:r>
              <a:t>https://tass.ru/politika/28141547</a:t>
            </a:r>
          </a:p>
          <a:p xmlns:a="http://schemas.openxmlformats.org/drawingml/2006/main">
            <a:r>
              <a:t>https://duma.gov.ru/media/files/smUklOtuNPyzwTneQGCfFUHHIsilAqcm.pdf</a:t>
            </a:r>
          </a:p>
          <a:p xmlns:a="http://schemas.openxmlformats.org/drawingml/2006/main">
            <a:r>
              <a:t>https://kprf.ru/dep/gosduma/activities/187187.html</a:t>
            </a:r>
          </a:p>
          <a:p xmlns:a="http://schemas.openxmlformats.org/drawingml/2006/main">
            <a:r>
              <a:t>http://msk.kprf.ru/2022/08/22/222866/</a:t>
            </a:r>
          </a:p>
          <a:p xmlns:a="http://schemas.openxmlformats.org/drawingml/2006/main">
            <a:r>
              <a:t>https://kprf.ru/party-live/cknews/235903.html</a:t>
            </a:r>
          </a:p>
          <a:p xmlns:a="http://schemas.openxmlformats.org/drawingml/2006/main">
            <a:r>
              <a:t>https://kprf.ru/dep/gosduma/activities/236198.html/print</a:t>
            </a:r>
          </a:p>
          <a:p xmlns:a="http://schemas.openxmlformats.org/drawingml/2006/main">
            <a:r>
              <a:t>https://kprf.ru/dep/gosduma/activities/239812.html</a:t>
            </a:r>
          </a:p>
          <a:p xmlns:a="http://schemas.openxmlformats.org/drawingml/2006/main">
            <a:r>
              <a:t>https://kprf-don.ru/index.php/news/facts/12501-2025-09-15-12-58-35.html</a:t>
            </a:r>
          </a:p>
          <a:p xmlns:a="http://schemas.openxmlformats.org/drawingml/2006/main">
            <a:r>
              <a:t>https://kprf.ru/dep/gosduma/activities/237529.html</a:t>
            </a:r>
          </a:p>
          <a:p xmlns:a="http://schemas.openxmlformats.org/drawingml/2006/main">
            <a:r>
              <a:t>https://novayagazeta.ru/articles/2025/09/19/putin-udivilsia-khodu-zapushchennoi-im-vesnoi-munitsipalnoi-reformy-posle-slov-ziuganova-kak-regiony-dlia-nee-lomali-cherez-koleno-a-tatarstan-otkazalsia-ee-ispolniat-news</a:t>
            </a:r>
          </a:p>
          <a:p xmlns:a="http://schemas.openxmlformats.org/drawingml/2006/main">
            <a:r>
              <a:t>https://kprf.ru/official/2025/11/15/15-noiabria-2025-oda-sostoialsia-ii-noiabrskii-plenum-tsk-kprf/473.html</a:t>
            </a:r>
          </a:p>
          <a:p xmlns:a="http://schemas.openxmlformats.org/drawingml/2006/main">
            <a:r>
              <a:t>https://www.rbc.ru/person/617bfbb79a7947fc327a3bcb</a:t>
            </a:r>
          </a:p>
          <a:p xmlns:a="http://schemas.openxmlformats.org/drawingml/2006/main">
            <a:r>
              <a:t>https://www.bbc.com/russian/features-60873381</a:t>
            </a:r>
          </a:p>
          <a:p xmlns:a="http://schemas.openxmlformats.org/drawingml/2006/main">
            <a:r>
              <a:t>https://www.svoboda.org/a/umer-lider-partii-ldpr-vladimir-zhirinovskiy-nekrolog/31770134.html</a:t>
            </a:r>
          </a:p>
          <a:p xmlns:a="http://schemas.openxmlformats.org/drawingml/2006/main">
            <a:r>
              <a:t>https://www.rbc.ru/politics/06/04/2022/624d661b9a79473f7416fe26</a:t>
            </a:r>
          </a:p>
          <a:p xmlns:a="http://schemas.openxmlformats.org/drawingml/2006/main">
            <a:r>
              <a:t>https://tass.ru/politika/3392889</a:t>
            </a:r>
          </a:p>
          <a:p xmlns:a="http://schemas.openxmlformats.org/drawingml/2006/main">
            <a:r>
              <a:t>https://www.pnp.ru/politics/2016/06/28/v-centre-predvybornoy-programmy-ldpr-russkiy-vopros.html</a:t>
            </a:r>
          </a:p>
          <a:p xmlns:a="http://schemas.openxmlformats.org/drawingml/2006/main">
            <a:r>
              <a:t>https://ldpr.ru/party/history/</a:t>
            </a:r>
          </a:p>
          <a:p xmlns:a="http://schemas.openxmlformats.org/drawingml/2006/main">
            <a:r>
              <a:t>https://govoritmoskva.ru/interviews/1023/</a:t>
            </a:r>
          </a:p>
          <a:p xmlns:a="http://schemas.openxmlformats.org/drawingml/2006/main">
            <a:r>
              <a:t>https://www.gazeta.ru/politics/2017/03/17_a_10580999.shtml</a:t>
            </a:r>
          </a:p>
          <a:p xmlns:a="http://schemas.openxmlformats.org/drawingml/2006/main">
            <a:r>
              <a:t>https://ldpr.ru/upload/iblock/c88/1d6dstdexz6aw7dnwoubeobhr3mnwa1j/a799616e688866c49f2ef6b5b8cfe5c00d45080ae85ce0e5f6d36e2e010681d9.pdf</a:t>
            </a:r>
          </a:p>
          <a:p xmlns:a="http://schemas.openxmlformats.org/drawingml/2006/main">
            <a:r>
              <a:t>https://www.kommersant.ru/doc/3579566</a:t>
            </a:r>
          </a:p>
          <a:p xmlns:a="http://schemas.openxmlformats.org/drawingml/2006/main">
            <a:r>
              <a:t>https://spb.ldpr.ru/event/243915/</a:t>
            </a:r>
          </a:p>
          <a:p xmlns:a="http://schemas.openxmlformats.org/drawingml/2006/main">
            <a:r>
              <a:t>https://kursk.ldpr.ru/event/341398</a:t>
            </a:r>
          </a:p>
          <a:p xmlns:a="http://schemas.openxmlformats.org/drawingml/2006/main">
            <a:r>
              <a:t>https://cyberleninka.ru/article/n/sravnitelnyy-analiz-predvybornyh-programm-ldpr-na-vyborah-2021-g-i-l-e-slutskogo-na-vyborah-2024-g</a:t>
            </a:r>
          </a:p>
          <a:p xmlns:a="http://schemas.openxmlformats.org/drawingml/2006/main">
            <a:r>
              <a:t>https://kcr.ldpr.ru/event/347999/</a:t>
            </a:r>
          </a:p>
          <a:p xmlns:a="http://schemas.openxmlformats.org/drawingml/2006/main">
            <a:r>
              <a:t>https://msknews77.ru/society/2025/09/25/73500.html</a:t>
            </a:r>
          </a:p>
          <a:p xmlns:a="http://schemas.openxmlformats.org/drawingml/2006/main">
            <a:r>
              <a:t>https://bagaevka-press.ru/besplatnyj-zemelnyj-uchastok-dlya-semej-inicziativa-ldpr/</a:t>
            </a:r>
          </a:p>
          <a:p xmlns:a="http://schemas.openxmlformats.org/drawingml/2006/main">
            <a:r>
              <a:t>https://ldpr.ru/event/437527/</a:t>
            </a:r>
          </a:p>
          <a:p xmlns:a="http://schemas.openxmlformats.org/drawingml/2006/main">
            <a:r>
              <a:t>https://rg62.info/2025/11/01/leonid-sluczkij-vstupilsya-za-multserial-masha-i-medved/</a:t>
            </a:r>
          </a:p>
          <a:p xmlns:a="http://schemas.openxmlformats.org/drawingml/2006/main">
            <a:r>
              <a:t>https://mironov.ru/officially</a:t>
            </a:r>
          </a:p>
          <a:p xmlns:a="http://schemas.openxmlformats.org/drawingml/2006/main">
            <a:r>
              <a:t>https://mironov.ru/bio</a:t>
            </a:r>
          </a:p>
          <a:p xmlns:a="http://schemas.openxmlformats.org/drawingml/2006/main">
            <a:r>
              <a:t>https://mironov-online.ru/category/zayavleniya/</a:t>
            </a:r>
          </a:p>
          <a:p xmlns:a="http://schemas.openxmlformats.org/drawingml/2006/main">
            <a:r>
              <a:t>https://www.rbc.ru/person/69806d279a7947baf86c32c5</a:t>
            </a:r>
          </a:p>
          <a:p xmlns:a="http://schemas.openxmlformats.org/drawingml/2006/main">
            <a:r>
              <a:t>https://spravedlivo.ru/16303010</a:t>
            </a:r>
          </a:p>
          <a:p xmlns:a="http://schemas.openxmlformats.org/drawingml/2006/main">
            <a:r>
              <a:t>http://mironov.ru/15133910</a:t>
            </a:r>
          </a:p>
          <a:p xmlns:a="http://schemas.openxmlformats.org/drawingml/2006/main">
            <a:r>
              <a:t>http://www.special.spravedlivo.ru/5_140609.html</a:t>
            </a:r>
          </a:p>
          <a:p xmlns:a="http://schemas.openxmlformats.org/drawingml/2006/main">
            <a:r>
              <a:t>https://spravedlivo.ru/14681110</a:t>
            </a:r>
          </a:p>
          <a:p xmlns:a="http://schemas.openxmlformats.org/drawingml/2006/main">
            <a:r>
              <a:t>https://radiokp.ru/podcast/dialogi-na-radio-kp/759263</a:t>
            </a:r>
          </a:p>
          <a:p xmlns:a="http://schemas.openxmlformats.org/drawingml/2006/main">
            <a:r>
              <a:t>https://mironov.ru/51339910</a:t>
            </a:r>
          </a:p>
          <a:p xmlns:a="http://schemas.openxmlformats.org/drawingml/2006/main">
            <a:r>
              <a:t>https://mironov-online.ru/news/mironov-na-ukraine-idet-bitva-za-budushhee-vsego-chelovechestva-i-pobeda-v-nej-budet-za-rossiej/</a:t>
            </a:r>
          </a:p>
          <a:p xmlns:a="http://schemas.openxmlformats.org/drawingml/2006/main">
            <a:r>
              <a:t>https://spravedlivo.ru/12544510</a:t>
            </a:r>
          </a:p>
          <a:p xmlns:a="http://schemas.openxmlformats.org/drawingml/2006/main">
            <a:r>
              <a:t>https://www.rbc.ru/person/6aa3ef199a79475758621730</a:t>
            </a:r>
          </a:p>
          <a:p xmlns:a="http://schemas.openxmlformats.org/drawingml/2006/main">
            <a:r>
              <a:t>https://www.rbc.ru/politics/24/09/2021/614da73f9a7947b5e3d9399f</a:t>
            </a:r>
          </a:p>
          <a:p xmlns:a="http://schemas.openxmlformats.org/drawingml/2006/main">
            <a:r>
              <a:t>https://amp.rbc.ru/rbcnews/base/14/08/2026/6a957dfb9a79476ae3d823ba</a:t>
            </a:r>
          </a:p>
          <a:p xmlns:a="http://schemas.openxmlformats.org/drawingml/2006/main">
            <a:r>
              <a:t>https://en.wikipedia.org/wiki/Alexey_Nechayev</a:t>
            </a:r>
          </a:p>
          <a:p xmlns:a="http://schemas.openxmlformats.org/drawingml/2006/main">
            <a:r>
              <a:t>https://www.gazeta.ru/politics/23422027/novye-lyudi-na-vyborah-2026-goda.shtml</a:t>
            </a:r>
          </a:p>
          <a:p xmlns:a="http://schemas.openxmlformats.org/drawingml/2006/main">
            <a:r>
              <a:t>https://vremya-bir.ru/2026/03/07/dvenadtsat-shagov-k-strane-v-kotoroj-hochetsya-zhit/</a:t>
            </a:r>
          </a:p>
          <a:p xmlns:a="http://schemas.openxmlformats.org/drawingml/2006/main">
            <a:r>
              <a:t>https://www.rbc.ru/politics/08/09/2026/6aa023ec9a79471e4fd55d3c</a:t>
            </a:r>
          </a:p>
          <a:p xmlns:a="http://schemas.openxmlformats.org/drawingml/2006/main">
            <a:r>
              <a:t>https://www.interfax.ru/interview/1074248</a:t>
            </a:r>
          </a:p>
          <a:p xmlns:a="http://schemas.openxmlformats.org/drawingml/2006/main">
            <a:r>
              <a:t>https://www.interfax.ru/amp/1074248</a:t>
            </a:r>
          </a:p>
          <a:p xmlns:a="http://schemas.openxmlformats.org/drawingml/2006/main">
            <a:r>
              <a:t>https://www.vedomosti.ru/politics/articles/2026/09/09/1227352-novie-lyudi-sformulirovali-programmu</a:t>
            </a:r>
          </a:p>
          <a:p xmlns:a="http://schemas.openxmlformats.org/drawingml/2006/main">
            <a:r>
              <a:t>https://dddkursk.ru/lenta/2026/07/30/129483/</a:t>
            </a:r>
          </a:p>
          <a:p xmlns:a="http://schemas.openxmlformats.org/drawingml/2006/main">
            <a:r>
              <a:t>https://volga.news/article/803292.html</a:t>
            </a:r>
          </a:p>
          <a:p xmlns:a="http://schemas.openxmlformats.org/drawingml/2006/main">
            <a:r>
              <a:t>https://ru.wikipedia.org/wiki/%D0%9D%D0%B5%D1%87%D0%B0%D0%B5%D0%B2,_%D0%90%D0%BB%D0%B5%D0%BA%D1%81%D0%B5%D0%B9_%D0%93%D0%B5%D0%BD%D0%BD%D0%B0%D0%B4%D1%8C%D0%B5%D0%B2%D0%B8%D1%87</a:t>
            </a:r>
          </a:p>
          <a:p xmlns:a="http://schemas.openxmlformats.org/drawingml/2006/main">
            <a:r>
              <a:t>https://www.davankov2024.ru/page_biography/</a:t>
            </a:r>
          </a:p>
          <a:p xmlns:a="http://schemas.openxmlformats.org/drawingml/2006/main">
            <a:r>
              <a:t>https://davankov2024.ru/program</a:t>
            </a:r>
          </a:p>
          <a:p xmlns:a="http://schemas.openxmlformats.org/drawingml/2006/main">
            <a:r>
              <a:t>http://vote.duma.gov.ru/?convocation=AAAAAAA8&amp;deputy=99113489&amp;sort=date_desc</a:t>
            </a:r>
          </a:p>
          <a:p xmlns:a="http://schemas.openxmlformats.org/drawingml/2006/main">
            <a:r>
              <a:t>https://holod.media/2024/02/14/vladislav-davankov/</a:t>
            </a:r>
          </a:p>
          <a:p xmlns:a="http://schemas.openxmlformats.org/drawingml/2006/main">
            <a:r>
              <a:t>https://davankov2024.ru/</a:t>
            </a:r>
          </a:p>
          <a:p xmlns:a="http://schemas.openxmlformats.org/drawingml/2006/main">
            <a:r>
              <a:t>https://novayagazeta.eu/articles/2024/02/15/davankov-predstavil-predvybornuiu-programmu-bez-amnistii-politzakliuchennykh-i-s-namereniem-dobitsia-mira-na-nashikh-usloviiakh-news</a:t>
            </a:r>
          </a:p>
          <a:p xmlns:a="http://schemas.openxmlformats.org/drawingml/2006/main">
            <a:r>
              <a:t>https://www.kavkaz-uzel.eu/articles/398113</a:t>
            </a:r>
          </a:p>
          <a:p xmlns:a="http://schemas.openxmlformats.org/drawingml/2006/main">
            <a:r>
              <a:t>https://echofm.online/portret-dnya/portret-dnya-vladislav-davankov-kandidat-v-prezidenty-rossii</a:t>
            </a:r>
          </a:p>
          <a:p xmlns:a="http://schemas.openxmlformats.org/drawingml/2006/main">
            <a:r>
              <a:t>https://t.me/s/davankov?before=788</a:t>
            </a:r>
          </a:p>
          <a:p xmlns:a="http://schemas.openxmlformats.org/drawingml/2006/main">
            <a:r>
              <a:t>https://zaharprilepin.ru/ru/bio/</a:t>
            </a:r>
          </a:p>
          <a:p xmlns:a="http://schemas.openxmlformats.org/drawingml/2006/main">
            <a:r>
              <a:t>https://zaharprilepin.ru/ru/video/zapisi-vistuplenij/intervju/</a:t>
            </a:r>
          </a:p>
          <a:p xmlns:a="http://schemas.openxmlformats.org/drawingml/2006/main">
            <a:r>
              <a:t>https://zaharprilepin.ru/ru/pressa/intervyu/na-harkov.html</a:t>
            </a:r>
          </a:p>
          <a:p xmlns:a="http://schemas.openxmlformats.org/drawingml/2006/main">
            <a:r>
              <a:t>https://www.kommersant.ru/doc/4141912</a:t>
            </a:r>
          </a:p>
          <a:p xmlns:a="http://schemas.openxmlformats.org/drawingml/2006/main">
            <a:r>
              <a:t>https://novayagazeta.eu/articles/2023/05/06/plokhoi-uchenik-limonova</a:t>
            </a:r>
          </a:p>
          <a:p xmlns:a="http://schemas.openxmlformats.org/drawingml/2006/main">
            <a:r>
              <a:t>https://tass.ru/politika/11761037</a:t>
            </a:r>
          </a:p>
          <a:p xmlns:a="http://schemas.openxmlformats.org/drawingml/2006/main">
            <a:r>
              <a:t>https://www.nn.ru/text/politics/2021/10/11/70186523/</a:t>
            </a:r>
          </a:p>
          <a:p xmlns:a="http://schemas.openxmlformats.org/drawingml/2006/main">
            <a:r>
              <a:t>https://www.zaks.ru/new/archive/view/267194</a:t>
            </a:r>
          </a:p>
          <a:p xmlns:a="http://schemas.openxmlformats.org/drawingml/2006/main">
            <a:r>
              <a:t>https://spravedlivo.ru/11288710</a:t>
            </a:r>
          </a:p>
          <a:p xmlns:a="http://schemas.openxmlformats.org/drawingml/2006/main">
            <a:r>
              <a:t>https://www.kommersant.ru/doc/4241515</a:t>
            </a:r>
          </a:p>
          <a:p xmlns:a="http://schemas.openxmlformats.org/drawingml/2006/main">
            <a:r>
              <a:t>https://zaharprilepin.ru/ru/pressa/intervyu/radio-komsomolskaja-pravda-10022021.html</a:t>
            </a:r>
          </a:p>
          <a:p xmlns:a="http://schemas.openxmlformats.org/drawingml/2006/main">
            <a:r>
              <a:t>https://pozneronline.ru/2024/04/36826/</a:t>
            </a:r>
          </a:p>
          <a:p xmlns:a="http://schemas.openxmlformats.org/drawingml/2006/main">
            <a:r>
              <a:t>https://www.rbc.ru/person/62a85a259a7947b9ae5d6360</a:t>
            </a:r>
          </a:p>
          <a:p xmlns:a="http://schemas.openxmlformats.org/drawingml/2006/main">
            <a:r>
              <a:t>https://tass.ru/encyclopedia/person/poklonskaya-natalya-vladimirovna</a:t>
            </a:r>
          </a:p>
          <a:p xmlns:a="http://schemas.openxmlformats.org/drawingml/2006/main">
            <a:r>
              <a:t>https://tass.ru/tag/poklonskaya-natalya-vladimirovna</a:t>
            </a:r>
          </a:p>
          <a:p xmlns:a="http://schemas.openxmlformats.org/drawingml/2006/main">
            <a:r>
              <a:t>https://www.bbc.com/russian/features-44801571</a:t>
            </a:r>
          </a:p>
          <a:p xmlns:a="http://schemas.openxmlformats.org/drawingml/2006/main">
            <a:r>
              <a:t>https://www.rbc.ru/rbcfreenews/5ba8bd499a794792294ba05d</a:t>
            </a:r>
          </a:p>
          <a:p xmlns:a="http://schemas.openxmlformats.org/drawingml/2006/main">
            <a:r>
              <a:t>https://www.dp.ru/a/2018/08/31/Poklonskaja_otreazirovala</a:t>
            </a:r>
          </a:p>
          <a:p xmlns:a="http://schemas.openxmlformats.org/drawingml/2006/main">
            <a:r>
              <a:t>https://www.themoscowtimes.com/2022/06/13/former-crimea-prosecutor-dismissed-after-anti-war-comments-a77983</a:t>
            </a:r>
          </a:p>
          <a:p xmlns:a="http://schemas.openxmlformats.org/drawingml/2006/main">
            <a:r>
              <a:t>https://www.rbc.ru/politics/30/06/2023/649dee189a79473e3fdc8906</a:t>
            </a:r>
          </a:p>
          <a:p xmlns:a="http://schemas.openxmlformats.org/drawingml/2006/main">
            <a:r>
              <a:t>http://council.gov.ru/structure/persons/1044/</a:t>
            </a:r>
          </a:p>
          <a:p xmlns:a="http://schemas.openxmlformats.org/drawingml/2006/main">
            <a:r>
              <a:t>http://council.gov.ru/services/reference/9156/</a:t>
            </a:r>
          </a:p>
          <a:p xmlns:a="http://schemas.openxmlformats.org/drawingml/2006/main">
            <a:r>
              <a:t>http://council.gov.ru/events/news/135415/</a:t>
            </a:r>
          </a:p>
          <a:p xmlns:a="http://schemas.openxmlformats.org/drawingml/2006/main">
            <a:r>
              <a:t>https://24smi.org/celebrity/1156-elena-mizulina.html</a:t>
            </a:r>
          </a:p>
          <a:p xmlns:a="http://schemas.openxmlformats.org/drawingml/2006/main">
            <a:r>
              <a:t>https://www.bfometr.ru/blog/elena-mizulina</a:t>
            </a:r>
          </a:p>
          <a:p xmlns:a="http://schemas.openxmlformats.org/drawingml/2006/main">
            <a:r>
              <a:t>https://www.rbc.ru/society/30/03/2018/5abe1b849a79470dc3826f68</a:t>
            </a:r>
          </a:p>
          <a:p xmlns:a="http://schemas.openxmlformats.org/drawingml/2006/main">
            <a:r>
              <a:t>https://uznayvse.ru/znamenitosti/biografiya-elena-mizulina.html</a:t>
            </a:r>
          </a:p>
          <a:p xmlns:a="http://schemas.openxmlformats.org/drawingml/2006/main">
            <a:r>
              <a:t>https://radiokp.ru/people/elena-mizulina</a:t>
            </a:r>
          </a:p>
          <a:p xmlns:a="http://schemas.openxmlformats.org/drawingml/2006/main">
            <a:r>
              <a:t>https://ru.wikipedia.org/wiki/%D0%9C%D0%B8%D0%B7%D1%83%D0%BB%D0%B8%D0%BD%D0%B0,_%D0%95%D0%BB%D0%B5%D0%BD%D0%B0_%D0%91%D0%BE%D1%80%D0%B8%D1%81%D0%BE%D0%B2%D0%BD%D0%B0</a:t>
            </a:r>
          </a:p>
          <a:p xmlns:a="http://schemas.openxmlformats.org/drawingml/2006/main">
            <a:r>
              <a:t>https://ru.wikipedia.org/wiki/Милонов,_Виталий_Валентинович</a:t>
            </a:r>
          </a:p>
          <a:p xmlns:a="http://schemas.openxmlformats.org/drawingml/2006/main">
            <a:r>
              <a:t>https://tass.ru/encyclopedia/person/milonov-vitaliy-valentinovich</a:t>
            </a:r>
          </a:p>
          <a:p xmlns:a="http://schemas.openxmlformats.org/drawingml/2006/main">
            <a:r>
              <a:t>https://www.pnp.ru/person/vitaliy-milonov/</a:t>
            </a:r>
          </a:p>
          <a:p xmlns:a="http://schemas.openxmlformats.org/drawingml/2006/main">
            <a:r>
              <a:t>https://www.zaks.ru/new/person/view/172</a:t>
            </a:r>
          </a:p>
          <a:p xmlns:a="http://schemas.openxmlformats.org/drawingml/2006/main">
            <a:r>
              <a:t>https://svpressa.ru/persons/vitaliy-milonov/</a:t>
            </a:r>
          </a:p>
          <a:p xmlns:a="http://schemas.openxmlformats.org/drawingml/2006/main">
            <a:r>
              <a:t>https://stuki-druki.com/authors/Milonov-Vitaliy.php</a:t>
            </a:r>
          </a:p>
          <a:p xmlns:a="http://schemas.openxmlformats.org/drawingml/2006/main">
            <a:r>
              <a:t>https://pa.inion.ru/persons/7104/</a:t>
            </a:r>
          </a:p>
          <a:p xmlns:a="http://schemas.openxmlformats.org/drawingml/2006/main">
            <a:r>
              <a:t>https://pa.inion.ru/documents/16503/</a:t>
            </a:r>
          </a:p>
          <a:p xmlns:a="http://schemas.openxmlformats.org/drawingml/2006/main">
            <a:r>
              <a:t>https://pa.inion.ru/documents/27860/</a:t>
            </a:r>
          </a:p>
          <a:p xmlns:a="http://schemas.openxmlformats.org/drawingml/2006/main">
            <a:r>
              <a:t>https://kprf.ru/personal/ostanina</a:t>
            </a:r>
          </a:p>
          <a:p xmlns:a="http://schemas.openxmlformats.org/drawingml/2006/main">
            <a:r>
              <a:t>https://pa.inion.ru/documents/25577/</a:t>
            </a:r>
          </a:p>
          <a:p xmlns:a="http://schemas.openxmlformats.org/drawingml/2006/main">
            <a:r>
              <a:t>https://kprf.ru/dep/gosduma/activities/245108.html</a:t>
            </a:r>
          </a:p>
          <a:p xmlns:a="http://schemas.openxmlformats.org/drawingml/2006/main">
            <a:r>
              <a:t>https://www.pnp.ru/social/zashhita-detskogo-byudzheta-kruzhki-sokhranit-vyplaty-iz-matkapitala-uvelichit.html</a:t>
            </a:r>
          </a:p>
          <a:p xmlns:a="http://schemas.openxmlformats.org/drawingml/2006/main">
            <a:r>
              <a:t>https://www.pnp.ru/state-duma/nina-ostanina-o-byudzhete-na-2027-2029-gody-semeynoy-ipoteke-i-matkapitale.html</a:t>
            </a:r>
          </a:p>
          <a:p xmlns:a="http://schemas.openxmlformats.org/drawingml/2006/main">
            <a:r>
              <a:t>https://uznayvse.ru/znamenitosti/biografiya-nina-ostanina.html</a:t>
            </a:r>
          </a:p>
          <a:p xmlns:a="http://schemas.openxmlformats.org/drawingml/2006/main">
            <a:r>
              <a:t>https://dumatv.ru/news/ostanina--borba-za-mirovozzrencheskii-suverenitet-stanovitsya-gosudarstvennoi-politikoi</a:t>
            </a:r>
          </a:p>
          <a:p xmlns:a="http://schemas.openxmlformats.org/drawingml/2006/main">
            <a:r>
              <a:t>https://kprf.ru/dep/gosduma/activities/242132.html</a:t>
            </a:r>
          </a:p>
          <a:p xmlns:a="http://schemas.openxmlformats.org/drawingml/2006/main">
            <a:r>
              <a:t>https://www.business-gazeta.ru/article/625616</a:t>
            </a:r>
          </a:p>
          <a:p xmlns:a="http://schemas.openxmlformats.org/drawingml/2006/main">
            <a:r>
              <a:t>https://www.kommersant.ru/doc/3235400</a:t>
            </a:r>
          </a:p>
          <a:p xmlns:a="http://schemas.openxmlformats.org/drawingml/2006/main">
            <a:r>
              <a:t>https://www.rbc.ru/person/67d838f09a7947cdef0b1a95</a:t>
            </a:r>
          </a:p>
          <a:p xmlns:a="http://schemas.openxmlformats.org/drawingml/2006/main">
            <a:r>
              <a:t>https://www.vedomosti.ru/politics/articles/2020/03/10/824795-tereshkova-predlozhila</a:t>
            </a:r>
          </a:p>
          <a:p xmlns:a="http://schemas.openxmlformats.org/drawingml/2006/main">
            <a:r>
              <a:t>http://duma.gov.ru/news/49164/</a:t>
            </a:r>
          </a:p>
          <a:p xmlns:a="http://schemas.openxmlformats.org/drawingml/2006/main">
            <a:r>
              <a:t>https://meduza.io/news/2020/03/12/delayut-vse-dlya-togo-chtoby-gadosti-delat-tereshkova-o-protivnikah-popravki-obnulyayuschey-sroki-putina</a:t>
            </a:r>
          </a:p>
          <a:p xmlns:a="http://schemas.openxmlformats.org/drawingml/2006/main">
            <a:r>
              <a:t>https://meduza.io/feature/2020/03/10/gosduma-neozhidanno-dlya-sebya-obespechila-putina-novymi-prezidentskimi-srokami</a:t>
            </a:r>
          </a:p>
          <a:p xmlns:a="http://schemas.openxmlformats.org/drawingml/2006/main">
            <a:r>
              <a:t>https://hinshtein.ru/biography/</a:t>
            </a:r>
          </a:p>
          <a:p xmlns:a="http://schemas.openxmlformats.org/drawingml/2006/main">
            <a:r>
              <a:t>https://www.vedomosti.ru/politics/articles/2024/12/06/1079852-kto-takoi-aleksandr-hinshtein</a:t>
            </a:r>
          </a:p>
          <a:p xmlns:a="http://schemas.openxmlformats.org/drawingml/2006/main">
            <a:r>
              <a:t>https://www.rbc.ru/person/6752d12a9a7947d62166795e</a:t>
            </a:r>
          </a:p>
          <a:p xmlns:a="http://schemas.openxmlformats.org/drawingml/2006/main">
            <a:r>
              <a:t>https://www.rbc.ru/politics/06/12/2024/675207239a7947e74994842e</a:t>
            </a:r>
          </a:p>
          <a:p xmlns:a="http://schemas.openxmlformats.org/drawingml/2006/main">
            <a:r>
              <a:t>https://hinshtein.ru/news/aleksandr-hinshtejn-podvyol-itogi-goda-raboty-komiteta-gosdumy-po-informpolitike-informatsionnym-tehnologiyam-i-svyazi/</a:t>
            </a:r>
          </a:p>
          <a:p xmlns:a="http://schemas.openxmlformats.org/drawingml/2006/main">
            <a:r>
              <a:t>https://hinshtein.ru/news/a-hinshtejn-itogi-raboty-za-vii-sozyv/</a:t>
            </a:r>
          </a:p>
          <a:p xmlns:a="http://schemas.openxmlformats.org/drawingml/2006/main">
            <a:r>
              <a:t>https://www.kommersant.ru/doc/4660427</a:t>
            </a:r>
          </a:p>
          <a:p xmlns:a="http://schemas.openxmlformats.org/drawingml/2006/main">
            <a:r>
              <a:t>https://www.kommersant.ru/doc/4104004</a:t>
            </a:r>
          </a:p>
          <a:p xmlns:a="http://schemas.openxmlformats.org/drawingml/2006/main">
            <a:r>
              <a:t>https://www.nvgazeta.ru/news/12383/634260/</a:t>
            </a:r>
          </a:p>
          <a:p xmlns:a="http://schemas.openxmlformats.org/drawingml/2006/main">
            <a:r>
              <a:t>https://kpravda.ru/2025/02/11/kursk-poluchit-dengi-iz-gosbyudzheta-na-restavracziyu-istoricheskoj-kreposti/</a:t>
            </a:r>
          </a:p>
          <a:p xmlns:a="http://schemas.openxmlformats.org/drawingml/2006/main">
            <a:r>
              <a:t>https://tass.ru/obschestvo/24001633</a:t>
            </a:r>
          </a:p>
          <a:p xmlns:a="http://schemas.openxmlformats.org/drawingml/2006/main">
            <a:r>
              <a:t>https://www.kommersant.ru/doc/7737032</a:t>
            </a:r>
          </a:p>
          <a:p xmlns:a="http://schemas.openxmlformats.org/drawingml/2006/main">
            <a:r>
              <a:t>https://kpravda.ru/2025/03/21/edinaya-rossiya-pomozhet-v-restavraczii-kurskih-pamyatnikov/</a:t>
            </a:r>
          </a:p>
          <a:p xmlns:a="http://schemas.openxmlformats.org/drawingml/2006/main">
            <a:r>
              <a:t>https://news-kursk.ru/society/2025/07/13/65824.html</a:t>
            </a:r>
          </a:p>
          <a:p xmlns:a="http://schemas.openxmlformats.org/drawingml/2006/main">
            <a:r>
              <a:t>https://news.ru/russia/v-kurske-budet-alleya-geroev-hinshtejn-o-muzee-i-memoriale-zhertvam-vsu</a:t>
            </a:r>
          </a:p>
          <a:p xmlns:a="http://schemas.openxmlformats.org/drawingml/2006/main">
            <a:r>
              <a:t>https://ru.wikipedia.org/wiki/Пушков,_Алексей_Константинович</a:t>
            </a:r>
          </a:p>
          <a:p xmlns:a="http://schemas.openxmlformats.org/drawingml/2006/main">
            <a:r>
              <a:t>http://council.gov.ru/structure/persons/1316/</a:t>
            </a:r>
          </a:p>
          <a:p xmlns:a="http://schemas.openxmlformats.org/drawingml/2006/main">
            <a:r>
              <a:t>http://council.gov.ru/media/files/xjE2QHRAivCH7onABehAcG7OsnrO6DYb.pdf</a:t>
            </a:r>
          </a:p>
          <a:p xmlns:a="http://schemas.openxmlformats.org/drawingml/2006/main">
            <a:r>
              <a:t>https://base.garant.ru/406310971/</a:t>
            </a:r>
          </a:p>
          <a:p xmlns:a="http://schemas.openxmlformats.org/drawingml/2006/main">
            <a:r>
              <a:t>https://russiancouncil.ru/aleksey-pushkov/</a:t>
            </a:r>
          </a:p>
          <a:p xmlns:a="http://schemas.openxmlformats.org/drawingml/2006/main">
            <a:r>
              <a:t>http://legislation.council.gov.ru/events/announce/</a:t>
            </a:r>
          </a:p>
          <a:p xmlns:a="http://schemas.openxmlformats.org/drawingml/2006/main">
            <a:r>
              <a:t>http://council.gov.ru/events/news/173810/</a:t>
            </a:r>
          </a:p>
          <a:p xmlns:a="http://schemas.openxmlformats.org/drawingml/2006/main">
            <a:r>
              <a:t>http://www.council.gov.ru/events/news/175997/</a:t>
            </a:r>
          </a:p>
          <a:p xmlns:a="http://schemas.openxmlformats.org/drawingml/2006/main">
            <a:r>
              <a:t>http://council.gov.ru/media/report/pdf/HtoXfAAzeBJ8JwN0eAduo3rejTAYhqvB.pdf</a:t>
            </a:r>
          </a:p>
          <a:p xmlns:a="http://schemas.openxmlformats.org/drawingml/2006/main">
            <a:r>
              <a:t>http://council.gov.ru/events/news/164749/</a:t>
            </a:r>
          </a:p>
          <a:p xmlns:a="http://schemas.openxmlformats.org/drawingml/2006/main">
            <a:r>
              <a:t>https://t.me/s/alexey_pushkov?before=14914</a:t>
            </a:r>
          </a:p>
          <a:p xmlns:a="http://schemas.openxmlformats.org/drawingml/2006/main">
            <a:r>
              <a:t>http://legislation.council.gov.ru/events/multimedia/video/302078/</a:t>
            </a:r>
          </a:p>
          <a:p xmlns:a="http://schemas.openxmlformats.org/drawingml/2006/main">
            <a:r>
              <a:t>http://council.gov.ru/media/report/pdf/e8Awe3U6hNouHwSvME53OSPGGWxTeVAl.pdf</a:t>
            </a:r>
          </a:p>
          <a:p xmlns:a="http://schemas.openxmlformats.org/drawingml/2006/main">
            <a:r>
              <a:t>https://www.vedomosti.ru/person/1178385-kosachev-konstantin</a:t>
            </a:r>
          </a:p>
          <a:p xmlns:a="http://schemas.openxmlformats.org/drawingml/2006/main">
            <a:r>
              <a:t>https://www.interfax.ru/interview/812963</a:t>
            </a:r>
          </a:p>
          <a:p xmlns:a="http://schemas.openxmlformats.org/drawingml/2006/main">
            <a:r>
              <a:t>https://senatinform.ru/news/yuzhnuyu_osetiyu_neobkhodimo_vyvodit_iz_iskusstvennoy_izolyatsii_schitayut_rossiyskie_senatory_/</a:t>
            </a:r>
          </a:p>
          <a:p xmlns:a="http://schemas.openxmlformats.org/drawingml/2006/main">
            <a:r>
              <a:t>https://senatinform.ru/news/kosachyev_rossiya_gotova_rabotat_s_mps_s_uchyetom_ozabochennostey_nashey_strany/</a:t>
            </a:r>
          </a:p>
          <a:p xmlns:a="http://schemas.openxmlformats.org/drawingml/2006/main">
            <a:r>
              <a:t>https://www.bfm.ru/person/61</a:t>
            </a:r>
          </a:p>
          <a:p xmlns:a="http://schemas.openxmlformats.org/drawingml/2006/main">
            <a:r>
              <a:t>https://svpressa.ru/persons/konstantin-kosachev/</a:t>
            </a:r>
          </a:p>
          <a:p xmlns:a="http://schemas.openxmlformats.org/drawingml/2006/main">
            <a:r>
              <a:t>https://www.pnp.ru/person/konstantin-kosachev/</a:t>
            </a:r>
          </a:p>
          <a:p xmlns:a="http://schemas.openxmlformats.org/drawingml/2006/main">
            <a:r>
              <a:t>https://www.pnp.ru/politics/konstantin-kosachev-dlya-ssha-voyna-s-rossiey-eto-samoubiystvo.html</a:t>
            </a:r>
          </a:p>
          <a:p xmlns:a="http://schemas.openxmlformats.org/drawingml/2006/main">
            <a:r>
              <a:t>https://www.mlg.ru/ratings/vlast/senators/10844/</a:t>
            </a:r>
          </a:p>
          <a:p xmlns:a="http://schemas.openxmlformats.org/drawingml/2006/main">
            <a:r>
              <a:t>http://council.gov.ru/events/news/173506/</a:t>
            </a:r>
          </a:p>
          <a:p xmlns:a="http://schemas.openxmlformats.org/drawingml/2006/main">
            <a:r>
              <a:t>https://t.me/s/Kosachev62</a:t>
            </a:r>
          </a:p>
          <a:p xmlns:a="http://schemas.openxmlformats.org/drawingml/2006/main">
            <a:r>
              <a:t>http://council.gov.ru/events/news/177602/</a:t>
            </a:r>
          </a:p>
          <a:p xmlns:a="http://schemas.openxmlformats.org/drawingml/2006/main">
            <a:r>
              <a:t>https://vmeste-rf.tv/programs/205/konstantin-kosachev-sotrudnichestvo-rossii-i-efiopii-itogi-vizita-delegatsii-sf/</a:t>
            </a:r>
          </a:p>
          <a:p xmlns:a="http://schemas.openxmlformats.org/drawingml/2006/main">
            <a:r>
              <a:t>https://www.rbc.ru/person/64b8e1909a79474f30e86f98</a:t>
            </a:r>
          </a:p>
          <a:p xmlns:a="http://schemas.openxmlformats.org/drawingml/2006/main">
            <a:r>
              <a:t>https://www.kommersant.ru/doc/6041063</a:t>
            </a:r>
          </a:p>
          <a:p xmlns:a="http://schemas.openxmlformats.org/drawingml/2006/main">
            <a:r>
              <a:t>https://www.mos.ru/mayor/themes/6907050/</a:t>
            </a:r>
          </a:p>
          <a:p xmlns:a="http://schemas.openxmlformats.org/drawingml/2006/main">
            <a:r>
              <a:t>https://www.mos.ru/mayor/themes/7037050/</a:t>
            </a:r>
          </a:p>
          <a:p xmlns:a="http://schemas.openxmlformats.org/drawingml/2006/main">
            <a:r>
              <a:t>https://www.mos.ru/mayor/themes/8822050/</a:t>
            </a:r>
          </a:p>
          <a:p xmlns:a="http://schemas.openxmlformats.org/drawingml/2006/main">
            <a:r>
              <a:t>http://special.kremlin.ru/catalog/persons/38/events/70467</a:t>
            </a:r>
          </a:p>
          <a:p xmlns:a="http://schemas.openxmlformats.org/drawingml/2006/main">
            <a:r>
              <a:t>https://www.mos.ru/upload/content/files/15af077500dcc5a1547bf728abf25669/15Zakong_Moskviot17_05_2017N14Odopolnitelnihgaranti.pdf</a:t>
            </a:r>
          </a:p>
          <a:p xmlns:a="http://schemas.openxmlformats.org/drawingml/2006/main">
            <a:r>
              <a:t>https://www.rbc.ru/politics/03/05/2023/645245159a794763ce66d990</a:t>
            </a:r>
          </a:p>
          <a:p xmlns:a="http://schemas.openxmlformats.org/drawingml/2006/main">
            <a:r>
              <a:t>https://www.dw.com/ru/ataka-dronov-v-moskve-i-podmoskove-cto-izvestno/a-65771767</a:t>
            </a:r>
          </a:p>
          <a:p xmlns:a="http://schemas.openxmlformats.org/drawingml/2006/main">
            <a:r>
              <a:t>https://www.rbc.ru/politics/01/08/2023/64c856ce9a79471a722e13ad</a:t>
            </a:r>
          </a:p>
          <a:p xmlns:a="http://schemas.openxmlformats.org/drawingml/2006/main">
            <a:r>
              <a:t>https://www.rbc.ru/politics/23/08/2023/64e54f299a794789ddb55c65</a:t>
            </a:r>
          </a:p>
          <a:p xmlns:a="http://schemas.openxmlformats.org/drawingml/2006/main">
            <a:r>
              <a:t>https://ru.wikipedia.org/wiki/Беглов,_Александр_Дмитриевич</a:t>
            </a:r>
          </a:p>
          <a:p xmlns:a="http://schemas.openxmlformats.org/drawingml/2006/main">
            <a:r>
              <a:t>https://www.gov.spb.ru/governor/</a:t>
            </a:r>
          </a:p>
          <a:p xmlns:a="http://schemas.openxmlformats.org/drawingml/2006/main">
            <a:r>
              <a:t>https://www.rbc.ru/politics/30/05/2019/5cf02cf09a79475ed4d2fa3f</a:t>
            </a:r>
          </a:p>
          <a:p xmlns:a="http://schemas.openxmlformats.org/drawingml/2006/main">
            <a:r>
              <a:t>https://www.themoscowtimes.com/2019/09/11/st-petersburg-re-elects-governor-beglov-after-controversial-campaign-a67240</a:t>
            </a:r>
          </a:p>
          <a:p xmlns:a="http://schemas.openxmlformats.org/drawingml/2006/main">
            <a:r>
              <a:t>https://www.gov.spb.ru/press/governor/188637/</a:t>
            </a:r>
          </a:p>
          <a:p xmlns:a="http://schemas.openxmlformats.org/drawingml/2006/main">
            <a:r>
              <a:t>https://www.gov.spb.ru/press/governor/213661/</a:t>
            </a:r>
          </a:p>
          <a:p xmlns:a="http://schemas.openxmlformats.org/drawingml/2006/main">
            <a:r>
              <a:t>https://www.gov.spb.ru/press/governor/258831/</a:t>
            </a:r>
          </a:p>
          <a:p xmlns:a="http://schemas.openxmlformats.org/drawingml/2006/main">
            <a:r>
              <a:t>https://www.gov.spb.ru/governor/interview/7333/</a:t>
            </a:r>
          </a:p>
          <a:p xmlns:a="http://schemas.openxmlformats.org/drawingml/2006/main">
            <a:r>
              <a:t>https://tass.ru/interviews/21839179</a:t>
            </a:r>
          </a:p>
          <a:p xmlns:a="http://schemas.openxmlformats.org/drawingml/2006/main">
            <a:r>
              <a:t>https://www.gov.spb.ru/press/governor/236663/</a:t>
            </a:r>
          </a:p>
          <a:p xmlns:a="http://schemas.openxmlformats.org/drawingml/2006/main">
            <a:r>
              <a:t>https://tvspb.ru/news/2022/09/21/aleksandr-beglov-ukaz-prezidenta-o-chastichnoj-mobilizaczii-byl-trudnym-no-neobhodimym-shagom</a:t>
            </a:r>
          </a:p>
          <a:p xmlns:a="http://schemas.openxmlformats.org/drawingml/2006/main">
            <a:r>
              <a:t>https://spbvedomosti.ru/news/gorod/gubernator-aleksandr-beglov-obyavil-o-zavershenii-chastichnoy-mobilizatsii/</a:t>
            </a:r>
          </a:p>
          <a:p xmlns:a="http://schemas.openxmlformats.org/drawingml/2006/main">
            <a:r>
              <a:t>https://www.gov.spb.ru/press/governor/253716/</a:t>
            </a:r>
          </a:p>
          <a:p xmlns:a="http://schemas.openxmlformats.org/drawingml/2006/main">
            <a:r>
              <a:t>https://www.gov.spb.ru/press/governor/290070/</a:t>
            </a:r>
          </a:p>
          <a:p xmlns:a="http://schemas.openxmlformats.org/drawingml/2006/main">
            <a:r>
              <a:t>https://spbdnevnik.ru/news/2022-10-06/aleksandr-beglov-rasskazal-o-prizyve-po-mobilizatsii-peterburzhtsa-s-odnoy-pochkoy</a:t>
            </a:r>
          </a:p>
          <a:p xmlns:a="http://schemas.openxmlformats.org/drawingml/2006/main">
            <a:r>
              <a:t>https://www.rbc.ru/person/62c5c0899a79470082fa57eb</a:t>
            </a:r>
          </a:p>
          <a:p xmlns:a="http://schemas.openxmlformats.org/drawingml/2006/main">
            <a:r>
              <a:t>https://www.kavkaz-uzel.eu/articles/85366</a:t>
            </a:r>
          </a:p>
          <a:p xmlns:a="http://schemas.openxmlformats.org/drawingml/2006/main">
            <a:r>
              <a:t>https://news.ru/regions/my-dolzhny-zabrat-vsyu-ukrainu-chto-kadyrov-govoril-ob-svo-rossii-putine</a:t>
            </a:r>
          </a:p>
          <a:p xmlns:a="http://schemas.openxmlformats.org/drawingml/2006/main">
            <a:r>
              <a:t>https://minval.az/k/ramzan-kadyrov</a:t>
            </a:r>
          </a:p>
          <a:p xmlns:a="http://schemas.openxmlformats.org/drawingml/2006/main">
            <a:r>
              <a:t>http://publication.pravo.gov.ru/document/2000202609160002</a:t>
            </a:r>
          </a:p>
          <a:p xmlns:a="http://schemas.openxmlformats.org/drawingml/2006/main">
            <a:r>
              <a:t>https://vestikavkaza.ru/amp/291219</a:t>
            </a:r>
          </a:p>
          <a:p xmlns:a="http://schemas.openxmlformats.org/drawingml/2006/main">
            <a:r>
              <a:t>https://tass.ru/obschestvo/25968415</a:t>
            </a:r>
          </a:p>
          <a:p xmlns:a="http://schemas.openxmlformats.org/drawingml/2006/main">
            <a:r>
              <a:t>https://www.rbc.ru/rbcfreenews/694558f89a794775c8b05d2e</a:t>
            </a:r>
          </a:p>
          <a:p xmlns:a="http://schemas.openxmlformats.org/drawingml/2006/main">
            <a:r>
              <a:t>https://rais.tatarstan.ru/biografiya.htm</a:t>
            </a:r>
          </a:p>
          <a:p xmlns:a="http://schemas.openxmlformats.org/drawingml/2006/main">
            <a:r>
              <a:t>https://rt.rbc.ru/tatarstan/freenews/68c7f77d9a79472be550408e</a:t>
            </a:r>
          </a:p>
          <a:p xmlns:a="http://schemas.openxmlformats.org/drawingml/2006/main">
            <a:r>
              <a:t>https://rt.rbc.ru/tatarstan/freenews/68c90bdc9a794783273a16b6</a:t>
            </a:r>
          </a:p>
          <a:p xmlns:a="http://schemas.openxmlformats.org/drawingml/2006/main">
            <a:r>
              <a:t>https://tass.ru/politika/25045679</a:t>
            </a:r>
          </a:p>
          <a:p xmlns:a="http://schemas.openxmlformats.org/drawingml/2006/main">
            <a:r>
              <a:t>https://tass.ru/info/25058299</a:t>
            </a:r>
          </a:p>
          <a:p xmlns:a="http://schemas.openxmlformats.org/drawingml/2006/main">
            <a:r>
              <a:t>https://tatarstan.ru/index.htm/news/2454245.htm</a:t>
            </a:r>
          </a:p>
          <a:p xmlns:a="http://schemas.openxmlformats.org/drawingml/2006/main">
            <a:r>
              <a:t>https://izbirkom.tatarstan.ru/file/pub/pub_4719790.docx</a:t>
            </a:r>
          </a:p>
          <a:p xmlns:a="http://schemas.openxmlformats.org/drawingml/2006/main">
            <a:r>
              <a:t>http://www.pfo.gov.ru/press/events/112125/</a:t>
            </a:r>
          </a:p>
          <a:p xmlns:a="http://schemas.openxmlformats.org/drawingml/2006/main">
            <a:r>
              <a:t>https://www.tatar-inform.ru/news/rustam-minnixanov-sankcii-ne-koncatsya-poka-my-ne-stanem-samodostatocnymi-5896958</a:t>
            </a:r>
          </a:p>
          <a:p xmlns:a="http://schemas.openxmlformats.org/drawingml/2006/main">
            <a:r>
              <a:t>https://tatarstan.ru/index.htm/news/1916025.htm</a:t>
            </a:r>
          </a:p>
          <a:p xmlns:a="http://schemas.openxmlformats.org/drawingml/2006/main">
            <a:r>
              <a:t>https://kitaphane.tatarstan.ru/digital.htm</a:t>
            </a:r>
          </a:p>
          <a:p xmlns:a="http://schemas.openxmlformats.org/drawingml/2006/main">
            <a:r>
              <a:t>https://kt.tatarstan.ru/index.htm/news/2266706.htm</a:t>
            </a:r>
          </a:p>
          <a:p xmlns:a="http://schemas.openxmlformats.org/drawingml/2006/main">
            <a:r>
              <a:t>https://tatarstan.ru/index.htm/news/2460505.htm</a:t>
            </a:r>
          </a:p>
          <a:p xmlns:a="http://schemas.openxmlformats.org/drawingml/2006/main">
            <a:r>
              <a:t>https://digital.tatarstan.ru/index.htm/news/2460691.htm</a:t>
            </a:r>
          </a:p>
          <a:p xmlns:a="http://schemas.openxmlformats.org/drawingml/2006/main">
            <a:r>
              <a:t>https://amp.rbc.ru/rbcnews/politics/09/07/2020/5f06bbb69a79475c40a9a094</a:t>
            </a:r>
          </a:p>
          <a:p xmlns:a="http://schemas.openxmlformats.org/drawingml/2006/main">
            <a:r>
              <a:t>https://1kas.sudrf.ru/modules.php?name=sud_delo&amp;name_op=doc&amp;number=39453936&amp;delo_id=2450001&amp;case_type=0&amp;new=2450001&amp;text_number=1&amp;srv_num=1</a:t>
            </a:r>
          </a:p>
          <a:p xmlns:a="http://schemas.openxmlformats.org/drawingml/2006/main">
            <a:r>
              <a:t>https://www.interfax.ru/russia/982916</a:t>
            </a:r>
          </a:p>
          <a:p xmlns:a="http://schemas.openxmlformats.org/drawingml/2006/main">
            <a:r>
              <a:t>https://www.svoboda.org/a/sud-ostavil-v-sile-prigovor-habarovskomu-eks-gubernatoru-sergeyu-furgalu/32686024.html</a:t>
            </a:r>
          </a:p>
          <a:p xmlns:a="http://schemas.openxmlformats.org/drawingml/2006/main">
            <a:r>
              <a:t>https://www.dw.com/ru/kommentarij-furgal-peresidit-putina/a-64670560</a:t>
            </a:r>
          </a:p>
          <a:p xmlns:a="http://schemas.openxmlformats.org/drawingml/2006/main">
            <a:r>
              <a:t>https://www.kommersant.ru/doc/3896415</a:t>
            </a:r>
          </a:p>
          <a:p xmlns:a="http://schemas.openxmlformats.org/drawingml/2006/main">
            <a:r>
              <a:t>https://todaykhv.ru/news/policy/19386/</a:t>
            </a:r>
          </a:p>
          <a:p xmlns:a="http://schemas.openxmlformats.org/drawingml/2006/main">
            <a:r>
              <a:t>https://meduza.io/feature/2018/09/19/ya-dumayu-chto-situatsiya-kak-v-primorie-u-nas-ne-povtoritsya</a:t>
            </a:r>
          </a:p>
          <a:p xmlns:a="http://schemas.openxmlformats.org/drawingml/2006/main">
            <a:r>
              <a:t>https://govoritmoskva.ru/news/174327/</a:t>
            </a:r>
          </a:p>
          <a:p xmlns:a="http://schemas.openxmlformats.org/drawingml/2006/main">
            <a:r>
              <a:t>https://todaykhv.ru/news/policy/22426/?sphrase_id=2620206</a:t>
            </a:r>
          </a:p>
          <a:p xmlns:a="http://schemas.openxmlformats.org/drawingml/2006/main">
            <a:r>
              <a:t>https://ru.wikipedia.org/wiki/%D0%A4%D1%83%D1%80%D0%B3%D0%B0%D0%BB,_%D0%A1%D0%B5%D1%80%D0%B3%D0%B5%D0%B9_%D0%98%D0%B2%D0%B0%D0%BD%D0%BE%D0%B2%D0%B8%D1%87</a:t>
            </a:r>
          </a:p>
          <a:p xmlns:a="http://schemas.openxmlformats.org/drawingml/2006/main">
            <a:r>
              <a:t>https://novayagazeta.ru/articles/2018/09/18/77870-ne-dopuschu-zdes-revolyutsii</a:t>
            </a:r>
          </a:p>
          <a:p xmlns:a="http://schemas.openxmlformats.org/drawingml/2006/main">
            <a:r>
              <a:t>https://opkhv.ru/publications/4888</a:t>
            </a:r>
          </a:p>
          <a:p xmlns:a="http://schemas.openxmlformats.org/drawingml/2006/main">
            <a:r>
              <a:t>https://meduza.io/feature/2019/08/26/partiya-vlasti-zdes-ldpr</a:t>
            </a:r>
          </a:p>
          <a:p xmlns:a="http://schemas.openxmlformats.org/drawingml/2006/main">
            <a:r>
              <a:t>https://tass.ru/obschestvo/5946495</a:t>
            </a:r>
          </a:p>
          <a:p xmlns:a="http://schemas.openxmlformats.org/drawingml/2006/main">
            <a:r>
              <a:t>https://amurmedia.ru/news/775590/</a:t>
            </a:r>
          </a:p>
          <a:p xmlns:a="http://schemas.openxmlformats.org/drawingml/2006/main">
            <a:r>
              <a:t>https://www.eastrussia.ru/material/ne-planiruyushchim-pereezzhat-sovetuyu-pomolchat/</a:t>
            </a:r>
          </a:p>
          <a:p xmlns:a="http://schemas.openxmlformats.org/drawingml/2006/main">
            <a:r>
              <a:t>https://www.dw.com/ru/v-habarovske-priznali-ekstremistskim-dvizenie-v-zasitu-furgala/a-68334442</a:t>
            </a:r>
          </a:p>
          <a:p xmlns:a="http://schemas.openxmlformats.org/drawingml/2006/main">
            <a:r>
              <a:t>https://www.rbc.ru/person/66475fec9a79475c4d9443ad</a:t>
            </a:r>
          </a:p>
          <a:p xmlns:a="http://schemas.openxmlformats.org/drawingml/2006/main">
            <a:r>
              <a:t>https://tass.ru/info/12453099</a:t>
            </a:r>
          </a:p>
          <a:p xmlns:a="http://schemas.openxmlformats.org/drawingml/2006/main">
            <a:r>
              <a:t>https://tass.ru/info/9007455</a:t>
            </a:r>
          </a:p>
          <a:p xmlns:a="http://schemas.openxmlformats.org/drawingml/2006/main">
            <a:r>
              <a:t>https://tass.ru/info/20795009</a:t>
            </a:r>
          </a:p>
          <a:p xmlns:a="http://schemas.openxmlformats.org/drawingml/2006/main">
            <a:r>
              <a:t>https://tass.ru/encyclopedia/person/degtyarev-mihail-vladimirovich</a:t>
            </a:r>
          </a:p>
          <a:p xmlns:a="http://schemas.openxmlformats.org/drawingml/2006/main">
            <a:r>
              <a:t>https://www.rbc.ru/politics/20/07/2020/5f1586289a794722b2457d61</a:t>
            </a:r>
          </a:p>
          <a:p xmlns:a="http://schemas.openxmlformats.org/drawingml/2006/main">
            <a:r>
              <a:t>https://www.minsport.gov.ru/press-center/news/intervyu-mihaila-degtyareva-gazete-kommersant/</a:t>
            </a:r>
          </a:p>
          <a:p xmlns:a="http://schemas.openxmlformats.org/drawingml/2006/main">
            <a:r>
              <a:t>https://minsport.gov.ru/press-center/news/mihail-degtyarev-nashe-mesto-za-stolom-a-ne-v-perednej/</a:t>
            </a:r>
          </a:p>
          <a:p xmlns:a="http://schemas.openxmlformats.org/drawingml/2006/main">
            <a:r>
              <a:t>https://news.ru/vlast/degtyarev-prizval-ne-doveryat-evrope-provedenie-sorevnovanij</a:t>
            </a:r>
          </a:p>
          <a:p xmlns:a="http://schemas.openxmlformats.org/drawingml/2006/main">
            <a:r>
              <a:t>https://www.interfax.ru/presscenter/622170</a:t>
            </a:r>
          </a:p>
          <a:p xmlns:a="http://schemas.openxmlformats.org/drawingml/2006/main">
            <a:r>
              <a:t>https://tass.ru/interviews/13152777</a:t>
            </a:r>
          </a:p>
          <a:p xmlns:a="http://schemas.openxmlformats.org/drawingml/2006/main">
            <a:r>
              <a:t>https://www.sports.ru/others/blogs/3302024.html</a:t>
            </a:r>
          </a:p>
          <a:p xmlns:a="http://schemas.openxmlformats.org/drawingml/2006/main">
            <a:r>
              <a:t>https://www.vremyan.ru/news/556863</a:t>
            </a:r>
          </a:p>
          <a:p xmlns:a="http://schemas.openxmlformats.org/drawingml/2006/main">
            <a:r>
              <a:t>https://kprf.ru/personal/levchenko</a:t>
            </a:r>
          </a:p>
          <a:p xmlns:a="http://schemas.openxmlformats.org/drawingml/2006/main">
            <a:r>
              <a:t>https://www.rbc.ru/politics/23/06/2020/5ef0bd949a7947b3cd3dcba6</a:t>
            </a:r>
          </a:p>
          <a:p xmlns:a="http://schemas.openxmlformats.org/drawingml/2006/main">
            <a:r>
              <a:t>https://kprf.ru/party-live/regnews/194838.html</a:t>
            </a:r>
          </a:p>
          <a:p xmlns:a="http://schemas.openxmlformats.org/drawingml/2006/main">
            <a:r>
              <a:t>https://liveangarsk.ru/news/20191214/v-slozhivsheisya</a:t>
            </a:r>
          </a:p>
          <a:p xmlns:a="http://schemas.openxmlformats.org/drawingml/2006/main">
            <a:r>
              <a:t>https://kprf.ru/dep/gosduma/activities/240271.html</a:t>
            </a:r>
          </a:p>
          <a:p xmlns:a="http://schemas.openxmlformats.org/drawingml/2006/main">
            <a:r>
              <a:t>https://kprf.ru/dep/gosduma/activities/241686.html</a:t>
            </a:r>
          </a:p>
          <a:p xmlns:a="http://schemas.openxmlformats.org/drawingml/2006/main">
            <a:r>
              <a:t>https://altairk.ru/new/policy/the_message_of_the_governor</a:t>
            </a:r>
          </a:p>
          <a:p xmlns:a="http://schemas.openxmlformats.org/drawingml/2006/main">
            <a:r>
              <a:t>https://kto-irkutsk.ru/2026/07/20/sergej-levchenko-deyatelnost-i-zayavleniya-i-ix-ocenka/</a:t>
            </a:r>
          </a:p>
          <a:p xmlns:a="http://schemas.openxmlformats.org/drawingml/2006/main">
            <a:r>
              <a:t>https://ru.wikipedia.org/wiki/%D0%9B%D0%B5%D0%B2%D1%87%D0%B5%D0%BD%D0%BA%D0%BE,_%D0%A1%D0%B5%D1%80%D0%B3%D0%B5%D0%B9_%D0%93%D0%B5%D0%BE%D1%80%D0%B3%D0%B8%D0%B5%D0%B2%D0%B8%D1%87</a:t>
            </a:r>
          </a:p>
          <a:p xmlns:a="http://schemas.openxmlformats.org/drawingml/2006/main">
            <a:r>
              <a:t>https://www.newsru.com/dossiers/10330/</a:t>
            </a:r>
          </a:p>
          <a:p xmlns:a="http://schemas.openxmlformats.org/drawingml/2006/main">
            <a:r>
              <a:t>https://www.interfax.ru/russia/714300</a:t>
            </a:r>
          </a:p>
          <a:p xmlns:a="http://schemas.openxmlformats.org/drawingml/2006/main">
            <a:r>
              <a:t>https://www.rbc.ru/politics/14/09/2020/5f5e7dfb9a79477f7753d651</a:t>
            </a:r>
          </a:p>
          <a:p xmlns:a="http://schemas.openxmlformats.org/drawingml/2006/main">
            <a:r>
              <a:t>https://www.rline.tv/podrobnosti/2019-10-06-sergey-levchenko-za-chetyre-goda-sdelano-bolshe-chem-za-predydushchie-15-let/</a:t>
            </a:r>
          </a:p>
          <a:p xmlns:a="http://schemas.openxmlformats.org/drawingml/2006/main">
            <a:r>
              <a:t>https://vs19.ru/verhovny-sovet/deputati/670-konovalov-valentin-olegovich</a:t>
            </a:r>
          </a:p>
          <a:p xmlns:a="http://schemas.openxmlformats.org/drawingml/2006/main">
            <a:r>
              <a:t>https://meduza.io/feature/2018/09/10/etu-vlast-nichego-ne-spaset</a:t>
            </a:r>
          </a:p>
          <a:p xmlns:a="http://schemas.openxmlformats.org/drawingml/2006/main">
            <a:r>
              <a:t>https://kprf.ru/party-live/regnews/188553.html</a:t>
            </a:r>
          </a:p>
          <a:p xmlns:a="http://schemas.openxmlformats.org/drawingml/2006/main">
            <a:r>
              <a:t>https://www.kommersant.ru/doc/4441936</a:t>
            </a:r>
          </a:p>
          <a:p xmlns:a="http://schemas.openxmlformats.org/drawingml/2006/main">
            <a:r>
              <a:t>http://www.youtube.com/watch?v=eO6lUkFCAqM</a:t>
            </a:r>
          </a:p>
          <a:p xmlns:a="http://schemas.openxmlformats.org/drawingml/2006/main">
            <a:r>
              <a:t>https://ru.wikipedia.org/wiki/%D0%92%D1%8B%D0%B1%D0%BE%D1%80%D1%8B_%D0%B3%D0%BB%D0%B0%D0%B2%D1%8B_%D0%A0%D0%B5%D1%81%D0%BF%D1%83%D0%B1%D0%BB%D0%B8%D0%BA%D0%B8_%D0%A5%D0%B0%D0%BA%D0%B0%D1%81%D0%B8%D1%8F_(2018)</a:t>
            </a:r>
          </a:p>
          <a:p xmlns:a="http://schemas.openxmlformats.org/drawingml/2006/main">
            <a:r>
              <a:t>https://ok.ru/group/51615057903766/topic/157744983021718</a:t>
            </a:r>
          </a:p>
          <a:p xmlns:a="http://schemas.openxmlformats.org/drawingml/2006/main">
            <a:r>
              <a:t>https://kprf.ru/party-live/cknews/245343.html</a:t>
            </a:r>
          </a:p>
          <a:p xmlns:a="http://schemas.openxmlformats.org/drawingml/2006/main">
            <a:r>
              <a:t>https://r-19.ru/news/politika/190680/</a:t>
            </a:r>
          </a:p>
          <a:p xmlns:a="http://schemas.openxmlformats.org/drawingml/2006/main">
            <a:r>
              <a:t>https://r-19.ru/news/ekonomika/193031/</a:t>
            </a:r>
          </a:p>
          <a:p xmlns:a="http://schemas.openxmlformats.org/drawingml/2006/main">
            <a:r>
              <a:t>https://19rusinfo.ru/ekonomika/118670-otchjot</a:t>
            </a:r>
          </a:p>
          <a:p xmlns:a="http://schemas.openxmlformats.org/drawingml/2006/main">
            <a:r>
              <a:t>https://iditena.ru/candidates/konovalov-valentin-olegovich/</a:t>
            </a:r>
          </a:p>
          <a:p xmlns:a="http://schemas.openxmlformats.org/drawingml/2006/main">
            <a:r>
              <a:t>https://56.kprf.ru/deyatelnost/tpost/gjjjuy1zi1-glava-hakasii-valentin-konovalov-dal-int</a:t>
            </a:r>
          </a:p>
          <a:p xmlns:a="http://schemas.openxmlformats.org/drawingml/2006/main">
            <a:r>
              <a:t>https://meduza.io/feature/2019/05/31/strana-pobedivshego-kommunista</a:t>
            </a:r>
          </a:p>
          <a:p xmlns:a="http://schemas.openxmlformats.org/drawingml/2006/main">
            <a:r>
              <a:t>https://xn--80aac0c2a.xn--p1acf/2026/08/22/vstrecha-s-uchastiem-valentina-konovalova-i-alekseya-kornienko-proshla-v-habarovske</a:t>
            </a:r>
          </a:p>
          <a:p xmlns:a="http://schemas.openxmlformats.org/drawingml/2006/main">
            <a:r>
              <a:t>https://www.vedomosti.ru/politics/characters/2026/07/06/1211370-valentin-konovalov-rossiya-na-moskve-ne-zakanchivaetsya?from=newsline</a:t>
            </a:r>
          </a:p>
          <a:p xmlns:a="http://schemas.openxmlformats.org/drawingml/2006/main">
            <a:r>
              <a:t>https://www.vedomosti.ru/person/1215197-aksenov-sergei</a:t>
            </a:r>
          </a:p>
          <a:p xmlns:a="http://schemas.openxmlformats.org/drawingml/2006/main">
            <a:r>
              <a:t>https://www.rbc.ru/person/65f020599a79475815e702c9</a:t>
            </a:r>
          </a:p>
          <a:p xmlns:a="http://schemas.openxmlformats.org/drawingml/2006/main">
            <a:r>
              <a:t>http://crimea.gov.ru/news/30_03_18_10</a:t>
            </a:r>
          </a:p>
          <a:p xmlns:a="http://schemas.openxmlformats.org/drawingml/2006/main">
            <a:r>
              <a:t>https://www.npr.org/sections/parallels/2018/01/27/581114772/putins-man-in-crimea-we-ve-returned-to-russia-forever</a:t>
            </a:r>
          </a:p>
          <a:p xmlns:a="http://schemas.openxmlformats.org/drawingml/2006/main">
            <a:r>
              <a:t>http://crimea.gov.ru/en/news/26_02_19_6</a:t>
            </a:r>
          </a:p>
          <a:p xmlns:a="http://schemas.openxmlformats.org/drawingml/2006/main">
            <a:r>
              <a:t>https://antifashist.com/item/kto-polomal-infopole-kryma-i-ne-otvechaet-na-voprosy.html</a:t>
            </a:r>
          </a:p>
          <a:p xmlns:a="http://schemas.openxmlformats.org/drawingml/2006/main">
            <a:r>
              <a:t>https://ru.krymr.com/a/news/27913548.html</a:t>
            </a:r>
          </a:p>
          <a:p xmlns:a="http://schemas.openxmlformats.org/drawingml/2006/main">
            <a:r>
              <a:t>https://simfch.ru/2022/03/02/glava-respubliki-krym-sergej-aksyonov-prizval-krymchan-k-informaczionnoj-mobilizaczii-otkrytomu-i-publichnomu-vyrazheniyu-svoej-patrioticheskoj-poziczii/</a:t>
            </a:r>
          </a:p>
          <a:p xmlns:a="http://schemas.openxmlformats.org/drawingml/2006/main">
            <a:r>
              <a:t>https://www.rbc.ru/politics/29/05/2023/64749e389a7947f3de98dff2</a:t>
            </a:r>
          </a:p>
          <a:p xmlns:a="http://schemas.openxmlformats.org/drawingml/2006/main">
            <a:r>
              <a:t>https://ru.krymr.com/a/krym-sergey-aksenov-pvo-prilety-bavovna-bezopasnost-pvo-udar/32631709.html</a:t>
            </a:r>
          </a:p>
          <a:p xmlns:a="http://schemas.openxmlformats.org/drawingml/2006/main">
            <a:r>
              <a:t>https://rostov.rbc.ru/rostov/interview/18/03/2024/65f75c4f9a7947c8b475ab94</a:t>
            </a:r>
          </a:p>
          <a:p xmlns:a="http://schemas.openxmlformats.org/drawingml/2006/main">
            <a:r>
              <a:t>https://www.kommersant.ru/doc/7715230</a:t>
            </a:r>
          </a:p>
          <a:p xmlns:a="http://schemas.openxmlformats.org/drawingml/2006/main">
            <a:r>
              <a:t>https://www.kommersant.ru/doc/5154319</a:t>
            </a:r>
          </a:p>
          <a:p xmlns:a="http://schemas.openxmlformats.org/drawingml/2006/main">
            <a:r>
              <a:t>https://www.rbc.ru/person/660290b19a7947801fe9439b</a:t>
            </a:r>
          </a:p>
          <a:p xmlns:a="http://schemas.openxmlformats.org/drawingml/2006/main">
            <a:r>
              <a:t>https://www.kommersant.ru/doc/3759211</a:t>
            </a:r>
          </a:p>
          <a:p xmlns:a="http://schemas.openxmlformats.org/drawingml/2006/main">
            <a:r>
              <a:t>https://tass.ru/info/6656656</a:t>
            </a:r>
          </a:p>
          <a:p xmlns:a="http://schemas.openxmlformats.org/drawingml/2006/main">
            <a:r>
              <a:t>https://sevastopol.er.ru/pages/otchet-gubernatora-sevastopolya-mihaila-razvozhaeva</a:t>
            </a:r>
          </a:p>
          <a:p xmlns:a="http://schemas.openxmlformats.org/drawingml/2006/main">
            <a:r>
              <a:t>http://special.kremlin.ru/catalog/persons/579/events/76271</a:t>
            </a:r>
          </a:p>
          <a:p xmlns:a="http://schemas.openxmlformats.org/drawingml/2006/main">
            <a:r>
              <a:t>https://sevastopol.su/news/chastnyy-biznes-vlozhil-v-sevastopol-250-mlrd-rubley-za-tri-goda</a:t>
            </a:r>
          </a:p>
          <a:p xmlns:a="http://schemas.openxmlformats.org/drawingml/2006/main">
            <a:r>
              <a:t>https://sevastopol.su/news/v-sevastopole-ocenili-perspektivy-mikhaila-razvozhaeva-na-sleduyuschikh-vyborakh</a:t>
            </a:r>
          </a:p>
          <a:p xmlns:a="http://schemas.openxmlformats.org/drawingml/2006/main">
            <a:r>
              <a:t>https://tass.ru/interviews/10248577</a:t>
            </a:r>
          </a:p>
          <a:p xmlns:a="http://schemas.openxmlformats.org/drawingml/2006/main">
            <a:r>
              <a:t>https://news.ru/russia/u-nas-smelye-plany-gubernator-sevastopolya-razvozzhaev-o-budushem-goroda</a:t>
            </a:r>
          </a:p>
          <a:p xmlns:a="http://schemas.openxmlformats.org/drawingml/2006/main">
            <a:r>
              <a:t>http://kremlin.ru/events/administration/80838</a:t>
            </a:r>
          </a:p>
          <a:p xmlns:a="http://schemas.openxmlformats.org/drawingml/2006/main">
            <a:r>
              <a:t>https://tass.ru/kultura/28214691</a:t>
            </a:r>
          </a:p>
          <a:p xmlns:a="http://schemas.openxmlformats.org/drawingml/2006/main">
            <a:r>
              <a:t>http://kremlin.ru/events/administration/80591</a:t>
            </a:r>
          </a:p>
          <a:p xmlns:a="http://schemas.openxmlformats.org/drawingml/2006/main">
            <a:r>
              <a:t>https://governors.ru/glava-regiona/Belgorodskaya-oblast/Gladkov-Vyacheslav-Vladimirovich</a:t>
            </a:r>
          </a:p>
          <a:p xmlns:a="http://schemas.openxmlformats.org/drawingml/2006/main">
            <a:r>
              <a:t>https://ru.wikipedia.org/wiki/%D0%93%D0%BB%D0%B0%D0%B4%D0%BA%D0%BE%D0%B2,_%D0%92%D1%8F%D1%87%D0%B5%D1%81%D0%BB%D0%B0%D0%B2_%D0%92%D0%BB%D0%B0%D0%B4%D0%B8%D0%BC%D0%B8%D1%80%D0%BE%D0%B2%D0%B8%D1%87</a:t>
            </a:r>
          </a:p>
          <a:p xmlns:a="http://schemas.openxmlformats.org/drawingml/2006/main">
            <a:r>
              <a:t>http://council.gov.ru/structure/persons/1543/</a:t>
            </a:r>
          </a:p>
          <a:p xmlns:a="http://schemas.openxmlformats.org/drawingml/2006/main">
            <a:r>
              <a:t>https://ufa.rbc.ru/person/648345539a794760fd0c17e8</a:t>
            </a:r>
          </a:p>
          <a:p xmlns:a="http://schemas.openxmlformats.org/drawingml/2006/main">
            <a:r>
              <a:t>https://www.kommersant.ru/doc/8571119</a:t>
            </a:r>
          </a:p>
          <a:p xmlns:a="http://schemas.openxmlformats.org/drawingml/2006/main">
            <a:r>
              <a:t>https://www.kommersant.ru/doc/8655079</a:t>
            </a:r>
          </a:p>
          <a:p xmlns:a="http://schemas.openxmlformats.org/drawingml/2006/main">
            <a:r>
              <a:t>https://tass.ru/info/27861241</a:t>
            </a:r>
          </a:p>
          <a:p xmlns:a="http://schemas.openxmlformats.org/drawingml/2006/main">
            <a:r>
              <a:t>https://meduza.io/feature/2023/06/08/emu-by-vse-eto-razgresti</a:t>
            </a:r>
          </a:p>
          <a:p xmlns:a="http://schemas.openxmlformats.org/drawingml/2006/main">
            <a:r>
              <a:t>http://www.kremlin.ru/events/president/transcripts/66288</a:t>
            </a:r>
          </a:p>
          <a:p xmlns:a="http://schemas.openxmlformats.org/drawingml/2006/main">
            <a:r>
              <a:t>https://www.belpressa.ru/politics/vlast/62665.html</a:t>
            </a:r>
          </a:p>
          <a:p xmlns:a="http://schemas.openxmlformats.org/drawingml/2006/main">
            <a:r>
              <a:t>https://www.belpressa.ru/politics/vlast/71368.html</a:t>
            </a:r>
          </a:p>
          <a:p xmlns:a="http://schemas.openxmlformats.org/drawingml/2006/main">
            <a:r>
              <a:t>https://www.belnovosti.ru/politika/gubernator/127077.html</a:t>
            </a:r>
          </a:p>
          <a:p xmlns:a="http://schemas.openxmlformats.org/drawingml/2006/main">
            <a:r>
              <a:t>https://chr.plus.rbc.ru/news/694b9fb67a8aa90f9c2ce17d</a:t>
            </a:r>
          </a:p>
          <a:p xmlns:a="http://schemas.openxmlformats.org/drawingml/2006/main">
            <a:r>
              <a:t>https://www.belpressa.ru/society/bezopasnost/43348.html</a:t>
            </a:r>
          </a:p>
          <a:p xmlns:a="http://schemas.openxmlformats.org/drawingml/2006/main">
            <a:r>
              <a:t>https://www.rbc.ru/politics/07/03/2023/640758bf9a7947f6af99d464</a:t>
            </a:r>
          </a:p>
          <a:p xmlns:a="http://schemas.openxmlformats.org/drawingml/2006/main">
            <a:r>
              <a:t>https://www.rbc.ru/politics/24/05/2023/646d22029a794797c4bac4bf</a:t>
            </a:r>
          </a:p>
          <a:p xmlns:a="http://schemas.openxmlformats.org/drawingml/2006/main">
            <a:r>
              <a:t>https://www.bbc.com/russian/articles/c70dkd0pvrlo</a:t>
            </a:r>
          </a:p>
          <a:p xmlns:a="http://schemas.openxmlformats.org/drawingml/2006/main">
            <a:r>
              <a:t>https://www.go31.ru/news/proisshestviya/kak-nikto-drugoy-ponimaem-chto-takoe-agressiya-so-storony-ukrainy-gladkov-o-proryve-granitsy-v-kursk/</a:t>
            </a:r>
          </a:p>
          <a:p xmlns:a="http://schemas.openxmlformats.org/drawingml/2006/main">
            <a:r>
              <a:t>https://echofm.online/portret-dnya/portret-dnya-vyacheslav-gladkov-gubernator-belgorodskoj-oblasti-prognozy-o-sudbe-kotorogo-raznyatsya-ot-posta-posla-v-abhazii-do-ugolovnogo-dela</a:t>
            </a:r>
          </a:p>
          <a:p xmlns:a="http://schemas.openxmlformats.org/drawingml/2006/main">
            <a:r>
              <a:t>https://www.kommersant.ru/doc/3917861</a:t>
            </a:r>
          </a:p>
          <a:p xmlns:a="http://schemas.openxmlformats.org/drawingml/2006/main">
            <a:r>
              <a:t>https://minstroyrf.gov.ru/press/okolo-40-kontsessionnykh-soglasheniy-v-rossii-deystvuet-v-sfere-zhkkh/</a:t>
            </a:r>
          </a:p>
          <a:p xmlns:a="http://schemas.openxmlformats.org/drawingml/2006/main">
            <a:r>
              <a:t>https://newsroom24.ru/murmansk/news/politics/2026/news_323931/</a:t>
            </a:r>
          </a:p>
          <a:p xmlns:a="http://schemas.openxmlformats.org/drawingml/2006/main">
            <a:r>
              <a:t>https://murmansk.ru/52053</a:t>
            </a:r>
          </a:p>
          <a:p xmlns:a="http://schemas.openxmlformats.org/drawingml/2006/main">
            <a:r>
              <a:t>https://51.ru/text/gorod/2026/01/22/76228112/</a:t>
            </a:r>
          </a:p>
          <a:p xmlns:a="http://schemas.openxmlformats.org/drawingml/2006/main">
            <a:r>
              <a:t>https://www.murman.ru/news/2026/05/02/2334/</a:t>
            </a:r>
          </a:p>
          <a:p xmlns:a="http://schemas.openxmlformats.org/drawingml/2006/main">
            <a:r>
              <a:t>https://murman.ru/news/2026/09/06/2141/</a:t>
            </a:r>
          </a:p>
          <a:p xmlns:a="http://schemas.openxmlformats.org/drawingml/2006/main">
            <a:r>
              <a:t>https://www.murman.ru/news/2026/09/13/2242/</a:t>
            </a:r>
          </a:p>
          <a:p xmlns:a="http://schemas.openxmlformats.org/drawingml/2006/main">
            <a:r>
              <a:t>https://ru.wikipedia.org/wiki/%D0%A7%D0%B8%D0%B1%D0%B8%D1%81,_%D0%90%D0%BD%D0%B4%D1%80%D0%B5%D0%B9_%D0%92%D0%BB%D0%B0%D0%B4%D0%B8%D0%BC%D0%B8%D1%80%D0%BE%D0%B2%D0%B8%D1%87</a:t>
            </a:r>
          </a:p>
          <a:p xmlns:a="http://schemas.openxmlformats.org/drawingml/2006/main">
            <a:r>
              <a:t>https://tass.ru/obschestvo/23491353</a:t>
            </a:r>
          </a:p>
          <a:p xmlns:a="http://schemas.openxmlformats.org/drawingml/2006/main">
            <a:r>
              <a:t>https://www.murman.ru/news/2026/09/03/2243/</a:t>
            </a:r>
          </a:p>
          <a:p xmlns:a="http://schemas.openxmlformats.org/drawingml/2006/main">
            <a:r>
              <a:t>https://msp.citymurmansk.ru/news/2026/09/03/0930/</a:t>
            </a:r>
          </a:p>
          <a:p xmlns:a="http://schemas.openxmlformats.org/drawingml/2006/main">
            <a:r>
              <a:t>http://kremlin.ru/events/president/letters/80916</a:t>
            </a:r>
          </a:p>
          <a:p xmlns:a="http://schemas.openxmlformats.org/drawingml/2006/main">
            <a:r>
              <a:t>https://www.murmansk.kp.ru/daily/277813.4/5300258/</a:t>
            </a:r>
          </a:p>
          <a:p xmlns:a="http://schemas.openxmlformats.org/drawingml/2006/main">
            <a:r>
              <a:t>https://www.fontanka.ru/2021/07/27/70046798/</a:t>
            </a:r>
          </a:p>
          <a:p xmlns:a="http://schemas.openxmlformats.org/drawingml/2006/main">
            <a:r>
              <a:t>https://www.kommersant.ru/doc/4639758</a:t>
            </a:r>
          </a:p>
          <a:p xmlns:a="http://schemas.openxmlformats.org/drawingml/2006/main">
            <a:r>
              <a:t>https://www.bbc.com/russian/news-55614829</a:t>
            </a:r>
          </a:p>
          <a:p xmlns:a="http://schemas.openxmlformats.org/drawingml/2006/main">
            <a:r>
              <a:t>https://newpeople.ru/Deputy/sardana-avksenteva</a:t>
            </a:r>
          </a:p>
          <a:p xmlns:a="http://schemas.openxmlformats.org/drawingml/2006/main">
            <a:r>
              <a:t>https://www.pnp.ru/economics/kontrol-za-koncessionnymi-soglasheniyami-predlozhili-usilit.html</a:t>
            </a:r>
          </a:p>
          <a:p xmlns:a="http://schemas.openxmlformats.org/drawingml/2006/main">
            <a:r>
              <a:t>https://www.ng.ru/politics/2024-12-05/1_9150_right.html</a:t>
            </a:r>
          </a:p>
          <a:p xmlns:a="http://schemas.openxmlformats.org/drawingml/2006/main">
            <a:r>
              <a:t>https://news.ru/society/v-novyh-lyudyah-rasskazali-o-glavnyh-zadachah-partii-pered-vyborami</a:t>
            </a:r>
          </a:p>
          <a:p xmlns:a="http://schemas.openxmlformats.org/drawingml/2006/main">
            <a:r>
              <a:t>https://www.kommersant.ru/doc/8939397</a:t>
            </a:r>
          </a:p>
          <a:p xmlns:a="http://schemas.openxmlformats.org/drawingml/2006/main">
            <a:r>
              <a:t>https://tass.ru/info/5220823</a:t>
            </a:r>
          </a:p>
          <a:p xmlns:a="http://schemas.openxmlformats.org/drawingml/2006/main">
            <a:r>
              <a:t>https://tass.ru/info/15547711</a:t>
            </a:r>
          </a:p>
          <a:p xmlns:a="http://schemas.openxmlformats.org/drawingml/2006/main">
            <a:r>
              <a:t>https://www.bbc.com/russian/features-62661643</a:t>
            </a:r>
          </a:p>
          <a:p xmlns:a="http://schemas.openxmlformats.org/drawingml/2006/main">
            <a:r>
              <a:t>https://www.kommersant.ru/doc/3298219</a:t>
            </a:r>
          </a:p>
          <a:p xmlns:a="http://schemas.openxmlformats.org/drawingml/2006/main">
            <a:r>
              <a:t>https://www.svoboda.org/a/31217129.html</a:t>
            </a:r>
          </a:p>
          <a:p xmlns:a="http://schemas.openxmlformats.org/drawingml/2006/main">
            <a:r>
              <a:t>https://www.interfax.ru/russia/902059</a:t>
            </a:r>
          </a:p>
          <a:p xmlns:a="http://schemas.openxmlformats.org/drawingml/2006/main">
            <a:r>
              <a:t>https://www.bfm.ru/news/525620</a:t>
            </a:r>
          </a:p>
          <a:p xmlns:a="http://schemas.openxmlformats.org/drawingml/2006/main">
            <a:r>
              <a:t>https://novayagazeta.ru/articles/2023/03/16/do-urovnia-myshei-media</a:t>
            </a:r>
          </a:p>
          <a:p xmlns:a="http://schemas.openxmlformats.org/drawingml/2006/main">
            <a:r>
              <a:t>https://tjournal.ru/71076</a:t>
            </a:r>
          </a:p>
          <a:p xmlns:a="http://schemas.openxmlformats.org/drawingml/2006/main">
            <a:r>
              <a:t>https://www.nakanune.ru/articles/111648/</a:t>
            </a:r>
          </a:p>
          <a:p xmlns:a="http://schemas.openxmlformats.org/drawingml/2006/main">
            <a:r>
              <a:t>https://adcmemorial.org/statyi/kolonki/neprotivlenie-rasizmu/</a:t>
            </a:r>
          </a:p>
          <a:p xmlns:a="http://schemas.openxmlformats.org/drawingml/2006/main">
            <a:r>
              <a:t>https://www.svoboda.org/a/royzman-i-drugie-zhiteli-ekaterinburga/31997151.html</a:t>
            </a:r>
          </a:p>
          <a:p xmlns:a="http://schemas.openxmlformats.org/drawingml/2006/main">
            <a:r>
              <a:t>https://www.e1.ru/text/politics/2022/02/24/70466417/</a:t>
            </a:r>
          </a:p>
          <a:p xmlns:a="http://schemas.openxmlformats.org/drawingml/2006/main">
            <a:r>
              <a:t>https://www.dw.com/ru/kommentarij-evgenij-rojzman-i-sila-pravdy/a-62917754</a:t>
            </a:r>
          </a:p>
          <a:p xmlns:a="http://schemas.openxmlformats.org/drawingml/2006/main">
            <a:r>
              <a:t>https://meduza.io/paragraph/2022/08/26/priehali-moskvichi-i-dumali-chto-zdes-duraki-sobralis</a:t>
            </a:r>
          </a:p>
          <a:p xmlns:a="http://schemas.openxmlformats.org/drawingml/2006/main">
            <a:r>
              <a:t>https://znamlit.ru/publication.php?id=7379</a:t>
            </a:r>
          </a:p>
          <a:p xmlns:a="http://schemas.openxmlformats.org/drawingml/2006/main">
            <a:r>
              <a:t>https://tass.ru/interviews/6080499</a:t>
            </a:r>
          </a:p>
          <a:p xmlns:a="http://schemas.openxmlformats.org/drawingml/2006/main">
            <a:r>
              <a:t>https://45.ru/text/politics/2024/09/09/73952072/</a:t>
            </a:r>
          </a:p>
          <a:p xmlns:a="http://schemas.openxmlformats.org/drawingml/2006/main">
            <a:r>
              <a:t>http://special.kremlin.ru/events/president/news/70638</a:t>
            </a:r>
          </a:p>
          <a:p xmlns:a="http://schemas.openxmlformats.org/drawingml/2006/main">
            <a:r>
              <a:t>https://ura.news/news/1053132902</a:t>
            </a:r>
          </a:p>
          <a:p xmlns:a="http://schemas.openxmlformats.org/drawingml/2006/main">
            <a:r>
              <a:t>https://ura.news/articles/1036276564</a:t>
            </a:r>
          </a:p>
          <a:p xmlns:a="http://schemas.openxmlformats.org/drawingml/2006/main">
            <a:r>
              <a:t>https://tass.ru/novosti-regionov/28187431</a:t>
            </a:r>
          </a:p>
          <a:p xmlns:a="http://schemas.openxmlformats.org/drawingml/2006/main">
            <a:r>
              <a:t>https://fedpress.ru/person/1753607</a:t>
            </a:r>
          </a:p>
          <a:p xmlns:a="http://schemas.openxmlformats.org/drawingml/2006/main">
            <a:r>
              <a:t>https://eburg.mk.ru/social/2026/10/14/zhiteley-zauralya-predupredili-o-lozhnykh-videorolikakh-s-gubernatorom.html</a:t>
            </a:r>
          </a:p>
          <a:p xmlns:a="http://schemas.openxmlformats.org/drawingml/2006/main">
            <a:r>
              <a:t>https://regnum.ru/news/3530808</a:t>
            </a:r>
          </a:p>
          <a:p xmlns:a="http://schemas.openxmlformats.org/drawingml/2006/main">
            <a:r>
              <a:t>https://kurganvera.ru/news/vrns/mitropolit-daniil-i-vadim-shumkov-vozglavili-delegatsiyu-kurganskoy-oblasti-na-vsemirnom-russkom-sob/</a:t>
            </a:r>
          </a:p>
          <a:p xmlns:a="http://schemas.openxmlformats.org/drawingml/2006/main">
            <a:r>
              <a:t>https://45.ru/text/politics/2026/06/26/76499700/</a:t>
            </a:r>
          </a:p>
          <a:p xmlns:a="http://schemas.openxmlformats.org/drawingml/2006/main">
            <a:r>
              <a:t>https://niva-kurtamysh.com/news/obshchestvo/vystuplenie-gubernatora-kurganskoy-oblasti-vadima-shumkova</a:t>
            </a:r>
          </a:p>
          <a:p xmlns:a="http://schemas.openxmlformats.org/drawingml/2006/main">
            <a:r>
              <a:t>https://t.me/s/kurganskayaobl?before=42616</a:t>
            </a:r>
          </a:p>
          <a:p xmlns:a="http://schemas.openxmlformats.org/drawingml/2006/main">
            <a:r>
              <a:t>https://www.bbc.com/russian/news-54368577</a:t>
            </a:r>
          </a:p>
          <a:p xmlns:a="http://schemas.openxmlformats.org/drawingml/2006/main">
            <a:r>
              <a:t>https://www.bbc.com/russian/articles/cp0769dp15eo</a:t>
            </a:r>
          </a:p>
          <a:p xmlns:a="http://schemas.openxmlformats.org/drawingml/2006/main">
            <a:r>
              <a:t>https://navalny.com/materials/blogpost-6017</a:t>
            </a:r>
          </a:p>
          <a:p xmlns:a="http://schemas.openxmlformats.org/drawingml/2006/main">
            <a:r>
              <a:t>https://www.bbc.com/russian/news-58563592</a:t>
            </a:r>
          </a:p>
          <a:p xmlns:a="http://schemas.openxmlformats.org/drawingml/2006/main">
            <a:r>
              <a:t>https://navalny.com/materials/blogpost-6544</a:t>
            </a:r>
          </a:p>
          <a:p xmlns:a="http://schemas.openxmlformats.org/drawingml/2006/main">
            <a:r>
              <a:t>https://www.bbc.com/russian/news-58270043</a:t>
            </a:r>
          </a:p>
          <a:p xmlns:a="http://schemas.openxmlformats.org/drawingml/2006/main">
            <a:r>
              <a:t>https://www.bbc.com/russian/articles/cvg3p9l1e5ro</a:t>
            </a:r>
          </a:p>
          <a:p xmlns:a="http://schemas.openxmlformats.org/drawingml/2006/main">
            <a:r>
              <a:t>https://www.bbc.com/russian/features-54435835</a:t>
            </a:r>
          </a:p>
          <a:p xmlns:a="http://schemas.openxmlformats.org/drawingml/2006/main">
            <a:r>
              <a:t>https://2018.navalny.com/platform/7/</a:t>
            </a:r>
          </a:p>
          <a:p xmlns:a="http://schemas.openxmlformats.org/drawingml/2006/main">
            <a:r>
              <a:t>https://2018.navalny.com/platform/3/</a:t>
            </a:r>
          </a:p>
          <a:p xmlns:a="http://schemas.openxmlformats.org/drawingml/2006/main">
            <a:r>
              <a:t>https://2018.navalny.com/platform/10/</a:t>
            </a:r>
          </a:p>
          <a:p xmlns:a="http://schemas.openxmlformats.org/drawingml/2006/main">
            <a:r>
              <a:t>https://2018.navalny.com/platform/9/</a:t>
            </a:r>
          </a:p>
          <a:p xmlns:a="http://schemas.openxmlformats.org/drawingml/2006/main">
            <a:r>
              <a:t>https://navalny.com/editorials/aleksey-navalnyy-protiv-voyny</a:t>
            </a:r>
          </a:p>
          <a:p xmlns:a="http://schemas.openxmlformats.org/drawingml/2006/main">
            <a:r>
              <a:t>https://navalny.com/?p=149</a:t>
            </a:r>
          </a:p>
          <a:p xmlns:a="http://schemas.openxmlformats.org/drawingml/2006/main">
            <a:r>
              <a:t>https://www.interfax.ru/russia/876151</a:t>
            </a:r>
          </a:p>
          <a:p xmlns:a="http://schemas.openxmlformats.org/drawingml/2006/main">
            <a:r>
              <a:t>https://www.dw.com/ru/srok-ne-za-fejk-a-za-politiku-reakcii-v-frg-i-rf-na-prigovor-asinu/a-64049957</a:t>
            </a:r>
          </a:p>
          <a:p xmlns:a="http://schemas.openxmlformats.org/drawingml/2006/main">
            <a:r>
              <a:t>https://www.lemonde.fr/en/international/article/2025/05/27/russian-opposition-figure-ilya-yashin-if-ukraine-is-handed-over-to-putin-it-will-be-a-tragedy-and-the-prologue-to-a-global-confrontation_6741728_4.html</a:t>
            </a:r>
          </a:p>
          <a:p xmlns:a="http://schemas.openxmlformats.org/drawingml/2006/main">
            <a:r>
              <a:t>https://www.bbc.com/russian/articles/crgl69w9472o</a:t>
            </a:r>
          </a:p>
          <a:p xmlns:a="http://schemas.openxmlformats.org/drawingml/2006/main">
            <a:r>
              <a:t>https://www.svoboda.org/a/yashin-court/32165539.html</a:t>
            </a:r>
          </a:p>
          <a:p xmlns:a="http://schemas.openxmlformats.org/drawingml/2006/main">
            <a:r>
              <a:t>https://www.dw.com/ru/ila-asin-putin-predvoditel-sil-mrakobesia/a-69923731</a:t>
            </a:r>
          </a:p>
          <a:p xmlns:a="http://schemas.openxmlformats.org/drawingml/2006/main">
            <a:r>
              <a:t>https://novayagazeta.eu/articles/2025/08/01/my-ne-mozhem-trebovat-no-mozhem-obiasniat</a:t>
            </a:r>
          </a:p>
          <a:p xmlns:a="http://schemas.openxmlformats.org/drawingml/2006/main">
            <a:r>
              <a:t>https://meduza.io/feature/2019/07/20/to-chto-putin-ne-smog-sdelat-za-20-let-sobyanin-sdelal-za-mesyats</a:t>
            </a:r>
          </a:p>
          <a:p xmlns:a="http://schemas.openxmlformats.org/drawingml/2006/main">
            <a:r>
              <a:t>https://novayagazeta.eu/articles/2024/11/18/pochuvstvovat-sebia-ne-odinokimi</a:t>
            </a:r>
          </a:p>
          <a:p xmlns:a="http://schemas.openxmlformats.org/drawingml/2006/main">
            <a:r>
              <a:t>https://www.svoboda.org/a/voyna-putin-i-politzaklyuchennye-iljya-yashin-o-svoih-planah/33177839.html</a:t>
            </a:r>
          </a:p>
          <a:p xmlns:a="http://schemas.openxmlformats.org/drawingml/2006/main">
            <a:r>
              <a:t>https://www.dw.com/ru/asin-sejcas-nevozmozno-obedinit-rossijskuu-oppoziciu-da-i-ne-nuzno/a-70291088</a:t>
            </a:r>
          </a:p>
          <a:p xmlns:a="http://schemas.openxmlformats.org/drawingml/2006/main">
            <a:r>
              <a:t>https://www.dw.com/ru/vladimir-karamurza/t-37465233</a:t>
            </a:r>
          </a:p>
          <a:p xmlns:a="http://schemas.openxmlformats.org/drawingml/2006/main">
            <a:r>
              <a:t>https://ovd.info/persons/kara-murza-vladimir-vladimirovich</a:t>
            </a:r>
          </a:p>
          <a:p xmlns:a="http://schemas.openxmlformats.org/drawingml/2006/main">
            <a:r>
              <a:t>https://ovd.info/2024/08/03/kogo-rossiya-vydala-v-ramkakh-obmena-zaklyuchennymi-s-zapadom-istorii-osvobozhdennykh</a:t>
            </a:r>
          </a:p>
          <a:p xmlns:a="http://schemas.openxmlformats.org/drawingml/2006/main">
            <a:r>
              <a:t>https://www.svoboda.org/a/kara-murza-obmen/33059121.html</a:t>
            </a:r>
          </a:p>
          <a:p xmlns:a="http://schemas.openxmlformats.org/drawingml/2006/main">
            <a:r>
              <a:t>https://novayagazeta.ru/articles/2024/08/16/prezident-baiden-prinial-osvobozhdennogo-v-rezultate-obmena-politzakliuchennogo-vladimira-kara-murzu-s-semei-v-belom-dome-news</a:t>
            </a:r>
          </a:p>
          <a:p xmlns:a="http://schemas.openxmlformats.org/drawingml/2006/main">
            <a:r>
              <a:t>https://genevasummit.org/speech/vladimir-kara-murza-speaks-at-2018-geneva-summit-main-event/</a:t>
            </a:r>
          </a:p>
          <a:p xmlns:a="http://schemas.openxmlformats.org/drawingml/2006/main">
            <a:r>
              <a:t>https://humanrights.ca/event-series/presidents-lecture-series</a:t>
            </a:r>
          </a:p>
          <a:p xmlns:a="http://schemas.openxmlformats.org/drawingml/2006/main">
            <a:r>
              <a:t>https://www.radiofrance.fr/franceinter/podcasts/l-info-de-france-inter/la-democratie-doit-etre-protegee-chaque-minute-de-chaque-jour-declare-l-opposant-russe-vladimir-kara-mourza-8105094</a:t>
            </a:r>
          </a:p>
          <a:p xmlns:a="http://schemas.openxmlformats.org/drawingml/2006/main">
            <a:r>
              <a:t>https://georgetownvoice.com/2025/10/08/dissident-in-residence-vladimir-kara-murza-applies-past-lessons-to-present-day-in-recent-event-discussing-democracy/</a:t>
            </a:r>
          </a:p>
          <a:p xmlns:a="http://schemas.openxmlformats.org/drawingml/2006/main">
            <a:r>
              <a:t>https://www.oscepa.org/en/documents/winter-meetings/2025-vienna/speeches-36/5176-vladimir-kara-murza-address-to-the-osce-pa-winter-meeting-in-vienna-21-february-2025/file</a:t>
            </a:r>
          </a:p>
          <a:p xmlns:a="http://schemas.openxmlformats.org/drawingml/2006/main">
            <a:r>
              <a:t>https://hrf.org/wp-content/uploads/2024/10/VKM-%E2%80%93-Statement-of-Facts-and-Levinson-Analysis.pdf</a:t>
            </a:r>
          </a:p>
          <a:p xmlns:a="http://schemas.openxmlformats.org/drawingml/2006/main">
            <a:r>
              <a:t>https://www.govinfo.gov/content/pkg/CREC-2024-06-11/html/CREC-2024-06-11-pt1-PgH3699.htm</a:t>
            </a:r>
          </a:p>
          <a:p xmlns:a="http://schemas.openxmlformats.org/drawingml/2006/main">
            <a:r>
              <a:t>https://antiwarcommittee.info/en/statement-on-the-persecution-of-vladimir-kara-murza/</a:t>
            </a:r>
          </a:p>
          <a:p xmlns:a="http://schemas.openxmlformats.org/drawingml/2006/main">
            <a:r>
              <a:t>https://www.norway.no/en/missions/osce/norway-and-the-osce/statements/statements-with--norwegian-alignment-2024/joint-statement-on-vladimir-kara-murza/</a:t>
            </a:r>
          </a:p>
          <a:p xmlns:a="http://schemas.openxmlformats.org/drawingml/2006/main">
            <a:r>
              <a:t>https://www.aljazeera.com/news/2025/4/23/kremlin-critic-decried-for-racist-rant-on-minorities-fighting-for-russia</a:t>
            </a:r>
          </a:p>
          <a:p xmlns:a="http://schemas.openxmlformats.org/drawingml/2006/main">
            <a:r>
              <a:t>https://www.rmc.edu/news/former-political-prisoner-vladimir-kara-murza-offers-vision-of-hope-for-russian-democracy/</a:t>
            </a:r>
          </a:p>
          <a:p xmlns:a="http://schemas.openxmlformats.org/drawingml/2006/main">
            <a:r>
              <a:t>https://2018.yavlinsky.ru/campaign/</a:t>
            </a:r>
          </a:p>
          <a:p xmlns:a="http://schemas.openxmlformats.org/drawingml/2006/main">
            <a:r>
              <a:t>http://2018.yavlinsky.ru/programm/</a:t>
            </a:r>
          </a:p>
          <a:p xmlns:a="http://schemas.openxmlformats.org/drawingml/2006/main">
            <a:r>
              <a:t>https://campaign2018.yavlinsky.ru/</a:t>
            </a:r>
          </a:p>
          <a:p xmlns:a="http://schemas.openxmlformats.org/drawingml/2006/main">
            <a:r>
              <a:t>https://www.yavlinsky.ru/position/war/</a:t>
            </a:r>
          </a:p>
          <a:p xmlns:a="http://schemas.openxmlformats.org/drawingml/2006/main">
            <a:r>
              <a:t>https://www.yavlinsky.ru/position/cease-fire/</a:t>
            </a:r>
          </a:p>
          <a:p xmlns:a="http://schemas.openxmlformats.org/drawingml/2006/main">
            <a:r>
              <a:t>https://www.yavlinsky.ru/article_tax/ukraina/</a:t>
            </a:r>
          </a:p>
          <a:p xmlns:a="http://schemas.openxmlformats.org/drawingml/2006/main">
            <a:r>
              <a:t>https://www.yavlinsky.ru/biografiya/</a:t>
            </a:r>
          </a:p>
          <a:p xmlns:a="http://schemas.openxmlformats.org/drawingml/2006/main">
            <a:r>
              <a:t>https://www.yabloko.ru/publikatsii/2018/02/15_0</a:t>
            </a:r>
          </a:p>
          <a:p xmlns:a="http://schemas.openxmlformats.org/drawingml/2006/main">
            <a:r>
              <a:t>https://www.yabloko.ru/publikatsii/2018/06/19</a:t>
            </a:r>
          </a:p>
          <a:p xmlns:a="http://schemas.openxmlformats.org/drawingml/2006/main">
            <a:r>
              <a:t>https://www.yavlinsky.ru/article/eto-referendum/</a:t>
            </a:r>
          </a:p>
          <a:p xmlns:a="http://schemas.openxmlformats.org/drawingml/2006/main">
            <a:r>
              <a:t>https://www.svoboda.org/a/27801792.html</a:t>
            </a:r>
          </a:p>
          <a:p xmlns:a="http://schemas.openxmlformats.org/drawingml/2006/main">
            <a:r>
              <a:t>https://www.svoboda.org/a/29294829.html</a:t>
            </a:r>
          </a:p>
          <a:p xmlns:a="http://schemas.openxmlformats.org/drawingml/2006/main">
            <a:r>
              <a:t>https://www.yavlinsky.ru/article/intervyu-g-yavlinskogo-zhertvy-budut-proryva-net/</a:t>
            </a:r>
          </a:p>
          <a:p xmlns:a="http://schemas.openxmlformats.org/drawingml/2006/main">
            <a:r>
              <a:t>https://www.yavlinsky.ru/article/my-budem-idti-do-kontsa/</a:t>
            </a:r>
          </a:p>
          <a:p xmlns:a="http://schemas.openxmlformats.org/drawingml/2006/main">
            <a:r>
              <a:t>https://www.yavlinsky.ru/article/prezidentskie-vybory-1996-30-let-spustya/</a:t>
            </a:r>
          </a:p>
          <a:p xmlns:a="http://schemas.openxmlformats.org/drawingml/2006/main">
            <a:r>
              <a:t>https://www.forbes.ru/interview/45575-reformatory-prihodyat-k-vlasti-grigorii-yavlinskii</a:t>
            </a:r>
          </a:p>
          <a:p xmlns:a="http://schemas.openxmlformats.org/drawingml/2006/main">
            <a:r>
              <a:t>https://www.bbc.com/russian/articles/cy8ee2wngd8o</a:t>
            </a:r>
          </a:p>
          <a:p xmlns:a="http://schemas.openxmlformats.org/drawingml/2006/main">
            <a:r>
              <a:t>https://www.yabloko.ru/regnews/Pskov/2019/01/21-0</a:t>
            </a:r>
          </a:p>
          <a:p xmlns:a="http://schemas.openxmlformats.org/drawingml/2006/main">
            <a:r>
              <a:t>https://www.yabloko.ru/publikatsii/2019/06/14</a:t>
            </a:r>
          </a:p>
          <a:p xmlns:a="http://schemas.openxmlformats.org/drawingml/2006/main">
            <a:r>
              <a:t>https://zona.media/article/2019/02/27/pskov</a:t>
            </a:r>
          </a:p>
          <a:p xmlns:a="http://schemas.openxmlformats.org/drawingml/2006/main">
            <a:r>
              <a:t>https://spektr.press/ya-otvechayu-za-vse-mnoj-skazannoe-no-ne-otvechayu-za-izvraschenie-skazannogo-lev-shlosberg-o-travle-i-setkah-telegram-kanalov-odnokletochnyh-politikah-reshivshih-pobedit-putina-rukami-u/</a:t>
            </a:r>
          </a:p>
          <a:p xmlns:a="http://schemas.openxmlformats.org/drawingml/2006/main">
            <a:r>
              <a:t>https://www.yabloko.ru/Persons/shlosberg.html</a:t>
            </a:r>
          </a:p>
          <a:p xmlns:a="http://schemas.openxmlformats.org/drawingml/2006/main">
            <a:r>
              <a:t>https://pln-pskov.ru/politics/314872.html</a:t>
            </a:r>
          </a:p>
          <a:p xmlns:a="http://schemas.openxmlformats.org/drawingml/2006/main">
            <a:r>
              <a:t>https://www.yabloko.ru/publikatsii/2022/02/18-0</a:t>
            </a:r>
          </a:p>
          <a:p xmlns:a="http://schemas.openxmlformats.org/drawingml/2006/main">
            <a:r>
              <a:t>https://ru.krymr.com/a/rossiya-putin-voyna-repressii-lev-shlosberg-intervyu/31806389.html</a:t>
            </a:r>
          </a:p>
          <a:p xmlns:a="http://schemas.openxmlformats.org/drawingml/2006/main">
            <a:r>
              <a:t>https://www.currenttime.tv/a/politika-vlastey-chtoby-lyudi-perestali-govorit-o-spetsialnoy-voennoy-operatsii-lev-shlosberg-o-dele-protiv-nego-i-nikolaya-kuzmina/31807396.html</a:t>
            </a:r>
          </a:p>
          <a:p xmlns:a="http://schemas.openxmlformats.org/drawingml/2006/main">
            <a:r>
              <a:t>https://zona.media/article/2026/08/14/schlosberg</a:t>
            </a:r>
          </a:p>
          <a:p xmlns:a="http://schemas.openxmlformats.org/drawingml/2006/main">
            <a:r>
              <a:t>https://www.svoboda.org/a/lishniy-zalozhnik-vot-chto-im-vazhno-arest-lva-shlosberga/33615624.html</a:t>
            </a:r>
          </a:p>
          <a:p xmlns:a="http://schemas.openxmlformats.org/drawingml/2006/main">
            <a:r>
              <a:t>https://novayagazeta.eu/articles/2026/08/17/ostavshiisia</a:t>
            </a:r>
          </a:p>
          <a:p xmlns:a="http://schemas.openxmlformats.org/drawingml/2006/main">
            <a:r>
              <a:t>https://www.yabloko.ru/content/vishnevskii_boris_lazarevich</a:t>
            </a:r>
          </a:p>
          <a:p xmlns:a="http://schemas.openxmlformats.org/drawingml/2006/main">
            <a:r>
              <a:t>https://www.dp.ru/a/2018/06/18/Aktivnaja_storona_konflikt</a:t>
            </a:r>
          </a:p>
          <a:p xmlns:a="http://schemas.openxmlformats.org/drawingml/2006/main">
            <a:r>
              <a:t>https://www.bbc.com/russian/features-58481940</a:t>
            </a:r>
          </a:p>
          <a:p xmlns:a="http://schemas.openxmlformats.org/drawingml/2006/main">
            <a:r>
              <a:t>https://www.dp.ru/a/2023/01/16/Deputat_Peterburga_Vishnev</a:t>
            </a:r>
          </a:p>
          <a:p xmlns:a="http://schemas.openxmlformats.org/drawingml/2006/main">
            <a:r>
              <a:t>https://echofm.online/portret-dnya/portret-dnya-boris-vishnevskij-peterburgskij-politik</a:t>
            </a:r>
          </a:p>
          <a:p xmlns:a="http://schemas.openxmlformats.org/drawingml/2006/main">
            <a:r>
              <a:t>https://spb.yabloko.ru/people/vishnevskij-boris-lazarevich/</a:t>
            </a:r>
          </a:p>
          <a:p xmlns:a="http://schemas.openxmlformats.org/drawingml/2006/main">
            <a:r>
              <a:t>https://www.dp.ru/a/2026/08/26/bitva-nachalas-gde-v-peterburge</a:t>
            </a:r>
          </a:p>
          <a:p xmlns:a="http://schemas.openxmlformats.org/drawingml/2006/main">
            <a:r>
              <a:t>https://www.yabloko.ru/regnews/Spb/2022/02/21</a:t>
            </a:r>
          </a:p>
          <a:p xmlns:a="http://schemas.openxmlformats.org/drawingml/2006/main">
            <a:r>
              <a:t>https://www.yabloko.ru/cat-news/2021/08/06-0</a:t>
            </a:r>
          </a:p>
          <a:p xmlns:a="http://schemas.openxmlformats.org/drawingml/2006/main">
            <a:r>
              <a:t>https://www.rbc.ru/spb_sz/16/01/2023/63c53d9c9a7947d9bef4b853</a:t>
            </a:r>
          </a:p>
          <a:p xmlns:a="http://schemas.openxmlformats.org/drawingml/2006/main">
            <a:r>
              <a:t>https://www.rbc.ru/politics/06/05/2024/6638a8609a79472c01075a2c</a:t>
            </a:r>
          </a:p>
          <a:p xmlns:a="http://schemas.openxmlformats.org/drawingml/2006/main">
            <a:r>
              <a:t>https://www.svoboda.org/a/politika-dmitriya-gudkova-deportirovali-iz-gruzii-v-kiev/31679697.html</a:t>
            </a:r>
          </a:p>
          <a:p xmlns:a="http://schemas.openxmlformats.org/drawingml/2006/main">
            <a:r>
              <a:t>https://ru.krymr.com/a/dmitriy-gudkov-ob-otyezde-iz-rossii/31295079.html</a:t>
            </a:r>
          </a:p>
          <a:p xmlns:a="http://schemas.openxmlformats.org/drawingml/2006/main">
            <a:r>
              <a:t>https://daily.afisha.ru/news/114366-syn-politika-dmitriya-gudkova-pokonchil-s-soboy-v-emigracii/amp/</a:t>
            </a:r>
          </a:p>
          <a:p xmlns:a="http://schemas.openxmlformats.org/drawingml/2006/main">
            <a:r>
              <a:t>https://life.ru/t/dmitriygudkov</a:t>
            </a:r>
          </a:p>
          <a:p xmlns:a="http://schemas.openxmlformats.org/drawingml/2006/main">
            <a:r>
              <a:t>https://uk.wikipedia.org/wiki/%D0%93%D1%83%D0%B4%D0%BA%D0%BE%D0%B2_%D0%94%D0%BC%D0%B8%D1%82%D1%80%D1%96%D0%B9_%D0%93%D0%B5%D0%BD%D0%B0%D0%B4%D1%96%D0%B9%D0%BE%D0%B2%D0%B8%D1%87</a:t>
            </a:r>
          </a:p>
          <a:p xmlns:a="http://schemas.openxmlformats.org/drawingml/2006/main">
            <a:r>
              <a:t>https://mt.gazeta.ru/blog/43692366076/Syin-byivshego-deputata-Gosdumyi-Dmitriya-Gudkova-pokonchil-s-so?utm_referrer=mirtesen.ru</a:t>
            </a:r>
          </a:p>
          <a:p xmlns:a="http://schemas.openxmlformats.org/drawingml/2006/main">
            <a:r>
              <a:t>https://www.bbc.com/russian/news-57381443</a:t>
            </a:r>
          </a:p>
          <a:p xmlns:a="http://schemas.openxmlformats.org/drawingml/2006/main">
            <a:r>
              <a:t>https://www.themoscowtimes.com/2021/06/06/kremlin-critic-dmitry-gudkov-flees-to-ukraine-a74123</a:t>
            </a:r>
          </a:p>
          <a:p xmlns:a="http://schemas.openxmlformats.org/drawingml/2006/main">
            <a:r>
              <a:t>https://www.yabloko.ru/publikatsii/2016/09/15</a:t>
            </a:r>
          </a:p>
          <a:p xmlns:a="http://schemas.openxmlformats.org/drawingml/2006/main">
            <a:r>
              <a:t>https://novayagazeta.ru/articles/2018/03/21/75886-ya-privyk-lyudyam-verit</a:t>
            </a:r>
          </a:p>
          <a:p xmlns:a="http://schemas.openxmlformats.org/drawingml/2006/main">
            <a:r>
              <a:t>https://www.rbc.ru/politics/15/03/2018/5aaa98049a7947d12d63f1e1</a:t>
            </a:r>
          </a:p>
          <a:p xmlns:a="http://schemas.openxmlformats.org/drawingml/2006/main">
            <a:r>
              <a:t>https://rus.team/people/gudkov-dmitrij-gennadevich</a:t>
            </a:r>
          </a:p>
          <a:p xmlns:a="http://schemas.openxmlformats.org/drawingml/2006/main">
            <a:r>
              <a:t>https://www.azattyqasia.org/a/chto-proiskhodit-v-donbasse-/31863310/lbl0lbi299676.html</a:t>
            </a:r>
          </a:p>
          <a:p xmlns:a="http://schemas.openxmlformats.org/drawingml/2006/main">
            <a:r>
              <a:t>https://www.dw.com/ru/dmitrij-gudkov-putin-na-storone-partii-vojny-no-pri-etom-on-trus-21092022/video-63193199</a:t>
            </a:r>
          </a:p>
          <a:p xmlns:a="http://schemas.openxmlformats.org/drawingml/2006/main">
            <a:r>
              <a:t>https://ru.wikinews.org/wiki/%D0%9A%D0%B0%D1%82%D0%B5%D0%B3%D0%BE%D1%80%D0%B8%D1%8F:%D0%93%D0%B5%D0%BD%D0%BD%D0%B0%D0%B4%D0%B8%D0%B9_%D0%93%D1%83%D0%B4%D0%BA%D0%BE%D0%B2</a:t>
            </a:r>
          </a:p>
          <a:p xmlns:a="http://schemas.openxmlformats.org/drawingml/2006/main">
            <a:r>
              <a:t>https://en.wikipedia.org/wiki/Gennady_Gudkov</a:t>
            </a:r>
          </a:p>
          <a:p xmlns:a="http://schemas.openxmlformats.org/drawingml/2006/main">
            <a:r>
              <a:t>https://x.com/gudkov_g</a:t>
            </a:r>
          </a:p>
          <a:p xmlns:a="http://schemas.openxmlformats.org/drawingml/2006/main">
            <a:r>
              <a:t>https://www.dw.com/ru/chto-dmitrij-gudkov-nameren-delat-v-ukraine-i-vernetsja-li-v-rossiju/a-57830619</a:t>
            </a:r>
          </a:p>
          <a:p xmlns:a="http://schemas.openxmlformats.org/drawingml/2006/main">
            <a:r>
              <a:t>https://ru.wikipedia.org/wiki/%D0%93%D1%83%D0%B4%D0%BA%D0%BE%D0%B2,_%D0%93%D0%B5%D0%BD%D0%BD%D0%B0%D0%B4%D0%B8%D0%B9_%D0%92%D0%BB%D0%B0%D0%B4%D0%B8%D0%BC%D0%B8%D1%80%D0%BE%D0%B2%D0%B8%D1%87</a:t>
            </a:r>
          </a:p>
          <a:p xmlns:a="http://schemas.openxmlformats.org/drawingml/2006/main">
            <a:r>
              <a:t>https://ru.wikipedia.org/wiki/%D0%93%D1%83%D0%B4%D0%BA%D0%BE%D0%B2,_%D0%94%D0%BC%D0%B8%D1%82%D1%80%D0%B8%D0%B9_%D0%93%D0%B5%D0%BD%D0%BD%D0%B0%D0%B4%D1%8C%D0%B5%D0%B2%D0%B8%D1%87</a:t>
            </a:r>
          </a:p>
          <a:p xmlns:a="http://schemas.openxmlformats.org/drawingml/2006/main">
            <a:r>
              <a:t>https://utro02.tv/2022/10/31/navstrechu-sezdu-gennadij-gudkov-o-vyborah-obedinenii-oppoziczii-i-razdelenii-vlasti/</a:t>
            </a:r>
          </a:p>
          <a:p xmlns:a="http://schemas.openxmlformats.org/drawingml/2006/main">
            <a:r>
              <a:t>https://www.unian.net/war/rossiyskiy-oppozicioner-gudkov-putin-nachinaet-ponimat-chto-nastupaet-zh-pa-12031263.html</a:t>
            </a:r>
          </a:p>
          <a:p xmlns:a="http://schemas.openxmlformats.org/drawingml/2006/main">
            <a:r>
              <a:t>https://bntnews.bg/genadiy-gudkov-86846tag.html</a:t>
            </a:r>
          </a:p>
          <a:p xmlns:a="http://schemas.openxmlformats.org/drawingml/2006/main">
            <a:r>
              <a:t>https://tass.ru/encyclopedia/person/gudkov-dmitriy-gennadevich</a:t>
            </a:r>
          </a:p>
          <a:p xmlns:a="http://schemas.openxmlformats.org/drawingml/2006/main">
            <a:r>
              <a:t>https://www.kasparov.com/garry-kasparov-on-putin-and-the-virus-of-imperialism-wsj-free-expression-april-11-2022/</a:t>
            </a:r>
          </a:p>
          <a:p xmlns:a="http://schemas.openxmlformats.org/drawingml/2006/main">
            <a:r>
              <a:t>https://www.ilmessaggero.it/en/garry_kasparov_from_chess_champion_to_kremlin_critic-9797261.html</a:t>
            </a:r>
          </a:p>
          <a:p xmlns:a="http://schemas.openxmlformats.org/drawingml/2006/main">
            <a:r>
              <a:t>https://www.kasparov.com/category/russia/</a:t>
            </a:r>
          </a:p>
          <a:p xmlns:a="http://schemas.openxmlformats.org/drawingml/2006/main">
            <a:r>
              <a:t>https://www.kasparov.com/category/politics/</a:t>
            </a:r>
          </a:p>
          <a:p xmlns:a="http://schemas.openxmlformats.org/drawingml/2006/main">
            <a:r>
              <a:t>https://en.wikipedia.org/wiki/Political_views_of_Garry_Kasparov</a:t>
            </a:r>
          </a:p>
          <a:p xmlns:a="http://schemas.openxmlformats.org/drawingml/2006/main">
            <a:r>
              <a:t>https://www.dw.com/ru/kasparov-v-intervu-dw-vse-cto-delal-delaet-i-budet-delat-tramp-pomogaet-putinu/a-79633734</a:t>
            </a:r>
          </a:p>
          <a:p xmlns:a="http://schemas.openxmlformats.org/drawingml/2006/main">
            <a:r>
              <a:t>https://www.kasparov.com/</a:t>
            </a:r>
          </a:p>
          <a:p xmlns:a="http://schemas.openxmlformats.org/drawingml/2006/main">
            <a:r>
              <a:t>https://www.kasparov.com/a-conversation-with-garry-kasparov-thought-economics-with-vikas-shas-may-21-2017/</a:t>
            </a:r>
          </a:p>
          <a:p xmlns:a="http://schemas.openxmlformats.org/drawingml/2006/main">
            <a:r>
              <a:t>https://www.kasparov.com/new-yorker-interview-the-chess-grandmaster-and-political-activist-on-putin-trump-and-how-we-are-living-again-through-the-eighteen-fifties/</a:t>
            </a:r>
          </a:p>
          <a:p xmlns:a="http://schemas.openxmlformats.org/drawingml/2006/main">
            <a:r>
              <a:t>https://www.cnbc.com/2017/02/13/the-full-interview-with-former-world-chess-champion-garry-kasparov-on-trump-putin.html</a:t>
            </a:r>
          </a:p>
          <a:p xmlns:a="http://schemas.openxmlformats.org/drawingml/2006/main">
            <a:r>
              <a:t>https://www.reuters.com/world/europe/kasparov-calls-world-powers-throw-russia-back-into-stone-age-2022-03-03/</a:t>
            </a:r>
          </a:p>
          <a:p xmlns:a="http://schemas.openxmlformats.org/drawingml/2006/main">
            <a:r>
              <a:t>https://khodorkovsky.com/open-russia-manifesto/</a:t>
            </a:r>
          </a:p>
          <a:p xmlns:a="http://schemas.openxmlformats.org/drawingml/2006/main">
            <a:r>
              <a:t>https://khodorkovsky.com/programmes/initiatives/openrussia/</a:t>
            </a:r>
          </a:p>
          <a:p xmlns:a="http://schemas.openxmlformats.org/drawingml/2006/main">
            <a:r>
              <a:t>https://khodorkovsky.com/page/65/?m</a:t>
            </a:r>
          </a:p>
          <a:p xmlns:a="http://schemas.openxmlformats.org/drawingml/2006/main">
            <a:r>
              <a:t>https://khodorkovsky.com/page/80/?m</a:t>
            </a:r>
          </a:p>
          <a:p xmlns:a="http://schemas.openxmlformats.org/drawingml/2006/main">
            <a:r>
              <a:t>https://angliya.com/publication/mihail-hodorkovskiy-ne-priznayu-razdelenie-lyudey-na-osnovanii-politicheskih-vzglyadov/</a:t>
            </a:r>
          </a:p>
          <a:p xmlns:a="http://schemas.openxmlformats.org/drawingml/2006/main">
            <a:r>
              <a:t>https://www.dw.com/ru/mihail-hodorkovski-bojus-jeta-vojna-ne-budet-poslednej/a-61314556</a:t>
            </a:r>
          </a:p>
          <a:p xmlns:a="http://schemas.openxmlformats.org/drawingml/2006/main">
            <a:r>
              <a:t>https://ru.euronews.com/2022/06/21/ru-khodorkovsky-interview</a:t>
            </a:r>
          </a:p>
          <a:p xmlns:a="http://schemas.openxmlformats.org/drawingml/2006/main">
            <a:r>
              <a:t>https://ru.euronews.com/2022/06/23/mikhail-khodorkovsky</a:t>
            </a:r>
          </a:p>
          <a:p xmlns:a="http://schemas.openxmlformats.org/drawingml/2006/main">
            <a:r>
              <a:t>https://poligonmedia.io/mihail-hodorkovskij-putin-ne-pobedil/</a:t>
            </a:r>
          </a:p>
          <a:p xmlns:a="http://schemas.openxmlformats.org/drawingml/2006/main">
            <a:r>
              <a:t>https://www.pap.pl/ru/russian/news/khodorkovskiy-u-putina-est-prichiny-vesti-peregovory-o-prekraschenii-voyny-na-ukraine</a:t>
            </a:r>
          </a:p>
          <a:p xmlns:a="http://schemas.openxmlformats.org/drawingml/2006/main">
            <a:r>
              <a:t>https://milov.org/cat/debates</a:t>
            </a:r>
          </a:p>
          <a:p xmlns:a="http://schemas.openxmlformats.org/drawingml/2006/main">
            <a:r>
              <a:t>https://milov.org/entry/4188</a:t>
            </a:r>
          </a:p>
          <a:p xmlns:a="http://schemas.openxmlformats.org/drawingml/2006/main">
            <a:r>
              <a:t>https://milov.org/cat/international</a:t>
            </a:r>
          </a:p>
          <a:p xmlns:a="http://schemas.openxmlformats.org/drawingml/2006/main">
            <a:r>
              <a:t>https://tvrain.tv/teleshow/amerikanskie_gonki/tramp_vynashivaet_ideju_primiritsja_s_putinym-453802/</a:t>
            </a:r>
          </a:p>
          <a:p xmlns:a="http://schemas.openxmlformats.org/drawingml/2006/main">
            <a:r>
              <a:t>https://www.currenttime.tv/a/vladimir-milov-interview/31505887.html</a:t>
            </a:r>
          </a:p>
          <a:p xmlns:a="http://schemas.openxmlformats.org/drawingml/2006/main">
            <a:r>
              <a:t>https://ovd.info/express-news/2021/07/27/roskomnadzor-potreboval-ot-youtube-zablokirovat-kanaly-troikh-soratnikov</a:t>
            </a:r>
          </a:p>
          <a:p xmlns:a="http://schemas.openxmlformats.org/drawingml/2006/main">
            <a:r>
              <a:t>https://www.dw.com/ru/sud-v-moskve-prigovoril-vladimira-milova-k-8-godam-kolonii/a-67415717</a:t>
            </a:r>
          </a:p>
          <a:p xmlns:a="http://schemas.openxmlformats.org/drawingml/2006/main">
            <a:r>
              <a:t>https://ru.wikipedia.org/wiki/%D0%9C%D0%B8%D0%BB%D0%BE%D0%B2,_%D0%92%D0%BB%D0%B0%D0%B4%D0%B8%D0%BC%D0%B8%D1%80_%D0%A1%D1%82%D0%B0%D0%BD%D0%B8%D1%81%D0%BB%D0%B0%D0%B2%D0%BE%D0%B2%D0%B8%D1%87</a:t>
            </a:r>
          </a:p>
          <a:p xmlns:a="http://schemas.openxmlformats.org/drawingml/2006/main">
            <a:r>
              <a:t>https://gordonua.com/news/worldnews/milov-merkel-molodec-poteryala-vsego-7-8-v-polzu-svezhey-antiimmigrantskoy-partii-na-fone-migrantskogo-krizisa-208758.html</a:t>
            </a:r>
          </a:p>
          <a:p xmlns:a="http://schemas.openxmlformats.org/drawingml/2006/main">
            <a:r>
              <a:t>https://echofm.online/programs/hochu-skazat/hochu-skazat-larina-69</a:t>
            </a:r>
          </a:p>
          <a:p xmlns:a="http://schemas.openxmlformats.org/drawingml/2006/main">
            <a:r>
              <a:t>https://www.hoover.org/plus/research/russian-opposition-and-ukraine-conversation-vladimir-milov</a:t>
            </a:r>
          </a:p>
          <a:p xmlns:a="http://schemas.openxmlformats.org/drawingml/2006/main">
            <a:r>
              <a:t>https://www.golosameriki.com/a/washington-dialogue-russian-opposition-conference/7648250.html</a:t>
            </a:r>
          </a:p>
          <a:p xmlns:a="http://schemas.openxmlformats.org/drawingml/2006/main">
            <a:r>
              <a:t>https://glavred.info/chat/1337-vladimir-milov.html</a:t>
            </a:r>
          </a:p>
          <a:p xmlns:a="http://schemas.openxmlformats.org/drawingml/2006/main">
            <a:r>
              <a:t>https://www.interfax.ru/moscow/669378</a:t>
            </a:r>
          </a:p>
          <a:p xmlns:a="http://schemas.openxmlformats.org/drawingml/2006/main">
            <a:r>
              <a:t>https://tass.ru/politika/6670439</a:t>
            </a:r>
          </a:p>
          <a:p xmlns:a="http://schemas.openxmlformats.org/drawingml/2006/main">
            <a:r>
              <a:t>https://www.rbc.ru/politics/16/07/2019/5d2c8b3b9a794799a7c7d413</a:t>
            </a:r>
          </a:p>
          <a:p xmlns:a="http://schemas.openxmlformats.org/drawingml/2006/main">
            <a:r>
              <a:t>https://www.bbc.com/russian/news-56269079</a:t>
            </a:r>
          </a:p>
          <a:p xmlns:a="http://schemas.openxmlformats.org/drawingml/2006/main">
            <a:r>
              <a:t>https://ovd.info/express-news/2020/12/28/s-yurista-fbk-kotoraya-provela-pochti-dvoe-sutok-v-ivs-pytalis-vzyat</a:t>
            </a:r>
          </a:p>
          <a:p xmlns:a="http://schemas.openxmlformats.org/drawingml/2006/main">
            <a:r>
              <a:t>https://ovd.info/express-news/2021/02/26/prokuratura-utverdila-obvinenie-sobol-po-delu-o-proniknovenii-v-kvartiru</a:t>
            </a:r>
          </a:p>
          <a:p xmlns:a="http://schemas.openxmlformats.org/drawingml/2006/main">
            <a:r>
              <a:t>https://ovd.info/express-news/2020/12/29/protiv-alekseya-navalnogo-vozbudili-ugolovnoe-delo-o-moshennichestve-iz-za</a:t>
            </a:r>
          </a:p>
          <a:p xmlns:a="http://schemas.openxmlformats.org/drawingml/2006/main">
            <a:r>
              <a:t>https://www.currenttime.tv/a/sobol/31723600.html</a:t>
            </a:r>
          </a:p>
          <a:p xmlns:a="http://schemas.openxmlformats.org/drawingml/2006/main">
            <a:r>
              <a:t>https://www.currenttime.tv/interview/episodes/2022/2/26</a:t>
            </a:r>
          </a:p>
          <a:p xmlns:a="http://schemas.openxmlformats.org/drawingml/2006/main">
            <a:r>
              <a:t>https://ochevidcy.com/putin-budet-vorovat-do-groba/</a:t>
            </a:r>
          </a:p>
          <a:p xmlns:a="http://schemas.openxmlformats.org/drawingml/2006/main">
            <a:r>
              <a:t>https://www.svoboda.org/a/32881433.html</a:t>
            </a:r>
          </a:p>
          <a:p xmlns:a="http://schemas.openxmlformats.org/drawingml/2006/main">
            <a:r>
              <a:t>https://echofm.online/programs/idyom-po-zvyozdam/idyom-po-zvezdam-s-lyubovyu-sobol</a:t>
            </a:r>
          </a:p>
          <a:p xmlns:a="http://schemas.openxmlformats.org/drawingml/2006/main">
            <a:r>
              <a:t>https://x.com/SobolLubov</a:t>
            </a:r>
          </a:p>
          <a:p xmlns:a="http://schemas.openxmlformats.org/drawingml/2006/main">
            <a:r>
              <a:t>https://stuki-druki.com/authors/sobol-lubov.php</a:t>
            </a:r>
          </a:p>
          <a:p xmlns:a="http://schemas.openxmlformats.org/drawingml/2006/main">
            <a:r>
              <a:t>https://www.interfax.ru/elections2018/593143</a:t>
            </a:r>
          </a:p>
          <a:p xmlns:a="http://schemas.openxmlformats.org/drawingml/2006/main">
            <a:r>
              <a:t>https://elections2018.tass.ru/candidate/sobchak</a:t>
            </a:r>
          </a:p>
          <a:p xmlns:a="http://schemas.openxmlformats.org/drawingml/2006/main">
            <a:r>
              <a:t>https://www.interfax.ru/elections2018/604186</a:t>
            </a:r>
          </a:p>
          <a:p xmlns:a="http://schemas.openxmlformats.org/drawingml/2006/main">
            <a:r>
              <a:t>https://www.interfax.ru/elections2018/604908</a:t>
            </a:r>
          </a:p>
          <a:p xmlns:a="http://schemas.openxmlformats.org/drawingml/2006/main">
            <a:r>
              <a:t>https://www.consultant.ru/law/hotdocs/53066.html</a:t>
            </a:r>
          </a:p>
          <a:p xmlns:a="http://schemas.openxmlformats.org/drawingml/2006/main">
            <a:r>
              <a:t>https://www.rbc.ru/newspaper/2018/03/20/5aae9ca49a794739b02918a0</a:t>
            </a:r>
          </a:p>
          <a:p xmlns:a="http://schemas.openxmlformats.org/drawingml/2006/main">
            <a:r>
              <a:t>https://www.interfax.ru/elections2018/604136</a:t>
            </a:r>
          </a:p>
          <a:p xmlns:a="http://schemas.openxmlformats.org/drawingml/2006/main">
            <a:r>
              <a:t>https://www.interfax.ru/elections2018/604190</a:t>
            </a:r>
          </a:p>
          <a:p xmlns:a="http://schemas.openxmlformats.org/drawingml/2006/main">
            <a:r>
              <a:t>https://www.rbc.ru/economics/25/12/2017/5a4025f19a79472e3f5f4ad9?from=right_column_materials_3</a:t>
            </a:r>
          </a:p>
          <a:p xmlns:a="http://schemas.openxmlformats.org/drawingml/2006/main">
            <a:r>
              <a:t>https://news.ru/show-business/otezd-iz-rf-vybory-svo-v-chem-priznalas-kseniya-sobchak-v-novom-intervyu</a:t>
            </a:r>
          </a:p>
          <a:p xmlns:a="http://schemas.openxmlformats.org/drawingml/2006/main">
            <a:r>
              <a:t>https://rtvi.com/news/sobchak-otvetila-na-vopros-putin-ili-zelenskij/</a:t>
            </a:r>
          </a:p>
          <a:p xmlns:a="http://schemas.openxmlformats.org/drawingml/2006/main">
            <a:r>
              <a:t>https://informator.ua/ru/kompromissy-iz-rf-legitimnost-zelenskogo-i-gotovnost-pozhat-ruku-putinu-o-chem-govoril-arestovich-v-intervyu-sobchak</a:t>
            </a:r>
          </a:p>
          <a:p xmlns:a="http://schemas.openxmlformats.org/drawingml/2006/main">
            <a:r>
              <a:t>https://rassvet-party.info/</a:t>
            </a:r>
          </a:p>
          <a:p xmlns:a="http://schemas.openxmlformats.org/drawingml/2006/main">
            <a:r>
              <a:t>https://en.wikipedia.org/wiki/Yekaterina_Duntsova</a:t>
            </a:r>
          </a:p>
          <a:p xmlns:a="http://schemas.openxmlformats.org/drawingml/2006/main">
            <a:r>
              <a:t>https://www.dw.com/ru/cto-nuzno-znat-o-ekaterine-duncovoj-kotoraa-hocet-stat-prezidentom-rf/a-67832425</a:t>
            </a:r>
          </a:p>
          <a:p xmlns:a="http://schemas.openxmlformats.org/drawingml/2006/main">
            <a:r>
              <a:t>https://baj.media/ru/ya-gotova-idti-do-konca-zhurnalistka-iz-rossiyskoy-provincii-reshila-stat-prezidentom-i-2/</a:t>
            </a:r>
          </a:p>
          <a:p xmlns:a="http://schemas.openxmlformats.org/drawingml/2006/main">
            <a:r>
              <a:t>https://echofm.online/portret-dnya/portret-dnya-ekaterina-dunczova-reshivshaya-vydvinutsya-kandidatom-v-prezidenty-rossii-zhurnalistka-iz-rzheva</a:t>
            </a:r>
          </a:p>
          <a:p xmlns:a="http://schemas.openxmlformats.org/drawingml/2006/main">
            <a:r>
              <a:t>https://novayagazeta.eu/articles/2024/03/15/zlost-i-nenavist-vsem-nadoeli</a:t>
            </a:r>
          </a:p>
          <a:p xmlns:a="http://schemas.openxmlformats.org/drawingml/2006/main">
            <a:r>
              <a:t>https://altapress.ru/politika/story/kto-takaya-ekaterina-duntsova-kotoraya-sobiraetsya-stat-poslednim-prezidentom-rossii-i-kto-eshche-hochet-ballotirovatsya-336526</a:t>
            </a:r>
          </a:p>
          <a:p xmlns:a="http://schemas.openxmlformats.org/drawingml/2006/main">
            <a:r>
              <a:t>https://cherta.media/interview/ekaterina-duncova-kandidat-v-prezidenty/</a:t>
            </a:r>
          </a:p>
          <a:p xmlns:a="http://schemas.openxmlformats.org/drawingml/2006/main">
            <a:r>
              <a:t>https://novayagazeta.eu/articles/2023/12/05/zachem-ia-budu-stoiat-na-barrikadakh-esli-mogu-zanimatsia-realnymi-delami</a:t>
            </a:r>
          </a:p>
          <a:p xmlns:a="http://schemas.openxmlformats.org/drawingml/2006/main">
            <a:r>
              <a:t>https://holod.media/2023/12/20/ekaterina-duntsova-view/</a:t>
            </a:r>
          </a:p>
          <a:p xmlns:a="http://schemas.openxmlformats.org/drawingml/2006/main">
            <a:r>
              <a:t>https://www.dw.com/ru/ekaterina-duncova-o-sozdanii-partii-rassvet-my-mezdu-dvuh-ognej/a-68992724</a:t>
            </a:r>
          </a:p>
          <a:p xmlns:a="http://schemas.openxmlformats.org/drawingml/2006/main">
            <a:r>
              <a:t>https://rassvet-party.info/static/program.pdf</a:t>
            </a:r>
          </a:p>
          <a:p xmlns:a="http://schemas.openxmlformats.org/drawingml/2006/main">
            <a:r>
              <a:t>https://www.currenttime.tv/a/ekaterina-duntsova-o-sozdanii-partii-i-svoem-zaderzhanii/32775510.html</a:t>
            </a:r>
          </a:p>
          <a:p xmlns:a="http://schemas.openxmlformats.org/drawingml/2006/main">
            <a:r>
              <a:t>https://duntsovainitiative.1c-umi.ru/galereya/</a:t>
            </a:r>
          </a:p>
          <a:p xmlns:a="http://schemas.openxmlformats.org/drawingml/2006/main">
            <a:r>
              <a:t>https://rassvet-party.info/static/manifest.pdf</a:t>
            </a:r>
          </a:p>
          <a:p xmlns:a="http://schemas.openxmlformats.org/drawingml/2006/main">
            <a:r>
              <a:t>https://www.rbc.ru/person/65afb4a99a79470e434da73d</a:t>
            </a:r>
          </a:p>
          <a:p xmlns:a="http://schemas.openxmlformats.org/drawingml/2006/main">
            <a:r>
              <a:t>https://www.bbc.com/russian/articles/c84npr0wxx9o</a:t>
            </a:r>
          </a:p>
          <a:p xmlns:a="http://schemas.openxmlformats.org/drawingml/2006/main">
            <a:r>
              <a:t>https://www.rbc.ru/politics/08/02/2024/65c3749b9a79479ef5fe7934</a:t>
            </a:r>
          </a:p>
          <a:p xmlns:a="http://schemas.openxmlformats.org/drawingml/2006/main">
            <a:r>
              <a:t>https://www.business-gazeta.ru/article/622600</a:t>
            </a:r>
          </a:p>
          <a:p xmlns:a="http://schemas.openxmlformats.org/drawingml/2006/main">
            <a:r>
              <a:t>https://semnasem.org/articles/2024/02/02/poslednij-sredi-antivoennyh-kto-takoj-boris-nadezhdin-kotoryj-vse-eshe-nadeetsya-stat-prezidentom</a:t>
            </a:r>
          </a:p>
          <a:p xmlns:a="http://schemas.openxmlformats.org/drawingml/2006/main">
            <a:r>
              <a:t>https://novayagazeta.eu/articles/2024/02/03/17-marta-nachalo-kontsa-epokhi-putina</a:t>
            </a:r>
          </a:p>
          <a:p xmlns:a="http://schemas.openxmlformats.org/drawingml/2006/main">
            <a:r>
              <a:t>https://www.youtube.com/watch?v=mGMdgxBCdns</a:t>
            </a:r>
          </a:p>
          <a:p xmlns:a="http://schemas.openxmlformats.org/drawingml/2006/main">
            <a:r>
              <a:t>https://www.dw.com/ru/boris-nadezdin-moj-rejting-rastet-na-5-v-nedelu/a-68154251</a:t>
            </a:r>
          </a:p>
          <a:p xmlns:a="http://schemas.openxmlformats.org/drawingml/2006/main">
            <a:r>
              <a:t>https://ovd.info/express-news/2026/07/17/u-menya-dva-puti-lenina-ili-navalnogo-chto-nuzhno-znat-o-borise-nadezhdine</a:t>
            </a:r>
          </a:p>
          <a:p xmlns:a="http://schemas.openxmlformats.org/drawingml/2006/main">
            <a:r>
              <a:t>https://www.rbc.ru/person/65afb4a99a79470e434da73d?ysclid=mrt22n99to603501119</a:t>
            </a:r>
          </a:p>
          <a:p xmlns:a="http://schemas.openxmlformats.org/drawingml/2006/main">
            <a:r>
              <a:t>https://www.youtube.com/watch?v=UNytg_H_1pY</a:t>
            </a:r>
          </a:p>
          <a:p xmlns:a="http://schemas.openxmlformats.org/drawingml/2006/main">
            <a:r>
              <a:t>https://www.youtube.com/watch?v=DwTC5bilf_8</a:t>
            </a:r>
          </a:p>
          <a:p xmlns:a="http://schemas.openxmlformats.org/drawingml/2006/main">
            <a:r>
              <a:t>https://www.youtube.com/watch?v=sG4_THnT9W0</a:t>
            </a:r>
          </a:p>
          <a:p xmlns:a="http://schemas.openxmlformats.org/drawingml/2006/main">
            <a:r>
              <a:t>https://www.rbc.ru/rbcfreenews/6586cdf49a79479c3cd3d4b3</a:t>
            </a:r>
          </a:p>
          <a:p xmlns:a="http://schemas.openxmlformats.org/drawingml/2006/main">
            <a:r>
              <a:t>https://kprf.ru/activity/elections/223485.html/print</a:t>
            </a:r>
          </a:p>
          <a:p xmlns:a="http://schemas.openxmlformats.org/drawingml/2006/main">
            <a:r>
              <a:t>http://msk.kprf.ru/2024/01/24/247473/</a:t>
            </a:r>
          </a:p>
          <a:p xmlns:a="http://schemas.openxmlformats.org/drawingml/2006/main">
            <a:r>
              <a:t>https://www.dw.com/ru/vybory-prezidenta-rossii-2024/a-68528003</a:t>
            </a:r>
          </a:p>
          <a:p xmlns:a="http://schemas.openxmlformats.org/drawingml/2006/main">
            <a:r>
              <a:t>https://ru.wikipedia.org/wiki/%D0%A5%D0%B0%D1%80%D0%B8%D1%82%D0%BE%D0%BD%D0%BE%D0%B2,_%D0%9D%D0%B8%D0%BA%D0%BE%D0%BB%D0%B0%D0%B9_%D0%9C%D0%B8%D1%85%D0%B0%D0%B9%D0%BB%D0%BE%D0%B2%D0%B8%D1%87</a:t>
            </a:r>
          </a:p>
          <a:p xmlns:a="http://schemas.openxmlformats.org/drawingml/2006/main">
            <a:r>
              <a:t>https://kprf.ru/party-live/cknews/225170.html</a:t>
            </a:r>
          </a:p>
          <a:p xmlns:a="http://schemas.openxmlformats.org/drawingml/2006/main">
            <a:r>
              <a:t>https://kprf.ru/dep/gosduma/activities/232802.html</a:t>
            </a:r>
          </a:p>
          <a:p xmlns:a="http://schemas.openxmlformats.org/drawingml/2006/main">
            <a:r>
              <a:t>https://kprf35.com/2024/02/17/32710/</a:t>
            </a:r>
          </a:p>
          <a:p xmlns:a="http://schemas.openxmlformats.org/drawingml/2006/main">
            <a:r>
              <a:t>https://www.pkokprf.ru/news/view/35448</a:t>
            </a:r>
          </a:p>
          <a:p xmlns:a="http://schemas.openxmlformats.org/drawingml/2006/main">
            <a:r>
              <a:t>https://altkprf.ru/upload/iblock/eea/jiv0wm7hzk6gq4qdxw0r5wvp7zwb6luk.pdf</a:t>
            </a:r>
          </a:p>
          <a:p xmlns:a="http://schemas.openxmlformats.org/drawingml/2006/main">
            <a:r>
              <a:t>https://kprf.ru/activity/army/224789.html</a:t>
            </a:r>
          </a:p>
          <a:p xmlns:a="http://schemas.openxmlformats.org/drawingml/2006/main">
            <a:r>
              <a:t>https://gazeta-pravda.ru/issue/24-31517-711-marta-2024-goda-/alternativa-polupravde/</a:t>
            </a:r>
          </a:p>
          <a:p xmlns:a="http://schemas.openxmlformats.org/drawingml/2006/main">
            <a:r>
              <a:t>https://spbpalata.ru/?p=13755</a:t>
            </a:r>
          </a:p>
          <a:p xmlns:a="http://schemas.openxmlformats.org/drawingml/2006/main">
            <a:r>
              <a:t>https://kprf.ru/activity/elections/171941.html</a:t>
            </a:r>
          </a:p>
          <a:p xmlns:a="http://schemas.openxmlformats.org/drawingml/2006/main">
            <a:r>
              <a:t>https://kprf.ru/party-live/cknews/171994.html</a:t>
            </a:r>
          </a:p>
          <a:p xmlns:a="http://schemas.openxmlformats.org/drawingml/2006/main">
            <a:r>
              <a:t>https://elections2018.tass.ru/candidate/grudinin</a:t>
            </a:r>
          </a:p>
          <a:p xmlns:a="http://schemas.openxmlformats.org/drawingml/2006/main">
            <a:r>
              <a:t>https://www.bbc.com/russian/features-43105617</a:t>
            </a:r>
          </a:p>
          <a:p xmlns:a="http://schemas.openxmlformats.org/drawingml/2006/main">
            <a:r>
              <a:t>https://www.rbc.ru/politics/24/07/2021/60fbe35b9a794716f25253a0</a:t>
            </a:r>
          </a:p>
          <a:p xmlns:a="http://schemas.openxmlformats.org/drawingml/2006/main">
            <a:r>
              <a:t>https://kprf.ru/dep/reg/204410.html</a:t>
            </a:r>
          </a:p>
          <a:p xmlns:a="http://schemas.openxmlformats.org/drawingml/2006/main">
            <a:r>
              <a:t>https://msk.kprf.ru/2021/09/16/168273/</a:t>
            </a:r>
          </a:p>
          <a:p xmlns:a="http://schemas.openxmlformats.org/drawingml/2006/main">
            <a:r>
              <a:t>https://svpressa.ru/persons/pavel-grudinin/</a:t>
            </a:r>
          </a:p>
          <a:p xmlns:a="http://schemas.openxmlformats.org/drawingml/2006/main">
            <a:r>
              <a:t>https://carnegieendowment.org/ru/russia-eurasia/posts/2018/02/kuda-privedut-ekonomiku-rossii-20-shagov-grudinina</a:t>
            </a:r>
          </a:p>
          <a:p xmlns:a="http://schemas.openxmlformats.org/drawingml/2006/main">
            <a:r>
              <a:t>https://www.kompas-rf.ru/2018/01/2980/</a:t>
            </a:r>
          </a:p>
          <a:p xmlns:a="http://schemas.openxmlformats.org/drawingml/2006/main">
            <a:r>
              <a:t>https://www.svoboda.org/a/30073365.html</a:t>
            </a:r>
          </a:p>
          <a:p xmlns:a="http://schemas.openxmlformats.org/drawingml/2006/main">
            <a:r>
              <a:t>https://kandidativprezidenti.ru/programma-grudinina-2018/</a:t>
            </a:r>
          </a:p>
          <a:p xmlns:a="http://schemas.openxmlformats.org/drawingml/2006/main">
            <a:r>
              <a:t>https://mbk-news.appspot.com/suzhet/za-lenina-i-protiv-ege/</a:t>
            </a:r>
          </a:p>
          <a:p xmlns:a="http://schemas.openxmlformats.org/drawingml/2006/main">
            <a:r>
              <a:t>https://www.amnesty.org/ru/latest/research/2021/06/zayavlenie-rossijskaya-federacziya-obvinitelnyj-prigovor-nikolayu-platoshkinu-dolzhen-byt-otmenyon/</a:t>
            </a:r>
          </a:p>
          <a:p xmlns:a="http://schemas.openxmlformats.org/drawingml/2006/main">
            <a:r>
              <a:t>https://zona.media/article/2021/05/20/nikolay-nikolaevitch</a:t>
            </a:r>
          </a:p>
          <a:p xmlns:a="http://schemas.openxmlformats.org/drawingml/2006/main">
            <a:r>
              <a:t>https://novayagazeta.ru/articles/2020/06/05/85705-sotsialisticheskiy-prizyv</a:t>
            </a:r>
          </a:p>
          <a:p xmlns:a="http://schemas.openxmlformats.org/drawingml/2006/main">
            <a:r>
              <a:t>https://www.revda-info.ru/2020/08/26/v-revde-poyavilos-otdelenie-dvizheniya-za-novyj-sotsializm-ego-lider-sejchas-pod-arestom</a:t>
            </a:r>
          </a:p>
          <a:p xmlns:a="http://schemas.openxmlformats.org/drawingml/2006/main">
            <a:r>
              <a:t>https://new-socialism.org/o-dvizhenii/programma/</a:t>
            </a:r>
          </a:p>
          <a:p xmlns:a="http://schemas.openxmlformats.org/drawingml/2006/main">
            <a:r>
              <a:t>https://new-socialism.org/o-dvizhenii/lider/</a:t>
            </a:r>
          </a:p>
          <a:p xmlns:a="http://schemas.openxmlformats.org/drawingml/2006/main">
            <a:r>
              <a:t>https://www.themoscowtimes.com/2024/01/19/ilya-ponomaryov-we-have-to-capture-the-kremlin-there-is-no-other-way-a83772</a:t>
            </a:r>
          </a:p>
          <a:p xmlns:a="http://schemas.openxmlformats.org/drawingml/2006/main">
            <a:r>
              <a:t>https://www.dw.com/ru/cto-izvestno-o-rossijskih-podrazdeleniah-v-sostave-vsu/a-63915634</a:t>
            </a:r>
          </a:p>
          <a:p xmlns:a="http://schemas.openxmlformats.org/drawingml/2006/main">
            <a:r>
              <a:t>https://www.svoboda.org/a/32321226.html</a:t>
            </a:r>
          </a:p>
          <a:p xmlns:a="http://schemas.openxmlformats.org/drawingml/2006/main">
            <a:r>
              <a:t>https://hromadske.ua/ru/posts/nasha-cel-moskva-my-dolzhny-sbrosit-putina-rossijskie-partizany-mif-ili-pravda</a:t>
            </a:r>
          </a:p>
          <a:p xmlns:a="http://schemas.openxmlformats.org/drawingml/2006/main">
            <a:r>
              <a:t>https://epravda.com.ua/rus/publications/2018/06/11/637572/</a:t>
            </a:r>
          </a:p>
          <a:p xmlns:a="http://schemas.openxmlformats.org/drawingml/2006/main">
            <a:r>
              <a:t>https://pointmedia.io/story/672b355fdc48800406e0f515</a:t>
            </a:r>
          </a:p>
          <a:p xmlns:a="http://schemas.openxmlformats.org/drawingml/2006/main">
            <a:r>
              <a:t>https://ru.wikipedia.org/wiki/%D0%9B%D0%B5%D0%B3%D0%B8%D0%BE%D0%BD_%C2%AB%D0%A1%D0%B2%D0%BE%D0%B1%D0%BE%D0%B4%D0%B0_%D0%A0%D0%BE%D1%81%D1%81%D0%B8%D0%B8%C2%BB</a:t>
            </a:r>
          </a:p>
          <a:p xmlns:a="http://schemas.openxmlformats.org/drawingml/2006/main">
            <a:r>
              <a:t>https://ru.wikipedia.org/wiki/%D0%9F%D0%BE%D0%BD%D0%BE%D0%BC%D0%B0%D1%80%D1%91%D0%B2,_%D0%98%D0%BB%D1%8C%D1%8F_%D0%92%D0%BB%D0%B0%D0%B4%D0%B8%D0%BC%D0%B8%D1%80%D0%BE%D0%B2%D0%B8%D1%87</a:t>
            </a:r>
          </a:p>
          <a:p xmlns:a="http://schemas.openxmlformats.org/drawingml/2006/main">
            <a:r>
              <a:t>https://russophob.ru/person/ponomarev_ilya_vladimirovich</a:t>
            </a:r>
          </a:p>
          <a:p xmlns:a="http://schemas.openxmlformats.org/drawingml/2006/main">
            <a:r>
              <a:t>https://www.svoboda.org/a/32063164.html</a:t>
            </a:r>
          </a:p>
          <a:p xmlns:a="http://schemas.openxmlformats.org/drawingml/2006/main">
            <a:r>
              <a:t>https://www.kpbs.org/news/news/international/2023/03/26/a-scrappy-newscast-in-kyiv-aimed-at-russians-counters-putins-propaganda-machine</a:t>
            </a:r>
          </a:p>
          <a:p xmlns:a="http://schemas.openxmlformats.org/drawingml/2006/main">
            <a:r>
              <a:t>https://ovd.info/express-news/2022/10/02/politik-leonid-gozman-uekhal-iz-rossii-posle-dvukh-administrativnykh</a:t>
            </a:r>
          </a:p>
          <a:p xmlns:a="http://schemas.openxmlformats.org/drawingml/2006/main">
            <a:r>
              <a:t>https://ovd.info/express-news/2022/08/30/politika-leonida-gozmana-arestovali-na-15-sutok-iz-za-posta-v-feysbuke</a:t>
            </a:r>
          </a:p>
          <a:p xmlns:a="http://schemas.openxmlformats.org/drawingml/2006/main">
            <a:r>
              <a:t>https://www.rbc.ru/politics/15/07/2022/62d1b3f39a7947299cdeb6a4</a:t>
            </a:r>
          </a:p>
          <a:p xmlns:a="http://schemas.openxmlformats.org/drawingml/2006/main">
            <a:r>
              <a:t>https://novayagazeta.eu/articles/2022/07/15/sk-doprosil-politika-leonida-gozmana-kak-podozrevaemogo-po-delu-o-neuvedomlenii-o-vtorom-grazhdanstve-news</a:t>
            </a:r>
          </a:p>
          <a:p xmlns:a="http://schemas.openxmlformats.org/drawingml/2006/main">
            <a:r>
              <a:t>https://www.rbc.ru/politics/15/02/2024/65cdc9e09a7947a2995026fa</a:t>
            </a:r>
          </a:p>
          <a:p xmlns:a="http://schemas.openxmlformats.org/drawingml/2006/main">
            <a:r>
              <a:t>https://ovd.info/express-news/2025/01/22/leonida-gozmana-i-rovshana-askerova-vnesli-v-reestr-terroristov-i</a:t>
            </a:r>
          </a:p>
          <a:p xmlns:a="http://schemas.openxmlformats.org/drawingml/2006/main">
            <a:r>
              <a:t>https://www.rbc.ru/opinion-authors/gozman</a:t>
            </a:r>
          </a:p>
          <a:p xmlns:a="http://schemas.openxmlformats.org/drawingml/2006/main">
            <a:r>
              <a:t>https://novayagazeta.eu/articles/2022/07/25/ovd-info-v-moskve-zaderzhali-politika-leonida-gozmana-news</a:t>
            </a:r>
          </a:p>
          <a:p xmlns:a="http://schemas.openxmlformats.org/drawingml/2006/main">
            <a:r>
              <a:t>https://gefter.ru/archive/23487</a:t>
            </a:r>
          </a:p>
          <a:p xmlns:a="http://schemas.openxmlformats.org/drawingml/2006/main">
            <a:r>
              <a:t>https://www.svoboda.org/a/31147156.html</a:t>
            </a:r>
          </a:p>
          <a:p xmlns:a="http://schemas.openxmlformats.org/drawingml/2006/main">
            <a:r>
              <a:t>https://uatv.ua/gozman-putin-zagnal-rossiyu-v-ugol-sleduyushhij-shag-repressii/</a:t>
            </a:r>
          </a:p>
          <a:p xmlns:a="http://schemas.openxmlformats.org/drawingml/2006/main">
            <a:r>
              <a:t>https://echofm.online/programs/hochu-skazat/hochu-skazat-odin-protiv-vseh-kak-ne-dat-strahu-pobedit-sebya</a:t>
            </a:r>
          </a:p>
          <a:p xmlns:a="http://schemas.openxmlformats.org/drawingml/2006/main">
            <a:r>
              <a:t>https://www.svoboda.org/a/leonid-gozman-russkih-lyudey-neljzya-mazatj-odnoy-chernoy-kraskoy-/32732625.html</a:t>
            </a:r>
          </a:p>
          <a:p xmlns:a="http://schemas.openxmlformats.org/drawingml/2006/main">
            <a:r>
              <a:t>https://novayagazeta.eu/articles/2022/07/18/prepiatstvovat-prosveshcheniiu-liudei-vlast-budet-pulemiotami</a:t>
            </a:r>
          </a:p>
          <a:p xmlns:a="http://schemas.openxmlformats.org/drawingml/2006/main">
            <a:r>
              <a:t>https://www.svoboda.org/a/29652429.html</a:t>
            </a:r>
          </a:p>
          <a:p xmlns:a="http://schemas.openxmlformats.org/drawingml/2006/main">
            <a:r>
              <a:t>https://novayagazeta.eu/articles/2022/04/26/nesobliudenie-rezhima</a:t>
            </a:r>
          </a:p>
          <a:p xmlns:a="http://schemas.openxmlformats.org/drawingml/2006/main">
            <a:r>
              <a:t>https://novayagazeta.eu/articles/2022/07/21/zapiski-ugolovnika</a:t>
            </a:r>
          </a:p>
          <a:p xmlns:a="http://schemas.openxmlformats.org/drawingml/2006/main">
            <a:r>
              <a:t>https://novayagazeta.ru/authors/2349</a:t>
            </a:r>
          </a:p>
          <a:p xmlns:a="http://schemas.openxmlformats.org/drawingml/2006/main">
            <a:r>
              <a:t>https://www.rbc.ru/politics/10/08/2017/598c8d6d9a79474cff05cbab</a:t>
            </a:r>
          </a:p>
          <a:p xmlns:a="http://schemas.openxmlformats.org/drawingml/2006/main">
            <a:r>
              <a:t>https://www.bbc.com/russian/news-40853405</a:t>
            </a:r>
          </a:p>
          <a:p xmlns:a="http://schemas.openxmlformats.org/drawingml/2006/main">
            <a:r>
              <a:t>https://www.rbc.ru/politics/10/08/2017/598c0a8e9a7947569574ba10?from=right_column_materials_1</a:t>
            </a:r>
          </a:p>
          <a:p xmlns:a="http://schemas.openxmlformats.org/drawingml/2006/main">
            <a:r>
              <a:t>https://www.vedomosti.ru/politics/articles/2017/08/10/728820-udaltsov</a:t>
            </a:r>
          </a:p>
          <a:p xmlns:a="http://schemas.openxmlformats.org/drawingml/2006/main">
            <a:r>
              <a:t>https://www.interfax.ru/elections2018/598382</a:t>
            </a:r>
          </a:p>
          <a:p xmlns:a="http://schemas.openxmlformats.org/drawingml/2006/main">
            <a:r>
              <a:t>https://sotaproject.com/article/sergeia-udaltsova-opiat-pytaiutsia-posadit-khotia-on-vsego-lish-prosit-putina-postroit-sotsializm</a:t>
            </a:r>
          </a:p>
          <a:p xmlns:a="http://schemas.openxmlformats.org/drawingml/2006/main">
            <a:r>
              <a:t>https://www.gazeta.ru/tags/person/sergei_udaltsov.shtml</a:t>
            </a:r>
          </a:p>
          <a:p xmlns:a="http://schemas.openxmlformats.org/drawingml/2006/main">
            <a:r>
              <a:t>https://www.kommersant.ru/doc/8317316</a:t>
            </a:r>
          </a:p>
          <a:p xmlns:a="http://schemas.openxmlformats.org/drawingml/2006/main">
            <a:r>
              <a:t>https://www.kommersant.ru/doc/8972418</a:t>
            </a:r>
          </a:p>
          <a:p xmlns:a="http://schemas.openxmlformats.org/drawingml/2006/main">
            <a:r>
              <a:t>https://holod.media/2023/09/12/udaltsov-interview/</a:t>
            </a:r>
          </a:p>
          <a:p xmlns:a="http://schemas.openxmlformats.org/drawingml/2006/main">
            <a:r>
              <a:t>https://meduza.io/feature/2024/01/11/sergey-udaltsov-zaderzhan-po-obvineniyu-v-opravdanii-terrorizma</a:t>
            </a:r>
          </a:p>
          <a:p xmlns:a="http://schemas.openxmlformats.org/drawingml/2006/main">
            <a:r>
              <a:t>https://ref-book.sova-center.ru/index.php/%D0%94%D1%80%D1%83%D0%B3%D0%B0%D1%8F_%D0%A0%D0%BE%D1%81%D1%81%D0%B8%D1%8F,_%D0%BF%D0%B0%D1%80%D1%82%D0%B8%D1%8F</a:t>
            </a:r>
          </a:p>
          <a:p xmlns:a="http://schemas.openxmlformats.org/drawingml/2006/main">
            <a:r>
              <a:t>https://www.rbc.ru/society/17/03/2020/5e71048d9a79473925ab81a7</a:t>
            </a:r>
          </a:p>
          <a:p xmlns:a="http://schemas.openxmlformats.org/drawingml/2006/main">
            <a:r>
              <a:t>https://rt.rbc.ru/society/18/03/2020/5e71acc49a794773553f824e</a:t>
            </a:r>
          </a:p>
          <a:p xmlns:a="http://schemas.openxmlformats.org/drawingml/2006/main">
            <a:r>
              <a:t>https://www.bostonglobe.com/metro/obituaries/2020/03/18/russian-author-political-activist-eduard-limonov-dies/jnjHywBRjVTTgnlsqI12vN/story.html</a:t>
            </a:r>
          </a:p>
          <a:p xmlns:a="http://schemas.openxmlformats.org/drawingml/2006/main">
            <a:r>
              <a:t>https://nsn.fm/society/poslednee-intervu-pisatelya-i-politika-eduarda-limonova</a:t>
            </a:r>
          </a:p>
          <a:p xmlns:a="http://schemas.openxmlformats.org/drawingml/2006/main">
            <a:r>
              <a:t>http://www.grso.ru/person/limonov-eduard.html</a:t>
            </a:r>
          </a:p>
          <a:p xmlns:a="http://schemas.openxmlformats.org/drawingml/2006/main">
            <a:r>
              <a:t>https://ru.wikipedia.org/wiki/%D0%94%D1%80%D1%83%D0%B3%D0%B0%D1%8F_%D0%A0%D0%BE%D1%81%D1%81%D0%B8%D1%8F_%D0%AD._%D0%92._%D0%9B%D0%B8%D0%BC%D0%BE%D0%BD%D0%BE%D0%B2%D0%B0</a:t>
            </a:r>
          </a:p>
          <a:p xmlns:a="http://schemas.openxmlformats.org/drawingml/2006/main">
            <a:r>
              <a:t>https://novayagazeta.ru/articles/2017/03/12/71752-puteshestvie-natsbolov-k-putinu-i-obratno</a:t>
            </a:r>
          </a:p>
          <a:p xmlns:a="http://schemas.openxmlformats.org/drawingml/2006/main">
            <a:r>
              <a:t>https://mediabrest.by/news/lyudi/umer-eduard-limonov-chem-zapomnilsya-pisatel</a:t>
            </a:r>
          </a:p>
          <a:p xmlns:a="http://schemas.openxmlformats.org/drawingml/2006/main">
            <a:r>
              <a:t>https://www.limonow.de/read/EL_2013-2018_T.html</a:t>
            </a:r>
          </a:p>
          <a:p xmlns:a="http://schemas.openxmlformats.org/drawingml/2006/main">
            <a:r>
              <a:t>https://www.infpol.ru/203662-ot-ubezhdennogo-antisovetchika-do-kolumnista-rt/</a:t>
            </a:r>
          </a:p>
          <a:p xmlns:a="http://schemas.openxmlformats.org/drawingml/2006/main">
            <a:r>
              <a:t>https://www.bbc.com/russian/articles/c2eg90d7gg9o</a:t>
            </a:r>
          </a:p>
          <a:p xmlns:a="http://schemas.openxmlformats.org/drawingml/2006/main">
            <a:r>
              <a:t>https://www.dw.com/ru/mosgorsud-prigovoril-igora-girkina-strelkova-k-4-godam-kolonii/a-68080937</a:t>
            </a:r>
          </a:p>
          <a:p xmlns:a="http://schemas.openxmlformats.org/drawingml/2006/main">
            <a:r>
              <a:t>https://www.fontanka.ru/2023/07/21/72520253</a:t>
            </a:r>
          </a:p>
          <a:p xmlns:a="http://schemas.openxmlformats.org/drawingml/2006/main">
            <a:r>
              <a:t>https://www.svoboda.org/a/strelkov-iz-sizo-opasayusj-amnistii-kak-u-prigozhina-/32722083.html</a:t>
            </a:r>
          </a:p>
          <a:p xmlns:a="http://schemas.openxmlformats.org/drawingml/2006/main">
            <a:r>
              <a:t>https://ru.themoscowtimes.com/2023/12/07/girkin-zayavil-chto-opasaetsya-povtorit-sudbu-prigozhina-a115592</a:t>
            </a:r>
          </a:p>
          <a:p xmlns:a="http://schemas.openxmlformats.org/drawingml/2006/main">
            <a:r>
              <a:t>https://ru.krymr.com/a/boing-mn17-10-let-podozrevayemyye-obvinyayemyye-vinovnyye/33040170.html</a:t>
            </a:r>
          </a:p>
          <a:p xmlns:a="http://schemas.openxmlformats.org/drawingml/2006/main">
            <a:r>
              <a:t>https://charter97.org/ru/news/2023/7/22/556802/</a:t>
            </a:r>
          </a:p>
          <a:p xmlns:a="http://schemas.openxmlformats.org/drawingml/2006/main">
            <a:r>
              <a:t>https://t.me/s/pgubarev?after=622</a:t>
            </a:r>
          </a:p>
          <a:p xmlns:a="http://schemas.openxmlformats.org/drawingml/2006/main">
            <a:r>
              <a:t>https://rabkor.ru/columns/debates/2023/05/23/angry_patriots_of_an_imaginary_country/</a:t>
            </a:r>
          </a:p>
          <a:p xmlns:a="http://schemas.openxmlformats.org/drawingml/2006/main">
            <a:r>
              <a:t>https://www.bbc.com/news/world-60947877</a:t>
            </a:r>
          </a:p>
          <a:p xmlns:a="http://schemas.openxmlformats.org/drawingml/2006/main">
            <a:r>
              <a:t>https://www.reuters.com/world/europe/russian-mercenary-boss-courts-putin-with-ukrainian-battlefield-success-2023-01-13/</a:t>
            </a:r>
          </a:p>
          <a:p xmlns:a="http://schemas.openxmlformats.org/drawingml/2006/main">
            <a:r>
              <a:t>https://www.reuters.com/world/europe/russias-wagner-mercenaries-halt-prisoner-recruitment-campaign-founder-prigozhin-2023-02-09/</a:t>
            </a:r>
          </a:p>
          <a:p xmlns:a="http://schemas.openxmlformats.org/drawingml/2006/main">
            <a:r>
              <a:t>https://www.reuters.com/investigates/special-report/ukraine-crisis-russia-wagner/</a:t>
            </a:r>
          </a:p>
          <a:p xmlns:a="http://schemas.openxmlformats.org/drawingml/2006/main">
            <a:r>
              <a:t>https://www.reuters.com/world/europe/russias-wagner-chief-prigozhin-says-ukraine-counteroffensive-already-under-way-2023-05-03/</a:t>
            </a:r>
          </a:p>
          <a:p xmlns:a="http://schemas.openxmlformats.org/drawingml/2006/main">
            <a:r>
              <a:t>https://www.bbc.com/russian/media-66023357</a:t>
            </a:r>
          </a:p>
          <a:p xmlns:a="http://schemas.openxmlformats.org/drawingml/2006/main">
            <a:r>
              <a:t>https://www.reuters.com/world/europe/russias-prigozhin-his-own-words-mutiny-2023-06-26/</a:t>
            </a:r>
          </a:p>
          <a:p xmlns:a="http://schemas.openxmlformats.org/drawingml/2006/main">
            <a:r>
              <a:t>https://x.com/Reuters/status/1632709213641113601</a:t>
            </a:r>
          </a:p>
          <a:p xmlns:a="http://schemas.openxmlformats.org/drawingml/2006/main">
            <a:r>
              <a:t>https://www.reuters.com/world/europe/russian-mercenary-boss-says-moscows-war-ukraine-based-lies-2023-06-23/</a:t>
            </a:r>
          </a:p>
          <a:p xmlns:a="http://schemas.openxmlformats.org/drawingml/2006/main">
            <a:r>
              <a:t>https://www.rbc.ru/spb_sz/02/10/2026/6abfb91afd4c7ff957d9cbe8</a:t>
            </a:r>
          </a:p>
          <a:p xmlns:a="http://schemas.openxmlformats.org/drawingml/2006/main">
            <a:r>
              <a:t>https://www.zaks.ru/new/person/view/639</a:t>
            </a:r>
          </a:p>
          <a:p xmlns:a="http://schemas.openxmlformats.org/drawingml/2006/main">
            <a:r>
              <a:t>https://www.zaks.ru/new/archive/view/219520</a:t>
            </a:r>
          </a:p>
          <a:p xmlns:a="http://schemas.openxmlformats.org/drawingml/2006/main">
            <a:r>
              <a:t>https://tvspb.ru/news/2016/09/27/novyij-sostav-parlamenta-kto-zajmet-kresla-v-zakonodatelnom-sobranii-vi-sozyiva</a:t>
            </a:r>
          </a:p>
          <a:p xmlns:a="http://schemas.openxmlformats.org/drawingml/2006/main">
            <a:r>
              <a:t>https://tass.ru/politika/20994233</a:t>
            </a:r>
          </a:p>
          <a:p xmlns:a="http://schemas.openxmlformats.org/drawingml/2006/main">
            <a:r>
              <a:t>https://www.zaks.ru/new/archive/view/265712</a:t>
            </a:r>
          </a:p>
          <a:p xmlns:a="http://schemas.openxmlformats.org/drawingml/2006/main">
            <a:r>
              <a:t>https://www.zaks.ru/new/archive/view/269374</a:t>
            </a:r>
          </a:p>
          <a:p xmlns:a="http://schemas.openxmlformats.org/drawingml/2006/main">
            <a:r>
              <a:t>https://www.dp.ru/a/2026/10/02/oksana-dmitrieva-proigrala</a:t>
            </a:r>
          </a:p>
          <a:p xmlns:a="http://schemas.openxmlformats.org/drawingml/2006/main">
            <a:r>
              <a:t>https://ru.wikipedia.org/wiki/%D0%9F%D0%B0%D1%80%D1%82%D0%B8%D1%8F_%D1%80%D0%BE%D1%81%D1%82%D0%B0</a:t>
            </a:r>
          </a:p>
          <a:p xmlns:a="http://schemas.openxmlformats.org/drawingml/2006/main">
            <a:r>
              <a:t>https://dmitrieva.org/category/gosduma/zakonoproekty/</a:t>
            </a:r>
          </a:p>
          <a:p xmlns:a="http://schemas.openxmlformats.org/drawingml/2006/main">
            <a:r>
              <a:t>https://t.me/s/oxdmitrieva?before=1072</a:t>
            </a:r>
          </a:p>
          <a:p xmlns:a="http://schemas.openxmlformats.org/drawingml/2006/main">
            <a:r>
              <a:t>http://api.duma.gov.ru/api/transcriptFull/2023-09-28</a:t>
            </a:r>
          </a:p>
          <a:p xmlns:a="http://schemas.openxmlformats.org/drawingml/2006/main">
            <a:r>
              <a:t>https://www.fontanka.ru/2026/09/04/76623983/</a:t>
            </a:r>
          </a:p>
          <a:p xmlns:a="http://schemas.openxmlformats.org/drawingml/2006/main">
            <a:r>
              <a:t>https://www.vedomosti.ru/politics/articles/2026/03/10/1181644-deputat-semi-sozivov-oksana-dmitrieva-snova-poidet-v-gosdumu</a:t>
            </a:r>
          </a:p>
          <a:p xmlns:a="http://schemas.openxmlformats.org/drawingml/2006/main">
            <a:r>
              <a:t>https://www.kommersant.ru/doc/8497588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Рассчитанное пространство публичных политических образов российских политиков и заметных акторов за 2016–2026 годы структурировано по двум главным осям: первая противопоставляет антивоенную, оппозиционную и электорально-легитимистскую риторику — антизападной мобилизации, суверенитету и поддержке административного порядка; вторая различает институционально-коллективные и партийные стратегии — и конфронтационно-персонализированные, протестные стили публичности.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Выделено три кластера, для которых проверена устойчивость при фиксированных факторных координатах: группа институциональной поддержки курса и партийной централизации, антивоенная оппозиция с акцентом на электоральную легитимность и международную интеграцию, а также конфронтационная мобилизация с персонализированным стилем и протестной стратегией. Основные противопоставления проходят по линиям отношения к власти, способам легитимации, формам публичной риторики и организационной структуре.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Модель позволяет выявить устойчивые сочетания публичных позиций, риторических акцентов и стратегий действия, но не устанавливает причинно-следственных связей между ними. Она не даёт оснований для выводов о личных свойствах, электоральной поддержке или мотивах участников, а также не позволяет судить о распространённости тех или иных позиций в обществе в целом.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Ограничения анализа связаны с разведочным характером исследования, приближённостью линейной факторной модели к порядковым оценкам и условностью кластеризации. Группы могут возникать и в непрерывном пространстве, а устойчивость кластеров не гарантирует полноты охвата всех возможных публичных стратегий.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Интерпретация опирается только на реально выраженные и агрегированные свойства публичных образов, без привязки к партийным ярлыкам или именам. Не все возможные сочетания представлены в выборке, и модель не фиксирует статистическую значимость различий или их причинность.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Пограничных профилей: 3 из 63. Их свойства могут сочетать признаки нескольких групп.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Незаполненный сектор означает отсутствие такого профиля в выбранной выборке и корпусе. Международное сравнение требует единого словаря и сопоставимого отбора.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Числа: metadata.json, scores.csv, loadings.csv и утверждённая матрица оценок.</a:t>
            </a:r>
          </a:p>
          <a:p xmlns:a="http://schemas.openxmlformats.org/drawingml/2006/main">
            <a:r>
              <a:t>Изучаемое пространство: Публичный политический образ российских политиков и иных заметных политических акторов, включая деятелей за рубежом, активных хотя бы в части периода. Не рейтинг популярности..</a:t>
            </a:r>
          </a:p>
          <a:p xmlns:a="http://schemas.openxmlformats.org/drawingml/2006/main">
            <a:r>
              <a:t>Оценщик: llm_exploratory.</a:t>
            </a:r>
          </a:p>
          <a:p xmlns:a="http://schemas.openxmlformats.org/drawingml/2006/main">
            <a:r>
              <a:t>Исходные URL:</a:t>
            </a:r>
          </a:p>
          <a:p xmlns:a="http://schemas.openxmlformats.org/drawingml/2006/main">
            <a:r>
              <a:t>https://kremlin.ru/structure/president</a:t>
            </a:r>
          </a:p>
          <a:p xmlns:a="http://schemas.openxmlformats.org/drawingml/2006/main">
            <a:r>
              <a:t>http://www.special.kremlin.ru/events/president/transcripts/67843</a:t>
            </a:r>
          </a:p>
          <a:p xmlns:a="http://schemas.openxmlformats.org/drawingml/2006/main">
            <a:r>
              <a:t>http://en.kremlin.ru/events/president/news/70315</a:t>
            </a:r>
          </a:p>
          <a:p xmlns:a="http://schemas.openxmlformats.org/drawingml/2006/main">
            <a:r>
              <a:t>http://special.kremlin.ru/events/president/transcripts/70565</a:t>
            </a:r>
          </a:p>
          <a:p xmlns:a="http://schemas.openxmlformats.org/drawingml/2006/main">
            <a:r>
              <a:t>http://special.kremlin.ru/events/president/transcripts/72994</a:t>
            </a:r>
          </a:p>
          <a:p xmlns:a="http://schemas.openxmlformats.org/drawingml/2006/main">
            <a:r>
              <a:t>http://kremlin.ru/events/president/news/73585</a:t>
            </a:r>
          </a:p>
          <a:p xmlns:a="http://schemas.openxmlformats.org/drawingml/2006/main">
            <a:r>
              <a:t>http://special.kremlin.ru/events/president/transcripts/75762</a:t>
            </a:r>
          </a:p>
          <a:p xmlns:a="http://schemas.openxmlformats.org/drawingml/2006/main">
            <a:r>
              <a:t>http://www.special.kremlin.ru/events/president/transcripts/76899</a:t>
            </a:r>
          </a:p>
          <a:p xmlns:a="http://schemas.openxmlformats.org/drawingml/2006/main">
            <a:r>
              <a:t>http://special.kremlin.ru/events/president/transcripts/80017</a:t>
            </a:r>
          </a:p>
          <a:p xmlns:a="http://schemas.openxmlformats.org/drawingml/2006/main">
            <a:r>
              <a:t>http://www.special.kremlin.ru/events/president/transcripts/72084</a:t>
            </a:r>
          </a:p>
          <a:p xmlns:a="http://schemas.openxmlformats.org/drawingml/2006/main">
            <a:r>
              <a:t>http://www.special.kremlin.ru/events/president/transcripts/80172</a:t>
            </a:r>
          </a:p>
          <a:p xmlns:a="http://schemas.openxmlformats.org/drawingml/2006/main">
            <a:r>
              <a:t>https://www.diva-portal.org/smash/get/diva2:2035197/FULLTEXT01.pdf</a:t>
            </a:r>
          </a:p>
          <a:p xmlns:a="http://schemas.openxmlformats.org/drawingml/2006/main">
            <a:r>
              <a:t>https://www.reuters.com/world/what-know-about-russias-upcoming-parliamentary-election-2026-09-15/</a:t>
            </a:r>
          </a:p>
          <a:p xmlns:a="http://schemas.openxmlformats.org/drawingml/2006/main">
            <a:r>
              <a:t>https://www.reuters.com/world/europe/how-putin-may-leverage-predictable-outcome-russias-elections-2026-09-18/</a:t>
            </a:r>
          </a:p>
          <a:p xmlns:a="http://schemas.openxmlformats.org/drawingml/2006/main">
            <a:r>
              <a:t>https://ru.wikipedia.org/wiki/Медведев,_Дмитрий_Анатольевич</a:t>
            </a:r>
          </a:p>
          <a:p xmlns:a="http://schemas.openxmlformats.org/drawingml/2006/main">
            <a:r>
              <a:t>https://tass.ru/ekonomika/3941450</a:t>
            </a:r>
          </a:p>
          <a:p xmlns:a="http://schemas.openxmlformats.org/drawingml/2006/main">
            <a:r>
              <a:t>http://archive.government.ru/docs/21653/print/</a:t>
            </a:r>
          </a:p>
          <a:p xmlns:a="http://schemas.openxmlformats.org/drawingml/2006/main">
            <a:r>
              <a:t>https://netfreedom.org.ua/ru/dmytro-anatoliiovych-medvediev-biohrafiia-posady-i-sanktsii/</a:t>
            </a:r>
          </a:p>
          <a:p xmlns:a="http://schemas.openxmlformats.org/drawingml/2006/main">
            <a:r>
              <a:t>https://verstka.media/czeli-svo-kak-kreml-menyal-ih-na-protyazhenii-tryoh-let-vojny</a:t>
            </a:r>
          </a:p>
          <a:p xmlns:a="http://schemas.openxmlformats.org/drawingml/2006/main">
            <a:r>
              <a:t>http://www.scrf.gov.ru/news/allnews/3820/</a:t>
            </a:r>
          </a:p>
          <a:p xmlns:a="http://schemas.openxmlformats.org/drawingml/2006/main">
            <a:r>
              <a:t>http://scrf.gov.ru/news/allnews/3837/</a:t>
            </a:r>
          </a:p>
          <a:p xmlns:a="http://schemas.openxmlformats.org/drawingml/2006/main">
            <a:r>
              <a:t>https://baike.baidu.com/ru/item/%D0%94%D0%BC%D0%B8%D1%82%D1%80%D0%B8%D0%B9%20%D0%90%D0%BD%D0%B0%D1%82%D0%BE%D0%BB%D1%8C%D0%B5%D0%B2%D0%B8%D1%87%20%D0%9C%D0%B5%D0%B4%D0%B2%D0%B5%D0%B4%D0%B5%D0%B2/3254451</a:t>
            </a:r>
          </a:p>
          <a:p xmlns:a="http://schemas.openxmlformats.org/drawingml/2006/main">
            <a:r>
              <a:t>https://tass.ru/politika/5889577</a:t>
            </a:r>
          </a:p>
          <a:p xmlns:a="http://schemas.openxmlformats.org/drawingml/2006/main">
            <a:r>
              <a:t>https://meduza.io/feature/2023/06/26/chto-proizoshlo-s-dmitriem-medvedevym</a:t>
            </a:r>
          </a:p>
          <a:p xmlns:a="http://schemas.openxmlformats.org/drawingml/2006/main">
            <a:r>
              <a:t>https://www.bbc.com/russian/articles/c6evw7d22lv0o</a:t>
            </a:r>
          </a:p>
          <a:p xmlns:a="http://schemas.openxmlformats.org/drawingml/2006/main">
            <a:r>
              <a:t>https://er.ru/activity/news/dmitrij-medvedev-edinaya-rossiya-ne-dopustit-razrusheniya-cennostnyh-osnov-strany</a:t>
            </a:r>
          </a:p>
          <a:p xmlns:a="http://schemas.openxmlformats.org/drawingml/2006/main">
            <a:r>
              <a:t>https://en.wikipedia.org/wiki/Media_freedom_in_Russia</a:t>
            </a:r>
          </a:p>
          <a:p xmlns:a="http://schemas.openxmlformats.org/drawingml/2006/main">
            <a:r>
              <a:t>https://government.ru/gov/persons/151/travel/?area=KHA</a:t>
            </a:r>
          </a:p>
          <a:p xmlns:a="http://schemas.openxmlformats.org/drawingml/2006/main">
            <a:r>
              <a:t>http://government.ru/gov/persons/151/biography/</a:t>
            </a:r>
          </a:p>
          <a:p xmlns:a="http://schemas.openxmlformats.org/drawingml/2006/main">
            <a:r>
              <a:t>https://www.reuters.com/world/europe/who-is-russias-mikhail-mishustin-2024-05-10/</a:t>
            </a:r>
          </a:p>
          <a:p xmlns:a="http://schemas.openxmlformats.org/drawingml/2006/main">
            <a:r>
              <a:t>https://www.kommersant.ru/doc/4220798</a:t>
            </a:r>
          </a:p>
          <a:p xmlns:a="http://schemas.openxmlformats.org/drawingml/2006/main">
            <a:r>
              <a:t>https://www.vedomosti.ru/politics/galleries/2026/03/03/1179718-nalogi-pod-kontrolem</a:t>
            </a:r>
          </a:p>
          <a:p xmlns:a="http://schemas.openxmlformats.org/drawingml/2006/main">
            <a:r>
              <a:t>http://government.ru/gov/persons/151/travel/?page=5</a:t>
            </a:r>
          </a:p>
          <a:p xmlns:a="http://schemas.openxmlformats.org/drawingml/2006/main">
            <a:r>
              <a:t>http://government.ru/news/46476/</a:t>
            </a:r>
          </a:p>
          <a:p xmlns:a="http://schemas.openxmlformats.org/drawingml/2006/main">
            <a:r>
              <a:t>http://government.ru/news/52063/</a:t>
            </a:r>
          </a:p>
          <a:p xmlns:a="http://schemas.openxmlformats.org/drawingml/2006/main">
            <a:r>
              <a:t>http://government.ru/news/52851/</a:t>
            </a:r>
          </a:p>
          <a:p xmlns:a="http://schemas.openxmlformats.org/drawingml/2006/main">
            <a:r>
              <a:t>https://nangs.org/news/society/kabmin-privlek-otdelnye-gosorgany-k-ukrepleniyu-traditsionnykh-tsennostej</a:t>
            </a:r>
          </a:p>
          <a:p xmlns:a="http://schemas.openxmlformats.org/drawingml/2006/main">
            <a:r>
              <a:t>http://government.ru/news/57315/</a:t>
            </a:r>
          </a:p>
          <a:p xmlns:a="http://schemas.openxmlformats.org/drawingml/2006/main">
            <a:r>
              <a:t>https://www.rbc.ru/person/617bf30d9a7947f92ee2d266</a:t>
            </a:r>
          </a:p>
          <a:p xmlns:a="http://schemas.openxmlformats.org/drawingml/2006/main">
            <a:r>
              <a:t>https://mid.ru/ru/press_service/video/view/1848395/</a:t>
            </a:r>
          </a:p>
          <a:p xmlns:a="http://schemas.openxmlformats.org/drawingml/2006/main">
            <a:r>
              <a:t>https://mid.ru/ru/foreign_policy/international_organizations/1932076/</a:t>
            </a:r>
          </a:p>
          <a:p xmlns:a="http://schemas.openxmlformats.org/drawingml/2006/main">
            <a:r>
              <a:t>https://mid.ru/ru/press_service/minister_speeches/1991476/</a:t>
            </a:r>
          </a:p>
          <a:p xmlns:a="http://schemas.openxmlformats.org/drawingml/2006/main">
            <a:r>
              <a:t>https://www.mid.ru/ru/press_service/vizity-ministra/1922112/</a:t>
            </a:r>
          </a:p>
          <a:p xmlns:a="http://schemas.openxmlformats.org/drawingml/2006/main">
            <a:r>
              <a:t>https://www.mid.ru/ru/foreign_policy/news/1927568/</a:t>
            </a:r>
          </a:p>
          <a:p xmlns:a="http://schemas.openxmlformats.org/drawingml/2006/main">
            <a:r>
              <a:t>https://mid.ru/ru/foreign_policy/news/1912973/</a:t>
            </a:r>
          </a:p>
          <a:p xmlns:a="http://schemas.openxmlformats.org/drawingml/2006/main">
            <a:r>
              <a:t>https://www.reuters.com/world/europe/russias-lavrov-says-moscow-committed-us-proposals-peace-rejects-europes-2026-06-15/</a:t>
            </a:r>
          </a:p>
          <a:p xmlns:a="http://schemas.openxmlformats.org/drawingml/2006/main">
            <a:r>
              <a:t>https://www.reuters.com/world/lavrov-says-russia-is-ready-resume-talks-with-ukraine-point-where-they-left-off-2026-06-23/</a:t>
            </a:r>
          </a:p>
          <a:p xmlns:a="http://schemas.openxmlformats.org/drawingml/2006/main">
            <a:r>
              <a:t>https://mid.ru/ru/press_service/video/view/1799184/</a:t>
            </a:r>
          </a:p>
          <a:p xmlns:a="http://schemas.openxmlformats.org/drawingml/2006/main">
            <a:r>
              <a:t>https://en.wikipedia.org/wiki/Sergey_Lavrov</a:t>
            </a:r>
          </a:p>
          <a:p xmlns:a="http://schemas.openxmlformats.org/drawingml/2006/main">
            <a:r>
              <a:t>https://www.garant.ru/products/ipo/prime/doc/70627660/</a:t>
            </a:r>
          </a:p>
          <a:p xmlns:a="http://schemas.openxmlformats.org/drawingml/2006/main">
            <a:r>
              <a:t>https://www.rbc.ru/person/617fc0679a794761d6170b80</a:t>
            </a:r>
          </a:p>
          <a:p xmlns:a="http://schemas.openxmlformats.org/drawingml/2006/main">
            <a:r>
              <a:t>http://www.kremlin.ru/acts/bank/50544</a:t>
            </a:r>
          </a:p>
          <a:p xmlns:a="http://schemas.openxmlformats.org/drawingml/2006/main">
            <a:r>
              <a:t>http://special.kremlin.ru/events/president/news/74019</a:t>
            </a:r>
          </a:p>
          <a:p xmlns:a="http://schemas.openxmlformats.org/drawingml/2006/main">
            <a:r>
              <a:t>https://www.interfax.ru/russia/960081</a:t>
            </a:r>
          </a:p>
          <a:p xmlns:a="http://schemas.openxmlformats.org/drawingml/2006/main">
            <a:r>
              <a:t>https://www.rbc.ru/politics/21/09/2022/632ab17c9a794781413c8582</a:t>
            </a:r>
          </a:p>
          <a:p xmlns:a="http://schemas.openxmlformats.org/drawingml/2006/main">
            <a:r>
              <a:t>https://www.bbc.com/russian/articles/c72p0jq04gjo</a:t>
            </a:r>
          </a:p>
          <a:p xmlns:a="http://schemas.openxmlformats.org/drawingml/2006/main">
            <a:r>
              <a:t>https://meduza.io/feature/2024/05/12/putin-uvolil-shoygu-s-posta-ministra-oborony-i-perevel-v-sovbez</a:t>
            </a:r>
          </a:p>
          <a:p xmlns:a="http://schemas.openxmlformats.org/drawingml/2006/main">
            <a:r>
              <a:t>https://paodkb.org/events/sergey-shoygu-naznachen-sekretarem-soveta-bezopasnosti-rf</a:t>
            </a:r>
          </a:p>
          <a:p xmlns:a="http://schemas.openxmlformats.org/drawingml/2006/main">
            <a:r>
              <a:t>https://base.garant.ru/409005084/</a:t>
            </a:r>
          </a:p>
          <a:p xmlns:a="http://schemas.openxmlformats.org/drawingml/2006/main">
            <a:r>
              <a:t>http://special.kremlin.ru/supplement/6345</a:t>
            </a:r>
          </a:p>
          <a:p xmlns:a="http://schemas.openxmlformats.org/drawingml/2006/main">
            <a:r>
              <a:t>http://en.kremlin.ru/supplement/6345</a:t>
            </a:r>
          </a:p>
          <a:p xmlns:a="http://schemas.openxmlformats.org/drawingml/2006/main">
            <a:r>
              <a:t>https://www.kp.ru/daily/27656.5/5040576/</a:t>
            </a:r>
          </a:p>
          <a:p xmlns:a="http://schemas.openxmlformats.org/drawingml/2006/main">
            <a:r>
              <a:t>https://www.fontanka.ru/2025/06/10/75574928/</a:t>
            </a:r>
          </a:p>
          <a:p xmlns:a="http://schemas.openxmlformats.org/drawingml/2006/main">
            <a:r>
              <a:t>https://tass.ru/politika/25506737</a:t>
            </a:r>
          </a:p>
          <a:p xmlns:a="http://schemas.openxmlformats.org/drawingml/2006/main">
            <a:r>
              <a:t>https://www.rbc.ru/person/6181419c9a7947df128a22f7</a:t>
            </a:r>
          </a:p>
          <a:p xmlns:a="http://schemas.openxmlformats.org/drawingml/2006/main">
            <a:r>
              <a:t>https://www.rbc.ru/economics/31/05/2021/60b3de5d9a7947f2883f7aa0</a:t>
            </a:r>
          </a:p>
          <a:p xmlns:a="http://schemas.openxmlformats.org/drawingml/2006/main">
            <a:r>
              <a:t>https://www.rbc.ru/politics/13/05/2024/6641109a9a7947ab8eebcf7f</a:t>
            </a:r>
          </a:p>
          <a:p xmlns:a="http://schemas.openxmlformats.org/drawingml/2006/main">
            <a:r>
              <a:t>https://www.rbc.ru/business/13/06/2023/6482d3389a79473805ee8978</a:t>
            </a:r>
          </a:p>
          <a:p xmlns:a="http://schemas.openxmlformats.org/drawingml/2006/main">
            <a:r>
              <a:t>https://thebell.io/kuda-vedet-ekonomiku-andrej-belousov-zagadki-dmitriya-medvedeva-i-sposoby-perezhit-sanktsii</a:t>
            </a:r>
          </a:p>
          <a:p xmlns:a="http://schemas.openxmlformats.org/drawingml/2006/main">
            <a:r>
              <a:t>https://72.ru/text/politics/2024/05/14/73575386/</a:t>
            </a:r>
          </a:p>
          <a:p xmlns:a="http://schemas.openxmlformats.org/drawingml/2006/main">
            <a:r>
              <a:t>https://tass.ru/armiya-i-opk/22683223</a:t>
            </a:r>
          </a:p>
          <a:p xmlns:a="http://schemas.openxmlformats.org/drawingml/2006/main">
            <a:r>
              <a:t>https://www.rbc.ru/society/12/12/2017/5a2f9b5a9a79473649fe0042</a:t>
            </a:r>
          </a:p>
          <a:p xmlns:a="http://schemas.openxmlformats.org/drawingml/2006/main">
            <a:r>
              <a:t>https://www.istorex.org/post/russia-december-2024-february-2025</a:t>
            </a:r>
          </a:p>
          <a:p xmlns:a="http://schemas.openxmlformats.org/drawingml/2006/main">
            <a:r>
              <a:t>https://rosinform.ru/news/andrej-belousov-osoboe-znachenie-pridayom-obespecheniyu-voennoj-bezopasnosti-soyuznogo-gosudarstva</a:t>
            </a:r>
          </a:p>
          <a:p xmlns:a="http://schemas.openxmlformats.org/drawingml/2006/main">
            <a:r>
              <a:t>https://xn--b1apnk.xn--p1ai/tpost/nsk7vo4xh1-vstrecha-s-ministrom-oboroni-rossii-i-os</a:t>
            </a:r>
          </a:p>
          <a:p xmlns:a="http://schemas.openxmlformats.org/drawingml/2006/main">
            <a:r>
              <a:t>https://www.rbc.ru/person/62d120d89a79475f0ddd8b5e</a:t>
            </a:r>
          </a:p>
          <a:p xmlns:a="http://schemas.openxmlformats.org/drawingml/2006/main">
            <a:r>
              <a:t>http://scrf.gov.ru/news/allnews/2148/</a:t>
            </a:r>
          </a:p>
          <a:p xmlns:a="http://schemas.openxmlformats.org/drawingml/2006/main">
            <a:r>
              <a:t>https://www.rbc.ru/politics/14/05/2024/6643287b9a7947a8f0b8ba78</a:t>
            </a:r>
          </a:p>
          <a:p xmlns:a="http://schemas.openxmlformats.org/drawingml/2006/main">
            <a:r>
              <a:t>https://tass.ru/info/20789699</a:t>
            </a:r>
          </a:p>
          <a:p xmlns:a="http://schemas.openxmlformats.org/drawingml/2006/main">
            <a:r>
              <a:t>https://marine.org.ru/structure/person/56/</a:t>
            </a:r>
          </a:p>
          <a:p xmlns:a="http://schemas.openxmlformats.org/drawingml/2006/main">
            <a:r>
              <a:t>https://marine.org.ru/publication/smi/16108/</a:t>
            </a:r>
          </a:p>
          <a:p xmlns:a="http://schemas.openxmlformats.org/drawingml/2006/main">
            <a:r>
              <a:t>https://www.svoboda.org/a/30676123.html</a:t>
            </a:r>
          </a:p>
          <a:p xmlns:a="http://schemas.openxmlformats.org/drawingml/2006/main">
            <a:r>
              <a:t>https://aif.ru/society/safety/kuklovodstvo_k_deystviyu_nikolay_patrushev_o_metodah_cvetnyh_revolyuciy</a:t>
            </a:r>
          </a:p>
          <a:p xmlns:a="http://schemas.openxmlformats.org/drawingml/2006/main">
            <a:r>
              <a:t>https://vkrizis.info/vlast/czennosti-razmyvaniya/</a:t>
            </a:r>
          </a:p>
          <a:p xmlns:a="http://schemas.openxmlformats.org/drawingml/2006/main">
            <a:r>
              <a:t>https://infranomica.ru/2026/05/19/selskoe-hozyajstvo-est-rezultat-budet-i-pishha/</a:t>
            </a:r>
          </a:p>
          <a:p xmlns:a="http://schemas.openxmlformats.org/drawingml/2006/main">
            <a:r>
              <a:t>https://www.rbc.ru/person/660400989a79471b36dbb514</a:t>
            </a:r>
          </a:p>
          <a:p xmlns:a="http://schemas.openxmlformats.org/drawingml/2006/main">
            <a:r>
              <a:t>http://special.kremlin.ru/catalog/persons/100/events</a:t>
            </a:r>
          </a:p>
          <a:p xmlns:a="http://schemas.openxmlformats.org/drawingml/2006/main">
            <a:r>
              <a:t>https://nac.gov.ru/view/eb008ff4-1608-4b47-b2a9-3d604c1833c2</a:t>
            </a:r>
          </a:p>
          <a:p xmlns:a="http://schemas.openxmlformats.org/drawingml/2006/main">
            <a:r>
              <a:t>http://pfo.gov.ru/press/events/113336/</a:t>
            </a:r>
          </a:p>
          <a:p xmlns:a="http://schemas.openxmlformats.org/drawingml/2006/main">
            <a:r>
              <a:t>https://www.opensanctions.org/entities/Q516824/</a:t>
            </a:r>
          </a:p>
          <a:p xmlns:a="http://schemas.openxmlformats.org/drawingml/2006/main">
            <a:r>
              <a:t>https://www.agents.media/ssha-poprobuyut-vozobnovit-peregovory-o-mire-v-ukraine-cherez-glavu-fsb-che-vedomstvo-kak-schitaetsya-svoimi-dokladami-podtolknulo-putina-k-vojne/</a:t>
            </a:r>
          </a:p>
          <a:p xmlns:a="http://schemas.openxmlformats.org/drawingml/2006/main">
            <a:r>
              <a:t>https://letters.kremlin.ru/news/receptions/by-section/assignments/by-person/260</a:t>
            </a:r>
          </a:p>
          <a:p xmlns:a="http://schemas.openxmlformats.org/drawingml/2006/main">
            <a:r>
              <a:t>https://www.kommersant.ru/doc/3612580</a:t>
            </a:r>
          </a:p>
          <a:p xmlns:a="http://schemas.openxmlformats.org/drawingml/2006/main">
            <a:r>
              <a:t>https://fbk.info/ru/investigations/kirienko-kholyi-putina</a:t>
            </a:r>
          </a:p>
          <a:p xmlns:a="http://schemas.openxmlformats.org/drawingml/2006/main">
            <a:r>
              <a:t>https://utro02.tv/2022/05/24/kolebaniya-kirienok/</a:t>
            </a:r>
          </a:p>
          <a:p xmlns:a="http://schemas.openxmlformats.org/drawingml/2006/main">
            <a:r>
              <a:t>https://meduza.io/feature/2023/12/19/on-peresidel-v-svoem-kresle-v-kremle-i-pravitelstve-obsuzhdayut-chto-sergey-kirienko-mozhet-lishitsya-dolzhnosti-v-ap-posle-vyborov-prezidenta</a:t>
            </a:r>
          </a:p>
          <a:p xmlns:a="http://schemas.openxmlformats.org/drawingml/2006/main">
            <a:r>
              <a:t>https://verstka.media/kak-rossiya-prodvigaet-svoyu-molodezhnuyu-politiku-na-okkupirovannyh-territoriyah</a:t>
            </a:r>
          </a:p>
          <a:p xmlns:a="http://schemas.openxmlformats.org/drawingml/2006/main">
            <a:r>
              <a:t>https://dnrnews.ru/society/2025/09/04/1167117.html</a:t>
            </a:r>
          </a:p>
          <a:p xmlns:a="http://schemas.openxmlformats.org/drawingml/2006/main">
            <a:r>
              <a:t>https://www.tadviser.ru/index.php/%D0%9F%D0%B5%D1%80%D1%81%D0%BE%D0%BD%D0%B0:%D0%9A%D0%B8%D1%80%D0%B8%D0%B5%D0%BD%D0%BA%D0%BE_%D0%A1%D0%B5%D1%80%D0%B3%D0%B5%D0%B9_%D0%92%D0%BB%D0%B0%D0%B4%D0%B8%D0%BB%D0%B5%D0%BD%D0%BE%D0%B2%D0%B8%D1%87</a:t>
            </a:r>
          </a:p>
          <a:p xmlns:a="http://schemas.openxmlformats.org/drawingml/2006/main">
            <a:r>
              <a:t>https://tass.ru/politika/18225741</a:t>
            </a:r>
          </a:p>
          <a:p xmlns:a="http://schemas.openxmlformats.org/drawingml/2006/main">
            <a:r>
              <a:t>https://www.kommersant.ru/doc/6187168</a:t>
            </a:r>
          </a:p>
          <a:p xmlns:a="http://schemas.openxmlformats.org/drawingml/2006/main">
            <a:r>
              <a:t>https://duma.gov.ru/news/63383/</a:t>
            </a:r>
          </a:p>
          <a:p xmlns:a="http://schemas.openxmlformats.org/drawingml/2006/main">
            <a:r>
              <a:t>http://duma.gov.ru/en/duma/persons/99100829/news/</a:t>
            </a:r>
          </a:p>
          <a:p xmlns:a="http://schemas.openxmlformats.org/drawingml/2006/main">
            <a:r>
              <a:t>http://duma.gov.ru/en/news/62248/</a:t>
            </a:r>
          </a:p>
          <a:p xmlns:a="http://schemas.openxmlformats.org/drawingml/2006/main">
            <a:r>
              <a:t>http://duma.gov.ru/en/news/61352/</a:t>
            </a:r>
          </a:p>
          <a:p xmlns:a="http://schemas.openxmlformats.org/drawingml/2006/main">
            <a:r>
              <a:t>http://duma.gov.ru/en/news/64178/</a:t>
            </a:r>
          </a:p>
          <a:p xmlns:a="http://schemas.openxmlformats.org/drawingml/2006/main">
            <a:r>
              <a:t>http://duma.gov.ru/en/news/64216</a:t>
            </a:r>
          </a:p>
          <a:p xmlns:a="http://schemas.openxmlformats.org/drawingml/2006/main">
            <a:r>
              <a:t>http://duma.gov.ru/en/news/64239</a:t>
            </a:r>
          </a:p>
          <a:p xmlns:a="http://schemas.openxmlformats.org/drawingml/2006/main">
            <a:r>
              <a:t>https://en.wikipedia.org/wiki/Vyacheslav_Volodin</a:t>
            </a:r>
          </a:p>
          <a:p xmlns:a="http://schemas.openxmlformats.org/drawingml/2006/main">
            <a:r>
              <a:t>http://duma.gov.ru/news/56060/</a:t>
            </a:r>
          </a:p>
          <a:p xmlns:a="http://schemas.openxmlformats.org/drawingml/2006/main">
            <a:r>
              <a:t>http://duma.gov.ru/news/60448/</a:t>
            </a:r>
          </a:p>
          <a:p xmlns:a="http://schemas.openxmlformats.org/drawingml/2006/main">
            <a:r>
              <a:t>http://duma.gov.ru/news/61362/</a:t>
            </a:r>
          </a:p>
          <a:p xmlns:a="http://schemas.openxmlformats.org/drawingml/2006/main">
            <a:r>
              <a:t>http://duma.gov.ru/news/61384/</a:t>
            </a:r>
          </a:p>
          <a:p xmlns:a="http://schemas.openxmlformats.org/drawingml/2006/main">
            <a:r>
              <a:t>http://duma.gov.ru/news/61874/</a:t>
            </a:r>
          </a:p>
          <a:p xmlns:a="http://schemas.openxmlformats.org/drawingml/2006/main">
            <a:r>
              <a:t>http://duma.gov.ru/news/62022/</a:t>
            </a:r>
          </a:p>
          <a:p xmlns:a="http://schemas.openxmlformats.org/drawingml/2006/main">
            <a:r>
              <a:t>http://duma.gov.ru/news/63772/</a:t>
            </a:r>
          </a:p>
          <a:p xmlns:a="http://schemas.openxmlformats.org/drawingml/2006/main">
            <a:r>
              <a:t>https://council.gov.ru/events/news/160466/</a:t>
            </a:r>
          </a:p>
          <a:p xmlns:a="http://schemas.openxmlformats.org/drawingml/2006/main">
            <a:r>
              <a:t>http://council.gov.ru/structure/persons/257/</a:t>
            </a:r>
          </a:p>
          <a:p xmlns:a="http://schemas.openxmlformats.org/drawingml/2006/main">
            <a:r>
              <a:t>https://interaffairs.ru/news/show/16199</a:t>
            </a:r>
          </a:p>
          <a:p xmlns:a="http://schemas.openxmlformats.org/drawingml/2006/main">
            <a:r>
              <a:t>https://www.rbc.ru/person/617fb5ef9a79475c6cfc4502</a:t>
            </a:r>
          </a:p>
          <a:p xmlns:a="http://schemas.openxmlformats.org/drawingml/2006/main">
            <a:r>
              <a:t>https://vksrs.com/publications/matvienko-rasskazala-o-neobkhodimosti-protivostoyat-geroizatsii-natsistov/</a:t>
            </a:r>
          </a:p>
          <a:p xmlns:a="http://schemas.openxmlformats.org/drawingml/2006/main">
            <a:r>
              <a:t>https://absatz.media/politika/158438-valentine-matvienko-77-istoriya-uspeha-put-k-vershine-i-samye-yarkie-zayavleniya</a:t>
            </a:r>
          </a:p>
          <a:p xmlns:a="http://schemas.openxmlformats.org/drawingml/2006/main">
            <a:r>
              <a:t>https://www.rbc.ru/society/14/10/2026/6acf597c9a794743e0478a15?from=short_news</a:t>
            </a:r>
          </a:p>
          <a:p xmlns:a="http://schemas.openxmlformats.org/drawingml/2006/main">
            <a:r>
              <a:t>https://senatinform.ru/news/sf_stremitsya_byt_maksimalno_otkrytym_dlya_raboty_zhurnalistov_matvienko/</a:t>
            </a:r>
          </a:p>
          <a:p xmlns:a="http://schemas.openxmlformats.org/drawingml/2006/main">
            <a:r>
              <a:t>https://eparlament.irzs.ru/Files/getFile/11853</a:t>
            </a:r>
          </a:p>
          <a:p xmlns:a="http://schemas.openxmlformats.org/drawingml/2006/main">
            <a:r>
              <a:t>http://special.council.gov.ru/activity/meetings/170703/transcript/</a:t>
            </a:r>
          </a:p>
          <a:p xmlns:a="http://schemas.openxmlformats.org/drawingml/2006/main">
            <a:r>
              <a:t>https://bookonlime.ru/lecture/12-razvitie-ekonomicheskih-otnosheniy-i-strategicheskoe-planirovanie-v-cifrovoy-ekonomike-2</a:t>
            </a:r>
          </a:p>
          <a:p xmlns:a="http://schemas.openxmlformats.org/drawingml/2006/main">
            <a:r>
              <a:t>https://ru.wikipedia.org/wiki/Песков,_Дмитрий_Сергеевич</a:t>
            </a:r>
          </a:p>
          <a:p xmlns:a="http://schemas.openxmlformats.org/drawingml/2006/main">
            <a:r>
              <a:t>https://www.reuters.com/world/europe/kremlin-says-ukraine-is-now-paying-price-its-own-attacks-russia-2026-09-28/</a:t>
            </a:r>
          </a:p>
          <a:p xmlns:a="http://schemas.openxmlformats.org/drawingml/2006/main">
            <a:r>
              <a:t>https://www.reuters.com/world/europe/kremlin-rejects-le-penbardella-rebuke-says-russia-is-no-threat-france-2026-09-21/</a:t>
            </a:r>
          </a:p>
          <a:p xmlns:a="http://schemas.openxmlformats.org/drawingml/2006/main">
            <a:r>
              <a:t>https://theins.ru/antifake/295208</a:t>
            </a:r>
          </a:p>
          <a:p xmlns:a="http://schemas.openxmlformats.org/drawingml/2006/main">
            <a:r>
              <a:t>https://expert.ru/news/v-kremle-otvetili-na-slova-donalda-trampa-o-rossiyskom-vmeshatelstve</a:t>
            </a:r>
          </a:p>
          <a:p xmlns:a="http://schemas.openxmlformats.org/drawingml/2006/main">
            <a:r>
              <a:t>https://www.dw.com/ru/dmitrij-peskov/t-18146676/page-1</a:t>
            </a:r>
          </a:p>
          <a:p xmlns:a="http://schemas.openxmlformats.org/drawingml/2006/main">
            <a:r>
              <a:t>https://www.pnp.ru/person/dmitriy--peskov/</a:t>
            </a:r>
          </a:p>
          <a:p xmlns:a="http://schemas.openxmlformats.org/drawingml/2006/main">
            <a:r>
              <a:t>https://www.rbc.ua/ukr/dossier/peskov-19032015</a:t>
            </a:r>
          </a:p>
          <a:p xmlns:a="http://schemas.openxmlformats.org/drawingml/2006/main">
            <a:r>
              <a:t>https://www.rbc.ru/politics/12/10/2026/6accae3bb18f4460834ce063</a:t>
            </a:r>
          </a:p>
          <a:p xmlns:a="http://schemas.openxmlformats.org/drawingml/2006/main">
            <a:r>
              <a:t>https://tass.ru/politika/20355193</a:t>
            </a:r>
          </a:p>
          <a:p xmlns:a="http://schemas.openxmlformats.org/drawingml/2006/main">
            <a:r>
              <a:t>https://www.m24.ru/news/06052024/689412</a:t>
            </a:r>
          </a:p>
          <a:p xmlns:a="http://schemas.openxmlformats.org/drawingml/2006/main">
            <a:r>
              <a:t>http://www.kremlin.ru/acts/bank/48502</a:t>
            </a:r>
          </a:p>
          <a:p xmlns:a="http://schemas.openxmlformats.org/drawingml/2006/main">
            <a:r>
              <a:t>https://www.m24.ru/news/11022025/769070</a:t>
            </a:r>
          </a:p>
          <a:p xmlns:a="http://schemas.openxmlformats.org/drawingml/2006/main">
            <a:r>
              <a:t>https://www.m24.ru/news/23042026/894202</a:t>
            </a:r>
          </a:p>
          <a:p xmlns:a="http://schemas.openxmlformats.org/drawingml/2006/main">
            <a:r>
              <a:t>https://cbr.ru/about_br/nabiullinaes/</a:t>
            </a:r>
          </a:p>
          <a:p xmlns:a="http://schemas.openxmlformats.org/drawingml/2006/main">
            <a:r>
              <a:t>https://cbr.ru/press/event/?id=12840</a:t>
            </a:r>
          </a:p>
          <a:p xmlns:a="http://schemas.openxmlformats.org/drawingml/2006/main">
            <a:r>
              <a:t>https://www.cbr.ru/press/event/?id=12904</a:t>
            </a:r>
          </a:p>
          <a:p xmlns:a="http://schemas.openxmlformats.org/drawingml/2006/main">
            <a:r>
              <a:t>https://cbr.ru/press/event/?id=14033</a:t>
            </a:r>
          </a:p>
          <a:p xmlns:a="http://schemas.openxmlformats.org/drawingml/2006/main">
            <a:r>
              <a:t>https://www.cbr.ru/press/event/?id=12764</a:t>
            </a:r>
          </a:p>
          <a:p xmlns:a="http://schemas.openxmlformats.org/drawingml/2006/main">
            <a:r>
              <a:t>https://kazanfirst.ru/articles/534335</a:t>
            </a:r>
          </a:p>
          <a:p xmlns:a="http://schemas.openxmlformats.org/drawingml/2006/main">
            <a:r>
              <a:t>https://www.rbc.ru/person/65e831449a79476cbfd8e5fd</a:t>
            </a:r>
          </a:p>
          <a:p xmlns:a="http://schemas.openxmlformats.org/drawingml/2006/main">
            <a:r>
              <a:t>https://www.interfax.ru/russia/955290</a:t>
            </a:r>
          </a:p>
          <a:p xmlns:a="http://schemas.openxmlformats.org/drawingml/2006/main">
            <a:r>
              <a:t>https://minfin.gov.ru/ru/press-center/?id_4=38548-intervyu_ministra_finansov_antona_siluanova_gazete_argumenty_i_fakty</a:t>
            </a:r>
          </a:p>
          <a:p xmlns:a="http://schemas.openxmlformats.org/drawingml/2006/main">
            <a:r>
              <a:t>https://minfin.gov.ru/ru/press-center/?id_4=37667-vystuplenie_antona_siluanova_na_plenarnom_zasedanii_v_gosudarstvennoi_dume</a:t>
            </a:r>
          </a:p>
          <a:p xmlns:a="http://schemas.openxmlformats.org/drawingml/2006/main">
            <a:r>
              <a:t>https://www.rbc.ru/economics/24/10/2022/63529d159a7947efb82a59eb</a:t>
            </a:r>
          </a:p>
          <a:p xmlns:a="http://schemas.openxmlformats.org/drawingml/2006/main">
            <a:r>
              <a:t>https://www.rbc.ru/newspaper/2020/02/21/5e4e83289a79474bcf9f8cf9</a:t>
            </a:r>
          </a:p>
          <a:p xmlns:a="http://schemas.openxmlformats.org/drawingml/2006/main">
            <a:r>
              <a:t>https://www.rbc.ru/economics/20/02/2020/5e4e91919a79475559478893</a:t>
            </a:r>
          </a:p>
          <a:p xmlns:a="http://schemas.openxmlformats.org/drawingml/2006/main">
            <a:r>
              <a:t>https://minfin.gov.ru/ru/press-center/?id_4=39336-anton_siluanov_predstavil_na_parlamentskikh_slushaniyakh_v_sovete_federatsii_proekt_byudzheta_na_2025-2027_gg.</a:t>
            </a:r>
          </a:p>
          <a:p xmlns:a="http://schemas.openxmlformats.org/drawingml/2006/main">
            <a:r>
              <a:t>https://www.interfax.ru/amp/1035506</a:t>
            </a:r>
          </a:p>
          <a:p xmlns:a="http://schemas.openxmlformats.org/drawingml/2006/main">
            <a:r>
              <a:t>https://tass.ru/ekonomika/28198121</a:t>
            </a:r>
          </a:p>
          <a:p xmlns:a="http://schemas.openxmlformats.org/drawingml/2006/main">
            <a:r>
              <a:t>https://www.rbc.ru/person/65b9f4369a7947ec8a7f242a</a:t>
            </a:r>
          </a:p>
          <a:p xmlns:a="http://schemas.openxmlformats.org/drawingml/2006/main">
            <a:r>
              <a:t>https://www.bfm.ru/news/435050</a:t>
            </a:r>
          </a:p>
          <a:p xmlns:a="http://schemas.openxmlformats.org/drawingml/2006/main">
            <a:r>
              <a:t>https://ru.ruwiki.ru/wiki/%D0%93%D0%BE%D0%BB%D0%B8%D0%BA%D0%BE%D0%B2%D0%B0,_%D0%A2%D0%B0%D1%82%D1%8C%D1%8F%D0%BD%D0%B0_%D0%90%D0%BB%D0%B5%D0%BA%D1%81%D0%B5%D0%B5%D0%B2%D0%BD%D0%B0</a:t>
            </a:r>
          </a:p>
          <a:p xmlns:a="http://schemas.openxmlformats.org/drawingml/2006/main">
            <a:r>
              <a:t>http://www.kremlin.ru/events/president/transcripts/deliberations%20/77439</a:t>
            </a:r>
          </a:p>
          <a:p xmlns:a="http://schemas.openxmlformats.org/drawingml/2006/main">
            <a:r>
              <a:t>https://xn--90aivcdt6dxbc.xn--p1ai/articles/news/prezident-zdravookhranenie-zanimaet-klyuchevoe-mesto-v-sotsialnoy-politike-rossii/</a:t>
            </a:r>
          </a:p>
          <a:p xmlns:a="http://schemas.openxmlformats.org/drawingml/2006/main">
            <a:r>
              <a:t>https://xn--90aivcdt6dxbc.xn--p1ai/articles/news/tatyana-golikova-edinaya-rossiya-nadezhnyy-soyuznik-i-partner-pravitelstva/</a:t>
            </a:r>
          </a:p>
          <a:p xmlns:a="http://schemas.openxmlformats.org/drawingml/2006/main">
            <a:r>
              <a:t>http://government.ru/news/58648/</a:t>
            </a:r>
          </a:p>
          <a:p xmlns:a="http://schemas.openxmlformats.org/drawingml/2006/main">
            <a:r>
              <a:t>http://government.ru/news/54912/</a:t>
            </a:r>
          </a:p>
          <a:p xmlns:a="http://schemas.openxmlformats.org/drawingml/2006/main">
            <a:r>
              <a:t>http://government.ru/news/58000/</a:t>
            </a:r>
          </a:p>
          <a:p xmlns:a="http://schemas.openxmlformats.org/drawingml/2006/main">
            <a:r>
              <a:t>https://tass.ru/politika/28141547</a:t>
            </a:r>
          </a:p>
          <a:p xmlns:a="http://schemas.openxmlformats.org/drawingml/2006/main">
            <a:r>
              <a:t>https://duma.gov.ru/media/files/smUklOtuNPyzwTneQGCfFUHHIsilAqcm.pdf</a:t>
            </a:r>
          </a:p>
          <a:p xmlns:a="http://schemas.openxmlformats.org/drawingml/2006/main">
            <a:r>
              <a:t>https://kprf.ru/dep/gosduma/activities/187187.html</a:t>
            </a:r>
          </a:p>
          <a:p xmlns:a="http://schemas.openxmlformats.org/drawingml/2006/main">
            <a:r>
              <a:t>http://msk.kprf.ru/2022/08/22/222866/</a:t>
            </a:r>
          </a:p>
          <a:p xmlns:a="http://schemas.openxmlformats.org/drawingml/2006/main">
            <a:r>
              <a:t>https://kprf.ru/party-live/cknews/235903.html</a:t>
            </a:r>
          </a:p>
          <a:p xmlns:a="http://schemas.openxmlformats.org/drawingml/2006/main">
            <a:r>
              <a:t>https://kprf.ru/dep/gosduma/activities/236198.html/print</a:t>
            </a:r>
          </a:p>
          <a:p xmlns:a="http://schemas.openxmlformats.org/drawingml/2006/main">
            <a:r>
              <a:t>https://kprf.ru/dep/gosduma/activities/239812.html</a:t>
            </a:r>
          </a:p>
          <a:p xmlns:a="http://schemas.openxmlformats.org/drawingml/2006/main">
            <a:r>
              <a:t>https://kprf-don.ru/index.php/news/facts/12501-2025-09-15-12-58-35.html</a:t>
            </a:r>
          </a:p>
          <a:p xmlns:a="http://schemas.openxmlformats.org/drawingml/2006/main">
            <a:r>
              <a:t>https://kprf.ru/dep/gosduma/activities/237529.html</a:t>
            </a:r>
          </a:p>
          <a:p xmlns:a="http://schemas.openxmlformats.org/drawingml/2006/main">
            <a:r>
              <a:t>https://novayagazeta.ru/articles/2025/09/19/putin-udivilsia-khodu-zapushchennoi-im-vesnoi-munitsipalnoi-reformy-posle-slov-ziuganova-kak-regiony-dlia-nee-lomali-cherez-koleno-a-tatarstan-otkazalsia-ee-ispolniat-news</a:t>
            </a:r>
          </a:p>
          <a:p xmlns:a="http://schemas.openxmlformats.org/drawingml/2006/main">
            <a:r>
              <a:t>https://kprf.ru/official/2025/11/15/15-noiabria-2025-oda-sostoialsia-ii-noiabrskii-plenum-tsk-kprf/473.html</a:t>
            </a:r>
          </a:p>
          <a:p xmlns:a="http://schemas.openxmlformats.org/drawingml/2006/main">
            <a:r>
              <a:t>https://www.rbc.ru/person/617bfbb79a7947fc327a3bcb</a:t>
            </a:r>
          </a:p>
          <a:p xmlns:a="http://schemas.openxmlformats.org/drawingml/2006/main">
            <a:r>
              <a:t>https://www.bbc.com/russian/features-60873381</a:t>
            </a:r>
          </a:p>
          <a:p xmlns:a="http://schemas.openxmlformats.org/drawingml/2006/main">
            <a:r>
              <a:t>https://www.svoboda.org/a/umer-lider-partii-ldpr-vladimir-zhirinovskiy-nekrolog/31770134.html</a:t>
            </a:r>
          </a:p>
          <a:p xmlns:a="http://schemas.openxmlformats.org/drawingml/2006/main">
            <a:r>
              <a:t>https://www.rbc.ru/politics/06/04/2022/624d661b9a79473f7416fe26</a:t>
            </a:r>
          </a:p>
          <a:p xmlns:a="http://schemas.openxmlformats.org/drawingml/2006/main">
            <a:r>
              <a:t>https://tass.ru/politika/3392889</a:t>
            </a:r>
          </a:p>
          <a:p xmlns:a="http://schemas.openxmlformats.org/drawingml/2006/main">
            <a:r>
              <a:t>https://www.pnp.ru/politics/2016/06/28/v-centre-predvybornoy-programmy-ldpr-russkiy-vopros.html</a:t>
            </a:r>
          </a:p>
          <a:p xmlns:a="http://schemas.openxmlformats.org/drawingml/2006/main">
            <a:r>
              <a:t>https://ldpr.ru/party/history/</a:t>
            </a:r>
          </a:p>
          <a:p xmlns:a="http://schemas.openxmlformats.org/drawingml/2006/main">
            <a:r>
              <a:t>https://govoritmoskva.ru/interviews/1023/</a:t>
            </a:r>
          </a:p>
          <a:p xmlns:a="http://schemas.openxmlformats.org/drawingml/2006/main">
            <a:r>
              <a:t>https://www.gazeta.ru/politics/2017/03/17_a_10580999.shtml</a:t>
            </a:r>
          </a:p>
          <a:p xmlns:a="http://schemas.openxmlformats.org/drawingml/2006/main">
            <a:r>
              <a:t>https://ldpr.ru/upload/iblock/c88/1d6dstdexz6aw7dnwoubeobhr3mnwa1j/a799616e688866c49f2ef6b5b8cfe5c00d45080ae85ce0e5f6d36e2e010681d9.pdf</a:t>
            </a:r>
          </a:p>
          <a:p xmlns:a="http://schemas.openxmlformats.org/drawingml/2006/main">
            <a:r>
              <a:t>https://www.kommersant.ru/doc/3579566</a:t>
            </a:r>
          </a:p>
          <a:p xmlns:a="http://schemas.openxmlformats.org/drawingml/2006/main">
            <a:r>
              <a:t>https://spb.ldpr.ru/event/243915/</a:t>
            </a:r>
          </a:p>
          <a:p xmlns:a="http://schemas.openxmlformats.org/drawingml/2006/main">
            <a:r>
              <a:t>https://kursk.ldpr.ru/event/341398</a:t>
            </a:r>
          </a:p>
          <a:p xmlns:a="http://schemas.openxmlformats.org/drawingml/2006/main">
            <a:r>
              <a:t>https://cyberleninka.ru/article/n/sravnitelnyy-analiz-predvybornyh-programm-ldpr-na-vyborah-2021-g-i-l-e-slutskogo-na-vyborah-2024-g</a:t>
            </a:r>
          </a:p>
          <a:p xmlns:a="http://schemas.openxmlformats.org/drawingml/2006/main">
            <a:r>
              <a:t>https://kcr.ldpr.ru/event/347999/</a:t>
            </a:r>
          </a:p>
          <a:p xmlns:a="http://schemas.openxmlformats.org/drawingml/2006/main">
            <a:r>
              <a:t>https://msknews77.ru/society/2025/09/25/73500.html</a:t>
            </a:r>
          </a:p>
          <a:p xmlns:a="http://schemas.openxmlformats.org/drawingml/2006/main">
            <a:r>
              <a:t>https://bagaevka-press.ru/besplatnyj-zemelnyj-uchastok-dlya-semej-inicziativa-ldpr/</a:t>
            </a:r>
          </a:p>
          <a:p xmlns:a="http://schemas.openxmlformats.org/drawingml/2006/main">
            <a:r>
              <a:t>https://ldpr.ru/event/437527/</a:t>
            </a:r>
          </a:p>
          <a:p xmlns:a="http://schemas.openxmlformats.org/drawingml/2006/main">
            <a:r>
              <a:t>https://rg62.info/2025/11/01/leonid-sluczkij-vstupilsya-za-multserial-masha-i-medved/</a:t>
            </a:r>
          </a:p>
          <a:p xmlns:a="http://schemas.openxmlformats.org/drawingml/2006/main">
            <a:r>
              <a:t>https://mironov.ru/officially</a:t>
            </a:r>
          </a:p>
          <a:p xmlns:a="http://schemas.openxmlformats.org/drawingml/2006/main">
            <a:r>
              <a:t>https://mironov.ru/bio</a:t>
            </a:r>
          </a:p>
          <a:p xmlns:a="http://schemas.openxmlformats.org/drawingml/2006/main">
            <a:r>
              <a:t>https://mironov-online.ru/category/zayavleniya/</a:t>
            </a:r>
          </a:p>
          <a:p xmlns:a="http://schemas.openxmlformats.org/drawingml/2006/main">
            <a:r>
              <a:t>https://www.rbc.ru/person/69806d279a7947baf86c32c5</a:t>
            </a:r>
          </a:p>
          <a:p xmlns:a="http://schemas.openxmlformats.org/drawingml/2006/main">
            <a:r>
              <a:t>https://spravedlivo.ru/16303010</a:t>
            </a:r>
          </a:p>
          <a:p xmlns:a="http://schemas.openxmlformats.org/drawingml/2006/main">
            <a:r>
              <a:t>http://mironov.ru/15133910</a:t>
            </a:r>
          </a:p>
          <a:p xmlns:a="http://schemas.openxmlformats.org/drawingml/2006/main">
            <a:r>
              <a:t>http://www.special.spravedlivo.ru/5_140609.html</a:t>
            </a:r>
          </a:p>
          <a:p xmlns:a="http://schemas.openxmlformats.org/drawingml/2006/main">
            <a:r>
              <a:t>https://spravedlivo.ru/14681110</a:t>
            </a:r>
          </a:p>
          <a:p xmlns:a="http://schemas.openxmlformats.org/drawingml/2006/main">
            <a:r>
              <a:t>https://radiokp.ru/podcast/dialogi-na-radio-kp/759263</a:t>
            </a:r>
          </a:p>
          <a:p xmlns:a="http://schemas.openxmlformats.org/drawingml/2006/main">
            <a:r>
              <a:t>https://mironov.ru/51339910</a:t>
            </a:r>
          </a:p>
          <a:p xmlns:a="http://schemas.openxmlformats.org/drawingml/2006/main">
            <a:r>
              <a:t>https://mironov-online.ru/news/mironov-na-ukraine-idet-bitva-za-budushhee-vsego-chelovechestva-i-pobeda-v-nej-budet-za-rossiej/</a:t>
            </a:r>
          </a:p>
          <a:p xmlns:a="http://schemas.openxmlformats.org/drawingml/2006/main">
            <a:r>
              <a:t>https://spravedlivo.ru/12544510</a:t>
            </a:r>
          </a:p>
          <a:p xmlns:a="http://schemas.openxmlformats.org/drawingml/2006/main">
            <a:r>
              <a:t>https://www.rbc.ru/person/6aa3ef199a79475758621730</a:t>
            </a:r>
          </a:p>
          <a:p xmlns:a="http://schemas.openxmlformats.org/drawingml/2006/main">
            <a:r>
              <a:t>https://www.rbc.ru/politics/24/09/2021/614da73f9a7947b5e3d9399f</a:t>
            </a:r>
          </a:p>
          <a:p xmlns:a="http://schemas.openxmlformats.org/drawingml/2006/main">
            <a:r>
              <a:t>https://amp.rbc.ru/rbcnews/base/14/08/2026/6a957dfb9a79476ae3d823ba</a:t>
            </a:r>
          </a:p>
          <a:p xmlns:a="http://schemas.openxmlformats.org/drawingml/2006/main">
            <a:r>
              <a:t>https://en.wikipedia.org/wiki/Alexey_Nechayev</a:t>
            </a:r>
          </a:p>
          <a:p xmlns:a="http://schemas.openxmlformats.org/drawingml/2006/main">
            <a:r>
              <a:t>https://www.gazeta.ru/politics/23422027/novye-lyudi-na-vyborah-2026-goda.shtml</a:t>
            </a:r>
          </a:p>
          <a:p xmlns:a="http://schemas.openxmlformats.org/drawingml/2006/main">
            <a:r>
              <a:t>https://vremya-bir.ru/2026/03/07/dvenadtsat-shagov-k-strane-v-kotoroj-hochetsya-zhit/</a:t>
            </a:r>
          </a:p>
          <a:p xmlns:a="http://schemas.openxmlformats.org/drawingml/2006/main">
            <a:r>
              <a:t>https://www.rbc.ru/politics/08/09/2026/6aa023ec9a79471e4fd55d3c</a:t>
            </a:r>
          </a:p>
          <a:p xmlns:a="http://schemas.openxmlformats.org/drawingml/2006/main">
            <a:r>
              <a:t>https://www.interfax.ru/interview/1074248</a:t>
            </a:r>
          </a:p>
          <a:p xmlns:a="http://schemas.openxmlformats.org/drawingml/2006/main">
            <a:r>
              <a:t>https://www.interfax.ru/amp/1074248</a:t>
            </a:r>
          </a:p>
          <a:p xmlns:a="http://schemas.openxmlformats.org/drawingml/2006/main">
            <a:r>
              <a:t>https://www.vedomosti.ru/politics/articles/2026/09/09/1227352-novie-lyudi-sformulirovali-programmu</a:t>
            </a:r>
          </a:p>
          <a:p xmlns:a="http://schemas.openxmlformats.org/drawingml/2006/main">
            <a:r>
              <a:t>https://dddkursk.ru/lenta/2026/07/30/129483/</a:t>
            </a:r>
          </a:p>
          <a:p xmlns:a="http://schemas.openxmlformats.org/drawingml/2006/main">
            <a:r>
              <a:t>https://volga.news/article/803292.html</a:t>
            </a:r>
          </a:p>
          <a:p xmlns:a="http://schemas.openxmlformats.org/drawingml/2006/main">
            <a:r>
              <a:t>https://ru.wikipedia.org/wiki/%D0%9D%D0%B5%D1%87%D0%B0%D0%B5%D0%B2,_%D0%90%D0%BB%D0%B5%D0%BA%D1%81%D0%B5%D0%B9_%D0%93%D0%B5%D0%BD%D0%BD%D0%B0%D0%B4%D1%8C%D0%B5%D0%B2%D0%B8%D1%87</a:t>
            </a:r>
          </a:p>
          <a:p xmlns:a="http://schemas.openxmlformats.org/drawingml/2006/main">
            <a:r>
              <a:t>https://www.davankov2024.ru/page_biography/</a:t>
            </a:r>
          </a:p>
          <a:p xmlns:a="http://schemas.openxmlformats.org/drawingml/2006/main">
            <a:r>
              <a:t>https://davankov2024.ru/program</a:t>
            </a:r>
          </a:p>
          <a:p xmlns:a="http://schemas.openxmlformats.org/drawingml/2006/main">
            <a:r>
              <a:t>http://vote.duma.gov.ru/?convocation=AAAAAAA8&amp;deputy=99113489&amp;sort=date_desc</a:t>
            </a:r>
          </a:p>
          <a:p xmlns:a="http://schemas.openxmlformats.org/drawingml/2006/main">
            <a:r>
              <a:t>https://holod.media/2024/02/14/vladislav-davankov/</a:t>
            </a:r>
          </a:p>
          <a:p xmlns:a="http://schemas.openxmlformats.org/drawingml/2006/main">
            <a:r>
              <a:t>https://davankov2024.ru/</a:t>
            </a:r>
          </a:p>
          <a:p xmlns:a="http://schemas.openxmlformats.org/drawingml/2006/main">
            <a:r>
              <a:t>https://novayagazeta.eu/articles/2024/02/15/davankov-predstavil-predvybornuiu-programmu-bez-amnistii-politzakliuchennykh-i-s-namereniem-dobitsia-mira-na-nashikh-usloviiakh-news</a:t>
            </a:r>
          </a:p>
          <a:p xmlns:a="http://schemas.openxmlformats.org/drawingml/2006/main">
            <a:r>
              <a:t>https://www.kavkaz-uzel.eu/articles/398113</a:t>
            </a:r>
          </a:p>
          <a:p xmlns:a="http://schemas.openxmlformats.org/drawingml/2006/main">
            <a:r>
              <a:t>https://echofm.online/portret-dnya/portret-dnya-vladislav-davankov-kandidat-v-prezidenty-rossii</a:t>
            </a:r>
          </a:p>
          <a:p xmlns:a="http://schemas.openxmlformats.org/drawingml/2006/main">
            <a:r>
              <a:t>https://t.me/s/davankov?before=788</a:t>
            </a:r>
          </a:p>
          <a:p xmlns:a="http://schemas.openxmlformats.org/drawingml/2006/main">
            <a:r>
              <a:t>https://zaharprilepin.ru/ru/bio/</a:t>
            </a:r>
          </a:p>
          <a:p xmlns:a="http://schemas.openxmlformats.org/drawingml/2006/main">
            <a:r>
              <a:t>https://zaharprilepin.ru/ru/video/zapisi-vistuplenij/intervju/</a:t>
            </a:r>
          </a:p>
          <a:p xmlns:a="http://schemas.openxmlformats.org/drawingml/2006/main">
            <a:r>
              <a:t>https://zaharprilepin.ru/ru/pressa/intervyu/na-harkov.html</a:t>
            </a:r>
          </a:p>
          <a:p xmlns:a="http://schemas.openxmlformats.org/drawingml/2006/main">
            <a:r>
              <a:t>https://www.kommersant.ru/doc/4141912</a:t>
            </a:r>
          </a:p>
          <a:p xmlns:a="http://schemas.openxmlformats.org/drawingml/2006/main">
            <a:r>
              <a:t>https://novayagazeta.eu/articles/2023/05/06/plokhoi-uchenik-limonova</a:t>
            </a:r>
          </a:p>
          <a:p xmlns:a="http://schemas.openxmlformats.org/drawingml/2006/main">
            <a:r>
              <a:t>https://tass.ru/politika/11761037</a:t>
            </a:r>
          </a:p>
          <a:p xmlns:a="http://schemas.openxmlformats.org/drawingml/2006/main">
            <a:r>
              <a:t>https://www.nn.ru/text/politics/2021/10/11/70186523/</a:t>
            </a:r>
          </a:p>
          <a:p xmlns:a="http://schemas.openxmlformats.org/drawingml/2006/main">
            <a:r>
              <a:t>https://www.zaks.ru/new/archive/view/267194</a:t>
            </a:r>
          </a:p>
          <a:p xmlns:a="http://schemas.openxmlformats.org/drawingml/2006/main">
            <a:r>
              <a:t>https://spravedlivo.ru/11288710</a:t>
            </a:r>
          </a:p>
          <a:p xmlns:a="http://schemas.openxmlformats.org/drawingml/2006/main">
            <a:r>
              <a:t>https://www.kommersant.ru/doc/4241515</a:t>
            </a:r>
          </a:p>
          <a:p xmlns:a="http://schemas.openxmlformats.org/drawingml/2006/main">
            <a:r>
              <a:t>https://zaharprilepin.ru/ru/pressa/intervyu/radio-komsomolskaja-pravda-10022021.html</a:t>
            </a:r>
          </a:p>
          <a:p xmlns:a="http://schemas.openxmlformats.org/drawingml/2006/main">
            <a:r>
              <a:t>https://pozneronline.ru/2024/04/36826/</a:t>
            </a:r>
          </a:p>
          <a:p xmlns:a="http://schemas.openxmlformats.org/drawingml/2006/main">
            <a:r>
              <a:t>https://www.rbc.ru/person/62a85a259a7947b9ae5d6360</a:t>
            </a:r>
          </a:p>
          <a:p xmlns:a="http://schemas.openxmlformats.org/drawingml/2006/main">
            <a:r>
              <a:t>https://tass.ru/encyclopedia/person/poklonskaya-natalya-vladimirovna</a:t>
            </a:r>
          </a:p>
          <a:p xmlns:a="http://schemas.openxmlformats.org/drawingml/2006/main">
            <a:r>
              <a:t>https://tass.ru/tag/poklonskaya-natalya-vladimirovna</a:t>
            </a:r>
          </a:p>
          <a:p xmlns:a="http://schemas.openxmlformats.org/drawingml/2006/main">
            <a:r>
              <a:t>https://www.bbc.com/russian/features-44801571</a:t>
            </a:r>
          </a:p>
          <a:p xmlns:a="http://schemas.openxmlformats.org/drawingml/2006/main">
            <a:r>
              <a:t>https://www.rbc.ru/rbcfreenews/5ba8bd499a794792294ba05d</a:t>
            </a:r>
          </a:p>
          <a:p xmlns:a="http://schemas.openxmlformats.org/drawingml/2006/main">
            <a:r>
              <a:t>https://www.dp.ru/a/2018/08/31/Poklonskaja_otreazirovala</a:t>
            </a:r>
          </a:p>
          <a:p xmlns:a="http://schemas.openxmlformats.org/drawingml/2006/main">
            <a:r>
              <a:t>https://www.themoscowtimes.com/2022/06/13/former-crimea-prosecutor-dismissed-after-anti-war-comments-a77983</a:t>
            </a:r>
          </a:p>
          <a:p xmlns:a="http://schemas.openxmlformats.org/drawingml/2006/main">
            <a:r>
              <a:t>https://www.rbc.ru/politics/30/06/2023/649dee189a79473e3fdc8906</a:t>
            </a:r>
          </a:p>
          <a:p xmlns:a="http://schemas.openxmlformats.org/drawingml/2006/main">
            <a:r>
              <a:t>http://council.gov.ru/structure/persons/1044/</a:t>
            </a:r>
          </a:p>
          <a:p xmlns:a="http://schemas.openxmlformats.org/drawingml/2006/main">
            <a:r>
              <a:t>http://council.gov.ru/services/reference/9156/</a:t>
            </a:r>
          </a:p>
          <a:p xmlns:a="http://schemas.openxmlformats.org/drawingml/2006/main">
            <a:r>
              <a:t>http://council.gov.ru/events/news/135415/</a:t>
            </a:r>
          </a:p>
          <a:p xmlns:a="http://schemas.openxmlformats.org/drawingml/2006/main">
            <a:r>
              <a:t>https://24smi.org/celebrity/1156-elena-mizulina.html</a:t>
            </a:r>
          </a:p>
          <a:p xmlns:a="http://schemas.openxmlformats.org/drawingml/2006/main">
            <a:r>
              <a:t>https://www.bfometr.ru/blog/elena-mizulina</a:t>
            </a:r>
          </a:p>
          <a:p xmlns:a="http://schemas.openxmlformats.org/drawingml/2006/main">
            <a:r>
              <a:t>https://www.rbc.ru/society/30/03/2018/5abe1b849a79470dc3826f68</a:t>
            </a:r>
          </a:p>
          <a:p xmlns:a="http://schemas.openxmlformats.org/drawingml/2006/main">
            <a:r>
              <a:t>https://uznayvse.ru/znamenitosti/biografiya-elena-mizulina.html</a:t>
            </a:r>
          </a:p>
          <a:p xmlns:a="http://schemas.openxmlformats.org/drawingml/2006/main">
            <a:r>
              <a:t>https://radiokp.ru/people/elena-mizulina</a:t>
            </a:r>
          </a:p>
          <a:p xmlns:a="http://schemas.openxmlformats.org/drawingml/2006/main">
            <a:r>
              <a:t>https://ru.wikipedia.org/wiki/%D0%9C%D0%B8%D0%B7%D1%83%D0%BB%D0%B8%D0%BD%D0%B0,_%D0%95%D0%BB%D0%B5%D0%BD%D0%B0_%D0%91%D0%BE%D1%80%D0%B8%D1%81%D0%BE%D0%B2%D0%BD%D0%B0</a:t>
            </a:r>
          </a:p>
          <a:p xmlns:a="http://schemas.openxmlformats.org/drawingml/2006/main">
            <a:r>
              <a:t>https://ru.wikipedia.org/wiki/Милонов,_Виталий_Валентинович</a:t>
            </a:r>
          </a:p>
          <a:p xmlns:a="http://schemas.openxmlformats.org/drawingml/2006/main">
            <a:r>
              <a:t>https://tass.ru/encyclopedia/person/milonov-vitaliy-valentinovich</a:t>
            </a:r>
          </a:p>
          <a:p xmlns:a="http://schemas.openxmlformats.org/drawingml/2006/main">
            <a:r>
              <a:t>https://www.pnp.ru/person/vitaliy-milonov/</a:t>
            </a:r>
          </a:p>
          <a:p xmlns:a="http://schemas.openxmlformats.org/drawingml/2006/main">
            <a:r>
              <a:t>https://www.zaks.ru/new/person/view/172</a:t>
            </a:r>
          </a:p>
          <a:p xmlns:a="http://schemas.openxmlformats.org/drawingml/2006/main">
            <a:r>
              <a:t>https://svpressa.ru/persons/vitaliy-milonov/</a:t>
            </a:r>
          </a:p>
          <a:p xmlns:a="http://schemas.openxmlformats.org/drawingml/2006/main">
            <a:r>
              <a:t>https://stuki-druki.com/authors/Milonov-Vitaliy.php</a:t>
            </a:r>
          </a:p>
          <a:p xmlns:a="http://schemas.openxmlformats.org/drawingml/2006/main">
            <a:r>
              <a:t>https://pa.inion.ru/persons/7104/</a:t>
            </a:r>
          </a:p>
          <a:p xmlns:a="http://schemas.openxmlformats.org/drawingml/2006/main">
            <a:r>
              <a:t>https://pa.inion.ru/documents/16503/</a:t>
            </a:r>
          </a:p>
          <a:p xmlns:a="http://schemas.openxmlformats.org/drawingml/2006/main">
            <a:r>
              <a:t>https://pa.inion.ru/documents/27860/</a:t>
            </a:r>
          </a:p>
          <a:p xmlns:a="http://schemas.openxmlformats.org/drawingml/2006/main">
            <a:r>
              <a:t>https://kprf.ru/personal/ostanina</a:t>
            </a:r>
          </a:p>
          <a:p xmlns:a="http://schemas.openxmlformats.org/drawingml/2006/main">
            <a:r>
              <a:t>https://pa.inion.ru/documents/25577/</a:t>
            </a:r>
          </a:p>
          <a:p xmlns:a="http://schemas.openxmlformats.org/drawingml/2006/main">
            <a:r>
              <a:t>https://kprf.ru/dep/gosduma/activities/245108.html</a:t>
            </a:r>
          </a:p>
          <a:p xmlns:a="http://schemas.openxmlformats.org/drawingml/2006/main">
            <a:r>
              <a:t>https://www.pnp.ru/social/zashhita-detskogo-byudzheta-kruzhki-sokhranit-vyplaty-iz-matkapitala-uvelichit.html</a:t>
            </a:r>
          </a:p>
          <a:p xmlns:a="http://schemas.openxmlformats.org/drawingml/2006/main">
            <a:r>
              <a:t>https://www.pnp.ru/state-duma/nina-ostanina-o-byudzhete-na-2027-2029-gody-semeynoy-ipoteke-i-matkapitale.html</a:t>
            </a:r>
          </a:p>
          <a:p xmlns:a="http://schemas.openxmlformats.org/drawingml/2006/main">
            <a:r>
              <a:t>https://uznayvse.ru/znamenitosti/biografiya-nina-ostanina.html</a:t>
            </a:r>
          </a:p>
          <a:p xmlns:a="http://schemas.openxmlformats.org/drawingml/2006/main">
            <a:r>
              <a:t>https://dumatv.ru/news/ostanina--borba-za-mirovozzrencheskii-suverenitet-stanovitsya-gosudarstvennoi-politikoi</a:t>
            </a:r>
          </a:p>
          <a:p xmlns:a="http://schemas.openxmlformats.org/drawingml/2006/main">
            <a:r>
              <a:t>https://kprf.ru/dep/gosduma/activities/242132.html</a:t>
            </a:r>
          </a:p>
          <a:p xmlns:a="http://schemas.openxmlformats.org/drawingml/2006/main">
            <a:r>
              <a:t>https://www.business-gazeta.ru/article/625616</a:t>
            </a:r>
          </a:p>
          <a:p xmlns:a="http://schemas.openxmlformats.org/drawingml/2006/main">
            <a:r>
              <a:t>https://www.kommersant.ru/doc/3235400</a:t>
            </a:r>
          </a:p>
          <a:p xmlns:a="http://schemas.openxmlformats.org/drawingml/2006/main">
            <a:r>
              <a:t>https://www.rbc.ru/person/67d838f09a7947cdef0b1a95</a:t>
            </a:r>
          </a:p>
          <a:p xmlns:a="http://schemas.openxmlformats.org/drawingml/2006/main">
            <a:r>
              <a:t>https://www.vedomosti.ru/politics/articles/2020/03/10/824795-tereshkova-predlozhila</a:t>
            </a:r>
          </a:p>
          <a:p xmlns:a="http://schemas.openxmlformats.org/drawingml/2006/main">
            <a:r>
              <a:t>http://duma.gov.ru/news/49164/</a:t>
            </a:r>
          </a:p>
          <a:p xmlns:a="http://schemas.openxmlformats.org/drawingml/2006/main">
            <a:r>
              <a:t>https://meduza.io/news/2020/03/12/delayut-vse-dlya-togo-chtoby-gadosti-delat-tereshkova-o-protivnikah-popravki-obnulyayuschey-sroki-putina</a:t>
            </a:r>
          </a:p>
          <a:p xmlns:a="http://schemas.openxmlformats.org/drawingml/2006/main">
            <a:r>
              <a:t>https://meduza.io/feature/2020/03/10/gosduma-neozhidanno-dlya-sebya-obespechila-putina-novymi-prezidentskimi-srokami</a:t>
            </a:r>
          </a:p>
          <a:p xmlns:a="http://schemas.openxmlformats.org/drawingml/2006/main">
            <a:r>
              <a:t>https://hinshtein.ru/biography/</a:t>
            </a:r>
          </a:p>
          <a:p xmlns:a="http://schemas.openxmlformats.org/drawingml/2006/main">
            <a:r>
              <a:t>https://www.vedomosti.ru/politics/articles/2024/12/06/1079852-kto-takoi-aleksandr-hinshtein</a:t>
            </a:r>
          </a:p>
          <a:p xmlns:a="http://schemas.openxmlformats.org/drawingml/2006/main">
            <a:r>
              <a:t>https://www.rbc.ru/person/6752d12a9a7947d62166795e</a:t>
            </a:r>
          </a:p>
          <a:p xmlns:a="http://schemas.openxmlformats.org/drawingml/2006/main">
            <a:r>
              <a:t>https://www.rbc.ru/politics/06/12/2024/675207239a7947e74994842e</a:t>
            </a:r>
          </a:p>
          <a:p xmlns:a="http://schemas.openxmlformats.org/drawingml/2006/main">
            <a:r>
              <a:t>https://hinshtein.ru/news/aleksandr-hinshtejn-podvyol-itogi-goda-raboty-komiteta-gosdumy-po-informpolitike-informatsionnym-tehnologiyam-i-svyazi/</a:t>
            </a:r>
          </a:p>
          <a:p xmlns:a="http://schemas.openxmlformats.org/drawingml/2006/main">
            <a:r>
              <a:t>https://hinshtein.ru/news/a-hinshtejn-itogi-raboty-za-vii-sozyv/</a:t>
            </a:r>
          </a:p>
          <a:p xmlns:a="http://schemas.openxmlformats.org/drawingml/2006/main">
            <a:r>
              <a:t>https://www.kommersant.ru/doc/4660427</a:t>
            </a:r>
          </a:p>
          <a:p xmlns:a="http://schemas.openxmlformats.org/drawingml/2006/main">
            <a:r>
              <a:t>https://www.kommersant.ru/doc/4104004</a:t>
            </a:r>
          </a:p>
          <a:p xmlns:a="http://schemas.openxmlformats.org/drawingml/2006/main">
            <a:r>
              <a:t>https://www.nvgazeta.ru/news/12383/634260/</a:t>
            </a:r>
          </a:p>
          <a:p xmlns:a="http://schemas.openxmlformats.org/drawingml/2006/main">
            <a:r>
              <a:t>https://kpravda.ru/2025/02/11/kursk-poluchit-dengi-iz-gosbyudzheta-na-restavracziyu-istoricheskoj-kreposti/</a:t>
            </a:r>
          </a:p>
          <a:p xmlns:a="http://schemas.openxmlformats.org/drawingml/2006/main">
            <a:r>
              <a:t>https://tass.ru/obschestvo/24001633</a:t>
            </a:r>
          </a:p>
          <a:p xmlns:a="http://schemas.openxmlformats.org/drawingml/2006/main">
            <a:r>
              <a:t>https://www.kommersant.ru/doc/7737032</a:t>
            </a:r>
          </a:p>
          <a:p xmlns:a="http://schemas.openxmlformats.org/drawingml/2006/main">
            <a:r>
              <a:t>https://kpravda.ru/2025/03/21/edinaya-rossiya-pomozhet-v-restavraczii-kurskih-pamyatnikov/</a:t>
            </a:r>
          </a:p>
          <a:p xmlns:a="http://schemas.openxmlformats.org/drawingml/2006/main">
            <a:r>
              <a:t>https://news-kursk.ru/society/2025/07/13/65824.html</a:t>
            </a:r>
          </a:p>
          <a:p xmlns:a="http://schemas.openxmlformats.org/drawingml/2006/main">
            <a:r>
              <a:t>https://news.ru/russia/v-kurske-budet-alleya-geroev-hinshtejn-o-muzee-i-memoriale-zhertvam-vsu</a:t>
            </a:r>
          </a:p>
          <a:p xmlns:a="http://schemas.openxmlformats.org/drawingml/2006/main">
            <a:r>
              <a:t>https://ru.wikipedia.org/wiki/Пушков,_Алексей_Константинович</a:t>
            </a:r>
          </a:p>
          <a:p xmlns:a="http://schemas.openxmlformats.org/drawingml/2006/main">
            <a:r>
              <a:t>http://council.gov.ru/structure/persons/1316/</a:t>
            </a:r>
          </a:p>
          <a:p xmlns:a="http://schemas.openxmlformats.org/drawingml/2006/main">
            <a:r>
              <a:t>http://council.gov.ru/media/files/xjE2QHRAivCH7onABehAcG7OsnrO6DYb.pdf</a:t>
            </a:r>
          </a:p>
          <a:p xmlns:a="http://schemas.openxmlformats.org/drawingml/2006/main">
            <a:r>
              <a:t>https://base.garant.ru/406310971/</a:t>
            </a:r>
          </a:p>
          <a:p xmlns:a="http://schemas.openxmlformats.org/drawingml/2006/main">
            <a:r>
              <a:t>https://russiancouncil.ru/aleksey-pushkov/</a:t>
            </a:r>
          </a:p>
          <a:p xmlns:a="http://schemas.openxmlformats.org/drawingml/2006/main">
            <a:r>
              <a:t>http://legislation.council.gov.ru/events/announce/</a:t>
            </a:r>
          </a:p>
          <a:p xmlns:a="http://schemas.openxmlformats.org/drawingml/2006/main">
            <a:r>
              <a:t>http://council.gov.ru/events/news/173810/</a:t>
            </a:r>
          </a:p>
          <a:p xmlns:a="http://schemas.openxmlformats.org/drawingml/2006/main">
            <a:r>
              <a:t>http://www.council.gov.ru/events/news/175997/</a:t>
            </a:r>
          </a:p>
          <a:p xmlns:a="http://schemas.openxmlformats.org/drawingml/2006/main">
            <a:r>
              <a:t>http://council.gov.ru/media/report/pdf/HtoXfAAzeBJ8JwN0eAduo3rejTAYhqvB.pdf</a:t>
            </a:r>
          </a:p>
          <a:p xmlns:a="http://schemas.openxmlformats.org/drawingml/2006/main">
            <a:r>
              <a:t>http://council.gov.ru/events/news/164749/</a:t>
            </a:r>
          </a:p>
          <a:p xmlns:a="http://schemas.openxmlformats.org/drawingml/2006/main">
            <a:r>
              <a:t>https://t.me/s/alexey_pushkov?before=14914</a:t>
            </a:r>
          </a:p>
          <a:p xmlns:a="http://schemas.openxmlformats.org/drawingml/2006/main">
            <a:r>
              <a:t>http://legislation.council.gov.ru/events/multimedia/video/302078/</a:t>
            </a:r>
          </a:p>
          <a:p xmlns:a="http://schemas.openxmlformats.org/drawingml/2006/main">
            <a:r>
              <a:t>http://council.gov.ru/media/report/pdf/e8Awe3U6hNouHwSvME53OSPGGWxTeVAl.pdf</a:t>
            </a:r>
          </a:p>
          <a:p xmlns:a="http://schemas.openxmlformats.org/drawingml/2006/main">
            <a:r>
              <a:t>https://www.vedomosti.ru/person/1178385-kosachev-konstantin</a:t>
            </a:r>
          </a:p>
          <a:p xmlns:a="http://schemas.openxmlformats.org/drawingml/2006/main">
            <a:r>
              <a:t>https://www.interfax.ru/interview/812963</a:t>
            </a:r>
          </a:p>
          <a:p xmlns:a="http://schemas.openxmlformats.org/drawingml/2006/main">
            <a:r>
              <a:t>https://senatinform.ru/news/yuzhnuyu_osetiyu_neobkhodimo_vyvodit_iz_iskusstvennoy_izolyatsii_schitayut_rossiyskie_senatory_/</a:t>
            </a:r>
          </a:p>
          <a:p xmlns:a="http://schemas.openxmlformats.org/drawingml/2006/main">
            <a:r>
              <a:t>https://senatinform.ru/news/kosachyev_rossiya_gotova_rabotat_s_mps_s_uchyetom_ozabochennostey_nashey_strany/</a:t>
            </a:r>
          </a:p>
          <a:p xmlns:a="http://schemas.openxmlformats.org/drawingml/2006/main">
            <a:r>
              <a:t>https://www.bfm.ru/person/61</a:t>
            </a:r>
          </a:p>
          <a:p xmlns:a="http://schemas.openxmlformats.org/drawingml/2006/main">
            <a:r>
              <a:t>https://svpressa.ru/persons/konstantin-kosachev/</a:t>
            </a:r>
          </a:p>
          <a:p xmlns:a="http://schemas.openxmlformats.org/drawingml/2006/main">
            <a:r>
              <a:t>https://www.pnp.ru/person/konstantin-kosachev/</a:t>
            </a:r>
          </a:p>
          <a:p xmlns:a="http://schemas.openxmlformats.org/drawingml/2006/main">
            <a:r>
              <a:t>https://www.pnp.ru/politics/konstantin-kosachev-dlya-ssha-voyna-s-rossiey-eto-samoubiystvo.html</a:t>
            </a:r>
          </a:p>
          <a:p xmlns:a="http://schemas.openxmlformats.org/drawingml/2006/main">
            <a:r>
              <a:t>https://www.mlg.ru/ratings/vlast/senators/10844/</a:t>
            </a:r>
          </a:p>
          <a:p xmlns:a="http://schemas.openxmlformats.org/drawingml/2006/main">
            <a:r>
              <a:t>http://council.gov.ru/events/news/173506/</a:t>
            </a:r>
          </a:p>
          <a:p xmlns:a="http://schemas.openxmlformats.org/drawingml/2006/main">
            <a:r>
              <a:t>https://t.me/s/Kosachev62</a:t>
            </a:r>
          </a:p>
          <a:p xmlns:a="http://schemas.openxmlformats.org/drawingml/2006/main">
            <a:r>
              <a:t>http://council.gov.ru/events/news/177602/</a:t>
            </a:r>
          </a:p>
          <a:p xmlns:a="http://schemas.openxmlformats.org/drawingml/2006/main">
            <a:r>
              <a:t>https://vmeste-rf.tv/programs/205/konstantin-kosachev-sotrudnichestvo-rossii-i-efiopii-itogi-vizita-delegatsii-sf/</a:t>
            </a:r>
          </a:p>
          <a:p xmlns:a="http://schemas.openxmlformats.org/drawingml/2006/main">
            <a:r>
              <a:t>https://www.rbc.ru/person/64b8e1909a79474f30e86f98</a:t>
            </a:r>
          </a:p>
          <a:p xmlns:a="http://schemas.openxmlformats.org/drawingml/2006/main">
            <a:r>
              <a:t>https://www.kommersant.ru/doc/6041063</a:t>
            </a:r>
          </a:p>
          <a:p xmlns:a="http://schemas.openxmlformats.org/drawingml/2006/main">
            <a:r>
              <a:t>https://www.mos.ru/mayor/themes/6907050/</a:t>
            </a:r>
          </a:p>
          <a:p xmlns:a="http://schemas.openxmlformats.org/drawingml/2006/main">
            <a:r>
              <a:t>https://www.mos.ru/mayor/themes/7037050/</a:t>
            </a:r>
          </a:p>
          <a:p xmlns:a="http://schemas.openxmlformats.org/drawingml/2006/main">
            <a:r>
              <a:t>https://www.mos.ru/mayor/themes/8822050/</a:t>
            </a:r>
          </a:p>
          <a:p xmlns:a="http://schemas.openxmlformats.org/drawingml/2006/main">
            <a:r>
              <a:t>http://special.kremlin.ru/catalog/persons/38/events/70467</a:t>
            </a:r>
          </a:p>
          <a:p xmlns:a="http://schemas.openxmlformats.org/drawingml/2006/main">
            <a:r>
              <a:t>https://www.mos.ru/upload/content/files/15af077500dcc5a1547bf728abf25669/15Zakong_Moskviot17_05_2017N14Odopolnitelnihgaranti.pdf</a:t>
            </a:r>
          </a:p>
          <a:p xmlns:a="http://schemas.openxmlformats.org/drawingml/2006/main">
            <a:r>
              <a:t>https://www.rbc.ru/politics/03/05/2023/645245159a794763ce66d990</a:t>
            </a:r>
          </a:p>
          <a:p xmlns:a="http://schemas.openxmlformats.org/drawingml/2006/main">
            <a:r>
              <a:t>https://www.dw.com/ru/ataka-dronov-v-moskve-i-podmoskove-cto-izvestno/a-65771767</a:t>
            </a:r>
          </a:p>
          <a:p xmlns:a="http://schemas.openxmlformats.org/drawingml/2006/main">
            <a:r>
              <a:t>https://www.rbc.ru/politics/01/08/2023/64c856ce9a79471a722e13ad</a:t>
            </a:r>
          </a:p>
          <a:p xmlns:a="http://schemas.openxmlformats.org/drawingml/2006/main">
            <a:r>
              <a:t>https://www.rbc.ru/politics/23/08/2023/64e54f299a794789ddb55c65</a:t>
            </a:r>
          </a:p>
          <a:p xmlns:a="http://schemas.openxmlformats.org/drawingml/2006/main">
            <a:r>
              <a:t>https://ru.wikipedia.org/wiki/Беглов,_Александр_Дмитриевич</a:t>
            </a:r>
          </a:p>
          <a:p xmlns:a="http://schemas.openxmlformats.org/drawingml/2006/main">
            <a:r>
              <a:t>https://www.gov.spb.ru/governor/</a:t>
            </a:r>
          </a:p>
          <a:p xmlns:a="http://schemas.openxmlformats.org/drawingml/2006/main">
            <a:r>
              <a:t>https://www.rbc.ru/politics/30/05/2019/5cf02cf09a79475ed4d2fa3f</a:t>
            </a:r>
          </a:p>
          <a:p xmlns:a="http://schemas.openxmlformats.org/drawingml/2006/main">
            <a:r>
              <a:t>https://www.themoscowtimes.com/2019/09/11/st-petersburg-re-elects-governor-beglov-after-controversial-campaign-a67240</a:t>
            </a:r>
          </a:p>
          <a:p xmlns:a="http://schemas.openxmlformats.org/drawingml/2006/main">
            <a:r>
              <a:t>https://www.gov.spb.ru/press/governor/188637/</a:t>
            </a:r>
          </a:p>
          <a:p xmlns:a="http://schemas.openxmlformats.org/drawingml/2006/main">
            <a:r>
              <a:t>https://www.gov.spb.ru/press/governor/213661/</a:t>
            </a:r>
          </a:p>
          <a:p xmlns:a="http://schemas.openxmlformats.org/drawingml/2006/main">
            <a:r>
              <a:t>https://www.gov.spb.ru/press/governor/258831/</a:t>
            </a:r>
          </a:p>
          <a:p xmlns:a="http://schemas.openxmlformats.org/drawingml/2006/main">
            <a:r>
              <a:t>https://www.gov.spb.ru/governor/interview/7333/</a:t>
            </a:r>
          </a:p>
          <a:p xmlns:a="http://schemas.openxmlformats.org/drawingml/2006/main">
            <a:r>
              <a:t>https://tass.ru/interviews/21839179</a:t>
            </a:r>
          </a:p>
          <a:p xmlns:a="http://schemas.openxmlformats.org/drawingml/2006/main">
            <a:r>
              <a:t>https://www.gov.spb.ru/press/governor/236663/</a:t>
            </a:r>
          </a:p>
          <a:p xmlns:a="http://schemas.openxmlformats.org/drawingml/2006/main">
            <a:r>
              <a:t>https://tvspb.ru/news/2022/09/21/aleksandr-beglov-ukaz-prezidenta-o-chastichnoj-mobilizaczii-byl-trudnym-no-neobhodimym-shagom</a:t>
            </a:r>
          </a:p>
          <a:p xmlns:a="http://schemas.openxmlformats.org/drawingml/2006/main">
            <a:r>
              <a:t>https://spbvedomosti.ru/news/gorod/gubernator-aleksandr-beglov-obyavil-o-zavershenii-chastichnoy-mobilizatsii/</a:t>
            </a:r>
          </a:p>
          <a:p xmlns:a="http://schemas.openxmlformats.org/drawingml/2006/main">
            <a:r>
              <a:t>https://www.gov.spb.ru/press/governor/253716/</a:t>
            </a:r>
          </a:p>
          <a:p xmlns:a="http://schemas.openxmlformats.org/drawingml/2006/main">
            <a:r>
              <a:t>https://www.gov.spb.ru/press/governor/290070/</a:t>
            </a:r>
          </a:p>
          <a:p xmlns:a="http://schemas.openxmlformats.org/drawingml/2006/main">
            <a:r>
              <a:t>https://spbdnevnik.ru/news/2022-10-06/aleksandr-beglov-rasskazal-o-prizyve-po-mobilizatsii-peterburzhtsa-s-odnoy-pochkoy</a:t>
            </a:r>
          </a:p>
          <a:p xmlns:a="http://schemas.openxmlformats.org/drawingml/2006/main">
            <a:r>
              <a:t>https://www.rbc.ru/person/62c5c0899a79470082fa57eb</a:t>
            </a:r>
          </a:p>
          <a:p xmlns:a="http://schemas.openxmlformats.org/drawingml/2006/main">
            <a:r>
              <a:t>https://www.kavkaz-uzel.eu/articles/85366</a:t>
            </a:r>
          </a:p>
          <a:p xmlns:a="http://schemas.openxmlformats.org/drawingml/2006/main">
            <a:r>
              <a:t>https://news.ru/regions/my-dolzhny-zabrat-vsyu-ukrainu-chto-kadyrov-govoril-ob-svo-rossii-putine</a:t>
            </a:r>
          </a:p>
          <a:p xmlns:a="http://schemas.openxmlformats.org/drawingml/2006/main">
            <a:r>
              <a:t>https://minval.az/k/ramzan-kadyrov</a:t>
            </a:r>
          </a:p>
          <a:p xmlns:a="http://schemas.openxmlformats.org/drawingml/2006/main">
            <a:r>
              <a:t>http://publication.pravo.gov.ru/document/2000202609160002</a:t>
            </a:r>
          </a:p>
          <a:p xmlns:a="http://schemas.openxmlformats.org/drawingml/2006/main">
            <a:r>
              <a:t>https://vestikavkaza.ru/amp/291219</a:t>
            </a:r>
          </a:p>
          <a:p xmlns:a="http://schemas.openxmlformats.org/drawingml/2006/main">
            <a:r>
              <a:t>https://tass.ru/obschestvo/25968415</a:t>
            </a:r>
          </a:p>
          <a:p xmlns:a="http://schemas.openxmlformats.org/drawingml/2006/main">
            <a:r>
              <a:t>https://www.rbc.ru/rbcfreenews/694558f89a794775c8b05d2e</a:t>
            </a:r>
          </a:p>
          <a:p xmlns:a="http://schemas.openxmlformats.org/drawingml/2006/main">
            <a:r>
              <a:t>https://rais.tatarstan.ru/biografiya.htm</a:t>
            </a:r>
          </a:p>
          <a:p xmlns:a="http://schemas.openxmlformats.org/drawingml/2006/main">
            <a:r>
              <a:t>https://rt.rbc.ru/tatarstan/freenews/68c7f77d9a79472be550408e</a:t>
            </a:r>
          </a:p>
          <a:p xmlns:a="http://schemas.openxmlformats.org/drawingml/2006/main">
            <a:r>
              <a:t>https://rt.rbc.ru/tatarstan/freenews/68c90bdc9a794783273a16b6</a:t>
            </a:r>
          </a:p>
          <a:p xmlns:a="http://schemas.openxmlformats.org/drawingml/2006/main">
            <a:r>
              <a:t>https://tass.ru/politika/25045679</a:t>
            </a:r>
          </a:p>
          <a:p xmlns:a="http://schemas.openxmlformats.org/drawingml/2006/main">
            <a:r>
              <a:t>https://tass.ru/info/25058299</a:t>
            </a:r>
          </a:p>
          <a:p xmlns:a="http://schemas.openxmlformats.org/drawingml/2006/main">
            <a:r>
              <a:t>https://tatarstan.ru/index.htm/news/2454245.htm</a:t>
            </a:r>
          </a:p>
          <a:p xmlns:a="http://schemas.openxmlformats.org/drawingml/2006/main">
            <a:r>
              <a:t>https://izbirkom.tatarstan.ru/file/pub/pub_4719790.docx</a:t>
            </a:r>
          </a:p>
          <a:p xmlns:a="http://schemas.openxmlformats.org/drawingml/2006/main">
            <a:r>
              <a:t>http://www.pfo.gov.ru/press/events/112125/</a:t>
            </a:r>
          </a:p>
          <a:p xmlns:a="http://schemas.openxmlformats.org/drawingml/2006/main">
            <a:r>
              <a:t>https://www.tatar-inform.ru/news/rustam-minnixanov-sankcii-ne-koncatsya-poka-my-ne-stanem-samodostatocnymi-5896958</a:t>
            </a:r>
          </a:p>
          <a:p xmlns:a="http://schemas.openxmlformats.org/drawingml/2006/main">
            <a:r>
              <a:t>https://tatarstan.ru/index.htm/news/1916025.htm</a:t>
            </a:r>
          </a:p>
          <a:p xmlns:a="http://schemas.openxmlformats.org/drawingml/2006/main">
            <a:r>
              <a:t>https://kitaphane.tatarstan.ru/digital.htm</a:t>
            </a:r>
          </a:p>
          <a:p xmlns:a="http://schemas.openxmlformats.org/drawingml/2006/main">
            <a:r>
              <a:t>https://kt.tatarstan.ru/index.htm/news/2266706.htm</a:t>
            </a:r>
          </a:p>
          <a:p xmlns:a="http://schemas.openxmlformats.org/drawingml/2006/main">
            <a:r>
              <a:t>https://tatarstan.ru/index.htm/news/2460505.htm</a:t>
            </a:r>
          </a:p>
          <a:p xmlns:a="http://schemas.openxmlformats.org/drawingml/2006/main">
            <a:r>
              <a:t>https://digital.tatarstan.ru/index.htm/news/2460691.htm</a:t>
            </a:r>
          </a:p>
          <a:p xmlns:a="http://schemas.openxmlformats.org/drawingml/2006/main">
            <a:r>
              <a:t>https://amp.rbc.ru/rbcnews/politics/09/07/2020/5f06bbb69a79475c40a9a094</a:t>
            </a:r>
          </a:p>
          <a:p xmlns:a="http://schemas.openxmlformats.org/drawingml/2006/main">
            <a:r>
              <a:t>https://1kas.sudrf.ru/modules.php?name=sud_delo&amp;name_op=doc&amp;number=39453936&amp;delo_id=2450001&amp;case_type=0&amp;new=2450001&amp;text_number=1&amp;srv_num=1</a:t>
            </a:r>
          </a:p>
          <a:p xmlns:a="http://schemas.openxmlformats.org/drawingml/2006/main">
            <a:r>
              <a:t>https://www.interfax.ru/russia/982916</a:t>
            </a:r>
          </a:p>
          <a:p xmlns:a="http://schemas.openxmlformats.org/drawingml/2006/main">
            <a:r>
              <a:t>https://www.svoboda.org/a/sud-ostavil-v-sile-prigovor-habarovskomu-eks-gubernatoru-sergeyu-furgalu/32686024.html</a:t>
            </a:r>
          </a:p>
          <a:p xmlns:a="http://schemas.openxmlformats.org/drawingml/2006/main">
            <a:r>
              <a:t>https://www.dw.com/ru/kommentarij-furgal-peresidit-putina/a-64670560</a:t>
            </a:r>
          </a:p>
          <a:p xmlns:a="http://schemas.openxmlformats.org/drawingml/2006/main">
            <a:r>
              <a:t>https://www.kommersant.ru/doc/3896415</a:t>
            </a:r>
          </a:p>
          <a:p xmlns:a="http://schemas.openxmlformats.org/drawingml/2006/main">
            <a:r>
              <a:t>https://todaykhv.ru/news/policy/19386/</a:t>
            </a:r>
          </a:p>
          <a:p xmlns:a="http://schemas.openxmlformats.org/drawingml/2006/main">
            <a:r>
              <a:t>https://meduza.io/feature/2018/09/19/ya-dumayu-chto-situatsiya-kak-v-primorie-u-nas-ne-povtoritsya</a:t>
            </a:r>
          </a:p>
          <a:p xmlns:a="http://schemas.openxmlformats.org/drawingml/2006/main">
            <a:r>
              <a:t>https://govoritmoskva.ru/news/174327/</a:t>
            </a:r>
          </a:p>
          <a:p xmlns:a="http://schemas.openxmlformats.org/drawingml/2006/main">
            <a:r>
              <a:t>https://todaykhv.ru/news/policy/22426/?sphrase_id=2620206</a:t>
            </a:r>
          </a:p>
          <a:p xmlns:a="http://schemas.openxmlformats.org/drawingml/2006/main">
            <a:r>
              <a:t>https://ru.wikipedia.org/wiki/%D0%A4%D1%83%D1%80%D0%B3%D0%B0%D0%BB,_%D0%A1%D0%B5%D1%80%D0%B3%D0%B5%D0%B9_%D0%98%D0%B2%D0%B0%D0%BD%D0%BE%D0%B2%D0%B8%D1%87</a:t>
            </a:r>
          </a:p>
          <a:p xmlns:a="http://schemas.openxmlformats.org/drawingml/2006/main">
            <a:r>
              <a:t>https://novayagazeta.ru/articles/2018/09/18/77870-ne-dopuschu-zdes-revolyutsii</a:t>
            </a:r>
          </a:p>
          <a:p xmlns:a="http://schemas.openxmlformats.org/drawingml/2006/main">
            <a:r>
              <a:t>https://opkhv.ru/publications/4888</a:t>
            </a:r>
          </a:p>
          <a:p xmlns:a="http://schemas.openxmlformats.org/drawingml/2006/main">
            <a:r>
              <a:t>https://meduza.io/feature/2019/08/26/partiya-vlasti-zdes-ldpr</a:t>
            </a:r>
          </a:p>
          <a:p xmlns:a="http://schemas.openxmlformats.org/drawingml/2006/main">
            <a:r>
              <a:t>https://tass.ru/obschestvo/5946495</a:t>
            </a:r>
          </a:p>
          <a:p xmlns:a="http://schemas.openxmlformats.org/drawingml/2006/main">
            <a:r>
              <a:t>https://amurmedia.ru/news/775590/</a:t>
            </a:r>
          </a:p>
          <a:p xmlns:a="http://schemas.openxmlformats.org/drawingml/2006/main">
            <a:r>
              <a:t>https://www.eastrussia.ru/material/ne-planiruyushchim-pereezzhat-sovetuyu-pomolchat/</a:t>
            </a:r>
          </a:p>
          <a:p xmlns:a="http://schemas.openxmlformats.org/drawingml/2006/main">
            <a:r>
              <a:t>https://www.dw.com/ru/v-habarovske-priznali-ekstremistskim-dvizenie-v-zasitu-furgala/a-68334442</a:t>
            </a:r>
          </a:p>
          <a:p xmlns:a="http://schemas.openxmlformats.org/drawingml/2006/main">
            <a:r>
              <a:t>https://www.rbc.ru/person/66475fec9a79475c4d9443ad</a:t>
            </a:r>
          </a:p>
          <a:p xmlns:a="http://schemas.openxmlformats.org/drawingml/2006/main">
            <a:r>
              <a:t>https://tass.ru/info/12453099</a:t>
            </a:r>
          </a:p>
          <a:p xmlns:a="http://schemas.openxmlformats.org/drawingml/2006/main">
            <a:r>
              <a:t>https://tass.ru/info/9007455</a:t>
            </a:r>
          </a:p>
          <a:p xmlns:a="http://schemas.openxmlformats.org/drawingml/2006/main">
            <a:r>
              <a:t>https://tass.ru/info/20795009</a:t>
            </a:r>
          </a:p>
          <a:p xmlns:a="http://schemas.openxmlformats.org/drawingml/2006/main">
            <a:r>
              <a:t>https://tass.ru/encyclopedia/person/degtyarev-mihail-vladimirovich</a:t>
            </a:r>
          </a:p>
          <a:p xmlns:a="http://schemas.openxmlformats.org/drawingml/2006/main">
            <a:r>
              <a:t>https://www.rbc.ru/politics/20/07/2020/5f1586289a794722b2457d61</a:t>
            </a:r>
          </a:p>
          <a:p xmlns:a="http://schemas.openxmlformats.org/drawingml/2006/main">
            <a:r>
              <a:t>https://www.minsport.gov.ru/press-center/news/intervyu-mihaila-degtyareva-gazete-kommersant/</a:t>
            </a:r>
          </a:p>
          <a:p xmlns:a="http://schemas.openxmlformats.org/drawingml/2006/main">
            <a:r>
              <a:t>https://minsport.gov.ru/press-center/news/mihail-degtyarev-nashe-mesto-za-stolom-a-ne-v-perednej/</a:t>
            </a:r>
          </a:p>
          <a:p xmlns:a="http://schemas.openxmlformats.org/drawingml/2006/main">
            <a:r>
              <a:t>https://news.ru/vlast/degtyarev-prizval-ne-doveryat-evrope-provedenie-sorevnovanij</a:t>
            </a:r>
          </a:p>
          <a:p xmlns:a="http://schemas.openxmlformats.org/drawingml/2006/main">
            <a:r>
              <a:t>https://www.interfax.ru/presscenter/622170</a:t>
            </a:r>
          </a:p>
          <a:p xmlns:a="http://schemas.openxmlformats.org/drawingml/2006/main">
            <a:r>
              <a:t>https://tass.ru/interviews/13152777</a:t>
            </a:r>
          </a:p>
          <a:p xmlns:a="http://schemas.openxmlformats.org/drawingml/2006/main">
            <a:r>
              <a:t>https://www.sports.ru/others/blogs/3302024.html</a:t>
            </a:r>
          </a:p>
          <a:p xmlns:a="http://schemas.openxmlformats.org/drawingml/2006/main">
            <a:r>
              <a:t>https://www.vremyan.ru/news/556863</a:t>
            </a:r>
          </a:p>
          <a:p xmlns:a="http://schemas.openxmlformats.org/drawingml/2006/main">
            <a:r>
              <a:t>https://kprf.ru/personal/levchenko</a:t>
            </a:r>
          </a:p>
          <a:p xmlns:a="http://schemas.openxmlformats.org/drawingml/2006/main">
            <a:r>
              <a:t>https://www.rbc.ru/politics/23/06/2020/5ef0bd949a7947b3cd3dcba6</a:t>
            </a:r>
          </a:p>
          <a:p xmlns:a="http://schemas.openxmlformats.org/drawingml/2006/main">
            <a:r>
              <a:t>https://kprf.ru/party-live/regnews/194838.html</a:t>
            </a:r>
          </a:p>
          <a:p xmlns:a="http://schemas.openxmlformats.org/drawingml/2006/main">
            <a:r>
              <a:t>https://liveangarsk.ru/news/20191214/v-slozhivsheisya</a:t>
            </a:r>
          </a:p>
          <a:p xmlns:a="http://schemas.openxmlformats.org/drawingml/2006/main">
            <a:r>
              <a:t>https://kprf.ru/dep/gosduma/activities/240271.html</a:t>
            </a:r>
          </a:p>
          <a:p xmlns:a="http://schemas.openxmlformats.org/drawingml/2006/main">
            <a:r>
              <a:t>https://kprf.ru/dep/gosduma/activities/241686.html</a:t>
            </a:r>
          </a:p>
          <a:p xmlns:a="http://schemas.openxmlformats.org/drawingml/2006/main">
            <a:r>
              <a:t>https://altairk.ru/new/policy/the_message_of_the_governor</a:t>
            </a:r>
          </a:p>
          <a:p xmlns:a="http://schemas.openxmlformats.org/drawingml/2006/main">
            <a:r>
              <a:t>https://kto-irkutsk.ru/2026/07/20/sergej-levchenko-deyatelnost-i-zayavleniya-i-ix-ocenka/</a:t>
            </a:r>
          </a:p>
          <a:p xmlns:a="http://schemas.openxmlformats.org/drawingml/2006/main">
            <a:r>
              <a:t>https://ru.wikipedia.org/wiki/%D0%9B%D0%B5%D0%B2%D1%87%D0%B5%D0%BD%D0%BA%D0%BE,_%D0%A1%D0%B5%D1%80%D0%B3%D0%B5%D0%B9_%D0%93%D0%B5%D0%BE%D1%80%D0%B3%D0%B8%D0%B5%D0%B2%D0%B8%D1%87</a:t>
            </a:r>
          </a:p>
          <a:p xmlns:a="http://schemas.openxmlformats.org/drawingml/2006/main">
            <a:r>
              <a:t>https://www.newsru.com/dossiers/10330/</a:t>
            </a:r>
          </a:p>
          <a:p xmlns:a="http://schemas.openxmlformats.org/drawingml/2006/main">
            <a:r>
              <a:t>https://www.interfax.ru/russia/714300</a:t>
            </a:r>
          </a:p>
          <a:p xmlns:a="http://schemas.openxmlformats.org/drawingml/2006/main">
            <a:r>
              <a:t>https://www.rbc.ru/politics/14/09/2020/5f5e7dfb9a79477f7753d651</a:t>
            </a:r>
          </a:p>
          <a:p xmlns:a="http://schemas.openxmlformats.org/drawingml/2006/main">
            <a:r>
              <a:t>https://www.rline.tv/podrobnosti/2019-10-06-sergey-levchenko-za-chetyre-goda-sdelano-bolshe-chem-za-predydushchie-15-let/</a:t>
            </a:r>
          </a:p>
          <a:p xmlns:a="http://schemas.openxmlformats.org/drawingml/2006/main">
            <a:r>
              <a:t>https://vs19.ru/verhovny-sovet/deputati/670-konovalov-valentin-olegovich</a:t>
            </a:r>
          </a:p>
          <a:p xmlns:a="http://schemas.openxmlformats.org/drawingml/2006/main">
            <a:r>
              <a:t>https://meduza.io/feature/2018/09/10/etu-vlast-nichego-ne-spaset</a:t>
            </a:r>
          </a:p>
          <a:p xmlns:a="http://schemas.openxmlformats.org/drawingml/2006/main">
            <a:r>
              <a:t>https://kprf.ru/party-live/regnews/188553.html</a:t>
            </a:r>
          </a:p>
          <a:p xmlns:a="http://schemas.openxmlformats.org/drawingml/2006/main">
            <a:r>
              <a:t>https://www.kommersant.ru/doc/4441936</a:t>
            </a:r>
          </a:p>
          <a:p xmlns:a="http://schemas.openxmlformats.org/drawingml/2006/main">
            <a:r>
              <a:t>http://www.youtube.com/watch?v=eO6lUkFCAqM</a:t>
            </a:r>
          </a:p>
          <a:p xmlns:a="http://schemas.openxmlformats.org/drawingml/2006/main">
            <a:r>
              <a:t>https://ru.wikipedia.org/wiki/%D0%92%D1%8B%D0%B1%D0%BE%D1%80%D1%8B_%D0%B3%D0%BB%D0%B0%D0%B2%D1%8B_%D0%A0%D0%B5%D1%81%D0%BF%D1%83%D0%B1%D0%BB%D0%B8%D0%BA%D0%B8_%D0%A5%D0%B0%D0%BA%D0%B0%D1%81%D0%B8%D1%8F_(2018)</a:t>
            </a:r>
          </a:p>
          <a:p xmlns:a="http://schemas.openxmlformats.org/drawingml/2006/main">
            <a:r>
              <a:t>https://ok.ru/group/51615057903766/topic/157744983021718</a:t>
            </a:r>
          </a:p>
          <a:p xmlns:a="http://schemas.openxmlformats.org/drawingml/2006/main">
            <a:r>
              <a:t>https://kprf.ru/party-live/cknews/245343.html</a:t>
            </a:r>
          </a:p>
          <a:p xmlns:a="http://schemas.openxmlformats.org/drawingml/2006/main">
            <a:r>
              <a:t>https://r-19.ru/news/politika/190680/</a:t>
            </a:r>
          </a:p>
          <a:p xmlns:a="http://schemas.openxmlformats.org/drawingml/2006/main">
            <a:r>
              <a:t>https://r-19.ru/news/ekonomika/193031/</a:t>
            </a:r>
          </a:p>
          <a:p xmlns:a="http://schemas.openxmlformats.org/drawingml/2006/main">
            <a:r>
              <a:t>https://19rusinfo.ru/ekonomika/118670-otchjot</a:t>
            </a:r>
          </a:p>
          <a:p xmlns:a="http://schemas.openxmlformats.org/drawingml/2006/main">
            <a:r>
              <a:t>https://iditena.ru/candidates/konovalov-valentin-olegovich/</a:t>
            </a:r>
          </a:p>
          <a:p xmlns:a="http://schemas.openxmlformats.org/drawingml/2006/main">
            <a:r>
              <a:t>https://56.kprf.ru/deyatelnost/tpost/gjjjuy1zi1-glava-hakasii-valentin-konovalov-dal-int</a:t>
            </a:r>
          </a:p>
          <a:p xmlns:a="http://schemas.openxmlformats.org/drawingml/2006/main">
            <a:r>
              <a:t>https://meduza.io/feature/2019/05/31/strana-pobedivshego-kommunista</a:t>
            </a:r>
          </a:p>
          <a:p xmlns:a="http://schemas.openxmlformats.org/drawingml/2006/main">
            <a:r>
              <a:t>https://xn--80aac0c2a.xn--p1acf/2026/08/22/vstrecha-s-uchastiem-valentina-konovalova-i-alekseya-kornienko-proshla-v-habarovske</a:t>
            </a:r>
          </a:p>
          <a:p xmlns:a="http://schemas.openxmlformats.org/drawingml/2006/main">
            <a:r>
              <a:t>https://www.vedomosti.ru/politics/characters/2026/07/06/1211370-valentin-konovalov-rossiya-na-moskve-ne-zakanchivaetsya?from=newsline</a:t>
            </a:r>
          </a:p>
          <a:p xmlns:a="http://schemas.openxmlformats.org/drawingml/2006/main">
            <a:r>
              <a:t>https://www.vedomosti.ru/person/1215197-aksenov-sergei</a:t>
            </a:r>
          </a:p>
          <a:p xmlns:a="http://schemas.openxmlformats.org/drawingml/2006/main">
            <a:r>
              <a:t>https://www.rbc.ru/person/65f020599a79475815e702c9</a:t>
            </a:r>
          </a:p>
          <a:p xmlns:a="http://schemas.openxmlformats.org/drawingml/2006/main">
            <a:r>
              <a:t>http://crimea.gov.ru/news/30_03_18_10</a:t>
            </a:r>
          </a:p>
          <a:p xmlns:a="http://schemas.openxmlformats.org/drawingml/2006/main">
            <a:r>
              <a:t>https://www.npr.org/sections/parallels/2018/01/27/581114772/putins-man-in-crimea-we-ve-returned-to-russia-forever</a:t>
            </a:r>
          </a:p>
          <a:p xmlns:a="http://schemas.openxmlformats.org/drawingml/2006/main">
            <a:r>
              <a:t>http://crimea.gov.ru/en/news/26_02_19_6</a:t>
            </a:r>
          </a:p>
          <a:p xmlns:a="http://schemas.openxmlformats.org/drawingml/2006/main">
            <a:r>
              <a:t>https://antifashist.com/item/kto-polomal-infopole-kryma-i-ne-otvechaet-na-voprosy.html</a:t>
            </a:r>
          </a:p>
          <a:p xmlns:a="http://schemas.openxmlformats.org/drawingml/2006/main">
            <a:r>
              <a:t>https://ru.krymr.com/a/news/27913548.html</a:t>
            </a:r>
          </a:p>
          <a:p xmlns:a="http://schemas.openxmlformats.org/drawingml/2006/main">
            <a:r>
              <a:t>https://simfch.ru/2022/03/02/glava-respubliki-krym-sergej-aksyonov-prizval-krymchan-k-informaczionnoj-mobilizaczii-otkrytomu-i-publichnomu-vyrazheniyu-svoej-patrioticheskoj-poziczii/</a:t>
            </a:r>
          </a:p>
          <a:p xmlns:a="http://schemas.openxmlformats.org/drawingml/2006/main">
            <a:r>
              <a:t>https://www.rbc.ru/politics/29/05/2023/64749e389a7947f3de98dff2</a:t>
            </a:r>
          </a:p>
          <a:p xmlns:a="http://schemas.openxmlformats.org/drawingml/2006/main">
            <a:r>
              <a:t>https://ru.krymr.com/a/krym-sergey-aksenov-pvo-prilety-bavovna-bezopasnost-pvo-udar/32631709.html</a:t>
            </a:r>
          </a:p>
          <a:p xmlns:a="http://schemas.openxmlformats.org/drawingml/2006/main">
            <a:r>
              <a:t>https://rostov.rbc.ru/rostov/interview/18/03/2024/65f75c4f9a7947c8b475ab94</a:t>
            </a:r>
          </a:p>
          <a:p xmlns:a="http://schemas.openxmlformats.org/drawingml/2006/main">
            <a:r>
              <a:t>https://www.kommersant.ru/doc/7715230</a:t>
            </a:r>
          </a:p>
          <a:p xmlns:a="http://schemas.openxmlformats.org/drawingml/2006/main">
            <a:r>
              <a:t>https://www.kommersant.ru/doc/5154319</a:t>
            </a:r>
          </a:p>
          <a:p xmlns:a="http://schemas.openxmlformats.org/drawingml/2006/main">
            <a:r>
              <a:t>https://www.rbc.ru/person/660290b19a7947801fe9439b</a:t>
            </a:r>
          </a:p>
          <a:p xmlns:a="http://schemas.openxmlformats.org/drawingml/2006/main">
            <a:r>
              <a:t>https://www.kommersant.ru/doc/3759211</a:t>
            </a:r>
          </a:p>
          <a:p xmlns:a="http://schemas.openxmlformats.org/drawingml/2006/main">
            <a:r>
              <a:t>https://tass.ru/info/6656656</a:t>
            </a:r>
          </a:p>
          <a:p xmlns:a="http://schemas.openxmlformats.org/drawingml/2006/main">
            <a:r>
              <a:t>https://sevastopol.er.ru/pages/otchet-gubernatora-sevastopolya-mihaila-razvozhaeva</a:t>
            </a:r>
          </a:p>
          <a:p xmlns:a="http://schemas.openxmlformats.org/drawingml/2006/main">
            <a:r>
              <a:t>http://special.kremlin.ru/catalog/persons/579/events/76271</a:t>
            </a:r>
          </a:p>
          <a:p xmlns:a="http://schemas.openxmlformats.org/drawingml/2006/main">
            <a:r>
              <a:t>https://sevastopol.su/news/chastnyy-biznes-vlozhil-v-sevastopol-250-mlrd-rubley-za-tri-goda</a:t>
            </a:r>
          </a:p>
          <a:p xmlns:a="http://schemas.openxmlformats.org/drawingml/2006/main">
            <a:r>
              <a:t>https://sevastopol.su/news/v-sevastopole-ocenili-perspektivy-mikhaila-razvozhaeva-na-sleduyuschikh-vyborakh</a:t>
            </a:r>
          </a:p>
          <a:p xmlns:a="http://schemas.openxmlformats.org/drawingml/2006/main">
            <a:r>
              <a:t>https://tass.ru/interviews/10248577</a:t>
            </a:r>
          </a:p>
          <a:p xmlns:a="http://schemas.openxmlformats.org/drawingml/2006/main">
            <a:r>
              <a:t>https://news.ru/russia/u-nas-smelye-plany-gubernator-sevastopolya-razvozzhaev-o-budushem-goroda</a:t>
            </a:r>
          </a:p>
          <a:p xmlns:a="http://schemas.openxmlformats.org/drawingml/2006/main">
            <a:r>
              <a:t>http://kremlin.ru/events/administration/80838</a:t>
            </a:r>
          </a:p>
          <a:p xmlns:a="http://schemas.openxmlformats.org/drawingml/2006/main">
            <a:r>
              <a:t>https://tass.ru/kultura/28214691</a:t>
            </a:r>
          </a:p>
          <a:p xmlns:a="http://schemas.openxmlformats.org/drawingml/2006/main">
            <a:r>
              <a:t>http://kremlin.ru/events/administration/80591</a:t>
            </a:r>
          </a:p>
          <a:p xmlns:a="http://schemas.openxmlformats.org/drawingml/2006/main">
            <a:r>
              <a:t>https://governors.ru/glava-regiona/Belgorodskaya-oblast/Gladkov-Vyacheslav-Vladimirovich</a:t>
            </a:r>
          </a:p>
          <a:p xmlns:a="http://schemas.openxmlformats.org/drawingml/2006/main">
            <a:r>
              <a:t>https://ru.wikipedia.org/wiki/%D0%93%D0%BB%D0%B0%D0%B4%D0%BA%D0%BE%D0%B2,_%D0%92%D1%8F%D1%87%D0%B5%D1%81%D0%BB%D0%B0%D0%B2_%D0%92%D0%BB%D0%B0%D0%B4%D0%B8%D0%BC%D0%B8%D1%80%D0%BE%D0%B2%D0%B8%D1%87</a:t>
            </a:r>
          </a:p>
          <a:p xmlns:a="http://schemas.openxmlformats.org/drawingml/2006/main">
            <a:r>
              <a:t>http://council.gov.ru/structure/persons/1543/</a:t>
            </a:r>
          </a:p>
          <a:p xmlns:a="http://schemas.openxmlformats.org/drawingml/2006/main">
            <a:r>
              <a:t>https://ufa.rbc.ru/person/648345539a794760fd0c17e8</a:t>
            </a:r>
          </a:p>
          <a:p xmlns:a="http://schemas.openxmlformats.org/drawingml/2006/main">
            <a:r>
              <a:t>https://www.kommersant.ru/doc/8571119</a:t>
            </a:r>
          </a:p>
          <a:p xmlns:a="http://schemas.openxmlformats.org/drawingml/2006/main">
            <a:r>
              <a:t>https://www.kommersant.ru/doc/8655079</a:t>
            </a:r>
          </a:p>
          <a:p xmlns:a="http://schemas.openxmlformats.org/drawingml/2006/main">
            <a:r>
              <a:t>https://tass.ru/info/27861241</a:t>
            </a:r>
          </a:p>
          <a:p xmlns:a="http://schemas.openxmlformats.org/drawingml/2006/main">
            <a:r>
              <a:t>https://meduza.io/feature/2023/06/08/emu-by-vse-eto-razgresti</a:t>
            </a:r>
          </a:p>
          <a:p xmlns:a="http://schemas.openxmlformats.org/drawingml/2006/main">
            <a:r>
              <a:t>http://www.kremlin.ru/events/president/transcripts/66288</a:t>
            </a:r>
          </a:p>
          <a:p xmlns:a="http://schemas.openxmlformats.org/drawingml/2006/main">
            <a:r>
              <a:t>https://www.belpressa.ru/politics/vlast/62665.html</a:t>
            </a:r>
          </a:p>
          <a:p xmlns:a="http://schemas.openxmlformats.org/drawingml/2006/main">
            <a:r>
              <a:t>https://www.belpressa.ru/politics/vlast/71368.html</a:t>
            </a:r>
          </a:p>
          <a:p xmlns:a="http://schemas.openxmlformats.org/drawingml/2006/main">
            <a:r>
              <a:t>https://www.belnovosti.ru/politika/gubernator/127077.html</a:t>
            </a:r>
          </a:p>
          <a:p xmlns:a="http://schemas.openxmlformats.org/drawingml/2006/main">
            <a:r>
              <a:t>https://chr.plus.rbc.ru/news/694b9fb67a8aa90f9c2ce17d</a:t>
            </a:r>
          </a:p>
          <a:p xmlns:a="http://schemas.openxmlformats.org/drawingml/2006/main">
            <a:r>
              <a:t>https://www.belpressa.ru/society/bezopasnost/43348.html</a:t>
            </a:r>
          </a:p>
          <a:p xmlns:a="http://schemas.openxmlformats.org/drawingml/2006/main">
            <a:r>
              <a:t>https://www.rbc.ru/politics/07/03/2023/640758bf9a7947f6af99d464</a:t>
            </a:r>
          </a:p>
          <a:p xmlns:a="http://schemas.openxmlformats.org/drawingml/2006/main">
            <a:r>
              <a:t>https://www.rbc.ru/politics/24/05/2023/646d22029a794797c4bac4bf</a:t>
            </a:r>
          </a:p>
          <a:p xmlns:a="http://schemas.openxmlformats.org/drawingml/2006/main">
            <a:r>
              <a:t>https://www.bbc.com/russian/articles/c70dkd0pvrlo</a:t>
            </a:r>
          </a:p>
          <a:p xmlns:a="http://schemas.openxmlformats.org/drawingml/2006/main">
            <a:r>
              <a:t>https://www.go31.ru/news/proisshestviya/kak-nikto-drugoy-ponimaem-chto-takoe-agressiya-so-storony-ukrainy-gladkov-o-proryve-granitsy-v-kursk/</a:t>
            </a:r>
          </a:p>
          <a:p xmlns:a="http://schemas.openxmlformats.org/drawingml/2006/main">
            <a:r>
              <a:t>https://echofm.online/portret-dnya/portret-dnya-vyacheslav-gladkov-gubernator-belgorodskoj-oblasti-prognozy-o-sudbe-kotorogo-raznyatsya-ot-posta-posla-v-abhazii-do-ugolovnogo-dela</a:t>
            </a:r>
          </a:p>
          <a:p xmlns:a="http://schemas.openxmlformats.org/drawingml/2006/main">
            <a:r>
              <a:t>https://www.kommersant.ru/doc/3917861</a:t>
            </a:r>
          </a:p>
          <a:p xmlns:a="http://schemas.openxmlformats.org/drawingml/2006/main">
            <a:r>
              <a:t>https://minstroyrf.gov.ru/press/okolo-40-kontsessionnykh-soglasheniy-v-rossii-deystvuet-v-sfere-zhkkh/</a:t>
            </a:r>
          </a:p>
          <a:p xmlns:a="http://schemas.openxmlformats.org/drawingml/2006/main">
            <a:r>
              <a:t>https://newsroom24.ru/murmansk/news/politics/2026/news_323931/</a:t>
            </a:r>
          </a:p>
          <a:p xmlns:a="http://schemas.openxmlformats.org/drawingml/2006/main">
            <a:r>
              <a:t>https://murmansk.ru/52053</a:t>
            </a:r>
          </a:p>
          <a:p xmlns:a="http://schemas.openxmlformats.org/drawingml/2006/main">
            <a:r>
              <a:t>https://51.ru/text/gorod/2026/01/22/76228112/</a:t>
            </a:r>
          </a:p>
          <a:p xmlns:a="http://schemas.openxmlformats.org/drawingml/2006/main">
            <a:r>
              <a:t>https://www.murman.ru/news/2026/05/02/2334/</a:t>
            </a:r>
          </a:p>
          <a:p xmlns:a="http://schemas.openxmlformats.org/drawingml/2006/main">
            <a:r>
              <a:t>https://murman.ru/news/2026/09/06/2141/</a:t>
            </a:r>
          </a:p>
          <a:p xmlns:a="http://schemas.openxmlformats.org/drawingml/2006/main">
            <a:r>
              <a:t>https://www.murman.ru/news/2026/09/13/2242/</a:t>
            </a:r>
          </a:p>
          <a:p xmlns:a="http://schemas.openxmlformats.org/drawingml/2006/main">
            <a:r>
              <a:t>https://ru.wikipedia.org/wiki/%D0%A7%D0%B8%D0%B1%D0%B8%D1%81,_%D0%90%D0%BD%D0%B4%D1%80%D0%B5%D0%B9_%D0%92%D0%BB%D0%B0%D0%B4%D0%B8%D0%BC%D0%B8%D1%80%D0%BE%D0%B2%D0%B8%D1%87</a:t>
            </a:r>
          </a:p>
          <a:p xmlns:a="http://schemas.openxmlformats.org/drawingml/2006/main">
            <a:r>
              <a:t>https://tass.ru/obschestvo/23491353</a:t>
            </a:r>
          </a:p>
          <a:p xmlns:a="http://schemas.openxmlformats.org/drawingml/2006/main">
            <a:r>
              <a:t>https://www.murman.ru/news/2026/09/03/2243/</a:t>
            </a:r>
          </a:p>
          <a:p xmlns:a="http://schemas.openxmlformats.org/drawingml/2006/main">
            <a:r>
              <a:t>https://msp.citymurmansk.ru/news/2026/09/03/0930/</a:t>
            </a:r>
          </a:p>
          <a:p xmlns:a="http://schemas.openxmlformats.org/drawingml/2006/main">
            <a:r>
              <a:t>http://kremlin.ru/events/president/letters/80916</a:t>
            </a:r>
          </a:p>
          <a:p xmlns:a="http://schemas.openxmlformats.org/drawingml/2006/main">
            <a:r>
              <a:t>https://www.murmansk.kp.ru/daily/277813.4/5300258/</a:t>
            </a:r>
          </a:p>
          <a:p xmlns:a="http://schemas.openxmlformats.org/drawingml/2006/main">
            <a:r>
              <a:t>https://www.fontanka.ru/2021/07/27/70046798/</a:t>
            </a:r>
          </a:p>
          <a:p xmlns:a="http://schemas.openxmlformats.org/drawingml/2006/main">
            <a:r>
              <a:t>https://www.kommersant.ru/doc/4639758</a:t>
            </a:r>
          </a:p>
          <a:p xmlns:a="http://schemas.openxmlformats.org/drawingml/2006/main">
            <a:r>
              <a:t>https://www.bbc.com/russian/news-55614829</a:t>
            </a:r>
          </a:p>
          <a:p xmlns:a="http://schemas.openxmlformats.org/drawingml/2006/main">
            <a:r>
              <a:t>https://newpeople.ru/Deputy/sardana-avksenteva</a:t>
            </a:r>
          </a:p>
          <a:p xmlns:a="http://schemas.openxmlformats.org/drawingml/2006/main">
            <a:r>
              <a:t>https://www.pnp.ru/economics/kontrol-za-koncessionnymi-soglasheniyami-predlozhili-usilit.html</a:t>
            </a:r>
          </a:p>
          <a:p xmlns:a="http://schemas.openxmlformats.org/drawingml/2006/main">
            <a:r>
              <a:t>https://www.ng.ru/politics/2024-12-05/1_9150_right.html</a:t>
            </a:r>
          </a:p>
          <a:p xmlns:a="http://schemas.openxmlformats.org/drawingml/2006/main">
            <a:r>
              <a:t>https://news.ru/society/v-novyh-lyudyah-rasskazali-o-glavnyh-zadachah-partii-pered-vyborami</a:t>
            </a:r>
          </a:p>
          <a:p xmlns:a="http://schemas.openxmlformats.org/drawingml/2006/main">
            <a:r>
              <a:t>https://www.kommersant.ru/doc/8939397</a:t>
            </a:r>
          </a:p>
          <a:p xmlns:a="http://schemas.openxmlformats.org/drawingml/2006/main">
            <a:r>
              <a:t>https://tass.ru/info/5220823</a:t>
            </a:r>
          </a:p>
          <a:p xmlns:a="http://schemas.openxmlformats.org/drawingml/2006/main">
            <a:r>
              <a:t>https://tass.ru/info/15547711</a:t>
            </a:r>
          </a:p>
          <a:p xmlns:a="http://schemas.openxmlformats.org/drawingml/2006/main">
            <a:r>
              <a:t>https://www.bbc.com/russian/features-62661643</a:t>
            </a:r>
          </a:p>
          <a:p xmlns:a="http://schemas.openxmlformats.org/drawingml/2006/main">
            <a:r>
              <a:t>https://www.kommersant.ru/doc/3298219</a:t>
            </a:r>
          </a:p>
          <a:p xmlns:a="http://schemas.openxmlformats.org/drawingml/2006/main">
            <a:r>
              <a:t>https://www.svoboda.org/a/31217129.html</a:t>
            </a:r>
          </a:p>
          <a:p xmlns:a="http://schemas.openxmlformats.org/drawingml/2006/main">
            <a:r>
              <a:t>https://www.interfax.ru/russia/902059</a:t>
            </a:r>
          </a:p>
          <a:p xmlns:a="http://schemas.openxmlformats.org/drawingml/2006/main">
            <a:r>
              <a:t>https://www.bfm.ru/news/525620</a:t>
            </a:r>
          </a:p>
          <a:p xmlns:a="http://schemas.openxmlformats.org/drawingml/2006/main">
            <a:r>
              <a:t>https://novayagazeta.ru/articles/2023/03/16/do-urovnia-myshei-media</a:t>
            </a:r>
          </a:p>
          <a:p xmlns:a="http://schemas.openxmlformats.org/drawingml/2006/main">
            <a:r>
              <a:t>https://tjournal.ru/71076</a:t>
            </a:r>
          </a:p>
          <a:p xmlns:a="http://schemas.openxmlformats.org/drawingml/2006/main">
            <a:r>
              <a:t>https://www.nakanune.ru/articles/111648/</a:t>
            </a:r>
          </a:p>
          <a:p xmlns:a="http://schemas.openxmlformats.org/drawingml/2006/main">
            <a:r>
              <a:t>https://adcmemorial.org/statyi/kolonki/neprotivlenie-rasizmu/</a:t>
            </a:r>
          </a:p>
          <a:p xmlns:a="http://schemas.openxmlformats.org/drawingml/2006/main">
            <a:r>
              <a:t>https://www.svoboda.org/a/royzman-i-drugie-zhiteli-ekaterinburga/31997151.html</a:t>
            </a:r>
          </a:p>
          <a:p xmlns:a="http://schemas.openxmlformats.org/drawingml/2006/main">
            <a:r>
              <a:t>https://www.e1.ru/text/politics/2022/02/24/70466417/</a:t>
            </a:r>
          </a:p>
          <a:p xmlns:a="http://schemas.openxmlformats.org/drawingml/2006/main">
            <a:r>
              <a:t>https://www.dw.com/ru/kommentarij-evgenij-rojzman-i-sila-pravdy/a-62917754</a:t>
            </a:r>
          </a:p>
          <a:p xmlns:a="http://schemas.openxmlformats.org/drawingml/2006/main">
            <a:r>
              <a:t>https://meduza.io/paragraph/2022/08/26/priehali-moskvichi-i-dumali-chto-zdes-duraki-sobralis</a:t>
            </a:r>
          </a:p>
          <a:p xmlns:a="http://schemas.openxmlformats.org/drawingml/2006/main">
            <a:r>
              <a:t>https://znamlit.ru/publication.php?id=7379</a:t>
            </a:r>
          </a:p>
          <a:p xmlns:a="http://schemas.openxmlformats.org/drawingml/2006/main">
            <a:r>
              <a:t>https://tass.ru/interviews/6080499</a:t>
            </a:r>
          </a:p>
          <a:p xmlns:a="http://schemas.openxmlformats.org/drawingml/2006/main">
            <a:r>
              <a:t>https://45.ru/text/politics/2024/09/09/73952072/</a:t>
            </a:r>
          </a:p>
          <a:p xmlns:a="http://schemas.openxmlformats.org/drawingml/2006/main">
            <a:r>
              <a:t>http://special.kremlin.ru/events/president/news/70638</a:t>
            </a:r>
          </a:p>
          <a:p xmlns:a="http://schemas.openxmlformats.org/drawingml/2006/main">
            <a:r>
              <a:t>https://ura.news/news/1053132902</a:t>
            </a:r>
          </a:p>
          <a:p xmlns:a="http://schemas.openxmlformats.org/drawingml/2006/main">
            <a:r>
              <a:t>https://ura.news/articles/1036276564</a:t>
            </a:r>
          </a:p>
          <a:p xmlns:a="http://schemas.openxmlformats.org/drawingml/2006/main">
            <a:r>
              <a:t>https://tass.ru/novosti-regionov/28187431</a:t>
            </a:r>
          </a:p>
          <a:p xmlns:a="http://schemas.openxmlformats.org/drawingml/2006/main">
            <a:r>
              <a:t>https://fedpress.ru/person/1753607</a:t>
            </a:r>
          </a:p>
          <a:p xmlns:a="http://schemas.openxmlformats.org/drawingml/2006/main">
            <a:r>
              <a:t>https://eburg.mk.ru/social/2026/10/14/zhiteley-zauralya-predupredili-o-lozhnykh-videorolikakh-s-gubernatorom.html</a:t>
            </a:r>
          </a:p>
          <a:p xmlns:a="http://schemas.openxmlformats.org/drawingml/2006/main">
            <a:r>
              <a:t>https://regnum.ru/news/3530808</a:t>
            </a:r>
          </a:p>
          <a:p xmlns:a="http://schemas.openxmlformats.org/drawingml/2006/main">
            <a:r>
              <a:t>https://kurganvera.ru/news/vrns/mitropolit-daniil-i-vadim-shumkov-vozglavili-delegatsiyu-kurganskoy-oblasti-na-vsemirnom-russkom-sob/</a:t>
            </a:r>
          </a:p>
          <a:p xmlns:a="http://schemas.openxmlformats.org/drawingml/2006/main">
            <a:r>
              <a:t>https://45.ru/text/politics/2026/06/26/76499700/</a:t>
            </a:r>
          </a:p>
          <a:p xmlns:a="http://schemas.openxmlformats.org/drawingml/2006/main">
            <a:r>
              <a:t>https://niva-kurtamysh.com/news/obshchestvo/vystuplenie-gubernatora-kurganskoy-oblasti-vadima-shumkova</a:t>
            </a:r>
          </a:p>
          <a:p xmlns:a="http://schemas.openxmlformats.org/drawingml/2006/main">
            <a:r>
              <a:t>https://t.me/s/kurganskayaobl?before=42616</a:t>
            </a:r>
          </a:p>
          <a:p xmlns:a="http://schemas.openxmlformats.org/drawingml/2006/main">
            <a:r>
              <a:t>https://www.bbc.com/russian/news-54368577</a:t>
            </a:r>
          </a:p>
          <a:p xmlns:a="http://schemas.openxmlformats.org/drawingml/2006/main">
            <a:r>
              <a:t>https://www.bbc.com/russian/articles/cp0769dp15eo</a:t>
            </a:r>
          </a:p>
          <a:p xmlns:a="http://schemas.openxmlformats.org/drawingml/2006/main">
            <a:r>
              <a:t>https://navalny.com/materials/blogpost-6017</a:t>
            </a:r>
          </a:p>
          <a:p xmlns:a="http://schemas.openxmlformats.org/drawingml/2006/main">
            <a:r>
              <a:t>https://www.bbc.com/russian/news-58563592</a:t>
            </a:r>
          </a:p>
          <a:p xmlns:a="http://schemas.openxmlformats.org/drawingml/2006/main">
            <a:r>
              <a:t>https://navalny.com/materials/blogpost-6544</a:t>
            </a:r>
          </a:p>
          <a:p xmlns:a="http://schemas.openxmlformats.org/drawingml/2006/main">
            <a:r>
              <a:t>https://www.bbc.com/russian/news-58270043</a:t>
            </a:r>
          </a:p>
          <a:p xmlns:a="http://schemas.openxmlformats.org/drawingml/2006/main">
            <a:r>
              <a:t>https://www.bbc.com/russian/articles/cvg3p9l1e5ro</a:t>
            </a:r>
          </a:p>
          <a:p xmlns:a="http://schemas.openxmlformats.org/drawingml/2006/main">
            <a:r>
              <a:t>https://www.bbc.com/russian/features-54435835</a:t>
            </a:r>
          </a:p>
          <a:p xmlns:a="http://schemas.openxmlformats.org/drawingml/2006/main">
            <a:r>
              <a:t>https://2018.navalny.com/platform/7/</a:t>
            </a:r>
          </a:p>
          <a:p xmlns:a="http://schemas.openxmlformats.org/drawingml/2006/main">
            <a:r>
              <a:t>https://2018.navalny.com/platform/3/</a:t>
            </a:r>
          </a:p>
          <a:p xmlns:a="http://schemas.openxmlformats.org/drawingml/2006/main">
            <a:r>
              <a:t>https://2018.navalny.com/platform/10/</a:t>
            </a:r>
          </a:p>
          <a:p xmlns:a="http://schemas.openxmlformats.org/drawingml/2006/main">
            <a:r>
              <a:t>https://2018.navalny.com/platform/9/</a:t>
            </a:r>
          </a:p>
          <a:p xmlns:a="http://schemas.openxmlformats.org/drawingml/2006/main">
            <a:r>
              <a:t>https://navalny.com/editorials/aleksey-navalnyy-protiv-voyny</a:t>
            </a:r>
          </a:p>
          <a:p xmlns:a="http://schemas.openxmlformats.org/drawingml/2006/main">
            <a:r>
              <a:t>https://navalny.com/?p=149</a:t>
            </a:r>
          </a:p>
          <a:p xmlns:a="http://schemas.openxmlformats.org/drawingml/2006/main">
            <a:r>
              <a:t>https://www.interfax.ru/russia/876151</a:t>
            </a:r>
          </a:p>
          <a:p xmlns:a="http://schemas.openxmlformats.org/drawingml/2006/main">
            <a:r>
              <a:t>https://www.dw.com/ru/srok-ne-za-fejk-a-za-politiku-reakcii-v-frg-i-rf-na-prigovor-asinu/a-64049957</a:t>
            </a:r>
          </a:p>
          <a:p xmlns:a="http://schemas.openxmlformats.org/drawingml/2006/main">
            <a:r>
              <a:t>https://www.lemonde.fr/en/international/article/2025/05/27/russian-opposition-figure-ilya-yashin-if-ukraine-is-handed-over-to-putin-it-will-be-a-tragedy-and-the-prologue-to-a-global-confrontation_6741728_4.html</a:t>
            </a:r>
          </a:p>
          <a:p xmlns:a="http://schemas.openxmlformats.org/drawingml/2006/main">
            <a:r>
              <a:t>https://www.bbc.com/russian/articles/crgl69w9472o</a:t>
            </a:r>
          </a:p>
          <a:p xmlns:a="http://schemas.openxmlformats.org/drawingml/2006/main">
            <a:r>
              <a:t>https://www.svoboda.org/a/yashin-court/32165539.html</a:t>
            </a:r>
          </a:p>
          <a:p xmlns:a="http://schemas.openxmlformats.org/drawingml/2006/main">
            <a:r>
              <a:t>https://www.dw.com/ru/ila-asin-putin-predvoditel-sil-mrakobesia/a-69923731</a:t>
            </a:r>
          </a:p>
          <a:p xmlns:a="http://schemas.openxmlformats.org/drawingml/2006/main">
            <a:r>
              <a:t>https://novayagazeta.eu/articles/2025/08/01/my-ne-mozhem-trebovat-no-mozhem-obiasniat</a:t>
            </a:r>
          </a:p>
          <a:p xmlns:a="http://schemas.openxmlformats.org/drawingml/2006/main">
            <a:r>
              <a:t>https://meduza.io/feature/2019/07/20/to-chto-putin-ne-smog-sdelat-za-20-let-sobyanin-sdelal-za-mesyats</a:t>
            </a:r>
          </a:p>
          <a:p xmlns:a="http://schemas.openxmlformats.org/drawingml/2006/main">
            <a:r>
              <a:t>https://novayagazeta.eu/articles/2024/11/18/pochuvstvovat-sebia-ne-odinokimi</a:t>
            </a:r>
          </a:p>
          <a:p xmlns:a="http://schemas.openxmlformats.org/drawingml/2006/main">
            <a:r>
              <a:t>https://www.svoboda.org/a/voyna-putin-i-politzaklyuchennye-iljya-yashin-o-svoih-planah/33177839.html</a:t>
            </a:r>
          </a:p>
          <a:p xmlns:a="http://schemas.openxmlformats.org/drawingml/2006/main">
            <a:r>
              <a:t>https://www.dw.com/ru/asin-sejcas-nevozmozno-obedinit-rossijskuu-oppoziciu-da-i-ne-nuzno/a-70291088</a:t>
            </a:r>
          </a:p>
          <a:p xmlns:a="http://schemas.openxmlformats.org/drawingml/2006/main">
            <a:r>
              <a:t>https://www.dw.com/ru/vladimir-karamurza/t-37465233</a:t>
            </a:r>
          </a:p>
          <a:p xmlns:a="http://schemas.openxmlformats.org/drawingml/2006/main">
            <a:r>
              <a:t>https://ovd.info/persons/kara-murza-vladimir-vladimirovich</a:t>
            </a:r>
          </a:p>
          <a:p xmlns:a="http://schemas.openxmlformats.org/drawingml/2006/main">
            <a:r>
              <a:t>https://ovd.info/2024/08/03/kogo-rossiya-vydala-v-ramkakh-obmena-zaklyuchennymi-s-zapadom-istorii-osvobozhdennykh</a:t>
            </a:r>
          </a:p>
          <a:p xmlns:a="http://schemas.openxmlformats.org/drawingml/2006/main">
            <a:r>
              <a:t>https://www.svoboda.org/a/kara-murza-obmen/33059121.html</a:t>
            </a:r>
          </a:p>
          <a:p xmlns:a="http://schemas.openxmlformats.org/drawingml/2006/main">
            <a:r>
              <a:t>https://novayagazeta.ru/articles/2024/08/16/prezident-baiden-prinial-osvobozhdennogo-v-rezultate-obmena-politzakliuchennogo-vladimira-kara-murzu-s-semei-v-belom-dome-news</a:t>
            </a:r>
          </a:p>
          <a:p xmlns:a="http://schemas.openxmlformats.org/drawingml/2006/main">
            <a:r>
              <a:t>https://genevasummit.org/speech/vladimir-kara-murza-speaks-at-2018-geneva-summit-main-event/</a:t>
            </a:r>
          </a:p>
          <a:p xmlns:a="http://schemas.openxmlformats.org/drawingml/2006/main">
            <a:r>
              <a:t>https://humanrights.ca/event-series/presidents-lecture-series</a:t>
            </a:r>
          </a:p>
          <a:p xmlns:a="http://schemas.openxmlformats.org/drawingml/2006/main">
            <a:r>
              <a:t>https://www.radiofrance.fr/franceinter/podcasts/l-info-de-france-inter/la-democratie-doit-etre-protegee-chaque-minute-de-chaque-jour-declare-l-opposant-russe-vladimir-kara-mourza-8105094</a:t>
            </a:r>
          </a:p>
          <a:p xmlns:a="http://schemas.openxmlformats.org/drawingml/2006/main">
            <a:r>
              <a:t>https://georgetownvoice.com/2025/10/08/dissident-in-residence-vladimir-kara-murza-applies-past-lessons-to-present-day-in-recent-event-discussing-democracy/</a:t>
            </a:r>
          </a:p>
          <a:p xmlns:a="http://schemas.openxmlformats.org/drawingml/2006/main">
            <a:r>
              <a:t>https://www.oscepa.org/en/documents/winter-meetings/2025-vienna/speeches-36/5176-vladimir-kara-murza-address-to-the-osce-pa-winter-meeting-in-vienna-21-february-2025/file</a:t>
            </a:r>
          </a:p>
          <a:p xmlns:a="http://schemas.openxmlformats.org/drawingml/2006/main">
            <a:r>
              <a:t>https://hrf.org/wp-content/uploads/2024/10/VKM-%E2%80%93-Statement-of-Facts-and-Levinson-Analysis.pdf</a:t>
            </a:r>
          </a:p>
          <a:p xmlns:a="http://schemas.openxmlformats.org/drawingml/2006/main">
            <a:r>
              <a:t>https://www.govinfo.gov/content/pkg/CREC-2024-06-11/html/CREC-2024-06-11-pt1-PgH3699.htm</a:t>
            </a:r>
          </a:p>
          <a:p xmlns:a="http://schemas.openxmlformats.org/drawingml/2006/main">
            <a:r>
              <a:t>https://antiwarcommittee.info/en/statement-on-the-persecution-of-vladimir-kara-murza/</a:t>
            </a:r>
          </a:p>
          <a:p xmlns:a="http://schemas.openxmlformats.org/drawingml/2006/main">
            <a:r>
              <a:t>https://www.norway.no/en/missions/osce/norway-and-the-osce/statements/statements-with--norwegian-alignment-2024/joint-statement-on-vladimir-kara-murza/</a:t>
            </a:r>
          </a:p>
          <a:p xmlns:a="http://schemas.openxmlformats.org/drawingml/2006/main">
            <a:r>
              <a:t>https://www.aljazeera.com/news/2025/4/23/kremlin-critic-decried-for-racist-rant-on-minorities-fighting-for-russia</a:t>
            </a:r>
          </a:p>
          <a:p xmlns:a="http://schemas.openxmlformats.org/drawingml/2006/main">
            <a:r>
              <a:t>https://www.rmc.edu/news/former-political-prisoner-vladimir-kara-murza-offers-vision-of-hope-for-russian-democracy/</a:t>
            </a:r>
          </a:p>
          <a:p xmlns:a="http://schemas.openxmlformats.org/drawingml/2006/main">
            <a:r>
              <a:t>https://2018.yavlinsky.ru/campaign/</a:t>
            </a:r>
          </a:p>
          <a:p xmlns:a="http://schemas.openxmlformats.org/drawingml/2006/main">
            <a:r>
              <a:t>http://2018.yavlinsky.ru/programm/</a:t>
            </a:r>
          </a:p>
          <a:p xmlns:a="http://schemas.openxmlformats.org/drawingml/2006/main">
            <a:r>
              <a:t>https://campaign2018.yavlinsky.ru/</a:t>
            </a:r>
          </a:p>
          <a:p xmlns:a="http://schemas.openxmlformats.org/drawingml/2006/main">
            <a:r>
              <a:t>https://www.yavlinsky.ru/position/war/</a:t>
            </a:r>
          </a:p>
          <a:p xmlns:a="http://schemas.openxmlformats.org/drawingml/2006/main">
            <a:r>
              <a:t>https://www.yavlinsky.ru/position/cease-fire/</a:t>
            </a:r>
          </a:p>
          <a:p xmlns:a="http://schemas.openxmlformats.org/drawingml/2006/main">
            <a:r>
              <a:t>https://www.yavlinsky.ru/article_tax/ukraina/</a:t>
            </a:r>
          </a:p>
          <a:p xmlns:a="http://schemas.openxmlformats.org/drawingml/2006/main">
            <a:r>
              <a:t>https://www.yavlinsky.ru/biografiya/</a:t>
            </a:r>
          </a:p>
          <a:p xmlns:a="http://schemas.openxmlformats.org/drawingml/2006/main">
            <a:r>
              <a:t>https://www.yabloko.ru/publikatsii/2018/02/15_0</a:t>
            </a:r>
          </a:p>
          <a:p xmlns:a="http://schemas.openxmlformats.org/drawingml/2006/main">
            <a:r>
              <a:t>https://www.yabloko.ru/publikatsii/2018/06/19</a:t>
            </a:r>
          </a:p>
          <a:p xmlns:a="http://schemas.openxmlformats.org/drawingml/2006/main">
            <a:r>
              <a:t>https://www.yavlinsky.ru/article/eto-referendum/</a:t>
            </a:r>
          </a:p>
          <a:p xmlns:a="http://schemas.openxmlformats.org/drawingml/2006/main">
            <a:r>
              <a:t>https://www.svoboda.org/a/27801792.html</a:t>
            </a:r>
          </a:p>
          <a:p xmlns:a="http://schemas.openxmlformats.org/drawingml/2006/main">
            <a:r>
              <a:t>https://www.svoboda.org/a/29294829.html</a:t>
            </a:r>
          </a:p>
          <a:p xmlns:a="http://schemas.openxmlformats.org/drawingml/2006/main">
            <a:r>
              <a:t>https://www.yavlinsky.ru/article/intervyu-g-yavlinskogo-zhertvy-budut-proryva-net/</a:t>
            </a:r>
          </a:p>
          <a:p xmlns:a="http://schemas.openxmlformats.org/drawingml/2006/main">
            <a:r>
              <a:t>https://www.yavlinsky.ru/article/my-budem-idti-do-kontsa/</a:t>
            </a:r>
          </a:p>
          <a:p xmlns:a="http://schemas.openxmlformats.org/drawingml/2006/main">
            <a:r>
              <a:t>https://www.yavlinsky.ru/article/prezidentskie-vybory-1996-30-let-spustya/</a:t>
            </a:r>
          </a:p>
          <a:p xmlns:a="http://schemas.openxmlformats.org/drawingml/2006/main">
            <a:r>
              <a:t>https://www.forbes.ru/interview/45575-reformatory-prihodyat-k-vlasti-grigorii-yavlinskii</a:t>
            </a:r>
          </a:p>
          <a:p xmlns:a="http://schemas.openxmlformats.org/drawingml/2006/main">
            <a:r>
              <a:t>https://www.bbc.com/russian/articles/cy8ee2wngd8o</a:t>
            </a:r>
          </a:p>
          <a:p xmlns:a="http://schemas.openxmlformats.org/drawingml/2006/main">
            <a:r>
              <a:t>https://www.yabloko.ru/regnews/Pskov/2019/01/21-0</a:t>
            </a:r>
          </a:p>
          <a:p xmlns:a="http://schemas.openxmlformats.org/drawingml/2006/main">
            <a:r>
              <a:t>https://www.yabloko.ru/publikatsii/2019/06/14</a:t>
            </a:r>
          </a:p>
          <a:p xmlns:a="http://schemas.openxmlformats.org/drawingml/2006/main">
            <a:r>
              <a:t>https://zona.media/article/2019/02/27/pskov</a:t>
            </a:r>
          </a:p>
          <a:p xmlns:a="http://schemas.openxmlformats.org/drawingml/2006/main">
            <a:r>
              <a:t>https://spektr.press/ya-otvechayu-za-vse-mnoj-skazannoe-no-ne-otvechayu-za-izvraschenie-skazannogo-lev-shlosberg-o-travle-i-setkah-telegram-kanalov-odnokletochnyh-politikah-reshivshih-pobedit-putina-rukami-u/</a:t>
            </a:r>
          </a:p>
          <a:p xmlns:a="http://schemas.openxmlformats.org/drawingml/2006/main">
            <a:r>
              <a:t>https://www.yabloko.ru/Persons/shlosberg.html</a:t>
            </a:r>
          </a:p>
          <a:p xmlns:a="http://schemas.openxmlformats.org/drawingml/2006/main">
            <a:r>
              <a:t>https://pln-pskov.ru/politics/314872.html</a:t>
            </a:r>
          </a:p>
          <a:p xmlns:a="http://schemas.openxmlformats.org/drawingml/2006/main">
            <a:r>
              <a:t>https://www.yabloko.ru/publikatsii/2022/02/18-0</a:t>
            </a:r>
          </a:p>
          <a:p xmlns:a="http://schemas.openxmlformats.org/drawingml/2006/main">
            <a:r>
              <a:t>https://ru.krymr.com/a/rossiya-putin-voyna-repressii-lev-shlosberg-intervyu/31806389.html</a:t>
            </a:r>
          </a:p>
          <a:p xmlns:a="http://schemas.openxmlformats.org/drawingml/2006/main">
            <a:r>
              <a:t>https://www.currenttime.tv/a/politika-vlastey-chtoby-lyudi-perestali-govorit-o-spetsialnoy-voennoy-operatsii-lev-shlosberg-o-dele-protiv-nego-i-nikolaya-kuzmina/31807396.html</a:t>
            </a:r>
          </a:p>
          <a:p xmlns:a="http://schemas.openxmlformats.org/drawingml/2006/main">
            <a:r>
              <a:t>https://zona.media/article/2026/08/14/schlosberg</a:t>
            </a:r>
          </a:p>
          <a:p xmlns:a="http://schemas.openxmlformats.org/drawingml/2006/main">
            <a:r>
              <a:t>https://www.svoboda.org/a/lishniy-zalozhnik-vot-chto-im-vazhno-arest-lva-shlosberga/33615624.html</a:t>
            </a:r>
          </a:p>
          <a:p xmlns:a="http://schemas.openxmlformats.org/drawingml/2006/main">
            <a:r>
              <a:t>https://novayagazeta.eu/articles/2026/08/17/ostavshiisia</a:t>
            </a:r>
          </a:p>
          <a:p xmlns:a="http://schemas.openxmlformats.org/drawingml/2006/main">
            <a:r>
              <a:t>https://www.yabloko.ru/content/vishnevskii_boris_lazarevich</a:t>
            </a:r>
          </a:p>
          <a:p xmlns:a="http://schemas.openxmlformats.org/drawingml/2006/main">
            <a:r>
              <a:t>https://www.dp.ru/a/2018/06/18/Aktivnaja_storona_konflikt</a:t>
            </a:r>
          </a:p>
          <a:p xmlns:a="http://schemas.openxmlformats.org/drawingml/2006/main">
            <a:r>
              <a:t>https://www.bbc.com/russian/features-58481940</a:t>
            </a:r>
          </a:p>
          <a:p xmlns:a="http://schemas.openxmlformats.org/drawingml/2006/main">
            <a:r>
              <a:t>https://www.dp.ru/a/2023/01/16/Deputat_Peterburga_Vishnev</a:t>
            </a:r>
          </a:p>
          <a:p xmlns:a="http://schemas.openxmlformats.org/drawingml/2006/main">
            <a:r>
              <a:t>https://echofm.online/portret-dnya/portret-dnya-boris-vishnevskij-peterburgskij-politik</a:t>
            </a:r>
          </a:p>
          <a:p xmlns:a="http://schemas.openxmlformats.org/drawingml/2006/main">
            <a:r>
              <a:t>https://spb.yabloko.ru/people/vishnevskij-boris-lazarevich/</a:t>
            </a:r>
          </a:p>
          <a:p xmlns:a="http://schemas.openxmlformats.org/drawingml/2006/main">
            <a:r>
              <a:t>https://www.dp.ru/a/2026/08/26/bitva-nachalas-gde-v-peterburge</a:t>
            </a:r>
          </a:p>
          <a:p xmlns:a="http://schemas.openxmlformats.org/drawingml/2006/main">
            <a:r>
              <a:t>https://www.yabloko.ru/regnews/Spb/2022/02/21</a:t>
            </a:r>
          </a:p>
          <a:p xmlns:a="http://schemas.openxmlformats.org/drawingml/2006/main">
            <a:r>
              <a:t>https://www.yabloko.ru/cat-news/2021/08/06-0</a:t>
            </a:r>
          </a:p>
          <a:p xmlns:a="http://schemas.openxmlformats.org/drawingml/2006/main">
            <a:r>
              <a:t>https://www.rbc.ru/spb_sz/16/01/2023/63c53d9c9a7947d9bef4b853</a:t>
            </a:r>
          </a:p>
          <a:p xmlns:a="http://schemas.openxmlformats.org/drawingml/2006/main">
            <a:r>
              <a:t>https://www.rbc.ru/politics/06/05/2024/6638a8609a79472c01075a2c</a:t>
            </a:r>
          </a:p>
          <a:p xmlns:a="http://schemas.openxmlformats.org/drawingml/2006/main">
            <a:r>
              <a:t>https://www.svoboda.org/a/politika-dmitriya-gudkova-deportirovali-iz-gruzii-v-kiev/31679697.html</a:t>
            </a:r>
          </a:p>
          <a:p xmlns:a="http://schemas.openxmlformats.org/drawingml/2006/main">
            <a:r>
              <a:t>https://ru.krymr.com/a/dmitriy-gudkov-ob-otyezde-iz-rossii/31295079.html</a:t>
            </a:r>
          </a:p>
          <a:p xmlns:a="http://schemas.openxmlformats.org/drawingml/2006/main">
            <a:r>
              <a:t>https://daily.afisha.ru/news/114366-syn-politika-dmitriya-gudkova-pokonchil-s-soboy-v-emigracii/amp/</a:t>
            </a:r>
          </a:p>
          <a:p xmlns:a="http://schemas.openxmlformats.org/drawingml/2006/main">
            <a:r>
              <a:t>https://life.ru/t/dmitriygudkov</a:t>
            </a:r>
          </a:p>
          <a:p xmlns:a="http://schemas.openxmlformats.org/drawingml/2006/main">
            <a:r>
              <a:t>https://uk.wikipedia.org/wiki/%D0%93%D1%83%D0%B4%D0%BA%D0%BE%D0%B2_%D0%94%D0%BC%D0%B8%D1%82%D1%80%D1%96%D0%B9_%D0%93%D0%B5%D0%BD%D0%B0%D0%B4%D1%96%D0%B9%D0%BE%D0%B2%D0%B8%D1%87</a:t>
            </a:r>
          </a:p>
          <a:p xmlns:a="http://schemas.openxmlformats.org/drawingml/2006/main">
            <a:r>
              <a:t>https://mt.gazeta.ru/blog/43692366076/Syin-byivshego-deputata-Gosdumyi-Dmitriya-Gudkova-pokonchil-s-so?utm_referrer=mirtesen.ru</a:t>
            </a:r>
          </a:p>
          <a:p xmlns:a="http://schemas.openxmlformats.org/drawingml/2006/main">
            <a:r>
              <a:t>https://www.bbc.com/russian/news-57381443</a:t>
            </a:r>
          </a:p>
          <a:p xmlns:a="http://schemas.openxmlformats.org/drawingml/2006/main">
            <a:r>
              <a:t>https://www.themoscowtimes.com/2021/06/06/kremlin-critic-dmitry-gudkov-flees-to-ukraine-a74123</a:t>
            </a:r>
          </a:p>
          <a:p xmlns:a="http://schemas.openxmlformats.org/drawingml/2006/main">
            <a:r>
              <a:t>https://www.yabloko.ru/publikatsii/2016/09/15</a:t>
            </a:r>
          </a:p>
          <a:p xmlns:a="http://schemas.openxmlformats.org/drawingml/2006/main">
            <a:r>
              <a:t>https://novayagazeta.ru/articles/2018/03/21/75886-ya-privyk-lyudyam-verit</a:t>
            </a:r>
          </a:p>
          <a:p xmlns:a="http://schemas.openxmlformats.org/drawingml/2006/main">
            <a:r>
              <a:t>https://www.rbc.ru/politics/15/03/2018/5aaa98049a7947d12d63f1e1</a:t>
            </a:r>
          </a:p>
          <a:p xmlns:a="http://schemas.openxmlformats.org/drawingml/2006/main">
            <a:r>
              <a:t>https://rus.team/people/gudkov-dmitrij-gennadevich</a:t>
            </a:r>
          </a:p>
          <a:p xmlns:a="http://schemas.openxmlformats.org/drawingml/2006/main">
            <a:r>
              <a:t>https://www.azattyqasia.org/a/chto-proiskhodit-v-donbasse-/31863310/lbl0lbi299676.html</a:t>
            </a:r>
          </a:p>
          <a:p xmlns:a="http://schemas.openxmlformats.org/drawingml/2006/main">
            <a:r>
              <a:t>https://www.dw.com/ru/dmitrij-gudkov-putin-na-storone-partii-vojny-no-pri-etom-on-trus-21092022/video-63193199</a:t>
            </a:r>
          </a:p>
          <a:p xmlns:a="http://schemas.openxmlformats.org/drawingml/2006/main">
            <a:r>
              <a:t>https://ru.wikinews.org/wiki/%D0%9A%D0%B0%D1%82%D0%B5%D0%B3%D0%BE%D1%80%D0%B8%D1%8F:%D0%93%D0%B5%D0%BD%D0%BD%D0%B0%D0%B4%D0%B8%D0%B9_%D0%93%D1%83%D0%B4%D0%BA%D0%BE%D0%B2</a:t>
            </a:r>
          </a:p>
          <a:p xmlns:a="http://schemas.openxmlformats.org/drawingml/2006/main">
            <a:r>
              <a:t>https://en.wikipedia.org/wiki/Gennady_Gudkov</a:t>
            </a:r>
          </a:p>
          <a:p xmlns:a="http://schemas.openxmlformats.org/drawingml/2006/main">
            <a:r>
              <a:t>https://x.com/gudkov_g</a:t>
            </a:r>
          </a:p>
          <a:p xmlns:a="http://schemas.openxmlformats.org/drawingml/2006/main">
            <a:r>
              <a:t>https://www.dw.com/ru/chto-dmitrij-gudkov-nameren-delat-v-ukraine-i-vernetsja-li-v-rossiju/a-57830619</a:t>
            </a:r>
          </a:p>
          <a:p xmlns:a="http://schemas.openxmlformats.org/drawingml/2006/main">
            <a:r>
              <a:t>https://ru.wikipedia.org/wiki/%D0%93%D1%83%D0%B4%D0%BA%D0%BE%D0%B2,_%D0%93%D0%B5%D0%BD%D0%BD%D0%B0%D0%B4%D0%B8%D0%B9_%D0%92%D0%BB%D0%B0%D0%B4%D0%B8%D0%BC%D0%B8%D1%80%D0%BE%D0%B2%D0%B8%D1%87</a:t>
            </a:r>
          </a:p>
          <a:p xmlns:a="http://schemas.openxmlformats.org/drawingml/2006/main">
            <a:r>
              <a:t>https://ru.wikipedia.org/wiki/%D0%93%D1%83%D0%B4%D0%BA%D0%BE%D0%B2,_%D0%94%D0%BC%D0%B8%D1%82%D1%80%D0%B8%D0%B9_%D0%93%D0%B5%D0%BD%D0%BD%D0%B0%D0%B4%D1%8C%D0%B5%D0%B2%D0%B8%D1%87</a:t>
            </a:r>
          </a:p>
          <a:p xmlns:a="http://schemas.openxmlformats.org/drawingml/2006/main">
            <a:r>
              <a:t>https://utro02.tv/2022/10/31/navstrechu-sezdu-gennadij-gudkov-o-vyborah-obedinenii-oppoziczii-i-razdelenii-vlasti/</a:t>
            </a:r>
          </a:p>
          <a:p xmlns:a="http://schemas.openxmlformats.org/drawingml/2006/main">
            <a:r>
              <a:t>https://www.unian.net/war/rossiyskiy-oppozicioner-gudkov-putin-nachinaet-ponimat-chto-nastupaet-zh-pa-12031263.html</a:t>
            </a:r>
          </a:p>
          <a:p xmlns:a="http://schemas.openxmlformats.org/drawingml/2006/main">
            <a:r>
              <a:t>https://bntnews.bg/genadiy-gudkov-86846tag.html</a:t>
            </a:r>
          </a:p>
          <a:p xmlns:a="http://schemas.openxmlformats.org/drawingml/2006/main">
            <a:r>
              <a:t>https://tass.ru/encyclopedia/person/gudkov-dmitriy-gennadevich</a:t>
            </a:r>
          </a:p>
          <a:p xmlns:a="http://schemas.openxmlformats.org/drawingml/2006/main">
            <a:r>
              <a:t>https://www.kasparov.com/garry-kasparov-on-putin-and-the-virus-of-imperialism-wsj-free-expression-april-11-2022/</a:t>
            </a:r>
          </a:p>
          <a:p xmlns:a="http://schemas.openxmlformats.org/drawingml/2006/main">
            <a:r>
              <a:t>https://www.ilmessaggero.it/en/garry_kasparov_from_chess_champion_to_kremlin_critic-9797261.html</a:t>
            </a:r>
          </a:p>
          <a:p xmlns:a="http://schemas.openxmlformats.org/drawingml/2006/main">
            <a:r>
              <a:t>https://www.kasparov.com/category/russia/</a:t>
            </a:r>
          </a:p>
          <a:p xmlns:a="http://schemas.openxmlformats.org/drawingml/2006/main">
            <a:r>
              <a:t>https://www.kasparov.com/category/politics/</a:t>
            </a:r>
          </a:p>
          <a:p xmlns:a="http://schemas.openxmlformats.org/drawingml/2006/main">
            <a:r>
              <a:t>https://en.wikipedia.org/wiki/Political_views_of_Garry_Kasparov</a:t>
            </a:r>
          </a:p>
          <a:p xmlns:a="http://schemas.openxmlformats.org/drawingml/2006/main">
            <a:r>
              <a:t>https://www.dw.com/ru/kasparov-v-intervu-dw-vse-cto-delal-delaet-i-budet-delat-tramp-pomogaet-putinu/a-79633734</a:t>
            </a:r>
          </a:p>
          <a:p xmlns:a="http://schemas.openxmlformats.org/drawingml/2006/main">
            <a:r>
              <a:t>https://www.kasparov.com/</a:t>
            </a:r>
          </a:p>
          <a:p xmlns:a="http://schemas.openxmlformats.org/drawingml/2006/main">
            <a:r>
              <a:t>https://www.kasparov.com/a-conversation-with-garry-kasparov-thought-economics-with-vikas-shas-may-21-2017/</a:t>
            </a:r>
          </a:p>
          <a:p xmlns:a="http://schemas.openxmlformats.org/drawingml/2006/main">
            <a:r>
              <a:t>https://www.kasparov.com/new-yorker-interview-the-chess-grandmaster-and-political-activist-on-putin-trump-and-how-we-are-living-again-through-the-eighteen-fifties/</a:t>
            </a:r>
          </a:p>
          <a:p xmlns:a="http://schemas.openxmlformats.org/drawingml/2006/main">
            <a:r>
              <a:t>https://www.cnbc.com/2017/02/13/the-full-interview-with-former-world-chess-champion-garry-kasparov-on-trump-putin.html</a:t>
            </a:r>
          </a:p>
          <a:p xmlns:a="http://schemas.openxmlformats.org/drawingml/2006/main">
            <a:r>
              <a:t>https://www.reuters.com/world/europe/kasparov-calls-world-powers-throw-russia-back-into-stone-age-2022-03-03/</a:t>
            </a:r>
          </a:p>
          <a:p xmlns:a="http://schemas.openxmlformats.org/drawingml/2006/main">
            <a:r>
              <a:t>https://khodorkovsky.com/open-russia-manifesto/</a:t>
            </a:r>
          </a:p>
          <a:p xmlns:a="http://schemas.openxmlformats.org/drawingml/2006/main">
            <a:r>
              <a:t>https://khodorkovsky.com/programmes/initiatives/openrussia/</a:t>
            </a:r>
          </a:p>
          <a:p xmlns:a="http://schemas.openxmlformats.org/drawingml/2006/main">
            <a:r>
              <a:t>https://khodorkovsky.com/page/65/?m</a:t>
            </a:r>
          </a:p>
          <a:p xmlns:a="http://schemas.openxmlformats.org/drawingml/2006/main">
            <a:r>
              <a:t>https://khodorkovsky.com/page/80/?m</a:t>
            </a:r>
          </a:p>
          <a:p xmlns:a="http://schemas.openxmlformats.org/drawingml/2006/main">
            <a:r>
              <a:t>https://angliya.com/publication/mihail-hodorkovskiy-ne-priznayu-razdelenie-lyudey-na-osnovanii-politicheskih-vzglyadov/</a:t>
            </a:r>
          </a:p>
          <a:p xmlns:a="http://schemas.openxmlformats.org/drawingml/2006/main">
            <a:r>
              <a:t>https://www.dw.com/ru/mihail-hodorkovski-bojus-jeta-vojna-ne-budet-poslednej/a-61314556</a:t>
            </a:r>
          </a:p>
          <a:p xmlns:a="http://schemas.openxmlformats.org/drawingml/2006/main">
            <a:r>
              <a:t>https://ru.euronews.com/2022/06/21/ru-khodorkovsky-interview</a:t>
            </a:r>
          </a:p>
          <a:p xmlns:a="http://schemas.openxmlformats.org/drawingml/2006/main">
            <a:r>
              <a:t>https://ru.euronews.com/2022/06/23/mikhail-khodorkovsky</a:t>
            </a:r>
          </a:p>
          <a:p xmlns:a="http://schemas.openxmlformats.org/drawingml/2006/main">
            <a:r>
              <a:t>https://poligonmedia.io/mihail-hodorkovskij-putin-ne-pobedil/</a:t>
            </a:r>
          </a:p>
          <a:p xmlns:a="http://schemas.openxmlformats.org/drawingml/2006/main">
            <a:r>
              <a:t>https://www.pap.pl/ru/russian/news/khodorkovskiy-u-putina-est-prichiny-vesti-peregovory-o-prekraschenii-voyny-na-ukraine</a:t>
            </a:r>
          </a:p>
          <a:p xmlns:a="http://schemas.openxmlformats.org/drawingml/2006/main">
            <a:r>
              <a:t>https://milov.org/cat/debates</a:t>
            </a:r>
          </a:p>
          <a:p xmlns:a="http://schemas.openxmlformats.org/drawingml/2006/main">
            <a:r>
              <a:t>https://milov.org/entry/4188</a:t>
            </a:r>
          </a:p>
          <a:p xmlns:a="http://schemas.openxmlformats.org/drawingml/2006/main">
            <a:r>
              <a:t>https://milov.org/cat/international</a:t>
            </a:r>
          </a:p>
          <a:p xmlns:a="http://schemas.openxmlformats.org/drawingml/2006/main">
            <a:r>
              <a:t>https://tvrain.tv/teleshow/amerikanskie_gonki/tramp_vynashivaet_ideju_primiritsja_s_putinym-453802/</a:t>
            </a:r>
          </a:p>
          <a:p xmlns:a="http://schemas.openxmlformats.org/drawingml/2006/main">
            <a:r>
              <a:t>https://www.currenttime.tv/a/vladimir-milov-interview/31505887.html</a:t>
            </a:r>
          </a:p>
          <a:p xmlns:a="http://schemas.openxmlformats.org/drawingml/2006/main">
            <a:r>
              <a:t>https://ovd.info/express-news/2021/07/27/roskomnadzor-potreboval-ot-youtube-zablokirovat-kanaly-troikh-soratnikov</a:t>
            </a:r>
          </a:p>
          <a:p xmlns:a="http://schemas.openxmlformats.org/drawingml/2006/main">
            <a:r>
              <a:t>https://www.dw.com/ru/sud-v-moskve-prigovoril-vladimira-milova-k-8-godam-kolonii/a-67415717</a:t>
            </a:r>
          </a:p>
          <a:p xmlns:a="http://schemas.openxmlformats.org/drawingml/2006/main">
            <a:r>
              <a:t>https://ru.wikipedia.org/wiki/%D0%9C%D0%B8%D0%BB%D0%BE%D0%B2,_%D0%92%D0%BB%D0%B0%D0%B4%D0%B8%D0%BC%D0%B8%D1%80_%D0%A1%D1%82%D0%B0%D0%BD%D0%B8%D1%81%D0%BB%D0%B0%D0%B2%D0%BE%D0%B2%D0%B8%D1%87</a:t>
            </a:r>
          </a:p>
          <a:p xmlns:a="http://schemas.openxmlformats.org/drawingml/2006/main">
            <a:r>
              <a:t>https://gordonua.com/news/worldnews/milov-merkel-molodec-poteryala-vsego-7-8-v-polzu-svezhey-antiimmigrantskoy-partii-na-fone-migrantskogo-krizisa-208758.html</a:t>
            </a:r>
          </a:p>
          <a:p xmlns:a="http://schemas.openxmlformats.org/drawingml/2006/main">
            <a:r>
              <a:t>https://echofm.online/programs/hochu-skazat/hochu-skazat-larina-69</a:t>
            </a:r>
          </a:p>
          <a:p xmlns:a="http://schemas.openxmlformats.org/drawingml/2006/main">
            <a:r>
              <a:t>https://www.hoover.org/plus/research/russian-opposition-and-ukraine-conversation-vladimir-milov</a:t>
            </a:r>
          </a:p>
          <a:p xmlns:a="http://schemas.openxmlformats.org/drawingml/2006/main">
            <a:r>
              <a:t>https://www.golosameriki.com/a/washington-dialogue-russian-opposition-conference/7648250.html</a:t>
            </a:r>
          </a:p>
          <a:p xmlns:a="http://schemas.openxmlformats.org/drawingml/2006/main">
            <a:r>
              <a:t>https://glavred.info/chat/1337-vladimir-milov.html</a:t>
            </a:r>
          </a:p>
          <a:p xmlns:a="http://schemas.openxmlformats.org/drawingml/2006/main">
            <a:r>
              <a:t>https://www.interfax.ru/moscow/669378</a:t>
            </a:r>
          </a:p>
          <a:p xmlns:a="http://schemas.openxmlformats.org/drawingml/2006/main">
            <a:r>
              <a:t>https://tass.ru/politika/6670439</a:t>
            </a:r>
          </a:p>
          <a:p xmlns:a="http://schemas.openxmlformats.org/drawingml/2006/main">
            <a:r>
              <a:t>https://www.rbc.ru/politics/16/07/2019/5d2c8b3b9a794799a7c7d413</a:t>
            </a:r>
          </a:p>
          <a:p xmlns:a="http://schemas.openxmlformats.org/drawingml/2006/main">
            <a:r>
              <a:t>https://www.bbc.com/russian/news-56269079</a:t>
            </a:r>
          </a:p>
          <a:p xmlns:a="http://schemas.openxmlformats.org/drawingml/2006/main">
            <a:r>
              <a:t>https://ovd.info/express-news/2020/12/28/s-yurista-fbk-kotoraya-provela-pochti-dvoe-sutok-v-ivs-pytalis-vzyat</a:t>
            </a:r>
          </a:p>
          <a:p xmlns:a="http://schemas.openxmlformats.org/drawingml/2006/main">
            <a:r>
              <a:t>https://ovd.info/express-news/2021/02/26/prokuratura-utverdila-obvinenie-sobol-po-delu-o-proniknovenii-v-kvartiru</a:t>
            </a:r>
          </a:p>
          <a:p xmlns:a="http://schemas.openxmlformats.org/drawingml/2006/main">
            <a:r>
              <a:t>https://ovd.info/express-news/2020/12/29/protiv-alekseya-navalnogo-vozbudili-ugolovnoe-delo-o-moshennichestve-iz-za</a:t>
            </a:r>
          </a:p>
          <a:p xmlns:a="http://schemas.openxmlformats.org/drawingml/2006/main">
            <a:r>
              <a:t>https://www.currenttime.tv/a/sobol/31723600.html</a:t>
            </a:r>
          </a:p>
          <a:p xmlns:a="http://schemas.openxmlformats.org/drawingml/2006/main">
            <a:r>
              <a:t>https://www.currenttime.tv/interview/episodes/2022/2/26</a:t>
            </a:r>
          </a:p>
          <a:p xmlns:a="http://schemas.openxmlformats.org/drawingml/2006/main">
            <a:r>
              <a:t>https://ochevidcy.com/putin-budet-vorovat-do-groba/</a:t>
            </a:r>
          </a:p>
          <a:p xmlns:a="http://schemas.openxmlformats.org/drawingml/2006/main">
            <a:r>
              <a:t>https://www.svoboda.org/a/32881433.html</a:t>
            </a:r>
          </a:p>
          <a:p xmlns:a="http://schemas.openxmlformats.org/drawingml/2006/main">
            <a:r>
              <a:t>https://echofm.online/programs/idyom-po-zvyozdam/idyom-po-zvezdam-s-lyubovyu-sobol</a:t>
            </a:r>
          </a:p>
          <a:p xmlns:a="http://schemas.openxmlformats.org/drawingml/2006/main">
            <a:r>
              <a:t>https://x.com/SobolLubov</a:t>
            </a:r>
          </a:p>
          <a:p xmlns:a="http://schemas.openxmlformats.org/drawingml/2006/main">
            <a:r>
              <a:t>https://stuki-druki.com/authors/sobol-lubov.php</a:t>
            </a:r>
          </a:p>
          <a:p xmlns:a="http://schemas.openxmlformats.org/drawingml/2006/main">
            <a:r>
              <a:t>https://www.interfax.ru/elections2018/593143</a:t>
            </a:r>
          </a:p>
          <a:p xmlns:a="http://schemas.openxmlformats.org/drawingml/2006/main">
            <a:r>
              <a:t>https://elections2018.tass.ru/candidate/sobchak</a:t>
            </a:r>
          </a:p>
          <a:p xmlns:a="http://schemas.openxmlformats.org/drawingml/2006/main">
            <a:r>
              <a:t>https://www.interfax.ru/elections2018/604186</a:t>
            </a:r>
          </a:p>
          <a:p xmlns:a="http://schemas.openxmlformats.org/drawingml/2006/main">
            <a:r>
              <a:t>https://www.interfax.ru/elections2018/604908</a:t>
            </a:r>
          </a:p>
          <a:p xmlns:a="http://schemas.openxmlformats.org/drawingml/2006/main">
            <a:r>
              <a:t>https://www.consultant.ru/law/hotdocs/53066.html</a:t>
            </a:r>
          </a:p>
          <a:p xmlns:a="http://schemas.openxmlformats.org/drawingml/2006/main">
            <a:r>
              <a:t>https://www.rbc.ru/newspaper/2018/03/20/5aae9ca49a794739b02918a0</a:t>
            </a:r>
          </a:p>
          <a:p xmlns:a="http://schemas.openxmlformats.org/drawingml/2006/main">
            <a:r>
              <a:t>https://www.interfax.ru/elections2018/604136</a:t>
            </a:r>
          </a:p>
          <a:p xmlns:a="http://schemas.openxmlformats.org/drawingml/2006/main">
            <a:r>
              <a:t>https://www.interfax.ru/elections2018/604190</a:t>
            </a:r>
          </a:p>
          <a:p xmlns:a="http://schemas.openxmlformats.org/drawingml/2006/main">
            <a:r>
              <a:t>https://www.rbc.ru/economics/25/12/2017/5a4025f19a79472e3f5f4ad9?from=right_column_materials_3</a:t>
            </a:r>
          </a:p>
          <a:p xmlns:a="http://schemas.openxmlformats.org/drawingml/2006/main">
            <a:r>
              <a:t>https://news.ru/show-business/otezd-iz-rf-vybory-svo-v-chem-priznalas-kseniya-sobchak-v-novom-intervyu</a:t>
            </a:r>
          </a:p>
          <a:p xmlns:a="http://schemas.openxmlformats.org/drawingml/2006/main">
            <a:r>
              <a:t>https://rtvi.com/news/sobchak-otvetila-na-vopros-putin-ili-zelenskij/</a:t>
            </a:r>
          </a:p>
          <a:p xmlns:a="http://schemas.openxmlformats.org/drawingml/2006/main">
            <a:r>
              <a:t>https://informator.ua/ru/kompromissy-iz-rf-legitimnost-zelenskogo-i-gotovnost-pozhat-ruku-putinu-o-chem-govoril-arestovich-v-intervyu-sobchak</a:t>
            </a:r>
          </a:p>
          <a:p xmlns:a="http://schemas.openxmlformats.org/drawingml/2006/main">
            <a:r>
              <a:t>https://rassvet-party.info/</a:t>
            </a:r>
          </a:p>
          <a:p xmlns:a="http://schemas.openxmlformats.org/drawingml/2006/main">
            <a:r>
              <a:t>https://en.wikipedia.org/wiki/Yekaterina_Duntsova</a:t>
            </a:r>
          </a:p>
          <a:p xmlns:a="http://schemas.openxmlformats.org/drawingml/2006/main">
            <a:r>
              <a:t>https://www.dw.com/ru/cto-nuzno-znat-o-ekaterine-duncovoj-kotoraa-hocet-stat-prezidentom-rf/a-67832425</a:t>
            </a:r>
          </a:p>
          <a:p xmlns:a="http://schemas.openxmlformats.org/drawingml/2006/main">
            <a:r>
              <a:t>https://baj.media/ru/ya-gotova-idti-do-konca-zhurnalistka-iz-rossiyskoy-provincii-reshila-stat-prezidentom-i-2/</a:t>
            </a:r>
          </a:p>
          <a:p xmlns:a="http://schemas.openxmlformats.org/drawingml/2006/main">
            <a:r>
              <a:t>https://echofm.online/portret-dnya/portret-dnya-ekaterina-dunczova-reshivshaya-vydvinutsya-kandidatom-v-prezidenty-rossii-zhurnalistka-iz-rzheva</a:t>
            </a:r>
          </a:p>
          <a:p xmlns:a="http://schemas.openxmlformats.org/drawingml/2006/main">
            <a:r>
              <a:t>https://novayagazeta.eu/articles/2024/03/15/zlost-i-nenavist-vsem-nadoeli</a:t>
            </a:r>
          </a:p>
          <a:p xmlns:a="http://schemas.openxmlformats.org/drawingml/2006/main">
            <a:r>
              <a:t>https://altapress.ru/politika/story/kto-takaya-ekaterina-duntsova-kotoraya-sobiraetsya-stat-poslednim-prezidentom-rossii-i-kto-eshche-hochet-ballotirovatsya-336526</a:t>
            </a:r>
          </a:p>
          <a:p xmlns:a="http://schemas.openxmlformats.org/drawingml/2006/main">
            <a:r>
              <a:t>https://cherta.media/interview/ekaterina-duncova-kandidat-v-prezidenty/</a:t>
            </a:r>
          </a:p>
          <a:p xmlns:a="http://schemas.openxmlformats.org/drawingml/2006/main">
            <a:r>
              <a:t>https://novayagazeta.eu/articles/2023/12/05/zachem-ia-budu-stoiat-na-barrikadakh-esli-mogu-zanimatsia-realnymi-delami</a:t>
            </a:r>
          </a:p>
          <a:p xmlns:a="http://schemas.openxmlformats.org/drawingml/2006/main">
            <a:r>
              <a:t>https://holod.media/2023/12/20/ekaterina-duntsova-view/</a:t>
            </a:r>
          </a:p>
          <a:p xmlns:a="http://schemas.openxmlformats.org/drawingml/2006/main">
            <a:r>
              <a:t>https://www.dw.com/ru/ekaterina-duncova-o-sozdanii-partii-rassvet-my-mezdu-dvuh-ognej/a-68992724</a:t>
            </a:r>
          </a:p>
          <a:p xmlns:a="http://schemas.openxmlformats.org/drawingml/2006/main">
            <a:r>
              <a:t>https://rassvet-party.info/static/program.pdf</a:t>
            </a:r>
          </a:p>
          <a:p xmlns:a="http://schemas.openxmlformats.org/drawingml/2006/main">
            <a:r>
              <a:t>https://www.currenttime.tv/a/ekaterina-duntsova-o-sozdanii-partii-i-svoem-zaderzhanii/32775510.html</a:t>
            </a:r>
          </a:p>
          <a:p xmlns:a="http://schemas.openxmlformats.org/drawingml/2006/main">
            <a:r>
              <a:t>https://duntsovainitiative.1c-umi.ru/galereya/</a:t>
            </a:r>
          </a:p>
          <a:p xmlns:a="http://schemas.openxmlformats.org/drawingml/2006/main">
            <a:r>
              <a:t>https://rassvet-party.info/static/manifest.pdf</a:t>
            </a:r>
          </a:p>
          <a:p xmlns:a="http://schemas.openxmlformats.org/drawingml/2006/main">
            <a:r>
              <a:t>https://www.rbc.ru/person/65afb4a99a79470e434da73d</a:t>
            </a:r>
          </a:p>
          <a:p xmlns:a="http://schemas.openxmlformats.org/drawingml/2006/main">
            <a:r>
              <a:t>https://www.bbc.com/russian/articles/c84npr0wxx9o</a:t>
            </a:r>
          </a:p>
          <a:p xmlns:a="http://schemas.openxmlformats.org/drawingml/2006/main">
            <a:r>
              <a:t>https://www.rbc.ru/politics/08/02/2024/65c3749b9a79479ef5fe7934</a:t>
            </a:r>
          </a:p>
          <a:p xmlns:a="http://schemas.openxmlformats.org/drawingml/2006/main">
            <a:r>
              <a:t>https://www.business-gazeta.ru/article/622600</a:t>
            </a:r>
          </a:p>
          <a:p xmlns:a="http://schemas.openxmlformats.org/drawingml/2006/main">
            <a:r>
              <a:t>https://semnasem.org/articles/2024/02/02/poslednij-sredi-antivoennyh-kto-takoj-boris-nadezhdin-kotoryj-vse-eshe-nadeetsya-stat-prezidentom</a:t>
            </a:r>
          </a:p>
          <a:p xmlns:a="http://schemas.openxmlformats.org/drawingml/2006/main">
            <a:r>
              <a:t>https://novayagazeta.eu/articles/2024/02/03/17-marta-nachalo-kontsa-epokhi-putina</a:t>
            </a:r>
          </a:p>
          <a:p xmlns:a="http://schemas.openxmlformats.org/drawingml/2006/main">
            <a:r>
              <a:t>https://www.youtube.com/watch?v=mGMdgxBCdns</a:t>
            </a:r>
          </a:p>
          <a:p xmlns:a="http://schemas.openxmlformats.org/drawingml/2006/main">
            <a:r>
              <a:t>https://www.dw.com/ru/boris-nadezdin-moj-rejting-rastet-na-5-v-nedelu/a-68154251</a:t>
            </a:r>
          </a:p>
          <a:p xmlns:a="http://schemas.openxmlformats.org/drawingml/2006/main">
            <a:r>
              <a:t>https://ovd.info/express-news/2026/07/17/u-menya-dva-puti-lenina-ili-navalnogo-chto-nuzhno-znat-o-borise-nadezhdine</a:t>
            </a:r>
          </a:p>
          <a:p xmlns:a="http://schemas.openxmlformats.org/drawingml/2006/main">
            <a:r>
              <a:t>https://www.rbc.ru/person/65afb4a99a79470e434da73d?ysclid=mrt22n99to603501119</a:t>
            </a:r>
          </a:p>
          <a:p xmlns:a="http://schemas.openxmlformats.org/drawingml/2006/main">
            <a:r>
              <a:t>https://www.youtube.com/watch?v=UNytg_H_1pY</a:t>
            </a:r>
          </a:p>
          <a:p xmlns:a="http://schemas.openxmlformats.org/drawingml/2006/main">
            <a:r>
              <a:t>https://www.youtube.com/watch?v=DwTC5bilf_8</a:t>
            </a:r>
          </a:p>
          <a:p xmlns:a="http://schemas.openxmlformats.org/drawingml/2006/main">
            <a:r>
              <a:t>https://www.youtube.com/watch?v=sG4_THnT9W0</a:t>
            </a:r>
          </a:p>
          <a:p xmlns:a="http://schemas.openxmlformats.org/drawingml/2006/main">
            <a:r>
              <a:t>https://www.rbc.ru/rbcfreenews/6586cdf49a79479c3cd3d4b3</a:t>
            </a:r>
          </a:p>
          <a:p xmlns:a="http://schemas.openxmlformats.org/drawingml/2006/main">
            <a:r>
              <a:t>https://kprf.ru/activity/elections/223485.html/print</a:t>
            </a:r>
          </a:p>
          <a:p xmlns:a="http://schemas.openxmlformats.org/drawingml/2006/main">
            <a:r>
              <a:t>http://msk.kprf.ru/2024/01/24/247473/</a:t>
            </a:r>
          </a:p>
          <a:p xmlns:a="http://schemas.openxmlformats.org/drawingml/2006/main">
            <a:r>
              <a:t>https://www.dw.com/ru/vybory-prezidenta-rossii-2024/a-68528003</a:t>
            </a:r>
          </a:p>
          <a:p xmlns:a="http://schemas.openxmlformats.org/drawingml/2006/main">
            <a:r>
              <a:t>https://ru.wikipedia.org/wiki/%D0%A5%D0%B0%D1%80%D0%B8%D1%82%D0%BE%D0%BD%D0%BE%D0%B2,_%D0%9D%D0%B8%D0%BA%D0%BE%D0%BB%D0%B0%D0%B9_%D0%9C%D0%B8%D1%85%D0%B0%D0%B9%D0%BB%D0%BE%D0%B2%D0%B8%D1%87</a:t>
            </a:r>
          </a:p>
          <a:p xmlns:a="http://schemas.openxmlformats.org/drawingml/2006/main">
            <a:r>
              <a:t>https://kprf.ru/party-live/cknews/225170.html</a:t>
            </a:r>
          </a:p>
          <a:p xmlns:a="http://schemas.openxmlformats.org/drawingml/2006/main">
            <a:r>
              <a:t>https://kprf.ru/dep/gosduma/activities/232802.html</a:t>
            </a:r>
          </a:p>
          <a:p xmlns:a="http://schemas.openxmlformats.org/drawingml/2006/main">
            <a:r>
              <a:t>https://kprf35.com/2024/02/17/32710/</a:t>
            </a:r>
          </a:p>
          <a:p xmlns:a="http://schemas.openxmlformats.org/drawingml/2006/main">
            <a:r>
              <a:t>https://www.pkokprf.ru/news/view/35448</a:t>
            </a:r>
          </a:p>
          <a:p xmlns:a="http://schemas.openxmlformats.org/drawingml/2006/main">
            <a:r>
              <a:t>https://altkprf.ru/upload/iblock/eea/jiv0wm7hzk6gq4qdxw0r5wvp7zwb6luk.pdf</a:t>
            </a:r>
          </a:p>
          <a:p xmlns:a="http://schemas.openxmlformats.org/drawingml/2006/main">
            <a:r>
              <a:t>https://kprf.ru/activity/army/224789.html</a:t>
            </a:r>
          </a:p>
          <a:p xmlns:a="http://schemas.openxmlformats.org/drawingml/2006/main">
            <a:r>
              <a:t>https://gazeta-pravda.ru/issue/24-31517-711-marta-2024-goda-/alternativa-polupravde/</a:t>
            </a:r>
          </a:p>
          <a:p xmlns:a="http://schemas.openxmlformats.org/drawingml/2006/main">
            <a:r>
              <a:t>https://spbpalata.ru/?p=13755</a:t>
            </a:r>
          </a:p>
          <a:p xmlns:a="http://schemas.openxmlformats.org/drawingml/2006/main">
            <a:r>
              <a:t>https://kprf.ru/activity/elections/171941.html</a:t>
            </a:r>
          </a:p>
          <a:p xmlns:a="http://schemas.openxmlformats.org/drawingml/2006/main">
            <a:r>
              <a:t>https://kprf.ru/party-live/cknews/171994.html</a:t>
            </a:r>
          </a:p>
          <a:p xmlns:a="http://schemas.openxmlformats.org/drawingml/2006/main">
            <a:r>
              <a:t>https://elections2018.tass.ru/candidate/grudinin</a:t>
            </a:r>
          </a:p>
          <a:p xmlns:a="http://schemas.openxmlformats.org/drawingml/2006/main">
            <a:r>
              <a:t>https://www.bbc.com/russian/features-43105617</a:t>
            </a:r>
          </a:p>
          <a:p xmlns:a="http://schemas.openxmlformats.org/drawingml/2006/main">
            <a:r>
              <a:t>https://www.rbc.ru/politics/24/07/2021/60fbe35b9a794716f25253a0</a:t>
            </a:r>
          </a:p>
          <a:p xmlns:a="http://schemas.openxmlformats.org/drawingml/2006/main">
            <a:r>
              <a:t>https://kprf.ru/dep/reg/204410.html</a:t>
            </a:r>
          </a:p>
          <a:p xmlns:a="http://schemas.openxmlformats.org/drawingml/2006/main">
            <a:r>
              <a:t>https://msk.kprf.ru/2021/09/16/168273/</a:t>
            </a:r>
          </a:p>
          <a:p xmlns:a="http://schemas.openxmlformats.org/drawingml/2006/main">
            <a:r>
              <a:t>https://svpressa.ru/persons/pavel-grudinin/</a:t>
            </a:r>
          </a:p>
          <a:p xmlns:a="http://schemas.openxmlformats.org/drawingml/2006/main">
            <a:r>
              <a:t>https://carnegieendowment.org/ru/russia-eurasia/posts/2018/02/kuda-privedut-ekonomiku-rossii-20-shagov-grudinina</a:t>
            </a:r>
          </a:p>
          <a:p xmlns:a="http://schemas.openxmlformats.org/drawingml/2006/main">
            <a:r>
              <a:t>https://www.kompas-rf.ru/2018/01/2980/</a:t>
            </a:r>
          </a:p>
          <a:p xmlns:a="http://schemas.openxmlformats.org/drawingml/2006/main">
            <a:r>
              <a:t>https://www.svoboda.org/a/30073365.html</a:t>
            </a:r>
          </a:p>
          <a:p xmlns:a="http://schemas.openxmlformats.org/drawingml/2006/main">
            <a:r>
              <a:t>https://kandidativprezidenti.ru/programma-grudinina-2018/</a:t>
            </a:r>
          </a:p>
          <a:p xmlns:a="http://schemas.openxmlformats.org/drawingml/2006/main">
            <a:r>
              <a:t>https://mbk-news.appspot.com/suzhet/za-lenina-i-protiv-ege/</a:t>
            </a:r>
          </a:p>
          <a:p xmlns:a="http://schemas.openxmlformats.org/drawingml/2006/main">
            <a:r>
              <a:t>https://www.amnesty.org/ru/latest/research/2021/06/zayavlenie-rossijskaya-federacziya-obvinitelnyj-prigovor-nikolayu-platoshkinu-dolzhen-byt-otmenyon/</a:t>
            </a:r>
          </a:p>
          <a:p xmlns:a="http://schemas.openxmlformats.org/drawingml/2006/main">
            <a:r>
              <a:t>https://zona.media/article/2021/05/20/nikolay-nikolaevitch</a:t>
            </a:r>
          </a:p>
          <a:p xmlns:a="http://schemas.openxmlformats.org/drawingml/2006/main">
            <a:r>
              <a:t>https://novayagazeta.ru/articles/2020/06/05/85705-sotsialisticheskiy-prizyv</a:t>
            </a:r>
          </a:p>
          <a:p xmlns:a="http://schemas.openxmlformats.org/drawingml/2006/main">
            <a:r>
              <a:t>https://www.revda-info.ru/2020/08/26/v-revde-poyavilos-otdelenie-dvizheniya-za-novyj-sotsializm-ego-lider-sejchas-pod-arestom</a:t>
            </a:r>
          </a:p>
          <a:p xmlns:a="http://schemas.openxmlformats.org/drawingml/2006/main">
            <a:r>
              <a:t>https://new-socialism.org/o-dvizhenii/programma/</a:t>
            </a:r>
          </a:p>
          <a:p xmlns:a="http://schemas.openxmlformats.org/drawingml/2006/main">
            <a:r>
              <a:t>https://new-socialism.org/o-dvizhenii/lider/</a:t>
            </a:r>
          </a:p>
          <a:p xmlns:a="http://schemas.openxmlformats.org/drawingml/2006/main">
            <a:r>
              <a:t>https://www.themoscowtimes.com/2024/01/19/ilya-ponomaryov-we-have-to-capture-the-kremlin-there-is-no-other-way-a83772</a:t>
            </a:r>
          </a:p>
          <a:p xmlns:a="http://schemas.openxmlformats.org/drawingml/2006/main">
            <a:r>
              <a:t>https://www.dw.com/ru/cto-izvestno-o-rossijskih-podrazdeleniah-v-sostave-vsu/a-63915634</a:t>
            </a:r>
          </a:p>
          <a:p xmlns:a="http://schemas.openxmlformats.org/drawingml/2006/main">
            <a:r>
              <a:t>https://www.svoboda.org/a/32321226.html</a:t>
            </a:r>
          </a:p>
          <a:p xmlns:a="http://schemas.openxmlformats.org/drawingml/2006/main">
            <a:r>
              <a:t>https://hromadske.ua/ru/posts/nasha-cel-moskva-my-dolzhny-sbrosit-putina-rossijskie-partizany-mif-ili-pravda</a:t>
            </a:r>
          </a:p>
          <a:p xmlns:a="http://schemas.openxmlformats.org/drawingml/2006/main">
            <a:r>
              <a:t>https://epravda.com.ua/rus/publications/2018/06/11/637572/</a:t>
            </a:r>
          </a:p>
          <a:p xmlns:a="http://schemas.openxmlformats.org/drawingml/2006/main">
            <a:r>
              <a:t>https://pointmedia.io/story/672b355fdc48800406e0f515</a:t>
            </a:r>
          </a:p>
          <a:p xmlns:a="http://schemas.openxmlformats.org/drawingml/2006/main">
            <a:r>
              <a:t>https://ru.wikipedia.org/wiki/%D0%9B%D0%B5%D0%B3%D0%B8%D0%BE%D0%BD_%C2%AB%D0%A1%D0%B2%D0%BE%D0%B1%D0%BE%D0%B4%D0%B0_%D0%A0%D0%BE%D1%81%D1%81%D0%B8%D0%B8%C2%BB</a:t>
            </a:r>
          </a:p>
          <a:p xmlns:a="http://schemas.openxmlformats.org/drawingml/2006/main">
            <a:r>
              <a:t>https://ru.wikipedia.org/wiki/%D0%9F%D0%BE%D0%BD%D0%BE%D0%BC%D0%B0%D1%80%D1%91%D0%B2,_%D0%98%D0%BB%D1%8C%D1%8F_%D0%92%D0%BB%D0%B0%D0%B4%D0%B8%D0%BC%D0%B8%D1%80%D0%BE%D0%B2%D0%B8%D1%87</a:t>
            </a:r>
          </a:p>
          <a:p xmlns:a="http://schemas.openxmlformats.org/drawingml/2006/main">
            <a:r>
              <a:t>https://russophob.ru/person/ponomarev_ilya_vladimirovich</a:t>
            </a:r>
          </a:p>
          <a:p xmlns:a="http://schemas.openxmlformats.org/drawingml/2006/main">
            <a:r>
              <a:t>https://www.svoboda.org/a/32063164.html</a:t>
            </a:r>
          </a:p>
          <a:p xmlns:a="http://schemas.openxmlformats.org/drawingml/2006/main">
            <a:r>
              <a:t>https://www.kpbs.org/news/news/international/2023/03/26/a-scrappy-newscast-in-kyiv-aimed-at-russians-counters-putins-propaganda-machine</a:t>
            </a:r>
          </a:p>
          <a:p xmlns:a="http://schemas.openxmlformats.org/drawingml/2006/main">
            <a:r>
              <a:t>https://ovd.info/express-news/2022/10/02/politik-leonid-gozman-uekhal-iz-rossii-posle-dvukh-administrativnykh</a:t>
            </a:r>
          </a:p>
          <a:p xmlns:a="http://schemas.openxmlformats.org/drawingml/2006/main">
            <a:r>
              <a:t>https://ovd.info/express-news/2022/08/30/politika-leonida-gozmana-arestovali-na-15-sutok-iz-za-posta-v-feysbuke</a:t>
            </a:r>
          </a:p>
          <a:p xmlns:a="http://schemas.openxmlformats.org/drawingml/2006/main">
            <a:r>
              <a:t>https://www.rbc.ru/politics/15/07/2022/62d1b3f39a7947299cdeb6a4</a:t>
            </a:r>
          </a:p>
          <a:p xmlns:a="http://schemas.openxmlformats.org/drawingml/2006/main">
            <a:r>
              <a:t>https://novayagazeta.eu/articles/2022/07/15/sk-doprosil-politika-leonida-gozmana-kak-podozrevaemogo-po-delu-o-neuvedomlenii-o-vtorom-grazhdanstve-news</a:t>
            </a:r>
          </a:p>
          <a:p xmlns:a="http://schemas.openxmlformats.org/drawingml/2006/main">
            <a:r>
              <a:t>https://www.rbc.ru/politics/15/02/2024/65cdc9e09a7947a2995026fa</a:t>
            </a:r>
          </a:p>
          <a:p xmlns:a="http://schemas.openxmlformats.org/drawingml/2006/main">
            <a:r>
              <a:t>https://ovd.info/express-news/2025/01/22/leonida-gozmana-i-rovshana-askerova-vnesli-v-reestr-terroristov-i</a:t>
            </a:r>
          </a:p>
          <a:p xmlns:a="http://schemas.openxmlformats.org/drawingml/2006/main">
            <a:r>
              <a:t>https://www.rbc.ru/opinion-authors/gozman</a:t>
            </a:r>
          </a:p>
          <a:p xmlns:a="http://schemas.openxmlformats.org/drawingml/2006/main">
            <a:r>
              <a:t>https://novayagazeta.eu/articles/2022/07/25/ovd-info-v-moskve-zaderzhali-politika-leonida-gozmana-news</a:t>
            </a:r>
          </a:p>
          <a:p xmlns:a="http://schemas.openxmlformats.org/drawingml/2006/main">
            <a:r>
              <a:t>https://gefter.ru/archive/23487</a:t>
            </a:r>
          </a:p>
          <a:p xmlns:a="http://schemas.openxmlformats.org/drawingml/2006/main">
            <a:r>
              <a:t>https://www.svoboda.org/a/31147156.html</a:t>
            </a:r>
          </a:p>
          <a:p xmlns:a="http://schemas.openxmlformats.org/drawingml/2006/main">
            <a:r>
              <a:t>https://uatv.ua/gozman-putin-zagnal-rossiyu-v-ugol-sleduyushhij-shag-repressii/</a:t>
            </a:r>
          </a:p>
          <a:p xmlns:a="http://schemas.openxmlformats.org/drawingml/2006/main">
            <a:r>
              <a:t>https://echofm.online/programs/hochu-skazat/hochu-skazat-odin-protiv-vseh-kak-ne-dat-strahu-pobedit-sebya</a:t>
            </a:r>
          </a:p>
          <a:p xmlns:a="http://schemas.openxmlformats.org/drawingml/2006/main">
            <a:r>
              <a:t>https://www.svoboda.org/a/leonid-gozman-russkih-lyudey-neljzya-mazatj-odnoy-chernoy-kraskoy-/32732625.html</a:t>
            </a:r>
          </a:p>
          <a:p xmlns:a="http://schemas.openxmlformats.org/drawingml/2006/main">
            <a:r>
              <a:t>https://novayagazeta.eu/articles/2022/07/18/prepiatstvovat-prosveshcheniiu-liudei-vlast-budet-pulemiotami</a:t>
            </a:r>
          </a:p>
          <a:p xmlns:a="http://schemas.openxmlformats.org/drawingml/2006/main">
            <a:r>
              <a:t>https://www.svoboda.org/a/29652429.html</a:t>
            </a:r>
          </a:p>
          <a:p xmlns:a="http://schemas.openxmlformats.org/drawingml/2006/main">
            <a:r>
              <a:t>https://novayagazeta.eu/articles/2022/04/26/nesobliudenie-rezhima</a:t>
            </a:r>
          </a:p>
          <a:p xmlns:a="http://schemas.openxmlformats.org/drawingml/2006/main">
            <a:r>
              <a:t>https://novayagazeta.eu/articles/2022/07/21/zapiski-ugolovnika</a:t>
            </a:r>
          </a:p>
          <a:p xmlns:a="http://schemas.openxmlformats.org/drawingml/2006/main">
            <a:r>
              <a:t>https://novayagazeta.ru/authors/2349</a:t>
            </a:r>
          </a:p>
          <a:p xmlns:a="http://schemas.openxmlformats.org/drawingml/2006/main">
            <a:r>
              <a:t>https://www.rbc.ru/politics/10/08/2017/598c8d6d9a79474cff05cbab</a:t>
            </a:r>
          </a:p>
          <a:p xmlns:a="http://schemas.openxmlformats.org/drawingml/2006/main">
            <a:r>
              <a:t>https://www.bbc.com/russian/news-40853405</a:t>
            </a:r>
          </a:p>
          <a:p xmlns:a="http://schemas.openxmlformats.org/drawingml/2006/main">
            <a:r>
              <a:t>https://www.rbc.ru/politics/10/08/2017/598c0a8e9a7947569574ba10?from=right_column_materials_1</a:t>
            </a:r>
          </a:p>
          <a:p xmlns:a="http://schemas.openxmlformats.org/drawingml/2006/main">
            <a:r>
              <a:t>https://www.vedomosti.ru/politics/articles/2017/08/10/728820-udaltsov</a:t>
            </a:r>
          </a:p>
          <a:p xmlns:a="http://schemas.openxmlformats.org/drawingml/2006/main">
            <a:r>
              <a:t>https://www.interfax.ru/elections2018/598382</a:t>
            </a:r>
          </a:p>
          <a:p xmlns:a="http://schemas.openxmlformats.org/drawingml/2006/main">
            <a:r>
              <a:t>https://sotaproject.com/article/sergeia-udaltsova-opiat-pytaiutsia-posadit-khotia-on-vsego-lish-prosit-putina-postroit-sotsializm</a:t>
            </a:r>
          </a:p>
          <a:p xmlns:a="http://schemas.openxmlformats.org/drawingml/2006/main">
            <a:r>
              <a:t>https://www.gazeta.ru/tags/person/sergei_udaltsov.shtml</a:t>
            </a:r>
          </a:p>
          <a:p xmlns:a="http://schemas.openxmlformats.org/drawingml/2006/main">
            <a:r>
              <a:t>https://www.kommersant.ru/doc/8317316</a:t>
            </a:r>
          </a:p>
          <a:p xmlns:a="http://schemas.openxmlformats.org/drawingml/2006/main">
            <a:r>
              <a:t>https://www.kommersant.ru/doc/8972418</a:t>
            </a:r>
          </a:p>
          <a:p xmlns:a="http://schemas.openxmlformats.org/drawingml/2006/main">
            <a:r>
              <a:t>https://holod.media/2023/09/12/udaltsov-interview/</a:t>
            </a:r>
          </a:p>
          <a:p xmlns:a="http://schemas.openxmlformats.org/drawingml/2006/main">
            <a:r>
              <a:t>https://meduza.io/feature/2024/01/11/sergey-udaltsov-zaderzhan-po-obvineniyu-v-opravdanii-terrorizma</a:t>
            </a:r>
          </a:p>
          <a:p xmlns:a="http://schemas.openxmlformats.org/drawingml/2006/main">
            <a:r>
              <a:t>https://ref-book.sova-center.ru/index.php/%D0%94%D1%80%D1%83%D0%B3%D0%B0%D1%8F_%D0%A0%D0%BE%D1%81%D1%81%D0%B8%D1%8F,_%D0%BF%D0%B0%D1%80%D1%82%D0%B8%D1%8F</a:t>
            </a:r>
          </a:p>
          <a:p xmlns:a="http://schemas.openxmlformats.org/drawingml/2006/main">
            <a:r>
              <a:t>https://www.rbc.ru/society/17/03/2020/5e71048d9a79473925ab81a7</a:t>
            </a:r>
          </a:p>
          <a:p xmlns:a="http://schemas.openxmlformats.org/drawingml/2006/main">
            <a:r>
              <a:t>https://rt.rbc.ru/society/18/03/2020/5e71acc49a794773553f824e</a:t>
            </a:r>
          </a:p>
          <a:p xmlns:a="http://schemas.openxmlformats.org/drawingml/2006/main">
            <a:r>
              <a:t>https://www.bostonglobe.com/metro/obituaries/2020/03/18/russian-author-political-activist-eduard-limonov-dies/jnjHywBRjVTTgnlsqI12vN/story.html</a:t>
            </a:r>
          </a:p>
          <a:p xmlns:a="http://schemas.openxmlformats.org/drawingml/2006/main">
            <a:r>
              <a:t>https://nsn.fm/society/poslednee-intervu-pisatelya-i-politika-eduarda-limonova</a:t>
            </a:r>
          </a:p>
          <a:p xmlns:a="http://schemas.openxmlformats.org/drawingml/2006/main">
            <a:r>
              <a:t>http://www.grso.ru/person/limonov-eduard.html</a:t>
            </a:r>
          </a:p>
          <a:p xmlns:a="http://schemas.openxmlformats.org/drawingml/2006/main">
            <a:r>
              <a:t>https://ru.wikipedia.org/wiki/%D0%94%D1%80%D1%83%D0%B3%D0%B0%D1%8F_%D0%A0%D0%BE%D1%81%D1%81%D0%B8%D1%8F_%D0%AD._%D0%92._%D0%9B%D0%B8%D0%BC%D0%BE%D0%BD%D0%BE%D0%B2%D0%B0</a:t>
            </a:r>
          </a:p>
          <a:p xmlns:a="http://schemas.openxmlformats.org/drawingml/2006/main">
            <a:r>
              <a:t>https://novayagazeta.ru/articles/2017/03/12/71752-puteshestvie-natsbolov-k-putinu-i-obratno</a:t>
            </a:r>
          </a:p>
          <a:p xmlns:a="http://schemas.openxmlformats.org/drawingml/2006/main">
            <a:r>
              <a:t>https://mediabrest.by/news/lyudi/umer-eduard-limonov-chem-zapomnilsya-pisatel</a:t>
            </a:r>
          </a:p>
          <a:p xmlns:a="http://schemas.openxmlformats.org/drawingml/2006/main">
            <a:r>
              <a:t>https://www.limonow.de/read/EL_2013-2018_T.html</a:t>
            </a:r>
          </a:p>
          <a:p xmlns:a="http://schemas.openxmlformats.org/drawingml/2006/main">
            <a:r>
              <a:t>https://www.infpol.ru/203662-ot-ubezhdennogo-antisovetchika-do-kolumnista-rt/</a:t>
            </a:r>
          </a:p>
          <a:p xmlns:a="http://schemas.openxmlformats.org/drawingml/2006/main">
            <a:r>
              <a:t>https://www.bbc.com/russian/articles/c2eg90d7gg9o</a:t>
            </a:r>
          </a:p>
          <a:p xmlns:a="http://schemas.openxmlformats.org/drawingml/2006/main">
            <a:r>
              <a:t>https://www.dw.com/ru/mosgorsud-prigovoril-igora-girkina-strelkova-k-4-godam-kolonii/a-68080937</a:t>
            </a:r>
          </a:p>
          <a:p xmlns:a="http://schemas.openxmlformats.org/drawingml/2006/main">
            <a:r>
              <a:t>https://www.fontanka.ru/2023/07/21/72520253</a:t>
            </a:r>
          </a:p>
          <a:p xmlns:a="http://schemas.openxmlformats.org/drawingml/2006/main">
            <a:r>
              <a:t>https://www.svoboda.org/a/strelkov-iz-sizo-opasayusj-amnistii-kak-u-prigozhina-/32722083.html</a:t>
            </a:r>
          </a:p>
          <a:p xmlns:a="http://schemas.openxmlformats.org/drawingml/2006/main">
            <a:r>
              <a:t>https://ru.themoscowtimes.com/2023/12/07/girkin-zayavil-chto-opasaetsya-povtorit-sudbu-prigozhina-a115592</a:t>
            </a:r>
          </a:p>
          <a:p xmlns:a="http://schemas.openxmlformats.org/drawingml/2006/main">
            <a:r>
              <a:t>https://ru.krymr.com/a/boing-mn17-10-let-podozrevayemyye-obvinyayemyye-vinovnyye/33040170.html</a:t>
            </a:r>
          </a:p>
          <a:p xmlns:a="http://schemas.openxmlformats.org/drawingml/2006/main">
            <a:r>
              <a:t>https://charter97.org/ru/news/2023/7/22/556802/</a:t>
            </a:r>
          </a:p>
          <a:p xmlns:a="http://schemas.openxmlformats.org/drawingml/2006/main">
            <a:r>
              <a:t>https://t.me/s/pgubarev?after=622</a:t>
            </a:r>
          </a:p>
          <a:p xmlns:a="http://schemas.openxmlformats.org/drawingml/2006/main">
            <a:r>
              <a:t>https://rabkor.ru/columns/debates/2023/05/23/angry_patriots_of_an_imaginary_country/</a:t>
            </a:r>
          </a:p>
          <a:p xmlns:a="http://schemas.openxmlformats.org/drawingml/2006/main">
            <a:r>
              <a:t>https://www.bbc.com/news/world-60947877</a:t>
            </a:r>
          </a:p>
          <a:p xmlns:a="http://schemas.openxmlformats.org/drawingml/2006/main">
            <a:r>
              <a:t>https://www.reuters.com/world/europe/russian-mercenary-boss-courts-putin-with-ukrainian-battlefield-success-2023-01-13/</a:t>
            </a:r>
          </a:p>
          <a:p xmlns:a="http://schemas.openxmlformats.org/drawingml/2006/main">
            <a:r>
              <a:t>https://www.reuters.com/world/europe/russias-wagner-mercenaries-halt-prisoner-recruitment-campaign-founder-prigozhin-2023-02-09/</a:t>
            </a:r>
          </a:p>
          <a:p xmlns:a="http://schemas.openxmlformats.org/drawingml/2006/main">
            <a:r>
              <a:t>https://www.reuters.com/investigates/special-report/ukraine-crisis-russia-wagner/</a:t>
            </a:r>
          </a:p>
          <a:p xmlns:a="http://schemas.openxmlformats.org/drawingml/2006/main">
            <a:r>
              <a:t>https://www.reuters.com/world/europe/russias-wagner-chief-prigozhin-says-ukraine-counteroffensive-already-under-way-2023-05-03/</a:t>
            </a:r>
          </a:p>
          <a:p xmlns:a="http://schemas.openxmlformats.org/drawingml/2006/main">
            <a:r>
              <a:t>https://www.bbc.com/russian/media-66023357</a:t>
            </a:r>
          </a:p>
          <a:p xmlns:a="http://schemas.openxmlformats.org/drawingml/2006/main">
            <a:r>
              <a:t>https://www.reuters.com/world/europe/russias-prigozhin-his-own-words-mutiny-2023-06-26/</a:t>
            </a:r>
          </a:p>
          <a:p xmlns:a="http://schemas.openxmlformats.org/drawingml/2006/main">
            <a:r>
              <a:t>https://x.com/Reuters/status/1632709213641113601</a:t>
            </a:r>
          </a:p>
          <a:p xmlns:a="http://schemas.openxmlformats.org/drawingml/2006/main">
            <a:r>
              <a:t>https://www.reuters.com/world/europe/russian-mercenary-boss-says-moscows-war-ukraine-based-lies-2023-06-23/</a:t>
            </a:r>
          </a:p>
          <a:p xmlns:a="http://schemas.openxmlformats.org/drawingml/2006/main">
            <a:r>
              <a:t>https://www.rbc.ru/spb_sz/02/10/2026/6abfb91afd4c7ff957d9cbe8</a:t>
            </a:r>
          </a:p>
          <a:p xmlns:a="http://schemas.openxmlformats.org/drawingml/2006/main">
            <a:r>
              <a:t>https://www.zaks.ru/new/person/view/639</a:t>
            </a:r>
          </a:p>
          <a:p xmlns:a="http://schemas.openxmlformats.org/drawingml/2006/main">
            <a:r>
              <a:t>https://www.zaks.ru/new/archive/view/219520</a:t>
            </a:r>
          </a:p>
          <a:p xmlns:a="http://schemas.openxmlformats.org/drawingml/2006/main">
            <a:r>
              <a:t>https://tvspb.ru/news/2016/09/27/novyij-sostav-parlamenta-kto-zajmet-kresla-v-zakonodatelnom-sobranii-vi-sozyiva</a:t>
            </a:r>
          </a:p>
          <a:p xmlns:a="http://schemas.openxmlformats.org/drawingml/2006/main">
            <a:r>
              <a:t>https://tass.ru/politika/20994233</a:t>
            </a:r>
          </a:p>
          <a:p xmlns:a="http://schemas.openxmlformats.org/drawingml/2006/main">
            <a:r>
              <a:t>https://www.zaks.ru/new/archive/view/265712</a:t>
            </a:r>
          </a:p>
          <a:p xmlns:a="http://schemas.openxmlformats.org/drawingml/2006/main">
            <a:r>
              <a:t>https://www.zaks.ru/new/archive/view/269374</a:t>
            </a:r>
          </a:p>
          <a:p xmlns:a="http://schemas.openxmlformats.org/drawingml/2006/main">
            <a:r>
              <a:t>https://www.dp.ru/a/2026/10/02/oksana-dmitrieva-proigrala</a:t>
            </a:r>
          </a:p>
          <a:p xmlns:a="http://schemas.openxmlformats.org/drawingml/2006/main">
            <a:r>
              <a:t>https://ru.wikipedia.org/wiki/%D0%9F%D0%B0%D1%80%D1%82%D0%B8%D1%8F_%D1%80%D0%BE%D1%81%D1%82%D0%B0</a:t>
            </a:r>
          </a:p>
          <a:p xmlns:a="http://schemas.openxmlformats.org/drawingml/2006/main">
            <a:r>
              <a:t>https://dmitrieva.org/category/gosduma/zakonoproekty/</a:t>
            </a:r>
          </a:p>
          <a:p xmlns:a="http://schemas.openxmlformats.org/drawingml/2006/main">
            <a:r>
              <a:t>https://t.me/s/oxdmitrieva?before=1072</a:t>
            </a:r>
          </a:p>
          <a:p xmlns:a="http://schemas.openxmlformats.org/drawingml/2006/main">
            <a:r>
              <a:t>http://api.duma.gov.ru/api/transcriptFull/2023-09-28</a:t>
            </a:r>
          </a:p>
          <a:p xmlns:a="http://schemas.openxmlformats.org/drawingml/2006/main">
            <a:r>
              <a:t>https://www.fontanka.ru/2026/09/04/76623983/</a:t>
            </a:r>
          </a:p>
          <a:p xmlns:a="http://schemas.openxmlformats.org/drawingml/2006/main">
            <a:r>
              <a:t>https://www.vedomosti.ru/politics/articles/2026/03/10/1181644-deputat-semi-sozivov-oksana-dmitrieva-snova-poidet-v-gosdumu</a:t>
            </a:r>
          </a:p>
          <a:p xmlns:a="http://schemas.openxmlformats.org/drawingml/2006/main">
            <a:r>
              <a:t>https://www.kommersant.ru/doc/8497588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Рассчитанное пространство публичных политических образов российских политиков и заметных акторов за 2016–2026 годы структурировано по двум главным осям: первая противопоставляет антивоенную, оппозиционную и электорально-легитимистскую риторику — антизападной мобилизации, суверенитету и поддержке административного порядка; вторая различает институционально-коллективные и партийные стратегии — и конфронтационно-персонализированные, протестные стили публичности.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Выделено три кластера, для которых проверена устойчивость при фиксированных факторных координатах: группа институциональной поддержки курса и партийной централизации, антивоенная оппозиция с акцентом на электоральную легитимность и международную интеграцию, а также конфронтационная мобилизация с персонализированным стилем и протестной стратегией. Основные противопоставления проходят по линиям отношения к власти, способам легитимации, формам публичной риторики и организационной структуре.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Модель позволяет выявить устойчивые сочетания публичных позиций, риторических акцентов и стратегий действия, но не устанавливает причинно-следственных связей между ними. Она не даёт оснований для выводов о личных свойствах, электоральной поддержке или мотивах участников, а также не позволяет судить о распространённости тех или иных позиций в обществе в целом.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Ограничения анализа связаны с разведочным характером исследования, приближённостью линейной факторной модели к порядковым оценкам и условностью кластеризации. Группы могут возникать и в непрерывном пространстве, а устойчивость кластеров не гарантирует полноты охвата всех возможных публичных стратегий.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Интерпретация опирается только на реально выраженные и агрегированные свойства публичных образов, без привязки к партийным ярлыкам или именам. Не все возможные сочетания представлены в выборке, и модель не фиксирует статистическую значимость различий или их причинность.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Пограничных профилей: 3 из 63. Их свойства могут сочетать признаки нескольких групп.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Незаполненный сектор означает отсутствие такого профиля в выбранной выборке и корпусе. Международное сравнение требует единого словаря и сопоставимого отбора.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Числа: metadata.json, scores.csv, loadings.csv и утверждённая матрица оценок.</a:t>
            </a:r>
          </a:p>
          <a:p xmlns:a="http://schemas.openxmlformats.org/drawingml/2006/main">
            <a:r>
              <a:t>Изучаемое пространство: Публичный политический образ российских политиков и иных заметных политических акторов, включая деятелей за рубежом, активных хотя бы в части периода. Не рейтинг популярности..</a:t>
            </a:r>
          </a:p>
          <a:p xmlns:a="http://schemas.openxmlformats.org/drawingml/2006/main">
            <a:r>
              <a:t>Оценщик: llm_exploratory.</a:t>
            </a:r>
          </a:p>
          <a:p xmlns:a="http://schemas.openxmlformats.org/drawingml/2006/main">
            <a:r>
              <a:t>Исходные URL:</a:t>
            </a:r>
          </a:p>
          <a:p xmlns:a="http://schemas.openxmlformats.org/drawingml/2006/main">
            <a:r>
              <a:t>https://kremlin.ru/structure/president</a:t>
            </a:r>
          </a:p>
          <a:p xmlns:a="http://schemas.openxmlformats.org/drawingml/2006/main">
            <a:r>
              <a:t>http://www.special.kremlin.ru/events/president/transcripts/67843</a:t>
            </a:r>
          </a:p>
          <a:p xmlns:a="http://schemas.openxmlformats.org/drawingml/2006/main">
            <a:r>
              <a:t>http://en.kremlin.ru/events/president/news/70315</a:t>
            </a:r>
          </a:p>
          <a:p xmlns:a="http://schemas.openxmlformats.org/drawingml/2006/main">
            <a:r>
              <a:t>http://special.kremlin.ru/events/president/transcripts/70565</a:t>
            </a:r>
          </a:p>
          <a:p xmlns:a="http://schemas.openxmlformats.org/drawingml/2006/main">
            <a:r>
              <a:t>http://special.kremlin.ru/events/president/transcripts/72994</a:t>
            </a:r>
          </a:p>
          <a:p xmlns:a="http://schemas.openxmlformats.org/drawingml/2006/main">
            <a:r>
              <a:t>http://kremlin.ru/events/president/news/73585</a:t>
            </a:r>
          </a:p>
          <a:p xmlns:a="http://schemas.openxmlformats.org/drawingml/2006/main">
            <a:r>
              <a:t>http://special.kremlin.ru/events/president/transcripts/75762</a:t>
            </a:r>
          </a:p>
          <a:p xmlns:a="http://schemas.openxmlformats.org/drawingml/2006/main">
            <a:r>
              <a:t>http://www.special.kremlin.ru/events/president/transcripts/76899</a:t>
            </a:r>
          </a:p>
          <a:p xmlns:a="http://schemas.openxmlformats.org/drawingml/2006/main">
            <a:r>
              <a:t>http://special.kremlin.ru/events/president/transcripts/80017</a:t>
            </a:r>
          </a:p>
          <a:p xmlns:a="http://schemas.openxmlformats.org/drawingml/2006/main">
            <a:r>
              <a:t>http://www.special.kremlin.ru/events/president/transcripts/72084</a:t>
            </a:r>
          </a:p>
          <a:p xmlns:a="http://schemas.openxmlformats.org/drawingml/2006/main">
            <a:r>
              <a:t>http://www.special.kremlin.ru/events/president/transcripts/80172</a:t>
            </a:r>
          </a:p>
          <a:p xmlns:a="http://schemas.openxmlformats.org/drawingml/2006/main">
            <a:r>
              <a:t>https://www.diva-portal.org/smash/get/diva2:2035197/FULLTEXT01.pdf</a:t>
            </a:r>
          </a:p>
          <a:p xmlns:a="http://schemas.openxmlformats.org/drawingml/2006/main">
            <a:r>
              <a:t>https://www.reuters.com/world/what-know-about-russias-upcoming-parliamentary-election-2026-09-15/</a:t>
            </a:r>
          </a:p>
          <a:p xmlns:a="http://schemas.openxmlformats.org/drawingml/2006/main">
            <a:r>
              <a:t>https://www.reuters.com/world/europe/how-putin-may-leverage-predictable-outcome-russias-elections-2026-09-18/</a:t>
            </a:r>
          </a:p>
          <a:p xmlns:a="http://schemas.openxmlformats.org/drawingml/2006/main">
            <a:r>
              <a:t>https://ru.wikipedia.org/wiki/Медведев,_Дмитрий_Анатольевич</a:t>
            </a:r>
          </a:p>
          <a:p xmlns:a="http://schemas.openxmlformats.org/drawingml/2006/main">
            <a:r>
              <a:t>https://tass.ru/ekonomika/3941450</a:t>
            </a:r>
          </a:p>
          <a:p xmlns:a="http://schemas.openxmlformats.org/drawingml/2006/main">
            <a:r>
              <a:t>http://archive.government.ru/docs/21653/print/</a:t>
            </a:r>
          </a:p>
          <a:p xmlns:a="http://schemas.openxmlformats.org/drawingml/2006/main">
            <a:r>
              <a:t>https://netfreedom.org.ua/ru/dmytro-anatoliiovych-medvediev-biohrafiia-posady-i-sanktsii/</a:t>
            </a:r>
          </a:p>
          <a:p xmlns:a="http://schemas.openxmlformats.org/drawingml/2006/main">
            <a:r>
              <a:t>https://verstka.media/czeli-svo-kak-kreml-menyal-ih-na-protyazhenii-tryoh-let-vojny</a:t>
            </a:r>
          </a:p>
          <a:p xmlns:a="http://schemas.openxmlformats.org/drawingml/2006/main">
            <a:r>
              <a:t>http://www.scrf.gov.ru/news/allnews/3820/</a:t>
            </a:r>
          </a:p>
          <a:p xmlns:a="http://schemas.openxmlformats.org/drawingml/2006/main">
            <a:r>
              <a:t>http://scrf.gov.ru/news/allnews/3837/</a:t>
            </a:r>
          </a:p>
          <a:p xmlns:a="http://schemas.openxmlformats.org/drawingml/2006/main">
            <a:r>
              <a:t>https://baike.baidu.com/ru/item/%D0%94%D0%BC%D0%B8%D1%82%D1%80%D0%B8%D0%B9%20%D0%90%D0%BD%D0%B0%D1%82%D0%BE%D0%BB%D1%8C%D0%B5%D0%B2%D0%B8%D1%87%20%D0%9C%D0%B5%D0%B4%D0%B2%D0%B5%D0%B4%D0%B5%D0%B2/3254451</a:t>
            </a:r>
          </a:p>
          <a:p xmlns:a="http://schemas.openxmlformats.org/drawingml/2006/main">
            <a:r>
              <a:t>https://tass.ru/politika/5889577</a:t>
            </a:r>
          </a:p>
          <a:p xmlns:a="http://schemas.openxmlformats.org/drawingml/2006/main">
            <a:r>
              <a:t>https://meduza.io/feature/2023/06/26/chto-proizoshlo-s-dmitriem-medvedevym</a:t>
            </a:r>
          </a:p>
          <a:p xmlns:a="http://schemas.openxmlformats.org/drawingml/2006/main">
            <a:r>
              <a:t>https://www.bbc.com/russian/articles/c6evw7d22lv0o</a:t>
            </a:r>
          </a:p>
          <a:p xmlns:a="http://schemas.openxmlformats.org/drawingml/2006/main">
            <a:r>
              <a:t>https://er.ru/activity/news/dmitrij-medvedev-edinaya-rossiya-ne-dopustit-razrusheniya-cennostnyh-osnov-strany</a:t>
            </a:r>
          </a:p>
          <a:p xmlns:a="http://schemas.openxmlformats.org/drawingml/2006/main">
            <a:r>
              <a:t>https://en.wikipedia.org/wiki/Media_freedom_in_Russia</a:t>
            </a:r>
          </a:p>
          <a:p xmlns:a="http://schemas.openxmlformats.org/drawingml/2006/main">
            <a:r>
              <a:t>https://government.ru/gov/persons/151/travel/?area=KHA</a:t>
            </a:r>
          </a:p>
          <a:p xmlns:a="http://schemas.openxmlformats.org/drawingml/2006/main">
            <a:r>
              <a:t>http://government.ru/gov/persons/151/biography/</a:t>
            </a:r>
          </a:p>
          <a:p xmlns:a="http://schemas.openxmlformats.org/drawingml/2006/main">
            <a:r>
              <a:t>https://www.reuters.com/world/europe/who-is-russias-mikhail-mishustin-2024-05-10/</a:t>
            </a:r>
          </a:p>
          <a:p xmlns:a="http://schemas.openxmlformats.org/drawingml/2006/main">
            <a:r>
              <a:t>https://www.kommersant.ru/doc/4220798</a:t>
            </a:r>
          </a:p>
          <a:p xmlns:a="http://schemas.openxmlformats.org/drawingml/2006/main">
            <a:r>
              <a:t>https://www.vedomosti.ru/politics/galleries/2026/03/03/1179718-nalogi-pod-kontrolem</a:t>
            </a:r>
          </a:p>
          <a:p xmlns:a="http://schemas.openxmlformats.org/drawingml/2006/main">
            <a:r>
              <a:t>http://government.ru/gov/persons/151/travel/?page=5</a:t>
            </a:r>
          </a:p>
          <a:p xmlns:a="http://schemas.openxmlformats.org/drawingml/2006/main">
            <a:r>
              <a:t>http://government.ru/news/46476/</a:t>
            </a:r>
          </a:p>
          <a:p xmlns:a="http://schemas.openxmlformats.org/drawingml/2006/main">
            <a:r>
              <a:t>http://government.ru/news/52063/</a:t>
            </a:r>
          </a:p>
          <a:p xmlns:a="http://schemas.openxmlformats.org/drawingml/2006/main">
            <a:r>
              <a:t>http://government.ru/news/52851/</a:t>
            </a:r>
          </a:p>
          <a:p xmlns:a="http://schemas.openxmlformats.org/drawingml/2006/main">
            <a:r>
              <a:t>https://nangs.org/news/society/kabmin-privlek-otdelnye-gosorgany-k-ukrepleniyu-traditsionnykh-tsennostej</a:t>
            </a:r>
          </a:p>
          <a:p xmlns:a="http://schemas.openxmlformats.org/drawingml/2006/main">
            <a:r>
              <a:t>http://government.ru/news/57315/</a:t>
            </a:r>
          </a:p>
          <a:p xmlns:a="http://schemas.openxmlformats.org/drawingml/2006/main">
            <a:r>
              <a:t>https://www.rbc.ru/person/617bf30d9a7947f92ee2d266</a:t>
            </a:r>
          </a:p>
          <a:p xmlns:a="http://schemas.openxmlformats.org/drawingml/2006/main">
            <a:r>
              <a:t>https://mid.ru/ru/press_service/video/view/1848395/</a:t>
            </a:r>
          </a:p>
          <a:p xmlns:a="http://schemas.openxmlformats.org/drawingml/2006/main">
            <a:r>
              <a:t>https://mid.ru/ru/foreign_policy/international_organizations/1932076/</a:t>
            </a:r>
          </a:p>
          <a:p xmlns:a="http://schemas.openxmlformats.org/drawingml/2006/main">
            <a:r>
              <a:t>https://mid.ru/ru/press_service/minister_speeches/1991476/</a:t>
            </a:r>
          </a:p>
          <a:p xmlns:a="http://schemas.openxmlformats.org/drawingml/2006/main">
            <a:r>
              <a:t>https://www.mid.ru/ru/press_service/vizity-ministra/1922112/</a:t>
            </a:r>
          </a:p>
          <a:p xmlns:a="http://schemas.openxmlformats.org/drawingml/2006/main">
            <a:r>
              <a:t>https://www.mid.ru/ru/foreign_policy/news/1927568/</a:t>
            </a:r>
          </a:p>
          <a:p xmlns:a="http://schemas.openxmlformats.org/drawingml/2006/main">
            <a:r>
              <a:t>https://mid.ru/ru/foreign_policy/news/1912973/</a:t>
            </a:r>
          </a:p>
          <a:p xmlns:a="http://schemas.openxmlformats.org/drawingml/2006/main">
            <a:r>
              <a:t>https://www.reuters.com/world/europe/russias-lavrov-says-moscow-committed-us-proposals-peace-rejects-europes-2026-06-15/</a:t>
            </a:r>
          </a:p>
          <a:p xmlns:a="http://schemas.openxmlformats.org/drawingml/2006/main">
            <a:r>
              <a:t>https://www.reuters.com/world/lavrov-says-russia-is-ready-resume-talks-with-ukraine-point-where-they-left-off-2026-06-23/</a:t>
            </a:r>
          </a:p>
          <a:p xmlns:a="http://schemas.openxmlformats.org/drawingml/2006/main">
            <a:r>
              <a:t>https://mid.ru/ru/press_service/video/view/1799184/</a:t>
            </a:r>
          </a:p>
          <a:p xmlns:a="http://schemas.openxmlformats.org/drawingml/2006/main">
            <a:r>
              <a:t>https://en.wikipedia.org/wiki/Sergey_Lavrov</a:t>
            </a:r>
          </a:p>
          <a:p xmlns:a="http://schemas.openxmlformats.org/drawingml/2006/main">
            <a:r>
              <a:t>https://www.garant.ru/products/ipo/prime/doc/70627660/</a:t>
            </a:r>
          </a:p>
          <a:p xmlns:a="http://schemas.openxmlformats.org/drawingml/2006/main">
            <a:r>
              <a:t>https://www.rbc.ru/person/617fc0679a794761d6170b80</a:t>
            </a:r>
          </a:p>
          <a:p xmlns:a="http://schemas.openxmlformats.org/drawingml/2006/main">
            <a:r>
              <a:t>http://www.kremlin.ru/acts/bank/50544</a:t>
            </a:r>
          </a:p>
          <a:p xmlns:a="http://schemas.openxmlformats.org/drawingml/2006/main">
            <a:r>
              <a:t>http://special.kremlin.ru/events/president/news/74019</a:t>
            </a:r>
          </a:p>
          <a:p xmlns:a="http://schemas.openxmlformats.org/drawingml/2006/main">
            <a:r>
              <a:t>https://www.interfax.ru/russia/960081</a:t>
            </a:r>
          </a:p>
          <a:p xmlns:a="http://schemas.openxmlformats.org/drawingml/2006/main">
            <a:r>
              <a:t>https://www.rbc.ru/politics/21/09/2022/632ab17c9a794781413c8582</a:t>
            </a:r>
          </a:p>
          <a:p xmlns:a="http://schemas.openxmlformats.org/drawingml/2006/main">
            <a:r>
              <a:t>https://www.bbc.com/russian/articles/c72p0jq04gjo</a:t>
            </a:r>
          </a:p>
          <a:p xmlns:a="http://schemas.openxmlformats.org/drawingml/2006/main">
            <a:r>
              <a:t>https://meduza.io/feature/2024/05/12/putin-uvolil-shoygu-s-posta-ministra-oborony-i-perevel-v-sovbez</a:t>
            </a:r>
          </a:p>
          <a:p xmlns:a="http://schemas.openxmlformats.org/drawingml/2006/main">
            <a:r>
              <a:t>https://paodkb.org/events/sergey-shoygu-naznachen-sekretarem-soveta-bezopasnosti-rf</a:t>
            </a:r>
          </a:p>
          <a:p xmlns:a="http://schemas.openxmlformats.org/drawingml/2006/main">
            <a:r>
              <a:t>https://base.garant.ru/409005084/</a:t>
            </a:r>
          </a:p>
          <a:p xmlns:a="http://schemas.openxmlformats.org/drawingml/2006/main">
            <a:r>
              <a:t>http://special.kremlin.ru/supplement/6345</a:t>
            </a:r>
          </a:p>
          <a:p xmlns:a="http://schemas.openxmlformats.org/drawingml/2006/main">
            <a:r>
              <a:t>http://en.kremlin.ru/supplement/6345</a:t>
            </a:r>
          </a:p>
          <a:p xmlns:a="http://schemas.openxmlformats.org/drawingml/2006/main">
            <a:r>
              <a:t>https://www.kp.ru/daily/27656.5/5040576/</a:t>
            </a:r>
          </a:p>
          <a:p xmlns:a="http://schemas.openxmlformats.org/drawingml/2006/main">
            <a:r>
              <a:t>https://www.fontanka.ru/2025/06/10/75574928/</a:t>
            </a:r>
          </a:p>
          <a:p xmlns:a="http://schemas.openxmlformats.org/drawingml/2006/main">
            <a:r>
              <a:t>https://tass.ru/politika/25506737</a:t>
            </a:r>
          </a:p>
          <a:p xmlns:a="http://schemas.openxmlformats.org/drawingml/2006/main">
            <a:r>
              <a:t>https://www.rbc.ru/person/6181419c9a7947df128a22f7</a:t>
            </a:r>
          </a:p>
          <a:p xmlns:a="http://schemas.openxmlformats.org/drawingml/2006/main">
            <a:r>
              <a:t>https://www.rbc.ru/economics/31/05/2021/60b3de5d9a7947f2883f7aa0</a:t>
            </a:r>
          </a:p>
          <a:p xmlns:a="http://schemas.openxmlformats.org/drawingml/2006/main">
            <a:r>
              <a:t>https://www.rbc.ru/politics/13/05/2024/6641109a9a7947ab8eebcf7f</a:t>
            </a:r>
          </a:p>
          <a:p xmlns:a="http://schemas.openxmlformats.org/drawingml/2006/main">
            <a:r>
              <a:t>https://www.rbc.ru/business/13/06/2023/6482d3389a79473805ee8978</a:t>
            </a:r>
          </a:p>
          <a:p xmlns:a="http://schemas.openxmlformats.org/drawingml/2006/main">
            <a:r>
              <a:t>https://thebell.io/kuda-vedet-ekonomiku-andrej-belousov-zagadki-dmitriya-medvedeva-i-sposoby-perezhit-sanktsii</a:t>
            </a:r>
          </a:p>
          <a:p xmlns:a="http://schemas.openxmlformats.org/drawingml/2006/main">
            <a:r>
              <a:t>https://72.ru/text/politics/2024/05/14/73575386/</a:t>
            </a:r>
          </a:p>
          <a:p xmlns:a="http://schemas.openxmlformats.org/drawingml/2006/main">
            <a:r>
              <a:t>https://tass.ru/armiya-i-opk/22683223</a:t>
            </a:r>
          </a:p>
          <a:p xmlns:a="http://schemas.openxmlformats.org/drawingml/2006/main">
            <a:r>
              <a:t>https://www.rbc.ru/society/12/12/2017/5a2f9b5a9a79473649fe0042</a:t>
            </a:r>
          </a:p>
          <a:p xmlns:a="http://schemas.openxmlformats.org/drawingml/2006/main">
            <a:r>
              <a:t>https://www.istorex.org/post/russia-december-2024-february-2025</a:t>
            </a:r>
          </a:p>
          <a:p xmlns:a="http://schemas.openxmlformats.org/drawingml/2006/main">
            <a:r>
              <a:t>https://rosinform.ru/news/andrej-belousov-osoboe-znachenie-pridayom-obespecheniyu-voennoj-bezopasnosti-soyuznogo-gosudarstva</a:t>
            </a:r>
          </a:p>
          <a:p xmlns:a="http://schemas.openxmlformats.org/drawingml/2006/main">
            <a:r>
              <a:t>https://xn--b1apnk.xn--p1ai/tpost/nsk7vo4xh1-vstrecha-s-ministrom-oboroni-rossii-i-os</a:t>
            </a:r>
          </a:p>
          <a:p xmlns:a="http://schemas.openxmlformats.org/drawingml/2006/main">
            <a:r>
              <a:t>https://www.rbc.ru/person/62d120d89a79475f0ddd8b5e</a:t>
            </a:r>
          </a:p>
          <a:p xmlns:a="http://schemas.openxmlformats.org/drawingml/2006/main">
            <a:r>
              <a:t>http://scrf.gov.ru/news/allnews/2148/</a:t>
            </a:r>
          </a:p>
          <a:p xmlns:a="http://schemas.openxmlformats.org/drawingml/2006/main">
            <a:r>
              <a:t>https://www.rbc.ru/politics/14/05/2024/6643287b9a7947a8f0b8ba78</a:t>
            </a:r>
          </a:p>
          <a:p xmlns:a="http://schemas.openxmlformats.org/drawingml/2006/main">
            <a:r>
              <a:t>https://tass.ru/info/20789699</a:t>
            </a:r>
          </a:p>
          <a:p xmlns:a="http://schemas.openxmlformats.org/drawingml/2006/main">
            <a:r>
              <a:t>https://marine.org.ru/structure/person/56/</a:t>
            </a:r>
          </a:p>
          <a:p xmlns:a="http://schemas.openxmlformats.org/drawingml/2006/main">
            <a:r>
              <a:t>https://marine.org.ru/publication/smi/16108/</a:t>
            </a:r>
          </a:p>
          <a:p xmlns:a="http://schemas.openxmlformats.org/drawingml/2006/main">
            <a:r>
              <a:t>https://www.svoboda.org/a/30676123.html</a:t>
            </a:r>
          </a:p>
          <a:p xmlns:a="http://schemas.openxmlformats.org/drawingml/2006/main">
            <a:r>
              <a:t>https://aif.ru/society/safety/kuklovodstvo_k_deystviyu_nikolay_patrushev_o_metodah_cvetnyh_revolyuciy</a:t>
            </a:r>
          </a:p>
          <a:p xmlns:a="http://schemas.openxmlformats.org/drawingml/2006/main">
            <a:r>
              <a:t>https://vkrizis.info/vlast/czennosti-razmyvaniya/</a:t>
            </a:r>
          </a:p>
          <a:p xmlns:a="http://schemas.openxmlformats.org/drawingml/2006/main">
            <a:r>
              <a:t>https://infranomica.ru/2026/05/19/selskoe-hozyajstvo-est-rezultat-budet-i-pishha/</a:t>
            </a:r>
          </a:p>
          <a:p xmlns:a="http://schemas.openxmlformats.org/drawingml/2006/main">
            <a:r>
              <a:t>https://www.rbc.ru/person/660400989a79471b36dbb514</a:t>
            </a:r>
          </a:p>
          <a:p xmlns:a="http://schemas.openxmlformats.org/drawingml/2006/main">
            <a:r>
              <a:t>http://special.kremlin.ru/catalog/persons/100/events</a:t>
            </a:r>
          </a:p>
          <a:p xmlns:a="http://schemas.openxmlformats.org/drawingml/2006/main">
            <a:r>
              <a:t>https://nac.gov.ru/view/eb008ff4-1608-4b47-b2a9-3d604c1833c2</a:t>
            </a:r>
          </a:p>
          <a:p xmlns:a="http://schemas.openxmlformats.org/drawingml/2006/main">
            <a:r>
              <a:t>http://pfo.gov.ru/press/events/113336/</a:t>
            </a:r>
          </a:p>
          <a:p xmlns:a="http://schemas.openxmlformats.org/drawingml/2006/main">
            <a:r>
              <a:t>https://www.opensanctions.org/entities/Q516824/</a:t>
            </a:r>
          </a:p>
          <a:p xmlns:a="http://schemas.openxmlformats.org/drawingml/2006/main">
            <a:r>
              <a:t>https://www.agents.media/ssha-poprobuyut-vozobnovit-peregovory-o-mire-v-ukraine-cherez-glavu-fsb-che-vedomstvo-kak-schitaetsya-svoimi-dokladami-podtolknulo-putina-k-vojne/</a:t>
            </a:r>
          </a:p>
          <a:p xmlns:a="http://schemas.openxmlformats.org/drawingml/2006/main">
            <a:r>
              <a:t>https://letters.kremlin.ru/news/receptions/by-section/assignments/by-person/260</a:t>
            </a:r>
          </a:p>
          <a:p xmlns:a="http://schemas.openxmlformats.org/drawingml/2006/main">
            <a:r>
              <a:t>https://www.kommersant.ru/doc/3612580</a:t>
            </a:r>
          </a:p>
          <a:p xmlns:a="http://schemas.openxmlformats.org/drawingml/2006/main">
            <a:r>
              <a:t>https://fbk.info/ru/investigations/kirienko-kholyi-putina</a:t>
            </a:r>
          </a:p>
          <a:p xmlns:a="http://schemas.openxmlformats.org/drawingml/2006/main">
            <a:r>
              <a:t>https://utro02.tv/2022/05/24/kolebaniya-kirienok/</a:t>
            </a:r>
          </a:p>
          <a:p xmlns:a="http://schemas.openxmlformats.org/drawingml/2006/main">
            <a:r>
              <a:t>https://meduza.io/feature/2023/12/19/on-peresidel-v-svoem-kresle-v-kremle-i-pravitelstve-obsuzhdayut-chto-sergey-kirienko-mozhet-lishitsya-dolzhnosti-v-ap-posle-vyborov-prezidenta</a:t>
            </a:r>
          </a:p>
          <a:p xmlns:a="http://schemas.openxmlformats.org/drawingml/2006/main">
            <a:r>
              <a:t>https://verstka.media/kak-rossiya-prodvigaet-svoyu-molodezhnuyu-politiku-na-okkupirovannyh-territoriyah</a:t>
            </a:r>
          </a:p>
          <a:p xmlns:a="http://schemas.openxmlformats.org/drawingml/2006/main">
            <a:r>
              <a:t>https://dnrnews.ru/society/2025/09/04/1167117.html</a:t>
            </a:r>
          </a:p>
          <a:p xmlns:a="http://schemas.openxmlformats.org/drawingml/2006/main">
            <a:r>
              <a:t>https://www.tadviser.ru/index.php/%D0%9F%D0%B5%D1%80%D1%81%D0%BE%D0%BD%D0%B0:%D0%9A%D0%B8%D1%80%D0%B8%D0%B5%D0%BD%D0%BA%D0%BE_%D0%A1%D0%B5%D1%80%D0%B3%D0%B5%D0%B9_%D0%92%D0%BB%D0%B0%D0%B4%D0%B8%D0%BB%D0%B5%D0%BD%D0%BE%D0%B2%D0%B8%D1%87</a:t>
            </a:r>
          </a:p>
          <a:p xmlns:a="http://schemas.openxmlformats.org/drawingml/2006/main">
            <a:r>
              <a:t>https://tass.ru/politika/18225741</a:t>
            </a:r>
          </a:p>
          <a:p xmlns:a="http://schemas.openxmlformats.org/drawingml/2006/main">
            <a:r>
              <a:t>https://www.kommersant.ru/doc/6187168</a:t>
            </a:r>
          </a:p>
          <a:p xmlns:a="http://schemas.openxmlformats.org/drawingml/2006/main">
            <a:r>
              <a:t>https://duma.gov.ru/news/63383/</a:t>
            </a:r>
          </a:p>
          <a:p xmlns:a="http://schemas.openxmlformats.org/drawingml/2006/main">
            <a:r>
              <a:t>http://duma.gov.ru/en/duma/persons/99100829/news/</a:t>
            </a:r>
          </a:p>
          <a:p xmlns:a="http://schemas.openxmlformats.org/drawingml/2006/main">
            <a:r>
              <a:t>http://duma.gov.ru/en/news/62248/</a:t>
            </a:r>
          </a:p>
          <a:p xmlns:a="http://schemas.openxmlformats.org/drawingml/2006/main">
            <a:r>
              <a:t>http://duma.gov.ru/en/news/61352/</a:t>
            </a:r>
          </a:p>
          <a:p xmlns:a="http://schemas.openxmlformats.org/drawingml/2006/main">
            <a:r>
              <a:t>http://duma.gov.ru/en/news/64178/</a:t>
            </a:r>
          </a:p>
          <a:p xmlns:a="http://schemas.openxmlformats.org/drawingml/2006/main">
            <a:r>
              <a:t>http://duma.gov.ru/en/news/64216</a:t>
            </a:r>
          </a:p>
          <a:p xmlns:a="http://schemas.openxmlformats.org/drawingml/2006/main">
            <a:r>
              <a:t>http://duma.gov.ru/en/news/64239</a:t>
            </a:r>
          </a:p>
          <a:p xmlns:a="http://schemas.openxmlformats.org/drawingml/2006/main">
            <a:r>
              <a:t>https://en.wikipedia.org/wiki/Vyacheslav_Volodin</a:t>
            </a:r>
          </a:p>
          <a:p xmlns:a="http://schemas.openxmlformats.org/drawingml/2006/main">
            <a:r>
              <a:t>http://duma.gov.ru/news/56060/</a:t>
            </a:r>
          </a:p>
          <a:p xmlns:a="http://schemas.openxmlformats.org/drawingml/2006/main">
            <a:r>
              <a:t>http://duma.gov.ru/news/60448/</a:t>
            </a:r>
          </a:p>
          <a:p xmlns:a="http://schemas.openxmlformats.org/drawingml/2006/main">
            <a:r>
              <a:t>http://duma.gov.ru/news/61362/</a:t>
            </a:r>
          </a:p>
          <a:p xmlns:a="http://schemas.openxmlformats.org/drawingml/2006/main">
            <a:r>
              <a:t>http://duma.gov.ru/news/61384/</a:t>
            </a:r>
          </a:p>
          <a:p xmlns:a="http://schemas.openxmlformats.org/drawingml/2006/main">
            <a:r>
              <a:t>http://duma.gov.ru/news/61874/</a:t>
            </a:r>
          </a:p>
          <a:p xmlns:a="http://schemas.openxmlformats.org/drawingml/2006/main">
            <a:r>
              <a:t>http://duma.gov.ru/news/62022/</a:t>
            </a:r>
          </a:p>
          <a:p xmlns:a="http://schemas.openxmlformats.org/drawingml/2006/main">
            <a:r>
              <a:t>http://duma.gov.ru/news/63772/</a:t>
            </a:r>
          </a:p>
          <a:p xmlns:a="http://schemas.openxmlformats.org/drawingml/2006/main">
            <a:r>
              <a:t>https://council.gov.ru/events/news/160466/</a:t>
            </a:r>
          </a:p>
          <a:p xmlns:a="http://schemas.openxmlformats.org/drawingml/2006/main">
            <a:r>
              <a:t>http://council.gov.ru/structure/persons/257/</a:t>
            </a:r>
          </a:p>
          <a:p xmlns:a="http://schemas.openxmlformats.org/drawingml/2006/main">
            <a:r>
              <a:t>https://interaffairs.ru/news/show/16199</a:t>
            </a:r>
          </a:p>
          <a:p xmlns:a="http://schemas.openxmlformats.org/drawingml/2006/main">
            <a:r>
              <a:t>https://www.rbc.ru/person/617fb5ef9a79475c6cfc4502</a:t>
            </a:r>
          </a:p>
          <a:p xmlns:a="http://schemas.openxmlformats.org/drawingml/2006/main">
            <a:r>
              <a:t>https://vksrs.com/publications/matvienko-rasskazala-o-neobkhodimosti-protivostoyat-geroizatsii-natsistov/</a:t>
            </a:r>
          </a:p>
          <a:p xmlns:a="http://schemas.openxmlformats.org/drawingml/2006/main">
            <a:r>
              <a:t>https://absatz.media/politika/158438-valentine-matvienko-77-istoriya-uspeha-put-k-vershine-i-samye-yarkie-zayavleniya</a:t>
            </a:r>
          </a:p>
          <a:p xmlns:a="http://schemas.openxmlformats.org/drawingml/2006/main">
            <a:r>
              <a:t>https://www.rbc.ru/society/14/10/2026/6acf597c9a794743e0478a15?from=short_news</a:t>
            </a:r>
          </a:p>
          <a:p xmlns:a="http://schemas.openxmlformats.org/drawingml/2006/main">
            <a:r>
              <a:t>https://senatinform.ru/news/sf_stremitsya_byt_maksimalno_otkrytym_dlya_raboty_zhurnalistov_matvienko/</a:t>
            </a:r>
          </a:p>
          <a:p xmlns:a="http://schemas.openxmlformats.org/drawingml/2006/main">
            <a:r>
              <a:t>https://eparlament.irzs.ru/Files/getFile/11853</a:t>
            </a:r>
          </a:p>
          <a:p xmlns:a="http://schemas.openxmlformats.org/drawingml/2006/main">
            <a:r>
              <a:t>http://special.council.gov.ru/activity/meetings/170703/transcript/</a:t>
            </a:r>
          </a:p>
          <a:p xmlns:a="http://schemas.openxmlformats.org/drawingml/2006/main">
            <a:r>
              <a:t>https://bookonlime.ru/lecture/12-razvitie-ekonomicheskih-otnosheniy-i-strategicheskoe-planirovanie-v-cifrovoy-ekonomike-2</a:t>
            </a:r>
          </a:p>
          <a:p xmlns:a="http://schemas.openxmlformats.org/drawingml/2006/main">
            <a:r>
              <a:t>https://ru.wikipedia.org/wiki/Песков,_Дмитрий_Сергеевич</a:t>
            </a:r>
          </a:p>
          <a:p xmlns:a="http://schemas.openxmlformats.org/drawingml/2006/main">
            <a:r>
              <a:t>https://www.reuters.com/world/europe/kremlin-says-ukraine-is-now-paying-price-its-own-attacks-russia-2026-09-28/</a:t>
            </a:r>
          </a:p>
          <a:p xmlns:a="http://schemas.openxmlformats.org/drawingml/2006/main">
            <a:r>
              <a:t>https://www.reuters.com/world/europe/kremlin-rejects-le-penbardella-rebuke-says-russia-is-no-threat-france-2026-09-21/</a:t>
            </a:r>
          </a:p>
          <a:p xmlns:a="http://schemas.openxmlformats.org/drawingml/2006/main">
            <a:r>
              <a:t>https://theins.ru/antifake/295208</a:t>
            </a:r>
          </a:p>
          <a:p xmlns:a="http://schemas.openxmlformats.org/drawingml/2006/main">
            <a:r>
              <a:t>https://expert.ru/news/v-kremle-otvetili-na-slova-donalda-trampa-o-rossiyskom-vmeshatelstve</a:t>
            </a:r>
          </a:p>
          <a:p xmlns:a="http://schemas.openxmlformats.org/drawingml/2006/main">
            <a:r>
              <a:t>https://www.dw.com/ru/dmitrij-peskov/t-18146676/page-1</a:t>
            </a:r>
          </a:p>
          <a:p xmlns:a="http://schemas.openxmlformats.org/drawingml/2006/main">
            <a:r>
              <a:t>https://www.pnp.ru/person/dmitriy--peskov/</a:t>
            </a:r>
          </a:p>
          <a:p xmlns:a="http://schemas.openxmlformats.org/drawingml/2006/main">
            <a:r>
              <a:t>https://www.rbc.ua/ukr/dossier/peskov-19032015</a:t>
            </a:r>
          </a:p>
          <a:p xmlns:a="http://schemas.openxmlformats.org/drawingml/2006/main">
            <a:r>
              <a:t>https://www.rbc.ru/politics/12/10/2026/6accae3bb18f4460834ce063</a:t>
            </a:r>
          </a:p>
          <a:p xmlns:a="http://schemas.openxmlformats.org/drawingml/2006/main">
            <a:r>
              <a:t>https://tass.ru/politika/20355193</a:t>
            </a:r>
          </a:p>
          <a:p xmlns:a="http://schemas.openxmlformats.org/drawingml/2006/main">
            <a:r>
              <a:t>https://www.m24.ru/news/06052024/689412</a:t>
            </a:r>
          </a:p>
          <a:p xmlns:a="http://schemas.openxmlformats.org/drawingml/2006/main">
            <a:r>
              <a:t>http://www.kremlin.ru/acts/bank/48502</a:t>
            </a:r>
          </a:p>
          <a:p xmlns:a="http://schemas.openxmlformats.org/drawingml/2006/main">
            <a:r>
              <a:t>https://www.m24.ru/news/11022025/769070</a:t>
            </a:r>
          </a:p>
          <a:p xmlns:a="http://schemas.openxmlformats.org/drawingml/2006/main">
            <a:r>
              <a:t>https://www.m24.ru/news/23042026/894202</a:t>
            </a:r>
          </a:p>
          <a:p xmlns:a="http://schemas.openxmlformats.org/drawingml/2006/main">
            <a:r>
              <a:t>https://cbr.ru/about_br/nabiullinaes/</a:t>
            </a:r>
          </a:p>
          <a:p xmlns:a="http://schemas.openxmlformats.org/drawingml/2006/main">
            <a:r>
              <a:t>https://cbr.ru/press/event/?id=12840</a:t>
            </a:r>
          </a:p>
          <a:p xmlns:a="http://schemas.openxmlformats.org/drawingml/2006/main">
            <a:r>
              <a:t>https://www.cbr.ru/press/event/?id=12904</a:t>
            </a:r>
          </a:p>
          <a:p xmlns:a="http://schemas.openxmlformats.org/drawingml/2006/main">
            <a:r>
              <a:t>https://cbr.ru/press/event/?id=14033</a:t>
            </a:r>
          </a:p>
          <a:p xmlns:a="http://schemas.openxmlformats.org/drawingml/2006/main">
            <a:r>
              <a:t>https://www.cbr.ru/press/event/?id=12764</a:t>
            </a:r>
          </a:p>
          <a:p xmlns:a="http://schemas.openxmlformats.org/drawingml/2006/main">
            <a:r>
              <a:t>https://kazanfirst.ru/articles/534335</a:t>
            </a:r>
          </a:p>
          <a:p xmlns:a="http://schemas.openxmlformats.org/drawingml/2006/main">
            <a:r>
              <a:t>https://www.rbc.ru/person/65e831449a79476cbfd8e5fd</a:t>
            </a:r>
          </a:p>
          <a:p xmlns:a="http://schemas.openxmlformats.org/drawingml/2006/main">
            <a:r>
              <a:t>https://www.interfax.ru/russia/955290</a:t>
            </a:r>
          </a:p>
          <a:p xmlns:a="http://schemas.openxmlformats.org/drawingml/2006/main">
            <a:r>
              <a:t>https://minfin.gov.ru/ru/press-center/?id_4=38548-intervyu_ministra_finansov_antona_siluanova_gazete_argumenty_i_fakty</a:t>
            </a:r>
          </a:p>
          <a:p xmlns:a="http://schemas.openxmlformats.org/drawingml/2006/main">
            <a:r>
              <a:t>https://minfin.gov.ru/ru/press-center/?id_4=37667-vystuplenie_antona_siluanova_na_plenarnom_zasedanii_v_gosudarstvennoi_dume</a:t>
            </a:r>
          </a:p>
          <a:p xmlns:a="http://schemas.openxmlformats.org/drawingml/2006/main">
            <a:r>
              <a:t>https://www.rbc.ru/economics/24/10/2022/63529d159a7947efb82a59eb</a:t>
            </a:r>
          </a:p>
          <a:p xmlns:a="http://schemas.openxmlformats.org/drawingml/2006/main">
            <a:r>
              <a:t>https://www.rbc.ru/newspaper/2020/02/21/5e4e83289a79474bcf9f8cf9</a:t>
            </a:r>
          </a:p>
          <a:p xmlns:a="http://schemas.openxmlformats.org/drawingml/2006/main">
            <a:r>
              <a:t>https://www.rbc.ru/economics/20/02/2020/5e4e91919a79475559478893</a:t>
            </a:r>
          </a:p>
          <a:p xmlns:a="http://schemas.openxmlformats.org/drawingml/2006/main">
            <a:r>
              <a:t>https://minfin.gov.ru/ru/press-center/?id_4=39336-anton_siluanov_predstavil_na_parlamentskikh_slushaniyakh_v_sovete_federatsii_proekt_byudzheta_na_2025-2027_gg.</a:t>
            </a:r>
          </a:p>
          <a:p xmlns:a="http://schemas.openxmlformats.org/drawingml/2006/main">
            <a:r>
              <a:t>https://www.interfax.ru/amp/1035506</a:t>
            </a:r>
          </a:p>
          <a:p xmlns:a="http://schemas.openxmlformats.org/drawingml/2006/main">
            <a:r>
              <a:t>https://tass.ru/ekonomika/28198121</a:t>
            </a:r>
          </a:p>
          <a:p xmlns:a="http://schemas.openxmlformats.org/drawingml/2006/main">
            <a:r>
              <a:t>https://www.rbc.ru/person/65b9f4369a7947ec8a7f242a</a:t>
            </a:r>
          </a:p>
          <a:p xmlns:a="http://schemas.openxmlformats.org/drawingml/2006/main">
            <a:r>
              <a:t>https://www.bfm.ru/news/435050</a:t>
            </a:r>
          </a:p>
          <a:p xmlns:a="http://schemas.openxmlformats.org/drawingml/2006/main">
            <a:r>
              <a:t>https://ru.ruwiki.ru/wiki/%D0%93%D0%BE%D0%BB%D0%B8%D0%BA%D0%BE%D0%B2%D0%B0,_%D0%A2%D0%B0%D1%82%D1%8C%D1%8F%D0%BD%D0%B0_%D0%90%D0%BB%D0%B5%D0%BA%D1%81%D0%B5%D0%B5%D0%B2%D0%BD%D0%B0</a:t>
            </a:r>
          </a:p>
          <a:p xmlns:a="http://schemas.openxmlformats.org/drawingml/2006/main">
            <a:r>
              <a:t>http://www.kremlin.ru/events/president/transcripts/deliberations%20/77439</a:t>
            </a:r>
          </a:p>
          <a:p xmlns:a="http://schemas.openxmlformats.org/drawingml/2006/main">
            <a:r>
              <a:t>https://xn--90aivcdt6dxbc.xn--p1ai/articles/news/prezident-zdravookhranenie-zanimaet-klyuchevoe-mesto-v-sotsialnoy-politike-rossii/</a:t>
            </a:r>
          </a:p>
          <a:p xmlns:a="http://schemas.openxmlformats.org/drawingml/2006/main">
            <a:r>
              <a:t>https://xn--90aivcdt6dxbc.xn--p1ai/articles/news/tatyana-golikova-edinaya-rossiya-nadezhnyy-soyuznik-i-partner-pravitelstva/</a:t>
            </a:r>
          </a:p>
          <a:p xmlns:a="http://schemas.openxmlformats.org/drawingml/2006/main">
            <a:r>
              <a:t>http://government.ru/news/58648/</a:t>
            </a:r>
          </a:p>
          <a:p xmlns:a="http://schemas.openxmlformats.org/drawingml/2006/main">
            <a:r>
              <a:t>http://government.ru/news/54912/</a:t>
            </a:r>
          </a:p>
          <a:p xmlns:a="http://schemas.openxmlformats.org/drawingml/2006/main">
            <a:r>
              <a:t>http://government.ru/news/58000/</a:t>
            </a:r>
          </a:p>
          <a:p xmlns:a="http://schemas.openxmlformats.org/drawingml/2006/main">
            <a:r>
              <a:t>https://tass.ru/politika/28141547</a:t>
            </a:r>
          </a:p>
          <a:p xmlns:a="http://schemas.openxmlformats.org/drawingml/2006/main">
            <a:r>
              <a:t>https://duma.gov.ru/media/files/smUklOtuNPyzwTneQGCfFUHHIsilAqcm.pdf</a:t>
            </a:r>
          </a:p>
          <a:p xmlns:a="http://schemas.openxmlformats.org/drawingml/2006/main">
            <a:r>
              <a:t>https://kprf.ru/dep/gosduma/activities/187187.html</a:t>
            </a:r>
          </a:p>
          <a:p xmlns:a="http://schemas.openxmlformats.org/drawingml/2006/main">
            <a:r>
              <a:t>http://msk.kprf.ru/2022/08/22/222866/</a:t>
            </a:r>
          </a:p>
          <a:p xmlns:a="http://schemas.openxmlformats.org/drawingml/2006/main">
            <a:r>
              <a:t>https://kprf.ru/party-live/cknews/235903.html</a:t>
            </a:r>
          </a:p>
          <a:p xmlns:a="http://schemas.openxmlformats.org/drawingml/2006/main">
            <a:r>
              <a:t>https://kprf.ru/dep/gosduma/activities/236198.html/print</a:t>
            </a:r>
          </a:p>
          <a:p xmlns:a="http://schemas.openxmlformats.org/drawingml/2006/main">
            <a:r>
              <a:t>https://kprf.ru/dep/gosduma/activities/239812.html</a:t>
            </a:r>
          </a:p>
          <a:p xmlns:a="http://schemas.openxmlformats.org/drawingml/2006/main">
            <a:r>
              <a:t>https://kprf-don.ru/index.php/news/facts/12501-2025-09-15-12-58-35.html</a:t>
            </a:r>
          </a:p>
          <a:p xmlns:a="http://schemas.openxmlformats.org/drawingml/2006/main">
            <a:r>
              <a:t>https://kprf.ru/dep/gosduma/activities/237529.html</a:t>
            </a:r>
          </a:p>
          <a:p xmlns:a="http://schemas.openxmlformats.org/drawingml/2006/main">
            <a:r>
              <a:t>https://novayagazeta.ru/articles/2025/09/19/putin-udivilsia-khodu-zapushchennoi-im-vesnoi-munitsipalnoi-reformy-posle-slov-ziuganova-kak-regiony-dlia-nee-lomali-cherez-koleno-a-tatarstan-otkazalsia-ee-ispolniat-news</a:t>
            </a:r>
          </a:p>
          <a:p xmlns:a="http://schemas.openxmlformats.org/drawingml/2006/main">
            <a:r>
              <a:t>https://kprf.ru/official/2025/11/15/15-noiabria-2025-oda-sostoialsia-ii-noiabrskii-plenum-tsk-kprf/473.html</a:t>
            </a:r>
          </a:p>
          <a:p xmlns:a="http://schemas.openxmlformats.org/drawingml/2006/main">
            <a:r>
              <a:t>https://www.rbc.ru/person/617bfbb79a7947fc327a3bcb</a:t>
            </a:r>
          </a:p>
          <a:p xmlns:a="http://schemas.openxmlformats.org/drawingml/2006/main">
            <a:r>
              <a:t>https://www.bbc.com/russian/features-60873381</a:t>
            </a:r>
          </a:p>
          <a:p xmlns:a="http://schemas.openxmlformats.org/drawingml/2006/main">
            <a:r>
              <a:t>https://www.svoboda.org/a/umer-lider-partii-ldpr-vladimir-zhirinovskiy-nekrolog/31770134.html</a:t>
            </a:r>
          </a:p>
          <a:p xmlns:a="http://schemas.openxmlformats.org/drawingml/2006/main">
            <a:r>
              <a:t>https://www.rbc.ru/politics/06/04/2022/624d661b9a79473f7416fe26</a:t>
            </a:r>
          </a:p>
          <a:p xmlns:a="http://schemas.openxmlformats.org/drawingml/2006/main">
            <a:r>
              <a:t>https://tass.ru/politika/3392889</a:t>
            </a:r>
          </a:p>
          <a:p xmlns:a="http://schemas.openxmlformats.org/drawingml/2006/main">
            <a:r>
              <a:t>https://www.pnp.ru/politics/2016/06/28/v-centre-predvybornoy-programmy-ldpr-russkiy-vopros.html</a:t>
            </a:r>
          </a:p>
          <a:p xmlns:a="http://schemas.openxmlformats.org/drawingml/2006/main">
            <a:r>
              <a:t>https://ldpr.ru/party/history/</a:t>
            </a:r>
          </a:p>
          <a:p xmlns:a="http://schemas.openxmlformats.org/drawingml/2006/main">
            <a:r>
              <a:t>https://govoritmoskva.ru/interviews/1023/</a:t>
            </a:r>
          </a:p>
          <a:p xmlns:a="http://schemas.openxmlformats.org/drawingml/2006/main">
            <a:r>
              <a:t>https://www.gazeta.ru/politics/2017/03/17_a_10580999.shtml</a:t>
            </a:r>
          </a:p>
          <a:p xmlns:a="http://schemas.openxmlformats.org/drawingml/2006/main">
            <a:r>
              <a:t>https://ldpr.ru/upload/iblock/c88/1d6dstdexz6aw7dnwoubeobhr3mnwa1j/a799616e688866c49f2ef6b5b8cfe5c00d45080ae85ce0e5f6d36e2e010681d9.pdf</a:t>
            </a:r>
          </a:p>
          <a:p xmlns:a="http://schemas.openxmlformats.org/drawingml/2006/main">
            <a:r>
              <a:t>https://www.kommersant.ru/doc/3579566</a:t>
            </a:r>
          </a:p>
          <a:p xmlns:a="http://schemas.openxmlformats.org/drawingml/2006/main">
            <a:r>
              <a:t>https://spb.ldpr.ru/event/243915/</a:t>
            </a:r>
          </a:p>
          <a:p xmlns:a="http://schemas.openxmlformats.org/drawingml/2006/main">
            <a:r>
              <a:t>https://kursk.ldpr.ru/event/341398</a:t>
            </a:r>
          </a:p>
          <a:p xmlns:a="http://schemas.openxmlformats.org/drawingml/2006/main">
            <a:r>
              <a:t>https://cyberleninka.ru/article/n/sravnitelnyy-analiz-predvybornyh-programm-ldpr-na-vyborah-2021-g-i-l-e-slutskogo-na-vyborah-2024-g</a:t>
            </a:r>
          </a:p>
          <a:p xmlns:a="http://schemas.openxmlformats.org/drawingml/2006/main">
            <a:r>
              <a:t>https://kcr.ldpr.ru/event/347999/</a:t>
            </a:r>
          </a:p>
          <a:p xmlns:a="http://schemas.openxmlformats.org/drawingml/2006/main">
            <a:r>
              <a:t>https://msknews77.ru/society/2025/09/25/73500.html</a:t>
            </a:r>
          </a:p>
          <a:p xmlns:a="http://schemas.openxmlformats.org/drawingml/2006/main">
            <a:r>
              <a:t>https://bagaevka-press.ru/besplatnyj-zemelnyj-uchastok-dlya-semej-inicziativa-ldpr/</a:t>
            </a:r>
          </a:p>
          <a:p xmlns:a="http://schemas.openxmlformats.org/drawingml/2006/main">
            <a:r>
              <a:t>https://ldpr.ru/event/437527/</a:t>
            </a:r>
          </a:p>
          <a:p xmlns:a="http://schemas.openxmlformats.org/drawingml/2006/main">
            <a:r>
              <a:t>https://rg62.info/2025/11/01/leonid-sluczkij-vstupilsya-za-multserial-masha-i-medved/</a:t>
            </a:r>
          </a:p>
          <a:p xmlns:a="http://schemas.openxmlformats.org/drawingml/2006/main">
            <a:r>
              <a:t>https://mironov.ru/officially</a:t>
            </a:r>
          </a:p>
          <a:p xmlns:a="http://schemas.openxmlformats.org/drawingml/2006/main">
            <a:r>
              <a:t>https://mironov.ru/bio</a:t>
            </a:r>
          </a:p>
          <a:p xmlns:a="http://schemas.openxmlformats.org/drawingml/2006/main">
            <a:r>
              <a:t>https://mironov-online.ru/category/zayavleniya/</a:t>
            </a:r>
          </a:p>
          <a:p xmlns:a="http://schemas.openxmlformats.org/drawingml/2006/main">
            <a:r>
              <a:t>https://www.rbc.ru/person/69806d279a7947baf86c32c5</a:t>
            </a:r>
          </a:p>
          <a:p xmlns:a="http://schemas.openxmlformats.org/drawingml/2006/main">
            <a:r>
              <a:t>https://spravedlivo.ru/16303010</a:t>
            </a:r>
          </a:p>
          <a:p xmlns:a="http://schemas.openxmlformats.org/drawingml/2006/main">
            <a:r>
              <a:t>http://mironov.ru/15133910</a:t>
            </a:r>
          </a:p>
          <a:p xmlns:a="http://schemas.openxmlformats.org/drawingml/2006/main">
            <a:r>
              <a:t>http://www.special.spravedlivo.ru/5_140609.html</a:t>
            </a:r>
          </a:p>
          <a:p xmlns:a="http://schemas.openxmlformats.org/drawingml/2006/main">
            <a:r>
              <a:t>https://spravedlivo.ru/14681110</a:t>
            </a:r>
          </a:p>
          <a:p xmlns:a="http://schemas.openxmlformats.org/drawingml/2006/main">
            <a:r>
              <a:t>https://radiokp.ru/podcast/dialogi-na-radio-kp/759263</a:t>
            </a:r>
          </a:p>
          <a:p xmlns:a="http://schemas.openxmlformats.org/drawingml/2006/main">
            <a:r>
              <a:t>https://mironov.ru/51339910</a:t>
            </a:r>
          </a:p>
          <a:p xmlns:a="http://schemas.openxmlformats.org/drawingml/2006/main">
            <a:r>
              <a:t>https://mironov-online.ru/news/mironov-na-ukraine-idet-bitva-za-budushhee-vsego-chelovechestva-i-pobeda-v-nej-budet-za-rossiej/</a:t>
            </a:r>
          </a:p>
          <a:p xmlns:a="http://schemas.openxmlformats.org/drawingml/2006/main">
            <a:r>
              <a:t>https://spravedlivo.ru/12544510</a:t>
            </a:r>
          </a:p>
          <a:p xmlns:a="http://schemas.openxmlformats.org/drawingml/2006/main">
            <a:r>
              <a:t>https://www.rbc.ru/person/6aa3ef199a79475758621730</a:t>
            </a:r>
          </a:p>
          <a:p xmlns:a="http://schemas.openxmlformats.org/drawingml/2006/main">
            <a:r>
              <a:t>https://www.rbc.ru/politics/24/09/2021/614da73f9a7947b5e3d9399f</a:t>
            </a:r>
          </a:p>
          <a:p xmlns:a="http://schemas.openxmlformats.org/drawingml/2006/main">
            <a:r>
              <a:t>https://amp.rbc.ru/rbcnews/base/14/08/2026/6a957dfb9a79476ae3d823ba</a:t>
            </a:r>
          </a:p>
          <a:p xmlns:a="http://schemas.openxmlformats.org/drawingml/2006/main">
            <a:r>
              <a:t>https://en.wikipedia.org/wiki/Alexey_Nechayev</a:t>
            </a:r>
          </a:p>
          <a:p xmlns:a="http://schemas.openxmlformats.org/drawingml/2006/main">
            <a:r>
              <a:t>https://www.gazeta.ru/politics/23422027/novye-lyudi-na-vyborah-2026-goda.shtml</a:t>
            </a:r>
          </a:p>
          <a:p xmlns:a="http://schemas.openxmlformats.org/drawingml/2006/main">
            <a:r>
              <a:t>https://vremya-bir.ru/2026/03/07/dvenadtsat-shagov-k-strane-v-kotoroj-hochetsya-zhit/</a:t>
            </a:r>
          </a:p>
          <a:p xmlns:a="http://schemas.openxmlformats.org/drawingml/2006/main">
            <a:r>
              <a:t>https://www.rbc.ru/politics/08/09/2026/6aa023ec9a79471e4fd55d3c</a:t>
            </a:r>
          </a:p>
          <a:p xmlns:a="http://schemas.openxmlformats.org/drawingml/2006/main">
            <a:r>
              <a:t>https://www.interfax.ru/interview/1074248</a:t>
            </a:r>
          </a:p>
          <a:p xmlns:a="http://schemas.openxmlformats.org/drawingml/2006/main">
            <a:r>
              <a:t>https://www.interfax.ru/amp/1074248</a:t>
            </a:r>
          </a:p>
          <a:p xmlns:a="http://schemas.openxmlformats.org/drawingml/2006/main">
            <a:r>
              <a:t>https://www.vedomosti.ru/politics/articles/2026/09/09/1227352-novie-lyudi-sformulirovali-programmu</a:t>
            </a:r>
          </a:p>
          <a:p xmlns:a="http://schemas.openxmlformats.org/drawingml/2006/main">
            <a:r>
              <a:t>https://dddkursk.ru/lenta/2026/07/30/129483/</a:t>
            </a:r>
          </a:p>
          <a:p xmlns:a="http://schemas.openxmlformats.org/drawingml/2006/main">
            <a:r>
              <a:t>https://volga.news/article/803292.html</a:t>
            </a:r>
          </a:p>
          <a:p xmlns:a="http://schemas.openxmlformats.org/drawingml/2006/main">
            <a:r>
              <a:t>https://ru.wikipedia.org/wiki/%D0%9D%D0%B5%D1%87%D0%B0%D0%B5%D0%B2,_%D0%90%D0%BB%D0%B5%D0%BA%D1%81%D0%B5%D0%B9_%D0%93%D0%B5%D0%BD%D0%BD%D0%B0%D0%B4%D1%8C%D0%B5%D0%B2%D0%B8%D1%87</a:t>
            </a:r>
          </a:p>
          <a:p xmlns:a="http://schemas.openxmlformats.org/drawingml/2006/main">
            <a:r>
              <a:t>https://www.davankov2024.ru/page_biography/</a:t>
            </a:r>
          </a:p>
          <a:p xmlns:a="http://schemas.openxmlformats.org/drawingml/2006/main">
            <a:r>
              <a:t>https://davankov2024.ru/program</a:t>
            </a:r>
          </a:p>
          <a:p xmlns:a="http://schemas.openxmlformats.org/drawingml/2006/main">
            <a:r>
              <a:t>http://vote.duma.gov.ru/?convocation=AAAAAAA8&amp;deputy=99113489&amp;sort=date_desc</a:t>
            </a:r>
          </a:p>
          <a:p xmlns:a="http://schemas.openxmlformats.org/drawingml/2006/main">
            <a:r>
              <a:t>https://holod.media/2024/02/14/vladislav-davankov/</a:t>
            </a:r>
          </a:p>
          <a:p xmlns:a="http://schemas.openxmlformats.org/drawingml/2006/main">
            <a:r>
              <a:t>https://davankov2024.ru/</a:t>
            </a:r>
          </a:p>
          <a:p xmlns:a="http://schemas.openxmlformats.org/drawingml/2006/main">
            <a:r>
              <a:t>https://novayagazeta.eu/articles/2024/02/15/davankov-predstavil-predvybornuiu-programmu-bez-amnistii-politzakliuchennykh-i-s-namereniem-dobitsia-mira-na-nashikh-usloviiakh-news</a:t>
            </a:r>
          </a:p>
          <a:p xmlns:a="http://schemas.openxmlformats.org/drawingml/2006/main">
            <a:r>
              <a:t>https://www.kavkaz-uzel.eu/articles/398113</a:t>
            </a:r>
          </a:p>
          <a:p xmlns:a="http://schemas.openxmlformats.org/drawingml/2006/main">
            <a:r>
              <a:t>https://echofm.online/portret-dnya/portret-dnya-vladislav-davankov-kandidat-v-prezidenty-rossii</a:t>
            </a:r>
          </a:p>
          <a:p xmlns:a="http://schemas.openxmlformats.org/drawingml/2006/main">
            <a:r>
              <a:t>https://t.me/s/davankov?before=788</a:t>
            </a:r>
          </a:p>
          <a:p xmlns:a="http://schemas.openxmlformats.org/drawingml/2006/main">
            <a:r>
              <a:t>https://zaharprilepin.ru/ru/bio/</a:t>
            </a:r>
          </a:p>
          <a:p xmlns:a="http://schemas.openxmlformats.org/drawingml/2006/main">
            <a:r>
              <a:t>https://zaharprilepin.ru/ru/video/zapisi-vistuplenij/intervju/</a:t>
            </a:r>
          </a:p>
          <a:p xmlns:a="http://schemas.openxmlformats.org/drawingml/2006/main">
            <a:r>
              <a:t>https://zaharprilepin.ru/ru/pressa/intervyu/na-harkov.html</a:t>
            </a:r>
          </a:p>
          <a:p xmlns:a="http://schemas.openxmlformats.org/drawingml/2006/main">
            <a:r>
              <a:t>https://www.kommersant.ru/doc/4141912</a:t>
            </a:r>
          </a:p>
          <a:p xmlns:a="http://schemas.openxmlformats.org/drawingml/2006/main">
            <a:r>
              <a:t>https://novayagazeta.eu/articles/2023/05/06/plokhoi-uchenik-limonova</a:t>
            </a:r>
          </a:p>
          <a:p xmlns:a="http://schemas.openxmlformats.org/drawingml/2006/main">
            <a:r>
              <a:t>https://tass.ru/politika/11761037</a:t>
            </a:r>
          </a:p>
          <a:p xmlns:a="http://schemas.openxmlformats.org/drawingml/2006/main">
            <a:r>
              <a:t>https://www.nn.ru/text/politics/2021/10/11/70186523/</a:t>
            </a:r>
          </a:p>
          <a:p xmlns:a="http://schemas.openxmlformats.org/drawingml/2006/main">
            <a:r>
              <a:t>https://www.zaks.ru/new/archive/view/267194</a:t>
            </a:r>
          </a:p>
          <a:p xmlns:a="http://schemas.openxmlformats.org/drawingml/2006/main">
            <a:r>
              <a:t>https://spravedlivo.ru/11288710</a:t>
            </a:r>
          </a:p>
          <a:p xmlns:a="http://schemas.openxmlformats.org/drawingml/2006/main">
            <a:r>
              <a:t>https://www.kommersant.ru/doc/4241515</a:t>
            </a:r>
          </a:p>
          <a:p xmlns:a="http://schemas.openxmlformats.org/drawingml/2006/main">
            <a:r>
              <a:t>https://zaharprilepin.ru/ru/pressa/intervyu/radio-komsomolskaja-pravda-10022021.html</a:t>
            </a:r>
          </a:p>
          <a:p xmlns:a="http://schemas.openxmlformats.org/drawingml/2006/main">
            <a:r>
              <a:t>https://pozneronline.ru/2024/04/36826/</a:t>
            </a:r>
          </a:p>
          <a:p xmlns:a="http://schemas.openxmlformats.org/drawingml/2006/main">
            <a:r>
              <a:t>https://www.rbc.ru/person/62a85a259a7947b9ae5d6360</a:t>
            </a:r>
          </a:p>
          <a:p xmlns:a="http://schemas.openxmlformats.org/drawingml/2006/main">
            <a:r>
              <a:t>https://tass.ru/encyclopedia/person/poklonskaya-natalya-vladimirovna</a:t>
            </a:r>
          </a:p>
          <a:p xmlns:a="http://schemas.openxmlformats.org/drawingml/2006/main">
            <a:r>
              <a:t>https://tass.ru/tag/poklonskaya-natalya-vladimirovna</a:t>
            </a:r>
          </a:p>
          <a:p xmlns:a="http://schemas.openxmlformats.org/drawingml/2006/main">
            <a:r>
              <a:t>https://www.bbc.com/russian/features-44801571</a:t>
            </a:r>
          </a:p>
          <a:p xmlns:a="http://schemas.openxmlformats.org/drawingml/2006/main">
            <a:r>
              <a:t>https://www.rbc.ru/rbcfreenews/5ba8bd499a794792294ba05d</a:t>
            </a:r>
          </a:p>
          <a:p xmlns:a="http://schemas.openxmlformats.org/drawingml/2006/main">
            <a:r>
              <a:t>https://www.dp.ru/a/2018/08/31/Poklonskaja_otreazirovala</a:t>
            </a:r>
          </a:p>
          <a:p xmlns:a="http://schemas.openxmlformats.org/drawingml/2006/main">
            <a:r>
              <a:t>https://www.themoscowtimes.com/2022/06/13/former-crimea-prosecutor-dismissed-after-anti-war-comments-a77983</a:t>
            </a:r>
          </a:p>
          <a:p xmlns:a="http://schemas.openxmlformats.org/drawingml/2006/main">
            <a:r>
              <a:t>https://www.rbc.ru/politics/30/06/2023/649dee189a79473e3fdc8906</a:t>
            </a:r>
          </a:p>
          <a:p xmlns:a="http://schemas.openxmlformats.org/drawingml/2006/main">
            <a:r>
              <a:t>http://council.gov.ru/structure/persons/1044/</a:t>
            </a:r>
          </a:p>
          <a:p xmlns:a="http://schemas.openxmlformats.org/drawingml/2006/main">
            <a:r>
              <a:t>http://council.gov.ru/services/reference/9156/</a:t>
            </a:r>
          </a:p>
          <a:p xmlns:a="http://schemas.openxmlformats.org/drawingml/2006/main">
            <a:r>
              <a:t>http://council.gov.ru/events/news/135415/</a:t>
            </a:r>
          </a:p>
          <a:p xmlns:a="http://schemas.openxmlformats.org/drawingml/2006/main">
            <a:r>
              <a:t>https://24smi.org/celebrity/1156-elena-mizulina.html</a:t>
            </a:r>
          </a:p>
          <a:p xmlns:a="http://schemas.openxmlformats.org/drawingml/2006/main">
            <a:r>
              <a:t>https://www.bfometr.ru/blog/elena-mizulina</a:t>
            </a:r>
          </a:p>
          <a:p xmlns:a="http://schemas.openxmlformats.org/drawingml/2006/main">
            <a:r>
              <a:t>https://www.rbc.ru/society/30/03/2018/5abe1b849a79470dc3826f68</a:t>
            </a:r>
          </a:p>
          <a:p xmlns:a="http://schemas.openxmlformats.org/drawingml/2006/main">
            <a:r>
              <a:t>https://uznayvse.ru/znamenitosti/biografiya-elena-mizulina.html</a:t>
            </a:r>
          </a:p>
          <a:p xmlns:a="http://schemas.openxmlformats.org/drawingml/2006/main">
            <a:r>
              <a:t>https://radiokp.ru/people/elena-mizulina</a:t>
            </a:r>
          </a:p>
          <a:p xmlns:a="http://schemas.openxmlformats.org/drawingml/2006/main">
            <a:r>
              <a:t>https://ru.wikipedia.org/wiki/%D0%9C%D0%B8%D0%B7%D1%83%D0%BB%D0%B8%D0%BD%D0%B0,_%D0%95%D0%BB%D0%B5%D0%BD%D0%B0_%D0%91%D0%BE%D1%80%D0%B8%D1%81%D0%BE%D0%B2%D0%BD%D0%B0</a:t>
            </a:r>
          </a:p>
          <a:p xmlns:a="http://schemas.openxmlformats.org/drawingml/2006/main">
            <a:r>
              <a:t>https://ru.wikipedia.org/wiki/Милонов,_Виталий_Валентинович</a:t>
            </a:r>
          </a:p>
          <a:p xmlns:a="http://schemas.openxmlformats.org/drawingml/2006/main">
            <a:r>
              <a:t>https://tass.ru/encyclopedia/person/milonov-vitaliy-valentinovich</a:t>
            </a:r>
          </a:p>
          <a:p xmlns:a="http://schemas.openxmlformats.org/drawingml/2006/main">
            <a:r>
              <a:t>https://www.pnp.ru/person/vitaliy-milonov/</a:t>
            </a:r>
          </a:p>
          <a:p xmlns:a="http://schemas.openxmlformats.org/drawingml/2006/main">
            <a:r>
              <a:t>https://www.zaks.ru/new/person/view/172</a:t>
            </a:r>
          </a:p>
          <a:p xmlns:a="http://schemas.openxmlformats.org/drawingml/2006/main">
            <a:r>
              <a:t>https://svpressa.ru/persons/vitaliy-milonov/</a:t>
            </a:r>
          </a:p>
          <a:p xmlns:a="http://schemas.openxmlformats.org/drawingml/2006/main">
            <a:r>
              <a:t>https://stuki-druki.com/authors/Milonov-Vitaliy.php</a:t>
            </a:r>
          </a:p>
          <a:p xmlns:a="http://schemas.openxmlformats.org/drawingml/2006/main">
            <a:r>
              <a:t>https://pa.inion.ru/persons/7104/</a:t>
            </a:r>
          </a:p>
          <a:p xmlns:a="http://schemas.openxmlformats.org/drawingml/2006/main">
            <a:r>
              <a:t>https://pa.inion.ru/documents/16503/</a:t>
            </a:r>
          </a:p>
          <a:p xmlns:a="http://schemas.openxmlformats.org/drawingml/2006/main">
            <a:r>
              <a:t>https://pa.inion.ru/documents/27860/</a:t>
            </a:r>
          </a:p>
          <a:p xmlns:a="http://schemas.openxmlformats.org/drawingml/2006/main">
            <a:r>
              <a:t>https://kprf.ru/personal/ostanina</a:t>
            </a:r>
          </a:p>
          <a:p xmlns:a="http://schemas.openxmlformats.org/drawingml/2006/main">
            <a:r>
              <a:t>https://pa.inion.ru/documents/25577/</a:t>
            </a:r>
          </a:p>
          <a:p xmlns:a="http://schemas.openxmlformats.org/drawingml/2006/main">
            <a:r>
              <a:t>https://kprf.ru/dep/gosduma/activities/245108.html</a:t>
            </a:r>
          </a:p>
          <a:p xmlns:a="http://schemas.openxmlformats.org/drawingml/2006/main">
            <a:r>
              <a:t>https://www.pnp.ru/social/zashhita-detskogo-byudzheta-kruzhki-sokhranit-vyplaty-iz-matkapitala-uvelichit.html</a:t>
            </a:r>
          </a:p>
          <a:p xmlns:a="http://schemas.openxmlformats.org/drawingml/2006/main">
            <a:r>
              <a:t>https://www.pnp.ru/state-duma/nina-ostanina-o-byudzhete-na-2027-2029-gody-semeynoy-ipoteke-i-matkapitale.html</a:t>
            </a:r>
          </a:p>
          <a:p xmlns:a="http://schemas.openxmlformats.org/drawingml/2006/main">
            <a:r>
              <a:t>https://uznayvse.ru/znamenitosti/biografiya-nina-ostanina.html</a:t>
            </a:r>
          </a:p>
          <a:p xmlns:a="http://schemas.openxmlformats.org/drawingml/2006/main">
            <a:r>
              <a:t>https://dumatv.ru/news/ostanina--borba-za-mirovozzrencheskii-suverenitet-stanovitsya-gosudarstvennoi-politikoi</a:t>
            </a:r>
          </a:p>
          <a:p xmlns:a="http://schemas.openxmlformats.org/drawingml/2006/main">
            <a:r>
              <a:t>https://kprf.ru/dep/gosduma/activities/242132.html</a:t>
            </a:r>
          </a:p>
          <a:p xmlns:a="http://schemas.openxmlformats.org/drawingml/2006/main">
            <a:r>
              <a:t>https://www.business-gazeta.ru/article/625616</a:t>
            </a:r>
          </a:p>
          <a:p xmlns:a="http://schemas.openxmlformats.org/drawingml/2006/main">
            <a:r>
              <a:t>https://www.kommersant.ru/doc/3235400</a:t>
            </a:r>
          </a:p>
          <a:p xmlns:a="http://schemas.openxmlformats.org/drawingml/2006/main">
            <a:r>
              <a:t>https://www.rbc.ru/person/67d838f09a7947cdef0b1a95</a:t>
            </a:r>
          </a:p>
          <a:p xmlns:a="http://schemas.openxmlformats.org/drawingml/2006/main">
            <a:r>
              <a:t>https://www.vedomosti.ru/politics/articles/2020/03/10/824795-tereshkova-predlozhila</a:t>
            </a:r>
          </a:p>
          <a:p xmlns:a="http://schemas.openxmlformats.org/drawingml/2006/main">
            <a:r>
              <a:t>http://duma.gov.ru/news/49164/</a:t>
            </a:r>
          </a:p>
          <a:p xmlns:a="http://schemas.openxmlformats.org/drawingml/2006/main">
            <a:r>
              <a:t>https://meduza.io/news/2020/03/12/delayut-vse-dlya-togo-chtoby-gadosti-delat-tereshkova-o-protivnikah-popravki-obnulyayuschey-sroki-putina</a:t>
            </a:r>
          </a:p>
          <a:p xmlns:a="http://schemas.openxmlformats.org/drawingml/2006/main">
            <a:r>
              <a:t>https://meduza.io/feature/2020/03/10/gosduma-neozhidanno-dlya-sebya-obespechila-putina-novymi-prezidentskimi-srokami</a:t>
            </a:r>
          </a:p>
          <a:p xmlns:a="http://schemas.openxmlformats.org/drawingml/2006/main">
            <a:r>
              <a:t>https://hinshtein.ru/biography/</a:t>
            </a:r>
          </a:p>
          <a:p xmlns:a="http://schemas.openxmlformats.org/drawingml/2006/main">
            <a:r>
              <a:t>https://www.vedomosti.ru/politics/articles/2024/12/06/1079852-kto-takoi-aleksandr-hinshtein</a:t>
            </a:r>
          </a:p>
          <a:p xmlns:a="http://schemas.openxmlformats.org/drawingml/2006/main">
            <a:r>
              <a:t>https://www.rbc.ru/person/6752d12a9a7947d62166795e</a:t>
            </a:r>
          </a:p>
          <a:p xmlns:a="http://schemas.openxmlformats.org/drawingml/2006/main">
            <a:r>
              <a:t>https://www.rbc.ru/politics/06/12/2024/675207239a7947e74994842e</a:t>
            </a:r>
          </a:p>
          <a:p xmlns:a="http://schemas.openxmlformats.org/drawingml/2006/main">
            <a:r>
              <a:t>https://hinshtein.ru/news/aleksandr-hinshtejn-podvyol-itogi-goda-raboty-komiteta-gosdumy-po-informpolitike-informatsionnym-tehnologiyam-i-svyazi/</a:t>
            </a:r>
          </a:p>
          <a:p xmlns:a="http://schemas.openxmlformats.org/drawingml/2006/main">
            <a:r>
              <a:t>https://hinshtein.ru/news/a-hinshtejn-itogi-raboty-za-vii-sozyv/</a:t>
            </a:r>
          </a:p>
          <a:p xmlns:a="http://schemas.openxmlformats.org/drawingml/2006/main">
            <a:r>
              <a:t>https://www.kommersant.ru/doc/4660427</a:t>
            </a:r>
          </a:p>
          <a:p xmlns:a="http://schemas.openxmlformats.org/drawingml/2006/main">
            <a:r>
              <a:t>https://www.kommersant.ru/doc/4104004</a:t>
            </a:r>
          </a:p>
          <a:p xmlns:a="http://schemas.openxmlformats.org/drawingml/2006/main">
            <a:r>
              <a:t>https://www.nvgazeta.ru/news/12383/634260/</a:t>
            </a:r>
          </a:p>
          <a:p xmlns:a="http://schemas.openxmlformats.org/drawingml/2006/main">
            <a:r>
              <a:t>https://kpravda.ru/2025/02/11/kursk-poluchit-dengi-iz-gosbyudzheta-na-restavracziyu-istoricheskoj-kreposti/</a:t>
            </a:r>
          </a:p>
          <a:p xmlns:a="http://schemas.openxmlformats.org/drawingml/2006/main">
            <a:r>
              <a:t>https://tass.ru/obschestvo/24001633</a:t>
            </a:r>
          </a:p>
          <a:p xmlns:a="http://schemas.openxmlformats.org/drawingml/2006/main">
            <a:r>
              <a:t>https://www.kommersant.ru/doc/7737032</a:t>
            </a:r>
          </a:p>
          <a:p xmlns:a="http://schemas.openxmlformats.org/drawingml/2006/main">
            <a:r>
              <a:t>https://kpravda.ru/2025/03/21/edinaya-rossiya-pomozhet-v-restavraczii-kurskih-pamyatnikov/</a:t>
            </a:r>
          </a:p>
          <a:p xmlns:a="http://schemas.openxmlformats.org/drawingml/2006/main">
            <a:r>
              <a:t>https://news-kursk.ru/society/2025/07/13/65824.html</a:t>
            </a:r>
          </a:p>
          <a:p xmlns:a="http://schemas.openxmlformats.org/drawingml/2006/main">
            <a:r>
              <a:t>https://news.ru/russia/v-kurske-budet-alleya-geroev-hinshtejn-o-muzee-i-memoriale-zhertvam-vsu</a:t>
            </a:r>
          </a:p>
          <a:p xmlns:a="http://schemas.openxmlformats.org/drawingml/2006/main">
            <a:r>
              <a:t>https://ru.wikipedia.org/wiki/Пушков,_Алексей_Константинович</a:t>
            </a:r>
          </a:p>
          <a:p xmlns:a="http://schemas.openxmlformats.org/drawingml/2006/main">
            <a:r>
              <a:t>http://council.gov.ru/structure/persons/1316/</a:t>
            </a:r>
          </a:p>
          <a:p xmlns:a="http://schemas.openxmlformats.org/drawingml/2006/main">
            <a:r>
              <a:t>http://council.gov.ru/media/files/xjE2QHRAivCH7onABehAcG7OsnrO6DYb.pdf</a:t>
            </a:r>
          </a:p>
          <a:p xmlns:a="http://schemas.openxmlformats.org/drawingml/2006/main">
            <a:r>
              <a:t>https://base.garant.ru/406310971/</a:t>
            </a:r>
          </a:p>
          <a:p xmlns:a="http://schemas.openxmlformats.org/drawingml/2006/main">
            <a:r>
              <a:t>https://russiancouncil.ru/aleksey-pushkov/</a:t>
            </a:r>
          </a:p>
          <a:p xmlns:a="http://schemas.openxmlformats.org/drawingml/2006/main">
            <a:r>
              <a:t>http://legislation.council.gov.ru/events/announce/</a:t>
            </a:r>
          </a:p>
          <a:p xmlns:a="http://schemas.openxmlformats.org/drawingml/2006/main">
            <a:r>
              <a:t>http://council.gov.ru/events/news/173810/</a:t>
            </a:r>
          </a:p>
          <a:p xmlns:a="http://schemas.openxmlformats.org/drawingml/2006/main">
            <a:r>
              <a:t>http://www.council.gov.ru/events/news/175997/</a:t>
            </a:r>
          </a:p>
          <a:p xmlns:a="http://schemas.openxmlformats.org/drawingml/2006/main">
            <a:r>
              <a:t>http://council.gov.ru/media/report/pdf/HtoXfAAzeBJ8JwN0eAduo3rejTAYhqvB.pdf</a:t>
            </a:r>
          </a:p>
          <a:p xmlns:a="http://schemas.openxmlformats.org/drawingml/2006/main">
            <a:r>
              <a:t>http://council.gov.ru/events/news/164749/</a:t>
            </a:r>
          </a:p>
          <a:p xmlns:a="http://schemas.openxmlformats.org/drawingml/2006/main">
            <a:r>
              <a:t>https://t.me/s/alexey_pushkov?before=14914</a:t>
            </a:r>
          </a:p>
          <a:p xmlns:a="http://schemas.openxmlformats.org/drawingml/2006/main">
            <a:r>
              <a:t>http://legislation.council.gov.ru/events/multimedia/video/302078/</a:t>
            </a:r>
          </a:p>
          <a:p xmlns:a="http://schemas.openxmlformats.org/drawingml/2006/main">
            <a:r>
              <a:t>http://council.gov.ru/media/report/pdf/e8Awe3U6hNouHwSvME53OSPGGWxTeVAl.pdf</a:t>
            </a:r>
          </a:p>
          <a:p xmlns:a="http://schemas.openxmlformats.org/drawingml/2006/main">
            <a:r>
              <a:t>https://www.vedomosti.ru/person/1178385-kosachev-konstantin</a:t>
            </a:r>
          </a:p>
          <a:p xmlns:a="http://schemas.openxmlformats.org/drawingml/2006/main">
            <a:r>
              <a:t>https://www.interfax.ru/interview/812963</a:t>
            </a:r>
          </a:p>
          <a:p xmlns:a="http://schemas.openxmlformats.org/drawingml/2006/main">
            <a:r>
              <a:t>https://senatinform.ru/news/yuzhnuyu_osetiyu_neobkhodimo_vyvodit_iz_iskusstvennoy_izolyatsii_schitayut_rossiyskie_senatory_/</a:t>
            </a:r>
          </a:p>
          <a:p xmlns:a="http://schemas.openxmlformats.org/drawingml/2006/main">
            <a:r>
              <a:t>https://senatinform.ru/news/kosachyev_rossiya_gotova_rabotat_s_mps_s_uchyetom_ozabochennostey_nashey_strany/</a:t>
            </a:r>
          </a:p>
          <a:p xmlns:a="http://schemas.openxmlformats.org/drawingml/2006/main">
            <a:r>
              <a:t>https://www.bfm.ru/person/61</a:t>
            </a:r>
          </a:p>
          <a:p xmlns:a="http://schemas.openxmlformats.org/drawingml/2006/main">
            <a:r>
              <a:t>https://svpressa.ru/persons/konstantin-kosachev/</a:t>
            </a:r>
          </a:p>
          <a:p xmlns:a="http://schemas.openxmlformats.org/drawingml/2006/main">
            <a:r>
              <a:t>https://www.pnp.ru/person/konstantin-kosachev/</a:t>
            </a:r>
          </a:p>
          <a:p xmlns:a="http://schemas.openxmlformats.org/drawingml/2006/main">
            <a:r>
              <a:t>https://www.pnp.ru/politics/konstantin-kosachev-dlya-ssha-voyna-s-rossiey-eto-samoubiystvo.html</a:t>
            </a:r>
          </a:p>
          <a:p xmlns:a="http://schemas.openxmlformats.org/drawingml/2006/main">
            <a:r>
              <a:t>https://www.mlg.ru/ratings/vlast/senators/10844/</a:t>
            </a:r>
          </a:p>
          <a:p xmlns:a="http://schemas.openxmlformats.org/drawingml/2006/main">
            <a:r>
              <a:t>http://council.gov.ru/events/news/173506/</a:t>
            </a:r>
          </a:p>
          <a:p xmlns:a="http://schemas.openxmlformats.org/drawingml/2006/main">
            <a:r>
              <a:t>https://t.me/s/Kosachev62</a:t>
            </a:r>
          </a:p>
          <a:p xmlns:a="http://schemas.openxmlformats.org/drawingml/2006/main">
            <a:r>
              <a:t>http://council.gov.ru/events/news/177602/</a:t>
            </a:r>
          </a:p>
          <a:p xmlns:a="http://schemas.openxmlformats.org/drawingml/2006/main">
            <a:r>
              <a:t>https://vmeste-rf.tv/programs/205/konstantin-kosachev-sotrudnichestvo-rossii-i-efiopii-itogi-vizita-delegatsii-sf/</a:t>
            </a:r>
          </a:p>
          <a:p xmlns:a="http://schemas.openxmlformats.org/drawingml/2006/main">
            <a:r>
              <a:t>https://www.rbc.ru/person/64b8e1909a79474f30e86f98</a:t>
            </a:r>
          </a:p>
          <a:p xmlns:a="http://schemas.openxmlformats.org/drawingml/2006/main">
            <a:r>
              <a:t>https://www.kommersant.ru/doc/6041063</a:t>
            </a:r>
          </a:p>
          <a:p xmlns:a="http://schemas.openxmlformats.org/drawingml/2006/main">
            <a:r>
              <a:t>https://www.mos.ru/mayor/themes/6907050/</a:t>
            </a:r>
          </a:p>
          <a:p xmlns:a="http://schemas.openxmlformats.org/drawingml/2006/main">
            <a:r>
              <a:t>https://www.mos.ru/mayor/themes/7037050/</a:t>
            </a:r>
          </a:p>
          <a:p xmlns:a="http://schemas.openxmlformats.org/drawingml/2006/main">
            <a:r>
              <a:t>https://www.mos.ru/mayor/themes/8822050/</a:t>
            </a:r>
          </a:p>
          <a:p xmlns:a="http://schemas.openxmlformats.org/drawingml/2006/main">
            <a:r>
              <a:t>http://special.kremlin.ru/catalog/persons/38/events/70467</a:t>
            </a:r>
          </a:p>
          <a:p xmlns:a="http://schemas.openxmlformats.org/drawingml/2006/main">
            <a:r>
              <a:t>https://www.mos.ru/upload/content/files/15af077500dcc5a1547bf728abf25669/15Zakong_Moskviot17_05_2017N14Odopolnitelnihgaranti.pdf</a:t>
            </a:r>
          </a:p>
          <a:p xmlns:a="http://schemas.openxmlformats.org/drawingml/2006/main">
            <a:r>
              <a:t>https://www.rbc.ru/politics/03/05/2023/645245159a794763ce66d990</a:t>
            </a:r>
          </a:p>
          <a:p xmlns:a="http://schemas.openxmlformats.org/drawingml/2006/main">
            <a:r>
              <a:t>https://www.dw.com/ru/ataka-dronov-v-moskve-i-podmoskove-cto-izvestno/a-65771767</a:t>
            </a:r>
          </a:p>
          <a:p xmlns:a="http://schemas.openxmlformats.org/drawingml/2006/main">
            <a:r>
              <a:t>https://www.rbc.ru/politics/01/08/2023/64c856ce9a79471a722e13ad</a:t>
            </a:r>
          </a:p>
          <a:p xmlns:a="http://schemas.openxmlformats.org/drawingml/2006/main">
            <a:r>
              <a:t>https://www.rbc.ru/politics/23/08/2023/64e54f299a794789ddb55c65</a:t>
            </a:r>
          </a:p>
          <a:p xmlns:a="http://schemas.openxmlformats.org/drawingml/2006/main">
            <a:r>
              <a:t>https://ru.wikipedia.org/wiki/Беглов,_Александр_Дмитриевич</a:t>
            </a:r>
          </a:p>
          <a:p xmlns:a="http://schemas.openxmlformats.org/drawingml/2006/main">
            <a:r>
              <a:t>https://www.gov.spb.ru/governor/</a:t>
            </a:r>
          </a:p>
          <a:p xmlns:a="http://schemas.openxmlformats.org/drawingml/2006/main">
            <a:r>
              <a:t>https://www.rbc.ru/politics/30/05/2019/5cf02cf09a79475ed4d2fa3f</a:t>
            </a:r>
          </a:p>
          <a:p xmlns:a="http://schemas.openxmlformats.org/drawingml/2006/main">
            <a:r>
              <a:t>https://www.themoscowtimes.com/2019/09/11/st-petersburg-re-elects-governor-beglov-after-controversial-campaign-a67240</a:t>
            </a:r>
          </a:p>
          <a:p xmlns:a="http://schemas.openxmlformats.org/drawingml/2006/main">
            <a:r>
              <a:t>https://www.gov.spb.ru/press/governor/188637/</a:t>
            </a:r>
          </a:p>
          <a:p xmlns:a="http://schemas.openxmlformats.org/drawingml/2006/main">
            <a:r>
              <a:t>https://www.gov.spb.ru/press/governor/213661/</a:t>
            </a:r>
          </a:p>
          <a:p xmlns:a="http://schemas.openxmlformats.org/drawingml/2006/main">
            <a:r>
              <a:t>https://www.gov.spb.ru/press/governor/258831/</a:t>
            </a:r>
          </a:p>
          <a:p xmlns:a="http://schemas.openxmlformats.org/drawingml/2006/main">
            <a:r>
              <a:t>https://www.gov.spb.ru/governor/interview/7333/</a:t>
            </a:r>
          </a:p>
          <a:p xmlns:a="http://schemas.openxmlformats.org/drawingml/2006/main">
            <a:r>
              <a:t>https://tass.ru/interviews/21839179</a:t>
            </a:r>
          </a:p>
          <a:p xmlns:a="http://schemas.openxmlformats.org/drawingml/2006/main">
            <a:r>
              <a:t>https://www.gov.spb.ru/press/governor/236663/</a:t>
            </a:r>
          </a:p>
          <a:p xmlns:a="http://schemas.openxmlformats.org/drawingml/2006/main">
            <a:r>
              <a:t>https://tvspb.ru/news/2022/09/21/aleksandr-beglov-ukaz-prezidenta-o-chastichnoj-mobilizaczii-byl-trudnym-no-neobhodimym-shagom</a:t>
            </a:r>
          </a:p>
          <a:p xmlns:a="http://schemas.openxmlformats.org/drawingml/2006/main">
            <a:r>
              <a:t>https://spbvedomosti.ru/news/gorod/gubernator-aleksandr-beglov-obyavil-o-zavershenii-chastichnoy-mobilizatsii/</a:t>
            </a:r>
          </a:p>
          <a:p xmlns:a="http://schemas.openxmlformats.org/drawingml/2006/main">
            <a:r>
              <a:t>https://www.gov.spb.ru/press/governor/253716/</a:t>
            </a:r>
          </a:p>
          <a:p xmlns:a="http://schemas.openxmlformats.org/drawingml/2006/main">
            <a:r>
              <a:t>https://www.gov.spb.ru/press/governor/290070/</a:t>
            </a:r>
          </a:p>
          <a:p xmlns:a="http://schemas.openxmlformats.org/drawingml/2006/main">
            <a:r>
              <a:t>https://spbdnevnik.ru/news/2022-10-06/aleksandr-beglov-rasskazal-o-prizyve-po-mobilizatsii-peterburzhtsa-s-odnoy-pochkoy</a:t>
            </a:r>
          </a:p>
          <a:p xmlns:a="http://schemas.openxmlformats.org/drawingml/2006/main">
            <a:r>
              <a:t>https://www.rbc.ru/person/62c5c0899a79470082fa57eb</a:t>
            </a:r>
          </a:p>
          <a:p xmlns:a="http://schemas.openxmlformats.org/drawingml/2006/main">
            <a:r>
              <a:t>https://www.kavkaz-uzel.eu/articles/85366</a:t>
            </a:r>
          </a:p>
          <a:p xmlns:a="http://schemas.openxmlformats.org/drawingml/2006/main">
            <a:r>
              <a:t>https://news.ru/regions/my-dolzhny-zabrat-vsyu-ukrainu-chto-kadyrov-govoril-ob-svo-rossii-putine</a:t>
            </a:r>
          </a:p>
          <a:p xmlns:a="http://schemas.openxmlformats.org/drawingml/2006/main">
            <a:r>
              <a:t>https://minval.az/k/ramzan-kadyrov</a:t>
            </a:r>
          </a:p>
          <a:p xmlns:a="http://schemas.openxmlformats.org/drawingml/2006/main">
            <a:r>
              <a:t>http://publication.pravo.gov.ru/document/2000202609160002</a:t>
            </a:r>
          </a:p>
          <a:p xmlns:a="http://schemas.openxmlformats.org/drawingml/2006/main">
            <a:r>
              <a:t>https://vestikavkaza.ru/amp/291219</a:t>
            </a:r>
          </a:p>
          <a:p xmlns:a="http://schemas.openxmlformats.org/drawingml/2006/main">
            <a:r>
              <a:t>https://tass.ru/obschestvo/25968415</a:t>
            </a:r>
          </a:p>
          <a:p xmlns:a="http://schemas.openxmlformats.org/drawingml/2006/main">
            <a:r>
              <a:t>https://www.rbc.ru/rbcfreenews/694558f89a794775c8b05d2e</a:t>
            </a:r>
          </a:p>
          <a:p xmlns:a="http://schemas.openxmlformats.org/drawingml/2006/main">
            <a:r>
              <a:t>https://rais.tatarstan.ru/biografiya.htm</a:t>
            </a:r>
          </a:p>
          <a:p xmlns:a="http://schemas.openxmlformats.org/drawingml/2006/main">
            <a:r>
              <a:t>https://rt.rbc.ru/tatarstan/freenews/68c7f77d9a79472be550408e</a:t>
            </a:r>
          </a:p>
          <a:p xmlns:a="http://schemas.openxmlformats.org/drawingml/2006/main">
            <a:r>
              <a:t>https://rt.rbc.ru/tatarstan/freenews/68c90bdc9a794783273a16b6</a:t>
            </a:r>
          </a:p>
          <a:p xmlns:a="http://schemas.openxmlformats.org/drawingml/2006/main">
            <a:r>
              <a:t>https://tass.ru/politika/25045679</a:t>
            </a:r>
          </a:p>
          <a:p xmlns:a="http://schemas.openxmlformats.org/drawingml/2006/main">
            <a:r>
              <a:t>https://tass.ru/info/25058299</a:t>
            </a:r>
          </a:p>
          <a:p xmlns:a="http://schemas.openxmlformats.org/drawingml/2006/main">
            <a:r>
              <a:t>https://tatarstan.ru/index.htm/news/2454245.htm</a:t>
            </a:r>
          </a:p>
          <a:p xmlns:a="http://schemas.openxmlformats.org/drawingml/2006/main">
            <a:r>
              <a:t>https://izbirkom.tatarstan.ru/file/pub/pub_4719790.docx</a:t>
            </a:r>
          </a:p>
          <a:p xmlns:a="http://schemas.openxmlformats.org/drawingml/2006/main">
            <a:r>
              <a:t>http://www.pfo.gov.ru/press/events/112125/</a:t>
            </a:r>
          </a:p>
          <a:p xmlns:a="http://schemas.openxmlformats.org/drawingml/2006/main">
            <a:r>
              <a:t>https://www.tatar-inform.ru/news/rustam-minnixanov-sankcii-ne-koncatsya-poka-my-ne-stanem-samodostatocnymi-5896958</a:t>
            </a:r>
          </a:p>
          <a:p xmlns:a="http://schemas.openxmlformats.org/drawingml/2006/main">
            <a:r>
              <a:t>https://tatarstan.ru/index.htm/news/1916025.htm</a:t>
            </a:r>
          </a:p>
          <a:p xmlns:a="http://schemas.openxmlformats.org/drawingml/2006/main">
            <a:r>
              <a:t>https://kitaphane.tatarstan.ru/digital.htm</a:t>
            </a:r>
          </a:p>
          <a:p xmlns:a="http://schemas.openxmlformats.org/drawingml/2006/main">
            <a:r>
              <a:t>https://kt.tatarstan.ru/index.htm/news/2266706.htm</a:t>
            </a:r>
          </a:p>
          <a:p xmlns:a="http://schemas.openxmlformats.org/drawingml/2006/main">
            <a:r>
              <a:t>https://tatarstan.ru/index.htm/news/2460505.htm</a:t>
            </a:r>
          </a:p>
          <a:p xmlns:a="http://schemas.openxmlformats.org/drawingml/2006/main">
            <a:r>
              <a:t>https://digital.tatarstan.ru/index.htm/news/2460691.htm</a:t>
            </a:r>
          </a:p>
          <a:p xmlns:a="http://schemas.openxmlformats.org/drawingml/2006/main">
            <a:r>
              <a:t>https://amp.rbc.ru/rbcnews/politics/09/07/2020/5f06bbb69a79475c40a9a094</a:t>
            </a:r>
          </a:p>
          <a:p xmlns:a="http://schemas.openxmlformats.org/drawingml/2006/main">
            <a:r>
              <a:t>https://1kas.sudrf.ru/modules.php?name=sud_delo&amp;name_op=doc&amp;number=39453936&amp;delo_id=2450001&amp;case_type=0&amp;new=2450001&amp;text_number=1&amp;srv_num=1</a:t>
            </a:r>
          </a:p>
          <a:p xmlns:a="http://schemas.openxmlformats.org/drawingml/2006/main">
            <a:r>
              <a:t>https://www.interfax.ru/russia/982916</a:t>
            </a:r>
          </a:p>
          <a:p xmlns:a="http://schemas.openxmlformats.org/drawingml/2006/main">
            <a:r>
              <a:t>https://www.svoboda.org/a/sud-ostavil-v-sile-prigovor-habarovskomu-eks-gubernatoru-sergeyu-furgalu/32686024.html</a:t>
            </a:r>
          </a:p>
          <a:p xmlns:a="http://schemas.openxmlformats.org/drawingml/2006/main">
            <a:r>
              <a:t>https://www.dw.com/ru/kommentarij-furgal-peresidit-putina/a-64670560</a:t>
            </a:r>
          </a:p>
          <a:p xmlns:a="http://schemas.openxmlformats.org/drawingml/2006/main">
            <a:r>
              <a:t>https://www.kommersant.ru/doc/3896415</a:t>
            </a:r>
          </a:p>
          <a:p xmlns:a="http://schemas.openxmlformats.org/drawingml/2006/main">
            <a:r>
              <a:t>https://todaykhv.ru/news/policy/19386/</a:t>
            </a:r>
          </a:p>
          <a:p xmlns:a="http://schemas.openxmlformats.org/drawingml/2006/main">
            <a:r>
              <a:t>https://meduza.io/feature/2018/09/19/ya-dumayu-chto-situatsiya-kak-v-primorie-u-nas-ne-povtoritsya</a:t>
            </a:r>
          </a:p>
          <a:p xmlns:a="http://schemas.openxmlformats.org/drawingml/2006/main">
            <a:r>
              <a:t>https://govoritmoskva.ru/news/174327/</a:t>
            </a:r>
          </a:p>
          <a:p xmlns:a="http://schemas.openxmlformats.org/drawingml/2006/main">
            <a:r>
              <a:t>https://todaykhv.ru/news/policy/22426/?sphrase_id=2620206</a:t>
            </a:r>
          </a:p>
          <a:p xmlns:a="http://schemas.openxmlformats.org/drawingml/2006/main">
            <a:r>
              <a:t>https://ru.wikipedia.org/wiki/%D0%A4%D1%83%D1%80%D0%B3%D0%B0%D0%BB,_%D0%A1%D0%B5%D1%80%D0%B3%D0%B5%D0%B9_%D0%98%D0%B2%D0%B0%D0%BD%D0%BE%D0%B2%D0%B8%D1%87</a:t>
            </a:r>
          </a:p>
          <a:p xmlns:a="http://schemas.openxmlformats.org/drawingml/2006/main">
            <a:r>
              <a:t>https://novayagazeta.ru/articles/2018/09/18/77870-ne-dopuschu-zdes-revolyutsii</a:t>
            </a:r>
          </a:p>
          <a:p xmlns:a="http://schemas.openxmlformats.org/drawingml/2006/main">
            <a:r>
              <a:t>https://opkhv.ru/publications/4888</a:t>
            </a:r>
          </a:p>
          <a:p xmlns:a="http://schemas.openxmlformats.org/drawingml/2006/main">
            <a:r>
              <a:t>https://meduza.io/feature/2019/08/26/partiya-vlasti-zdes-ldpr</a:t>
            </a:r>
          </a:p>
          <a:p xmlns:a="http://schemas.openxmlformats.org/drawingml/2006/main">
            <a:r>
              <a:t>https://tass.ru/obschestvo/5946495</a:t>
            </a:r>
          </a:p>
          <a:p xmlns:a="http://schemas.openxmlformats.org/drawingml/2006/main">
            <a:r>
              <a:t>https://amurmedia.ru/news/775590/</a:t>
            </a:r>
          </a:p>
          <a:p xmlns:a="http://schemas.openxmlformats.org/drawingml/2006/main">
            <a:r>
              <a:t>https://www.eastrussia.ru/material/ne-planiruyushchim-pereezzhat-sovetuyu-pomolchat/</a:t>
            </a:r>
          </a:p>
          <a:p xmlns:a="http://schemas.openxmlformats.org/drawingml/2006/main">
            <a:r>
              <a:t>https://www.dw.com/ru/v-habarovske-priznali-ekstremistskim-dvizenie-v-zasitu-furgala/a-68334442</a:t>
            </a:r>
          </a:p>
          <a:p xmlns:a="http://schemas.openxmlformats.org/drawingml/2006/main">
            <a:r>
              <a:t>https://www.rbc.ru/person/66475fec9a79475c4d9443ad</a:t>
            </a:r>
          </a:p>
          <a:p xmlns:a="http://schemas.openxmlformats.org/drawingml/2006/main">
            <a:r>
              <a:t>https://tass.ru/info/12453099</a:t>
            </a:r>
          </a:p>
          <a:p xmlns:a="http://schemas.openxmlformats.org/drawingml/2006/main">
            <a:r>
              <a:t>https://tass.ru/info/9007455</a:t>
            </a:r>
          </a:p>
          <a:p xmlns:a="http://schemas.openxmlformats.org/drawingml/2006/main">
            <a:r>
              <a:t>https://tass.ru/info/20795009</a:t>
            </a:r>
          </a:p>
          <a:p xmlns:a="http://schemas.openxmlformats.org/drawingml/2006/main">
            <a:r>
              <a:t>https://tass.ru/encyclopedia/person/degtyarev-mihail-vladimirovich</a:t>
            </a:r>
          </a:p>
          <a:p xmlns:a="http://schemas.openxmlformats.org/drawingml/2006/main">
            <a:r>
              <a:t>https://www.rbc.ru/politics/20/07/2020/5f1586289a794722b2457d61</a:t>
            </a:r>
          </a:p>
          <a:p xmlns:a="http://schemas.openxmlformats.org/drawingml/2006/main">
            <a:r>
              <a:t>https://www.minsport.gov.ru/press-center/news/intervyu-mihaila-degtyareva-gazete-kommersant/</a:t>
            </a:r>
          </a:p>
          <a:p xmlns:a="http://schemas.openxmlformats.org/drawingml/2006/main">
            <a:r>
              <a:t>https://minsport.gov.ru/press-center/news/mihail-degtyarev-nashe-mesto-za-stolom-a-ne-v-perednej/</a:t>
            </a:r>
          </a:p>
          <a:p xmlns:a="http://schemas.openxmlformats.org/drawingml/2006/main">
            <a:r>
              <a:t>https://news.ru/vlast/degtyarev-prizval-ne-doveryat-evrope-provedenie-sorevnovanij</a:t>
            </a:r>
          </a:p>
          <a:p xmlns:a="http://schemas.openxmlformats.org/drawingml/2006/main">
            <a:r>
              <a:t>https://www.interfax.ru/presscenter/622170</a:t>
            </a:r>
          </a:p>
          <a:p xmlns:a="http://schemas.openxmlformats.org/drawingml/2006/main">
            <a:r>
              <a:t>https://tass.ru/interviews/13152777</a:t>
            </a:r>
          </a:p>
          <a:p xmlns:a="http://schemas.openxmlformats.org/drawingml/2006/main">
            <a:r>
              <a:t>https://www.sports.ru/others/blogs/3302024.html</a:t>
            </a:r>
          </a:p>
          <a:p xmlns:a="http://schemas.openxmlformats.org/drawingml/2006/main">
            <a:r>
              <a:t>https://www.vremyan.ru/news/556863</a:t>
            </a:r>
          </a:p>
          <a:p xmlns:a="http://schemas.openxmlformats.org/drawingml/2006/main">
            <a:r>
              <a:t>https://kprf.ru/personal/levchenko</a:t>
            </a:r>
          </a:p>
          <a:p xmlns:a="http://schemas.openxmlformats.org/drawingml/2006/main">
            <a:r>
              <a:t>https://www.rbc.ru/politics/23/06/2020/5ef0bd949a7947b3cd3dcba6</a:t>
            </a:r>
          </a:p>
          <a:p xmlns:a="http://schemas.openxmlformats.org/drawingml/2006/main">
            <a:r>
              <a:t>https://kprf.ru/party-live/regnews/194838.html</a:t>
            </a:r>
          </a:p>
          <a:p xmlns:a="http://schemas.openxmlformats.org/drawingml/2006/main">
            <a:r>
              <a:t>https://liveangarsk.ru/news/20191214/v-slozhivsheisya</a:t>
            </a:r>
          </a:p>
          <a:p xmlns:a="http://schemas.openxmlformats.org/drawingml/2006/main">
            <a:r>
              <a:t>https://kprf.ru/dep/gosduma/activities/240271.html</a:t>
            </a:r>
          </a:p>
          <a:p xmlns:a="http://schemas.openxmlformats.org/drawingml/2006/main">
            <a:r>
              <a:t>https://kprf.ru/dep/gosduma/activities/241686.html</a:t>
            </a:r>
          </a:p>
          <a:p xmlns:a="http://schemas.openxmlformats.org/drawingml/2006/main">
            <a:r>
              <a:t>https://altairk.ru/new/policy/the_message_of_the_governor</a:t>
            </a:r>
          </a:p>
          <a:p xmlns:a="http://schemas.openxmlformats.org/drawingml/2006/main">
            <a:r>
              <a:t>https://kto-irkutsk.ru/2026/07/20/sergej-levchenko-deyatelnost-i-zayavleniya-i-ix-ocenka/</a:t>
            </a:r>
          </a:p>
          <a:p xmlns:a="http://schemas.openxmlformats.org/drawingml/2006/main">
            <a:r>
              <a:t>https://ru.wikipedia.org/wiki/%D0%9B%D0%B5%D0%B2%D1%87%D0%B5%D0%BD%D0%BA%D0%BE,_%D0%A1%D0%B5%D1%80%D0%B3%D0%B5%D0%B9_%D0%93%D0%B5%D0%BE%D1%80%D0%B3%D0%B8%D0%B5%D0%B2%D0%B8%D1%87</a:t>
            </a:r>
          </a:p>
          <a:p xmlns:a="http://schemas.openxmlformats.org/drawingml/2006/main">
            <a:r>
              <a:t>https://www.newsru.com/dossiers/10330/</a:t>
            </a:r>
          </a:p>
          <a:p xmlns:a="http://schemas.openxmlformats.org/drawingml/2006/main">
            <a:r>
              <a:t>https://www.interfax.ru/russia/714300</a:t>
            </a:r>
          </a:p>
          <a:p xmlns:a="http://schemas.openxmlformats.org/drawingml/2006/main">
            <a:r>
              <a:t>https://www.rbc.ru/politics/14/09/2020/5f5e7dfb9a79477f7753d651</a:t>
            </a:r>
          </a:p>
          <a:p xmlns:a="http://schemas.openxmlformats.org/drawingml/2006/main">
            <a:r>
              <a:t>https://www.rline.tv/podrobnosti/2019-10-06-sergey-levchenko-za-chetyre-goda-sdelano-bolshe-chem-za-predydushchie-15-let/</a:t>
            </a:r>
          </a:p>
          <a:p xmlns:a="http://schemas.openxmlformats.org/drawingml/2006/main">
            <a:r>
              <a:t>https://vs19.ru/verhovny-sovet/deputati/670-konovalov-valentin-olegovich</a:t>
            </a:r>
          </a:p>
          <a:p xmlns:a="http://schemas.openxmlformats.org/drawingml/2006/main">
            <a:r>
              <a:t>https://meduza.io/feature/2018/09/10/etu-vlast-nichego-ne-spaset</a:t>
            </a:r>
          </a:p>
          <a:p xmlns:a="http://schemas.openxmlformats.org/drawingml/2006/main">
            <a:r>
              <a:t>https://kprf.ru/party-live/regnews/188553.html</a:t>
            </a:r>
          </a:p>
          <a:p xmlns:a="http://schemas.openxmlformats.org/drawingml/2006/main">
            <a:r>
              <a:t>https://www.kommersant.ru/doc/4441936</a:t>
            </a:r>
          </a:p>
          <a:p xmlns:a="http://schemas.openxmlformats.org/drawingml/2006/main">
            <a:r>
              <a:t>http://www.youtube.com/watch?v=eO6lUkFCAqM</a:t>
            </a:r>
          </a:p>
          <a:p xmlns:a="http://schemas.openxmlformats.org/drawingml/2006/main">
            <a:r>
              <a:t>https://ru.wikipedia.org/wiki/%D0%92%D1%8B%D0%B1%D0%BE%D1%80%D1%8B_%D0%B3%D0%BB%D0%B0%D0%B2%D1%8B_%D0%A0%D0%B5%D1%81%D0%BF%D1%83%D0%B1%D0%BB%D0%B8%D0%BA%D0%B8_%D0%A5%D0%B0%D0%BA%D0%B0%D1%81%D0%B8%D1%8F_(2018)</a:t>
            </a:r>
          </a:p>
          <a:p xmlns:a="http://schemas.openxmlformats.org/drawingml/2006/main">
            <a:r>
              <a:t>https://ok.ru/group/51615057903766/topic/157744983021718</a:t>
            </a:r>
          </a:p>
          <a:p xmlns:a="http://schemas.openxmlformats.org/drawingml/2006/main">
            <a:r>
              <a:t>https://kprf.ru/party-live/cknews/245343.html</a:t>
            </a:r>
          </a:p>
          <a:p xmlns:a="http://schemas.openxmlformats.org/drawingml/2006/main">
            <a:r>
              <a:t>https://r-19.ru/news/politika/190680/</a:t>
            </a:r>
          </a:p>
          <a:p xmlns:a="http://schemas.openxmlformats.org/drawingml/2006/main">
            <a:r>
              <a:t>https://r-19.ru/news/ekonomika/193031/</a:t>
            </a:r>
          </a:p>
          <a:p xmlns:a="http://schemas.openxmlformats.org/drawingml/2006/main">
            <a:r>
              <a:t>https://19rusinfo.ru/ekonomika/118670-otchjot</a:t>
            </a:r>
          </a:p>
          <a:p xmlns:a="http://schemas.openxmlformats.org/drawingml/2006/main">
            <a:r>
              <a:t>https://iditena.ru/candidates/konovalov-valentin-olegovich/</a:t>
            </a:r>
          </a:p>
          <a:p xmlns:a="http://schemas.openxmlformats.org/drawingml/2006/main">
            <a:r>
              <a:t>https://56.kprf.ru/deyatelnost/tpost/gjjjuy1zi1-glava-hakasii-valentin-konovalov-dal-int</a:t>
            </a:r>
          </a:p>
          <a:p xmlns:a="http://schemas.openxmlformats.org/drawingml/2006/main">
            <a:r>
              <a:t>https://meduza.io/feature/2019/05/31/strana-pobedivshego-kommunista</a:t>
            </a:r>
          </a:p>
          <a:p xmlns:a="http://schemas.openxmlformats.org/drawingml/2006/main">
            <a:r>
              <a:t>https://xn--80aac0c2a.xn--p1acf/2026/08/22/vstrecha-s-uchastiem-valentina-konovalova-i-alekseya-kornienko-proshla-v-habarovske</a:t>
            </a:r>
          </a:p>
          <a:p xmlns:a="http://schemas.openxmlformats.org/drawingml/2006/main">
            <a:r>
              <a:t>https://www.vedomosti.ru/politics/characters/2026/07/06/1211370-valentin-konovalov-rossiya-na-moskve-ne-zakanchivaetsya?from=newsline</a:t>
            </a:r>
          </a:p>
          <a:p xmlns:a="http://schemas.openxmlformats.org/drawingml/2006/main">
            <a:r>
              <a:t>https://www.vedomosti.ru/person/1215197-aksenov-sergei</a:t>
            </a:r>
          </a:p>
          <a:p xmlns:a="http://schemas.openxmlformats.org/drawingml/2006/main">
            <a:r>
              <a:t>https://www.rbc.ru/person/65f020599a79475815e702c9</a:t>
            </a:r>
          </a:p>
          <a:p xmlns:a="http://schemas.openxmlformats.org/drawingml/2006/main">
            <a:r>
              <a:t>http://crimea.gov.ru/news/30_03_18_10</a:t>
            </a:r>
          </a:p>
          <a:p xmlns:a="http://schemas.openxmlformats.org/drawingml/2006/main">
            <a:r>
              <a:t>https://www.npr.org/sections/parallels/2018/01/27/581114772/putins-man-in-crimea-we-ve-returned-to-russia-forever</a:t>
            </a:r>
          </a:p>
          <a:p xmlns:a="http://schemas.openxmlformats.org/drawingml/2006/main">
            <a:r>
              <a:t>http://crimea.gov.ru/en/news/26_02_19_6</a:t>
            </a:r>
          </a:p>
          <a:p xmlns:a="http://schemas.openxmlformats.org/drawingml/2006/main">
            <a:r>
              <a:t>https://antifashist.com/item/kto-polomal-infopole-kryma-i-ne-otvechaet-na-voprosy.html</a:t>
            </a:r>
          </a:p>
          <a:p xmlns:a="http://schemas.openxmlformats.org/drawingml/2006/main">
            <a:r>
              <a:t>https://ru.krymr.com/a/news/27913548.html</a:t>
            </a:r>
          </a:p>
          <a:p xmlns:a="http://schemas.openxmlformats.org/drawingml/2006/main">
            <a:r>
              <a:t>https://simfch.ru/2022/03/02/glava-respubliki-krym-sergej-aksyonov-prizval-krymchan-k-informaczionnoj-mobilizaczii-otkrytomu-i-publichnomu-vyrazheniyu-svoej-patrioticheskoj-poziczii/</a:t>
            </a:r>
          </a:p>
          <a:p xmlns:a="http://schemas.openxmlformats.org/drawingml/2006/main">
            <a:r>
              <a:t>https://www.rbc.ru/politics/29/05/2023/64749e389a7947f3de98dff2</a:t>
            </a:r>
          </a:p>
          <a:p xmlns:a="http://schemas.openxmlformats.org/drawingml/2006/main">
            <a:r>
              <a:t>https://ru.krymr.com/a/krym-sergey-aksenov-pvo-prilety-bavovna-bezopasnost-pvo-udar/32631709.html</a:t>
            </a:r>
          </a:p>
          <a:p xmlns:a="http://schemas.openxmlformats.org/drawingml/2006/main">
            <a:r>
              <a:t>https://rostov.rbc.ru/rostov/interview/18/03/2024/65f75c4f9a7947c8b475ab94</a:t>
            </a:r>
          </a:p>
          <a:p xmlns:a="http://schemas.openxmlformats.org/drawingml/2006/main">
            <a:r>
              <a:t>https://www.kommersant.ru/doc/7715230</a:t>
            </a:r>
          </a:p>
          <a:p xmlns:a="http://schemas.openxmlformats.org/drawingml/2006/main">
            <a:r>
              <a:t>https://www.kommersant.ru/doc/5154319</a:t>
            </a:r>
          </a:p>
          <a:p xmlns:a="http://schemas.openxmlformats.org/drawingml/2006/main">
            <a:r>
              <a:t>https://www.rbc.ru/person/660290b19a7947801fe9439b</a:t>
            </a:r>
          </a:p>
          <a:p xmlns:a="http://schemas.openxmlformats.org/drawingml/2006/main">
            <a:r>
              <a:t>https://www.kommersant.ru/doc/3759211</a:t>
            </a:r>
          </a:p>
          <a:p xmlns:a="http://schemas.openxmlformats.org/drawingml/2006/main">
            <a:r>
              <a:t>https://tass.ru/info/6656656</a:t>
            </a:r>
          </a:p>
          <a:p xmlns:a="http://schemas.openxmlformats.org/drawingml/2006/main">
            <a:r>
              <a:t>https://sevastopol.er.ru/pages/otchet-gubernatora-sevastopolya-mihaila-razvozhaeva</a:t>
            </a:r>
          </a:p>
          <a:p xmlns:a="http://schemas.openxmlformats.org/drawingml/2006/main">
            <a:r>
              <a:t>http://special.kremlin.ru/catalog/persons/579/events/76271</a:t>
            </a:r>
          </a:p>
          <a:p xmlns:a="http://schemas.openxmlformats.org/drawingml/2006/main">
            <a:r>
              <a:t>https://sevastopol.su/news/chastnyy-biznes-vlozhil-v-sevastopol-250-mlrd-rubley-za-tri-goda</a:t>
            </a:r>
          </a:p>
          <a:p xmlns:a="http://schemas.openxmlformats.org/drawingml/2006/main">
            <a:r>
              <a:t>https://sevastopol.su/news/v-sevastopole-ocenili-perspektivy-mikhaila-razvozhaeva-na-sleduyuschikh-vyborakh</a:t>
            </a:r>
          </a:p>
          <a:p xmlns:a="http://schemas.openxmlformats.org/drawingml/2006/main">
            <a:r>
              <a:t>https://tass.ru/interviews/10248577</a:t>
            </a:r>
          </a:p>
          <a:p xmlns:a="http://schemas.openxmlformats.org/drawingml/2006/main">
            <a:r>
              <a:t>https://news.ru/russia/u-nas-smelye-plany-gubernator-sevastopolya-razvozzhaev-o-budushem-goroda</a:t>
            </a:r>
          </a:p>
          <a:p xmlns:a="http://schemas.openxmlformats.org/drawingml/2006/main">
            <a:r>
              <a:t>http://kremlin.ru/events/administration/80838</a:t>
            </a:r>
          </a:p>
          <a:p xmlns:a="http://schemas.openxmlformats.org/drawingml/2006/main">
            <a:r>
              <a:t>https://tass.ru/kultura/28214691</a:t>
            </a:r>
          </a:p>
          <a:p xmlns:a="http://schemas.openxmlformats.org/drawingml/2006/main">
            <a:r>
              <a:t>http://kremlin.ru/events/administration/80591</a:t>
            </a:r>
          </a:p>
          <a:p xmlns:a="http://schemas.openxmlformats.org/drawingml/2006/main">
            <a:r>
              <a:t>https://governors.ru/glava-regiona/Belgorodskaya-oblast/Gladkov-Vyacheslav-Vladimirovich</a:t>
            </a:r>
          </a:p>
          <a:p xmlns:a="http://schemas.openxmlformats.org/drawingml/2006/main">
            <a:r>
              <a:t>https://ru.wikipedia.org/wiki/%D0%93%D0%BB%D0%B0%D0%B4%D0%BA%D0%BE%D0%B2,_%D0%92%D1%8F%D1%87%D0%B5%D1%81%D0%BB%D0%B0%D0%B2_%D0%92%D0%BB%D0%B0%D0%B4%D0%B8%D0%BC%D0%B8%D1%80%D0%BE%D0%B2%D0%B8%D1%87</a:t>
            </a:r>
          </a:p>
          <a:p xmlns:a="http://schemas.openxmlformats.org/drawingml/2006/main">
            <a:r>
              <a:t>http://council.gov.ru/structure/persons/1543/</a:t>
            </a:r>
          </a:p>
          <a:p xmlns:a="http://schemas.openxmlformats.org/drawingml/2006/main">
            <a:r>
              <a:t>https://ufa.rbc.ru/person/648345539a794760fd0c17e8</a:t>
            </a:r>
          </a:p>
          <a:p xmlns:a="http://schemas.openxmlformats.org/drawingml/2006/main">
            <a:r>
              <a:t>https://www.kommersant.ru/doc/8571119</a:t>
            </a:r>
          </a:p>
          <a:p xmlns:a="http://schemas.openxmlformats.org/drawingml/2006/main">
            <a:r>
              <a:t>https://www.kommersant.ru/doc/8655079</a:t>
            </a:r>
          </a:p>
          <a:p xmlns:a="http://schemas.openxmlformats.org/drawingml/2006/main">
            <a:r>
              <a:t>https://tass.ru/info/27861241</a:t>
            </a:r>
          </a:p>
          <a:p xmlns:a="http://schemas.openxmlformats.org/drawingml/2006/main">
            <a:r>
              <a:t>https://meduza.io/feature/2023/06/08/emu-by-vse-eto-razgresti</a:t>
            </a:r>
          </a:p>
          <a:p xmlns:a="http://schemas.openxmlformats.org/drawingml/2006/main">
            <a:r>
              <a:t>http://www.kremlin.ru/events/president/transcripts/66288</a:t>
            </a:r>
          </a:p>
          <a:p xmlns:a="http://schemas.openxmlformats.org/drawingml/2006/main">
            <a:r>
              <a:t>https://www.belpressa.ru/politics/vlast/62665.html</a:t>
            </a:r>
          </a:p>
          <a:p xmlns:a="http://schemas.openxmlformats.org/drawingml/2006/main">
            <a:r>
              <a:t>https://www.belpressa.ru/politics/vlast/71368.html</a:t>
            </a:r>
          </a:p>
          <a:p xmlns:a="http://schemas.openxmlformats.org/drawingml/2006/main">
            <a:r>
              <a:t>https://www.belnovosti.ru/politika/gubernator/127077.html</a:t>
            </a:r>
          </a:p>
          <a:p xmlns:a="http://schemas.openxmlformats.org/drawingml/2006/main">
            <a:r>
              <a:t>https://chr.plus.rbc.ru/news/694b9fb67a8aa90f9c2ce17d</a:t>
            </a:r>
          </a:p>
          <a:p xmlns:a="http://schemas.openxmlformats.org/drawingml/2006/main">
            <a:r>
              <a:t>https://www.belpressa.ru/society/bezopasnost/43348.html</a:t>
            </a:r>
          </a:p>
          <a:p xmlns:a="http://schemas.openxmlformats.org/drawingml/2006/main">
            <a:r>
              <a:t>https://www.rbc.ru/politics/07/03/2023/640758bf9a7947f6af99d464</a:t>
            </a:r>
          </a:p>
          <a:p xmlns:a="http://schemas.openxmlformats.org/drawingml/2006/main">
            <a:r>
              <a:t>https://www.rbc.ru/politics/24/05/2023/646d22029a794797c4bac4bf</a:t>
            </a:r>
          </a:p>
          <a:p xmlns:a="http://schemas.openxmlformats.org/drawingml/2006/main">
            <a:r>
              <a:t>https://www.bbc.com/russian/articles/c70dkd0pvrlo</a:t>
            </a:r>
          </a:p>
          <a:p xmlns:a="http://schemas.openxmlformats.org/drawingml/2006/main">
            <a:r>
              <a:t>https://www.go31.ru/news/proisshestviya/kak-nikto-drugoy-ponimaem-chto-takoe-agressiya-so-storony-ukrainy-gladkov-o-proryve-granitsy-v-kursk/</a:t>
            </a:r>
          </a:p>
          <a:p xmlns:a="http://schemas.openxmlformats.org/drawingml/2006/main">
            <a:r>
              <a:t>https://echofm.online/portret-dnya/portret-dnya-vyacheslav-gladkov-gubernator-belgorodskoj-oblasti-prognozy-o-sudbe-kotorogo-raznyatsya-ot-posta-posla-v-abhazii-do-ugolovnogo-dela</a:t>
            </a:r>
          </a:p>
          <a:p xmlns:a="http://schemas.openxmlformats.org/drawingml/2006/main">
            <a:r>
              <a:t>https://www.kommersant.ru/doc/3917861</a:t>
            </a:r>
          </a:p>
          <a:p xmlns:a="http://schemas.openxmlformats.org/drawingml/2006/main">
            <a:r>
              <a:t>https://minstroyrf.gov.ru/press/okolo-40-kontsessionnykh-soglasheniy-v-rossii-deystvuet-v-sfere-zhkkh/</a:t>
            </a:r>
          </a:p>
          <a:p xmlns:a="http://schemas.openxmlformats.org/drawingml/2006/main">
            <a:r>
              <a:t>https://newsroom24.ru/murmansk/news/politics/2026/news_323931/</a:t>
            </a:r>
          </a:p>
          <a:p xmlns:a="http://schemas.openxmlformats.org/drawingml/2006/main">
            <a:r>
              <a:t>https://murmansk.ru/52053</a:t>
            </a:r>
          </a:p>
          <a:p xmlns:a="http://schemas.openxmlformats.org/drawingml/2006/main">
            <a:r>
              <a:t>https://51.ru/text/gorod/2026/01/22/76228112/</a:t>
            </a:r>
          </a:p>
          <a:p xmlns:a="http://schemas.openxmlformats.org/drawingml/2006/main">
            <a:r>
              <a:t>https://www.murman.ru/news/2026/05/02/2334/</a:t>
            </a:r>
          </a:p>
          <a:p xmlns:a="http://schemas.openxmlformats.org/drawingml/2006/main">
            <a:r>
              <a:t>https://murman.ru/news/2026/09/06/2141/</a:t>
            </a:r>
          </a:p>
          <a:p xmlns:a="http://schemas.openxmlformats.org/drawingml/2006/main">
            <a:r>
              <a:t>https://www.murman.ru/news/2026/09/13/2242/</a:t>
            </a:r>
          </a:p>
          <a:p xmlns:a="http://schemas.openxmlformats.org/drawingml/2006/main">
            <a:r>
              <a:t>https://ru.wikipedia.org/wiki/%D0%A7%D0%B8%D0%B1%D0%B8%D1%81,_%D0%90%D0%BD%D0%B4%D1%80%D0%B5%D0%B9_%D0%92%D0%BB%D0%B0%D0%B4%D0%B8%D0%BC%D0%B8%D1%80%D0%BE%D0%B2%D0%B8%D1%87</a:t>
            </a:r>
          </a:p>
          <a:p xmlns:a="http://schemas.openxmlformats.org/drawingml/2006/main">
            <a:r>
              <a:t>https://tass.ru/obschestvo/23491353</a:t>
            </a:r>
          </a:p>
          <a:p xmlns:a="http://schemas.openxmlformats.org/drawingml/2006/main">
            <a:r>
              <a:t>https://www.murman.ru/news/2026/09/03/2243/</a:t>
            </a:r>
          </a:p>
          <a:p xmlns:a="http://schemas.openxmlformats.org/drawingml/2006/main">
            <a:r>
              <a:t>https://msp.citymurmansk.ru/news/2026/09/03/0930/</a:t>
            </a:r>
          </a:p>
          <a:p xmlns:a="http://schemas.openxmlformats.org/drawingml/2006/main">
            <a:r>
              <a:t>http://kremlin.ru/events/president/letters/80916</a:t>
            </a:r>
          </a:p>
          <a:p xmlns:a="http://schemas.openxmlformats.org/drawingml/2006/main">
            <a:r>
              <a:t>https://www.murmansk.kp.ru/daily/277813.4/5300258/</a:t>
            </a:r>
          </a:p>
          <a:p xmlns:a="http://schemas.openxmlformats.org/drawingml/2006/main">
            <a:r>
              <a:t>https://www.fontanka.ru/2021/07/27/70046798/</a:t>
            </a:r>
          </a:p>
          <a:p xmlns:a="http://schemas.openxmlformats.org/drawingml/2006/main">
            <a:r>
              <a:t>https://www.kommersant.ru/doc/4639758</a:t>
            </a:r>
          </a:p>
          <a:p xmlns:a="http://schemas.openxmlformats.org/drawingml/2006/main">
            <a:r>
              <a:t>https://www.bbc.com/russian/news-55614829</a:t>
            </a:r>
          </a:p>
          <a:p xmlns:a="http://schemas.openxmlformats.org/drawingml/2006/main">
            <a:r>
              <a:t>https://newpeople.ru/Deputy/sardana-avksenteva</a:t>
            </a:r>
          </a:p>
          <a:p xmlns:a="http://schemas.openxmlformats.org/drawingml/2006/main">
            <a:r>
              <a:t>https://www.pnp.ru/economics/kontrol-za-koncessionnymi-soglasheniyami-predlozhili-usilit.html</a:t>
            </a:r>
          </a:p>
          <a:p xmlns:a="http://schemas.openxmlformats.org/drawingml/2006/main">
            <a:r>
              <a:t>https://www.ng.ru/politics/2024-12-05/1_9150_right.html</a:t>
            </a:r>
          </a:p>
          <a:p xmlns:a="http://schemas.openxmlformats.org/drawingml/2006/main">
            <a:r>
              <a:t>https://news.ru/society/v-novyh-lyudyah-rasskazali-o-glavnyh-zadachah-partii-pered-vyborami</a:t>
            </a:r>
          </a:p>
          <a:p xmlns:a="http://schemas.openxmlformats.org/drawingml/2006/main">
            <a:r>
              <a:t>https://www.kommersant.ru/doc/8939397</a:t>
            </a:r>
          </a:p>
          <a:p xmlns:a="http://schemas.openxmlformats.org/drawingml/2006/main">
            <a:r>
              <a:t>https://tass.ru/info/5220823</a:t>
            </a:r>
          </a:p>
          <a:p xmlns:a="http://schemas.openxmlformats.org/drawingml/2006/main">
            <a:r>
              <a:t>https://tass.ru/info/15547711</a:t>
            </a:r>
          </a:p>
          <a:p xmlns:a="http://schemas.openxmlformats.org/drawingml/2006/main">
            <a:r>
              <a:t>https://www.bbc.com/russian/features-62661643</a:t>
            </a:r>
          </a:p>
          <a:p xmlns:a="http://schemas.openxmlformats.org/drawingml/2006/main">
            <a:r>
              <a:t>https://www.kommersant.ru/doc/3298219</a:t>
            </a:r>
          </a:p>
          <a:p xmlns:a="http://schemas.openxmlformats.org/drawingml/2006/main">
            <a:r>
              <a:t>https://www.svoboda.org/a/31217129.html</a:t>
            </a:r>
          </a:p>
          <a:p xmlns:a="http://schemas.openxmlformats.org/drawingml/2006/main">
            <a:r>
              <a:t>https://www.interfax.ru/russia/902059</a:t>
            </a:r>
          </a:p>
          <a:p xmlns:a="http://schemas.openxmlformats.org/drawingml/2006/main">
            <a:r>
              <a:t>https://www.bfm.ru/news/525620</a:t>
            </a:r>
          </a:p>
          <a:p xmlns:a="http://schemas.openxmlformats.org/drawingml/2006/main">
            <a:r>
              <a:t>https://novayagazeta.ru/articles/2023/03/16/do-urovnia-myshei-media</a:t>
            </a:r>
          </a:p>
          <a:p xmlns:a="http://schemas.openxmlformats.org/drawingml/2006/main">
            <a:r>
              <a:t>https://tjournal.ru/71076</a:t>
            </a:r>
          </a:p>
          <a:p xmlns:a="http://schemas.openxmlformats.org/drawingml/2006/main">
            <a:r>
              <a:t>https://www.nakanune.ru/articles/111648/</a:t>
            </a:r>
          </a:p>
          <a:p xmlns:a="http://schemas.openxmlformats.org/drawingml/2006/main">
            <a:r>
              <a:t>https://adcmemorial.org/statyi/kolonki/neprotivlenie-rasizmu/</a:t>
            </a:r>
          </a:p>
          <a:p xmlns:a="http://schemas.openxmlformats.org/drawingml/2006/main">
            <a:r>
              <a:t>https://www.svoboda.org/a/royzman-i-drugie-zhiteli-ekaterinburga/31997151.html</a:t>
            </a:r>
          </a:p>
          <a:p xmlns:a="http://schemas.openxmlformats.org/drawingml/2006/main">
            <a:r>
              <a:t>https://www.e1.ru/text/politics/2022/02/24/70466417/</a:t>
            </a:r>
          </a:p>
          <a:p xmlns:a="http://schemas.openxmlformats.org/drawingml/2006/main">
            <a:r>
              <a:t>https://www.dw.com/ru/kommentarij-evgenij-rojzman-i-sila-pravdy/a-62917754</a:t>
            </a:r>
          </a:p>
          <a:p xmlns:a="http://schemas.openxmlformats.org/drawingml/2006/main">
            <a:r>
              <a:t>https://meduza.io/paragraph/2022/08/26/priehali-moskvichi-i-dumali-chto-zdes-duraki-sobralis</a:t>
            </a:r>
          </a:p>
          <a:p xmlns:a="http://schemas.openxmlformats.org/drawingml/2006/main">
            <a:r>
              <a:t>https://znamlit.ru/publication.php?id=7379</a:t>
            </a:r>
          </a:p>
          <a:p xmlns:a="http://schemas.openxmlformats.org/drawingml/2006/main">
            <a:r>
              <a:t>https://tass.ru/interviews/6080499</a:t>
            </a:r>
          </a:p>
          <a:p xmlns:a="http://schemas.openxmlformats.org/drawingml/2006/main">
            <a:r>
              <a:t>https://45.ru/text/politics/2024/09/09/73952072/</a:t>
            </a:r>
          </a:p>
          <a:p xmlns:a="http://schemas.openxmlformats.org/drawingml/2006/main">
            <a:r>
              <a:t>http://special.kremlin.ru/events/president/news/70638</a:t>
            </a:r>
          </a:p>
          <a:p xmlns:a="http://schemas.openxmlformats.org/drawingml/2006/main">
            <a:r>
              <a:t>https://ura.news/news/1053132902</a:t>
            </a:r>
          </a:p>
          <a:p xmlns:a="http://schemas.openxmlformats.org/drawingml/2006/main">
            <a:r>
              <a:t>https://ura.news/articles/1036276564</a:t>
            </a:r>
          </a:p>
          <a:p xmlns:a="http://schemas.openxmlformats.org/drawingml/2006/main">
            <a:r>
              <a:t>https://tass.ru/novosti-regionov/28187431</a:t>
            </a:r>
          </a:p>
          <a:p xmlns:a="http://schemas.openxmlformats.org/drawingml/2006/main">
            <a:r>
              <a:t>https://fedpress.ru/person/1753607</a:t>
            </a:r>
          </a:p>
          <a:p xmlns:a="http://schemas.openxmlformats.org/drawingml/2006/main">
            <a:r>
              <a:t>https://eburg.mk.ru/social/2026/10/14/zhiteley-zauralya-predupredili-o-lozhnykh-videorolikakh-s-gubernatorom.html</a:t>
            </a:r>
          </a:p>
          <a:p xmlns:a="http://schemas.openxmlformats.org/drawingml/2006/main">
            <a:r>
              <a:t>https://regnum.ru/news/3530808</a:t>
            </a:r>
          </a:p>
          <a:p xmlns:a="http://schemas.openxmlformats.org/drawingml/2006/main">
            <a:r>
              <a:t>https://kurganvera.ru/news/vrns/mitropolit-daniil-i-vadim-shumkov-vozglavili-delegatsiyu-kurganskoy-oblasti-na-vsemirnom-russkom-sob/</a:t>
            </a:r>
          </a:p>
          <a:p xmlns:a="http://schemas.openxmlformats.org/drawingml/2006/main">
            <a:r>
              <a:t>https://45.ru/text/politics/2026/06/26/76499700/</a:t>
            </a:r>
          </a:p>
          <a:p xmlns:a="http://schemas.openxmlformats.org/drawingml/2006/main">
            <a:r>
              <a:t>https://niva-kurtamysh.com/news/obshchestvo/vystuplenie-gubernatora-kurganskoy-oblasti-vadima-shumkova</a:t>
            </a:r>
          </a:p>
          <a:p xmlns:a="http://schemas.openxmlformats.org/drawingml/2006/main">
            <a:r>
              <a:t>https://t.me/s/kurganskayaobl?before=42616</a:t>
            </a:r>
          </a:p>
          <a:p xmlns:a="http://schemas.openxmlformats.org/drawingml/2006/main">
            <a:r>
              <a:t>https://www.bbc.com/russian/news-54368577</a:t>
            </a:r>
          </a:p>
          <a:p xmlns:a="http://schemas.openxmlformats.org/drawingml/2006/main">
            <a:r>
              <a:t>https://www.bbc.com/russian/articles/cp0769dp15eo</a:t>
            </a:r>
          </a:p>
          <a:p xmlns:a="http://schemas.openxmlformats.org/drawingml/2006/main">
            <a:r>
              <a:t>https://navalny.com/materials/blogpost-6017</a:t>
            </a:r>
          </a:p>
          <a:p xmlns:a="http://schemas.openxmlformats.org/drawingml/2006/main">
            <a:r>
              <a:t>https://www.bbc.com/russian/news-58563592</a:t>
            </a:r>
          </a:p>
          <a:p xmlns:a="http://schemas.openxmlformats.org/drawingml/2006/main">
            <a:r>
              <a:t>https://navalny.com/materials/blogpost-6544</a:t>
            </a:r>
          </a:p>
          <a:p xmlns:a="http://schemas.openxmlformats.org/drawingml/2006/main">
            <a:r>
              <a:t>https://www.bbc.com/russian/news-58270043</a:t>
            </a:r>
          </a:p>
          <a:p xmlns:a="http://schemas.openxmlformats.org/drawingml/2006/main">
            <a:r>
              <a:t>https://www.bbc.com/russian/articles/cvg3p9l1e5ro</a:t>
            </a:r>
          </a:p>
          <a:p xmlns:a="http://schemas.openxmlformats.org/drawingml/2006/main">
            <a:r>
              <a:t>https://www.bbc.com/russian/features-54435835</a:t>
            </a:r>
          </a:p>
          <a:p xmlns:a="http://schemas.openxmlformats.org/drawingml/2006/main">
            <a:r>
              <a:t>https://2018.navalny.com/platform/7/</a:t>
            </a:r>
          </a:p>
          <a:p xmlns:a="http://schemas.openxmlformats.org/drawingml/2006/main">
            <a:r>
              <a:t>https://2018.navalny.com/platform/3/</a:t>
            </a:r>
          </a:p>
          <a:p xmlns:a="http://schemas.openxmlformats.org/drawingml/2006/main">
            <a:r>
              <a:t>https://2018.navalny.com/platform/10/</a:t>
            </a:r>
          </a:p>
          <a:p xmlns:a="http://schemas.openxmlformats.org/drawingml/2006/main">
            <a:r>
              <a:t>https://2018.navalny.com/platform/9/</a:t>
            </a:r>
          </a:p>
          <a:p xmlns:a="http://schemas.openxmlformats.org/drawingml/2006/main">
            <a:r>
              <a:t>https://navalny.com/editorials/aleksey-navalnyy-protiv-voyny</a:t>
            </a:r>
          </a:p>
          <a:p xmlns:a="http://schemas.openxmlformats.org/drawingml/2006/main">
            <a:r>
              <a:t>https://navalny.com/?p=149</a:t>
            </a:r>
          </a:p>
          <a:p xmlns:a="http://schemas.openxmlformats.org/drawingml/2006/main">
            <a:r>
              <a:t>https://www.interfax.ru/russia/876151</a:t>
            </a:r>
          </a:p>
          <a:p xmlns:a="http://schemas.openxmlformats.org/drawingml/2006/main">
            <a:r>
              <a:t>https://www.dw.com/ru/srok-ne-za-fejk-a-za-politiku-reakcii-v-frg-i-rf-na-prigovor-asinu/a-64049957</a:t>
            </a:r>
          </a:p>
          <a:p xmlns:a="http://schemas.openxmlformats.org/drawingml/2006/main">
            <a:r>
              <a:t>https://www.lemonde.fr/en/international/article/2025/05/27/russian-opposition-figure-ilya-yashin-if-ukraine-is-handed-over-to-putin-it-will-be-a-tragedy-and-the-prologue-to-a-global-confrontation_6741728_4.html</a:t>
            </a:r>
          </a:p>
          <a:p xmlns:a="http://schemas.openxmlformats.org/drawingml/2006/main">
            <a:r>
              <a:t>https://www.bbc.com/russian/articles/crgl69w9472o</a:t>
            </a:r>
          </a:p>
          <a:p xmlns:a="http://schemas.openxmlformats.org/drawingml/2006/main">
            <a:r>
              <a:t>https://www.svoboda.org/a/yashin-court/32165539.html</a:t>
            </a:r>
          </a:p>
          <a:p xmlns:a="http://schemas.openxmlformats.org/drawingml/2006/main">
            <a:r>
              <a:t>https://www.dw.com/ru/ila-asin-putin-predvoditel-sil-mrakobesia/a-69923731</a:t>
            </a:r>
          </a:p>
          <a:p xmlns:a="http://schemas.openxmlformats.org/drawingml/2006/main">
            <a:r>
              <a:t>https://novayagazeta.eu/articles/2025/08/01/my-ne-mozhem-trebovat-no-mozhem-obiasniat</a:t>
            </a:r>
          </a:p>
          <a:p xmlns:a="http://schemas.openxmlformats.org/drawingml/2006/main">
            <a:r>
              <a:t>https://meduza.io/feature/2019/07/20/to-chto-putin-ne-smog-sdelat-za-20-let-sobyanin-sdelal-za-mesyats</a:t>
            </a:r>
          </a:p>
          <a:p xmlns:a="http://schemas.openxmlformats.org/drawingml/2006/main">
            <a:r>
              <a:t>https://novayagazeta.eu/articles/2024/11/18/pochuvstvovat-sebia-ne-odinokimi</a:t>
            </a:r>
          </a:p>
          <a:p xmlns:a="http://schemas.openxmlformats.org/drawingml/2006/main">
            <a:r>
              <a:t>https://www.svoboda.org/a/voyna-putin-i-politzaklyuchennye-iljya-yashin-o-svoih-planah/33177839.html</a:t>
            </a:r>
          </a:p>
          <a:p xmlns:a="http://schemas.openxmlformats.org/drawingml/2006/main">
            <a:r>
              <a:t>https://www.dw.com/ru/asin-sejcas-nevozmozno-obedinit-rossijskuu-oppoziciu-da-i-ne-nuzno/a-70291088</a:t>
            </a:r>
          </a:p>
          <a:p xmlns:a="http://schemas.openxmlformats.org/drawingml/2006/main">
            <a:r>
              <a:t>https://www.dw.com/ru/vladimir-karamurza/t-37465233</a:t>
            </a:r>
          </a:p>
          <a:p xmlns:a="http://schemas.openxmlformats.org/drawingml/2006/main">
            <a:r>
              <a:t>https://ovd.info/persons/kara-murza-vladimir-vladimirovich</a:t>
            </a:r>
          </a:p>
          <a:p xmlns:a="http://schemas.openxmlformats.org/drawingml/2006/main">
            <a:r>
              <a:t>https://ovd.info/2024/08/03/kogo-rossiya-vydala-v-ramkakh-obmena-zaklyuchennymi-s-zapadom-istorii-osvobozhdennykh</a:t>
            </a:r>
          </a:p>
          <a:p xmlns:a="http://schemas.openxmlformats.org/drawingml/2006/main">
            <a:r>
              <a:t>https://www.svoboda.org/a/kara-murza-obmen/33059121.html</a:t>
            </a:r>
          </a:p>
          <a:p xmlns:a="http://schemas.openxmlformats.org/drawingml/2006/main">
            <a:r>
              <a:t>https://novayagazeta.ru/articles/2024/08/16/prezident-baiden-prinial-osvobozhdennogo-v-rezultate-obmena-politzakliuchennogo-vladimira-kara-murzu-s-semei-v-belom-dome-news</a:t>
            </a:r>
          </a:p>
          <a:p xmlns:a="http://schemas.openxmlformats.org/drawingml/2006/main">
            <a:r>
              <a:t>https://genevasummit.org/speech/vladimir-kara-murza-speaks-at-2018-geneva-summit-main-event/</a:t>
            </a:r>
          </a:p>
          <a:p xmlns:a="http://schemas.openxmlformats.org/drawingml/2006/main">
            <a:r>
              <a:t>https://humanrights.ca/event-series/presidents-lecture-series</a:t>
            </a:r>
          </a:p>
          <a:p xmlns:a="http://schemas.openxmlformats.org/drawingml/2006/main">
            <a:r>
              <a:t>https://www.radiofrance.fr/franceinter/podcasts/l-info-de-france-inter/la-democratie-doit-etre-protegee-chaque-minute-de-chaque-jour-declare-l-opposant-russe-vladimir-kara-mourza-8105094</a:t>
            </a:r>
          </a:p>
          <a:p xmlns:a="http://schemas.openxmlformats.org/drawingml/2006/main">
            <a:r>
              <a:t>https://georgetownvoice.com/2025/10/08/dissident-in-residence-vladimir-kara-murza-applies-past-lessons-to-present-day-in-recent-event-discussing-democracy/</a:t>
            </a:r>
          </a:p>
          <a:p xmlns:a="http://schemas.openxmlformats.org/drawingml/2006/main">
            <a:r>
              <a:t>https://www.oscepa.org/en/documents/winter-meetings/2025-vienna/speeches-36/5176-vladimir-kara-murza-address-to-the-osce-pa-winter-meeting-in-vienna-21-february-2025/file</a:t>
            </a:r>
          </a:p>
          <a:p xmlns:a="http://schemas.openxmlformats.org/drawingml/2006/main">
            <a:r>
              <a:t>https://hrf.org/wp-content/uploads/2024/10/VKM-%E2%80%93-Statement-of-Facts-and-Levinson-Analysis.pdf</a:t>
            </a:r>
          </a:p>
          <a:p xmlns:a="http://schemas.openxmlformats.org/drawingml/2006/main">
            <a:r>
              <a:t>https://www.govinfo.gov/content/pkg/CREC-2024-06-11/html/CREC-2024-06-11-pt1-PgH3699.htm</a:t>
            </a:r>
          </a:p>
          <a:p xmlns:a="http://schemas.openxmlformats.org/drawingml/2006/main">
            <a:r>
              <a:t>https://antiwarcommittee.info/en/statement-on-the-persecution-of-vladimir-kara-murza/</a:t>
            </a:r>
          </a:p>
          <a:p xmlns:a="http://schemas.openxmlformats.org/drawingml/2006/main">
            <a:r>
              <a:t>https://www.norway.no/en/missions/osce/norway-and-the-osce/statements/statements-with--norwegian-alignment-2024/joint-statement-on-vladimir-kara-murza/</a:t>
            </a:r>
          </a:p>
          <a:p xmlns:a="http://schemas.openxmlformats.org/drawingml/2006/main">
            <a:r>
              <a:t>https://www.aljazeera.com/news/2025/4/23/kremlin-critic-decried-for-racist-rant-on-minorities-fighting-for-russia</a:t>
            </a:r>
          </a:p>
          <a:p xmlns:a="http://schemas.openxmlformats.org/drawingml/2006/main">
            <a:r>
              <a:t>https://www.rmc.edu/news/former-political-prisoner-vladimir-kara-murza-offers-vision-of-hope-for-russian-democracy/</a:t>
            </a:r>
          </a:p>
          <a:p xmlns:a="http://schemas.openxmlformats.org/drawingml/2006/main">
            <a:r>
              <a:t>https://2018.yavlinsky.ru/campaign/</a:t>
            </a:r>
          </a:p>
          <a:p xmlns:a="http://schemas.openxmlformats.org/drawingml/2006/main">
            <a:r>
              <a:t>http://2018.yavlinsky.ru/programm/</a:t>
            </a:r>
          </a:p>
          <a:p xmlns:a="http://schemas.openxmlformats.org/drawingml/2006/main">
            <a:r>
              <a:t>https://campaign2018.yavlinsky.ru/</a:t>
            </a:r>
          </a:p>
          <a:p xmlns:a="http://schemas.openxmlformats.org/drawingml/2006/main">
            <a:r>
              <a:t>https://www.yavlinsky.ru/position/war/</a:t>
            </a:r>
          </a:p>
          <a:p xmlns:a="http://schemas.openxmlformats.org/drawingml/2006/main">
            <a:r>
              <a:t>https://www.yavlinsky.ru/position/cease-fire/</a:t>
            </a:r>
          </a:p>
          <a:p xmlns:a="http://schemas.openxmlformats.org/drawingml/2006/main">
            <a:r>
              <a:t>https://www.yavlinsky.ru/article_tax/ukraina/</a:t>
            </a:r>
          </a:p>
          <a:p xmlns:a="http://schemas.openxmlformats.org/drawingml/2006/main">
            <a:r>
              <a:t>https://www.yavlinsky.ru/biografiya/</a:t>
            </a:r>
          </a:p>
          <a:p xmlns:a="http://schemas.openxmlformats.org/drawingml/2006/main">
            <a:r>
              <a:t>https://www.yabloko.ru/publikatsii/2018/02/15_0</a:t>
            </a:r>
          </a:p>
          <a:p xmlns:a="http://schemas.openxmlformats.org/drawingml/2006/main">
            <a:r>
              <a:t>https://www.yabloko.ru/publikatsii/2018/06/19</a:t>
            </a:r>
          </a:p>
          <a:p xmlns:a="http://schemas.openxmlformats.org/drawingml/2006/main">
            <a:r>
              <a:t>https://www.yavlinsky.ru/article/eto-referendum/</a:t>
            </a:r>
          </a:p>
          <a:p xmlns:a="http://schemas.openxmlformats.org/drawingml/2006/main">
            <a:r>
              <a:t>https://www.svoboda.org/a/27801792.html</a:t>
            </a:r>
          </a:p>
          <a:p xmlns:a="http://schemas.openxmlformats.org/drawingml/2006/main">
            <a:r>
              <a:t>https://www.svoboda.org/a/29294829.html</a:t>
            </a:r>
          </a:p>
          <a:p xmlns:a="http://schemas.openxmlformats.org/drawingml/2006/main">
            <a:r>
              <a:t>https://www.yavlinsky.ru/article/intervyu-g-yavlinskogo-zhertvy-budut-proryva-net/</a:t>
            </a:r>
          </a:p>
          <a:p xmlns:a="http://schemas.openxmlformats.org/drawingml/2006/main">
            <a:r>
              <a:t>https://www.yavlinsky.ru/article/my-budem-idti-do-kontsa/</a:t>
            </a:r>
          </a:p>
          <a:p xmlns:a="http://schemas.openxmlformats.org/drawingml/2006/main">
            <a:r>
              <a:t>https://www.yavlinsky.ru/article/prezidentskie-vybory-1996-30-let-spustya/</a:t>
            </a:r>
          </a:p>
          <a:p xmlns:a="http://schemas.openxmlformats.org/drawingml/2006/main">
            <a:r>
              <a:t>https://www.forbes.ru/interview/45575-reformatory-prihodyat-k-vlasti-grigorii-yavlinskii</a:t>
            </a:r>
          </a:p>
          <a:p xmlns:a="http://schemas.openxmlformats.org/drawingml/2006/main">
            <a:r>
              <a:t>https://www.bbc.com/russian/articles/cy8ee2wngd8o</a:t>
            </a:r>
          </a:p>
          <a:p xmlns:a="http://schemas.openxmlformats.org/drawingml/2006/main">
            <a:r>
              <a:t>https://www.yabloko.ru/regnews/Pskov/2019/01/21-0</a:t>
            </a:r>
          </a:p>
          <a:p xmlns:a="http://schemas.openxmlformats.org/drawingml/2006/main">
            <a:r>
              <a:t>https://www.yabloko.ru/publikatsii/2019/06/14</a:t>
            </a:r>
          </a:p>
          <a:p xmlns:a="http://schemas.openxmlformats.org/drawingml/2006/main">
            <a:r>
              <a:t>https://zona.media/article/2019/02/27/pskov</a:t>
            </a:r>
          </a:p>
          <a:p xmlns:a="http://schemas.openxmlformats.org/drawingml/2006/main">
            <a:r>
              <a:t>https://spektr.press/ya-otvechayu-za-vse-mnoj-skazannoe-no-ne-otvechayu-za-izvraschenie-skazannogo-lev-shlosberg-o-travle-i-setkah-telegram-kanalov-odnokletochnyh-politikah-reshivshih-pobedit-putina-rukami-u/</a:t>
            </a:r>
          </a:p>
          <a:p xmlns:a="http://schemas.openxmlformats.org/drawingml/2006/main">
            <a:r>
              <a:t>https://www.yabloko.ru/Persons/shlosberg.html</a:t>
            </a:r>
          </a:p>
          <a:p xmlns:a="http://schemas.openxmlformats.org/drawingml/2006/main">
            <a:r>
              <a:t>https://pln-pskov.ru/politics/314872.html</a:t>
            </a:r>
          </a:p>
          <a:p xmlns:a="http://schemas.openxmlformats.org/drawingml/2006/main">
            <a:r>
              <a:t>https://www.yabloko.ru/publikatsii/2022/02/18-0</a:t>
            </a:r>
          </a:p>
          <a:p xmlns:a="http://schemas.openxmlformats.org/drawingml/2006/main">
            <a:r>
              <a:t>https://ru.krymr.com/a/rossiya-putin-voyna-repressii-lev-shlosberg-intervyu/31806389.html</a:t>
            </a:r>
          </a:p>
          <a:p xmlns:a="http://schemas.openxmlformats.org/drawingml/2006/main">
            <a:r>
              <a:t>https://www.currenttime.tv/a/politika-vlastey-chtoby-lyudi-perestali-govorit-o-spetsialnoy-voennoy-operatsii-lev-shlosberg-o-dele-protiv-nego-i-nikolaya-kuzmina/31807396.html</a:t>
            </a:r>
          </a:p>
          <a:p xmlns:a="http://schemas.openxmlformats.org/drawingml/2006/main">
            <a:r>
              <a:t>https://zona.media/article/2026/08/14/schlosberg</a:t>
            </a:r>
          </a:p>
          <a:p xmlns:a="http://schemas.openxmlformats.org/drawingml/2006/main">
            <a:r>
              <a:t>https://www.svoboda.org/a/lishniy-zalozhnik-vot-chto-im-vazhno-arest-lva-shlosberga/33615624.html</a:t>
            </a:r>
          </a:p>
          <a:p xmlns:a="http://schemas.openxmlformats.org/drawingml/2006/main">
            <a:r>
              <a:t>https://novayagazeta.eu/articles/2026/08/17/ostavshiisia</a:t>
            </a:r>
          </a:p>
          <a:p xmlns:a="http://schemas.openxmlformats.org/drawingml/2006/main">
            <a:r>
              <a:t>https://www.yabloko.ru/content/vishnevskii_boris_lazarevich</a:t>
            </a:r>
          </a:p>
          <a:p xmlns:a="http://schemas.openxmlformats.org/drawingml/2006/main">
            <a:r>
              <a:t>https://www.dp.ru/a/2018/06/18/Aktivnaja_storona_konflikt</a:t>
            </a:r>
          </a:p>
          <a:p xmlns:a="http://schemas.openxmlformats.org/drawingml/2006/main">
            <a:r>
              <a:t>https://www.bbc.com/russian/features-58481940</a:t>
            </a:r>
          </a:p>
          <a:p xmlns:a="http://schemas.openxmlformats.org/drawingml/2006/main">
            <a:r>
              <a:t>https://www.dp.ru/a/2023/01/16/Deputat_Peterburga_Vishnev</a:t>
            </a:r>
          </a:p>
          <a:p xmlns:a="http://schemas.openxmlformats.org/drawingml/2006/main">
            <a:r>
              <a:t>https://echofm.online/portret-dnya/portret-dnya-boris-vishnevskij-peterburgskij-politik</a:t>
            </a:r>
          </a:p>
          <a:p xmlns:a="http://schemas.openxmlformats.org/drawingml/2006/main">
            <a:r>
              <a:t>https://spb.yabloko.ru/people/vishnevskij-boris-lazarevich/</a:t>
            </a:r>
          </a:p>
          <a:p xmlns:a="http://schemas.openxmlformats.org/drawingml/2006/main">
            <a:r>
              <a:t>https://www.dp.ru/a/2026/08/26/bitva-nachalas-gde-v-peterburge</a:t>
            </a:r>
          </a:p>
          <a:p xmlns:a="http://schemas.openxmlformats.org/drawingml/2006/main">
            <a:r>
              <a:t>https://www.yabloko.ru/regnews/Spb/2022/02/21</a:t>
            </a:r>
          </a:p>
          <a:p xmlns:a="http://schemas.openxmlformats.org/drawingml/2006/main">
            <a:r>
              <a:t>https://www.yabloko.ru/cat-news/2021/08/06-0</a:t>
            </a:r>
          </a:p>
          <a:p xmlns:a="http://schemas.openxmlformats.org/drawingml/2006/main">
            <a:r>
              <a:t>https://www.rbc.ru/spb_sz/16/01/2023/63c53d9c9a7947d9bef4b853</a:t>
            </a:r>
          </a:p>
          <a:p xmlns:a="http://schemas.openxmlformats.org/drawingml/2006/main">
            <a:r>
              <a:t>https://www.rbc.ru/politics/06/05/2024/6638a8609a79472c01075a2c</a:t>
            </a:r>
          </a:p>
          <a:p xmlns:a="http://schemas.openxmlformats.org/drawingml/2006/main">
            <a:r>
              <a:t>https://www.svoboda.org/a/politika-dmitriya-gudkova-deportirovali-iz-gruzii-v-kiev/31679697.html</a:t>
            </a:r>
          </a:p>
          <a:p xmlns:a="http://schemas.openxmlformats.org/drawingml/2006/main">
            <a:r>
              <a:t>https://ru.krymr.com/a/dmitriy-gudkov-ob-otyezde-iz-rossii/31295079.html</a:t>
            </a:r>
          </a:p>
          <a:p xmlns:a="http://schemas.openxmlformats.org/drawingml/2006/main">
            <a:r>
              <a:t>https://daily.afisha.ru/news/114366-syn-politika-dmitriya-gudkova-pokonchil-s-soboy-v-emigracii/amp/</a:t>
            </a:r>
          </a:p>
          <a:p xmlns:a="http://schemas.openxmlformats.org/drawingml/2006/main">
            <a:r>
              <a:t>https://life.ru/t/dmitriygudkov</a:t>
            </a:r>
          </a:p>
          <a:p xmlns:a="http://schemas.openxmlformats.org/drawingml/2006/main">
            <a:r>
              <a:t>https://uk.wikipedia.org/wiki/%D0%93%D1%83%D0%B4%D0%BA%D0%BE%D0%B2_%D0%94%D0%BC%D0%B8%D1%82%D1%80%D1%96%D0%B9_%D0%93%D0%B5%D0%BD%D0%B0%D0%B4%D1%96%D0%B9%D0%BE%D0%B2%D0%B8%D1%87</a:t>
            </a:r>
          </a:p>
          <a:p xmlns:a="http://schemas.openxmlformats.org/drawingml/2006/main">
            <a:r>
              <a:t>https://mt.gazeta.ru/blog/43692366076/Syin-byivshego-deputata-Gosdumyi-Dmitriya-Gudkova-pokonchil-s-so?utm_referrer=mirtesen.ru</a:t>
            </a:r>
          </a:p>
          <a:p xmlns:a="http://schemas.openxmlformats.org/drawingml/2006/main">
            <a:r>
              <a:t>https://www.bbc.com/russian/news-57381443</a:t>
            </a:r>
          </a:p>
          <a:p xmlns:a="http://schemas.openxmlformats.org/drawingml/2006/main">
            <a:r>
              <a:t>https://www.themoscowtimes.com/2021/06/06/kremlin-critic-dmitry-gudkov-flees-to-ukraine-a74123</a:t>
            </a:r>
          </a:p>
          <a:p xmlns:a="http://schemas.openxmlformats.org/drawingml/2006/main">
            <a:r>
              <a:t>https://www.yabloko.ru/publikatsii/2016/09/15</a:t>
            </a:r>
          </a:p>
          <a:p xmlns:a="http://schemas.openxmlformats.org/drawingml/2006/main">
            <a:r>
              <a:t>https://novayagazeta.ru/articles/2018/03/21/75886-ya-privyk-lyudyam-verit</a:t>
            </a:r>
          </a:p>
          <a:p xmlns:a="http://schemas.openxmlformats.org/drawingml/2006/main">
            <a:r>
              <a:t>https://www.rbc.ru/politics/15/03/2018/5aaa98049a7947d12d63f1e1</a:t>
            </a:r>
          </a:p>
          <a:p xmlns:a="http://schemas.openxmlformats.org/drawingml/2006/main">
            <a:r>
              <a:t>https://rus.team/people/gudkov-dmitrij-gennadevich</a:t>
            </a:r>
          </a:p>
          <a:p xmlns:a="http://schemas.openxmlformats.org/drawingml/2006/main">
            <a:r>
              <a:t>https://www.azattyqasia.org/a/chto-proiskhodit-v-donbasse-/31863310/lbl0lbi299676.html</a:t>
            </a:r>
          </a:p>
          <a:p xmlns:a="http://schemas.openxmlformats.org/drawingml/2006/main">
            <a:r>
              <a:t>https://www.dw.com/ru/dmitrij-gudkov-putin-na-storone-partii-vojny-no-pri-etom-on-trus-21092022/video-63193199</a:t>
            </a:r>
          </a:p>
          <a:p xmlns:a="http://schemas.openxmlformats.org/drawingml/2006/main">
            <a:r>
              <a:t>https://ru.wikinews.org/wiki/%D0%9A%D0%B0%D1%82%D0%B5%D0%B3%D0%BE%D1%80%D0%B8%D1%8F:%D0%93%D0%B5%D0%BD%D0%BD%D0%B0%D0%B4%D0%B8%D0%B9_%D0%93%D1%83%D0%B4%D0%BA%D0%BE%D0%B2</a:t>
            </a:r>
          </a:p>
          <a:p xmlns:a="http://schemas.openxmlformats.org/drawingml/2006/main">
            <a:r>
              <a:t>https://en.wikipedia.org/wiki/Gennady_Gudkov</a:t>
            </a:r>
          </a:p>
          <a:p xmlns:a="http://schemas.openxmlformats.org/drawingml/2006/main">
            <a:r>
              <a:t>https://x.com/gudkov_g</a:t>
            </a:r>
          </a:p>
          <a:p xmlns:a="http://schemas.openxmlformats.org/drawingml/2006/main">
            <a:r>
              <a:t>https://www.dw.com/ru/chto-dmitrij-gudkov-nameren-delat-v-ukraine-i-vernetsja-li-v-rossiju/a-57830619</a:t>
            </a:r>
          </a:p>
          <a:p xmlns:a="http://schemas.openxmlformats.org/drawingml/2006/main">
            <a:r>
              <a:t>https://ru.wikipedia.org/wiki/%D0%93%D1%83%D0%B4%D0%BA%D0%BE%D0%B2,_%D0%93%D0%B5%D0%BD%D0%BD%D0%B0%D0%B4%D0%B8%D0%B9_%D0%92%D0%BB%D0%B0%D0%B4%D0%B8%D0%BC%D0%B8%D1%80%D0%BE%D0%B2%D0%B8%D1%87</a:t>
            </a:r>
          </a:p>
          <a:p xmlns:a="http://schemas.openxmlformats.org/drawingml/2006/main">
            <a:r>
              <a:t>https://ru.wikipedia.org/wiki/%D0%93%D1%83%D0%B4%D0%BA%D0%BE%D0%B2,_%D0%94%D0%BC%D0%B8%D1%82%D1%80%D0%B8%D0%B9_%D0%93%D0%B5%D0%BD%D0%BD%D0%B0%D0%B4%D1%8C%D0%B5%D0%B2%D0%B8%D1%87</a:t>
            </a:r>
          </a:p>
          <a:p xmlns:a="http://schemas.openxmlformats.org/drawingml/2006/main">
            <a:r>
              <a:t>https://utro02.tv/2022/10/31/navstrechu-sezdu-gennadij-gudkov-o-vyborah-obedinenii-oppoziczii-i-razdelenii-vlasti/</a:t>
            </a:r>
          </a:p>
          <a:p xmlns:a="http://schemas.openxmlformats.org/drawingml/2006/main">
            <a:r>
              <a:t>https://www.unian.net/war/rossiyskiy-oppozicioner-gudkov-putin-nachinaet-ponimat-chto-nastupaet-zh-pa-12031263.html</a:t>
            </a:r>
          </a:p>
          <a:p xmlns:a="http://schemas.openxmlformats.org/drawingml/2006/main">
            <a:r>
              <a:t>https://bntnews.bg/genadiy-gudkov-86846tag.html</a:t>
            </a:r>
          </a:p>
          <a:p xmlns:a="http://schemas.openxmlformats.org/drawingml/2006/main">
            <a:r>
              <a:t>https://tass.ru/encyclopedia/person/gudkov-dmitriy-gennadevich</a:t>
            </a:r>
          </a:p>
          <a:p xmlns:a="http://schemas.openxmlformats.org/drawingml/2006/main">
            <a:r>
              <a:t>https://www.kasparov.com/garry-kasparov-on-putin-and-the-virus-of-imperialism-wsj-free-expression-april-11-2022/</a:t>
            </a:r>
          </a:p>
          <a:p xmlns:a="http://schemas.openxmlformats.org/drawingml/2006/main">
            <a:r>
              <a:t>https://www.ilmessaggero.it/en/garry_kasparov_from_chess_champion_to_kremlin_critic-9797261.html</a:t>
            </a:r>
          </a:p>
          <a:p xmlns:a="http://schemas.openxmlformats.org/drawingml/2006/main">
            <a:r>
              <a:t>https://www.kasparov.com/category/russia/</a:t>
            </a:r>
          </a:p>
          <a:p xmlns:a="http://schemas.openxmlformats.org/drawingml/2006/main">
            <a:r>
              <a:t>https://www.kasparov.com/category/politics/</a:t>
            </a:r>
          </a:p>
          <a:p xmlns:a="http://schemas.openxmlformats.org/drawingml/2006/main">
            <a:r>
              <a:t>https://en.wikipedia.org/wiki/Political_views_of_Garry_Kasparov</a:t>
            </a:r>
          </a:p>
          <a:p xmlns:a="http://schemas.openxmlformats.org/drawingml/2006/main">
            <a:r>
              <a:t>https://www.dw.com/ru/kasparov-v-intervu-dw-vse-cto-delal-delaet-i-budet-delat-tramp-pomogaet-putinu/a-79633734</a:t>
            </a:r>
          </a:p>
          <a:p xmlns:a="http://schemas.openxmlformats.org/drawingml/2006/main">
            <a:r>
              <a:t>https://www.kasparov.com/</a:t>
            </a:r>
          </a:p>
          <a:p xmlns:a="http://schemas.openxmlformats.org/drawingml/2006/main">
            <a:r>
              <a:t>https://www.kasparov.com/a-conversation-with-garry-kasparov-thought-economics-with-vikas-shas-may-21-2017/</a:t>
            </a:r>
          </a:p>
          <a:p xmlns:a="http://schemas.openxmlformats.org/drawingml/2006/main">
            <a:r>
              <a:t>https://www.kasparov.com/new-yorker-interview-the-chess-grandmaster-and-political-activist-on-putin-trump-and-how-we-are-living-again-through-the-eighteen-fifties/</a:t>
            </a:r>
          </a:p>
          <a:p xmlns:a="http://schemas.openxmlformats.org/drawingml/2006/main">
            <a:r>
              <a:t>https://www.cnbc.com/2017/02/13/the-full-interview-with-former-world-chess-champion-garry-kasparov-on-trump-putin.html</a:t>
            </a:r>
          </a:p>
          <a:p xmlns:a="http://schemas.openxmlformats.org/drawingml/2006/main">
            <a:r>
              <a:t>https://www.reuters.com/world/europe/kasparov-calls-world-powers-throw-russia-back-into-stone-age-2022-03-03/</a:t>
            </a:r>
          </a:p>
          <a:p xmlns:a="http://schemas.openxmlformats.org/drawingml/2006/main">
            <a:r>
              <a:t>https://khodorkovsky.com/open-russia-manifesto/</a:t>
            </a:r>
          </a:p>
          <a:p xmlns:a="http://schemas.openxmlformats.org/drawingml/2006/main">
            <a:r>
              <a:t>https://khodorkovsky.com/programmes/initiatives/openrussia/</a:t>
            </a:r>
          </a:p>
          <a:p xmlns:a="http://schemas.openxmlformats.org/drawingml/2006/main">
            <a:r>
              <a:t>https://khodorkovsky.com/page/65/?m</a:t>
            </a:r>
          </a:p>
          <a:p xmlns:a="http://schemas.openxmlformats.org/drawingml/2006/main">
            <a:r>
              <a:t>https://khodorkovsky.com/page/80/?m</a:t>
            </a:r>
          </a:p>
          <a:p xmlns:a="http://schemas.openxmlformats.org/drawingml/2006/main">
            <a:r>
              <a:t>https://angliya.com/publication/mihail-hodorkovskiy-ne-priznayu-razdelenie-lyudey-na-osnovanii-politicheskih-vzglyadov/</a:t>
            </a:r>
          </a:p>
          <a:p xmlns:a="http://schemas.openxmlformats.org/drawingml/2006/main">
            <a:r>
              <a:t>https://www.dw.com/ru/mihail-hodorkovski-bojus-jeta-vojna-ne-budet-poslednej/a-61314556</a:t>
            </a:r>
          </a:p>
          <a:p xmlns:a="http://schemas.openxmlformats.org/drawingml/2006/main">
            <a:r>
              <a:t>https://ru.euronews.com/2022/06/21/ru-khodorkovsky-interview</a:t>
            </a:r>
          </a:p>
          <a:p xmlns:a="http://schemas.openxmlformats.org/drawingml/2006/main">
            <a:r>
              <a:t>https://ru.euronews.com/2022/06/23/mikhail-khodorkovsky</a:t>
            </a:r>
          </a:p>
          <a:p xmlns:a="http://schemas.openxmlformats.org/drawingml/2006/main">
            <a:r>
              <a:t>https://poligonmedia.io/mihail-hodorkovskij-putin-ne-pobedil/</a:t>
            </a:r>
          </a:p>
          <a:p xmlns:a="http://schemas.openxmlformats.org/drawingml/2006/main">
            <a:r>
              <a:t>https://www.pap.pl/ru/russian/news/khodorkovskiy-u-putina-est-prichiny-vesti-peregovory-o-prekraschenii-voyny-na-ukraine</a:t>
            </a:r>
          </a:p>
          <a:p xmlns:a="http://schemas.openxmlformats.org/drawingml/2006/main">
            <a:r>
              <a:t>https://milov.org/cat/debates</a:t>
            </a:r>
          </a:p>
          <a:p xmlns:a="http://schemas.openxmlformats.org/drawingml/2006/main">
            <a:r>
              <a:t>https://milov.org/entry/4188</a:t>
            </a:r>
          </a:p>
          <a:p xmlns:a="http://schemas.openxmlformats.org/drawingml/2006/main">
            <a:r>
              <a:t>https://milov.org/cat/international</a:t>
            </a:r>
          </a:p>
          <a:p xmlns:a="http://schemas.openxmlformats.org/drawingml/2006/main">
            <a:r>
              <a:t>https://tvrain.tv/teleshow/amerikanskie_gonki/tramp_vynashivaet_ideju_primiritsja_s_putinym-453802/</a:t>
            </a:r>
          </a:p>
          <a:p xmlns:a="http://schemas.openxmlformats.org/drawingml/2006/main">
            <a:r>
              <a:t>https://www.currenttime.tv/a/vladimir-milov-interview/31505887.html</a:t>
            </a:r>
          </a:p>
          <a:p xmlns:a="http://schemas.openxmlformats.org/drawingml/2006/main">
            <a:r>
              <a:t>https://ovd.info/express-news/2021/07/27/roskomnadzor-potreboval-ot-youtube-zablokirovat-kanaly-troikh-soratnikov</a:t>
            </a:r>
          </a:p>
          <a:p xmlns:a="http://schemas.openxmlformats.org/drawingml/2006/main">
            <a:r>
              <a:t>https://www.dw.com/ru/sud-v-moskve-prigovoril-vladimira-milova-k-8-godam-kolonii/a-67415717</a:t>
            </a:r>
          </a:p>
          <a:p xmlns:a="http://schemas.openxmlformats.org/drawingml/2006/main">
            <a:r>
              <a:t>https://ru.wikipedia.org/wiki/%D0%9C%D0%B8%D0%BB%D0%BE%D0%B2,_%D0%92%D0%BB%D0%B0%D0%B4%D0%B8%D0%BC%D0%B8%D1%80_%D0%A1%D1%82%D0%B0%D0%BD%D0%B8%D1%81%D0%BB%D0%B0%D0%B2%D0%BE%D0%B2%D0%B8%D1%87</a:t>
            </a:r>
          </a:p>
          <a:p xmlns:a="http://schemas.openxmlformats.org/drawingml/2006/main">
            <a:r>
              <a:t>https://gordonua.com/news/worldnews/milov-merkel-molodec-poteryala-vsego-7-8-v-polzu-svezhey-antiimmigrantskoy-partii-na-fone-migrantskogo-krizisa-208758.html</a:t>
            </a:r>
          </a:p>
          <a:p xmlns:a="http://schemas.openxmlformats.org/drawingml/2006/main">
            <a:r>
              <a:t>https://echofm.online/programs/hochu-skazat/hochu-skazat-larina-69</a:t>
            </a:r>
          </a:p>
          <a:p xmlns:a="http://schemas.openxmlformats.org/drawingml/2006/main">
            <a:r>
              <a:t>https://www.hoover.org/plus/research/russian-opposition-and-ukraine-conversation-vladimir-milov</a:t>
            </a:r>
          </a:p>
          <a:p xmlns:a="http://schemas.openxmlformats.org/drawingml/2006/main">
            <a:r>
              <a:t>https://www.golosameriki.com/a/washington-dialogue-russian-opposition-conference/7648250.html</a:t>
            </a:r>
          </a:p>
          <a:p xmlns:a="http://schemas.openxmlformats.org/drawingml/2006/main">
            <a:r>
              <a:t>https://glavred.info/chat/1337-vladimir-milov.html</a:t>
            </a:r>
          </a:p>
          <a:p xmlns:a="http://schemas.openxmlformats.org/drawingml/2006/main">
            <a:r>
              <a:t>https://www.interfax.ru/moscow/669378</a:t>
            </a:r>
          </a:p>
          <a:p xmlns:a="http://schemas.openxmlformats.org/drawingml/2006/main">
            <a:r>
              <a:t>https://tass.ru/politika/6670439</a:t>
            </a:r>
          </a:p>
          <a:p xmlns:a="http://schemas.openxmlformats.org/drawingml/2006/main">
            <a:r>
              <a:t>https://www.rbc.ru/politics/16/07/2019/5d2c8b3b9a794799a7c7d413</a:t>
            </a:r>
          </a:p>
          <a:p xmlns:a="http://schemas.openxmlformats.org/drawingml/2006/main">
            <a:r>
              <a:t>https://www.bbc.com/russian/news-56269079</a:t>
            </a:r>
          </a:p>
          <a:p xmlns:a="http://schemas.openxmlformats.org/drawingml/2006/main">
            <a:r>
              <a:t>https://ovd.info/express-news/2020/12/28/s-yurista-fbk-kotoraya-provela-pochti-dvoe-sutok-v-ivs-pytalis-vzyat</a:t>
            </a:r>
          </a:p>
          <a:p xmlns:a="http://schemas.openxmlformats.org/drawingml/2006/main">
            <a:r>
              <a:t>https://ovd.info/express-news/2021/02/26/prokuratura-utverdila-obvinenie-sobol-po-delu-o-proniknovenii-v-kvartiru</a:t>
            </a:r>
          </a:p>
          <a:p xmlns:a="http://schemas.openxmlformats.org/drawingml/2006/main">
            <a:r>
              <a:t>https://ovd.info/express-news/2020/12/29/protiv-alekseya-navalnogo-vozbudili-ugolovnoe-delo-o-moshennichestve-iz-za</a:t>
            </a:r>
          </a:p>
          <a:p xmlns:a="http://schemas.openxmlformats.org/drawingml/2006/main">
            <a:r>
              <a:t>https://www.currenttime.tv/a/sobol/31723600.html</a:t>
            </a:r>
          </a:p>
          <a:p xmlns:a="http://schemas.openxmlformats.org/drawingml/2006/main">
            <a:r>
              <a:t>https://www.currenttime.tv/interview/episodes/2022/2/26</a:t>
            </a:r>
          </a:p>
          <a:p xmlns:a="http://schemas.openxmlformats.org/drawingml/2006/main">
            <a:r>
              <a:t>https://ochevidcy.com/putin-budet-vorovat-do-groba/</a:t>
            </a:r>
          </a:p>
          <a:p xmlns:a="http://schemas.openxmlformats.org/drawingml/2006/main">
            <a:r>
              <a:t>https://www.svoboda.org/a/32881433.html</a:t>
            </a:r>
          </a:p>
          <a:p xmlns:a="http://schemas.openxmlformats.org/drawingml/2006/main">
            <a:r>
              <a:t>https://echofm.online/programs/idyom-po-zvyozdam/idyom-po-zvezdam-s-lyubovyu-sobol</a:t>
            </a:r>
          </a:p>
          <a:p xmlns:a="http://schemas.openxmlformats.org/drawingml/2006/main">
            <a:r>
              <a:t>https://x.com/SobolLubov</a:t>
            </a:r>
          </a:p>
          <a:p xmlns:a="http://schemas.openxmlformats.org/drawingml/2006/main">
            <a:r>
              <a:t>https://stuki-druki.com/authors/sobol-lubov.php</a:t>
            </a:r>
          </a:p>
          <a:p xmlns:a="http://schemas.openxmlformats.org/drawingml/2006/main">
            <a:r>
              <a:t>https://www.interfax.ru/elections2018/593143</a:t>
            </a:r>
          </a:p>
          <a:p xmlns:a="http://schemas.openxmlformats.org/drawingml/2006/main">
            <a:r>
              <a:t>https://elections2018.tass.ru/candidate/sobchak</a:t>
            </a:r>
          </a:p>
          <a:p xmlns:a="http://schemas.openxmlformats.org/drawingml/2006/main">
            <a:r>
              <a:t>https://www.interfax.ru/elections2018/604186</a:t>
            </a:r>
          </a:p>
          <a:p xmlns:a="http://schemas.openxmlformats.org/drawingml/2006/main">
            <a:r>
              <a:t>https://www.interfax.ru/elections2018/604908</a:t>
            </a:r>
          </a:p>
          <a:p xmlns:a="http://schemas.openxmlformats.org/drawingml/2006/main">
            <a:r>
              <a:t>https://www.consultant.ru/law/hotdocs/53066.html</a:t>
            </a:r>
          </a:p>
          <a:p xmlns:a="http://schemas.openxmlformats.org/drawingml/2006/main">
            <a:r>
              <a:t>https://www.rbc.ru/newspaper/2018/03/20/5aae9ca49a794739b02918a0</a:t>
            </a:r>
          </a:p>
          <a:p xmlns:a="http://schemas.openxmlformats.org/drawingml/2006/main">
            <a:r>
              <a:t>https://www.interfax.ru/elections2018/604136</a:t>
            </a:r>
          </a:p>
          <a:p xmlns:a="http://schemas.openxmlformats.org/drawingml/2006/main">
            <a:r>
              <a:t>https://www.interfax.ru/elections2018/604190</a:t>
            </a:r>
          </a:p>
          <a:p xmlns:a="http://schemas.openxmlformats.org/drawingml/2006/main">
            <a:r>
              <a:t>https://www.rbc.ru/economics/25/12/2017/5a4025f19a79472e3f5f4ad9?from=right_column_materials_3</a:t>
            </a:r>
          </a:p>
          <a:p xmlns:a="http://schemas.openxmlformats.org/drawingml/2006/main">
            <a:r>
              <a:t>https://news.ru/show-business/otezd-iz-rf-vybory-svo-v-chem-priznalas-kseniya-sobchak-v-novom-intervyu</a:t>
            </a:r>
          </a:p>
          <a:p xmlns:a="http://schemas.openxmlformats.org/drawingml/2006/main">
            <a:r>
              <a:t>https://rtvi.com/news/sobchak-otvetila-na-vopros-putin-ili-zelenskij/</a:t>
            </a:r>
          </a:p>
          <a:p xmlns:a="http://schemas.openxmlformats.org/drawingml/2006/main">
            <a:r>
              <a:t>https://informator.ua/ru/kompromissy-iz-rf-legitimnost-zelenskogo-i-gotovnost-pozhat-ruku-putinu-o-chem-govoril-arestovich-v-intervyu-sobchak</a:t>
            </a:r>
          </a:p>
          <a:p xmlns:a="http://schemas.openxmlformats.org/drawingml/2006/main">
            <a:r>
              <a:t>https://rassvet-party.info/</a:t>
            </a:r>
          </a:p>
          <a:p xmlns:a="http://schemas.openxmlformats.org/drawingml/2006/main">
            <a:r>
              <a:t>https://en.wikipedia.org/wiki/Yekaterina_Duntsova</a:t>
            </a:r>
          </a:p>
          <a:p xmlns:a="http://schemas.openxmlformats.org/drawingml/2006/main">
            <a:r>
              <a:t>https://www.dw.com/ru/cto-nuzno-znat-o-ekaterine-duncovoj-kotoraa-hocet-stat-prezidentom-rf/a-67832425</a:t>
            </a:r>
          </a:p>
          <a:p xmlns:a="http://schemas.openxmlformats.org/drawingml/2006/main">
            <a:r>
              <a:t>https://baj.media/ru/ya-gotova-idti-do-konca-zhurnalistka-iz-rossiyskoy-provincii-reshila-stat-prezidentom-i-2/</a:t>
            </a:r>
          </a:p>
          <a:p xmlns:a="http://schemas.openxmlformats.org/drawingml/2006/main">
            <a:r>
              <a:t>https://echofm.online/portret-dnya/portret-dnya-ekaterina-dunczova-reshivshaya-vydvinutsya-kandidatom-v-prezidenty-rossii-zhurnalistka-iz-rzheva</a:t>
            </a:r>
          </a:p>
          <a:p xmlns:a="http://schemas.openxmlformats.org/drawingml/2006/main">
            <a:r>
              <a:t>https://novayagazeta.eu/articles/2024/03/15/zlost-i-nenavist-vsem-nadoeli</a:t>
            </a:r>
          </a:p>
          <a:p xmlns:a="http://schemas.openxmlformats.org/drawingml/2006/main">
            <a:r>
              <a:t>https://altapress.ru/politika/story/kto-takaya-ekaterina-duntsova-kotoraya-sobiraetsya-stat-poslednim-prezidentom-rossii-i-kto-eshche-hochet-ballotirovatsya-336526</a:t>
            </a:r>
          </a:p>
          <a:p xmlns:a="http://schemas.openxmlformats.org/drawingml/2006/main">
            <a:r>
              <a:t>https://cherta.media/interview/ekaterina-duncova-kandidat-v-prezidenty/</a:t>
            </a:r>
          </a:p>
          <a:p xmlns:a="http://schemas.openxmlformats.org/drawingml/2006/main">
            <a:r>
              <a:t>https://novayagazeta.eu/articles/2023/12/05/zachem-ia-budu-stoiat-na-barrikadakh-esli-mogu-zanimatsia-realnymi-delami</a:t>
            </a:r>
          </a:p>
          <a:p xmlns:a="http://schemas.openxmlformats.org/drawingml/2006/main">
            <a:r>
              <a:t>https://holod.media/2023/12/20/ekaterina-duntsova-view/</a:t>
            </a:r>
          </a:p>
          <a:p xmlns:a="http://schemas.openxmlformats.org/drawingml/2006/main">
            <a:r>
              <a:t>https://www.dw.com/ru/ekaterina-duncova-o-sozdanii-partii-rassvet-my-mezdu-dvuh-ognej/a-68992724</a:t>
            </a:r>
          </a:p>
          <a:p xmlns:a="http://schemas.openxmlformats.org/drawingml/2006/main">
            <a:r>
              <a:t>https://rassvet-party.info/static/program.pdf</a:t>
            </a:r>
          </a:p>
          <a:p xmlns:a="http://schemas.openxmlformats.org/drawingml/2006/main">
            <a:r>
              <a:t>https://www.currenttime.tv/a/ekaterina-duntsova-o-sozdanii-partii-i-svoem-zaderzhanii/32775510.html</a:t>
            </a:r>
          </a:p>
          <a:p xmlns:a="http://schemas.openxmlformats.org/drawingml/2006/main">
            <a:r>
              <a:t>https://duntsovainitiative.1c-umi.ru/galereya/</a:t>
            </a:r>
          </a:p>
          <a:p xmlns:a="http://schemas.openxmlformats.org/drawingml/2006/main">
            <a:r>
              <a:t>https://rassvet-party.info/static/manifest.pdf</a:t>
            </a:r>
          </a:p>
          <a:p xmlns:a="http://schemas.openxmlformats.org/drawingml/2006/main">
            <a:r>
              <a:t>https://www.rbc.ru/person/65afb4a99a79470e434da73d</a:t>
            </a:r>
          </a:p>
          <a:p xmlns:a="http://schemas.openxmlformats.org/drawingml/2006/main">
            <a:r>
              <a:t>https://www.bbc.com/russian/articles/c84npr0wxx9o</a:t>
            </a:r>
          </a:p>
          <a:p xmlns:a="http://schemas.openxmlformats.org/drawingml/2006/main">
            <a:r>
              <a:t>https://www.rbc.ru/politics/08/02/2024/65c3749b9a79479ef5fe7934</a:t>
            </a:r>
          </a:p>
          <a:p xmlns:a="http://schemas.openxmlformats.org/drawingml/2006/main">
            <a:r>
              <a:t>https://www.business-gazeta.ru/article/622600</a:t>
            </a:r>
          </a:p>
          <a:p xmlns:a="http://schemas.openxmlformats.org/drawingml/2006/main">
            <a:r>
              <a:t>https://semnasem.org/articles/2024/02/02/poslednij-sredi-antivoennyh-kto-takoj-boris-nadezhdin-kotoryj-vse-eshe-nadeetsya-stat-prezidentom</a:t>
            </a:r>
          </a:p>
          <a:p xmlns:a="http://schemas.openxmlformats.org/drawingml/2006/main">
            <a:r>
              <a:t>https://novayagazeta.eu/articles/2024/02/03/17-marta-nachalo-kontsa-epokhi-putina</a:t>
            </a:r>
          </a:p>
          <a:p xmlns:a="http://schemas.openxmlformats.org/drawingml/2006/main">
            <a:r>
              <a:t>https://www.youtube.com/watch?v=mGMdgxBCdns</a:t>
            </a:r>
          </a:p>
          <a:p xmlns:a="http://schemas.openxmlformats.org/drawingml/2006/main">
            <a:r>
              <a:t>https://www.dw.com/ru/boris-nadezdin-moj-rejting-rastet-na-5-v-nedelu/a-68154251</a:t>
            </a:r>
          </a:p>
          <a:p xmlns:a="http://schemas.openxmlformats.org/drawingml/2006/main">
            <a:r>
              <a:t>https://ovd.info/express-news/2026/07/17/u-menya-dva-puti-lenina-ili-navalnogo-chto-nuzhno-znat-o-borise-nadezhdine</a:t>
            </a:r>
          </a:p>
          <a:p xmlns:a="http://schemas.openxmlformats.org/drawingml/2006/main">
            <a:r>
              <a:t>https://www.rbc.ru/person/65afb4a99a79470e434da73d?ysclid=mrt22n99to603501119</a:t>
            </a:r>
          </a:p>
          <a:p xmlns:a="http://schemas.openxmlformats.org/drawingml/2006/main">
            <a:r>
              <a:t>https://www.youtube.com/watch?v=UNytg_H_1pY</a:t>
            </a:r>
          </a:p>
          <a:p xmlns:a="http://schemas.openxmlformats.org/drawingml/2006/main">
            <a:r>
              <a:t>https://www.youtube.com/watch?v=DwTC5bilf_8</a:t>
            </a:r>
          </a:p>
          <a:p xmlns:a="http://schemas.openxmlformats.org/drawingml/2006/main">
            <a:r>
              <a:t>https://www.youtube.com/watch?v=sG4_THnT9W0</a:t>
            </a:r>
          </a:p>
          <a:p xmlns:a="http://schemas.openxmlformats.org/drawingml/2006/main">
            <a:r>
              <a:t>https://www.rbc.ru/rbcfreenews/6586cdf49a79479c3cd3d4b3</a:t>
            </a:r>
          </a:p>
          <a:p xmlns:a="http://schemas.openxmlformats.org/drawingml/2006/main">
            <a:r>
              <a:t>https://kprf.ru/activity/elections/223485.html/print</a:t>
            </a:r>
          </a:p>
          <a:p xmlns:a="http://schemas.openxmlformats.org/drawingml/2006/main">
            <a:r>
              <a:t>http://msk.kprf.ru/2024/01/24/247473/</a:t>
            </a:r>
          </a:p>
          <a:p xmlns:a="http://schemas.openxmlformats.org/drawingml/2006/main">
            <a:r>
              <a:t>https://www.dw.com/ru/vybory-prezidenta-rossii-2024/a-68528003</a:t>
            </a:r>
          </a:p>
          <a:p xmlns:a="http://schemas.openxmlformats.org/drawingml/2006/main">
            <a:r>
              <a:t>https://ru.wikipedia.org/wiki/%D0%A5%D0%B0%D1%80%D0%B8%D1%82%D0%BE%D0%BD%D0%BE%D0%B2,_%D0%9D%D0%B8%D0%BA%D0%BE%D0%BB%D0%B0%D0%B9_%D0%9C%D0%B8%D1%85%D0%B0%D0%B9%D0%BB%D0%BE%D0%B2%D0%B8%D1%87</a:t>
            </a:r>
          </a:p>
          <a:p xmlns:a="http://schemas.openxmlformats.org/drawingml/2006/main">
            <a:r>
              <a:t>https://kprf.ru/party-live/cknews/225170.html</a:t>
            </a:r>
          </a:p>
          <a:p xmlns:a="http://schemas.openxmlformats.org/drawingml/2006/main">
            <a:r>
              <a:t>https://kprf.ru/dep/gosduma/activities/232802.html</a:t>
            </a:r>
          </a:p>
          <a:p xmlns:a="http://schemas.openxmlformats.org/drawingml/2006/main">
            <a:r>
              <a:t>https://kprf35.com/2024/02/17/32710/</a:t>
            </a:r>
          </a:p>
          <a:p xmlns:a="http://schemas.openxmlformats.org/drawingml/2006/main">
            <a:r>
              <a:t>https://www.pkokprf.ru/news/view/35448</a:t>
            </a:r>
          </a:p>
          <a:p xmlns:a="http://schemas.openxmlformats.org/drawingml/2006/main">
            <a:r>
              <a:t>https://altkprf.ru/upload/iblock/eea/jiv0wm7hzk6gq4qdxw0r5wvp7zwb6luk.pdf</a:t>
            </a:r>
          </a:p>
          <a:p xmlns:a="http://schemas.openxmlformats.org/drawingml/2006/main">
            <a:r>
              <a:t>https://kprf.ru/activity/army/224789.html</a:t>
            </a:r>
          </a:p>
          <a:p xmlns:a="http://schemas.openxmlformats.org/drawingml/2006/main">
            <a:r>
              <a:t>https://gazeta-pravda.ru/issue/24-31517-711-marta-2024-goda-/alternativa-polupravde/</a:t>
            </a:r>
          </a:p>
          <a:p xmlns:a="http://schemas.openxmlformats.org/drawingml/2006/main">
            <a:r>
              <a:t>https://spbpalata.ru/?p=13755</a:t>
            </a:r>
          </a:p>
          <a:p xmlns:a="http://schemas.openxmlformats.org/drawingml/2006/main">
            <a:r>
              <a:t>https://kprf.ru/activity/elections/171941.html</a:t>
            </a:r>
          </a:p>
          <a:p xmlns:a="http://schemas.openxmlformats.org/drawingml/2006/main">
            <a:r>
              <a:t>https://kprf.ru/party-live/cknews/171994.html</a:t>
            </a:r>
          </a:p>
          <a:p xmlns:a="http://schemas.openxmlformats.org/drawingml/2006/main">
            <a:r>
              <a:t>https://elections2018.tass.ru/candidate/grudinin</a:t>
            </a:r>
          </a:p>
          <a:p xmlns:a="http://schemas.openxmlformats.org/drawingml/2006/main">
            <a:r>
              <a:t>https://www.bbc.com/russian/features-43105617</a:t>
            </a:r>
          </a:p>
          <a:p xmlns:a="http://schemas.openxmlformats.org/drawingml/2006/main">
            <a:r>
              <a:t>https://www.rbc.ru/politics/24/07/2021/60fbe35b9a794716f25253a0</a:t>
            </a:r>
          </a:p>
          <a:p xmlns:a="http://schemas.openxmlformats.org/drawingml/2006/main">
            <a:r>
              <a:t>https://kprf.ru/dep/reg/204410.html</a:t>
            </a:r>
          </a:p>
          <a:p xmlns:a="http://schemas.openxmlformats.org/drawingml/2006/main">
            <a:r>
              <a:t>https://msk.kprf.ru/2021/09/16/168273/</a:t>
            </a:r>
          </a:p>
          <a:p xmlns:a="http://schemas.openxmlformats.org/drawingml/2006/main">
            <a:r>
              <a:t>https://svpressa.ru/persons/pavel-grudinin/</a:t>
            </a:r>
          </a:p>
          <a:p xmlns:a="http://schemas.openxmlformats.org/drawingml/2006/main">
            <a:r>
              <a:t>https://carnegieendowment.org/ru/russia-eurasia/posts/2018/02/kuda-privedut-ekonomiku-rossii-20-shagov-grudinina</a:t>
            </a:r>
          </a:p>
          <a:p xmlns:a="http://schemas.openxmlformats.org/drawingml/2006/main">
            <a:r>
              <a:t>https://www.kompas-rf.ru/2018/01/2980/</a:t>
            </a:r>
          </a:p>
          <a:p xmlns:a="http://schemas.openxmlformats.org/drawingml/2006/main">
            <a:r>
              <a:t>https://www.svoboda.org/a/30073365.html</a:t>
            </a:r>
          </a:p>
          <a:p xmlns:a="http://schemas.openxmlformats.org/drawingml/2006/main">
            <a:r>
              <a:t>https://kandidativprezidenti.ru/programma-grudinina-2018/</a:t>
            </a:r>
          </a:p>
          <a:p xmlns:a="http://schemas.openxmlformats.org/drawingml/2006/main">
            <a:r>
              <a:t>https://mbk-news.appspot.com/suzhet/za-lenina-i-protiv-ege/</a:t>
            </a:r>
          </a:p>
          <a:p xmlns:a="http://schemas.openxmlformats.org/drawingml/2006/main">
            <a:r>
              <a:t>https://www.amnesty.org/ru/latest/research/2021/06/zayavlenie-rossijskaya-federacziya-obvinitelnyj-prigovor-nikolayu-platoshkinu-dolzhen-byt-otmenyon/</a:t>
            </a:r>
          </a:p>
          <a:p xmlns:a="http://schemas.openxmlformats.org/drawingml/2006/main">
            <a:r>
              <a:t>https://zona.media/article/2021/05/20/nikolay-nikolaevitch</a:t>
            </a:r>
          </a:p>
          <a:p xmlns:a="http://schemas.openxmlformats.org/drawingml/2006/main">
            <a:r>
              <a:t>https://novayagazeta.ru/articles/2020/06/05/85705-sotsialisticheskiy-prizyv</a:t>
            </a:r>
          </a:p>
          <a:p xmlns:a="http://schemas.openxmlformats.org/drawingml/2006/main">
            <a:r>
              <a:t>https://www.revda-info.ru/2020/08/26/v-revde-poyavilos-otdelenie-dvizheniya-za-novyj-sotsializm-ego-lider-sejchas-pod-arestom</a:t>
            </a:r>
          </a:p>
          <a:p xmlns:a="http://schemas.openxmlformats.org/drawingml/2006/main">
            <a:r>
              <a:t>https://new-socialism.org/o-dvizhenii/programma/</a:t>
            </a:r>
          </a:p>
          <a:p xmlns:a="http://schemas.openxmlformats.org/drawingml/2006/main">
            <a:r>
              <a:t>https://new-socialism.org/o-dvizhenii/lider/</a:t>
            </a:r>
          </a:p>
          <a:p xmlns:a="http://schemas.openxmlformats.org/drawingml/2006/main">
            <a:r>
              <a:t>https://www.themoscowtimes.com/2024/01/19/ilya-ponomaryov-we-have-to-capture-the-kremlin-there-is-no-other-way-a83772</a:t>
            </a:r>
          </a:p>
          <a:p xmlns:a="http://schemas.openxmlformats.org/drawingml/2006/main">
            <a:r>
              <a:t>https://www.dw.com/ru/cto-izvestno-o-rossijskih-podrazdeleniah-v-sostave-vsu/a-63915634</a:t>
            </a:r>
          </a:p>
          <a:p xmlns:a="http://schemas.openxmlformats.org/drawingml/2006/main">
            <a:r>
              <a:t>https://www.svoboda.org/a/32321226.html</a:t>
            </a:r>
          </a:p>
          <a:p xmlns:a="http://schemas.openxmlformats.org/drawingml/2006/main">
            <a:r>
              <a:t>https://hromadske.ua/ru/posts/nasha-cel-moskva-my-dolzhny-sbrosit-putina-rossijskie-partizany-mif-ili-pravda</a:t>
            </a:r>
          </a:p>
          <a:p xmlns:a="http://schemas.openxmlformats.org/drawingml/2006/main">
            <a:r>
              <a:t>https://epravda.com.ua/rus/publications/2018/06/11/637572/</a:t>
            </a:r>
          </a:p>
          <a:p xmlns:a="http://schemas.openxmlformats.org/drawingml/2006/main">
            <a:r>
              <a:t>https://pointmedia.io/story/672b355fdc48800406e0f515</a:t>
            </a:r>
          </a:p>
          <a:p xmlns:a="http://schemas.openxmlformats.org/drawingml/2006/main">
            <a:r>
              <a:t>https://ru.wikipedia.org/wiki/%D0%9B%D0%B5%D0%B3%D0%B8%D0%BE%D0%BD_%C2%AB%D0%A1%D0%B2%D0%BE%D0%B1%D0%BE%D0%B4%D0%B0_%D0%A0%D0%BE%D1%81%D1%81%D0%B8%D0%B8%C2%BB</a:t>
            </a:r>
          </a:p>
          <a:p xmlns:a="http://schemas.openxmlformats.org/drawingml/2006/main">
            <a:r>
              <a:t>https://ru.wikipedia.org/wiki/%D0%9F%D0%BE%D0%BD%D0%BE%D0%BC%D0%B0%D1%80%D1%91%D0%B2,_%D0%98%D0%BB%D1%8C%D1%8F_%D0%92%D0%BB%D0%B0%D0%B4%D0%B8%D0%BC%D0%B8%D1%80%D0%BE%D0%B2%D0%B8%D1%87</a:t>
            </a:r>
          </a:p>
          <a:p xmlns:a="http://schemas.openxmlformats.org/drawingml/2006/main">
            <a:r>
              <a:t>https://russophob.ru/person/ponomarev_ilya_vladimirovich</a:t>
            </a:r>
          </a:p>
          <a:p xmlns:a="http://schemas.openxmlformats.org/drawingml/2006/main">
            <a:r>
              <a:t>https://www.svoboda.org/a/32063164.html</a:t>
            </a:r>
          </a:p>
          <a:p xmlns:a="http://schemas.openxmlformats.org/drawingml/2006/main">
            <a:r>
              <a:t>https://www.kpbs.org/news/news/international/2023/03/26/a-scrappy-newscast-in-kyiv-aimed-at-russians-counters-putins-propaganda-machine</a:t>
            </a:r>
          </a:p>
          <a:p xmlns:a="http://schemas.openxmlformats.org/drawingml/2006/main">
            <a:r>
              <a:t>https://ovd.info/express-news/2022/10/02/politik-leonid-gozman-uekhal-iz-rossii-posle-dvukh-administrativnykh</a:t>
            </a:r>
          </a:p>
          <a:p xmlns:a="http://schemas.openxmlformats.org/drawingml/2006/main">
            <a:r>
              <a:t>https://ovd.info/express-news/2022/08/30/politika-leonida-gozmana-arestovali-na-15-sutok-iz-za-posta-v-feysbuke</a:t>
            </a:r>
          </a:p>
          <a:p xmlns:a="http://schemas.openxmlformats.org/drawingml/2006/main">
            <a:r>
              <a:t>https://www.rbc.ru/politics/15/07/2022/62d1b3f39a7947299cdeb6a4</a:t>
            </a:r>
          </a:p>
          <a:p xmlns:a="http://schemas.openxmlformats.org/drawingml/2006/main">
            <a:r>
              <a:t>https://novayagazeta.eu/articles/2022/07/15/sk-doprosil-politika-leonida-gozmana-kak-podozrevaemogo-po-delu-o-neuvedomlenii-o-vtorom-grazhdanstve-news</a:t>
            </a:r>
          </a:p>
          <a:p xmlns:a="http://schemas.openxmlformats.org/drawingml/2006/main">
            <a:r>
              <a:t>https://www.rbc.ru/politics/15/02/2024/65cdc9e09a7947a2995026fa</a:t>
            </a:r>
          </a:p>
          <a:p xmlns:a="http://schemas.openxmlformats.org/drawingml/2006/main">
            <a:r>
              <a:t>https://ovd.info/express-news/2025/01/22/leonida-gozmana-i-rovshana-askerova-vnesli-v-reestr-terroristov-i</a:t>
            </a:r>
          </a:p>
          <a:p xmlns:a="http://schemas.openxmlformats.org/drawingml/2006/main">
            <a:r>
              <a:t>https://www.rbc.ru/opinion-authors/gozman</a:t>
            </a:r>
          </a:p>
          <a:p xmlns:a="http://schemas.openxmlformats.org/drawingml/2006/main">
            <a:r>
              <a:t>https://novayagazeta.eu/articles/2022/07/25/ovd-info-v-moskve-zaderzhali-politika-leonida-gozmana-news</a:t>
            </a:r>
          </a:p>
          <a:p xmlns:a="http://schemas.openxmlformats.org/drawingml/2006/main">
            <a:r>
              <a:t>https://gefter.ru/archive/23487</a:t>
            </a:r>
          </a:p>
          <a:p xmlns:a="http://schemas.openxmlformats.org/drawingml/2006/main">
            <a:r>
              <a:t>https://www.svoboda.org/a/31147156.html</a:t>
            </a:r>
          </a:p>
          <a:p xmlns:a="http://schemas.openxmlformats.org/drawingml/2006/main">
            <a:r>
              <a:t>https://uatv.ua/gozman-putin-zagnal-rossiyu-v-ugol-sleduyushhij-shag-repressii/</a:t>
            </a:r>
          </a:p>
          <a:p xmlns:a="http://schemas.openxmlformats.org/drawingml/2006/main">
            <a:r>
              <a:t>https://echofm.online/programs/hochu-skazat/hochu-skazat-odin-protiv-vseh-kak-ne-dat-strahu-pobedit-sebya</a:t>
            </a:r>
          </a:p>
          <a:p xmlns:a="http://schemas.openxmlformats.org/drawingml/2006/main">
            <a:r>
              <a:t>https://www.svoboda.org/a/leonid-gozman-russkih-lyudey-neljzya-mazatj-odnoy-chernoy-kraskoy-/32732625.html</a:t>
            </a:r>
          </a:p>
          <a:p xmlns:a="http://schemas.openxmlformats.org/drawingml/2006/main">
            <a:r>
              <a:t>https://novayagazeta.eu/articles/2022/07/18/prepiatstvovat-prosveshcheniiu-liudei-vlast-budet-pulemiotami</a:t>
            </a:r>
          </a:p>
          <a:p xmlns:a="http://schemas.openxmlformats.org/drawingml/2006/main">
            <a:r>
              <a:t>https://www.svoboda.org/a/29652429.html</a:t>
            </a:r>
          </a:p>
          <a:p xmlns:a="http://schemas.openxmlformats.org/drawingml/2006/main">
            <a:r>
              <a:t>https://novayagazeta.eu/articles/2022/04/26/nesobliudenie-rezhima</a:t>
            </a:r>
          </a:p>
          <a:p xmlns:a="http://schemas.openxmlformats.org/drawingml/2006/main">
            <a:r>
              <a:t>https://novayagazeta.eu/articles/2022/07/21/zapiski-ugolovnika</a:t>
            </a:r>
          </a:p>
          <a:p xmlns:a="http://schemas.openxmlformats.org/drawingml/2006/main">
            <a:r>
              <a:t>https://novayagazeta.ru/authors/2349</a:t>
            </a:r>
          </a:p>
          <a:p xmlns:a="http://schemas.openxmlformats.org/drawingml/2006/main">
            <a:r>
              <a:t>https://www.rbc.ru/politics/10/08/2017/598c8d6d9a79474cff05cbab</a:t>
            </a:r>
          </a:p>
          <a:p xmlns:a="http://schemas.openxmlformats.org/drawingml/2006/main">
            <a:r>
              <a:t>https://www.bbc.com/russian/news-40853405</a:t>
            </a:r>
          </a:p>
          <a:p xmlns:a="http://schemas.openxmlformats.org/drawingml/2006/main">
            <a:r>
              <a:t>https://www.rbc.ru/politics/10/08/2017/598c0a8e9a7947569574ba10?from=right_column_materials_1</a:t>
            </a:r>
          </a:p>
          <a:p xmlns:a="http://schemas.openxmlformats.org/drawingml/2006/main">
            <a:r>
              <a:t>https://www.vedomosti.ru/politics/articles/2017/08/10/728820-udaltsov</a:t>
            </a:r>
          </a:p>
          <a:p xmlns:a="http://schemas.openxmlformats.org/drawingml/2006/main">
            <a:r>
              <a:t>https://www.interfax.ru/elections2018/598382</a:t>
            </a:r>
          </a:p>
          <a:p xmlns:a="http://schemas.openxmlformats.org/drawingml/2006/main">
            <a:r>
              <a:t>https://sotaproject.com/article/sergeia-udaltsova-opiat-pytaiutsia-posadit-khotia-on-vsego-lish-prosit-putina-postroit-sotsializm</a:t>
            </a:r>
          </a:p>
          <a:p xmlns:a="http://schemas.openxmlformats.org/drawingml/2006/main">
            <a:r>
              <a:t>https://www.gazeta.ru/tags/person/sergei_udaltsov.shtml</a:t>
            </a:r>
          </a:p>
          <a:p xmlns:a="http://schemas.openxmlformats.org/drawingml/2006/main">
            <a:r>
              <a:t>https://www.kommersant.ru/doc/8317316</a:t>
            </a:r>
          </a:p>
          <a:p xmlns:a="http://schemas.openxmlformats.org/drawingml/2006/main">
            <a:r>
              <a:t>https://www.kommersant.ru/doc/8972418</a:t>
            </a:r>
          </a:p>
          <a:p xmlns:a="http://schemas.openxmlformats.org/drawingml/2006/main">
            <a:r>
              <a:t>https://holod.media/2023/09/12/udaltsov-interview/</a:t>
            </a:r>
          </a:p>
          <a:p xmlns:a="http://schemas.openxmlformats.org/drawingml/2006/main">
            <a:r>
              <a:t>https://meduza.io/feature/2024/01/11/sergey-udaltsov-zaderzhan-po-obvineniyu-v-opravdanii-terrorizma</a:t>
            </a:r>
          </a:p>
          <a:p xmlns:a="http://schemas.openxmlformats.org/drawingml/2006/main">
            <a:r>
              <a:t>https://ref-book.sova-center.ru/index.php/%D0%94%D1%80%D1%83%D0%B3%D0%B0%D1%8F_%D0%A0%D0%BE%D1%81%D1%81%D0%B8%D1%8F,_%D0%BF%D0%B0%D1%80%D1%82%D0%B8%D1%8F</a:t>
            </a:r>
          </a:p>
          <a:p xmlns:a="http://schemas.openxmlformats.org/drawingml/2006/main">
            <a:r>
              <a:t>https://www.rbc.ru/society/17/03/2020/5e71048d9a79473925ab81a7</a:t>
            </a:r>
          </a:p>
          <a:p xmlns:a="http://schemas.openxmlformats.org/drawingml/2006/main">
            <a:r>
              <a:t>https://rt.rbc.ru/society/18/03/2020/5e71acc49a794773553f824e</a:t>
            </a:r>
          </a:p>
          <a:p xmlns:a="http://schemas.openxmlformats.org/drawingml/2006/main">
            <a:r>
              <a:t>https://www.bostonglobe.com/metro/obituaries/2020/03/18/russian-author-political-activist-eduard-limonov-dies/jnjHywBRjVTTgnlsqI12vN/story.html</a:t>
            </a:r>
          </a:p>
          <a:p xmlns:a="http://schemas.openxmlformats.org/drawingml/2006/main">
            <a:r>
              <a:t>https://nsn.fm/society/poslednee-intervu-pisatelya-i-politika-eduarda-limonova</a:t>
            </a:r>
          </a:p>
          <a:p xmlns:a="http://schemas.openxmlformats.org/drawingml/2006/main">
            <a:r>
              <a:t>http://www.grso.ru/person/limonov-eduard.html</a:t>
            </a:r>
          </a:p>
          <a:p xmlns:a="http://schemas.openxmlformats.org/drawingml/2006/main">
            <a:r>
              <a:t>https://ru.wikipedia.org/wiki/%D0%94%D1%80%D1%83%D0%B3%D0%B0%D1%8F_%D0%A0%D0%BE%D1%81%D1%81%D0%B8%D1%8F_%D0%AD._%D0%92._%D0%9B%D0%B8%D0%BC%D0%BE%D0%BD%D0%BE%D0%B2%D0%B0</a:t>
            </a:r>
          </a:p>
          <a:p xmlns:a="http://schemas.openxmlformats.org/drawingml/2006/main">
            <a:r>
              <a:t>https://novayagazeta.ru/articles/2017/03/12/71752-puteshestvie-natsbolov-k-putinu-i-obratno</a:t>
            </a:r>
          </a:p>
          <a:p xmlns:a="http://schemas.openxmlformats.org/drawingml/2006/main">
            <a:r>
              <a:t>https://mediabrest.by/news/lyudi/umer-eduard-limonov-chem-zapomnilsya-pisatel</a:t>
            </a:r>
          </a:p>
          <a:p xmlns:a="http://schemas.openxmlformats.org/drawingml/2006/main">
            <a:r>
              <a:t>https://www.limonow.de/read/EL_2013-2018_T.html</a:t>
            </a:r>
          </a:p>
          <a:p xmlns:a="http://schemas.openxmlformats.org/drawingml/2006/main">
            <a:r>
              <a:t>https://www.infpol.ru/203662-ot-ubezhdennogo-antisovetchika-do-kolumnista-rt/</a:t>
            </a:r>
          </a:p>
          <a:p xmlns:a="http://schemas.openxmlformats.org/drawingml/2006/main">
            <a:r>
              <a:t>https://www.bbc.com/russian/articles/c2eg90d7gg9o</a:t>
            </a:r>
          </a:p>
          <a:p xmlns:a="http://schemas.openxmlformats.org/drawingml/2006/main">
            <a:r>
              <a:t>https://www.dw.com/ru/mosgorsud-prigovoril-igora-girkina-strelkova-k-4-godam-kolonii/a-68080937</a:t>
            </a:r>
          </a:p>
          <a:p xmlns:a="http://schemas.openxmlformats.org/drawingml/2006/main">
            <a:r>
              <a:t>https://www.fontanka.ru/2023/07/21/72520253</a:t>
            </a:r>
          </a:p>
          <a:p xmlns:a="http://schemas.openxmlformats.org/drawingml/2006/main">
            <a:r>
              <a:t>https://www.svoboda.org/a/strelkov-iz-sizo-opasayusj-amnistii-kak-u-prigozhina-/32722083.html</a:t>
            </a:r>
          </a:p>
          <a:p xmlns:a="http://schemas.openxmlformats.org/drawingml/2006/main">
            <a:r>
              <a:t>https://ru.themoscowtimes.com/2023/12/07/girkin-zayavil-chto-opasaetsya-povtorit-sudbu-prigozhina-a115592</a:t>
            </a:r>
          </a:p>
          <a:p xmlns:a="http://schemas.openxmlformats.org/drawingml/2006/main">
            <a:r>
              <a:t>https://ru.krymr.com/a/boing-mn17-10-let-podozrevayemyye-obvinyayemyye-vinovnyye/33040170.html</a:t>
            </a:r>
          </a:p>
          <a:p xmlns:a="http://schemas.openxmlformats.org/drawingml/2006/main">
            <a:r>
              <a:t>https://charter97.org/ru/news/2023/7/22/556802/</a:t>
            </a:r>
          </a:p>
          <a:p xmlns:a="http://schemas.openxmlformats.org/drawingml/2006/main">
            <a:r>
              <a:t>https://t.me/s/pgubarev?after=622</a:t>
            </a:r>
          </a:p>
          <a:p xmlns:a="http://schemas.openxmlformats.org/drawingml/2006/main">
            <a:r>
              <a:t>https://rabkor.ru/columns/debates/2023/05/23/angry_patriots_of_an_imaginary_country/</a:t>
            </a:r>
          </a:p>
          <a:p xmlns:a="http://schemas.openxmlformats.org/drawingml/2006/main">
            <a:r>
              <a:t>https://www.bbc.com/news/world-60947877</a:t>
            </a:r>
          </a:p>
          <a:p xmlns:a="http://schemas.openxmlformats.org/drawingml/2006/main">
            <a:r>
              <a:t>https://www.reuters.com/world/europe/russian-mercenary-boss-courts-putin-with-ukrainian-battlefield-success-2023-01-13/</a:t>
            </a:r>
          </a:p>
          <a:p xmlns:a="http://schemas.openxmlformats.org/drawingml/2006/main">
            <a:r>
              <a:t>https://www.reuters.com/world/europe/russias-wagner-mercenaries-halt-prisoner-recruitment-campaign-founder-prigozhin-2023-02-09/</a:t>
            </a:r>
          </a:p>
          <a:p xmlns:a="http://schemas.openxmlformats.org/drawingml/2006/main">
            <a:r>
              <a:t>https://www.reuters.com/investigates/special-report/ukraine-crisis-russia-wagner/</a:t>
            </a:r>
          </a:p>
          <a:p xmlns:a="http://schemas.openxmlformats.org/drawingml/2006/main">
            <a:r>
              <a:t>https://www.reuters.com/world/europe/russias-wagner-chief-prigozhin-says-ukraine-counteroffensive-already-under-way-2023-05-03/</a:t>
            </a:r>
          </a:p>
          <a:p xmlns:a="http://schemas.openxmlformats.org/drawingml/2006/main">
            <a:r>
              <a:t>https://www.bbc.com/russian/media-66023357</a:t>
            </a:r>
          </a:p>
          <a:p xmlns:a="http://schemas.openxmlformats.org/drawingml/2006/main">
            <a:r>
              <a:t>https://www.reuters.com/world/europe/russias-prigozhin-his-own-words-mutiny-2023-06-26/</a:t>
            </a:r>
          </a:p>
          <a:p xmlns:a="http://schemas.openxmlformats.org/drawingml/2006/main">
            <a:r>
              <a:t>https://x.com/Reuters/status/1632709213641113601</a:t>
            </a:r>
          </a:p>
          <a:p xmlns:a="http://schemas.openxmlformats.org/drawingml/2006/main">
            <a:r>
              <a:t>https://www.reuters.com/world/europe/russian-mercenary-boss-says-moscows-war-ukraine-based-lies-2023-06-23/</a:t>
            </a:r>
          </a:p>
          <a:p xmlns:a="http://schemas.openxmlformats.org/drawingml/2006/main">
            <a:r>
              <a:t>https://www.rbc.ru/spb_sz/02/10/2026/6abfb91afd4c7ff957d9cbe8</a:t>
            </a:r>
          </a:p>
          <a:p xmlns:a="http://schemas.openxmlformats.org/drawingml/2006/main">
            <a:r>
              <a:t>https://www.zaks.ru/new/person/view/639</a:t>
            </a:r>
          </a:p>
          <a:p xmlns:a="http://schemas.openxmlformats.org/drawingml/2006/main">
            <a:r>
              <a:t>https://www.zaks.ru/new/archive/view/219520</a:t>
            </a:r>
          </a:p>
          <a:p xmlns:a="http://schemas.openxmlformats.org/drawingml/2006/main">
            <a:r>
              <a:t>https://tvspb.ru/news/2016/09/27/novyij-sostav-parlamenta-kto-zajmet-kresla-v-zakonodatelnom-sobranii-vi-sozyiva</a:t>
            </a:r>
          </a:p>
          <a:p xmlns:a="http://schemas.openxmlformats.org/drawingml/2006/main">
            <a:r>
              <a:t>https://tass.ru/politika/20994233</a:t>
            </a:r>
          </a:p>
          <a:p xmlns:a="http://schemas.openxmlformats.org/drawingml/2006/main">
            <a:r>
              <a:t>https://www.zaks.ru/new/archive/view/265712</a:t>
            </a:r>
          </a:p>
          <a:p xmlns:a="http://schemas.openxmlformats.org/drawingml/2006/main">
            <a:r>
              <a:t>https://www.zaks.ru/new/archive/view/269374</a:t>
            </a:r>
          </a:p>
          <a:p xmlns:a="http://schemas.openxmlformats.org/drawingml/2006/main">
            <a:r>
              <a:t>https://www.dp.ru/a/2026/10/02/oksana-dmitrieva-proigrala</a:t>
            </a:r>
          </a:p>
          <a:p xmlns:a="http://schemas.openxmlformats.org/drawingml/2006/main">
            <a:r>
              <a:t>https://ru.wikipedia.org/wiki/%D0%9F%D0%B0%D1%80%D1%82%D0%B8%D1%8F_%D1%80%D0%BE%D1%81%D1%82%D0%B0</a:t>
            </a:r>
          </a:p>
          <a:p xmlns:a="http://schemas.openxmlformats.org/drawingml/2006/main">
            <a:r>
              <a:t>https://dmitrieva.org/category/gosduma/zakonoproekty/</a:t>
            </a:r>
          </a:p>
          <a:p xmlns:a="http://schemas.openxmlformats.org/drawingml/2006/main">
            <a:r>
              <a:t>https://t.me/s/oxdmitrieva?before=1072</a:t>
            </a:r>
          </a:p>
          <a:p xmlns:a="http://schemas.openxmlformats.org/drawingml/2006/main">
            <a:r>
              <a:t>http://api.duma.gov.ru/api/transcriptFull/2023-09-28</a:t>
            </a:r>
          </a:p>
          <a:p xmlns:a="http://schemas.openxmlformats.org/drawingml/2006/main">
            <a:r>
              <a:t>https://www.fontanka.ru/2026/09/04/76623983/</a:t>
            </a:r>
          </a:p>
          <a:p xmlns:a="http://schemas.openxmlformats.org/drawingml/2006/main">
            <a:r>
              <a:t>https://www.vedomosti.ru/politics/articles/2026/03/10/1181644-deputat-semi-sozivov-oksana-dmitrieva-snova-poidet-v-gosdumu</a:t>
            </a:r>
          </a:p>
          <a:p xmlns:a="http://schemas.openxmlformats.org/drawingml/2006/main">
            <a:r>
              <a:t>https://www.kommersant.ru/doc/8497588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Рассчитанное пространство публичных политических образов российских политиков и заметных акторов за 2016–2026 годы структурировано по двум главным осям: первая противопоставляет антивоенную, оппозиционную и электорально-легитимистскую риторику — антизападной мобилизации, суверенитету и поддержке административного порядка; вторая различает институционально-коллективные и партийные стратегии — и конфронтационно-персонализированные, протестные стили публичности.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Выделено три кластера, для которых проверена устойчивость при фиксированных факторных координатах: группа институциональной поддержки курса и партийной централизации, антивоенная оппозиция с акцентом на электоральную легитимность и международную интеграцию, а также конфронтационная мобилизация с персонализированным стилем и протестной стратегией. Основные противопоставления проходят по линиям отношения к власти, способам легитимации, формам публичной риторики и организационной структуре.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Модель позволяет выявить устойчивые сочетания публичных позиций, риторических акцентов и стратегий действия, но не устанавливает причинно-следственных связей между ними. Она не даёт оснований для выводов о личных свойствах, электоральной поддержке или мотивах участников, а также не позволяет судить о распространённости тех или иных позиций в обществе в целом.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Ограничения анализа связаны с разведочным характером исследования, приближённостью линейной факторной модели к порядковым оценкам и условностью кластеризации. Группы могут возникать и в непрерывном пространстве, а устойчивость кластеров не гарантирует полноты охвата всех возможных публичных стратегий.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Интерпретация опирается только на реально выраженные и агрегированные свойства публичных образов, без привязки к партийным ярлыкам или именам. Не все возможные сочетания представлены в выборке, и модель не фиксирует статистическую значимость различий или их причинность.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Пограничных профилей: 3 из 63. Их свойства могут сочетать признаки нескольких групп.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Незаполненный сектор означает отсутствие такого профиля в выбранной выборке и корпусе. Международное сравнение требует единого словаря и сопоставимого отбора.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Числа: metadata.json, scores.csv, loadings.csv и утверждённая матрица оценок.</a:t>
            </a:r>
          </a:p>
          <a:p xmlns:a="http://schemas.openxmlformats.org/drawingml/2006/main">
            <a:r>
              <a:t>Изучаемое пространство: Публичный политический образ российских политиков и иных заметных политических акторов, включая деятелей за рубежом, активных хотя бы в части периода. Не рейтинг популярности..</a:t>
            </a:r>
          </a:p>
          <a:p xmlns:a="http://schemas.openxmlformats.org/drawingml/2006/main">
            <a:r>
              <a:t>Оценщик: llm_exploratory.</a:t>
            </a:r>
          </a:p>
          <a:p xmlns:a="http://schemas.openxmlformats.org/drawingml/2006/main">
            <a:r>
              <a:t>Исходные URL:</a:t>
            </a:r>
          </a:p>
          <a:p xmlns:a="http://schemas.openxmlformats.org/drawingml/2006/main">
            <a:r>
              <a:t>https://kremlin.ru/structure/president</a:t>
            </a:r>
          </a:p>
          <a:p xmlns:a="http://schemas.openxmlformats.org/drawingml/2006/main">
            <a:r>
              <a:t>http://www.special.kremlin.ru/events/president/transcripts/67843</a:t>
            </a:r>
          </a:p>
          <a:p xmlns:a="http://schemas.openxmlformats.org/drawingml/2006/main">
            <a:r>
              <a:t>http://en.kremlin.ru/events/president/news/70315</a:t>
            </a:r>
          </a:p>
          <a:p xmlns:a="http://schemas.openxmlformats.org/drawingml/2006/main">
            <a:r>
              <a:t>http://special.kremlin.ru/events/president/transcripts/70565</a:t>
            </a:r>
          </a:p>
          <a:p xmlns:a="http://schemas.openxmlformats.org/drawingml/2006/main">
            <a:r>
              <a:t>http://special.kremlin.ru/events/president/transcripts/72994</a:t>
            </a:r>
          </a:p>
          <a:p xmlns:a="http://schemas.openxmlformats.org/drawingml/2006/main">
            <a:r>
              <a:t>http://kremlin.ru/events/president/news/73585</a:t>
            </a:r>
          </a:p>
          <a:p xmlns:a="http://schemas.openxmlformats.org/drawingml/2006/main">
            <a:r>
              <a:t>http://special.kremlin.ru/events/president/transcripts/75762</a:t>
            </a:r>
          </a:p>
          <a:p xmlns:a="http://schemas.openxmlformats.org/drawingml/2006/main">
            <a:r>
              <a:t>http://www.special.kremlin.ru/events/president/transcripts/76899</a:t>
            </a:r>
          </a:p>
          <a:p xmlns:a="http://schemas.openxmlformats.org/drawingml/2006/main">
            <a:r>
              <a:t>http://special.kremlin.ru/events/president/transcripts/80017</a:t>
            </a:r>
          </a:p>
          <a:p xmlns:a="http://schemas.openxmlformats.org/drawingml/2006/main">
            <a:r>
              <a:t>http://www.special.kremlin.ru/events/president/transcripts/72084</a:t>
            </a:r>
          </a:p>
          <a:p xmlns:a="http://schemas.openxmlformats.org/drawingml/2006/main">
            <a:r>
              <a:t>http://www.special.kremlin.ru/events/president/transcripts/80172</a:t>
            </a:r>
          </a:p>
          <a:p xmlns:a="http://schemas.openxmlformats.org/drawingml/2006/main">
            <a:r>
              <a:t>https://www.diva-portal.org/smash/get/diva2:2035197/FULLTEXT01.pdf</a:t>
            </a:r>
          </a:p>
          <a:p xmlns:a="http://schemas.openxmlformats.org/drawingml/2006/main">
            <a:r>
              <a:t>https://www.reuters.com/world/what-know-about-russias-upcoming-parliamentary-election-2026-09-15/</a:t>
            </a:r>
          </a:p>
          <a:p xmlns:a="http://schemas.openxmlformats.org/drawingml/2006/main">
            <a:r>
              <a:t>https://www.reuters.com/world/europe/how-putin-may-leverage-predictable-outcome-russias-elections-2026-09-18/</a:t>
            </a:r>
          </a:p>
          <a:p xmlns:a="http://schemas.openxmlformats.org/drawingml/2006/main">
            <a:r>
              <a:t>https://ru.wikipedia.org/wiki/Медведев,_Дмитрий_Анатольевич</a:t>
            </a:r>
          </a:p>
          <a:p xmlns:a="http://schemas.openxmlformats.org/drawingml/2006/main">
            <a:r>
              <a:t>https://tass.ru/ekonomika/3941450</a:t>
            </a:r>
          </a:p>
          <a:p xmlns:a="http://schemas.openxmlformats.org/drawingml/2006/main">
            <a:r>
              <a:t>http://archive.government.ru/docs/21653/print/</a:t>
            </a:r>
          </a:p>
          <a:p xmlns:a="http://schemas.openxmlformats.org/drawingml/2006/main">
            <a:r>
              <a:t>https://netfreedom.org.ua/ru/dmytro-anatoliiovych-medvediev-biohrafiia-posady-i-sanktsii/</a:t>
            </a:r>
          </a:p>
          <a:p xmlns:a="http://schemas.openxmlformats.org/drawingml/2006/main">
            <a:r>
              <a:t>https://verstka.media/czeli-svo-kak-kreml-menyal-ih-na-protyazhenii-tryoh-let-vojny</a:t>
            </a:r>
          </a:p>
          <a:p xmlns:a="http://schemas.openxmlformats.org/drawingml/2006/main">
            <a:r>
              <a:t>http://www.scrf.gov.ru/news/allnews/3820/</a:t>
            </a:r>
          </a:p>
          <a:p xmlns:a="http://schemas.openxmlformats.org/drawingml/2006/main">
            <a:r>
              <a:t>http://scrf.gov.ru/news/allnews/3837/</a:t>
            </a:r>
          </a:p>
          <a:p xmlns:a="http://schemas.openxmlformats.org/drawingml/2006/main">
            <a:r>
              <a:t>https://baike.baidu.com/ru/item/%D0%94%D0%BC%D0%B8%D1%82%D1%80%D0%B8%D0%B9%20%D0%90%D0%BD%D0%B0%D1%82%D0%BE%D0%BB%D1%8C%D0%B5%D0%B2%D0%B8%D1%87%20%D0%9C%D0%B5%D0%B4%D0%B2%D0%B5%D0%B4%D0%B5%D0%B2/3254451</a:t>
            </a:r>
          </a:p>
          <a:p xmlns:a="http://schemas.openxmlformats.org/drawingml/2006/main">
            <a:r>
              <a:t>https://tass.ru/politika/5889577</a:t>
            </a:r>
          </a:p>
          <a:p xmlns:a="http://schemas.openxmlformats.org/drawingml/2006/main">
            <a:r>
              <a:t>https://meduza.io/feature/2023/06/26/chto-proizoshlo-s-dmitriem-medvedevym</a:t>
            </a:r>
          </a:p>
          <a:p xmlns:a="http://schemas.openxmlformats.org/drawingml/2006/main">
            <a:r>
              <a:t>https://www.bbc.com/russian/articles/c6evw7d22lv0o</a:t>
            </a:r>
          </a:p>
          <a:p xmlns:a="http://schemas.openxmlformats.org/drawingml/2006/main">
            <a:r>
              <a:t>https://er.ru/activity/news/dmitrij-medvedev-edinaya-rossiya-ne-dopustit-razrusheniya-cennostnyh-osnov-strany</a:t>
            </a:r>
          </a:p>
          <a:p xmlns:a="http://schemas.openxmlformats.org/drawingml/2006/main">
            <a:r>
              <a:t>https://en.wikipedia.org/wiki/Media_freedom_in_Russia</a:t>
            </a:r>
          </a:p>
          <a:p xmlns:a="http://schemas.openxmlformats.org/drawingml/2006/main">
            <a:r>
              <a:t>https://government.ru/gov/persons/151/travel/?area=KHA</a:t>
            </a:r>
          </a:p>
          <a:p xmlns:a="http://schemas.openxmlformats.org/drawingml/2006/main">
            <a:r>
              <a:t>http://government.ru/gov/persons/151/biography/</a:t>
            </a:r>
          </a:p>
          <a:p xmlns:a="http://schemas.openxmlformats.org/drawingml/2006/main">
            <a:r>
              <a:t>https://www.reuters.com/world/europe/who-is-russias-mikhail-mishustin-2024-05-10/</a:t>
            </a:r>
          </a:p>
          <a:p xmlns:a="http://schemas.openxmlformats.org/drawingml/2006/main">
            <a:r>
              <a:t>https://www.kommersant.ru/doc/4220798</a:t>
            </a:r>
          </a:p>
          <a:p xmlns:a="http://schemas.openxmlformats.org/drawingml/2006/main">
            <a:r>
              <a:t>https://www.vedomosti.ru/politics/galleries/2026/03/03/1179718-nalogi-pod-kontrolem</a:t>
            </a:r>
          </a:p>
          <a:p xmlns:a="http://schemas.openxmlformats.org/drawingml/2006/main">
            <a:r>
              <a:t>http://government.ru/gov/persons/151/travel/?page=5</a:t>
            </a:r>
          </a:p>
          <a:p xmlns:a="http://schemas.openxmlformats.org/drawingml/2006/main">
            <a:r>
              <a:t>http://government.ru/news/46476/</a:t>
            </a:r>
          </a:p>
          <a:p xmlns:a="http://schemas.openxmlformats.org/drawingml/2006/main">
            <a:r>
              <a:t>http://government.ru/news/52063/</a:t>
            </a:r>
          </a:p>
          <a:p xmlns:a="http://schemas.openxmlformats.org/drawingml/2006/main">
            <a:r>
              <a:t>http://government.ru/news/52851/</a:t>
            </a:r>
          </a:p>
          <a:p xmlns:a="http://schemas.openxmlformats.org/drawingml/2006/main">
            <a:r>
              <a:t>https://nangs.org/news/society/kabmin-privlek-otdelnye-gosorgany-k-ukrepleniyu-traditsionnykh-tsennostej</a:t>
            </a:r>
          </a:p>
          <a:p xmlns:a="http://schemas.openxmlformats.org/drawingml/2006/main">
            <a:r>
              <a:t>http://government.ru/news/57315/</a:t>
            </a:r>
          </a:p>
          <a:p xmlns:a="http://schemas.openxmlformats.org/drawingml/2006/main">
            <a:r>
              <a:t>https://www.rbc.ru/person/617bf30d9a7947f92ee2d266</a:t>
            </a:r>
          </a:p>
          <a:p xmlns:a="http://schemas.openxmlformats.org/drawingml/2006/main">
            <a:r>
              <a:t>https://mid.ru/ru/press_service/video/view/1848395/</a:t>
            </a:r>
          </a:p>
          <a:p xmlns:a="http://schemas.openxmlformats.org/drawingml/2006/main">
            <a:r>
              <a:t>https://mid.ru/ru/foreign_policy/international_organizations/1932076/</a:t>
            </a:r>
          </a:p>
          <a:p xmlns:a="http://schemas.openxmlformats.org/drawingml/2006/main">
            <a:r>
              <a:t>https://mid.ru/ru/press_service/minister_speeches/1991476/</a:t>
            </a:r>
          </a:p>
          <a:p xmlns:a="http://schemas.openxmlformats.org/drawingml/2006/main">
            <a:r>
              <a:t>https://www.mid.ru/ru/press_service/vizity-ministra/1922112/</a:t>
            </a:r>
          </a:p>
          <a:p xmlns:a="http://schemas.openxmlformats.org/drawingml/2006/main">
            <a:r>
              <a:t>https://www.mid.ru/ru/foreign_policy/news/1927568/</a:t>
            </a:r>
          </a:p>
          <a:p xmlns:a="http://schemas.openxmlformats.org/drawingml/2006/main">
            <a:r>
              <a:t>https://mid.ru/ru/foreign_policy/news/1912973/</a:t>
            </a:r>
          </a:p>
          <a:p xmlns:a="http://schemas.openxmlformats.org/drawingml/2006/main">
            <a:r>
              <a:t>https://www.reuters.com/world/europe/russias-lavrov-says-moscow-committed-us-proposals-peace-rejects-europes-2026-06-15/</a:t>
            </a:r>
          </a:p>
          <a:p xmlns:a="http://schemas.openxmlformats.org/drawingml/2006/main">
            <a:r>
              <a:t>https://www.reuters.com/world/lavrov-says-russia-is-ready-resume-talks-with-ukraine-point-where-they-left-off-2026-06-23/</a:t>
            </a:r>
          </a:p>
          <a:p xmlns:a="http://schemas.openxmlformats.org/drawingml/2006/main">
            <a:r>
              <a:t>https://mid.ru/ru/press_service/video/view/1799184/</a:t>
            </a:r>
          </a:p>
          <a:p xmlns:a="http://schemas.openxmlformats.org/drawingml/2006/main">
            <a:r>
              <a:t>https://en.wikipedia.org/wiki/Sergey_Lavrov</a:t>
            </a:r>
          </a:p>
          <a:p xmlns:a="http://schemas.openxmlformats.org/drawingml/2006/main">
            <a:r>
              <a:t>https://www.garant.ru/products/ipo/prime/doc/70627660/</a:t>
            </a:r>
          </a:p>
          <a:p xmlns:a="http://schemas.openxmlformats.org/drawingml/2006/main">
            <a:r>
              <a:t>https://www.rbc.ru/person/617fc0679a794761d6170b80</a:t>
            </a:r>
          </a:p>
          <a:p xmlns:a="http://schemas.openxmlformats.org/drawingml/2006/main">
            <a:r>
              <a:t>http://www.kremlin.ru/acts/bank/50544</a:t>
            </a:r>
          </a:p>
          <a:p xmlns:a="http://schemas.openxmlformats.org/drawingml/2006/main">
            <a:r>
              <a:t>http://special.kremlin.ru/events/president/news/74019</a:t>
            </a:r>
          </a:p>
          <a:p xmlns:a="http://schemas.openxmlformats.org/drawingml/2006/main">
            <a:r>
              <a:t>https://www.interfax.ru/russia/960081</a:t>
            </a:r>
          </a:p>
          <a:p xmlns:a="http://schemas.openxmlformats.org/drawingml/2006/main">
            <a:r>
              <a:t>https://www.rbc.ru/politics/21/09/2022/632ab17c9a794781413c8582</a:t>
            </a:r>
          </a:p>
          <a:p xmlns:a="http://schemas.openxmlformats.org/drawingml/2006/main">
            <a:r>
              <a:t>https://www.bbc.com/russian/articles/c72p0jq04gjo</a:t>
            </a:r>
          </a:p>
          <a:p xmlns:a="http://schemas.openxmlformats.org/drawingml/2006/main">
            <a:r>
              <a:t>https://meduza.io/feature/2024/05/12/putin-uvolil-shoygu-s-posta-ministra-oborony-i-perevel-v-sovbez</a:t>
            </a:r>
          </a:p>
          <a:p xmlns:a="http://schemas.openxmlformats.org/drawingml/2006/main">
            <a:r>
              <a:t>https://paodkb.org/events/sergey-shoygu-naznachen-sekretarem-soveta-bezopasnosti-rf</a:t>
            </a:r>
          </a:p>
          <a:p xmlns:a="http://schemas.openxmlformats.org/drawingml/2006/main">
            <a:r>
              <a:t>https://base.garant.ru/409005084/</a:t>
            </a:r>
          </a:p>
          <a:p xmlns:a="http://schemas.openxmlformats.org/drawingml/2006/main">
            <a:r>
              <a:t>http://special.kremlin.ru/supplement/6345</a:t>
            </a:r>
          </a:p>
          <a:p xmlns:a="http://schemas.openxmlformats.org/drawingml/2006/main">
            <a:r>
              <a:t>http://en.kremlin.ru/supplement/6345</a:t>
            </a:r>
          </a:p>
          <a:p xmlns:a="http://schemas.openxmlformats.org/drawingml/2006/main">
            <a:r>
              <a:t>https://www.kp.ru/daily/27656.5/5040576/</a:t>
            </a:r>
          </a:p>
          <a:p xmlns:a="http://schemas.openxmlformats.org/drawingml/2006/main">
            <a:r>
              <a:t>https://www.fontanka.ru/2025/06/10/75574928/</a:t>
            </a:r>
          </a:p>
          <a:p xmlns:a="http://schemas.openxmlformats.org/drawingml/2006/main">
            <a:r>
              <a:t>https://tass.ru/politika/25506737</a:t>
            </a:r>
          </a:p>
          <a:p xmlns:a="http://schemas.openxmlformats.org/drawingml/2006/main">
            <a:r>
              <a:t>https://www.rbc.ru/person/6181419c9a7947df128a22f7</a:t>
            </a:r>
          </a:p>
          <a:p xmlns:a="http://schemas.openxmlformats.org/drawingml/2006/main">
            <a:r>
              <a:t>https://www.rbc.ru/economics/31/05/2021/60b3de5d9a7947f2883f7aa0</a:t>
            </a:r>
          </a:p>
          <a:p xmlns:a="http://schemas.openxmlformats.org/drawingml/2006/main">
            <a:r>
              <a:t>https://www.rbc.ru/politics/13/05/2024/6641109a9a7947ab8eebcf7f</a:t>
            </a:r>
          </a:p>
          <a:p xmlns:a="http://schemas.openxmlformats.org/drawingml/2006/main">
            <a:r>
              <a:t>https://www.rbc.ru/business/13/06/2023/6482d3389a79473805ee8978</a:t>
            </a:r>
          </a:p>
          <a:p xmlns:a="http://schemas.openxmlformats.org/drawingml/2006/main">
            <a:r>
              <a:t>https://thebell.io/kuda-vedet-ekonomiku-andrej-belousov-zagadki-dmitriya-medvedeva-i-sposoby-perezhit-sanktsii</a:t>
            </a:r>
          </a:p>
          <a:p xmlns:a="http://schemas.openxmlformats.org/drawingml/2006/main">
            <a:r>
              <a:t>https://72.ru/text/politics/2024/05/14/73575386/</a:t>
            </a:r>
          </a:p>
          <a:p xmlns:a="http://schemas.openxmlformats.org/drawingml/2006/main">
            <a:r>
              <a:t>https://tass.ru/armiya-i-opk/22683223</a:t>
            </a:r>
          </a:p>
          <a:p xmlns:a="http://schemas.openxmlformats.org/drawingml/2006/main">
            <a:r>
              <a:t>https://www.rbc.ru/society/12/12/2017/5a2f9b5a9a79473649fe0042</a:t>
            </a:r>
          </a:p>
          <a:p xmlns:a="http://schemas.openxmlformats.org/drawingml/2006/main">
            <a:r>
              <a:t>https://www.istorex.org/post/russia-december-2024-february-2025</a:t>
            </a:r>
          </a:p>
          <a:p xmlns:a="http://schemas.openxmlformats.org/drawingml/2006/main">
            <a:r>
              <a:t>https://rosinform.ru/news/andrej-belousov-osoboe-znachenie-pridayom-obespecheniyu-voennoj-bezopasnosti-soyuznogo-gosudarstva</a:t>
            </a:r>
          </a:p>
          <a:p xmlns:a="http://schemas.openxmlformats.org/drawingml/2006/main">
            <a:r>
              <a:t>https://xn--b1apnk.xn--p1ai/tpost/nsk7vo4xh1-vstrecha-s-ministrom-oboroni-rossii-i-os</a:t>
            </a:r>
          </a:p>
          <a:p xmlns:a="http://schemas.openxmlformats.org/drawingml/2006/main">
            <a:r>
              <a:t>https://www.rbc.ru/person/62d120d89a79475f0ddd8b5e</a:t>
            </a:r>
          </a:p>
          <a:p xmlns:a="http://schemas.openxmlformats.org/drawingml/2006/main">
            <a:r>
              <a:t>http://scrf.gov.ru/news/allnews/2148/</a:t>
            </a:r>
          </a:p>
          <a:p xmlns:a="http://schemas.openxmlformats.org/drawingml/2006/main">
            <a:r>
              <a:t>https://www.rbc.ru/politics/14/05/2024/6643287b9a7947a8f0b8ba78</a:t>
            </a:r>
          </a:p>
          <a:p xmlns:a="http://schemas.openxmlformats.org/drawingml/2006/main">
            <a:r>
              <a:t>https://tass.ru/info/20789699</a:t>
            </a:r>
          </a:p>
          <a:p xmlns:a="http://schemas.openxmlformats.org/drawingml/2006/main">
            <a:r>
              <a:t>https://marine.org.ru/structure/person/56/</a:t>
            </a:r>
          </a:p>
          <a:p xmlns:a="http://schemas.openxmlformats.org/drawingml/2006/main">
            <a:r>
              <a:t>https://marine.org.ru/publication/smi/16108/</a:t>
            </a:r>
          </a:p>
          <a:p xmlns:a="http://schemas.openxmlformats.org/drawingml/2006/main">
            <a:r>
              <a:t>https://www.svoboda.org/a/30676123.html</a:t>
            </a:r>
          </a:p>
          <a:p xmlns:a="http://schemas.openxmlformats.org/drawingml/2006/main">
            <a:r>
              <a:t>https://aif.ru/society/safety/kuklovodstvo_k_deystviyu_nikolay_patrushev_o_metodah_cvetnyh_revolyuciy</a:t>
            </a:r>
          </a:p>
          <a:p xmlns:a="http://schemas.openxmlformats.org/drawingml/2006/main">
            <a:r>
              <a:t>https://vkrizis.info/vlast/czennosti-razmyvaniya/</a:t>
            </a:r>
          </a:p>
          <a:p xmlns:a="http://schemas.openxmlformats.org/drawingml/2006/main">
            <a:r>
              <a:t>https://infranomica.ru/2026/05/19/selskoe-hozyajstvo-est-rezultat-budet-i-pishha/</a:t>
            </a:r>
          </a:p>
          <a:p xmlns:a="http://schemas.openxmlformats.org/drawingml/2006/main">
            <a:r>
              <a:t>https://www.rbc.ru/person/660400989a79471b36dbb514</a:t>
            </a:r>
          </a:p>
          <a:p xmlns:a="http://schemas.openxmlformats.org/drawingml/2006/main">
            <a:r>
              <a:t>http://special.kremlin.ru/catalog/persons/100/events</a:t>
            </a:r>
          </a:p>
          <a:p xmlns:a="http://schemas.openxmlformats.org/drawingml/2006/main">
            <a:r>
              <a:t>https://nac.gov.ru/view/eb008ff4-1608-4b47-b2a9-3d604c1833c2</a:t>
            </a:r>
          </a:p>
          <a:p xmlns:a="http://schemas.openxmlformats.org/drawingml/2006/main">
            <a:r>
              <a:t>http://pfo.gov.ru/press/events/113336/</a:t>
            </a:r>
          </a:p>
          <a:p xmlns:a="http://schemas.openxmlformats.org/drawingml/2006/main">
            <a:r>
              <a:t>https://www.opensanctions.org/entities/Q516824/</a:t>
            </a:r>
          </a:p>
          <a:p xmlns:a="http://schemas.openxmlformats.org/drawingml/2006/main">
            <a:r>
              <a:t>https://www.agents.media/ssha-poprobuyut-vozobnovit-peregovory-o-mire-v-ukraine-cherez-glavu-fsb-che-vedomstvo-kak-schitaetsya-svoimi-dokladami-podtolknulo-putina-k-vojne/</a:t>
            </a:r>
          </a:p>
          <a:p xmlns:a="http://schemas.openxmlformats.org/drawingml/2006/main">
            <a:r>
              <a:t>https://letters.kremlin.ru/news/receptions/by-section/assignments/by-person/260</a:t>
            </a:r>
          </a:p>
          <a:p xmlns:a="http://schemas.openxmlformats.org/drawingml/2006/main">
            <a:r>
              <a:t>https://www.kommersant.ru/doc/3612580</a:t>
            </a:r>
          </a:p>
          <a:p xmlns:a="http://schemas.openxmlformats.org/drawingml/2006/main">
            <a:r>
              <a:t>https://fbk.info/ru/investigations/kirienko-kholyi-putina</a:t>
            </a:r>
          </a:p>
          <a:p xmlns:a="http://schemas.openxmlformats.org/drawingml/2006/main">
            <a:r>
              <a:t>https://utro02.tv/2022/05/24/kolebaniya-kirienok/</a:t>
            </a:r>
          </a:p>
          <a:p xmlns:a="http://schemas.openxmlformats.org/drawingml/2006/main">
            <a:r>
              <a:t>https://meduza.io/feature/2023/12/19/on-peresidel-v-svoem-kresle-v-kremle-i-pravitelstve-obsuzhdayut-chto-sergey-kirienko-mozhet-lishitsya-dolzhnosti-v-ap-posle-vyborov-prezidenta</a:t>
            </a:r>
          </a:p>
          <a:p xmlns:a="http://schemas.openxmlformats.org/drawingml/2006/main">
            <a:r>
              <a:t>https://verstka.media/kak-rossiya-prodvigaet-svoyu-molodezhnuyu-politiku-na-okkupirovannyh-territoriyah</a:t>
            </a:r>
          </a:p>
          <a:p xmlns:a="http://schemas.openxmlformats.org/drawingml/2006/main">
            <a:r>
              <a:t>https://dnrnews.ru/society/2025/09/04/1167117.html</a:t>
            </a:r>
          </a:p>
          <a:p xmlns:a="http://schemas.openxmlformats.org/drawingml/2006/main">
            <a:r>
              <a:t>https://www.tadviser.ru/index.php/%D0%9F%D0%B5%D1%80%D1%81%D0%BE%D0%BD%D0%B0:%D0%9A%D0%B8%D1%80%D0%B8%D0%B5%D0%BD%D0%BA%D0%BE_%D0%A1%D0%B5%D1%80%D0%B3%D0%B5%D0%B9_%D0%92%D0%BB%D0%B0%D0%B4%D0%B8%D0%BB%D0%B5%D0%BD%D0%BE%D0%B2%D0%B8%D1%87</a:t>
            </a:r>
          </a:p>
          <a:p xmlns:a="http://schemas.openxmlformats.org/drawingml/2006/main">
            <a:r>
              <a:t>https://tass.ru/politika/18225741</a:t>
            </a:r>
          </a:p>
          <a:p xmlns:a="http://schemas.openxmlformats.org/drawingml/2006/main">
            <a:r>
              <a:t>https://www.kommersant.ru/doc/6187168</a:t>
            </a:r>
          </a:p>
          <a:p xmlns:a="http://schemas.openxmlformats.org/drawingml/2006/main">
            <a:r>
              <a:t>https://duma.gov.ru/news/63383/</a:t>
            </a:r>
          </a:p>
          <a:p xmlns:a="http://schemas.openxmlformats.org/drawingml/2006/main">
            <a:r>
              <a:t>http://duma.gov.ru/en/duma/persons/99100829/news/</a:t>
            </a:r>
          </a:p>
          <a:p xmlns:a="http://schemas.openxmlformats.org/drawingml/2006/main">
            <a:r>
              <a:t>http://duma.gov.ru/en/news/62248/</a:t>
            </a:r>
          </a:p>
          <a:p xmlns:a="http://schemas.openxmlformats.org/drawingml/2006/main">
            <a:r>
              <a:t>http://duma.gov.ru/en/news/61352/</a:t>
            </a:r>
          </a:p>
          <a:p xmlns:a="http://schemas.openxmlformats.org/drawingml/2006/main">
            <a:r>
              <a:t>http://duma.gov.ru/en/news/64178/</a:t>
            </a:r>
          </a:p>
          <a:p xmlns:a="http://schemas.openxmlformats.org/drawingml/2006/main">
            <a:r>
              <a:t>http://duma.gov.ru/en/news/64216</a:t>
            </a:r>
          </a:p>
          <a:p xmlns:a="http://schemas.openxmlformats.org/drawingml/2006/main">
            <a:r>
              <a:t>http://duma.gov.ru/en/news/64239</a:t>
            </a:r>
          </a:p>
          <a:p xmlns:a="http://schemas.openxmlformats.org/drawingml/2006/main">
            <a:r>
              <a:t>https://en.wikipedia.org/wiki/Vyacheslav_Volodin</a:t>
            </a:r>
          </a:p>
          <a:p xmlns:a="http://schemas.openxmlformats.org/drawingml/2006/main">
            <a:r>
              <a:t>http://duma.gov.ru/news/56060/</a:t>
            </a:r>
          </a:p>
          <a:p xmlns:a="http://schemas.openxmlformats.org/drawingml/2006/main">
            <a:r>
              <a:t>http://duma.gov.ru/news/60448/</a:t>
            </a:r>
          </a:p>
          <a:p xmlns:a="http://schemas.openxmlformats.org/drawingml/2006/main">
            <a:r>
              <a:t>http://duma.gov.ru/news/61362/</a:t>
            </a:r>
          </a:p>
          <a:p xmlns:a="http://schemas.openxmlformats.org/drawingml/2006/main">
            <a:r>
              <a:t>http://duma.gov.ru/news/61384/</a:t>
            </a:r>
          </a:p>
          <a:p xmlns:a="http://schemas.openxmlformats.org/drawingml/2006/main">
            <a:r>
              <a:t>http://duma.gov.ru/news/61874/</a:t>
            </a:r>
          </a:p>
          <a:p xmlns:a="http://schemas.openxmlformats.org/drawingml/2006/main">
            <a:r>
              <a:t>http://duma.gov.ru/news/62022/</a:t>
            </a:r>
          </a:p>
          <a:p xmlns:a="http://schemas.openxmlformats.org/drawingml/2006/main">
            <a:r>
              <a:t>http://duma.gov.ru/news/63772/</a:t>
            </a:r>
          </a:p>
          <a:p xmlns:a="http://schemas.openxmlformats.org/drawingml/2006/main">
            <a:r>
              <a:t>https://council.gov.ru/events/news/160466/</a:t>
            </a:r>
          </a:p>
          <a:p xmlns:a="http://schemas.openxmlformats.org/drawingml/2006/main">
            <a:r>
              <a:t>http://council.gov.ru/structure/persons/257/</a:t>
            </a:r>
          </a:p>
          <a:p xmlns:a="http://schemas.openxmlformats.org/drawingml/2006/main">
            <a:r>
              <a:t>https://interaffairs.ru/news/show/16199</a:t>
            </a:r>
          </a:p>
          <a:p xmlns:a="http://schemas.openxmlformats.org/drawingml/2006/main">
            <a:r>
              <a:t>https://www.rbc.ru/person/617fb5ef9a79475c6cfc4502</a:t>
            </a:r>
          </a:p>
          <a:p xmlns:a="http://schemas.openxmlformats.org/drawingml/2006/main">
            <a:r>
              <a:t>https://vksrs.com/publications/matvienko-rasskazala-o-neobkhodimosti-protivostoyat-geroizatsii-natsistov/</a:t>
            </a:r>
          </a:p>
          <a:p xmlns:a="http://schemas.openxmlformats.org/drawingml/2006/main">
            <a:r>
              <a:t>https://absatz.media/politika/158438-valentine-matvienko-77-istoriya-uspeha-put-k-vershine-i-samye-yarkie-zayavleniya</a:t>
            </a:r>
          </a:p>
          <a:p xmlns:a="http://schemas.openxmlformats.org/drawingml/2006/main">
            <a:r>
              <a:t>https://www.rbc.ru/society/14/10/2026/6acf597c9a794743e0478a15?from=short_news</a:t>
            </a:r>
          </a:p>
          <a:p xmlns:a="http://schemas.openxmlformats.org/drawingml/2006/main">
            <a:r>
              <a:t>https://senatinform.ru/news/sf_stremitsya_byt_maksimalno_otkrytym_dlya_raboty_zhurnalistov_matvienko/</a:t>
            </a:r>
          </a:p>
          <a:p xmlns:a="http://schemas.openxmlformats.org/drawingml/2006/main">
            <a:r>
              <a:t>https://eparlament.irzs.ru/Files/getFile/11853</a:t>
            </a:r>
          </a:p>
          <a:p xmlns:a="http://schemas.openxmlformats.org/drawingml/2006/main">
            <a:r>
              <a:t>http://special.council.gov.ru/activity/meetings/170703/transcript/</a:t>
            </a:r>
          </a:p>
          <a:p xmlns:a="http://schemas.openxmlformats.org/drawingml/2006/main">
            <a:r>
              <a:t>https://bookonlime.ru/lecture/12-razvitie-ekonomicheskih-otnosheniy-i-strategicheskoe-planirovanie-v-cifrovoy-ekonomike-2</a:t>
            </a:r>
          </a:p>
          <a:p xmlns:a="http://schemas.openxmlformats.org/drawingml/2006/main">
            <a:r>
              <a:t>https://ru.wikipedia.org/wiki/Песков,_Дмитрий_Сергеевич</a:t>
            </a:r>
          </a:p>
          <a:p xmlns:a="http://schemas.openxmlformats.org/drawingml/2006/main">
            <a:r>
              <a:t>https://www.reuters.com/world/europe/kremlin-says-ukraine-is-now-paying-price-its-own-attacks-russia-2026-09-28/</a:t>
            </a:r>
          </a:p>
          <a:p xmlns:a="http://schemas.openxmlformats.org/drawingml/2006/main">
            <a:r>
              <a:t>https://www.reuters.com/world/europe/kremlin-rejects-le-penbardella-rebuke-says-russia-is-no-threat-france-2026-09-21/</a:t>
            </a:r>
          </a:p>
          <a:p xmlns:a="http://schemas.openxmlformats.org/drawingml/2006/main">
            <a:r>
              <a:t>https://theins.ru/antifake/295208</a:t>
            </a:r>
          </a:p>
          <a:p xmlns:a="http://schemas.openxmlformats.org/drawingml/2006/main">
            <a:r>
              <a:t>https://expert.ru/news/v-kremle-otvetili-na-slova-donalda-trampa-o-rossiyskom-vmeshatelstve</a:t>
            </a:r>
          </a:p>
          <a:p xmlns:a="http://schemas.openxmlformats.org/drawingml/2006/main">
            <a:r>
              <a:t>https://www.dw.com/ru/dmitrij-peskov/t-18146676/page-1</a:t>
            </a:r>
          </a:p>
          <a:p xmlns:a="http://schemas.openxmlformats.org/drawingml/2006/main">
            <a:r>
              <a:t>https://www.pnp.ru/person/dmitriy--peskov/</a:t>
            </a:r>
          </a:p>
          <a:p xmlns:a="http://schemas.openxmlformats.org/drawingml/2006/main">
            <a:r>
              <a:t>https://www.rbc.ua/ukr/dossier/peskov-19032015</a:t>
            </a:r>
          </a:p>
          <a:p xmlns:a="http://schemas.openxmlformats.org/drawingml/2006/main">
            <a:r>
              <a:t>https://www.rbc.ru/politics/12/10/2026/6accae3bb18f4460834ce063</a:t>
            </a:r>
          </a:p>
          <a:p xmlns:a="http://schemas.openxmlformats.org/drawingml/2006/main">
            <a:r>
              <a:t>https://tass.ru/politika/20355193</a:t>
            </a:r>
          </a:p>
          <a:p xmlns:a="http://schemas.openxmlformats.org/drawingml/2006/main">
            <a:r>
              <a:t>https://www.m24.ru/news/06052024/689412</a:t>
            </a:r>
          </a:p>
          <a:p xmlns:a="http://schemas.openxmlformats.org/drawingml/2006/main">
            <a:r>
              <a:t>http://www.kremlin.ru/acts/bank/48502</a:t>
            </a:r>
          </a:p>
          <a:p xmlns:a="http://schemas.openxmlformats.org/drawingml/2006/main">
            <a:r>
              <a:t>https://www.m24.ru/news/11022025/769070</a:t>
            </a:r>
          </a:p>
          <a:p xmlns:a="http://schemas.openxmlformats.org/drawingml/2006/main">
            <a:r>
              <a:t>https://www.m24.ru/news/23042026/894202</a:t>
            </a:r>
          </a:p>
          <a:p xmlns:a="http://schemas.openxmlformats.org/drawingml/2006/main">
            <a:r>
              <a:t>https://cbr.ru/about_br/nabiullinaes/</a:t>
            </a:r>
          </a:p>
          <a:p xmlns:a="http://schemas.openxmlformats.org/drawingml/2006/main">
            <a:r>
              <a:t>https://cbr.ru/press/event/?id=12840</a:t>
            </a:r>
          </a:p>
          <a:p xmlns:a="http://schemas.openxmlformats.org/drawingml/2006/main">
            <a:r>
              <a:t>https://www.cbr.ru/press/event/?id=12904</a:t>
            </a:r>
          </a:p>
          <a:p xmlns:a="http://schemas.openxmlformats.org/drawingml/2006/main">
            <a:r>
              <a:t>https://cbr.ru/press/event/?id=14033</a:t>
            </a:r>
          </a:p>
          <a:p xmlns:a="http://schemas.openxmlformats.org/drawingml/2006/main">
            <a:r>
              <a:t>https://www.cbr.ru/press/event/?id=12764</a:t>
            </a:r>
          </a:p>
          <a:p xmlns:a="http://schemas.openxmlformats.org/drawingml/2006/main">
            <a:r>
              <a:t>https://kazanfirst.ru/articles/534335</a:t>
            </a:r>
          </a:p>
          <a:p xmlns:a="http://schemas.openxmlformats.org/drawingml/2006/main">
            <a:r>
              <a:t>https://www.rbc.ru/person/65e831449a79476cbfd8e5fd</a:t>
            </a:r>
          </a:p>
          <a:p xmlns:a="http://schemas.openxmlformats.org/drawingml/2006/main">
            <a:r>
              <a:t>https://www.interfax.ru/russia/955290</a:t>
            </a:r>
          </a:p>
          <a:p xmlns:a="http://schemas.openxmlformats.org/drawingml/2006/main">
            <a:r>
              <a:t>https://minfin.gov.ru/ru/press-center/?id_4=38548-intervyu_ministra_finansov_antona_siluanova_gazete_argumenty_i_fakty</a:t>
            </a:r>
          </a:p>
          <a:p xmlns:a="http://schemas.openxmlformats.org/drawingml/2006/main">
            <a:r>
              <a:t>https://minfin.gov.ru/ru/press-center/?id_4=37667-vystuplenie_antona_siluanova_na_plenarnom_zasedanii_v_gosudarstvennoi_dume</a:t>
            </a:r>
          </a:p>
          <a:p xmlns:a="http://schemas.openxmlformats.org/drawingml/2006/main">
            <a:r>
              <a:t>https://www.rbc.ru/economics/24/10/2022/63529d159a7947efb82a59eb</a:t>
            </a:r>
          </a:p>
          <a:p xmlns:a="http://schemas.openxmlformats.org/drawingml/2006/main">
            <a:r>
              <a:t>https://www.rbc.ru/newspaper/2020/02/21/5e4e83289a79474bcf9f8cf9</a:t>
            </a:r>
          </a:p>
          <a:p xmlns:a="http://schemas.openxmlformats.org/drawingml/2006/main">
            <a:r>
              <a:t>https://www.rbc.ru/economics/20/02/2020/5e4e91919a79475559478893</a:t>
            </a:r>
          </a:p>
          <a:p xmlns:a="http://schemas.openxmlformats.org/drawingml/2006/main">
            <a:r>
              <a:t>https://minfin.gov.ru/ru/press-center/?id_4=39336-anton_siluanov_predstavil_na_parlamentskikh_slushaniyakh_v_sovete_federatsii_proekt_byudzheta_na_2025-2027_gg.</a:t>
            </a:r>
          </a:p>
          <a:p xmlns:a="http://schemas.openxmlformats.org/drawingml/2006/main">
            <a:r>
              <a:t>https://www.interfax.ru/amp/1035506</a:t>
            </a:r>
          </a:p>
          <a:p xmlns:a="http://schemas.openxmlformats.org/drawingml/2006/main">
            <a:r>
              <a:t>https://tass.ru/ekonomika/28198121</a:t>
            </a:r>
          </a:p>
          <a:p xmlns:a="http://schemas.openxmlformats.org/drawingml/2006/main">
            <a:r>
              <a:t>https://www.rbc.ru/person/65b9f4369a7947ec8a7f242a</a:t>
            </a:r>
          </a:p>
          <a:p xmlns:a="http://schemas.openxmlformats.org/drawingml/2006/main">
            <a:r>
              <a:t>https://www.bfm.ru/news/435050</a:t>
            </a:r>
          </a:p>
          <a:p xmlns:a="http://schemas.openxmlformats.org/drawingml/2006/main">
            <a:r>
              <a:t>https://ru.ruwiki.ru/wiki/%D0%93%D0%BE%D0%BB%D0%B8%D0%BA%D0%BE%D0%B2%D0%B0,_%D0%A2%D0%B0%D1%82%D1%8C%D1%8F%D0%BD%D0%B0_%D0%90%D0%BB%D0%B5%D0%BA%D1%81%D0%B5%D0%B5%D0%B2%D0%BD%D0%B0</a:t>
            </a:r>
          </a:p>
          <a:p xmlns:a="http://schemas.openxmlformats.org/drawingml/2006/main">
            <a:r>
              <a:t>http://www.kremlin.ru/events/president/transcripts/deliberations%20/77439</a:t>
            </a:r>
          </a:p>
          <a:p xmlns:a="http://schemas.openxmlformats.org/drawingml/2006/main">
            <a:r>
              <a:t>https://xn--90aivcdt6dxbc.xn--p1ai/articles/news/prezident-zdravookhranenie-zanimaet-klyuchevoe-mesto-v-sotsialnoy-politike-rossii/</a:t>
            </a:r>
          </a:p>
          <a:p xmlns:a="http://schemas.openxmlformats.org/drawingml/2006/main">
            <a:r>
              <a:t>https://xn--90aivcdt6dxbc.xn--p1ai/articles/news/tatyana-golikova-edinaya-rossiya-nadezhnyy-soyuznik-i-partner-pravitelstva/</a:t>
            </a:r>
          </a:p>
          <a:p xmlns:a="http://schemas.openxmlformats.org/drawingml/2006/main">
            <a:r>
              <a:t>http://government.ru/news/58648/</a:t>
            </a:r>
          </a:p>
          <a:p xmlns:a="http://schemas.openxmlformats.org/drawingml/2006/main">
            <a:r>
              <a:t>http://government.ru/news/54912/</a:t>
            </a:r>
          </a:p>
          <a:p xmlns:a="http://schemas.openxmlformats.org/drawingml/2006/main">
            <a:r>
              <a:t>http://government.ru/news/58000/</a:t>
            </a:r>
          </a:p>
          <a:p xmlns:a="http://schemas.openxmlformats.org/drawingml/2006/main">
            <a:r>
              <a:t>https://tass.ru/politika/28141547</a:t>
            </a:r>
          </a:p>
          <a:p xmlns:a="http://schemas.openxmlformats.org/drawingml/2006/main">
            <a:r>
              <a:t>https://duma.gov.ru/media/files/smUklOtuNPyzwTneQGCfFUHHIsilAqcm.pdf</a:t>
            </a:r>
          </a:p>
          <a:p xmlns:a="http://schemas.openxmlformats.org/drawingml/2006/main">
            <a:r>
              <a:t>https://kprf.ru/dep/gosduma/activities/187187.html</a:t>
            </a:r>
          </a:p>
          <a:p xmlns:a="http://schemas.openxmlformats.org/drawingml/2006/main">
            <a:r>
              <a:t>http://msk.kprf.ru/2022/08/22/222866/</a:t>
            </a:r>
          </a:p>
          <a:p xmlns:a="http://schemas.openxmlformats.org/drawingml/2006/main">
            <a:r>
              <a:t>https://kprf.ru/party-live/cknews/235903.html</a:t>
            </a:r>
          </a:p>
          <a:p xmlns:a="http://schemas.openxmlformats.org/drawingml/2006/main">
            <a:r>
              <a:t>https://kprf.ru/dep/gosduma/activities/236198.html/print</a:t>
            </a:r>
          </a:p>
          <a:p xmlns:a="http://schemas.openxmlformats.org/drawingml/2006/main">
            <a:r>
              <a:t>https://kprf.ru/dep/gosduma/activities/239812.html</a:t>
            </a:r>
          </a:p>
          <a:p xmlns:a="http://schemas.openxmlformats.org/drawingml/2006/main">
            <a:r>
              <a:t>https://kprf-don.ru/index.php/news/facts/12501-2025-09-15-12-58-35.html</a:t>
            </a:r>
          </a:p>
          <a:p xmlns:a="http://schemas.openxmlformats.org/drawingml/2006/main">
            <a:r>
              <a:t>https://kprf.ru/dep/gosduma/activities/237529.html</a:t>
            </a:r>
          </a:p>
          <a:p xmlns:a="http://schemas.openxmlformats.org/drawingml/2006/main">
            <a:r>
              <a:t>https://novayagazeta.ru/articles/2025/09/19/putin-udivilsia-khodu-zapushchennoi-im-vesnoi-munitsipalnoi-reformy-posle-slov-ziuganova-kak-regiony-dlia-nee-lomali-cherez-koleno-a-tatarstan-otkazalsia-ee-ispolniat-news</a:t>
            </a:r>
          </a:p>
          <a:p xmlns:a="http://schemas.openxmlformats.org/drawingml/2006/main">
            <a:r>
              <a:t>https://kprf.ru/official/2025/11/15/15-noiabria-2025-oda-sostoialsia-ii-noiabrskii-plenum-tsk-kprf/473.html</a:t>
            </a:r>
          </a:p>
          <a:p xmlns:a="http://schemas.openxmlformats.org/drawingml/2006/main">
            <a:r>
              <a:t>https://www.rbc.ru/person/617bfbb79a7947fc327a3bcb</a:t>
            </a:r>
          </a:p>
          <a:p xmlns:a="http://schemas.openxmlformats.org/drawingml/2006/main">
            <a:r>
              <a:t>https://www.bbc.com/russian/features-60873381</a:t>
            </a:r>
          </a:p>
          <a:p xmlns:a="http://schemas.openxmlformats.org/drawingml/2006/main">
            <a:r>
              <a:t>https://www.svoboda.org/a/umer-lider-partii-ldpr-vladimir-zhirinovskiy-nekrolog/31770134.html</a:t>
            </a:r>
          </a:p>
          <a:p xmlns:a="http://schemas.openxmlformats.org/drawingml/2006/main">
            <a:r>
              <a:t>https://www.rbc.ru/politics/06/04/2022/624d661b9a79473f7416fe26</a:t>
            </a:r>
          </a:p>
          <a:p xmlns:a="http://schemas.openxmlformats.org/drawingml/2006/main">
            <a:r>
              <a:t>https://tass.ru/politika/3392889</a:t>
            </a:r>
          </a:p>
          <a:p xmlns:a="http://schemas.openxmlformats.org/drawingml/2006/main">
            <a:r>
              <a:t>https://www.pnp.ru/politics/2016/06/28/v-centre-predvybornoy-programmy-ldpr-russkiy-vopros.html</a:t>
            </a:r>
          </a:p>
          <a:p xmlns:a="http://schemas.openxmlformats.org/drawingml/2006/main">
            <a:r>
              <a:t>https://ldpr.ru/party/history/</a:t>
            </a:r>
          </a:p>
          <a:p xmlns:a="http://schemas.openxmlformats.org/drawingml/2006/main">
            <a:r>
              <a:t>https://govoritmoskva.ru/interviews/1023/</a:t>
            </a:r>
          </a:p>
          <a:p xmlns:a="http://schemas.openxmlformats.org/drawingml/2006/main">
            <a:r>
              <a:t>https://www.gazeta.ru/politics/2017/03/17_a_10580999.shtml</a:t>
            </a:r>
          </a:p>
          <a:p xmlns:a="http://schemas.openxmlformats.org/drawingml/2006/main">
            <a:r>
              <a:t>https://ldpr.ru/upload/iblock/c88/1d6dstdexz6aw7dnwoubeobhr3mnwa1j/a799616e688866c49f2ef6b5b8cfe5c00d45080ae85ce0e5f6d36e2e010681d9.pdf</a:t>
            </a:r>
          </a:p>
          <a:p xmlns:a="http://schemas.openxmlformats.org/drawingml/2006/main">
            <a:r>
              <a:t>https://www.kommersant.ru/doc/3579566</a:t>
            </a:r>
          </a:p>
          <a:p xmlns:a="http://schemas.openxmlformats.org/drawingml/2006/main">
            <a:r>
              <a:t>https://spb.ldpr.ru/event/243915/</a:t>
            </a:r>
          </a:p>
          <a:p xmlns:a="http://schemas.openxmlformats.org/drawingml/2006/main">
            <a:r>
              <a:t>https://kursk.ldpr.ru/event/341398</a:t>
            </a:r>
          </a:p>
          <a:p xmlns:a="http://schemas.openxmlformats.org/drawingml/2006/main">
            <a:r>
              <a:t>https://cyberleninka.ru/article/n/sravnitelnyy-analiz-predvybornyh-programm-ldpr-na-vyborah-2021-g-i-l-e-slutskogo-na-vyborah-2024-g</a:t>
            </a:r>
          </a:p>
          <a:p xmlns:a="http://schemas.openxmlformats.org/drawingml/2006/main">
            <a:r>
              <a:t>https://kcr.ldpr.ru/event/347999/</a:t>
            </a:r>
          </a:p>
          <a:p xmlns:a="http://schemas.openxmlformats.org/drawingml/2006/main">
            <a:r>
              <a:t>https://msknews77.ru/society/2025/09/25/73500.html</a:t>
            </a:r>
          </a:p>
          <a:p xmlns:a="http://schemas.openxmlformats.org/drawingml/2006/main">
            <a:r>
              <a:t>https://bagaevka-press.ru/besplatnyj-zemelnyj-uchastok-dlya-semej-inicziativa-ldpr/</a:t>
            </a:r>
          </a:p>
          <a:p xmlns:a="http://schemas.openxmlformats.org/drawingml/2006/main">
            <a:r>
              <a:t>https://ldpr.ru/event/437527/</a:t>
            </a:r>
          </a:p>
          <a:p xmlns:a="http://schemas.openxmlformats.org/drawingml/2006/main">
            <a:r>
              <a:t>https://rg62.info/2025/11/01/leonid-sluczkij-vstupilsya-za-multserial-masha-i-medved/</a:t>
            </a:r>
          </a:p>
          <a:p xmlns:a="http://schemas.openxmlformats.org/drawingml/2006/main">
            <a:r>
              <a:t>https://mironov.ru/officially</a:t>
            </a:r>
          </a:p>
          <a:p xmlns:a="http://schemas.openxmlformats.org/drawingml/2006/main">
            <a:r>
              <a:t>https://mironov.ru/bio</a:t>
            </a:r>
          </a:p>
          <a:p xmlns:a="http://schemas.openxmlformats.org/drawingml/2006/main">
            <a:r>
              <a:t>https://mironov-online.ru/category/zayavleniya/</a:t>
            </a:r>
          </a:p>
          <a:p xmlns:a="http://schemas.openxmlformats.org/drawingml/2006/main">
            <a:r>
              <a:t>https://www.rbc.ru/person/69806d279a7947baf86c32c5</a:t>
            </a:r>
          </a:p>
          <a:p xmlns:a="http://schemas.openxmlformats.org/drawingml/2006/main">
            <a:r>
              <a:t>https://spravedlivo.ru/16303010</a:t>
            </a:r>
          </a:p>
          <a:p xmlns:a="http://schemas.openxmlformats.org/drawingml/2006/main">
            <a:r>
              <a:t>http://mironov.ru/15133910</a:t>
            </a:r>
          </a:p>
          <a:p xmlns:a="http://schemas.openxmlformats.org/drawingml/2006/main">
            <a:r>
              <a:t>http://www.special.spravedlivo.ru/5_140609.html</a:t>
            </a:r>
          </a:p>
          <a:p xmlns:a="http://schemas.openxmlformats.org/drawingml/2006/main">
            <a:r>
              <a:t>https://spravedlivo.ru/14681110</a:t>
            </a:r>
          </a:p>
          <a:p xmlns:a="http://schemas.openxmlformats.org/drawingml/2006/main">
            <a:r>
              <a:t>https://radiokp.ru/podcast/dialogi-na-radio-kp/759263</a:t>
            </a:r>
          </a:p>
          <a:p xmlns:a="http://schemas.openxmlformats.org/drawingml/2006/main">
            <a:r>
              <a:t>https://mironov.ru/51339910</a:t>
            </a:r>
          </a:p>
          <a:p xmlns:a="http://schemas.openxmlformats.org/drawingml/2006/main">
            <a:r>
              <a:t>https://mironov-online.ru/news/mironov-na-ukraine-idet-bitva-za-budushhee-vsego-chelovechestva-i-pobeda-v-nej-budet-za-rossiej/</a:t>
            </a:r>
          </a:p>
          <a:p xmlns:a="http://schemas.openxmlformats.org/drawingml/2006/main">
            <a:r>
              <a:t>https://spravedlivo.ru/12544510</a:t>
            </a:r>
          </a:p>
          <a:p xmlns:a="http://schemas.openxmlformats.org/drawingml/2006/main">
            <a:r>
              <a:t>https://www.rbc.ru/person/6aa3ef199a79475758621730</a:t>
            </a:r>
          </a:p>
          <a:p xmlns:a="http://schemas.openxmlformats.org/drawingml/2006/main">
            <a:r>
              <a:t>https://www.rbc.ru/politics/24/09/2021/614da73f9a7947b5e3d9399f</a:t>
            </a:r>
          </a:p>
          <a:p xmlns:a="http://schemas.openxmlformats.org/drawingml/2006/main">
            <a:r>
              <a:t>https://amp.rbc.ru/rbcnews/base/14/08/2026/6a957dfb9a79476ae3d823ba</a:t>
            </a:r>
          </a:p>
          <a:p xmlns:a="http://schemas.openxmlformats.org/drawingml/2006/main">
            <a:r>
              <a:t>https://en.wikipedia.org/wiki/Alexey_Nechayev</a:t>
            </a:r>
          </a:p>
          <a:p xmlns:a="http://schemas.openxmlformats.org/drawingml/2006/main">
            <a:r>
              <a:t>https://www.gazeta.ru/politics/23422027/novye-lyudi-na-vyborah-2026-goda.shtml</a:t>
            </a:r>
          </a:p>
          <a:p xmlns:a="http://schemas.openxmlformats.org/drawingml/2006/main">
            <a:r>
              <a:t>https://vremya-bir.ru/2026/03/07/dvenadtsat-shagov-k-strane-v-kotoroj-hochetsya-zhit/</a:t>
            </a:r>
          </a:p>
          <a:p xmlns:a="http://schemas.openxmlformats.org/drawingml/2006/main">
            <a:r>
              <a:t>https://www.rbc.ru/politics/08/09/2026/6aa023ec9a79471e4fd55d3c</a:t>
            </a:r>
          </a:p>
          <a:p xmlns:a="http://schemas.openxmlformats.org/drawingml/2006/main">
            <a:r>
              <a:t>https://www.interfax.ru/interview/1074248</a:t>
            </a:r>
          </a:p>
          <a:p xmlns:a="http://schemas.openxmlformats.org/drawingml/2006/main">
            <a:r>
              <a:t>https://www.interfax.ru/amp/1074248</a:t>
            </a:r>
          </a:p>
          <a:p xmlns:a="http://schemas.openxmlformats.org/drawingml/2006/main">
            <a:r>
              <a:t>https://www.vedomosti.ru/politics/articles/2026/09/09/1227352-novie-lyudi-sformulirovali-programmu</a:t>
            </a:r>
          </a:p>
          <a:p xmlns:a="http://schemas.openxmlformats.org/drawingml/2006/main">
            <a:r>
              <a:t>https://dddkursk.ru/lenta/2026/07/30/129483/</a:t>
            </a:r>
          </a:p>
          <a:p xmlns:a="http://schemas.openxmlformats.org/drawingml/2006/main">
            <a:r>
              <a:t>https://volga.news/article/803292.html</a:t>
            </a:r>
          </a:p>
          <a:p xmlns:a="http://schemas.openxmlformats.org/drawingml/2006/main">
            <a:r>
              <a:t>https://ru.wikipedia.org/wiki/%D0%9D%D0%B5%D1%87%D0%B0%D0%B5%D0%B2,_%D0%90%D0%BB%D0%B5%D0%BA%D1%81%D0%B5%D0%B9_%D0%93%D0%B5%D0%BD%D0%BD%D0%B0%D0%B4%D1%8C%D0%B5%D0%B2%D0%B8%D1%87</a:t>
            </a:r>
          </a:p>
          <a:p xmlns:a="http://schemas.openxmlformats.org/drawingml/2006/main">
            <a:r>
              <a:t>https://www.davankov2024.ru/page_biography/</a:t>
            </a:r>
          </a:p>
          <a:p xmlns:a="http://schemas.openxmlformats.org/drawingml/2006/main">
            <a:r>
              <a:t>https://davankov2024.ru/program</a:t>
            </a:r>
          </a:p>
          <a:p xmlns:a="http://schemas.openxmlformats.org/drawingml/2006/main">
            <a:r>
              <a:t>http://vote.duma.gov.ru/?convocation=AAAAAAA8&amp;deputy=99113489&amp;sort=date_desc</a:t>
            </a:r>
          </a:p>
          <a:p xmlns:a="http://schemas.openxmlformats.org/drawingml/2006/main">
            <a:r>
              <a:t>https://holod.media/2024/02/14/vladislav-davankov/</a:t>
            </a:r>
          </a:p>
          <a:p xmlns:a="http://schemas.openxmlformats.org/drawingml/2006/main">
            <a:r>
              <a:t>https://davankov2024.ru/</a:t>
            </a:r>
          </a:p>
          <a:p xmlns:a="http://schemas.openxmlformats.org/drawingml/2006/main">
            <a:r>
              <a:t>https://novayagazeta.eu/articles/2024/02/15/davankov-predstavil-predvybornuiu-programmu-bez-amnistii-politzakliuchennykh-i-s-namereniem-dobitsia-mira-na-nashikh-usloviiakh-news</a:t>
            </a:r>
          </a:p>
          <a:p xmlns:a="http://schemas.openxmlformats.org/drawingml/2006/main">
            <a:r>
              <a:t>https://www.kavkaz-uzel.eu/articles/398113</a:t>
            </a:r>
          </a:p>
          <a:p xmlns:a="http://schemas.openxmlformats.org/drawingml/2006/main">
            <a:r>
              <a:t>https://echofm.online/portret-dnya/portret-dnya-vladislav-davankov-kandidat-v-prezidenty-rossii</a:t>
            </a:r>
          </a:p>
          <a:p xmlns:a="http://schemas.openxmlformats.org/drawingml/2006/main">
            <a:r>
              <a:t>https://t.me/s/davankov?before=788</a:t>
            </a:r>
          </a:p>
          <a:p xmlns:a="http://schemas.openxmlformats.org/drawingml/2006/main">
            <a:r>
              <a:t>https://zaharprilepin.ru/ru/bio/</a:t>
            </a:r>
          </a:p>
          <a:p xmlns:a="http://schemas.openxmlformats.org/drawingml/2006/main">
            <a:r>
              <a:t>https://zaharprilepin.ru/ru/video/zapisi-vistuplenij/intervju/</a:t>
            </a:r>
          </a:p>
          <a:p xmlns:a="http://schemas.openxmlformats.org/drawingml/2006/main">
            <a:r>
              <a:t>https://zaharprilepin.ru/ru/pressa/intervyu/na-harkov.html</a:t>
            </a:r>
          </a:p>
          <a:p xmlns:a="http://schemas.openxmlformats.org/drawingml/2006/main">
            <a:r>
              <a:t>https://www.kommersant.ru/doc/4141912</a:t>
            </a:r>
          </a:p>
          <a:p xmlns:a="http://schemas.openxmlformats.org/drawingml/2006/main">
            <a:r>
              <a:t>https://novayagazeta.eu/articles/2023/05/06/plokhoi-uchenik-limonova</a:t>
            </a:r>
          </a:p>
          <a:p xmlns:a="http://schemas.openxmlformats.org/drawingml/2006/main">
            <a:r>
              <a:t>https://tass.ru/politika/11761037</a:t>
            </a:r>
          </a:p>
          <a:p xmlns:a="http://schemas.openxmlformats.org/drawingml/2006/main">
            <a:r>
              <a:t>https://www.nn.ru/text/politics/2021/10/11/70186523/</a:t>
            </a:r>
          </a:p>
          <a:p xmlns:a="http://schemas.openxmlformats.org/drawingml/2006/main">
            <a:r>
              <a:t>https://www.zaks.ru/new/archive/view/267194</a:t>
            </a:r>
          </a:p>
          <a:p xmlns:a="http://schemas.openxmlformats.org/drawingml/2006/main">
            <a:r>
              <a:t>https://spravedlivo.ru/11288710</a:t>
            </a:r>
          </a:p>
          <a:p xmlns:a="http://schemas.openxmlformats.org/drawingml/2006/main">
            <a:r>
              <a:t>https://www.kommersant.ru/doc/4241515</a:t>
            </a:r>
          </a:p>
          <a:p xmlns:a="http://schemas.openxmlformats.org/drawingml/2006/main">
            <a:r>
              <a:t>https://zaharprilepin.ru/ru/pressa/intervyu/radio-komsomolskaja-pravda-10022021.html</a:t>
            </a:r>
          </a:p>
          <a:p xmlns:a="http://schemas.openxmlformats.org/drawingml/2006/main">
            <a:r>
              <a:t>https://pozneronline.ru/2024/04/36826/</a:t>
            </a:r>
          </a:p>
          <a:p xmlns:a="http://schemas.openxmlformats.org/drawingml/2006/main">
            <a:r>
              <a:t>https://www.rbc.ru/person/62a85a259a7947b9ae5d6360</a:t>
            </a:r>
          </a:p>
          <a:p xmlns:a="http://schemas.openxmlformats.org/drawingml/2006/main">
            <a:r>
              <a:t>https://tass.ru/encyclopedia/person/poklonskaya-natalya-vladimirovna</a:t>
            </a:r>
          </a:p>
          <a:p xmlns:a="http://schemas.openxmlformats.org/drawingml/2006/main">
            <a:r>
              <a:t>https://tass.ru/tag/poklonskaya-natalya-vladimirovna</a:t>
            </a:r>
          </a:p>
          <a:p xmlns:a="http://schemas.openxmlformats.org/drawingml/2006/main">
            <a:r>
              <a:t>https://www.bbc.com/russian/features-44801571</a:t>
            </a:r>
          </a:p>
          <a:p xmlns:a="http://schemas.openxmlformats.org/drawingml/2006/main">
            <a:r>
              <a:t>https://www.rbc.ru/rbcfreenews/5ba8bd499a794792294ba05d</a:t>
            </a:r>
          </a:p>
          <a:p xmlns:a="http://schemas.openxmlformats.org/drawingml/2006/main">
            <a:r>
              <a:t>https://www.dp.ru/a/2018/08/31/Poklonskaja_otreazirovala</a:t>
            </a:r>
          </a:p>
          <a:p xmlns:a="http://schemas.openxmlformats.org/drawingml/2006/main">
            <a:r>
              <a:t>https://www.themoscowtimes.com/2022/06/13/former-crimea-prosecutor-dismissed-after-anti-war-comments-a77983</a:t>
            </a:r>
          </a:p>
          <a:p xmlns:a="http://schemas.openxmlformats.org/drawingml/2006/main">
            <a:r>
              <a:t>https://www.rbc.ru/politics/30/06/2023/649dee189a79473e3fdc8906</a:t>
            </a:r>
          </a:p>
          <a:p xmlns:a="http://schemas.openxmlformats.org/drawingml/2006/main">
            <a:r>
              <a:t>http://council.gov.ru/structure/persons/1044/</a:t>
            </a:r>
          </a:p>
          <a:p xmlns:a="http://schemas.openxmlformats.org/drawingml/2006/main">
            <a:r>
              <a:t>http://council.gov.ru/services/reference/9156/</a:t>
            </a:r>
          </a:p>
          <a:p xmlns:a="http://schemas.openxmlformats.org/drawingml/2006/main">
            <a:r>
              <a:t>http://council.gov.ru/events/news/135415/</a:t>
            </a:r>
          </a:p>
          <a:p xmlns:a="http://schemas.openxmlformats.org/drawingml/2006/main">
            <a:r>
              <a:t>https://24smi.org/celebrity/1156-elena-mizulina.html</a:t>
            </a:r>
          </a:p>
          <a:p xmlns:a="http://schemas.openxmlformats.org/drawingml/2006/main">
            <a:r>
              <a:t>https://www.bfometr.ru/blog/elena-mizulina</a:t>
            </a:r>
          </a:p>
          <a:p xmlns:a="http://schemas.openxmlformats.org/drawingml/2006/main">
            <a:r>
              <a:t>https://www.rbc.ru/society/30/03/2018/5abe1b849a79470dc3826f68</a:t>
            </a:r>
          </a:p>
          <a:p xmlns:a="http://schemas.openxmlformats.org/drawingml/2006/main">
            <a:r>
              <a:t>https://uznayvse.ru/znamenitosti/biografiya-elena-mizulina.html</a:t>
            </a:r>
          </a:p>
          <a:p xmlns:a="http://schemas.openxmlformats.org/drawingml/2006/main">
            <a:r>
              <a:t>https://radiokp.ru/people/elena-mizulina</a:t>
            </a:r>
          </a:p>
          <a:p xmlns:a="http://schemas.openxmlformats.org/drawingml/2006/main">
            <a:r>
              <a:t>https://ru.wikipedia.org/wiki/%D0%9C%D0%B8%D0%B7%D1%83%D0%BB%D0%B8%D0%BD%D0%B0,_%D0%95%D0%BB%D0%B5%D0%BD%D0%B0_%D0%91%D0%BE%D1%80%D0%B8%D1%81%D0%BE%D0%B2%D0%BD%D0%B0</a:t>
            </a:r>
          </a:p>
          <a:p xmlns:a="http://schemas.openxmlformats.org/drawingml/2006/main">
            <a:r>
              <a:t>https://ru.wikipedia.org/wiki/Милонов,_Виталий_Валентинович</a:t>
            </a:r>
          </a:p>
          <a:p xmlns:a="http://schemas.openxmlformats.org/drawingml/2006/main">
            <a:r>
              <a:t>https://tass.ru/encyclopedia/person/milonov-vitaliy-valentinovich</a:t>
            </a:r>
          </a:p>
          <a:p xmlns:a="http://schemas.openxmlformats.org/drawingml/2006/main">
            <a:r>
              <a:t>https://www.pnp.ru/person/vitaliy-milonov/</a:t>
            </a:r>
          </a:p>
          <a:p xmlns:a="http://schemas.openxmlformats.org/drawingml/2006/main">
            <a:r>
              <a:t>https://www.zaks.ru/new/person/view/172</a:t>
            </a:r>
          </a:p>
          <a:p xmlns:a="http://schemas.openxmlformats.org/drawingml/2006/main">
            <a:r>
              <a:t>https://svpressa.ru/persons/vitaliy-milonov/</a:t>
            </a:r>
          </a:p>
          <a:p xmlns:a="http://schemas.openxmlformats.org/drawingml/2006/main">
            <a:r>
              <a:t>https://stuki-druki.com/authors/Milonov-Vitaliy.php</a:t>
            </a:r>
          </a:p>
          <a:p xmlns:a="http://schemas.openxmlformats.org/drawingml/2006/main">
            <a:r>
              <a:t>https://pa.inion.ru/persons/7104/</a:t>
            </a:r>
          </a:p>
          <a:p xmlns:a="http://schemas.openxmlformats.org/drawingml/2006/main">
            <a:r>
              <a:t>https://pa.inion.ru/documents/16503/</a:t>
            </a:r>
          </a:p>
          <a:p xmlns:a="http://schemas.openxmlformats.org/drawingml/2006/main">
            <a:r>
              <a:t>https://pa.inion.ru/documents/27860/</a:t>
            </a:r>
          </a:p>
          <a:p xmlns:a="http://schemas.openxmlformats.org/drawingml/2006/main">
            <a:r>
              <a:t>https://kprf.ru/personal/ostanina</a:t>
            </a:r>
          </a:p>
          <a:p xmlns:a="http://schemas.openxmlformats.org/drawingml/2006/main">
            <a:r>
              <a:t>https://pa.inion.ru/documents/25577/</a:t>
            </a:r>
          </a:p>
          <a:p xmlns:a="http://schemas.openxmlformats.org/drawingml/2006/main">
            <a:r>
              <a:t>https://kprf.ru/dep/gosduma/activities/245108.html</a:t>
            </a:r>
          </a:p>
          <a:p xmlns:a="http://schemas.openxmlformats.org/drawingml/2006/main">
            <a:r>
              <a:t>https://www.pnp.ru/social/zashhita-detskogo-byudzheta-kruzhki-sokhranit-vyplaty-iz-matkapitala-uvelichit.html</a:t>
            </a:r>
          </a:p>
          <a:p xmlns:a="http://schemas.openxmlformats.org/drawingml/2006/main">
            <a:r>
              <a:t>https://www.pnp.ru/state-duma/nina-ostanina-o-byudzhete-na-2027-2029-gody-semeynoy-ipoteke-i-matkapitale.html</a:t>
            </a:r>
          </a:p>
          <a:p xmlns:a="http://schemas.openxmlformats.org/drawingml/2006/main">
            <a:r>
              <a:t>https://uznayvse.ru/znamenitosti/biografiya-nina-ostanina.html</a:t>
            </a:r>
          </a:p>
          <a:p xmlns:a="http://schemas.openxmlformats.org/drawingml/2006/main">
            <a:r>
              <a:t>https://dumatv.ru/news/ostanina--borba-za-mirovozzrencheskii-suverenitet-stanovitsya-gosudarstvennoi-politikoi</a:t>
            </a:r>
          </a:p>
          <a:p xmlns:a="http://schemas.openxmlformats.org/drawingml/2006/main">
            <a:r>
              <a:t>https://kprf.ru/dep/gosduma/activities/242132.html</a:t>
            </a:r>
          </a:p>
          <a:p xmlns:a="http://schemas.openxmlformats.org/drawingml/2006/main">
            <a:r>
              <a:t>https://www.business-gazeta.ru/article/625616</a:t>
            </a:r>
          </a:p>
          <a:p xmlns:a="http://schemas.openxmlformats.org/drawingml/2006/main">
            <a:r>
              <a:t>https://www.kommersant.ru/doc/3235400</a:t>
            </a:r>
          </a:p>
          <a:p xmlns:a="http://schemas.openxmlformats.org/drawingml/2006/main">
            <a:r>
              <a:t>https://www.rbc.ru/person/67d838f09a7947cdef0b1a95</a:t>
            </a:r>
          </a:p>
          <a:p xmlns:a="http://schemas.openxmlformats.org/drawingml/2006/main">
            <a:r>
              <a:t>https://www.vedomosti.ru/politics/articles/2020/03/10/824795-tereshkova-predlozhila</a:t>
            </a:r>
          </a:p>
          <a:p xmlns:a="http://schemas.openxmlformats.org/drawingml/2006/main">
            <a:r>
              <a:t>http://duma.gov.ru/news/49164/</a:t>
            </a:r>
          </a:p>
          <a:p xmlns:a="http://schemas.openxmlformats.org/drawingml/2006/main">
            <a:r>
              <a:t>https://meduza.io/news/2020/03/12/delayut-vse-dlya-togo-chtoby-gadosti-delat-tereshkova-o-protivnikah-popravki-obnulyayuschey-sroki-putina</a:t>
            </a:r>
          </a:p>
          <a:p xmlns:a="http://schemas.openxmlformats.org/drawingml/2006/main">
            <a:r>
              <a:t>https://meduza.io/feature/2020/03/10/gosduma-neozhidanno-dlya-sebya-obespechila-putina-novymi-prezidentskimi-srokami</a:t>
            </a:r>
          </a:p>
          <a:p xmlns:a="http://schemas.openxmlformats.org/drawingml/2006/main">
            <a:r>
              <a:t>https://hinshtein.ru/biography/</a:t>
            </a:r>
          </a:p>
          <a:p xmlns:a="http://schemas.openxmlformats.org/drawingml/2006/main">
            <a:r>
              <a:t>https://www.vedomosti.ru/politics/articles/2024/12/06/1079852-kto-takoi-aleksandr-hinshtein</a:t>
            </a:r>
          </a:p>
          <a:p xmlns:a="http://schemas.openxmlformats.org/drawingml/2006/main">
            <a:r>
              <a:t>https://www.rbc.ru/person/6752d12a9a7947d62166795e</a:t>
            </a:r>
          </a:p>
          <a:p xmlns:a="http://schemas.openxmlformats.org/drawingml/2006/main">
            <a:r>
              <a:t>https://www.rbc.ru/politics/06/12/2024/675207239a7947e74994842e</a:t>
            </a:r>
          </a:p>
          <a:p xmlns:a="http://schemas.openxmlformats.org/drawingml/2006/main">
            <a:r>
              <a:t>https://hinshtein.ru/news/aleksandr-hinshtejn-podvyol-itogi-goda-raboty-komiteta-gosdumy-po-informpolitike-informatsionnym-tehnologiyam-i-svyazi/</a:t>
            </a:r>
          </a:p>
          <a:p xmlns:a="http://schemas.openxmlformats.org/drawingml/2006/main">
            <a:r>
              <a:t>https://hinshtein.ru/news/a-hinshtejn-itogi-raboty-za-vii-sozyv/</a:t>
            </a:r>
          </a:p>
          <a:p xmlns:a="http://schemas.openxmlformats.org/drawingml/2006/main">
            <a:r>
              <a:t>https://www.kommersant.ru/doc/4660427</a:t>
            </a:r>
          </a:p>
          <a:p xmlns:a="http://schemas.openxmlformats.org/drawingml/2006/main">
            <a:r>
              <a:t>https://www.kommersant.ru/doc/4104004</a:t>
            </a:r>
          </a:p>
          <a:p xmlns:a="http://schemas.openxmlformats.org/drawingml/2006/main">
            <a:r>
              <a:t>https://www.nvgazeta.ru/news/12383/634260/</a:t>
            </a:r>
          </a:p>
          <a:p xmlns:a="http://schemas.openxmlformats.org/drawingml/2006/main">
            <a:r>
              <a:t>https://kpravda.ru/2025/02/11/kursk-poluchit-dengi-iz-gosbyudzheta-na-restavracziyu-istoricheskoj-kreposti/</a:t>
            </a:r>
          </a:p>
          <a:p xmlns:a="http://schemas.openxmlformats.org/drawingml/2006/main">
            <a:r>
              <a:t>https://tass.ru/obschestvo/24001633</a:t>
            </a:r>
          </a:p>
          <a:p xmlns:a="http://schemas.openxmlformats.org/drawingml/2006/main">
            <a:r>
              <a:t>https://www.kommersant.ru/doc/7737032</a:t>
            </a:r>
          </a:p>
          <a:p xmlns:a="http://schemas.openxmlformats.org/drawingml/2006/main">
            <a:r>
              <a:t>https://kpravda.ru/2025/03/21/edinaya-rossiya-pomozhet-v-restavraczii-kurskih-pamyatnikov/</a:t>
            </a:r>
          </a:p>
          <a:p xmlns:a="http://schemas.openxmlformats.org/drawingml/2006/main">
            <a:r>
              <a:t>https://news-kursk.ru/society/2025/07/13/65824.html</a:t>
            </a:r>
          </a:p>
          <a:p xmlns:a="http://schemas.openxmlformats.org/drawingml/2006/main">
            <a:r>
              <a:t>https://news.ru/russia/v-kurske-budet-alleya-geroev-hinshtejn-o-muzee-i-memoriale-zhertvam-vsu</a:t>
            </a:r>
          </a:p>
          <a:p xmlns:a="http://schemas.openxmlformats.org/drawingml/2006/main">
            <a:r>
              <a:t>https://ru.wikipedia.org/wiki/Пушков,_Алексей_Константинович</a:t>
            </a:r>
          </a:p>
          <a:p xmlns:a="http://schemas.openxmlformats.org/drawingml/2006/main">
            <a:r>
              <a:t>http://council.gov.ru/structure/persons/1316/</a:t>
            </a:r>
          </a:p>
          <a:p xmlns:a="http://schemas.openxmlformats.org/drawingml/2006/main">
            <a:r>
              <a:t>http://council.gov.ru/media/files/xjE2QHRAivCH7onABehAcG7OsnrO6DYb.pdf</a:t>
            </a:r>
          </a:p>
          <a:p xmlns:a="http://schemas.openxmlformats.org/drawingml/2006/main">
            <a:r>
              <a:t>https://base.garant.ru/406310971/</a:t>
            </a:r>
          </a:p>
          <a:p xmlns:a="http://schemas.openxmlformats.org/drawingml/2006/main">
            <a:r>
              <a:t>https://russiancouncil.ru/aleksey-pushkov/</a:t>
            </a:r>
          </a:p>
          <a:p xmlns:a="http://schemas.openxmlformats.org/drawingml/2006/main">
            <a:r>
              <a:t>http://legislation.council.gov.ru/events/announce/</a:t>
            </a:r>
          </a:p>
          <a:p xmlns:a="http://schemas.openxmlformats.org/drawingml/2006/main">
            <a:r>
              <a:t>http://council.gov.ru/events/news/173810/</a:t>
            </a:r>
          </a:p>
          <a:p xmlns:a="http://schemas.openxmlformats.org/drawingml/2006/main">
            <a:r>
              <a:t>http://www.council.gov.ru/events/news/175997/</a:t>
            </a:r>
          </a:p>
          <a:p xmlns:a="http://schemas.openxmlformats.org/drawingml/2006/main">
            <a:r>
              <a:t>http://council.gov.ru/media/report/pdf/HtoXfAAzeBJ8JwN0eAduo3rejTAYhqvB.pdf</a:t>
            </a:r>
          </a:p>
          <a:p xmlns:a="http://schemas.openxmlformats.org/drawingml/2006/main">
            <a:r>
              <a:t>http://council.gov.ru/events/news/164749/</a:t>
            </a:r>
          </a:p>
          <a:p xmlns:a="http://schemas.openxmlformats.org/drawingml/2006/main">
            <a:r>
              <a:t>https://t.me/s/alexey_pushkov?before=14914</a:t>
            </a:r>
          </a:p>
          <a:p xmlns:a="http://schemas.openxmlformats.org/drawingml/2006/main">
            <a:r>
              <a:t>http://legislation.council.gov.ru/events/multimedia/video/302078/</a:t>
            </a:r>
          </a:p>
          <a:p xmlns:a="http://schemas.openxmlformats.org/drawingml/2006/main">
            <a:r>
              <a:t>http://council.gov.ru/media/report/pdf/e8Awe3U6hNouHwSvME53OSPGGWxTeVAl.pdf</a:t>
            </a:r>
          </a:p>
          <a:p xmlns:a="http://schemas.openxmlformats.org/drawingml/2006/main">
            <a:r>
              <a:t>https://www.vedomosti.ru/person/1178385-kosachev-konstantin</a:t>
            </a:r>
          </a:p>
          <a:p xmlns:a="http://schemas.openxmlformats.org/drawingml/2006/main">
            <a:r>
              <a:t>https://www.interfax.ru/interview/812963</a:t>
            </a:r>
          </a:p>
          <a:p xmlns:a="http://schemas.openxmlformats.org/drawingml/2006/main">
            <a:r>
              <a:t>https://senatinform.ru/news/yuzhnuyu_osetiyu_neobkhodimo_vyvodit_iz_iskusstvennoy_izolyatsii_schitayut_rossiyskie_senatory_/</a:t>
            </a:r>
          </a:p>
          <a:p xmlns:a="http://schemas.openxmlformats.org/drawingml/2006/main">
            <a:r>
              <a:t>https://senatinform.ru/news/kosachyev_rossiya_gotova_rabotat_s_mps_s_uchyetom_ozabochennostey_nashey_strany/</a:t>
            </a:r>
          </a:p>
          <a:p xmlns:a="http://schemas.openxmlformats.org/drawingml/2006/main">
            <a:r>
              <a:t>https://www.bfm.ru/person/61</a:t>
            </a:r>
          </a:p>
          <a:p xmlns:a="http://schemas.openxmlformats.org/drawingml/2006/main">
            <a:r>
              <a:t>https://svpressa.ru/persons/konstantin-kosachev/</a:t>
            </a:r>
          </a:p>
          <a:p xmlns:a="http://schemas.openxmlformats.org/drawingml/2006/main">
            <a:r>
              <a:t>https://www.pnp.ru/person/konstantin-kosachev/</a:t>
            </a:r>
          </a:p>
          <a:p xmlns:a="http://schemas.openxmlformats.org/drawingml/2006/main">
            <a:r>
              <a:t>https://www.pnp.ru/politics/konstantin-kosachev-dlya-ssha-voyna-s-rossiey-eto-samoubiystvo.html</a:t>
            </a:r>
          </a:p>
          <a:p xmlns:a="http://schemas.openxmlformats.org/drawingml/2006/main">
            <a:r>
              <a:t>https://www.mlg.ru/ratings/vlast/senators/10844/</a:t>
            </a:r>
          </a:p>
          <a:p xmlns:a="http://schemas.openxmlformats.org/drawingml/2006/main">
            <a:r>
              <a:t>http://council.gov.ru/events/news/173506/</a:t>
            </a:r>
          </a:p>
          <a:p xmlns:a="http://schemas.openxmlformats.org/drawingml/2006/main">
            <a:r>
              <a:t>https://t.me/s/Kosachev62</a:t>
            </a:r>
          </a:p>
          <a:p xmlns:a="http://schemas.openxmlformats.org/drawingml/2006/main">
            <a:r>
              <a:t>http://council.gov.ru/events/news/177602/</a:t>
            </a:r>
          </a:p>
          <a:p xmlns:a="http://schemas.openxmlformats.org/drawingml/2006/main">
            <a:r>
              <a:t>https://vmeste-rf.tv/programs/205/konstantin-kosachev-sotrudnichestvo-rossii-i-efiopii-itogi-vizita-delegatsii-sf/</a:t>
            </a:r>
          </a:p>
          <a:p xmlns:a="http://schemas.openxmlformats.org/drawingml/2006/main">
            <a:r>
              <a:t>https://www.rbc.ru/person/64b8e1909a79474f30e86f98</a:t>
            </a:r>
          </a:p>
          <a:p xmlns:a="http://schemas.openxmlformats.org/drawingml/2006/main">
            <a:r>
              <a:t>https://www.kommersant.ru/doc/6041063</a:t>
            </a:r>
          </a:p>
          <a:p xmlns:a="http://schemas.openxmlformats.org/drawingml/2006/main">
            <a:r>
              <a:t>https://www.mos.ru/mayor/themes/6907050/</a:t>
            </a:r>
          </a:p>
          <a:p xmlns:a="http://schemas.openxmlformats.org/drawingml/2006/main">
            <a:r>
              <a:t>https://www.mos.ru/mayor/themes/7037050/</a:t>
            </a:r>
          </a:p>
          <a:p xmlns:a="http://schemas.openxmlformats.org/drawingml/2006/main">
            <a:r>
              <a:t>https://www.mos.ru/mayor/themes/8822050/</a:t>
            </a:r>
          </a:p>
          <a:p xmlns:a="http://schemas.openxmlformats.org/drawingml/2006/main">
            <a:r>
              <a:t>http://special.kremlin.ru/catalog/persons/38/events/70467</a:t>
            </a:r>
          </a:p>
          <a:p xmlns:a="http://schemas.openxmlformats.org/drawingml/2006/main">
            <a:r>
              <a:t>https://www.mos.ru/upload/content/files/15af077500dcc5a1547bf728abf25669/15Zakong_Moskviot17_05_2017N14Odopolnitelnihgaranti.pdf</a:t>
            </a:r>
          </a:p>
          <a:p xmlns:a="http://schemas.openxmlformats.org/drawingml/2006/main">
            <a:r>
              <a:t>https://www.rbc.ru/politics/03/05/2023/645245159a794763ce66d990</a:t>
            </a:r>
          </a:p>
          <a:p xmlns:a="http://schemas.openxmlformats.org/drawingml/2006/main">
            <a:r>
              <a:t>https://www.dw.com/ru/ataka-dronov-v-moskve-i-podmoskove-cto-izvestno/a-65771767</a:t>
            </a:r>
          </a:p>
          <a:p xmlns:a="http://schemas.openxmlformats.org/drawingml/2006/main">
            <a:r>
              <a:t>https://www.rbc.ru/politics/01/08/2023/64c856ce9a79471a722e13ad</a:t>
            </a:r>
          </a:p>
          <a:p xmlns:a="http://schemas.openxmlformats.org/drawingml/2006/main">
            <a:r>
              <a:t>https://www.rbc.ru/politics/23/08/2023/64e54f299a794789ddb55c65</a:t>
            </a:r>
          </a:p>
          <a:p xmlns:a="http://schemas.openxmlformats.org/drawingml/2006/main">
            <a:r>
              <a:t>https://ru.wikipedia.org/wiki/Беглов,_Александр_Дмитриевич</a:t>
            </a:r>
          </a:p>
          <a:p xmlns:a="http://schemas.openxmlformats.org/drawingml/2006/main">
            <a:r>
              <a:t>https://www.gov.spb.ru/governor/</a:t>
            </a:r>
          </a:p>
          <a:p xmlns:a="http://schemas.openxmlformats.org/drawingml/2006/main">
            <a:r>
              <a:t>https://www.rbc.ru/politics/30/05/2019/5cf02cf09a79475ed4d2fa3f</a:t>
            </a:r>
          </a:p>
          <a:p xmlns:a="http://schemas.openxmlformats.org/drawingml/2006/main">
            <a:r>
              <a:t>https://www.themoscowtimes.com/2019/09/11/st-petersburg-re-elects-governor-beglov-after-controversial-campaign-a67240</a:t>
            </a:r>
          </a:p>
          <a:p xmlns:a="http://schemas.openxmlformats.org/drawingml/2006/main">
            <a:r>
              <a:t>https://www.gov.spb.ru/press/governor/188637/</a:t>
            </a:r>
          </a:p>
          <a:p xmlns:a="http://schemas.openxmlformats.org/drawingml/2006/main">
            <a:r>
              <a:t>https://www.gov.spb.ru/press/governor/213661/</a:t>
            </a:r>
          </a:p>
          <a:p xmlns:a="http://schemas.openxmlformats.org/drawingml/2006/main">
            <a:r>
              <a:t>https://www.gov.spb.ru/press/governor/258831/</a:t>
            </a:r>
          </a:p>
          <a:p xmlns:a="http://schemas.openxmlformats.org/drawingml/2006/main">
            <a:r>
              <a:t>https://www.gov.spb.ru/governor/interview/7333/</a:t>
            </a:r>
          </a:p>
          <a:p xmlns:a="http://schemas.openxmlformats.org/drawingml/2006/main">
            <a:r>
              <a:t>https://tass.ru/interviews/21839179</a:t>
            </a:r>
          </a:p>
          <a:p xmlns:a="http://schemas.openxmlformats.org/drawingml/2006/main">
            <a:r>
              <a:t>https://www.gov.spb.ru/press/governor/236663/</a:t>
            </a:r>
          </a:p>
          <a:p xmlns:a="http://schemas.openxmlformats.org/drawingml/2006/main">
            <a:r>
              <a:t>https://tvspb.ru/news/2022/09/21/aleksandr-beglov-ukaz-prezidenta-o-chastichnoj-mobilizaczii-byl-trudnym-no-neobhodimym-shagom</a:t>
            </a:r>
          </a:p>
          <a:p xmlns:a="http://schemas.openxmlformats.org/drawingml/2006/main">
            <a:r>
              <a:t>https://spbvedomosti.ru/news/gorod/gubernator-aleksandr-beglov-obyavil-o-zavershenii-chastichnoy-mobilizatsii/</a:t>
            </a:r>
          </a:p>
          <a:p xmlns:a="http://schemas.openxmlformats.org/drawingml/2006/main">
            <a:r>
              <a:t>https://www.gov.spb.ru/press/governor/253716/</a:t>
            </a:r>
          </a:p>
          <a:p xmlns:a="http://schemas.openxmlformats.org/drawingml/2006/main">
            <a:r>
              <a:t>https://www.gov.spb.ru/press/governor/290070/</a:t>
            </a:r>
          </a:p>
          <a:p xmlns:a="http://schemas.openxmlformats.org/drawingml/2006/main">
            <a:r>
              <a:t>https://spbdnevnik.ru/news/2022-10-06/aleksandr-beglov-rasskazal-o-prizyve-po-mobilizatsii-peterburzhtsa-s-odnoy-pochkoy</a:t>
            </a:r>
          </a:p>
          <a:p xmlns:a="http://schemas.openxmlformats.org/drawingml/2006/main">
            <a:r>
              <a:t>https://www.rbc.ru/person/62c5c0899a79470082fa57eb</a:t>
            </a:r>
          </a:p>
          <a:p xmlns:a="http://schemas.openxmlformats.org/drawingml/2006/main">
            <a:r>
              <a:t>https://www.kavkaz-uzel.eu/articles/85366</a:t>
            </a:r>
          </a:p>
          <a:p xmlns:a="http://schemas.openxmlformats.org/drawingml/2006/main">
            <a:r>
              <a:t>https://news.ru/regions/my-dolzhny-zabrat-vsyu-ukrainu-chto-kadyrov-govoril-ob-svo-rossii-putine</a:t>
            </a:r>
          </a:p>
          <a:p xmlns:a="http://schemas.openxmlformats.org/drawingml/2006/main">
            <a:r>
              <a:t>https://minval.az/k/ramzan-kadyrov</a:t>
            </a:r>
          </a:p>
          <a:p xmlns:a="http://schemas.openxmlformats.org/drawingml/2006/main">
            <a:r>
              <a:t>http://publication.pravo.gov.ru/document/2000202609160002</a:t>
            </a:r>
          </a:p>
          <a:p xmlns:a="http://schemas.openxmlformats.org/drawingml/2006/main">
            <a:r>
              <a:t>https://vestikavkaza.ru/amp/291219</a:t>
            </a:r>
          </a:p>
          <a:p xmlns:a="http://schemas.openxmlformats.org/drawingml/2006/main">
            <a:r>
              <a:t>https://tass.ru/obschestvo/25968415</a:t>
            </a:r>
          </a:p>
          <a:p xmlns:a="http://schemas.openxmlformats.org/drawingml/2006/main">
            <a:r>
              <a:t>https://www.rbc.ru/rbcfreenews/694558f89a794775c8b05d2e</a:t>
            </a:r>
          </a:p>
          <a:p xmlns:a="http://schemas.openxmlformats.org/drawingml/2006/main">
            <a:r>
              <a:t>https://rais.tatarstan.ru/biografiya.htm</a:t>
            </a:r>
          </a:p>
          <a:p xmlns:a="http://schemas.openxmlformats.org/drawingml/2006/main">
            <a:r>
              <a:t>https://rt.rbc.ru/tatarstan/freenews/68c7f77d9a79472be550408e</a:t>
            </a:r>
          </a:p>
          <a:p xmlns:a="http://schemas.openxmlformats.org/drawingml/2006/main">
            <a:r>
              <a:t>https://rt.rbc.ru/tatarstan/freenews/68c90bdc9a794783273a16b6</a:t>
            </a:r>
          </a:p>
          <a:p xmlns:a="http://schemas.openxmlformats.org/drawingml/2006/main">
            <a:r>
              <a:t>https://tass.ru/politika/25045679</a:t>
            </a:r>
          </a:p>
          <a:p xmlns:a="http://schemas.openxmlformats.org/drawingml/2006/main">
            <a:r>
              <a:t>https://tass.ru/info/25058299</a:t>
            </a:r>
          </a:p>
          <a:p xmlns:a="http://schemas.openxmlformats.org/drawingml/2006/main">
            <a:r>
              <a:t>https://tatarstan.ru/index.htm/news/2454245.htm</a:t>
            </a:r>
          </a:p>
          <a:p xmlns:a="http://schemas.openxmlformats.org/drawingml/2006/main">
            <a:r>
              <a:t>https://izbirkom.tatarstan.ru/file/pub/pub_4719790.docx</a:t>
            </a:r>
          </a:p>
          <a:p xmlns:a="http://schemas.openxmlformats.org/drawingml/2006/main">
            <a:r>
              <a:t>http://www.pfo.gov.ru/press/events/112125/</a:t>
            </a:r>
          </a:p>
          <a:p xmlns:a="http://schemas.openxmlformats.org/drawingml/2006/main">
            <a:r>
              <a:t>https://www.tatar-inform.ru/news/rustam-minnixanov-sankcii-ne-koncatsya-poka-my-ne-stanem-samodostatocnymi-5896958</a:t>
            </a:r>
          </a:p>
          <a:p xmlns:a="http://schemas.openxmlformats.org/drawingml/2006/main">
            <a:r>
              <a:t>https://tatarstan.ru/index.htm/news/1916025.htm</a:t>
            </a:r>
          </a:p>
          <a:p xmlns:a="http://schemas.openxmlformats.org/drawingml/2006/main">
            <a:r>
              <a:t>https://kitaphane.tatarstan.ru/digital.htm</a:t>
            </a:r>
          </a:p>
          <a:p xmlns:a="http://schemas.openxmlformats.org/drawingml/2006/main">
            <a:r>
              <a:t>https://kt.tatarstan.ru/index.htm/news/2266706.htm</a:t>
            </a:r>
          </a:p>
          <a:p xmlns:a="http://schemas.openxmlformats.org/drawingml/2006/main">
            <a:r>
              <a:t>https://tatarstan.ru/index.htm/news/2460505.htm</a:t>
            </a:r>
          </a:p>
          <a:p xmlns:a="http://schemas.openxmlformats.org/drawingml/2006/main">
            <a:r>
              <a:t>https://digital.tatarstan.ru/index.htm/news/2460691.htm</a:t>
            </a:r>
          </a:p>
          <a:p xmlns:a="http://schemas.openxmlformats.org/drawingml/2006/main">
            <a:r>
              <a:t>https://amp.rbc.ru/rbcnews/politics/09/07/2020/5f06bbb69a79475c40a9a094</a:t>
            </a:r>
          </a:p>
          <a:p xmlns:a="http://schemas.openxmlformats.org/drawingml/2006/main">
            <a:r>
              <a:t>https://1kas.sudrf.ru/modules.php?name=sud_delo&amp;name_op=doc&amp;number=39453936&amp;delo_id=2450001&amp;case_type=0&amp;new=2450001&amp;text_number=1&amp;srv_num=1</a:t>
            </a:r>
          </a:p>
          <a:p xmlns:a="http://schemas.openxmlformats.org/drawingml/2006/main">
            <a:r>
              <a:t>https://www.interfax.ru/russia/982916</a:t>
            </a:r>
          </a:p>
          <a:p xmlns:a="http://schemas.openxmlformats.org/drawingml/2006/main">
            <a:r>
              <a:t>https://www.svoboda.org/a/sud-ostavil-v-sile-prigovor-habarovskomu-eks-gubernatoru-sergeyu-furgalu/32686024.html</a:t>
            </a:r>
          </a:p>
          <a:p xmlns:a="http://schemas.openxmlformats.org/drawingml/2006/main">
            <a:r>
              <a:t>https://www.dw.com/ru/kommentarij-furgal-peresidit-putina/a-64670560</a:t>
            </a:r>
          </a:p>
          <a:p xmlns:a="http://schemas.openxmlformats.org/drawingml/2006/main">
            <a:r>
              <a:t>https://www.kommersant.ru/doc/3896415</a:t>
            </a:r>
          </a:p>
          <a:p xmlns:a="http://schemas.openxmlformats.org/drawingml/2006/main">
            <a:r>
              <a:t>https://todaykhv.ru/news/policy/19386/</a:t>
            </a:r>
          </a:p>
          <a:p xmlns:a="http://schemas.openxmlformats.org/drawingml/2006/main">
            <a:r>
              <a:t>https://meduza.io/feature/2018/09/19/ya-dumayu-chto-situatsiya-kak-v-primorie-u-nas-ne-povtoritsya</a:t>
            </a:r>
          </a:p>
          <a:p xmlns:a="http://schemas.openxmlformats.org/drawingml/2006/main">
            <a:r>
              <a:t>https://govoritmoskva.ru/news/174327/</a:t>
            </a:r>
          </a:p>
          <a:p xmlns:a="http://schemas.openxmlformats.org/drawingml/2006/main">
            <a:r>
              <a:t>https://todaykhv.ru/news/policy/22426/?sphrase_id=2620206</a:t>
            </a:r>
          </a:p>
          <a:p xmlns:a="http://schemas.openxmlformats.org/drawingml/2006/main">
            <a:r>
              <a:t>https://ru.wikipedia.org/wiki/%D0%A4%D1%83%D1%80%D0%B3%D0%B0%D0%BB,_%D0%A1%D0%B5%D1%80%D0%B3%D0%B5%D0%B9_%D0%98%D0%B2%D0%B0%D0%BD%D0%BE%D0%B2%D0%B8%D1%87</a:t>
            </a:r>
          </a:p>
          <a:p xmlns:a="http://schemas.openxmlformats.org/drawingml/2006/main">
            <a:r>
              <a:t>https://novayagazeta.ru/articles/2018/09/18/77870-ne-dopuschu-zdes-revolyutsii</a:t>
            </a:r>
          </a:p>
          <a:p xmlns:a="http://schemas.openxmlformats.org/drawingml/2006/main">
            <a:r>
              <a:t>https://opkhv.ru/publications/4888</a:t>
            </a:r>
          </a:p>
          <a:p xmlns:a="http://schemas.openxmlformats.org/drawingml/2006/main">
            <a:r>
              <a:t>https://meduza.io/feature/2019/08/26/partiya-vlasti-zdes-ldpr</a:t>
            </a:r>
          </a:p>
          <a:p xmlns:a="http://schemas.openxmlformats.org/drawingml/2006/main">
            <a:r>
              <a:t>https://tass.ru/obschestvo/5946495</a:t>
            </a:r>
          </a:p>
          <a:p xmlns:a="http://schemas.openxmlformats.org/drawingml/2006/main">
            <a:r>
              <a:t>https://amurmedia.ru/news/775590/</a:t>
            </a:r>
          </a:p>
          <a:p xmlns:a="http://schemas.openxmlformats.org/drawingml/2006/main">
            <a:r>
              <a:t>https://www.eastrussia.ru/material/ne-planiruyushchim-pereezzhat-sovetuyu-pomolchat/</a:t>
            </a:r>
          </a:p>
          <a:p xmlns:a="http://schemas.openxmlformats.org/drawingml/2006/main">
            <a:r>
              <a:t>https://www.dw.com/ru/v-habarovske-priznali-ekstremistskim-dvizenie-v-zasitu-furgala/a-68334442</a:t>
            </a:r>
          </a:p>
          <a:p xmlns:a="http://schemas.openxmlformats.org/drawingml/2006/main">
            <a:r>
              <a:t>https://www.rbc.ru/person/66475fec9a79475c4d9443ad</a:t>
            </a:r>
          </a:p>
          <a:p xmlns:a="http://schemas.openxmlformats.org/drawingml/2006/main">
            <a:r>
              <a:t>https://tass.ru/info/12453099</a:t>
            </a:r>
          </a:p>
          <a:p xmlns:a="http://schemas.openxmlformats.org/drawingml/2006/main">
            <a:r>
              <a:t>https://tass.ru/info/9007455</a:t>
            </a:r>
          </a:p>
          <a:p xmlns:a="http://schemas.openxmlformats.org/drawingml/2006/main">
            <a:r>
              <a:t>https://tass.ru/info/20795009</a:t>
            </a:r>
          </a:p>
          <a:p xmlns:a="http://schemas.openxmlformats.org/drawingml/2006/main">
            <a:r>
              <a:t>https://tass.ru/encyclopedia/person/degtyarev-mihail-vladimirovich</a:t>
            </a:r>
          </a:p>
          <a:p xmlns:a="http://schemas.openxmlformats.org/drawingml/2006/main">
            <a:r>
              <a:t>https://www.rbc.ru/politics/20/07/2020/5f1586289a794722b2457d61</a:t>
            </a:r>
          </a:p>
          <a:p xmlns:a="http://schemas.openxmlformats.org/drawingml/2006/main">
            <a:r>
              <a:t>https://www.minsport.gov.ru/press-center/news/intervyu-mihaila-degtyareva-gazete-kommersant/</a:t>
            </a:r>
          </a:p>
          <a:p xmlns:a="http://schemas.openxmlformats.org/drawingml/2006/main">
            <a:r>
              <a:t>https://minsport.gov.ru/press-center/news/mihail-degtyarev-nashe-mesto-za-stolom-a-ne-v-perednej/</a:t>
            </a:r>
          </a:p>
          <a:p xmlns:a="http://schemas.openxmlformats.org/drawingml/2006/main">
            <a:r>
              <a:t>https://news.ru/vlast/degtyarev-prizval-ne-doveryat-evrope-provedenie-sorevnovanij</a:t>
            </a:r>
          </a:p>
          <a:p xmlns:a="http://schemas.openxmlformats.org/drawingml/2006/main">
            <a:r>
              <a:t>https://www.interfax.ru/presscenter/622170</a:t>
            </a:r>
          </a:p>
          <a:p xmlns:a="http://schemas.openxmlformats.org/drawingml/2006/main">
            <a:r>
              <a:t>https://tass.ru/interviews/13152777</a:t>
            </a:r>
          </a:p>
          <a:p xmlns:a="http://schemas.openxmlformats.org/drawingml/2006/main">
            <a:r>
              <a:t>https://www.sports.ru/others/blogs/3302024.html</a:t>
            </a:r>
          </a:p>
          <a:p xmlns:a="http://schemas.openxmlformats.org/drawingml/2006/main">
            <a:r>
              <a:t>https://www.vremyan.ru/news/556863</a:t>
            </a:r>
          </a:p>
          <a:p xmlns:a="http://schemas.openxmlformats.org/drawingml/2006/main">
            <a:r>
              <a:t>https://kprf.ru/personal/levchenko</a:t>
            </a:r>
          </a:p>
          <a:p xmlns:a="http://schemas.openxmlformats.org/drawingml/2006/main">
            <a:r>
              <a:t>https://www.rbc.ru/politics/23/06/2020/5ef0bd949a7947b3cd3dcba6</a:t>
            </a:r>
          </a:p>
          <a:p xmlns:a="http://schemas.openxmlformats.org/drawingml/2006/main">
            <a:r>
              <a:t>https://kprf.ru/party-live/regnews/194838.html</a:t>
            </a:r>
          </a:p>
          <a:p xmlns:a="http://schemas.openxmlformats.org/drawingml/2006/main">
            <a:r>
              <a:t>https://liveangarsk.ru/news/20191214/v-slozhivsheisya</a:t>
            </a:r>
          </a:p>
          <a:p xmlns:a="http://schemas.openxmlformats.org/drawingml/2006/main">
            <a:r>
              <a:t>https://kprf.ru/dep/gosduma/activities/240271.html</a:t>
            </a:r>
          </a:p>
          <a:p xmlns:a="http://schemas.openxmlformats.org/drawingml/2006/main">
            <a:r>
              <a:t>https://kprf.ru/dep/gosduma/activities/241686.html</a:t>
            </a:r>
          </a:p>
          <a:p xmlns:a="http://schemas.openxmlformats.org/drawingml/2006/main">
            <a:r>
              <a:t>https://altairk.ru/new/policy/the_message_of_the_governor</a:t>
            </a:r>
          </a:p>
          <a:p xmlns:a="http://schemas.openxmlformats.org/drawingml/2006/main">
            <a:r>
              <a:t>https://kto-irkutsk.ru/2026/07/20/sergej-levchenko-deyatelnost-i-zayavleniya-i-ix-ocenka/</a:t>
            </a:r>
          </a:p>
          <a:p xmlns:a="http://schemas.openxmlformats.org/drawingml/2006/main">
            <a:r>
              <a:t>https://ru.wikipedia.org/wiki/%D0%9B%D0%B5%D0%B2%D1%87%D0%B5%D0%BD%D0%BA%D0%BE,_%D0%A1%D0%B5%D1%80%D0%B3%D0%B5%D0%B9_%D0%93%D0%B5%D0%BE%D1%80%D0%B3%D0%B8%D0%B5%D0%B2%D0%B8%D1%87</a:t>
            </a:r>
          </a:p>
          <a:p xmlns:a="http://schemas.openxmlformats.org/drawingml/2006/main">
            <a:r>
              <a:t>https://www.newsru.com/dossiers/10330/</a:t>
            </a:r>
          </a:p>
          <a:p xmlns:a="http://schemas.openxmlformats.org/drawingml/2006/main">
            <a:r>
              <a:t>https://www.interfax.ru/russia/714300</a:t>
            </a:r>
          </a:p>
          <a:p xmlns:a="http://schemas.openxmlformats.org/drawingml/2006/main">
            <a:r>
              <a:t>https://www.rbc.ru/politics/14/09/2020/5f5e7dfb9a79477f7753d651</a:t>
            </a:r>
          </a:p>
          <a:p xmlns:a="http://schemas.openxmlformats.org/drawingml/2006/main">
            <a:r>
              <a:t>https://www.rline.tv/podrobnosti/2019-10-06-sergey-levchenko-za-chetyre-goda-sdelano-bolshe-chem-za-predydushchie-15-let/</a:t>
            </a:r>
          </a:p>
          <a:p xmlns:a="http://schemas.openxmlformats.org/drawingml/2006/main">
            <a:r>
              <a:t>https://vs19.ru/verhovny-sovet/deputati/670-konovalov-valentin-olegovich</a:t>
            </a:r>
          </a:p>
          <a:p xmlns:a="http://schemas.openxmlformats.org/drawingml/2006/main">
            <a:r>
              <a:t>https://meduza.io/feature/2018/09/10/etu-vlast-nichego-ne-spaset</a:t>
            </a:r>
          </a:p>
          <a:p xmlns:a="http://schemas.openxmlformats.org/drawingml/2006/main">
            <a:r>
              <a:t>https://kprf.ru/party-live/regnews/188553.html</a:t>
            </a:r>
          </a:p>
          <a:p xmlns:a="http://schemas.openxmlformats.org/drawingml/2006/main">
            <a:r>
              <a:t>https://www.kommersant.ru/doc/4441936</a:t>
            </a:r>
          </a:p>
          <a:p xmlns:a="http://schemas.openxmlformats.org/drawingml/2006/main">
            <a:r>
              <a:t>http://www.youtube.com/watch?v=eO6lUkFCAqM</a:t>
            </a:r>
          </a:p>
          <a:p xmlns:a="http://schemas.openxmlformats.org/drawingml/2006/main">
            <a:r>
              <a:t>https://ru.wikipedia.org/wiki/%D0%92%D1%8B%D0%B1%D0%BE%D1%80%D1%8B_%D0%B3%D0%BB%D0%B0%D0%B2%D1%8B_%D0%A0%D0%B5%D1%81%D0%BF%D1%83%D0%B1%D0%BB%D0%B8%D0%BA%D0%B8_%D0%A5%D0%B0%D0%BA%D0%B0%D1%81%D0%B8%D1%8F_(2018)</a:t>
            </a:r>
          </a:p>
          <a:p xmlns:a="http://schemas.openxmlformats.org/drawingml/2006/main">
            <a:r>
              <a:t>https://ok.ru/group/51615057903766/topic/157744983021718</a:t>
            </a:r>
          </a:p>
          <a:p xmlns:a="http://schemas.openxmlformats.org/drawingml/2006/main">
            <a:r>
              <a:t>https://kprf.ru/party-live/cknews/245343.html</a:t>
            </a:r>
          </a:p>
          <a:p xmlns:a="http://schemas.openxmlformats.org/drawingml/2006/main">
            <a:r>
              <a:t>https://r-19.ru/news/politika/190680/</a:t>
            </a:r>
          </a:p>
          <a:p xmlns:a="http://schemas.openxmlformats.org/drawingml/2006/main">
            <a:r>
              <a:t>https://r-19.ru/news/ekonomika/193031/</a:t>
            </a:r>
          </a:p>
          <a:p xmlns:a="http://schemas.openxmlformats.org/drawingml/2006/main">
            <a:r>
              <a:t>https://19rusinfo.ru/ekonomika/118670-otchjot</a:t>
            </a:r>
          </a:p>
          <a:p xmlns:a="http://schemas.openxmlformats.org/drawingml/2006/main">
            <a:r>
              <a:t>https://iditena.ru/candidates/konovalov-valentin-olegovich/</a:t>
            </a:r>
          </a:p>
          <a:p xmlns:a="http://schemas.openxmlformats.org/drawingml/2006/main">
            <a:r>
              <a:t>https://56.kprf.ru/deyatelnost/tpost/gjjjuy1zi1-glava-hakasii-valentin-konovalov-dal-int</a:t>
            </a:r>
          </a:p>
          <a:p xmlns:a="http://schemas.openxmlformats.org/drawingml/2006/main">
            <a:r>
              <a:t>https://meduza.io/feature/2019/05/31/strana-pobedivshego-kommunista</a:t>
            </a:r>
          </a:p>
          <a:p xmlns:a="http://schemas.openxmlformats.org/drawingml/2006/main">
            <a:r>
              <a:t>https://xn--80aac0c2a.xn--p1acf/2026/08/22/vstrecha-s-uchastiem-valentina-konovalova-i-alekseya-kornienko-proshla-v-habarovske</a:t>
            </a:r>
          </a:p>
          <a:p xmlns:a="http://schemas.openxmlformats.org/drawingml/2006/main">
            <a:r>
              <a:t>https://www.vedomosti.ru/politics/characters/2026/07/06/1211370-valentin-konovalov-rossiya-na-moskve-ne-zakanchivaetsya?from=newsline</a:t>
            </a:r>
          </a:p>
          <a:p xmlns:a="http://schemas.openxmlformats.org/drawingml/2006/main">
            <a:r>
              <a:t>https://www.vedomosti.ru/person/1215197-aksenov-sergei</a:t>
            </a:r>
          </a:p>
          <a:p xmlns:a="http://schemas.openxmlformats.org/drawingml/2006/main">
            <a:r>
              <a:t>https://www.rbc.ru/person/65f020599a79475815e702c9</a:t>
            </a:r>
          </a:p>
          <a:p xmlns:a="http://schemas.openxmlformats.org/drawingml/2006/main">
            <a:r>
              <a:t>http://crimea.gov.ru/news/30_03_18_10</a:t>
            </a:r>
          </a:p>
          <a:p xmlns:a="http://schemas.openxmlformats.org/drawingml/2006/main">
            <a:r>
              <a:t>https://www.npr.org/sections/parallels/2018/01/27/581114772/putins-man-in-crimea-we-ve-returned-to-russia-forever</a:t>
            </a:r>
          </a:p>
          <a:p xmlns:a="http://schemas.openxmlformats.org/drawingml/2006/main">
            <a:r>
              <a:t>http://crimea.gov.ru/en/news/26_02_19_6</a:t>
            </a:r>
          </a:p>
          <a:p xmlns:a="http://schemas.openxmlformats.org/drawingml/2006/main">
            <a:r>
              <a:t>https://antifashist.com/item/kto-polomal-infopole-kryma-i-ne-otvechaet-na-voprosy.html</a:t>
            </a:r>
          </a:p>
          <a:p xmlns:a="http://schemas.openxmlformats.org/drawingml/2006/main">
            <a:r>
              <a:t>https://ru.krymr.com/a/news/27913548.html</a:t>
            </a:r>
          </a:p>
          <a:p xmlns:a="http://schemas.openxmlformats.org/drawingml/2006/main">
            <a:r>
              <a:t>https://simfch.ru/2022/03/02/glava-respubliki-krym-sergej-aksyonov-prizval-krymchan-k-informaczionnoj-mobilizaczii-otkrytomu-i-publichnomu-vyrazheniyu-svoej-patrioticheskoj-poziczii/</a:t>
            </a:r>
          </a:p>
          <a:p xmlns:a="http://schemas.openxmlformats.org/drawingml/2006/main">
            <a:r>
              <a:t>https://www.rbc.ru/politics/29/05/2023/64749e389a7947f3de98dff2</a:t>
            </a:r>
          </a:p>
          <a:p xmlns:a="http://schemas.openxmlformats.org/drawingml/2006/main">
            <a:r>
              <a:t>https://ru.krymr.com/a/krym-sergey-aksenov-pvo-prilety-bavovna-bezopasnost-pvo-udar/32631709.html</a:t>
            </a:r>
          </a:p>
          <a:p xmlns:a="http://schemas.openxmlformats.org/drawingml/2006/main">
            <a:r>
              <a:t>https://rostov.rbc.ru/rostov/interview/18/03/2024/65f75c4f9a7947c8b475ab94</a:t>
            </a:r>
          </a:p>
          <a:p xmlns:a="http://schemas.openxmlformats.org/drawingml/2006/main">
            <a:r>
              <a:t>https://www.kommersant.ru/doc/7715230</a:t>
            </a:r>
          </a:p>
          <a:p xmlns:a="http://schemas.openxmlformats.org/drawingml/2006/main">
            <a:r>
              <a:t>https://www.kommersant.ru/doc/5154319</a:t>
            </a:r>
          </a:p>
          <a:p xmlns:a="http://schemas.openxmlformats.org/drawingml/2006/main">
            <a:r>
              <a:t>https://www.rbc.ru/person/660290b19a7947801fe9439b</a:t>
            </a:r>
          </a:p>
          <a:p xmlns:a="http://schemas.openxmlformats.org/drawingml/2006/main">
            <a:r>
              <a:t>https://www.kommersant.ru/doc/3759211</a:t>
            </a:r>
          </a:p>
          <a:p xmlns:a="http://schemas.openxmlformats.org/drawingml/2006/main">
            <a:r>
              <a:t>https://tass.ru/info/6656656</a:t>
            </a:r>
          </a:p>
          <a:p xmlns:a="http://schemas.openxmlformats.org/drawingml/2006/main">
            <a:r>
              <a:t>https://sevastopol.er.ru/pages/otchet-gubernatora-sevastopolya-mihaila-razvozhaeva</a:t>
            </a:r>
          </a:p>
          <a:p xmlns:a="http://schemas.openxmlformats.org/drawingml/2006/main">
            <a:r>
              <a:t>http://special.kremlin.ru/catalog/persons/579/events/76271</a:t>
            </a:r>
          </a:p>
          <a:p xmlns:a="http://schemas.openxmlformats.org/drawingml/2006/main">
            <a:r>
              <a:t>https://sevastopol.su/news/chastnyy-biznes-vlozhil-v-sevastopol-250-mlrd-rubley-za-tri-goda</a:t>
            </a:r>
          </a:p>
          <a:p xmlns:a="http://schemas.openxmlformats.org/drawingml/2006/main">
            <a:r>
              <a:t>https://sevastopol.su/news/v-sevastopole-ocenili-perspektivy-mikhaila-razvozhaeva-na-sleduyuschikh-vyborakh</a:t>
            </a:r>
          </a:p>
          <a:p xmlns:a="http://schemas.openxmlformats.org/drawingml/2006/main">
            <a:r>
              <a:t>https://tass.ru/interviews/10248577</a:t>
            </a:r>
          </a:p>
          <a:p xmlns:a="http://schemas.openxmlformats.org/drawingml/2006/main">
            <a:r>
              <a:t>https://news.ru/russia/u-nas-smelye-plany-gubernator-sevastopolya-razvozzhaev-o-budushem-goroda</a:t>
            </a:r>
          </a:p>
          <a:p xmlns:a="http://schemas.openxmlformats.org/drawingml/2006/main">
            <a:r>
              <a:t>http://kremlin.ru/events/administration/80838</a:t>
            </a:r>
          </a:p>
          <a:p xmlns:a="http://schemas.openxmlformats.org/drawingml/2006/main">
            <a:r>
              <a:t>https://tass.ru/kultura/28214691</a:t>
            </a:r>
          </a:p>
          <a:p xmlns:a="http://schemas.openxmlformats.org/drawingml/2006/main">
            <a:r>
              <a:t>http://kremlin.ru/events/administration/80591</a:t>
            </a:r>
          </a:p>
          <a:p xmlns:a="http://schemas.openxmlformats.org/drawingml/2006/main">
            <a:r>
              <a:t>https://governors.ru/glava-regiona/Belgorodskaya-oblast/Gladkov-Vyacheslav-Vladimirovich</a:t>
            </a:r>
          </a:p>
          <a:p xmlns:a="http://schemas.openxmlformats.org/drawingml/2006/main">
            <a:r>
              <a:t>https://ru.wikipedia.org/wiki/%D0%93%D0%BB%D0%B0%D0%B4%D0%BA%D0%BE%D0%B2,_%D0%92%D1%8F%D1%87%D0%B5%D1%81%D0%BB%D0%B0%D0%B2_%D0%92%D0%BB%D0%B0%D0%B4%D0%B8%D0%BC%D0%B8%D1%80%D0%BE%D0%B2%D0%B8%D1%87</a:t>
            </a:r>
          </a:p>
          <a:p xmlns:a="http://schemas.openxmlformats.org/drawingml/2006/main">
            <a:r>
              <a:t>http://council.gov.ru/structure/persons/1543/</a:t>
            </a:r>
          </a:p>
          <a:p xmlns:a="http://schemas.openxmlformats.org/drawingml/2006/main">
            <a:r>
              <a:t>https://ufa.rbc.ru/person/648345539a794760fd0c17e8</a:t>
            </a:r>
          </a:p>
          <a:p xmlns:a="http://schemas.openxmlformats.org/drawingml/2006/main">
            <a:r>
              <a:t>https://www.kommersant.ru/doc/8571119</a:t>
            </a:r>
          </a:p>
          <a:p xmlns:a="http://schemas.openxmlformats.org/drawingml/2006/main">
            <a:r>
              <a:t>https://www.kommersant.ru/doc/8655079</a:t>
            </a:r>
          </a:p>
          <a:p xmlns:a="http://schemas.openxmlformats.org/drawingml/2006/main">
            <a:r>
              <a:t>https://tass.ru/info/27861241</a:t>
            </a:r>
          </a:p>
          <a:p xmlns:a="http://schemas.openxmlformats.org/drawingml/2006/main">
            <a:r>
              <a:t>https://meduza.io/feature/2023/06/08/emu-by-vse-eto-razgresti</a:t>
            </a:r>
          </a:p>
          <a:p xmlns:a="http://schemas.openxmlformats.org/drawingml/2006/main">
            <a:r>
              <a:t>http://www.kremlin.ru/events/president/transcripts/66288</a:t>
            </a:r>
          </a:p>
          <a:p xmlns:a="http://schemas.openxmlformats.org/drawingml/2006/main">
            <a:r>
              <a:t>https://www.belpressa.ru/politics/vlast/62665.html</a:t>
            </a:r>
          </a:p>
          <a:p xmlns:a="http://schemas.openxmlformats.org/drawingml/2006/main">
            <a:r>
              <a:t>https://www.belpressa.ru/politics/vlast/71368.html</a:t>
            </a:r>
          </a:p>
          <a:p xmlns:a="http://schemas.openxmlformats.org/drawingml/2006/main">
            <a:r>
              <a:t>https://www.belnovosti.ru/politika/gubernator/127077.html</a:t>
            </a:r>
          </a:p>
          <a:p xmlns:a="http://schemas.openxmlformats.org/drawingml/2006/main">
            <a:r>
              <a:t>https://chr.plus.rbc.ru/news/694b9fb67a8aa90f9c2ce17d</a:t>
            </a:r>
          </a:p>
          <a:p xmlns:a="http://schemas.openxmlformats.org/drawingml/2006/main">
            <a:r>
              <a:t>https://www.belpressa.ru/society/bezopasnost/43348.html</a:t>
            </a:r>
          </a:p>
          <a:p xmlns:a="http://schemas.openxmlformats.org/drawingml/2006/main">
            <a:r>
              <a:t>https://www.rbc.ru/politics/07/03/2023/640758bf9a7947f6af99d464</a:t>
            </a:r>
          </a:p>
          <a:p xmlns:a="http://schemas.openxmlformats.org/drawingml/2006/main">
            <a:r>
              <a:t>https://www.rbc.ru/politics/24/05/2023/646d22029a794797c4bac4bf</a:t>
            </a:r>
          </a:p>
          <a:p xmlns:a="http://schemas.openxmlformats.org/drawingml/2006/main">
            <a:r>
              <a:t>https://www.bbc.com/russian/articles/c70dkd0pvrlo</a:t>
            </a:r>
          </a:p>
          <a:p xmlns:a="http://schemas.openxmlformats.org/drawingml/2006/main">
            <a:r>
              <a:t>https://www.go31.ru/news/proisshestviya/kak-nikto-drugoy-ponimaem-chto-takoe-agressiya-so-storony-ukrainy-gladkov-o-proryve-granitsy-v-kursk/</a:t>
            </a:r>
          </a:p>
          <a:p xmlns:a="http://schemas.openxmlformats.org/drawingml/2006/main">
            <a:r>
              <a:t>https://echofm.online/portret-dnya/portret-dnya-vyacheslav-gladkov-gubernator-belgorodskoj-oblasti-prognozy-o-sudbe-kotorogo-raznyatsya-ot-posta-posla-v-abhazii-do-ugolovnogo-dela</a:t>
            </a:r>
          </a:p>
          <a:p xmlns:a="http://schemas.openxmlformats.org/drawingml/2006/main">
            <a:r>
              <a:t>https://www.kommersant.ru/doc/3917861</a:t>
            </a:r>
          </a:p>
          <a:p xmlns:a="http://schemas.openxmlformats.org/drawingml/2006/main">
            <a:r>
              <a:t>https://minstroyrf.gov.ru/press/okolo-40-kontsessionnykh-soglasheniy-v-rossii-deystvuet-v-sfere-zhkkh/</a:t>
            </a:r>
          </a:p>
          <a:p xmlns:a="http://schemas.openxmlformats.org/drawingml/2006/main">
            <a:r>
              <a:t>https://newsroom24.ru/murmansk/news/politics/2026/news_323931/</a:t>
            </a:r>
          </a:p>
          <a:p xmlns:a="http://schemas.openxmlformats.org/drawingml/2006/main">
            <a:r>
              <a:t>https://murmansk.ru/52053</a:t>
            </a:r>
          </a:p>
          <a:p xmlns:a="http://schemas.openxmlformats.org/drawingml/2006/main">
            <a:r>
              <a:t>https://51.ru/text/gorod/2026/01/22/76228112/</a:t>
            </a:r>
          </a:p>
          <a:p xmlns:a="http://schemas.openxmlformats.org/drawingml/2006/main">
            <a:r>
              <a:t>https://www.murman.ru/news/2026/05/02/2334/</a:t>
            </a:r>
          </a:p>
          <a:p xmlns:a="http://schemas.openxmlformats.org/drawingml/2006/main">
            <a:r>
              <a:t>https://murman.ru/news/2026/09/06/2141/</a:t>
            </a:r>
          </a:p>
          <a:p xmlns:a="http://schemas.openxmlformats.org/drawingml/2006/main">
            <a:r>
              <a:t>https://www.murman.ru/news/2026/09/13/2242/</a:t>
            </a:r>
          </a:p>
          <a:p xmlns:a="http://schemas.openxmlformats.org/drawingml/2006/main">
            <a:r>
              <a:t>https://ru.wikipedia.org/wiki/%D0%A7%D0%B8%D0%B1%D0%B8%D1%81,_%D0%90%D0%BD%D0%B4%D1%80%D0%B5%D0%B9_%D0%92%D0%BB%D0%B0%D0%B4%D0%B8%D0%BC%D0%B8%D1%80%D0%BE%D0%B2%D0%B8%D1%87</a:t>
            </a:r>
          </a:p>
          <a:p xmlns:a="http://schemas.openxmlformats.org/drawingml/2006/main">
            <a:r>
              <a:t>https://tass.ru/obschestvo/23491353</a:t>
            </a:r>
          </a:p>
          <a:p xmlns:a="http://schemas.openxmlformats.org/drawingml/2006/main">
            <a:r>
              <a:t>https://www.murman.ru/news/2026/09/03/2243/</a:t>
            </a:r>
          </a:p>
          <a:p xmlns:a="http://schemas.openxmlformats.org/drawingml/2006/main">
            <a:r>
              <a:t>https://msp.citymurmansk.ru/news/2026/09/03/0930/</a:t>
            </a:r>
          </a:p>
          <a:p xmlns:a="http://schemas.openxmlformats.org/drawingml/2006/main">
            <a:r>
              <a:t>http://kremlin.ru/events/president/letters/80916</a:t>
            </a:r>
          </a:p>
          <a:p xmlns:a="http://schemas.openxmlformats.org/drawingml/2006/main">
            <a:r>
              <a:t>https://www.murmansk.kp.ru/daily/277813.4/5300258/</a:t>
            </a:r>
          </a:p>
          <a:p xmlns:a="http://schemas.openxmlformats.org/drawingml/2006/main">
            <a:r>
              <a:t>https://www.fontanka.ru/2021/07/27/70046798/</a:t>
            </a:r>
          </a:p>
          <a:p xmlns:a="http://schemas.openxmlformats.org/drawingml/2006/main">
            <a:r>
              <a:t>https://www.kommersant.ru/doc/4639758</a:t>
            </a:r>
          </a:p>
          <a:p xmlns:a="http://schemas.openxmlformats.org/drawingml/2006/main">
            <a:r>
              <a:t>https://www.bbc.com/russian/news-55614829</a:t>
            </a:r>
          </a:p>
          <a:p xmlns:a="http://schemas.openxmlformats.org/drawingml/2006/main">
            <a:r>
              <a:t>https://newpeople.ru/Deputy/sardana-avksenteva</a:t>
            </a:r>
          </a:p>
          <a:p xmlns:a="http://schemas.openxmlformats.org/drawingml/2006/main">
            <a:r>
              <a:t>https://www.pnp.ru/economics/kontrol-za-koncessionnymi-soglasheniyami-predlozhili-usilit.html</a:t>
            </a:r>
          </a:p>
          <a:p xmlns:a="http://schemas.openxmlformats.org/drawingml/2006/main">
            <a:r>
              <a:t>https://www.ng.ru/politics/2024-12-05/1_9150_right.html</a:t>
            </a:r>
          </a:p>
          <a:p xmlns:a="http://schemas.openxmlformats.org/drawingml/2006/main">
            <a:r>
              <a:t>https://news.ru/society/v-novyh-lyudyah-rasskazali-o-glavnyh-zadachah-partii-pered-vyborami</a:t>
            </a:r>
          </a:p>
          <a:p xmlns:a="http://schemas.openxmlformats.org/drawingml/2006/main">
            <a:r>
              <a:t>https://www.kommersant.ru/doc/8939397</a:t>
            </a:r>
          </a:p>
          <a:p xmlns:a="http://schemas.openxmlformats.org/drawingml/2006/main">
            <a:r>
              <a:t>https://tass.ru/info/5220823</a:t>
            </a:r>
          </a:p>
          <a:p xmlns:a="http://schemas.openxmlformats.org/drawingml/2006/main">
            <a:r>
              <a:t>https://tass.ru/info/15547711</a:t>
            </a:r>
          </a:p>
          <a:p xmlns:a="http://schemas.openxmlformats.org/drawingml/2006/main">
            <a:r>
              <a:t>https://www.bbc.com/russian/features-62661643</a:t>
            </a:r>
          </a:p>
          <a:p xmlns:a="http://schemas.openxmlformats.org/drawingml/2006/main">
            <a:r>
              <a:t>https://www.kommersant.ru/doc/3298219</a:t>
            </a:r>
          </a:p>
          <a:p xmlns:a="http://schemas.openxmlformats.org/drawingml/2006/main">
            <a:r>
              <a:t>https://www.svoboda.org/a/31217129.html</a:t>
            </a:r>
          </a:p>
          <a:p xmlns:a="http://schemas.openxmlformats.org/drawingml/2006/main">
            <a:r>
              <a:t>https://www.interfax.ru/russia/902059</a:t>
            </a:r>
          </a:p>
          <a:p xmlns:a="http://schemas.openxmlformats.org/drawingml/2006/main">
            <a:r>
              <a:t>https://www.bfm.ru/news/525620</a:t>
            </a:r>
          </a:p>
          <a:p xmlns:a="http://schemas.openxmlformats.org/drawingml/2006/main">
            <a:r>
              <a:t>https://novayagazeta.ru/articles/2023/03/16/do-urovnia-myshei-media</a:t>
            </a:r>
          </a:p>
          <a:p xmlns:a="http://schemas.openxmlformats.org/drawingml/2006/main">
            <a:r>
              <a:t>https://tjournal.ru/71076</a:t>
            </a:r>
          </a:p>
          <a:p xmlns:a="http://schemas.openxmlformats.org/drawingml/2006/main">
            <a:r>
              <a:t>https://www.nakanune.ru/articles/111648/</a:t>
            </a:r>
          </a:p>
          <a:p xmlns:a="http://schemas.openxmlformats.org/drawingml/2006/main">
            <a:r>
              <a:t>https://adcmemorial.org/statyi/kolonki/neprotivlenie-rasizmu/</a:t>
            </a:r>
          </a:p>
          <a:p xmlns:a="http://schemas.openxmlformats.org/drawingml/2006/main">
            <a:r>
              <a:t>https://www.svoboda.org/a/royzman-i-drugie-zhiteli-ekaterinburga/31997151.html</a:t>
            </a:r>
          </a:p>
          <a:p xmlns:a="http://schemas.openxmlformats.org/drawingml/2006/main">
            <a:r>
              <a:t>https://www.e1.ru/text/politics/2022/02/24/70466417/</a:t>
            </a:r>
          </a:p>
          <a:p xmlns:a="http://schemas.openxmlformats.org/drawingml/2006/main">
            <a:r>
              <a:t>https://www.dw.com/ru/kommentarij-evgenij-rojzman-i-sila-pravdy/a-62917754</a:t>
            </a:r>
          </a:p>
          <a:p xmlns:a="http://schemas.openxmlformats.org/drawingml/2006/main">
            <a:r>
              <a:t>https://meduza.io/paragraph/2022/08/26/priehali-moskvichi-i-dumali-chto-zdes-duraki-sobralis</a:t>
            </a:r>
          </a:p>
          <a:p xmlns:a="http://schemas.openxmlformats.org/drawingml/2006/main">
            <a:r>
              <a:t>https://znamlit.ru/publication.php?id=7379</a:t>
            </a:r>
          </a:p>
          <a:p xmlns:a="http://schemas.openxmlformats.org/drawingml/2006/main">
            <a:r>
              <a:t>https://tass.ru/interviews/6080499</a:t>
            </a:r>
          </a:p>
          <a:p xmlns:a="http://schemas.openxmlformats.org/drawingml/2006/main">
            <a:r>
              <a:t>https://45.ru/text/politics/2024/09/09/73952072/</a:t>
            </a:r>
          </a:p>
          <a:p xmlns:a="http://schemas.openxmlformats.org/drawingml/2006/main">
            <a:r>
              <a:t>http://special.kremlin.ru/events/president/news/70638</a:t>
            </a:r>
          </a:p>
          <a:p xmlns:a="http://schemas.openxmlformats.org/drawingml/2006/main">
            <a:r>
              <a:t>https://ura.news/news/1053132902</a:t>
            </a:r>
          </a:p>
          <a:p xmlns:a="http://schemas.openxmlformats.org/drawingml/2006/main">
            <a:r>
              <a:t>https://ura.news/articles/1036276564</a:t>
            </a:r>
          </a:p>
          <a:p xmlns:a="http://schemas.openxmlformats.org/drawingml/2006/main">
            <a:r>
              <a:t>https://tass.ru/novosti-regionov/28187431</a:t>
            </a:r>
          </a:p>
          <a:p xmlns:a="http://schemas.openxmlformats.org/drawingml/2006/main">
            <a:r>
              <a:t>https://fedpress.ru/person/1753607</a:t>
            </a:r>
          </a:p>
          <a:p xmlns:a="http://schemas.openxmlformats.org/drawingml/2006/main">
            <a:r>
              <a:t>https://eburg.mk.ru/social/2026/10/14/zhiteley-zauralya-predupredili-o-lozhnykh-videorolikakh-s-gubernatorom.html</a:t>
            </a:r>
          </a:p>
          <a:p xmlns:a="http://schemas.openxmlformats.org/drawingml/2006/main">
            <a:r>
              <a:t>https://regnum.ru/news/3530808</a:t>
            </a:r>
          </a:p>
          <a:p xmlns:a="http://schemas.openxmlformats.org/drawingml/2006/main">
            <a:r>
              <a:t>https://kurganvera.ru/news/vrns/mitropolit-daniil-i-vadim-shumkov-vozglavili-delegatsiyu-kurganskoy-oblasti-na-vsemirnom-russkom-sob/</a:t>
            </a:r>
          </a:p>
          <a:p xmlns:a="http://schemas.openxmlformats.org/drawingml/2006/main">
            <a:r>
              <a:t>https://45.ru/text/politics/2026/06/26/76499700/</a:t>
            </a:r>
          </a:p>
          <a:p xmlns:a="http://schemas.openxmlformats.org/drawingml/2006/main">
            <a:r>
              <a:t>https://niva-kurtamysh.com/news/obshchestvo/vystuplenie-gubernatora-kurganskoy-oblasti-vadima-shumkova</a:t>
            </a:r>
          </a:p>
          <a:p xmlns:a="http://schemas.openxmlformats.org/drawingml/2006/main">
            <a:r>
              <a:t>https://t.me/s/kurganskayaobl?before=42616</a:t>
            </a:r>
          </a:p>
          <a:p xmlns:a="http://schemas.openxmlformats.org/drawingml/2006/main">
            <a:r>
              <a:t>https://www.bbc.com/russian/news-54368577</a:t>
            </a:r>
          </a:p>
          <a:p xmlns:a="http://schemas.openxmlformats.org/drawingml/2006/main">
            <a:r>
              <a:t>https://www.bbc.com/russian/articles/cp0769dp15eo</a:t>
            </a:r>
          </a:p>
          <a:p xmlns:a="http://schemas.openxmlformats.org/drawingml/2006/main">
            <a:r>
              <a:t>https://navalny.com/materials/blogpost-6017</a:t>
            </a:r>
          </a:p>
          <a:p xmlns:a="http://schemas.openxmlformats.org/drawingml/2006/main">
            <a:r>
              <a:t>https://www.bbc.com/russian/news-58563592</a:t>
            </a:r>
          </a:p>
          <a:p xmlns:a="http://schemas.openxmlformats.org/drawingml/2006/main">
            <a:r>
              <a:t>https://navalny.com/materials/blogpost-6544</a:t>
            </a:r>
          </a:p>
          <a:p xmlns:a="http://schemas.openxmlformats.org/drawingml/2006/main">
            <a:r>
              <a:t>https://www.bbc.com/russian/news-58270043</a:t>
            </a:r>
          </a:p>
          <a:p xmlns:a="http://schemas.openxmlformats.org/drawingml/2006/main">
            <a:r>
              <a:t>https://www.bbc.com/russian/articles/cvg3p9l1e5ro</a:t>
            </a:r>
          </a:p>
          <a:p xmlns:a="http://schemas.openxmlformats.org/drawingml/2006/main">
            <a:r>
              <a:t>https://www.bbc.com/russian/features-54435835</a:t>
            </a:r>
          </a:p>
          <a:p xmlns:a="http://schemas.openxmlformats.org/drawingml/2006/main">
            <a:r>
              <a:t>https://2018.navalny.com/platform/7/</a:t>
            </a:r>
          </a:p>
          <a:p xmlns:a="http://schemas.openxmlformats.org/drawingml/2006/main">
            <a:r>
              <a:t>https://2018.navalny.com/platform/3/</a:t>
            </a:r>
          </a:p>
          <a:p xmlns:a="http://schemas.openxmlformats.org/drawingml/2006/main">
            <a:r>
              <a:t>https://2018.navalny.com/platform/10/</a:t>
            </a:r>
          </a:p>
          <a:p xmlns:a="http://schemas.openxmlformats.org/drawingml/2006/main">
            <a:r>
              <a:t>https://2018.navalny.com/platform/9/</a:t>
            </a:r>
          </a:p>
          <a:p xmlns:a="http://schemas.openxmlformats.org/drawingml/2006/main">
            <a:r>
              <a:t>https://navalny.com/editorials/aleksey-navalnyy-protiv-voyny</a:t>
            </a:r>
          </a:p>
          <a:p xmlns:a="http://schemas.openxmlformats.org/drawingml/2006/main">
            <a:r>
              <a:t>https://navalny.com/?p=149</a:t>
            </a:r>
          </a:p>
          <a:p xmlns:a="http://schemas.openxmlformats.org/drawingml/2006/main">
            <a:r>
              <a:t>https://www.interfax.ru/russia/876151</a:t>
            </a:r>
          </a:p>
          <a:p xmlns:a="http://schemas.openxmlformats.org/drawingml/2006/main">
            <a:r>
              <a:t>https://www.dw.com/ru/srok-ne-za-fejk-a-za-politiku-reakcii-v-frg-i-rf-na-prigovor-asinu/a-64049957</a:t>
            </a:r>
          </a:p>
          <a:p xmlns:a="http://schemas.openxmlformats.org/drawingml/2006/main">
            <a:r>
              <a:t>https://www.lemonde.fr/en/international/article/2025/05/27/russian-opposition-figure-ilya-yashin-if-ukraine-is-handed-over-to-putin-it-will-be-a-tragedy-and-the-prologue-to-a-global-confrontation_6741728_4.html</a:t>
            </a:r>
          </a:p>
          <a:p xmlns:a="http://schemas.openxmlformats.org/drawingml/2006/main">
            <a:r>
              <a:t>https://www.bbc.com/russian/articles/crgl69w9472o</a:t>
            </a:r>
          </a:p>
          <a:p xmlns:a="http://schemas.openxmlformats.org/drawingml/2006/main">
            <a:r>
              <a:t>https://www.svoboda.org/a/yashin-court/32165539.html</a:t>
            </a:r>
          </a:p>
          <a:p xmlns:a="http://schemas.openxmlformats.org/drawingml/2006/main">
            <a:r>
              <a:t>https://www.dw.com/ru/ila-asin-putin-predvoditel-sil-mrakobesia/a-69923731</a:t>
            </a:r>
          </a:p>
          <a:p xmlns:a="http://schemas.openxmlformats.org/drawingml/2006/main">
            <a:r>
              <a:t>https://novayagazeta.eu/articles/2025/08/01/my-ne-mozhem-trebovat-no-mozhem-obiasniat</a:t>
            </a:r>
          </a:p>
          <a:p xmlns:a="http://schemas.openxmlformats.org/drawingml/2006/main">
            <a:r>
              <a:t>https://meduza.io/feature/2019/07/20/to-chto-putin-ne-smog-sdelat-za-20-let-sobyanin-sdelal-za-mesyats</a:t>
            </a:r>
          </a:p>
          <a:p xmlns:a="http://schemas.openxmlformats.org/drawingml/2006/main">
            <a:r>
              <a:t>https://novayagazeta.eu/articles/2024/11/18/pochuvstvovat-sebia-ne-odinokimi</a:t>
            </a:r>
          </a:p>
          <a:p xmlns:a="http://schemas.openxmlformats.org/drawingml/2006/main">
            <a:r>
              <a:t>https://www.svoboda.org/a/voyna-putin-i-politzaklyuchennye-iljya-yashin-o-svoih-planah/33177839.html</a:t>
            </a:r>
          </a:p>
          <a:p xmlns:a="http://schemas.openxmlformats.org/drawingml/2006/main">
            <a:r>
              <a:t>https://www.dw.com/ru/asin-sejcas-nevozmozno-obedinit-rossijskuu-oppoziciu-da-i-ne-nuzno/a-70291088</a:t>
            </a:r>
          </a:p>
          <a:p xmlns:a="http://schemas.openxmlformats.org/drawingml/2006/main">
            <a:r>
              <a:t>https://www.dw.com/ru/vladimir-karamurza/t-37465233</a:t>
            </a:r>
          </a:p>
          <a:p xmlns:a="http://schemas.openxmlformats.org/drawingml/2006/main">
            <a:r>
              <a:t>https://ovd.info/persons/kara-murza-vladimir-vladimirovich</a:t>
            </a:r>
          </a:p>
          <a:p xmlns:a="http://schemas.openxmlformats.org/drawingml/2006/main">
            <a:r>
              <a:t>https://ovd.info/2024/08/03/kogo-rossiya-vydala-v-ramkakh-obmena-zaklyuchennymi-s-zapadom-istorii-osvobozhdennykh</a:t>
            </a:r>
          </a:p>
          <a:p xmlns:a="http://schemas.openxmlformats.org/drawingml/2006/main">
            <a:r>
              <a:t>https://www.svoboda.org/a/kara-murza-obmen/33059121.html</a:t>
            </a:r>
          </a:p>
          <a:p xmlns:a="http://schemas.openxmlformats.org/drawingml/2006/main">
            <a:r>
              <a:t>https://novayagazeta.ru/articles/2024/08/16/prezident-baiden-prinial-osvobozhdennogo-v-rezultate-obmena-politzakliuchennogo-vladimira-kara-murzu-s-semei-v-belom-dome-news</a:t>
            </a:r>
          </a:p>
          <a:p xmlns:a="http://schemas.openxmlformats.org/drawingml/2006/main">
            <a:r>
              <a:t>https://genevasummit.org/speech/vladimir-kara-murza-speaks-at-2018-geneva-summit-main-event/</a:t>
            </a:r>
          </a:p>
          <a:p xmlns:a="http://schemas.openxmlformats.org/drawingml/2006/main">
            <a:r>
              <a:t>https://humanrights.ca/event-series/presidents-lecture-series</a:t>
            </a:r>
          </a:p>
          <a:p xmlns:a="http://schemas.openxmlformats.org/drawingml/2006/main">
            <a:r>
              <a:t>https://www.radiofrance.fr/franceinter/podcasts/l-info-de-france-inter/la-democratie-doit-etre-protegee-chaque-minute-de-chaque-jour-declare-l-opposant-russe-vladimir-kara-mourza-8105094</a:t>
            </a:r>
          </a:p>
          <a:p xmlns:a="http://schemas.openxmlformats.org/drawingml/2006/main">
            <a:r>
              <a:t>https://georgetownvoice.com/2025/10/08/dissident-in-residence-vladimir-kara-murza-applies-past-lessons-to-present-day-in-recent-event-discussing-democracy/</a:t>
            </a:r>
          </a:p>
          <a:p xmlns:a="http://schemas.openxmlformats.org/drawingml/2006/main">
            <a:r>
              <a:t>https://www.oscepa.org/en/documents/winter-meetings/2025-vienna/speeches-36/5176-vladimir-kara-murza-address-to-the-osce-pa-winter-meeting-in-vienna-21-february-2025/file</a:t>
            </a:r>
          </a:p>
          <a:p xmlns:a="http://schemas.openxmlformats.org/drawingml/2006/main">
            <a:r>
              <a:t>https://hrf.org/wp-content/uploads/2024/10/VKM-%E2%80%93-Statement-of-Facts-and-Levinson-Analysis.pdf</a:t>
            </a:r>
          </a:p>
          <a:p xmlns:a="http://schemas.openxmlformats.org/drawingml/2006/main">
            <a:r>
              <a:t>https://www.govinfo.gov/content/pkg/CREC-2024-06-11/html/CREC-2024-06-11-pt1-PgH3699.htm</a:t>
            </a:r>
          </a:p>
          <a:p xmlns:a="http://schemas.openxmlformats.org/drawingml/2006/main">
            <a:r>
              <a:t>https://antiwarcommittee.info/en/statement-on-the-persecution-of-vladimir-kara-murza/</a:t>
            </a:r>
          </a:p>
          <a:p xmlns:a="http://schemas.openxmlformats.org/drawingml/2006/main">
            <a:r>
              <a:t>https://www.norway.no/en/missions/osce/norway-and-the-osce/statements/statements-with--norwegian-alignment-2024/joint-statement-on-vladimir-kara-murza/</a:t>
            </a:r>
          </a:p>
          <a:p xmlns:a="http://schemas.openxmlformats.org/drawingml/2006/main">
            <a:r>
              <a:t>https://www.aljazeera.com/news/2025/4/23/kremlin-critic-decried-for-racist-rant-on-minorities-fighting-for-russia</a:t>
            </a:r>
          </a:p>
          <a:p xmlns:a="http://schemas.openxmlformats.org/drawingml/2006/main">
            <a:r>
              <a:t>https://www.rmc.edu/news/former-political-prisoner-vladimir-kara-murza-offers-vision-of-hope-for-russian-democracy/</a:t>
            </a:r>
          </a:p>
          <a:p xmlns:a="http://schemas.openxmlformats.org/drawingml/2006/main">
            <a:r>
              <a:t>https://2018.yavlinsky.ru/campaign/</a:t>
            </a:r>
          </a:p>
          <a:p xmlns:a="http://schemas.openxmlformats.org/drawingml/2006/main">
            <a:r>
              <a:t>http://2018.yavlinsky.ru/programm/</a:t>
            </a:r>
          </a:p>
          <a:p xmlns:a="http://schemas.openxmlformats.org/drawingml/2006/main">
            <a:r>
              <a:t>https://campaign2018.yavlinsky.ru/</a:t>
            </a:r>
          </a:p>
          <a:p xmlns:a="http://schemas.openxmlformats.org/drawingml/2006/main">
            <a:r>
              <a:t>https://www.yavlinsky.ru/position/war/</a:t>
            </a:r>
          </a:p>
          <a:p xmlns:a="http://schemas.openxmlformats.org/drawingml/2006/main">
            <a:r>
              <a:t>https://www.yavlinsky.ru/position/cease-fire/</a:t>
            </a:r>
          </a:p>
          <a:p xmlns:a="http://schemas.openxmlformats.org/drawingml/2006/main">
            <a:r>
              <a:t>https://www.yavlinsky.ru/article_tax/ukraina/</a:t>
            </a:r>
          </a:p>
          <a:p xmlns:a="http://schemas.openxmlformats.org/drawingml/2006/main">
            <a:r>
              <a:t>https://www.yavlinsky.ru/biografiya/</a:t>
            </a:r>
          </a:p>
          <a:p xmlns:a="http://schemas.openxmlformats.org/drawingml/2006/main">
            <a:r>
              <a:t>https://www.yabloko.ru/publikatsii/2018/02/15_0</a:t>
            </a:r>
          </a:p>
          <a:p xmlns:a="http://schemas.openxmlformats.org/drawingml/2006/main">
            <a:r>
              <a:t>https://www.yabloko.ru/publikatsii/2018/06/19</a:t>
            </a:r>
          </a:p>
          <a:p xmlns:a="http://schemas.openxmlformats.org/drawingml/2006/main">
            <a:r>
              <a:t>https://www.yavlinsky.ru/article/eto-referendum/</a:t>
            </a:r>
          </a:p>
          <a:p xmlns:a="http://schemas.openxmlformats.org/drawingml/2006/main">
            <a:r>
              <a:t>https://www.svoboda.org/a/27801792.html</a:t>
            </a:r>
          </a:p>
          <a:p xmlns:a="http://schemas.openxmlformats.org/drawingml/2006/main">
            <a:r>
              <a:t>https://www.svoboda.org/a/29294829.html</a:t>
            </a:r>
          </a:p>
          <a:p xmlns:a="http://schemas.openxmlformats.org/drawingml/2006/main">
            <a:r>
              <a:t>https://www.yavlinsky.ru/article/intervyu-g-yavlinskogo-zhertvy-budut-proryva-net/</a:t>
            </a:r>
          </a:p>
          <a:p xmlns:a="http://schemas.openxmlformats.org/drawingml/2006/main">
            <a:r>
              <a:t>https://www.yavlinsky.ru/article/my-budem-idti-do-kontsa/</a:t>
            </a:r>
          </a:p>
          <a:p xmlns:a="http://schemas.openxmlformats.org/drawingml/2006/main">
            <a:r>
              <a:t>https://www.yavlinsky.ru/article/prezidentskie-vybory-1996-30-let-spustya/</a:t>
            </a:r>
          </a:p>
          <a:p xmlns:a="http://schemas.openxmlformats.org/drawingml/2006/main">
            <a:r>
              <a:t>https://www.forbes.ru/interview/45575-reformatory-prihodyat-k-vlasti-grigorii-yavlinskii</a:t>
            </a:r>
          </a:p>
          <a:p xmlns:a="http://schemas.openxmlformats.org/drawingml/2006/main">
            <a:r>
              <a:t>https://www.bbc.com/russian/articles/cy8ee2wngd8o</a:t>
            </a:r>
          </a:p>
          <a:p xmlns:a="http://schemas.openxmlformats.org/drawingml/2006/main">
            <a:r>
              <a:t>https://www.yabloko.ru/regnews/Pskov/2019/01/21-0</a:t>
            </a:r>
          </a:p>
          <a:p xmlns:a="http://schemas.openxmlformats.org/drawingml/2006/main">
            <a:r>
              <a:t>https://www.yabloko.ru/publikatsii/2019/06/14</a:t>
            </a:r>
          </a:p>
          <a:p xmlns:a="http://schemas.openxmlformats.org/drawingml/2006/main">
            <a:r>
              <a:t>https://zona.media/article/2019/02/27/pskov</a:t>
            </a:r>
          </a:p>
          <a:p xmlns:a="http://schemas.openxmlformats.org/drawingml/2006/main">
            <a:r>
              <a:t>https://spektr.press/ya-otvechayu-za-vse-mnoj-skazannoe-no-ne-otvechayu-za-izvraschenie-skazannogo-lev-shlosberg-o-travle-i-setkah-telegram-kanalov-odnokletochnyh-politikah-reshivshih-pobedit-putina-rukami-u/</a:t>
            </a:r>
          </a:p>
          <a:p xmlns:a="http://schemas.openxmlformats.org/drawingml/2006/main">
            <a:r>
              <a:t>https://www.yabloko.ru/Persons/shlosberg.html</a:t>
            </a:r>
          </a:p>
          <a:p xmlns:a="http://schemas.openxmlformats.org/drawingml/2006/main">
            <a:r>
              <a:t>https://pln-pskov.ru/politics/314872.html</a:t>
            </a:r>
          </a:p>
          <a:p xmlns:a="http://schemas.openxmlformats.org/drawingml/2006/main">
            <a:r>
              <a:t>https://www.yabloko.ru/publikatsii/2022/02/18-0</a:t>
            </a:r>
          </a:p>
          <a:p xmlns:a="http://schemas.openxmlformats.org/drawingml/2006/main">
            <a:r>
              <a:t>https://ru.krymr.com/a/rossiya-putin-voyna-repressii-lev-shlosberg-intervyu/31806389.html</a:t>
            </a:r>
          </a:p>
          <a:p xmlns:a="http://schemas.openxmlformats.org/drawingml/2006/main">
            <a:r>
              <a:t>https://www.currenttime.tv/a/politika-vlastey-chtoby-lyudi-perestali-govorit-o-spetsialnoy-voennoy-operatsii-lev-shlosberg-o-dele-protiv-nego-i-nikolaya-kuzmina/31807396.html</a:t>
            </a:r>
          </a:p>
          <a:p xmlns:a="http://schemas.openxmlformats.org/drawingml/2006/main">
            <a:r>
              <a:t>https://zona.media/article/2026/08/14/schlosberg</a:t>
            </a:r>
          </a:p>
          <a:p xmlns:a="http://schemas.openxmlformats.org/drawingml/2006/main">
            <a:r>
              <a:t>https://www.svoboda.org/a/lishniy-zalozhnik-vot-chto-im-vazhno-arest-lva-shlosberga/33615624.html</a:t>
            </a:r>
          </a:p>
          <a:p xmlns:a="http://schemas.openxmlformats.org/drawingml/2006/main">
            <a:r>
              <a:t>https://novayagazeta.eu/articles/2026/08/17/ostavshiisia</a:t>
            </a:r>
          </a:p>
          <a:p xmlns:a="http://schemas.openxmlformats.org/drawingml/2006/main">
            <a:r>
              <a:t>https://www.yabloko.ru/content/vishnevskii_boris_lazarevich</a:t>
            </a:r>
          </a:p>
          <a:p xmlns:a="http://schemas.openxmlformats.org/drawingml/2006/main">
            <a:r>
              <a:t>https://www.dp.ru/a/2018/06/18/Aktivnaja_storona_konflikt</a:t>
            </a:r>
          </a:p>
          <a:p xmlns:a="http://schemas.openxmlformats.org/drawingml/2006/main">
            <a:r>
              <a:t>https://www.bbc.com/russian/features-58481940</a:t>
            </a:r>
          </a:p>
          <a:p xmlns:a="http://schemas.openxmlformats.org/drawingml/2006/main">
            <a:r>
              <a:t>https://www.dp.ru/a/2023/01/16/Deputat_Peterburga_Vishnev</a:t>
            </a:r>
          </a:p>
          <a:p xmlns:a="http://schemas.openxmlformats.org/drawingml/2006/main">
            <a:r>
              <a:t>https://echofm.online/portret-dnya/portret-dnya-boris-vishnevskij-peterburgskij-politik</a:t>
            </a:r>
          </a:p>
          <a:p xmlns:a="http://schemas.openxmlformats.org/drawingml/2006/main">
            <a:r>
              <a:t>https://spb.yabloko.ru/people/vishnevskij-boris-lazarevich/</a:t>
            </a:r>
          </a:p>
          <a:p xmlns:a="http://schemas.openxmlformats.org/drawingml/2006/main">
            <a:r>
              <a:t>https://www.dp.ru/a/2026/08/26/bitva-nachalas-gde-v-peterburge</a:t>
            </a:r>
          </a:p>
          <a:p xmlns:a="http://schemas.openxmlformats.org/drawingml/2006/main">
            <a:r>
              <a:t>https://www.yabloko.ru/regnews/Spb/2022/02/21</a:t>
            </a:r>
          </a:p>
          <a:p xmlns:a="http://schemas.openxmlformats.org/drawingml/2006/main">
            <a:r>
              <a:t>https://www.yabloko.ru/cat-news/2021/08/06-0</a:t>
            </a:r>
          </a:p>
          <a:p xmlns:a="http://schemas.openxmlformats.org/drawingml/2006/main">
            <a:r>
              <a:t>https://www.rbc.ru/spb_sz/16/01/2023/63c53d9c9a7947d9bef4b853</a:t>
            </a:r>
          </a:p>
          <a:p xmlns:a="http://schemas.openxmlformats.org/drawingml/2006/main">
            <a:r>
              <a:t>https://www.rbc.ru/politics/06/05/2024/6638a8609a79472c01075a2c</a:t>
            </a:r>
          </a:p>
          <a:p xmlns:a="http://schemas.openxmlformats.org/drawingml/2006/main">
            <a:r>
              <a:t>https://www.svoboda.org/a/politika-dmitriya-gudkova-deportirovali-iz-gruzii-v-kiev/31679697.html</a:t>
            </a:r>
          </a:p>
          <a:p xmlns:a="http://schemas.openxmlformats.org/drawingml/2006/main">
            <a:r>
              <a:t>https://ru.krymr.com/a/dmitriy-gudkov-ob-otyezde-iz-rossii/31295079.html</a:t>
            </a:r>
          </a:p>
          <a:p xmlns:a="http://schemas.openxmlformats.org/drawingml/2006/main">
            <a:r>
              <a:t>https://daily.afisha.ru/news/114366-syn-politika-dmitriya-gudkova-pokonchil-s-soboy-v-emigracii/amp/</a:t>
            </a:r>
          </a:p>
          <a:p xmlns:a="http://schemas.openxmlformats.org/drawingml/2006/main">
            <a:r>
              <a:t>https://life.ru/t/dmitriygudkov</a:t>
            </a:r>
          </a:p>
          <a:p xmlns:a="http://schemas.openxmlformats.org/drawingml/2006/main">
            <a:r>
              <a:t>https://uk.wikipedia.org/wiki/%D0%93%D1%83%D0%B4%D0%BA%D0%BE%D0%B2_%D0%94%D0%BC%D0%B8%D1%82%D1%80%D1%96%D0%B9_%D0%93%D0%B5%D0%BD%D0%B0%D0%B4%D1%96%D0%B9%D0%BE%D0%B2%D0%B8%D1%87</a:t>
            </a:r>
          </a:p>
          <a:p xmlns:a="http://schemas.openxmlformats.org/drawingml/2006/main">
            <a:r>
              <a:t>https://mt.gazeta.ru/blog/43692366076/Syin-byivshego-deputata-Gosdumyi-Dmitriya-Gudkova-pokonchil-s-so?utm_referrer=mirtesen.ru</a:t>
            </a:r>
          </a:p>
          <a:p xmlns:a="http://schemas.openxmlformats.org/drawingml/2006/main">
            <a:r>
              <a:t>https://www.bbc.com/russian/news-57381443</a:t>
            </a:r>
          </a:p>
          <a:p xmlns:a="http://schemas.openxmlformats.org/drawingml/2006/main">
            <a:r>
              <a:t>https://www.themoscowtimes.com/2021/06/06/kremlin-critic-dmitry-gudkov-flees-to-ukraine-a74123</a:t>
            </a:r>
          </a:p>
          <a:p xmlns:a="http://schemas.openxmlformats.org/drawingml/2006/main">
            <a:r>
              <a:t>https://www.yabloko.ru/publikatsii/2016/09/15</a:t>
            </a:r>
          </a:p>
          <a:p xmlns:a="http://schemas.openxmlformats.org/drawingml/2006/main">
            <a:r>
              <a:t>https://novayagazeta.ru/articles/2018/03/21/75886-ya-privyk-lyudyam-verit</a:t>
            </a:r>
          </a:p>
          <a:p xmlns:a="http://schemas.openxmlformats.org/drawingml/2006/main">
            <a:r>
              <a:t>https://www.rbc.ru/politics/15/03/2018/5aaa98049a7947d12d63f1e1</a:t>
            </a:r>
          </a:p>
          <a:p xmlns:a="http://schemas.openxmlformats.org/drawingml/2006/main">
            <a:r>
              <a:t>https://rus.team/people/gudkov-dmitrij-gennadevich</a:t>
            </a:r>
          </a:p>
          <a:p xmlns:a="http://schemas.openxmlformats.org/drawingml/2006/main">
            <a:r>
              <a:t>https://www.azattyqasia.org/a/chto-proiskhodit-v-donbasse-/31863310/lbl0lbi299676.html</a:t>
            </a:r>
          </a:p>
          <a:p xmlns:a="http://schemas.openxmlformats.org/drawingml/2006/main">
            <a:r>
              <a:t>https://www.dw.com/ru/dmitrij-gudkov-putin-na-storone-partii-vojny-no-pri-etom-on-trus-21092022/video-63193199</a:t>
            </a:r>
          </a:p>
          <a:p xmlns:a="http://schemas.openxmlformats.org/drawingml/2006/main">
            <a:r>
              <a:t>https://ru.wikinews.org/wiki/%D0%9A%D0%B0%D1%82%D0%B5%D0%B3%D0%BE%D1%80%D0%B8%D1%8F:%D0%93%D0%B5%D0%BD%D0%BD%D0%B0%D0%B4%D0%B8%D0%B9_%D0%93%D1%83%D0%B4%D0%BA%D0%BE%D0%B2</a:t>
            </a:r>
          </a:p>
          <a:p xmlns:a="http://schemas.openxmlformats.org/drawingml/2006/main">
            <a:r>
              <a:t>https://en.wikipedia.org/wiki/Gennady_Gudkov</a:t>
            </a:r>
          </a:p>
          <a:p xmlns:a="http://schemas.openxmlformats.org/drawingml/2006/main">
            <a:r>
              <a:t>https://x.com/gudkov_g</a:t>
            </a:r>
          </a:p>
          <a:p xmlns:a="http://schemas.openxmlformats.org/drawingml/2006/main">
            <a:r>
              <a:t>https://www.dw.com/ru/chto-dmitrij-gudkov-nameren-delat-v-ukraine-i-vernetsja-li-v-rossiju/a-57830619</a:t>
            </a:r>
          </a:p>
          <a:p xmlns:a="http://schemas.openxmlformats.org/drawingml/2006/main">
            <a:r>
              <a:t>https://ru.wikipedia.org/wiki/%D0%93%D1%83%D0%B4%D0%BA%D0%BE%D0%B2,_%D0%93%D0%B5%D0%BD%D0%BD%D0%B0%D0%B4%D0%B8%D0%B9_%D0%92%D0%BB%D0%B0%D0%B4%D0%B8%D0%BC%D0%B8%D1%80%D0%BE%D0%B2%D0%B8%D1%87</a:t>
            </a:r>
          </a:p>
          <a:p xmlns:a="http://schemas.openxmlformats.org/drawingml/2006/main">
            <a:r>
              <a:t>https://ru.wikipedia.org/wiki/%D0%93%D1%83%D0%B4%D0%BA%D0%BE%D0%B2,_%D0%94%D0%BC%D0%B8%D1%82%D1%80%D0%B8%D0%B9_%D0%93%D0%B5%D0%BD%D0%BD%D0%B0%D0%B4%D1%8C%D0%B5%D0%B2%D0%B8%D1%87</a:t>
            </a:r>
          </a:p>
          <a:p xmlns:a="http://schemas.openxmlformats.org/drawingml/2006/main">
            <a:r>
              <a:t>https://utro02.tv/2022/10/31/navstrechu-sezdu-gennadij-gudkov-o-vyborah-obedinenii-oppoziczii-i-razdelenii-vlasti/</a:t>
            </a:r>
          </a:p>
          <a:p xmlns:a="http://schemas.openxmlformats.org/drawingml/2006/main">
            <a:r>
              <a:t>https://www.unian.net/war/rossiyskiy-oppozicioner-gudkov-putin-nachinaet-ponimat-chto-nastupaet-zh-pa-12031263.html</a:t>
            </a:r>
          </a:p>
          <a:p xmlns:a="http://schemas.openxmlformats.org/drawingml/2006/main">
            <a:r>
              <a:t>https://bntnews.bg/genadiy-gudkov-86846tag.html</a:t>
            </a:r>
          </a:p>
          <a:p xmlns:a="http://schemas.openxmlformats.org/drawingml/2006/main">
            <a:r>
              <a:t>https://tass.ru/encyclopedia/person/gudkov-dmitriy-gennadevich</a:t>
            </a:r>
          </a:p>
          <a:p xmlns:a="http://schemas.openxmlformats.org/drawingml/2006/main">
            <a:r>
              <a:t>https://www.kasparov.com/garry-kasparov-on-putin-and-the-virus-of-imperialism-wsj-free-expression-april-11-2022/</a:t>
            </a:r>
          </a:p>
          <a:p xmlns:a="http://schemas.openxmlformats.org/drawingml/2006/main">
            <a:r>
              <a:t>https://www.ilmessaggero.it/en/garry_kasparov_from_chess_champion_to_kremlin_critic-9797261.html</a:t>
            </a:r>
          </a:p>
          <a:p xmlns:a="http://schemas.openxmlformats.org/drawingml/2006/main">
            <a:r>
              <a:t>https://www.kasparov.com/category/russia/</a:t>
            </a:r>
          </a:p>
          <a:p xmlns:a="http://schemas.openxmlformats.org/drawingml/2006/main">
            <a:r>
              <a:t>https://www.kasparov.com/category/politics/</a:t>
            </a:r>
          </a:p>
          <a:p xmlns:a="http://schemas.openxmlformats.org/drawingml/2006/main">
            <a:r>
              <a:t>https://en.wikipedia.org/wiki/Political_views_of_Garry_Kasparov</a:t>
            </a:r>
          </a:p>
          <a:p xmlns:a="http://schemas.openxmlformats.org/drawingml/2006/main">
            <a:r>
              <a:t>https://www.dw.com/ru/kasparov-v-intervu-dw-vse-cto-delal-delaet-i-budet-delat-tramp-pomogaet-putinu/a-79633734</a:t>
            </a:r>
          </a:p>
          <a:p xmlns:a="http://schemas.openxmlformats.org/drawingml/2006/main">
            <a:r>
              <a:t>https://www.kasparov.com/</a:t>
            </a:r>
          </a:p>
          <a:p xmlns:a="http://schemas.openxmlformats.org/drawingml/2006/main">
            <a:r>
              <a:t>https://www.kasparov.com/a-conversation-with-garry-kasparov-thought-economics-with-vikas-shas-may-21-2017/</a:t>
            </a:r>
          </a:p>
          <a:p xmlns:a="http://schemas.openxmlformats.org/drawingml/2006/main">
            <a:r>
              <a:t>https://www.kasparov.com/new-yorker-interview-the-chess-grandmaster-and-political-activist-on-putin-trump-and-how-we-are-living-again-through-the-eighteen-fifties/</a:t>
            </a:r>
          </a:p>
          <a:p xmlns:a="http://schemas.openxmlformats.org/drawingml/2006/main">
            <a:r>
              <a:t>https://www.cnbc.com/2017/02/13/the-full-interview-with-former-world-chess-champion-garry-kasparov-on-trump-putin.html</a:t>
            </a:r>
          </a:p>
          <a:p xmlns:a="http://schemas.openxmlformats.org/drawingml/2006/main">
            <a:r>
              <a:t>https://www.reuters.com/world/europe/kasparov-calls-world-powers-throw-russia-back-into-stone-age-2022-03-03/</a:t>
            </a:r>
          </a:p>
          <a:p xmlns:a="http://schemas.openxmlformats.org/drawingml/2006/main">
            <a:r>
              <a:t>https://khodorkovsky.com/open-russia-manifesto/</a:t>
            </a:r>
          </a:p>
          <a:p xmlns:a="http://schemas.openxmlformats.org/drawingml/2006/main">
            <a:r>
              <a:t>https://khodorkovsky.com/programmes/initiatives/openrussia/</a:t>
            </a:r>
          </a:p>
          <a:p xmlns:a="http://schemas.openxmlformats.org/drawingml/2006/main">
            <a:r>
              <a:t>https://khodorkovsky.com/page/65/?m</a:t>
            </a:r>
          </a:p>
          <a:p xmlns:a="http://schemas.openxmlformats.org/drawingml/2006/main">
            <a:r>
              <a:t>https://khodorkovsky.com/page/80/?m</a:t>
            </a:r>
          </a:p>
          <a:p xmlns:a="http://schemas.openxmlformats.org/drawingml/2006/main">
            <a:r>
              <a:t>https://angliya.com/publication/mihail-hodorkovskiy-ne-priznayu-razdelenie-lyudey-na-osnovanii-politicheskih-vzglyadov/</a:t>
            </a:r>
          </a:p>
          <a:p xmlns:a="http://schemas.openxmlformats.org/drawingml/2006/main">
            <a:r>
              <a:t>https://www.dw.com/ru/mihail-hodorkovski-bojus-jeta-vojna-ne-budet-poslednej/a-61314556</a:t>
            </a:r>
          </a:p>
          <a:p xmlns:a="http://schemas.openxmlformats.org/drawingml/2006/main">
            <a:r>
              <a:t>https://ru.euronews.com/2022/06/21/ru-khodorkovsky-interview</a:t>
            </a:r>
          </a:p>
          <a:p xmlns:a="http://schemas.openxmlformats.org/drawingml/2006/main">
            <a:r>
              <a:t>https://ru.euronews.com/2022/06/23/mikhail-khodorkovsky</a:t>
            </a:r>
          </a:p>
          <a:p xmlns:a="http://schemas.openxmlformats.org/drawingml/2006/main">
            <a:r>
              <a:t>https://poligonmedia.io/mihail-hodorkovskij-putin-ne-pobedil/</a:t>
            </a:r>
          </a:p>
          <a:p xmlns:a="http://schemas.openxmlformats.org/drawingml/2006/main">
            <a:r>
              <a:t>https://www.pap.pl/ru/russian/news/khodorkovskiy-u-putina-est-prichiny-vesti-peregovory-o-prekraschenii-voyny-na-ukraine</a:t>
            </a:r>
          </a:p>
          <a:p xmlns:a="http://schemas.openxmlformats.org/drawingml/2006/main">
            <a:r>
              <a:t>https://milov.org/cat/debates</a:t>
            </a:r>
          </a:p>
          <a:p xmlns:a="http://schemas.openxmlformats.org/drawingml/2006/main">
            <a:r>
              <a:t>https://milov.org/entry/4188</a:t>
            </a:r>
          </a:p>
          <a:p xmlns:a="http://schemas.openxmlformats.org/drawingml/2006/main">
            <a:r>
              <a:t>https://milov.org/cat/international</a:t>
            </a:r>
          </a:p>
          <a:p xmlns:a="http://schemas.openxmlformats.org/drawingml/2006/main">
            <a:r>
              <a:t>https://tvrain.tv/teleshow/amerikanskie_gonki/tramp_vynashivaet_ideju_primiritsja_s_putinym-453802/</a:t>
            </a:r>
          </a:p>
          <a:p xmlns:a="http://schemas.openxmlformats.org/drawingml/2006/main">
            <a:r>
              <a:t>https://www.currenttime.tv/a/vladimir-milov-interview/31505887.html</a:t>
            </a:r>
          </a:p>
          <a:p xmlns:a="http://schemas.openxmlformats.org/drawingml/2006/main">
            <a:r>
              <a:t>https://ovd.info/express-news/2021/07/27/roskomnadzor-potreboval-ot-youtube-zablokirovat-kanaly-troikh-soratnikov</a:t>
            </a:r>
          </a:p>
          <a:p xmlns:a="http://schemas.openxmlformats.org/drawingml/2006/main">
            <a:r>
              <a:t>https://www.dw.com/ru/sud-v-moskve-prigovoril-vladimira-milova-k-8-godam-kolonii/a-67415717</a:t>
            </a:r>
          </a:p>
          <a:p xmlns:a="http://schemas.openxmlformats.org/drawingml/2006/main">
            <a:r>
              <a:t>https://ru.wikipedia.org/wiki/%D0%9C%D0%B8%D0%BB%D0%BE%D0%B2,_%D0%92%D0%BB%D0%B0%D0%B4%D0%B8%D0%BC%D0%B8%D1%80_%D0%A1%D1%82%D0%B0%D0%BD%D0%B8%D1%81%D0%BB%D0%B0%D0%B2%D0%BE%D0%B2%D0%B8%D1%87</a:t>
            </a:r>
          </a:p>
          <a:p xmlns:a="http://schemas.openxmlformats.org/drawingml/2006/main">
            <a:r>
              <a:t>https://gordonua.com/news/worldnews/milov-merkel-molodec-poteryala-vsego-7-8-v-polzu-svezhey-antiimmigrantskoy-partii-na-fone-migrantskogo-krizisa-208758.html</a:t>
            </a:r>
          </a:p>
          <a:p xmlns:a="http://schemas.openxmlformats.org/drawingml/2006/main">
            <a:r>
              <a:t>https://echofm.online/programs/hochu-skazat/hochu-skazat-larina-69</a:t>
            </a:r>
          </a:p>
          <a:p xmlns:a="http://schemas.openxmlformats.org/drawingml/2006/main">
            <a:r>
              <a:t>https://www.hoover.org/plus/research/russian-opposition-and-ukraine-conversation-vladimir-milov</a:t>
            </a:r>
          </a:p>
          <a:p xmlns:a="http://schemas.openxmlformats.org/drawingml/2006/main">
            <a:r>
              <a:t>https://www.golosameriki.com/a/washington-dialogue-russian-opposition-conference/7648250.html</a:t>
            </a:r>
          </a:p>
          <a:p xmlns:a="http://schemas.openxmlformats.org/drawingml/2006/main">
            <a:r>
              <a:t>https://glavred.info/chat/1337-vladimir-milov.html</a:t>
            </a:r>
          </a:p>
          <a:p xmlns:a="http://schemas.openxmlformats.org/drawingml/2006/main">
            <a:r>
              <a:t>https://www.interfax.ru/moscow/669378</a:t>
            </a:r>
          </a:p>
          <a:p xmlns:a="http://schemas.openxmlformats.org/drawingml/2006/main">
            <a:r>
              <a:t>https://tass.ru/politika/6670439</a:t>
            </a:r>
          </a:p>
          <a:p xmlns:a="http://schemas.openxmlformats.org/drawingml/2006/main">
            <a:r>
              <a:t>https://www.rbc.ru/politics/16/07/2019/5d2c8b3b9a794799a7c7d413</a:t>
            </a:r>
          </a:p>
          <a:p xmlns:a="http://schemas.openxmlformats.org/drawingml/2006/main">
            <a:r>
              <a:t>https://www.bbc.com/russian/news-56269079</a:t>
            </a:r>
          </a:p>
          <a:p xmlns:a="http://schemas.openxmlformats.org/drawingml/2006/main">
            <a:r>
              <a:t>https://ovd.info/express-news/2020/12/28/s-yurista-fbk-kotoraya-provela-pochti-dvoe-sutok-v-ivs-pytalis-vzyat</a:t>
            </a:r>
          </a:p>
          <a:p xmlns:a="http://schemas.openxmlformats.org/drawingml/2006/main">
            <a:r>
              <a:t>https://ovd.info/express-news/2021/02/26/prokuratura-utverdila-obvinenie-sobol-po-delu-o-proniknovenii-v-kvartiru</a:t>
            </a:r>
          </a:p>
          <a:p xmlns:a="http://schemas.openxmlformats.org/drawingml/2006/main">
            <a:r>
              <a:t>https://ovd.info/express-news/2020/12/29/protiv-alekseya-navalnogo-vozbudili-ugolovnoe-delo-o-moshennichestve-iz-za</a:t>
            </a:r>
          </a:p>
          <a:p xmlns:a="http://schemas.openxmlformats.org/drawingml/2006/main">
            <a:r>
              <a:t>https://www.currenttime.tv/a/sobol/31723600.html</a:t>
            </a:r>
          </a:p>
          <a:p xmlns:a="http://schemas.openxmlformats.org/drawingml/2006/main">
            <a:r>
              <a:t>https://www.currenttime.tv/interview/episodes/2022/2/26</a:t>
            </a:r>
          </a:p>
          <a:p xmlns:a="http://schemas.openxmlformats.org/drawingml/2006/main">
            <a:r>
              <a:t>https://ochevidcy.com/putin-budet-vorovat-do-groba/</a:t>
            </a:r>
          </a:p>
          <a:p xmlns:a="http://schemas.openxmlformats.org/drawingml/2006/main">
            <a:r>
              <a:t>https://www.svoboda.org/a/32881433.html</a:t>
            </a:r>
          </a:p>
          <a:p xmlns:a="http://schemas.openxmlformats.org/drawingml/2006/main">
            <a:r>
              <a:t>https://echofm.online/programs/idyom-po-zvyozdam/idyom-po-zvezdam-s-lyubovyu-sobol</a:t>
            </a:r>
          </a:p>
          <a:p xmlns:a="http://schemas.openxmlformats.org/drawingml/2006/main">
            <a:r>
              <a:t>https://x.com/SobolLubov</a:t>
            </a:r>
          </a:p>
          <a:p xmlns:a="http://schemas.openxmlformats.org/drawingml/2006/main">
            <a:r>
              <a:t>https://stuki-druki.com/authors/sobol-lubov.php</a:t>
            </a:r>
          </a:p>
          <a:p xmlns:a="http://schemas.openxmlformats.org/drawingml/2006/main">
            <a:r>
              <a:t>https://www.interfax.ru/elections2018/593143</a:t>
            </a:r>
          </a:p>
          <a:p xmlns:a="http://schemas.openxmlformats.org/drawingml/2006/main">
            <a:r>
              <a:t>https://elections2018.tass.ru/candidate/sobchak</a:t>
            </a:r>
          </a:p>
          <a:p xmlns:a="http://schemas.openxmlformats.org/drawingml/2006/main">
            <a:r>
              <a:t>https://www.interfax.ru/elections2018/604186</a:t>
            </a:r>
          </a:p>
          <a:p xmlns:a="http://schemas.openxmlformats.org/drawingml/2006/main">
            <a:r>
              <a:t>https://www.interfax.ru/elections2018/604908</a:t>
            </a:r>
          </a:p>
          <a:p xmlns:a="http://schemas.openxmlformats.org/drawingml/2006/main">
            <a:r>
              <a:t>https://www.consultant.ru/law/hotdocs/53066.html</a:t>
            </a:r>
          </a:p>
          <a:p xmlns:a="http://schemas.openxmlformats.org/drawingml/2006/main">
            <a:r>
              <a:t>https://www.rbc.ru/newspaper/2018/03/20/5aae9ca49a794739b02918a0</a:t>
            </a:r>
          </a:p>
          <a:p xmlns:a="http://schemas.openxmlformats.org/drawingml/2006/main">
            <a:r>
              <a:t>https://www.interfax.ru/elections2018/604136</a:t>
            </a:r>
          </a:p>
          <a:p xmlns:a="http://schemas.openxmlformats.org/drawingml/2006/main">
            <a:r>
              <a:t>https://www.interfax.ru/elections2018/604190</a:t>
            </a:r>
          </a:p>
          <a:p xmlns:a="http://schemas.openxmlformats.org/drawingml/2006/main">
            <a:r>
              <a:t>https://www.rbc.ru/economics/25/12/2017/5a4025f19a79472e3f5f4ad9?from=right_column_materials_3</a:t>
            </a:r>
          </a:p>
          <a:p xmlns:a="http://schemas.openxmlformats.org/drawingml/2006/main">
            <a:r>
              <a:t>https://news.ru/show-business/otezd-iz-rf-vybory-svo-v-chem-priznalas-kseniya-sobchak-v-novom-intervyu</a:t>
            </a:r>
          </a:p>
          <a:p xmlns:a="http://schemas.openxmlformats.org/drawingml/2006/main">
            <a:r>
              <a:t>https://rtvi.com/news/sobchak-otvetila-na-vopros-putin-ili-zelenskij/</a:t>
            </a:r>
          </a:p>
          <a:p xmlns:a="http://schemas.openxmlformats.org/drawingml/2006/main">
            <a:r>
              <a:t>https://informator.ua/ru/kompromissy-iz-rf-legitimnost-zelenskogo-i-gotovnost-pozhat-ruku-putinu-o-chem-govoril-arestovich-v-intervyu-sobchak</a:t>
            </a:r>
          </a:p>
          <a:p xmlns:a="http://schemas.openxmlformats.org/drawingml/2006/main">
            <a:r>
              <a:t>https://rassvet-party.info/</a:t>
            </a:r>
          </a:p>
          <a:p xmlns:a="http://schemas.openxmlformats.org/drawingml/2006/main">
            <a:r>
              <a:t>https://en.wikipedia.org/wiki/Yekaterina_Duntsova</a:t>
            </a:r>
          </a:p>
          <a:p xmlns:a="http://schemas.openxmlformats.org/drawingml/2006/main">
            <a:r>
              <a:t>https://www.dw.com/ru/cto-nuzno-znat-o-ekaterine-duncovoj-kotoraa-hocet-stat-prezidentom-rf/a-67832425</a:t>
            </a:r>
          </a:p>
          <a:p xmlns:a="http://schemas.openxmlformats.org/drawingml/2006/main">
            <a:r>
              <a:t>https://baj.media/ru/ya-gotova-idti-do-konca-zhurnalistka-iz-rossiyskoy-provincii-reshila-stat-prezidentom-i-2/</a:t>
            </a:r>
          </a:p>
          <a:p xmlns:a="http://schemas.openxmlformats.org/drawingml/2006/main">
            <a:r>
              <a:t>https://echofm.online/portret-dnya/portret-dnya-ekaterina-dunczova-reshivshaya-vydvinutsya-kandidatom-v-prezidenty-rossii-zhurnalistka-iz-rzheva</a:t>
            </a:r>
          </a:p>
          <a:p xmlns:a="http://schemas.openxmlformats.org/drawingml/2006/main">
            <a:r>
              <a:t>https://novayagazeta.eu/articles/2024/03/15/zlost-i-nenavist-vsem-nadoeli</a:t>
            </a:r>
          </a:p>
          <a:p xmlns:a="http://schemas.openxmlformats.org/drawingml/2006/main">
            <a:r>
              <a:t>https://altapress.ru/politika/story/kto-takaya-ekaterina-duntsova-kotoraya-sobiraetsya-stat-poslednim-prezidentom-rossii-i-kto-eshche-hochet-ballotirovatsya-336526</a:t>
            </a:r>
          </a:p>
          <a:p xmlns:a="http://schemas.openxmlformats.org/drawingml/2006/main">
            <a:r>
              <a:t>https://cherta.media/interview/ekaterina-duncova-kandidat-v-prezidenty/</a:t>
            </a:r>
          </a:p>
          <a:p xmlns:a="http://schemas.openxmlformats.org/drawingml/2006/main">
            <a:r>
              <a:t>https://novayagazeta.eu/articles/2023/12/05/zachem-ia-budu-stoiat-na-barrikadakh-esli-mogu-zanimatsia-realnymi-delami</a:t>
            </a:r>
          </a:p>
          <a:p xmlns:a="http://schemas.openxmlformats.org/drawingml/2006/main">
            <a:r>
              <a:t>https://holod.media/2023/12/20/ekaterina-duntsova-view/</a:t>
            </a:r>
          </a:p>
          <a:p xmlns:a="http://schemas.openxmlformats.org/drawingml/2006/main">
            <a:r>
              <a:t>https://www.dw.com/ru/ekaterina-duncova-o-sozdanii-partii-rassvet-my-mezdu-dvuh-ognej/a-68992724</a:t>
            </a:r>
          </a:p>
          <a:p xmlns:a="http://schemas.openxmlformats.org/drawingml/2006/main">
            <a:r>
              <a:t>https://rassvet-party.info/static/program.pdf</a:t>
            </a:r>
          </a:p>
          <a:p xmlns:a="http://schemas.openxmlformats.org/drawingml/2006/main">
            <a:r>
              <a:t>https://www.currenttime.tv/a/ekaterina-duntsova-o-sozdanii-partii-i-svoem-zaderzhanii/32775510.html</a:t>
            </a:r>
          </a:p>
          <a:p xmlns:a="http://schemas.openxmlformats.org/drawingml/2006/main">
            <a:r>
              <a:t>https://duntsovainitiative.1c-umi.ru/galereya/</a:t>
            </a:r>
          </a:p>
          <a:p xmlns:a="http://schemas.openxmlformats.org/drawingml/2006/main">
            <a:r>
              <a:t>https://rassvet-party.info/static/manifest.pdf</a:t>
            </a:r>
          </a:p>
          <a:p xmlns:a="http://schemas.openxmlformats.org/drawingml/2006/main">
            <a:r>
              <a:t>https://www.rbc.ru/person/65afb4a99a79470e434da73d</a:t>
            </a:r>
          </a:p>
          <a:p xmlns:a="http://schemas.openxmlformats.org/drawingml/2006/main">
            <a:r>
              <a:t>https://www.bbc.com/russian/articles/c84npr0wxx9o</a:t>
            </a:r>
          </a:p>
          <a:p xmlns:a="http://schemas.openxmlformats.org/drawingml/2006/main">
            <a:r>
              <a:t>https://www.rbc.ru/politics/08/02/2024/65c3749b9a79479ef5fe7934</a:t>
            </a:r>
          </a:p>
          <a:p xmlns:a="http://schemas.openxmlformats.org/drawingml/2006/main">
            <a:r>
              <a:t>https://www.business-gazeta.ru/article/622600</a:t>
            </a:r>
          </a:p>
          <a:p xmlns:a="http://schemas.openxmlformats.org/drawingml/2006/main">
            <a:r>
              <a:t>https://semnasem.org/articles/2024/02/02/poslednij-sredi-antivoennyh-kto-takoj-boris-nadezhdin-kotoryj-vse-eshe-nadeetsya-stat-prezidentom</a:t>
            </a:r>
          </a:p>
          <a:p xmlns:a="http://schemas.openxmlformats.org/drawingml/2006/main">
            <a:r>
              <a:t>https://novayagazeta.eu/articles/2024/02/03/17-marta-nachalo-kontsa-epokhi-putina</a:t>
            </a:r>
          </a:p>
          <a:p xmlns:a="http://schemas.openxmlformats.org/drawingml/2006/main">
            <a:r>
              <a:t>https://www.youtube.com/watch?v=mGMdgxBCdns</a:t>
            </a:r>
          </a:p>
          <a:p xmlns:a="http://schemas.openxmlformats.org/drawingml/2006/main">
            <a:r>
              <a:t>https://www.dw.com/ru/boris-nadezdin-moj-rejting-rastet-na-5-v-nedelu/a-68154251</a:t>
            </a:r>
          </a:p>
          <a:p xmlns:a="http://schemas.openxmlformats.org/drawingml/2006/main">
            <a:r>
              <a:t>https://ovd.info/express-news/2026/07/17/u-menya-dva-puti-lenina-ili-navalnogo-chto-nuzhno-znat-o-borise-nadezhdine</a:t>
            </a:r>
          </a:p>
          <a:p xmlns:a="http://schemas.openxmlformats.org/drawingml/2006/main">
            <a:r>
              <a:t>https://www.rbc.ru/person/65afb4a99a79470e434da73d?ysclid=mrt22n99to603501119</a:t>
            </a:r>
          </a:p>
          <a:p xmlns:a="http://schemas.openxmlformats.org/drawingml/2006/main">
            <a:r>
              <a:t>https://www.youtube.com/watch?v=UNytg_H_1pY</a:t>
            </a:r>
          </a:p>
          <a:p xmlns:a="http://schemas.openxmlformats.org/drawingml/2006/main">
            <a:r>
              <a:t>https://www.youtube.com/watch?v=DwTC5bilf_8</a:t>
            </a:r>
          </a:p>
          <a:p xmlns:a="http://schemas.openxmlformats.org/drawingml/2006/main">
            <a:r>
              <a:t>https://www.youtube.com/watch?v=sG4_THnT9W0</a:t>
            </a:r>
          </a:p>
          <a:p xmlns:a="http://schemas.openxmlformats.org/drawingml/2006/main">
            <a:r>
              <a:t>https://www.rbc.ru/rbcfreenews/6586cdf49a79479c3cd3d4b3</a:t>
            </a:r>
          </a:p>
          <a:p xmlns:a="http://schemas.openxmlformats.org/drawingml/2006/main">
            <a:r>
              <a:t>https://kprf.ru/activity/elections/223485.html/print</a:t>
            </a:r>
          </a:p>
          <a:p xmlns:a="http://schemas.openxmlformats.org/drawingml/2006/main">
            <a:r>
              <a:t>http://msk.kprf.ru/2024/01/24/247473/</a:t>
            </a:r>
          </a:p>
          <a:p xmlns:a="http://schemas.openxmlformats.org/drawingml/2006/main">
            <a:r>
              <a:t>https://www.dw.com/ru/vybory-prezidenta-rossii-2024/a-68528003</a:t>
            </a:r>
          </a:p>
          <a:p xmlns:a="http://schemas.openxmlformats.org/drawingml/2006/main">
            <a:r>
              <a:t>https://ru.wikipedia.org/wiki/%D0%A5%D0%B0%D1%80%D0%B8%D1%82%D0%BE%D0%BD%D0%BE%D0%B2,_%D0%9D%D0%B8%D0%BA%D0%BE%D0%BB%D0%B0%D0%B9_%D0%9C%D0%B8%D1%85%D0%B0%D0%B9%D0%BB%D0%BE%D0%B2%D0%B8%D1%87</a:t>
            </a:r>
          </a:p>
          <a:p xmlns:a="http://schemas.openxmlformats.org/drawingml/2006/main">
            <a:r>
              <a:t>https://kprf.ru/party-live/cknews/225170.html</a:t>
            </a:r>
          </a:p>
          <a:p xmlns:a="http://schemas.openxmlformats.org/drawingml/2006/main">
            <a:r>
              <a:t>https://kprf.ru/dep/gosduma/activities/232802.html</a:t>
            </a:r>
          </a:p>
          <a:p xmlns:a="http://schemas.openxmlformats.org/drawingml/2006/main">
            <a:r>
              <a:t>https://kprf35.com/2024/02/17/32710/</a:t>
            </a:r>
          </a:p>
          <a:p xmlns:a="http://schemas.openxmlformats.org/drawingml/2006/main">
            <a:r>
              <a:t>https://www.pkokprf.ru/news/view/35448</a:t>
            </a:r>
          </a:p>
          <a:p xmlns:a="http://schemas.openxmlformats.org/drawingml/2006/main">
            <a:r>
              <a:t>https://altkprf.ru/upload/iblock/eea/jiv0wm7hzk6gq4qdxw0r5wvp7zwb6luk.pdf</a:t>
            </a:r>
          </a:p>
          <a:p xmlns:a="http://schemas.openxmlformats.org/drawingml/2006/main">
            <a:r>
              <a:t>https://kprf.ru/activity/army/224789.html</a:t>
            </a:r>
          </a:p>
          <a:p xmlns:a="http://schemas.openxmlformats.org/drawingml/2006/main">
            <a:r>
              <a:t>https://gazeta-pravda.ru/issue/24-31517-711-marta-2024-goda-/alternativa-polupravde/</a:t>
            </a:r>
          </a:p>
          <a:p xmlns:a="http://schemas.openxmlformats.org/drawingml/2006/main">
            <a:r>
              <a:t>https://spbpalata.ru/?p=13755</a:t>
            </a:r>
          </a:p>
          <a:p xmlns:a="http://schemas.openxmlformats.org/drawingml/2006/main">
            <a:r>
              <a:t>https://kprf.ru/activity/elections/171941.html</a:t>
            </a:r>
          </a:p>
          <a:p xmlns:a="http://schemas.openxmlformats.org/drawingml/2006/main">
            <a:r>
              <a:t>https://kprf.ru/party-live/cknews/171994.html</a:t>
            </a:r>
          </a:p>
          <a:p xmlns:a="http://schemas.openxmlformats.org/drawingml/2006/main">
            <a:r>
              <a:t>https://elections2018.tass.ru/candidate/grudinin</a:t>
            </a:r>
          </a:p>
          <a:p xmlns:a="http://schemas.openxmlformats.org/drawingml/2006/main">
            <a:r>
              <a:t>https://www.bbc.com/russian/features-43105617</a:t>
            </a:r>
          </a:p>
          <a:p xmlns:a="http://schemas.openxmlformats.org/drawingml/2006/main">
            <a:r>
              <a:t>https://www.rbc.ru/politics/24/07/2021/60fbe35b9a794716f25253a0</a:t>
            </a:r>
          </a:p>
          <a:p xmlns:a="http://schemas.openxmlformats.org/drawingml/2006/main">
            <a:r>
              <a:t>https://kprf.ru/dep/reg/204410.html</a:t>
            </a:r>
          </a:p>
          <a:p xmlns:a="http://schemas.openxmlformats.org/drawingml/2006/main">
            <a:r>
              <a:t>https://msk.kprf.ru/2021/09/16/168273/</a:t>
            </a:r>
          </a:p>
          <a:p xmlns:a="http://schemas.openxmlformats.org/drawingml/2006/main">
            <a:r>
              <a:t>https://svpressa.ru/persons/pavel-grudinin/</a:t>
            </a:r>
          </a:p>
          <a:p xmlns:a="http://schemas.openxmlformats.org/drawingml/2006/main">
            <a:r>
              <a:t>https://carnegieendowment.org/ru/russia-eurasia/posts/2018/02/kuda-privedut-ekonomiku-rossii-20-shagov-grudinina</a:t>
            </a:r>
          </a:p>
          <a:p xmlns:a="http://schemas.openxmlformats.org/drawingml/2006/main">
            <a:r>
              <a:t>https://www.kompas-rf.ru/2018/01/2980/</a:t>
            </a:r>
          </a:p>
          <a:p xmlns:a="http://schemas.openxmlformats.org/drawingml/2006/main">
            <a:r>
              <a:t>https://www.svoboda.org/a/30073365.html</a:t>
            </a:r>
          </a:p>
          <a:p xmlns:a="http://schemas.openxmlformats.org/drawingml/2006/main">
            <a:r>
              <a:t>https://kandidativprezidenti.ru/programma-grudinina-2018/</a:t>
            </a:r>
          </a:p>
          <a:p xmlns:a="http://schemas.openxmlformats.org/drawingml/2006/main">
            <a:r>
              <a:t>https://mbk-news.appspot.com/suzhet/za-lenina-i-protiv-ege/</a:t>
            </a:r>
          </a:p>
          <a:p xmlns:a="http://schemas.openxmlformats.org/drawingml/2006/main">
            <a:r>
              <a:t>https://www.amnesty.org/ru/latest/research/2021/06/zayavlenie-rossijskaya-federacziya-obvinitelnyj-prigovor-nikolayu-platoshkinu-dolzhen-byt-otmenyon/</a:t>
            </a:r>
          </a:p>
          <a:p xmlns:a="http://schemas.openxmlformats.org/drawingml/2006/main">
            <a:r>
              <a:t>https://zona.media/article/2021/05/20/nikolay-nikolaevitch</a:t>
            </a:r>
          </a:p>
          <a:p xmlns:a="http://schemas.openxmlformats.org/drawingml/2006/main">
            <a:r>
              <a:t>https://novayagazeta.ru/articles/2020/06/05/85705-sotsialisticheskiy-prizyv</a:t>
            </a:r>
          </a:p>
          <a:p xmlns:a="http://schemas.openxmlformats.org/drawingml/2006/main">
            <a:r>
              <a:t>https://www.revda-info.ru/2020/08/26/v-revde-poyavilos-otdelenie-dvizheniya-za-novyj-sotsializm-ego-lider-sejchas-pod-arestom</a:t>
            </a:r>
          </a:p>
          <a:p xmlns:a="http://schemas.openxmlformats.org/drawingml/2006/main">
            <a:r>
              <a:t>https://new-socialism.org/o-dvizhenii/programma/</a:t>
            </a:r>
          </a:p>
          <a:p xmlns:a="http://schemas.openxmlformats.org/drawingml/2006/main">
            <a:r>
              <a:t>https://new-socialism.org/o-dvizhenii/lider/</a:t>
            </a:r>
          </a:p>
          <a:p xmlns:a="http://schemas.openxmlformats.org/drawingml/2006/main">
            <a:r>
              <a:t>https://www.themoscowtimes.com/2024/01/19/ilya-ponomaryov-we-have-to-capture-the-kremlin-there-is-no-other-way-a83772</a:t>
            </a:r>
          </a:p>
          <a:p xmlns:a="http://schemas.openxmlformats.org/drawingml/2006/main">
            <a:r>
              <a:t>https://www.dw.com/ru/cto-izvestno-o-rossijskih-podrazdeleniah-v-sostave-vsu/a-63915634</a:t>
            </a:r>
          </a:p>
          <a:p xmlns:a="http://schemas.openxmlformats.org/drawingml/2006/main">
            <a:r>
              <a:t>https://www.svoboda.org/a/32321226.html</a:t>
            </a:r>
          </a:p>
          <a:p xmlns:a="http://schemas.openxmlformats.org/drawingml/2006/main">
            <a:r>
              <a:t>https://hromadske.ua/ru/posts/nasha-cel-moskva-my-dolzhny-sbrosit-putina-rossijskie-partizany-mif-ili-pravda</a:t>
            </a:r>
          </a:p>
          <a:p xmlns:a="http://schemas.openxmlformats.org/drawingml/2006/main">
            <a:r>
              <a:t>https://epravda.com.ua/rus/publications/2018/06/11/637572/</a:t>
            </a:r>
          </a:p>
          <a:p xmlns:a="http://schemas.openxmlformats.org/drawingml/2006/main">
            <a:r>
              <a:t>https://pointmedia.io/story/672b355fdc48800406e0f515</a:t>
            </a:r>
          </a:p>
          <a:p xmlns:a="http://schemas.openxmlformats.org/drawingml/2006/main">
            <a:r>
              <a:t>https://ru.wikipedia.org/wiki/%D0%9B%D0%B5%D0%B3%D0%B8%D0%BE%D0%BD_%C2%AB%D0%A1%D0%B2%D0%BE%D0%B1%D0%BE%D0%B4%D0%B0_%D0%A0%D0%BE%D1%81%D1%81%D0%B8%D0%B8%C2%BB</a:t>
            </a:r>
          </a:p>
          <a:p xmlns:a="http://schemas.openxmlformats.org/drawingml/2006/main">
            <a:r>
              <a:t>https://ru.wikipedia.org/wiki/%D0%9F%D0%BE%D0%BD%D0%BE%D0%BC%D0%B0%D1%80%D1%91%D0%B2,_%D0%98%D0%BB%D1%8C%D1%8F_%D0%92%D0%BB%D0%B0%D0%B4%D0%B8%D0%BC%D0%B8%D1%80%D0%BE%D0%B2%D0%B8%D1%87</a:t>
            </a:r>
          </a:p>
          <a:p xmlns:a="http://schemas.openxmlformats.org/drawingml/2006/main">
            <a:r>
              <a:t>https://russophob.ru/person/ponomarev_ilya_vladimirovich</a:t>
            </a:r>
          </a:p>
          <a:p xmlns:a="http://schemas.openxmlformats.org/drawingml/2006/main">
            <a:r>
              <a:t>https://www.svoboda.org/a/32063164.html</a:t>
            </a:r>
          </a:p>
          <a:p xmlns:a="http://schemas.openxmlformats.org/drawingml/2006/main">
            <a:r>
              <a:t>https://www.kpbs.org/news/news/international/2023/03/26/a-scrappy-newscast-in-kyiv-aimed-at-russians-counters-putins-propaganda-machine</a:t>
            </a:r>
          </a:p>
          <a:p xmlns:a="http://schemas.openxmlformats.org/drawingml/2006/main">
            <a:r>
              <a:t>https://ovd.info/express-news/2022/10/02/politik-leonid-gozman-uekhal-iz-rossii-posle-dvukh-administrativnykh</a:t>
            </a:r>
          </a:p>
          <a:p xmlns:a="http://schemas.openxmlformats.org/drawingml/2006/main">
            <a:r>
              <a:t>https://ovd.info/express-news/2022/08/30/politika-leonida-gozmana-arestovali-na-15-sutok-iz-za-posta-v-feysbuke</a:t>
            </a:r>
          </a:p>
          <a:p xmlns:a="http://schemas.openxmlformats.org/drawingml/2006/main">
            <a:r>
              <a:t>https://www.rbc.ru/politics/15/07/2022/62d1b3f39a7947299cdeb6a4</a:t>
            </a:r>
          </a:p>
          <a:p xmlns:a="http://schemas.openxmlformats.org/drawingml/2006/main">
            <a:r>
              <a:t>https://novayagazeta.eu/articles/2022/07/15/sk-doprosil-politika-leonida-gozmana-kak-podozrevaemogo-po-delu-o-neuvedomlenii-o-vtorom-grazhdanstve-news</a:t>
            </a:r>
          </a:p>
          <a:p xmlns:a="http://schemas.openxmlformats.org/drawingml/2006/main">
            <a:r>
              <a:t>https://www.rbc.ru/politics/15/02/2024/65cdc9e09a7947a2995026fa</a:t>
            </a:r>
          </a:p>
          <a:p xmlns:a="http://schemas.openxmlformats.org/drawingml/2006/main">
            <a:r>
              <a:t>https://ovd.info/express-news/2025/01/22/leonida-gozmana-i-rovshana-askerova-vnesli-v-reestr-terroristov-i</a:t>
            </a:r>
          </a:p>
          <a:p xmlns:a="http://schemas.openxmlformats.org/drawingml/2006/main">
            <a:r>
              <a:t>https://www.rbc.ru/opinion-authors/gozman</a:t>
            </a:r>
          </a:p>
          <a:p xmlns:a="http://schemas.openxmlformats.org/drawingml/2006/main">
            <a:r>
              <a:t>https://novayagazeta.eu/articles/2022/07/25/ovd-info-v-moskve-zaderzhali-politika-leonida-gozmana-news</a:t>
            </a:r>
          </a:p>
          <a:p xmlns:a="http://schemas.openxmlformats.org/drawingml/2006/main">
            <a:r>
              <a:t>https://gefter.ru/archive/23487</a:t>
            </a:r>
          </a:p>
          <a:p xmlns:a="http://schemas.openxmlformats.org/drawingml/2006/main">
            <a:r>
              <a:t>https://www.svoboda.org/a/31147156.html</a:t>
            </a:r>
          </a:p>
          <a:p xmlns:a="http://schemas.openxmlformats.org/drawingml/2006/main">
            <a:r>
              <a:t>https://uatv.ua/gozman-putin-zagnal-rossiyu-v-ugol-sleduyushhij-shag-repressii/</a:t>
            </a:r>
          </a:p>
          <a:p xmlns:a="http://schemas.openxmlformats.org/drawingml/2006/main">
            <a:r>
              <a:t>https://echofm.online/programs/hochu-skazat/hochu-skazat-odin-protiv-vseh-kak-ne-dat-strahu-pobedit-sebya</a:t>
            </a:r>
          </a:p>
          <a:p xmlns:a="http://schemas.openxmlformats.org/drawingml/2006/main">
            <a:r>
              <a:t>https://www.svoboda.org/a/leonid-gozman-russkih-lyudey-neljzya-mazatj-odnoy-chernoy-kraskoy-/32732625.html</a:t>
            </a:r>
          </a:p>
          <a:p xmlns:a="http://schemas.openxmlformats.org/drawingml/2006/main">
            <a:r>
              <a:t>https://novayagazeta.eu/articles/2022/07/18/prepiatstvovat-prosveshcheniiu-liudei-vlast-budet-pulemiotami</a:t>
            </a:r>
          </a:p>
          <a:p xmlns:a="http://schemas.openxmlformats.org/drawingml/2006/main">
            <a:r>
              <a:t>https://www.svoboda.org/a/29652429.html</a:t>
            </a:r>
          </a:p>
          <a:p xmlns:a="http://schemas.openxmlformats.org/drawingml/2006/main">
            <a:r>
              <a:t>https://novayagazeta.eu/articles/2022/04/26/nesobliudenie-rezhima</a:t>
            </a:r>
          </a:p>
          <a:p xmlns:a="http://schemas.openxmlformats.org/drawingml/2006/main">
            <a:r>
              <a:t>https://novayagazeta.eu/articles/2022/07/21/zapiski-ugolovnika</a:t>
            </a:r>
          </a:p>
          <a:p xmlns:a="http://schemas.openxmlformats.org/drawingml/2006/main">
            <a:r>
              <a:t>https://novayagazeta.ru/authors/2349</a:t>
            </a:r>
          </a:p>
          <a:p xmlns:a="http://schemas.openxmlformats.org/drawingml/2006/main">
            <a:r>
              <a:t>https://www.rbc.ru/politics/10/08/2017/598c8d6d9a79474cff05cbab</a:t>
            </a:r>
          </a:p>
          <a:p xmlns:a="http://schemas.openxmlformats.org/drawingml/2006/main">
            <a:r>
              <a:t>https://www.bbc.com/russian/news-40853405</a:t>
            </a:r>
          </a:p>
          <a:p xmlns:a="http://schemas.openxmlformats.org/drawingml/2006/main">
            <a:r>
              <a:t>https://www.rbc.ru/politics/10/08/2017/598c0a8e9a7947569574ba10?from=right_column_materials_1</a:t>
            </a:r>
          </a:p>
          <a:p xmlns:a="http://schemas.openxmlformats.org/drawingml/2006/main">
            <a:r>
              <a:t>https://www.vedomosti.ru/politics/articles/2017/08/10/728820-udaltsov</a:t>
            </a:r>
          </a:p>
          <a:p xmlns:a="http://schemas.openxmlformats.org/drawingml/2006/main">
            <a:r>
              <a:t>https://www.interfax.ru/elections2018/598382</a:t>
            </a:r>
          </a:p>
          <a:p xmlns:a="http://schemas.openxmlformats.org/drawingml/2006/main">
            <a:r>
              <a:t>https://sotaproject.com/article/sergeia-udaltsova-opiat-pytaiutsia-posadit-khotia-on-vsego-lish-prosit-putina-postroit-sotsializm</a:t>
            </a:r>
          </a:p>
          <a:p xmlns:a="http://schemas.openxmlformats.org/drawingml/2006/main">
            <a:r>
              <a:t>https://www.gazeta.ru/tags/person/sergei_udaltsov.shtml</a:t>
            </a:r>
          </a:p>
          <a:p xmlns:a="http://schemas.openxmlformats.org/drawingml/2006/main">
            <a:r>
              <a:t>https://www.kommersant.ru/doc/8317316</a:t>
            </a:r>
          </a:p>
          <a:p xmlns:a="http://schemas.openxmlformats.org/drawingml/2006/main">
            <a:r>
              <a:t>https://www.kommersant.ru/doc/8972418</a:t>
            </a:r>
          </a:p>
          <a:p xmlns:a="http://schemas.openxmlformats.org/drawingml/2006/main">
            <a:r>
              <a:t>https://holod.media/2023/09/12/udaltsov-interview/</a:t>
            </a:r>
          </a:p>
          <a:p xmlns:a="http://schemas.openxmlformats.org/drawingml/2006/main">
            <a:r>
              <a:t>https://meduza.io/feature/2024/01/11/sergey-udaltsov-zaderzhan-po-obvineniyu-v-opravdanii-terrorizma</a:t>
            </a:r>
          </a:p>
          <a:p xmlns:a="http://schemas.openxmlformats.org/drawingml/2006/main">
            <a:r>
              <a:t>https://ref-book.sova-center.ru/index.php/%D0%94%D1%80%D1%83%D0%B3%D0%B0%D1%8F_%D0%A0%D0%BE%D1%81%D1%81%D0%B8%D1%8F,_%D0%BF%D0%B0%D1%80%D1%82%D0%B8%D1%8F</a:t>
            </a:r>
          </a:p>
          <a:p xmlns:a="http://schemas.openxmlformats.org/drawingml/2006/main">
            <a:r>
              <a:t>https://www.rbc.ru/society/17/03/2020/5e71048d9a79473925ab81a7</a:t>
            </a:r>
          </a:p>
          <a:p xmlns:a="http://schemas.openxmlformats.org/drawingml/2006/main">
            <a:r>
              <a:t>https://rt.rbc.ru/society/18/03/2020/5e71acc49a794773553f824e</a:t>
            </a:r>
          </a:p>
          <a:p xmlns:a="http://schemas.openxmlformats.org/drawingml/2006/main">
            <a:r>
              <a:t>https://www.bostonglobe.com/metro/obituaries/2020/03/18/russian-author-political-activist-eduard-limonov-dies/jnjHywBRjVTTgnlsqI12vN/story.html</a:t>
            </a:r>
          </a:p>
          <a:p xmlns:a="http://schemas.openxmlformats.org/drawingml/2006/main">
            <a:r>
              <a:t>https://nsn.fm/society/poslednee-intervu-pisatelya-i-politika-eduarda-limonova</a:t>
            </a:r>
          </a:p>
          <a:p xmlns:a="http://schemas.openxmlformats.org/drawingml/2006/main">
            <a:r>
              <a:t>http://www.grso.ru/person/limonov-eduard.html</a:t>
            </a:r>
          </a:p>
          <a:p xmlns:a="http://schemas.openxmlformats.org/drawingml/2006/main">
            <a:r>
              <a:t>https://ru.wikipedia.org/wiki/%D0%94%D1%80%D1%83%D0%B3%D0%B0%D1%8F_%D0%A0%D0%BE%D1%81%D1%81%D0%B8%D1%8F_%D0%AD._%D0%92._%D0%9B%D0%B8%D0%BC%D0%BE%D0%BD%D0%BE%D0%B2%D0%B0</a:t>
            </a:r>
          </a:p>
          <a:p xmlns:a="http://schemas.openxmlformats.org/drawingml/2006/main">
            <a:r>
              <a:t>https://novayagazeta.ru/articles/2017/03/12/71752-puteshestvie-natsbolov-k-putinu-i-obratno</a:t>
            </a:r>
          </a:p>
          <a:p xmlns:a="http://schemas.openxmlformats.org/drawingml/2006/main">
            <a:r>
              <a:t>https://mediabrest.by/news/lyudi/umer-eduard-limonov-chem-zapomnilsya-pisatel</a:t>
            </a:r>
          </a:p>
          <a:p xmlns:a="http://schemas.openxmlformats.org/drawingml/2006/main">
            <a:r>
              <a:t>https://www.limonow.de/read/EL_2013-2018_T.html</a:t>
            </a:r>
          </a:p>
          <a:p xmlns:a="http://schemas.openxmlformats.org/drawingml/2006/main">
            <a:r>
              <a:t>https://www.infpol.ru/203662-ot-ubezhdennogo-antisovetchika-do-kolumnista-rt/</a:t>
            </a:r>
          </a:p>
          <a:p xmlns:a="http://schemas.openxmlformats.org/drawingml/2006/main">
            <a:r>
              <a:t>https://www.bbc.com/russian/articles/c2eg90d7gg9o</a:t>
            </a:r>
          </a:p>
          <a:p xmlns:a="http://schemas.openxmlformats.org/drawingml/2006/main">
            <a:r>
              <a:t>https://www.dw.com/ru/mosgorsud-prigovoril-igora-girkina-strelkova-k-4-godam-kolonii/a-68080937</a:t>
            </a:r>
          </a:p>
          <a:p xmlns:a="http://schemas.openxmlformats.org/drawingml/2006/main">
            <a:r>
              <a:t>https://www.fontanka.ru/2023/07/21/72520253</a:t>
            </a:r>
          </a:p>
          <a:p xmlns:a="http://schemas.openxmlformats.org/drawingml/2006/main">
            <a:r>
              <a:t>https://www.svoboda.org/a/strelkov-iz-sizo-opasayusj-amnistii-kak-u-prigozhina-/32722083.html</a:t>
            </a:r>
          </a:p>
          <a:p xmlns:a="http://schemas.openxmlformats.org/drawingml/2006/main">
            <a:r>
              <a:t>https://ru.themoscowtimes.com/2023/12/07/girkin-zayavil-chto-opasaetsya-povtorit-sudbu-prigozhina-a115592</a:t>
            </a:r>
          </a:p>
          <a:p xmlns:a="http://schemas.openxmlformats.org/drawingml/2006/main">
            <a:r>
              <a:t>https://ru.krymr.com/a/boing-mn17-10-let-podozrevayemyye-obvinyayemyye-vinovnyye/33040170.html</a:t>
            </a:r>
          </a:p>
          <a:p xmlns:a="http://schemas.openxmlformats.org/drawingml/2006/main">
            <a:r>
              <a:t>https://charter97.org/ru/news/2023/7/22/556802/</a:t>
            </a:r>
          </a:p>
          <a:p xmlns:a="http://schemas.openxmlformats.org/drawingml/2006/main">
            <a:r>
              <a:t>https://t.me/s/pgubarev?after=622</a:t>
            </a:r>
          </a:p>
          <a:p xmlns:a="http://schemas.openxmlformats.org/drawingml/2006/main">
            <a:r>
              <a:t>https://rabkor.ru/columns/debates/2023/05/23/angry_patriots_of_an_imaginary_country/</a:t>
            </a:r>
          </a:p>
          <a:p xmlns:a="http://schemas.openxmlformats.org/drawingml/2006/main">
            <a:r>
              <a:t>https://www.bbc.com/news/world-60947877</a:t>
            </a:r>
          </a:p>
          <a:p xmlns:a="http://schemas.openxmlformats.org/drawingml/2006/main">
            <a:r>
              <a:t>https://www.reuters.com/world/europe/russian-mercenary-boss-courts-putin-with-ukrainian-battlefield-success-2023-01-13/</a:t>
            </a:r>
          </a:p>
          <a:p xmlns:a="http://schemas.openxmlformats.org/drawingml/2006/main">
            <a:r>
              <a:t>https://www.reuters.com/world/europe/russias-wagner-mercenaries-halt-prisoner-recruitment-campaign-founder-prigozhin-2023-02-09/</a:t>
            </a:r>
          </a:p>
          <a:p xmlns:a="http://schemas.openxmlformats.org/drawingml/2006/main">
            <a:r>
              <a:t>https://www.reuters.com/investigates/special-report/ukraine-crisis-russia-wagner/</a:t>
            </a:r>
          </a:p>
          <a:p xmlns:a="http://schemas.openxmlformats.org/drawingml/2006/main">
            <a:r>
              <a:t>https://www.reuters.com/world/europe/russias-wagner-chief-prigozhin-says-ukraine-counteroffensive-already-under-way-2023-05-03/</a:t>
            </a:r>
          </a:p>
          <a:p xmlns:a="http://schemas.openxmlformats.org/drawingml/2006/main">
            <a:r>
              <a:t>https://www.bbc.com/russian/media-66023357</a:t>
            </a:r>
          </a:p>
          <a:p xmlns:a="http://schemas.openxmlformats.org/drawingml/2006/main">
            <a:r>
              <a:t>https://www.reuters.com/world/europe/russias-prigozhin-his-own-words-mutiny-2023-06-26/</a:t>
            </a:r>
          </a:p>
          <a:p xmlns:a="http://schemas.openxmlformats.org/drawingml/2006/main">
            <a:r>
              <a:t>https://x.com/Reuters/status/1632709213641113601</a:t>
            </a:r>
          </a:p>
          <a:p xmlns:a="http://schemas.openxmlformats.org/drawingml/2006/main">
            <a:r>
              <a:t>https://www.reuters.com/world/europe/russian-mercenary-boss-says-moscows-war-ukraine-based-lies-2023-06-23/</a:t>
            </a:r>
          </a:p>
          <a:p xmlns:a="http://schemas.openxmlformats.org/drawingml/2006/main">
            <a:r>
              <a:t>https://www.rbc.ru/spb_sz/02/10/2026/6abfb91afd4c7ff957d9cbe8</a:t>
            </a:r>
          </a:p>
          <a:p xmlns:a="http://schemas.openxmlformats.org/drawingml/2006/main">
            <a:r>
              <a:t>https://www.zaks.ru/new/person/view/639</a:t>
            </a:r>
          </a:p>
          <a:p xmlns:a="http://schemas.openxmlformats.org/drawingml/2006/main">
            <a:r>
              <a:t>https://www.zaks.ru/new/archive/view/219520</a:t>
            </a:r>
          </a:p>
          <a:p xmlns:a="http://schemas.openxmlformats.org/drawingml/2006/main">
            <a:r>
              <a:t>https://tvspb.ru/news/2016/09/27/novyij-sostav-parlamenta-kto-zajmet-kresla-v-zakonodatelnom-sobranii-vi-sozyiva</a:t>
            </a:r>
          </a:p>
          <a:p xmlns:a="http://schemas.openxmlformats.org/drawingml/2006/main">
            <a:r>
              <a:t>https://tass.ru/politika/20994233</a:t>
            </a:r>
          </a:p>
          <a:p xmlns:a="http://schemas.openxmlformats.org/drawingml/2006/main">
            <a:r>
              <a:t>https://www.zaks.ru/new/archive/view/265712</a:t>
            </a:r>
          </a:p>
          <a:p xmlns:a="http://schemas.openxmlformats.org/drawingml/2006/main">
            <a:r>
              <a:t>https://www.zaks.ru/new/archive/view/269374</a:t>
            </a:r>
          </a:p>
          <a:p xmlns:a="http://schemas.openxmlformats.org/drawingml/2006/main">
            <a:r>
              <a:t>https://www.dp.ru/a/2026/10/02/oksana-dmitrieva-proigrala</a:t>
            </a:r>
          </a:p>
          <a:p xmlns:a="http://schemas.openxmlformats.org/drawingml/2006/main">
            <a:r>
              <a:t>https://ru.wikipedia.org/wiki/%D0%9F%D0%B0%D1%80%D1%82%D0%B8%D1%8F_%D1%80%D0%BE%D1%81%D1%82%D0%B0</a:t>
            </a:r>
          </a:p>
          <a:p xmlns:a="http://schemas.openxmlformats.org/drawingml/2006/main">
            <a:r>
              <a:t>https://dmitrieva.org/category/gosduma/zakonoproekty/</a:t>
            </a:r>
          </a:p>
          <a:p xmlns:a="http://schemas.openxmlformats.org/drawingml/2006/main">
            <a:r>
              <a:t>https://t.me/s/oxdmitrieva?before=1072</a:t>
            </a:r>
          </a:p>
          <a:p xmlns:a="http://schemas.openxmlformats.org/drawingml/2006/main">
            <a:r>
              <a:t>http://api.duma.gov.ru/api/transcriptFull/2023-09-28</a:t>
            </a:r>
          </a:p>
          <a:p xmlns:a="http://schemas.openxmlformats.org/drawingml/2006/main">
            <a:r>
              <a:t>https://www.fontanka.ru/2026/09/04/76623983/</a:t>
            </a:r>
          </a:p>
          <a:p xmlns:a="http://schemas.openxmlformats.org/drawingml/2006/main">
            <a:r>
              <a:t>https://www.vedomosti.ru/politics/articles/2026/03/10/1181644-deputat-semi-sozivov-oksana-dmitrieva-snova-poidet-v-gosdumu</a:t>
            </a:r>
          </a:p>
          <a:p xmlns:a="http://schemas.openxmlformats.org/drawingml/2006/main">
            <a:r>
              <a:t>https://www.kommersant.ru/doc/8497588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Исследование разведочное; численные группы могут возникать и в непрерывном пространстве.</a:t>
            </a:r>
          </a:p>
          <a:p xmlns:a="http://schemas.openxmlformats.org/drawingml/2006/main">
            <a:r>
              <a:t>Гауссова линейная FA приблизительна для ограниченных порядковых оценок; независимость ошибок шкал может нарушаться.</a:t>
            </a:r>
          </a:p>
          <a:p xmlns:a="http://schemas.openxmlformats.org/drawingml/2006/main">
            <a:r>
              <a:t>Сходимость и устойчивость алгоритма не подтверждают точность исходных оценок или полноту пространства.</a:t>
            </a:r>
          </a:p>
          <a:p xmlns:a="http://schemas.openxmlformats.org/drawingml/2006/main">
            <a:r>
              <a:t>Кластеризация условна на выбранных факторных баллах; устойчивость всего сбора и анализа отдельно не проверена.</a:t>
            </a:r>
          </a:p>
          <a:p xmlns:a="http://schemas.openxmlformats.org/drawingml/2006/main">
            <a:r>
              <a:t>При обучении пропуски заполнены средними обучающей выборки. Это техническое допущение; при проекции неизвестные шкалы маргинализируются.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Числа: metadata.json, scores.csv, loadings.csv и утверждённая матрица оценок.</a:t>
            </a:r>
          </a:p>
          <a:p xmlns:a="http://schemas.openxmlformats.org/drawingml/2006/main">
            <a:r>
              <a:t>Изучаемое пространство: Публичный политический образ российских политиков и иных заметных политических акторов, включая деятелей за рубежом, активных хотя бы в части периода. Не рейтинг популярности..</a:t>
            </a:r>
          </a:p>
          <a:p xmlns:a="http://schemas.openxmlformats.org/drawingml/2006/main">
            <a:r>
              <a:t>Оценщик: llm_exploratory.</a:t>
            </a:r>
          </a:p>
          <a:p xmlns:a="http://schemas.openxmlformats.org/drawingml/2006/main">
            <a:r>
              <a:t>Исходные URL:</a:t>
            </a:r>
          </a:p>
          <a:p xmlns:a="http://schemas.openxmlformats.org/drawingml/2006/main">
            <a:r>
              <a:t>https://kremlin.ru/structure/president</a:t>
            </a:r>
          </a:p>
          <a:p xmlns:a="http://schemas.openxmlformats.org/drawingml/2006/main">
            <a:r>
              <a:t>http://www.special.kremlin.ru/events/president/transcripts/67843</a:t>
            </a:r>
          </a:p>
          <a:p xmlns:a="http://schemas.openxmlformats.org/drawingml/2006/main">
            <a:r>
              <a:t>http://en.kremlin.ru/events/president/news/70315</a:t>
            </a:r>
          </a:p>
          <a:p xmlns:a="http://schemas.openxmlformats.org/drawingml/2006/main">
            <a:r>
              <a:t>http://special.kremlin.ru/events/president/transcripts/70565</a:t>
            </a:r>
          </a:p>
          <a:p xmlns:a="http://schemas.openxmlformats.org/drawingml/2006/main">
            <a:r>
              <a:t>http://special.kremlin.ru/events/president/transcripts/72994</a:t>
            </a:r>
          </a:p>
          <a:p xmlns:a="http://schemas.openxmlformats.org/drawingml/2006/main">
            <a:r>
              <a:t>http://kremlin.ru/events/president/news/73585</a:t>
            </a:r>
          </a:p>
          <a:p xmlns:a="http://schemas.openxmlformats.org/drawingml/2006/main">
            <a:r>
              <a:t>http://special.kremlin.ru/events/president/transcripts/75762</a:t>
            </a:r>
          </a:p>
          <a:p xmlns:a="http://schemas.openxmlformats.org/drawingml/2006/main">
            <a:r>
              <a:t>http://www.special.kremlin.ru/events/president/transcripts/76899</a:t>
            </a:r>
          </a:p>
          <a:p xmlns:a="http://schemas.openxmlformats.org/drawingml/2006/main">
            <a:r>
              <a:t>http://special.kremlin.ru/events/president/transcripts/80017</a:t>
            </a:r>
          </a:p>
          <a:p xmlns:a="http://schemas.openxmlformats.org/drawingml/2006/main">
            <a:r>
              <a:t>http://www.special.kremlin.ru/events/president/transcripts/72084</a:t>
            </a:r>
          </a:p>
          <a:p xmlns:a="http://schemas.openxmlformats.org/drawingml/2006/main">
            <a:r>
              <a:t>http://www.special.kremlin.ru/events/president/transcripts/80172</a:t>
            </a:r>
          </a:p>
          <a:p xmlns:a="http://schemas.openxmlformats.org/drawingml/2006/main">
            <a:r>
              <a:t>https://www.diva-portal.org/smash/get/diva2:2035197/FULLTEXT01.pdf</a:t>
            </a:r>
          </a:p>
          <a:p xmlns:a="http://schemas.openxmlformats.org/drawingml/2006/main">
            <a:r>
              <a:t>https://www.reuters.com/world/what-know-about-russias-upcoming-parliamentary-election-2026-09-15/</a:t>
            </a:r>
          </a:p>
          <a:p xmlns:a="http://schemas.openxmlformats.org/drawingml/2006/main">
            <a:r>
              <a:t>https://www.reuters.com/world/europe/how-putin-may-leverage-predictable-outcome-russias-elections-2026-09-18/</a:t>
            </a:r>
          </a:p>
          <a:p xmlns:a="http://schemas.openxmlformats.org/drawingml/2006/main">
            <a:r>
              <a:t>https://ru.wikipedia.org/wiki/Медведев,_Дмитрий_Анатольевич</a:t>
            </a:r>
          </a:p>
          <a:p xmlns:a="http://schemas.openxmlformats.org/drawingml/2006/main">
            <a:r>
              <a:t>https://tass.ru/ekonomika/3941450</a:t>
            </a:r>
          </a:p>
          <a:p xmlns:a="http://schemas.openxmlformats.org/drawingml/2006/main">
            <a:r>
              <a:t>http://archive.government.ru/docs/21653/print/</a:t>
            </a:r>
          </a:p>
          <a:p xmlns:a="http://schemas.openxmlformats.org/drawingml/2006/main">
            <a:r>
              <a:t>https://netfreedom.org.ua/ru/dmytro-anatoliiovych-medvediev-biohrafiia-posady-i-sanktsii/</a:t>
            </a:r>
          </a:p>
          <a:p xmlns:a="http://schemas.openxmlformats.org/drawingml/2006/main">
            <a:r>
              <a:t>https://verstka.media/czeli-svo-kak-kreml-menyal-ih-na-protyazhenii-tryoh-let-vojny</a:t>
            </a:r>
          </a:p>
          <a:p xmlns:a="http://schemas.openxmlformats.org/drawingml/2006/main">
            <a:r>
              <a:t>http://www.scrf.gov.ru/news/allnews/3820/</a:t>
            </a:r>
          </a:p>
          <a:p xmlns:a="http://schemas.openxmlformats.org/drawingml/2006/main">
            <a:r>
              <a:t>http://scrf.gov.ru/news/allnews/3837/</a:t>
            </a:r>
          </a:p>
          <a:p xmlns:a="http://schemas.openxmlformats.org/drawingml/2006/main">
            <a:r>
              <a:t>https://baike.baidu.com/ru/item/%D0%94%D0%BC%D0%B8%D1%82%D1%80%D0%B8%D0%B9%20%D0%90%D0%BD%D0%B0%D1%82%D0%BE%D0%BB%D1%8C%D0%B5%D0%B2%D0%B8%D1%87%20%D0%9C%D0%B5%D0%B4%D0%B2%D0%B5%D0%B4%D0%B5%D0%B2/3254451</a:t>
            </a:r>
          </a:p>
          <a:p xmlns:a="http://schemas.openxmlformats.org/drawingml/2006/main">
            <a:r>
              <a:t>https://tass.ru/politika/5889577</a:t>
            </a:r>
          </a:p>
          <a:p xmlns:a="http://schemas.openxmlformats.org/drawingml/2006/main">
            <a:r>
              <a:t>https://meduza.io/feature/2023/06/26/chto-proizoshlo-s-dmitriem-medvedevym</a:t>
            </a:r>
          </a:p>
          <a:p xmlns:a="http://schemas.openxmlformats.org/drawingml/2006/main">
            <a:r>
              <a:t>https://www.bbc.com/russian/articles/c6evw7d22lv0o</a:t>
            </a:r>
          </a:p>
          <a:p xmlns:a="http://schemas.openxmlformats.org/drawingml/2006/main">
            <a:r>
              <a:t>https://er.ru/activity/news/dmitrij-medvedev-edinaya-rossiya-ne-dopustit-razrusheniya-cennostnyh-osnov-strany</a:t>
            </a:r>
          </a:p>
          <a:p xmlns:a="http://schemas.openxmlformats.org/drawingml/2006/main">
            <a:r>
              <a:t>https://en.wikipedia.org/wiki/Media_freedom_in_Russia</a:t>
            </a:r>
          </a:p>
          <a:p xmlns:a="http://schemas.openxmlformats.org/drawingml/2006/main">
            <a:r>
              <a:t>https://government.ru/gov/persons/151/travel/?area=KHA</a:t>
            </a:r>
          </a:p>
          <a:p xmlns:a="http://schemas.openxmlformats.org/drawingml/2006/main">
            <a:r>
              <a:t>http://government.ru/gov/persons/151/biography/</a:t>
            </a:r>
          </a:p>
          <a:p xmlns:a="http://schemas.openxmlformats.org/drawingml/2006/main">
            <a:r>
              <a:t>https://www.reuters.com/world/europe/who-is-russias-mikhail-mishustin-2024-05-10/</a:t>
            </a:r>
          </a:p>
          <a:p xmlns:a="http://schemas.openxmlformats.org/drawingml/2006/main">
            <a:r>
              <a:t>https://www.kommersant.ru/doc/4220798</a:t>
            </a:r>
          </a:p>
          <a:p xmlns:a="http://schemas.openxmlformats.org/drawingml/2006/main">
            <a:r>
              <a:t>https://www.vedomosti.ru/politics/galleries/2026/03/03/1179718-nalogi-pod-kontrolem</a:t>
            </a:r>
          </a:p>
          <a:p xmlns:a="http://schemas.openxmlformats.org/drawingml/2006/main">
            <a:r>
              <a:t>http://government.ru/gov/persons/151/travel/?page=5</a:t>
            </a:r>
          </a:p>
          <a:p xmlns:a="http://schemas.openxmlformats.org/drawingml/2006/main">
            <a:r>
              <a:t>http://government.ru/news/46476/</a:t>
            </a:r>
          </a:p>
          <a:p xmlns:a="http://schemas.openxmlformats.org/drawingml/2006/main">
            <a:r>
              <a:t>http://government.ru/news/52063/</a:t>
            </a:r>
          </a:p>
          <a:p xmlns:a="http://schemas.openxmlformats.org/drawingml/2006/main">
            <a:r>
              <a:t>http://government.ru/news/52851/</a:t>
            </a:r>
          </a:p>
          <a:p xmlns:a="http://schemas.openxmlformats.org/drawingml/2006/main">
            <a:r>
              <a:t>https://nangs.org/news/society/kabmin-privlek-otdelnye-gosorgany-k-ukrepleniyu-traditsionnykh-tsennostej</a:t>
            </a:r>
          </a:p>
          <a:p xmlns:a="http://schemas.openxmlformats.org/drawingml/2006/main">
            <a:r>
              <a:t>http://government.ru/news/57315/</a:t>
            </a:r>
          </a:p>
          <a:p xmlns:a="http://schemas.openxmlformats.org/drawingml/2006/main">
            <a:r>
              <a:t>https://www.rbc.ru/person/617bf30d9a7947f92ee2d266</a:t>
            </a:r>
          </a:p>
          <a:p xmlns:a="http://schemas.openxmlformats.org/drawingml/2006/main">
            <a:r>
              <a:t>https://mid.ru/ru/press_service/video/view/1848395/</a:t>
            </a:r>
          </a:p>
          <a:p xmlns:a="http://schemas.openxmlformats.org/drawingml/2006/main">
            <a:r>
              <a:t>https://mid.ru/ru/foreign_policy/international_organizations/1932076/</a:t>
            </a:r>
          </a:p>
          <a:p xmlns:a="http://schemas.openxmlformats.org/drawingml/2006/main">
            <a:r>
              <a:t>https://mid.ru/ru/press_service/minister_speeches/1991476/</a:t>
            </a:r>
          </a:p>
          <a:p xmlns:a="http://schemas.openxmlformats.org/drawingml/2006/main">
            <a:r>
              <a:t>https://www.mid.ru/ru/press_service/vizity-ministra/1922112/</a:t>
            </a:r>
          </a:p>
          <a:p xmlns:a="http://schemas.openxmlformats.org/drawingml/2006/main">
            <a:r>
              <a:t>https://www.mid.ru/ru/foreign_policy/news/1927568/</a:t>
            </a:r>
          </a:p>
          <a:p xmlns:a="http://schemas.openxmlformats.org/drawingml/2006/main">
            <a:r>
              <a:t>https://mid.ru/ru/foreign_policy/news/1912973/</a:t>
            </a:r>
          </a:p>
          <a:p xmlns:a="http://schemas.openxmlformats.org/drawingml/2006/main">
            <a:r>
              <a:t>https://www.reuters.com/world/europe/russias-lavrov-says-moscow-committed-us-proposals-peace-rejects-europes-2026-06-15/</a:t>
            </a:r>
          </a:p>
          <a:p xmlns:a="http://schemas.openxmlformats.org/drawingml/2006/main">
            <a:r>
              <a:t>https://www.reuters.com/world/lavrov-says-russia-is-ready-resume-talks-with-ukraine-point-where-they-left-off-2026-06-23/</a:t>
            </a:r>
          </a:p>
          <a:p xmlns:a="http://schemas.openxmlformats.org/drawingml/2006/main">
            <a:r>
              <a:t>https://mid.ru/ru/press_service/video/view/1799184/</a:t>
            </a:r>
          </a:p>
          <a:p xmlns:a="http://schemas.openxmlformats.org/drawingml/2006/main">
            <a:r>
              <a:t>https://en.wikipedia.org/wiki/Sergey_Lavrov</a:t>
            </a:r>
          </a:p>
          <a:p xmlns:a="http://schemas.openxmlformats.org/drawingml/2006/main">
            <a:r>
              <a:t>https://www.garant.ru/products/ipo/prime/doc/70627660/</a:t>
            </a:r>
          </a:p>
          <a:p xmlns:a="http://schemas.openxmlformats.org/drawingml/2006/main">
            <a:r>
              <a:t>https://www.rbc.ru/person/617fc0679a794761d6170b80</a:t>
            </a:r>
          </a:p>
          <a:p xmlns:a="http://schemas.openxmlformats.org/drawingml/2006/main">
            <a:r>
              <a:t>http://www.kremlin.ru/acts/bank/50544</a:t>
            </a:r>
          </a:p>
          <a:p xmlns:a="http://schemas.openxmlformats.org/drawingml/2006/main">
            <a:r>
              <a:t>http://special.kremlin.ru/events/president/news/74019</a:t>
            </a:r>
          </a:p>
          <a:p xmlns:a="http://schemas.openxmlformats.org/drawingml/2006/main">
            <a:r>
              <a:t>https://www.interfax.ru/russia/960081</a:t>
            </a:r>
          </a:p>
          <a:p xmlns:a="http://schemas.openxmlformats.org/drawingml/2006/main">
            <a:r>
              <a:t>https://www.rbc.ru/politics/21/09/2022/632ab17c9a794781413c8582</a:t>
            </a:r>
          </a:p>
          <a:p xmlns:a="http://schemas.openxmlformats.org/drawingml/2006/main">
            <a:r>
              <a:t>https://www.bbc.com/russian/articles/c72p0jq04gjo</a:t>
            </a:r>
          </a:p>
          <a:p xmlns:a="http://schemas.openxmlformats.org/drawingml/2006/main">
            <a:r>
              <a:t>https://meduza.io/feature/2024/05/12/putin-uvolil-shoygu-s-posta-ministra-oborony-i-perevel-v-sovbez</a:t>
            </a:r>
          </a:p>
          <a:p xmlns:a="http://schemas.openxmlformats.org/drawingml/2006/main">
            <a:r>
              <a:t>https://paodkb.org/events/sergey-shoygu-naznachen-sekretarem-soveta-bezopasnosti-rf</a:t>
            </a:r>
          </a:p>
          <a:p xmlns:a="http://schemas.openxmlformats.org/drawingml/2006/main">
            <a:r>
              <a:t>https://base.garant.ru/409005084/</a:t>
            </a:r>
          </a:p>
          <a:p xmlns:a="http://schemas.openxmlformats.org/drawingml/2006/main">
            <a:r>
              <a:t>http://special.kremlin.ru/supplement/6345</a:t>
            </a:r>
          </a:p>
          <a:p xmlns:a="http://schemas.openxmlformats.org/drawingml/2006/main">
            <a:r>
              <a:t>http://en.kremlin.ru/supplement/6345</a:t>
            </a:r>
          </a:p>
          <a:p xmlns:a="http://schemas.openxmlformats.org/drawingml/2006/main">
            <a:r>
              <a:t>https://www.kp.ru/daily/27656.5/5040576/</a:t>
            </a:r>
          </a:p>
          <a:p xmlns:a="http://schemas.openxmlformats.org/drawingml/2006/main">
            <a:r>
              <a:t>https://www.fontanka.ru/2025/06/10/75574928/</a:t>
            </a:r>
          </a:p>
          <a:p xmlns:a="http://schemas.openxmlformats.org/drawingml/2006/main">
            <a:r>
              <a:t>https://tass.ru/politika/25506737</a:t>
            </a:r>
          </a:p>
          <a:p xmlns:a="http://schemas.openxmlformats.org/drawingml/2006/main">
            <a:r>
              <a:t>https://www.rbc.ru/person/6181419c9a7947df128a22f7</a:t>
            </a:r>
          </a:p>
          <a:p xmlns:a="http://schemas.openxmlformats.org/drawingml/2006/main">
            <a:r>
              <a:t>https://www.rbc.ru/economics/31/05/2021/60b3de5d9a7947f2883f7aa0</a:t>
            </a:r>
          </a:p>
          <a:p xmlns:a="http://schemas.openxmlformats.org/drawingml/2006/main">
            <a:r>
              <a:t>https://www.rbc.ru/politics/13/05/2024/6641109a9a7947ab8eebcf7f</a:t>
            </a:r>
          </a:p>
          <a:p xmlns:a="http://schemas.openxmlformats.org/drawingml/2006/main">
            <a:r>
              <a:t>https://www.rbc.ru/business/13/06/2023/6482d3389a79473805ee8978</a:t>
            </a:r>
          </a:p>
          <a:p xmlns:a="http://schemas.openxmlformats.org/drawingml/2006/main">
            <a:r>
              <a:t>https://thebell.io/kuda-vedet-ekonomiku-andrej-belousov-zagadki-dmitriya-medvedeva-i-sposoby-perezhit-sanktsii</a:t>
            </a:r>
          </a:p>
          <a:p xmlns:a="http://schemas.openxmlformats.org/drawingml/2006/main">
            <a:r>
              <a:t>https://72.ru/text/politics/2024/05/14/73575386/</a:t>
            </a:r>
          </a:p>
          <a:p xmlns:a="http://schemas.openxmlformats.org/drawingml/2006/main">
            <a:r>
              <a:t>https://tass.ru/armiya-i-opk/22683223</a:t>
            </a:r>
          </a:p>
          <a:p xmlns:a="http://schemas.openxmlformats.org/drawingml/2006/main">
            <a:r>
              <a:t>https://www.rbc.ru/society/12/12/2017/5a2f9b5a9a79473649fe0042</a:t>
            </a:r>
          </a:p>
          <a:p xmlns:a="http://schemas.openxmlformats.org/drawingml/2006/main">
            <a:r>
              <a:t>https://www.istorex.org/post/russia-december-2024-february-2025</a:t>
            </a:r>
          </a:p>
          <a:p xmlns:a="http://schemas.openxmlformats.org/drawingml/2006/main">
            <a:r>
              <a:t>https://rosinform.ru/news/andrej-belousov-osoboe-znachenie-pridayom-obespecheniyu-voennoj-bezopasnosti-soyuznogo-gosudarstva</a:t>
            </a:r>
          </a:p>
          <a:p xmlns:a="http://schemas.openxmlformats.org/drawingml/2006/main">
            <a:r>
              <a:t>https://xn--b1apnk.xn--p1ai/tpost/nsk7vo4xh1-vstrecha-s-ministrom-oboroni-rossii-i-os</a:t>
            </a:r>
          </a:p>
          <a:p xmlns:a="http://schemas.openxmlformats.org/drawingml/2006/main">
            <a:r>
              <a:t>https://www.rbc.ru/person/62d120d89a79475f0ddd8b5e</a:t>
            </a:r>
          </a:p>
          <a:p xmlns:a="http://schemas.openxmlformats.org/drawingml/2006/main">
            <a:r>
              <a:t>http://scrf.gov.ru/news/allnews/2148/</a:t>
            </a:r>
          </a:p>
          <a:p xmlns:a="http://schemas.openxmlformats.org/drawingml/2006/main">
            <a:r>
              <a:t>https://www.rbc.ru/politics/14/05/2024/6643287b9a7947a8f0b8ba78</a:t>
            </a:r>
          </a:p>
          <a:p xmlns:a="http://schemas.openxmlformats.org/drawingml/2006/main">
            <a:r>
              <a:t>https://tass.ru/info/20789699</a:t>
            </a:r>
          </a:p>
          <a:p xmlns:a="http://schemas.openxmlformats.org/drawingml/2006/main">
            <a:r>
              <a:t>https://marine.org.ru/structure/person/56/</a:t>
            </a:r>
          </a:p>
          <a:p xmlns:a="http://schemas.openxmlformats.org/drawingml/2006/main">
            <a:r>
              <a:t>https://marine.org.ru/publication/smi/16108/</a:t>
            </a:r>
          </a:p>
          <a:p xmlns:a="http://schemas.openxmlformats.org/drawingml/2006/main">
            <a:r>
              <a:t>https://www.svoboda.org/a/30676123.html</a:t>
            </a:r>
          </a:p>
          <a:p xmlns:a="http://schemas.openxmlformats.org/drawingml/2006/main">
            <a:r>
              <a:t>https://aif.ru/society/safety/kuklovodstvo_k_deystviyu_nikolay_patrushev_o_metodah_cvetnyh_revolyuciy</a:t>
            </a:r>
          </a:p>
          <a:p xmlns:a="http://schemas.openxmlformats.org/drawingml/2006/main">
            <a:r>
              <a:t>https://vkrizis.info/vlast/czennosti-razmyvaniya/</a:t>
            </a:r>
          </a:p>
          <a:p xmlns:a="http://schemas.openxmlformats.org/drawingml/2006/main">
            <a:r>
              <a:t>https://infranomica.ru/2026/05/19/selskoe-hozyajstvo-est-rezultat-budet-i-pishha/</a:t>
            </a:r>
          </a:p>
          <a:p xmlns:a="http://schemas.openxmlformats.org/drawingml/2006/main">
            <a:r>
              <a:t>https://www.rbc.ru/person/660400989a79471b36dbb514</a:t>
            </a:r>
          </a:p>
          <a:p xmlns:a="http://schemas.openxmlformats.org/drawingml/2006/main">
            <a:r>
              <a:t>http://special.kremlin.ru/catalog/persons/100/events</a:t>
            </a:r>
          </a:p>
          <a:p xmlns:a="http://schemas.openxmlformats.org/drawingml/2006/main">
            <a:r>
              <a:t>https://nac.gov.ru/view/eb008ff4-1608-4b47-b2a9-3d604c1833c2</a:t>
            </a:r>
          </a:p>
          <a:p xmlns:a="http://schemas.openxmlformats.org/drawingml/2006/main">
            <a:r>
              <a:t>http://pfo.gov.ru/press/events/113336/</a:t>
            </a:r>
          </a:p>
          <a:p xmlns:a="http://schemas.openxmlformats.org/drawingml/2006/main">
            <a:r>
              <a:t>https://www.opensanctions.org/entities/Q516824/</a:t>
            </a:r>
          </a:p>
          <a:p xmlns:a="http://schemas.openxmlformats.org/drawingml/2006/main">
            <a:r>
              <a:t>https://www.agents.media/ssha-poprobuyut-vozobnovit-peregovory-o-mire-v-ukraine-cherez-glavu-fsb-che-vedomstvo-kak-schitaetsya-svoimi-dokladami-podtolknulo-putina-k-vojne/</a:t>
            </a:r>
          </a:p>
          <a:p xmlns:a="http://schemas.openxmlformats.org/drawingml/2006/main">
            <a:r>
              <a:t>https://letters.kremlin.ru/news/receptions/by-section/assignments/by-person/260</a:t>
            </a:r>
          </a:p>
          <a:p xmlns:a="http://schemas.openxmlformats.org/drawingml/2006/main">
            <a:r>
              <a:t>https://www.kommersant.ru/doc/3612580</a:t>
            </a:r>
          </a:p>
          <a:p xmlns:a="http://schemas.openxmlformats.org/drawingml/2006/main">
            <a:r>
              <a:t>https://fbk.info/ru/investigations/kirienko-kholyi-putina</a:t>
            </a:r>
          </a:p>
          <a:p xmlns:a="http://schemas.openxmlformats.org/drawingml/2006/main">
            <a:r>
              <a:t>https://utro02.tv/2022/05/24/kolebaniya-kirienok/</a:t>
            </a:r>
          </a:p>
          <a:p xmlns:a="http://schemas.openxmlformats.org/drawingml/2006/main">
            <a:r>
              <a:t>https://meduza.io/feature/2023/12/19/on-peresidel-v-svoem-kresle-v-kremle-i-pravitelstve-obsuzhdayut-chto-sergey-kirienko-mozhet-lishitsya-dolzhnosti-v-ap-posle-vyborov-prezidenta</a:t>
            </a:r>
          </a:p>
          <a:p xmlns:a="http://schemas.openxmlformats.org/drawingml/2006/main">
            <a:r>
              <a:t>https://verstka.media/kak-rossiya-prodvigaet-svoyu-molodezhnuyu-politiku-na-okkupirovannyh-territoriyah</a:t>
            </a:r>
          </a:p>
          <a:p xmlns:a="http://schemas.openxmlformats.org/drawingml/2006/main">
            <a:r>
              <a:t>https://dnrnews.ru/society/2025/09/04/1167117.html</a:t>
            </a:r>
          </a:p>
          <a:p xmlns:a="http://schemas.openxmlformats.org/drawingml/2006/main">
            <a:r>
              <a:t>https://www.tadviser.ru/index.php/%D0%9F%D0%B5%D1%80%D1%81%D0%BE%D0%BD%D0%B0:%D0%9A%D0%B8%D1%80%D0%B8%D0%B5%D0%BD%D0%BA%D0%BE_%D0%A1%D0%B5%D1%80%D0%B3%D0%B5%D0%B9_%D0%92%D0%BB%D0%B0%D0%B4%D0%B8%D0%BB%D0%B5%D0%BD%D0%BE%D0%B2%D0%B8%D1%87</a:t>
            </a:r>
          </a:p>
          <a:p xmlns:a="http://schemas.openxmlformats.org/drawingml/2006/main">
            <a:r>
              <a:t>https://tass.ru/politika/18225741</a:t>
            </a:r>
          </a:p>
          <a:p xmlns:a="http://schemas.openxmlformats.org/drawingml/2006/main">
            <a:r>
              <a:t>https://www.kommersant.ru/doc/6187168</a:t>
            </a:r>
          </a:p>
          <a:p xmlns:a="http://schemas.openxmlformats.org/drawingml/2006/main">
            <a:r>
              <a:t>https://duma.gov.ru/news/63383/</a:t>
            </a:r>
          </a:p>
          <a:p xmlns:a="http://schemas.openxmlformats.org/drawingml/2006/main">
            <a:r>
              <a:t>http://duma.gov.ru/en/duma/persons/99100829/news/</a:t>
            </a:r>
          </a:p>
          <a:p xmlns:a="http://schemas.openxmlformats.org/drawingml/2006/main">
            <a:r>
              <a:t>http://duma.gov.ru/en/news/62248/</a:t>
            </a:r>
          </a:p>
          <a:p xmlns:a="http://schemas.openxmlformats.org/drawingml/2006/main">
            <a:r>
              <a:t>http://duma.gov.ru/en/news/61352/</a:t>
            </a:r>
          </a:p>
          <a:p xmlns:a="http://schemas.openxmlformats.org/drawingml/2006/main">
            <a:r>
              <a:t>http://duma.gov.ru/en/news/64178/</a:t>
            </a:r>
          </a:p>
          <a:p xmlns:a="http://schemas.openxmlformats.org/drawingml/2006/main">
            <a:r>
              <a:t>http://duma.gov.ru/en/news/64216</a:t>
            </a:r>
          </a:p>
          <a:p xmlns:a="http://schemas.openxmlformats.org/drawingml/2006/main">
            <a:r>
              <a:t>http://duma.gov.ru/en/news/64239</a:t>
            </a:r>
          </a:p>
          <a:p xmlns:a="http://schemas.openxmlformats.org/drawingml/2006/main">
            <a:r>
              <a:t>https://en.wikipedia.org/wiki/Vyacheslav_Volodin</a:t>
            </a:r>
          </a:p>
          <a:p xmlns:a="http://schemas.openxmlformats.org/drawingml/2006/main">
            <a:r>
              <a:t>http://duma.gov.ru/news/56060/</a:t>
            </a:r>
          </a:p>
          <a:p xmlns:a="http://schemas.openxmlformats.org/drawingml/2006/main">
            <a:r>
              <a:t>http://duma.gov.ru/news/60448/</a:t>
            </a:r>
          </a:p>
          <a:p xmlns:a="http://schemas.openxmlformats.org/drawingml/2006/main">
            <a:r>
              <a:t>http://duma.gov.ru/news/61362/</a:t>
            </a:r>
          </a:p>
          <a:p xmlns:a="http://schemas.openxmlformats.org/drawingml/2006/main">
            <a:r>
              <a:t>http://duma.gov.ru/news/61384/</a:t>
            </a:r>
          </a:p>
          <a:p xmlns:a="http://schemas.openxmlformats.org/drawingml/2006/main">
            <a:r>
              <a:t>http://duma.gov.ru/news/61874/</a:t>
            </a:r>
          </a:p>
          <a:p xmlns:a="http://schemas.openxmlformats.org/drawingml/2006/main">
            <a:r>
              <a:t>http://duma.gov.ru/news/62022/</a:t>
            </a:r>
          </a:p>
          <a:p xmlns:a="http://schemas.openxmlformats.org/drawingml/2006/main">
            <a:r>
              <a:t>http://duma.gov.ru/news/63772/</a:t>
            </a:r>
          </a:p>
          <a:p xmlns:a="http://schemas.openxmlformats.org/drawingml/2006/main">
            <a:r>
              <a:t>https://council.gov.ru/events/news/160466/</a:t>
            </a:r>
          </a:p>
          <a:p xmlns:a="http://schemas.openxmlformats.org/drawingml/2006/main">
            <a:r>
              <a:t>http://council.gov.ru/structure/persons/257/</a:t>
            </a:r>
          </a:p>
          <a:p xmlns:a="http://schemas.openxmlformats.org/drawingml/2006/main">
            <a:r>
              <a:t>https://interaffairs.ru/news/show/16199</a:t>
            </a:r>
          </a:p>
          <a:p xmlns:a="http://schemas.openxmlformats.org/drawingml/2006/main">
            <a:r>
              <a:t>https://www.rbc.ru/person/617fb5ef9a79475c6cfc4502</a:t>
            </a:r>
          </a:p>
          <a:p xmlns:a="http://schemas.openxmlformats.org/drawingml/2006/main">
            <a:r>
              <a:t>https://vksrs.com/publications/matvienko-rasskazala-o-neobkhodimosti-protivostoyat-geroizatsii-natsistov/</a:t>
            </a:r>
          </a:p>
          <a:p xmlns:a="http://schemas.openxmlformats.org/drawingml/2006/main">
            <a:r>
              <a:t>https://absatz.media/politika/158438-valentine-matvienko-77-istoriya-uspeha-put-k-vershine-i-samye-yarkie-zayavleniya</a:t>
            </a:r>
          </a:p>
          <a:p xmlns:a="http://schemas.openxmlformats.org/drawingml/2006/main">
            <a:r>
              <a:t>https://www.rbc.ru/society/14/10/2026/6acf597c9a794743e0478a15?from=short_news</a:t>
            </a:r>
          </a:p>
          <a:p xmlns:a="http://schemas.openxmlformats.org/drawingml/2006/main">
            <a:r>
              <a:t>https://senatinform.ru/news/sf_stremitsya_byt_maksimalno_otkrytym_dlya_raboty_zhurnalistov_matvienko/</a:t>
            </a:r>
          </a:p>
          <a:p xmlns:a="http://schemas.openxmlformats.org/drawingml/2006/main">
            <a:r>
              <a:t>https://eparlament.irzs.ru/Files/getFile/11853</a:t>
            </a:r>
          </a:p>
          <a:p xmlns:a="http://schemas.openxmlformats.org/drawingml/2006/main">
            <a:r>
              <a:t>http://special.council.gov.ru/activity/meetings/170703/transcript/</a:t>
            </a:r>
          </a:p>
          <a:p xmlns:a="http://schemas.openxmlformats.org/drawingml/2006/main">
            <a:r>
              <a:t>https://bookonlime.ru/lecture/12-razvitie-ekonomicheskih-otnosheniy-i-strategicheskoe-planirovanie-v-cifrovoy-ekonomike-2</a:t>
            </a:r>
          </a:p>
          <a:p xmlns:a="http://schemas.openxmlformats.org/drawingml/2006/main">
            <a:r>
              <a:t>https://ru.wikipedia.org/wiki/Песков,_Дмитрий_Сергеевич</a:t>
            </a:r>
          </a:p>
          <a:p xmlns:a="http://schemas.openxmlformats.org/drawingml/2006/main">
            <a:r>
              <a:t>https://www.reuters.com/world/europe/kremlin-says-ukraine-is-now-paying-price-its-own-attacks-russia-2026-09-28/</a:t>
            </a:r>
          </a:p>
          <a:p xmlns:a="http://schemas.openxmlformats.org/drawingml/2006/main">
            <a:r>
              <a:t>https://www.reuters.com/world/europe/kremlin-rejects-le-penbardella-rebuke-says-russia-is-no-threat-france-2026-09-21/</a:t>
            </a:r>
          </a:p>
          <a:p xmlns:a="http://schemas.openxmlformats.org/drawingml/2006/main">
            <a:r>
              <a:t>https://theins.ru/antifake/295208</a:t>
            </a:r>
          </a:p>
          <a:p xmlns:a="http://schemas.openxmlformats.org/drawingml/2006/main">
            <a:r>
              <a:t>https://expert.ru/news/v-kremle-otvetili-na-slova-donalda-trampa-o-rossiyskom-vmeshatelstve</a:t>
            </a:r>
          </a:p>
          <a:p xmlns:a="http://schemas.openxmlformats.org/drawingml/2006/main">
            <a:r>
              <a:t>https://www.dw.com/ru/dmitrij-peskov/t-18146676/page-1</a:t>
            </a:r>
          </a:p>
          <a:p xmlns:a="http://schemas.openxmlformats.org/drawingml/2006/main">
            <a:r>
              <a:t>https://www.pnp.ru/person/dmitriy--peskov/</a:t>
            </a:r>
          </a:p>
          <a:p xmlns:a="http://schemas.openxmlformats.org/drawingml/2006/main">
            <a:r>
              <a:t>https://www.rbc.ua/ukr/dossier/peskov-19032015</a:t>
            </a:r>
          </a:p>
          <a:p xmlns:a="http://schemas.openxmlformats.org/drawingml/2006/main">
            <a:r>
              <a:t>https://www.rbc.ru/politics/12/10/2026/6accae3bb18f4460834ce063</a:t>
            </a:r>
          </a:p>
          <a:p xmlns:a="http://schemas.openxmlformats.org/drawingml/2006/main">
            <a:r>
              <a:t>https://tass.ru/politika/20355193</a:t>
            </a:r>
          </a:p>
          <a:p xmlns:a="http://schemas.openxmlformats.org/drawingml/2006/main">
            <a:r>
              <a:t>https://www.m24.ru/news/06052024/689412</a:t>
            </a:r>
          </a:p>
          <a:p xmlns:a="http://schemas.openxmlformats.org/drawingml/2006/main">
            <a:r>
              <a:t>http://www.kremlin.ru/acts/bank/48502</a:t>
            </a:r>
          </a:p>
          <a:p xmlns:a="http://schemas.openxmlformats.org/drawingml/2006/main">
            <a:r>
              <a:t>https://www.m24.ru/news/11022025/769070</a:t>
            </a:r>
          </a:p>
          <a:p xmlns:a="http://schemas.openxmlformats.org/drawingml/2006/main">
            <a:r>
              <a:t>https://www.m24.ru/news/23042026/894202</a:t>
            </a:r>
          </a:p>
          <a:p xmlns:a="http://schemas.openxmlformats.org/drawingml/2006/main">
            <a:r>
              <a:t>https://cbr.ru/about_br/nabiullinaes/</a:t>
            </a:r>
          </a:p>
          <a:p xmlns:a="http://schemas.openxmlformats.org/drawingml/2006/main">
            <a:r>
              <a:t>https://cbr.ru/press/event/?id=12840</a:t>
            </a:r>
          </a:p>
          <a:p xmlns:a="http://schemas.openxmlformats.org/drawingml/2006/main">
            <a:r>
              <a:t>https://www.cbr.ru/press/event/?id=12904</a:t>
            </a:r>
          </a:p>
          <a:p xmlns:a="http://schemas.openxmlformats.org/drawingml/2006/main">
            <a:r>
              <a:t>https://cbr.ru/press/event/?id=14033</a:t>
            </a:r>
          </a:p>
          <a:p xmlns:a="http://schemas.openxmlformats.org/drawingml/2006/main">
            <a:r>
              <a:t>https://www.cbr.ru/press/event/?id=12764</a:t>
            </a:r>
          </a:p>
          <a:p xmlns:a="http://schemas.openxmlformats.org/drawingml/2006/main">
            <a:r>
              <a:t>https://kazanfirst.ru/articles/534335</a:t>
            </a:r>
          </a:p>
          <a:p xmlns:a="http://schemas.openxmlformats.org/drawingml/2006/main">
            <a:r>
              <a:t>https://www.rbc.ru/person/65e831449a79476cbfd8e5fd</a:t>
            </a:r>
          </a:p>
          <a:p xmlns:a="http://schemas.openxmlformats.org/drawingml/2006/main">
            <a:r>
              <a:t>https://www.interfax.ru/russia/955290</a:t>
            </a:r>
          </a:p>
          <a:p xmlns:a="http://schemas.openxmlformats.org/drawingml/2006/main">
            <a:r>
              <a:t>https://minfin.gov.ru/ru/press-center/?id_4=38548-intervyu_ministra_finansov_antona_siluanova_gazete_argumenty_i_fakty</a:t>
            </a:r>
          </a:p>
          <a:p xmlns:a="http://schemas.openxmlformats.org/drawingml/2006/main">
            <a:r>
              <a:t>https://minfin.gov.ru/ru/press-center/?id_4=37667-vystuplenie_antona_siluanova_na_plenarnom_zasedanii_v_gosudarstvennoi_dume</a:t>
            </a:r>
          </a:p>
          <a:p xmlns:a="http://schemas.openxmlformats.org/drawingml/2006/main">
            <a:r>
              <a:t>https://www.rbc.ru/economics/24/10/2022/63529d159a7947efb82a59eb</a:t>
            </a:r>
          </a:p>
          <a:p xmlns:a="http://schemas.openxmlformats.org/drawingml/2006/main">
            <a:r>
              <a:t>https://www.rbc.ru/newspaper/2020/02/21/5e4e83289a79474bcf9f8cf9</a:t>
            </a:r>
          </a:p>
          <a:p xmlns:a="http://schemas.openxmlformats.org/drawingml/2006/main">
            <a:r>
              <a:t>https://www.rbc.ru/economics/20/02/2020/5e4e91919a79475559478893</a:t>
            </a:r>
          </a:p>
          <a:p xmlns:a="http://schemas.openxmlformats.org/drawingml/2006/main">
            <a:r>
              <a:t>https://minfin.gov.ru/ru/press-center/?id_4=39336-anton_siluanov_predstavil_na_parlamentskikh_slushaniyakh_v_sovete_federatsii_proekt_byudzheta_na_2025-2027_gg.</a:t>
            </a:r>
          </a:p>
          <a:p xmlns:a="http://schemas.openxmlformats.org/drawingml/2006/main">
            <a:r>
              <a:t>https://www.interfax.ru/amp/1035506</a:t>
            </a:r>
          </a:p>
          <a:p xmlns:a="http://schemas.openxmlformats.org/drawingml/2006/main">
            <a:r>
              <a:t>https://tass.ru/ekonomika/28198121</a:t>
            </a:r>
          </a:p>
          <a:p xmlns:a="http://schemas.openxmlformats.org/drawingml/2006/main">
            <a:r>
              <a:t>https://www.rbc.ru/person/65b9f4369a7947ec8a7f242a</a:t>
            </a:r>
          </a:p>
          <a:p xmlns:a="http://schemas.openxmlformats.org/drawingml/2006/main">
            <a:r>
              <a:t>https://www.bfm.ru/news/435050</a:t>
            </a:r>
          </a:p>
          <a:p xmlns:a="http://schemas.openxmlformats.org/drawingml/2006/main">
            <a:r>
              <a:t>https://ru.ruwiki.ru/wiki/%D0%93%D0%BE%D0%BB%D0%B8%D0%BA%D0%BE%D0%B2%D0%B0,_%D0%A2%D0%B0%D1%82%D1%8C%D1%8F%D0%BD%D0%B0_%D0%90%D0%BB%D0%B5%D0%BA%D1%81%D0%B5%D0%B5%D0%B2%D0%BD%D0%B0</a:t>
            </a:r>
          </a:p>
          <a:p xmlns:a="http://schemas.openxmlformats.org/drawingml/2006/main">
            <a:r>
              <a:t>http://www.kremlin.ru/events/president/transcripts/deliberations%20/77439</a:t>
            </a:r>
          </a:p>
          <a:p xmlns:a="http://schemas.openxmlformats.org/drawingml/2006/main">
            <a:r>
              <a:t>https://xn--90aivcdt6dxbc.xn--p1ai/articles/news/prezident-zdravookhranenie-zanimaet-klyuchevoe-mesto-v-sotsialnoy-politike-rossii/</a:t>
            </a:r>
          </a:p>
          <a:p xmlns:a="http://schemas.openxmlformats.org/drawingml/2006/main">
            <a:r>
              <a:t>https://xn--90aivcdt6dxbc.xn--p1ai/articles/news/tatyana-golikova-edinaya-rossiya-nadezhnyy-soyuznik-i-partner-pravitelstva/</a:t>
            </a:r>
          </a:p>
          <a:p xmlns:a="http://schemas.openxmlformats.org/drawingml/2006/main">
            <a:r>
              <a:t>http://government.ru/news/58648/</a:t>
            </a:r>
          </a:p>
          <a:p xmlns:a="http://schemas.openxmlformats.org/drawingml/2006/main">
            <a:r>
              <a:t>http://government.ru/news/54912/</a:t>
            </a:r>
          </a:p>
          <a:p xmlns:a="http://schemas.openxmlformats.org/drawingml/2006/main">
            <a:r>
              <a:t>http://government.ru/news/58000/</a:t>
            </a:r>
          </a:p>
          <a:p xmlns:a="http://schemas.openxmlformats.org/drawingml/2006/main">
            <a:r>
              <a:t>https://tass.ru/politika/28141547</a:t>
            </a:r>
          </a:p>
          <a:p xmlns:a="http://schemas.openxmlformats.org/drawingml/2006/main">
            <a:r>
              <a:t>https://duma.gov.ru/media/files/smUklOtuNPyzwTneQGCfFUHHIsilAqcm.pdf</a:t>
            </a:r>
          </a:p>
          <a:p xmlns:a="http://schemas.openxmlformats.org/drawingml/2006/main">
            <a:r>
              <a:t>https://kprf.ru/dep/gosduma/activities/187187.html</a:t>
            </a:r>
          </a:p>
          <a:p xmlns:a="http://schemas.openxmlformats.org/drawingml/2006/main">
            <a:r>
              <a:t>http://msk.kprf.ru/2022/08/22/222866/</a:t>
            </a:r>
          </a:p>
          <a:p xmlns:a="http://schemas.openxmlformats.org/drawingml/2006/main">
            <a:r>
              <a:t>https://kprf.ru/party-live/cknews/235903.html</a:t>
            </a:r>
          </a:p>
          <a:p xmlns:a="http://schemas.openxmlformats.org/drawingml/2006/main">
            <a:r>
              <a:t>https://kprf.ru/dep/gosduma/activities/236198.html/print</a:t>
            </a:r>
          </a:p>
          <a:p xmlns:a="http://schemas.openxmlformats.org/drawingml/2006/main">
            <a:r>
              <a:t>https://kprf.ru/dep/gosduma/activities/239812.html</a:t>
            </a:r>
          </a:p>
          <a:p xmlns:a="http://schemas.openxmlformats.org/drawingml/2006/main">
            <a:r>
              <a:t>https://kprf-don.ru/index.php/news/facts/12501-2025-09-15-12-58-35.html</a:t>
            </a:r>
          </a:p>
          <a:p xmlns:a="http://schemas.openxmlformats.org/drawingml/2006/main">
            <a:r>
              <a:t>https://kprf.ru/dep/gosduma/activities/237529.html</a:t>
            </a:r>
          </a:p>
          <a:p xmlns:a="http://schemas.openxmlformats.org/drawingml/2006/main">
            <a:r>
              <a:t>https://novayagazeta.ru/articles/2025/09/19/putin-udivilsia-khodu-zapushchennoi-im-vesnoi-munitsipalnoi-reformy-posle-slov-ziuganova-kak-regiony-dlia-nee-lomali-cherez-koleno-a-tatarstan-otkazalsia-ee-ispolniat-news</a:t>
            </a:r>
          </a:p>
          <a:p xmlns:a="http://schemas.openxmlformats.org/drawingml/2006/main">
            <a:r>
              <a:t>https://kprf.ru/official/2025/11/15/15-noiabria-2025-oda-sostoialsia-ii-noiabrskii-plenum-tsk-kprf/473.html</a:t>
            </a:r>
          </a:p>
          <a:p xmlns:a="http://schemas.openxmlformats.org/drawingml/2006/main">
            <a:r>
              <a:t>https://www.rbc.ru/person/617bfbb79a7947fc327a3bcb</a:t>
            </a:r>
          </a:p>
          <a:p xmlns:a="http://schemas.openxmlformats.org/drawingml/2006/main">
            <a:r>
              <a:t>https://www.bbc.com/russian/features-60873381</a:t>
            </a:r>
          </a:p>
          <a:p xmlns:a="http://schemas.openxmlformats.org/drawingml/2006/main">
            <a:r>
              <a:t>https://www.svoboda.org/a/umer-lider-partii-ldpr-vladimir-zhirinovskiy-nekrolog/31770134.html</a:t>
            </a:r>
          </a:p>
          <a:p xmlns:a="http://schemas.openxmlformats.org/drawingml/2006/main">
            <a:r>
              <a:t>https://www.rbc.ru/politics/06/04/2022/624d661b9a79473f7416fe26</a:t>
            </a:r>
          </a:p>
          <a:p xmlns:a="http://schemas.openxmlformats.org/drawingml/2006/main">
            <a:r>
              <a:t>https://tass.ru/politika/3392889</a:t>
            </a:r>
          </a:p>
          <a:p xmlns:a="http://schemas.openxmlformats.org/drawingml/2006/main">
            <a:r>
              <a:t>https://www.pnp.ru/politics/2016/06/28/v-centre-predvybornoy-programmy-ldpr-russkiy-vopros.html</a:t>
            </a:r>
          </a:p>
          <a:p xmlns:a="http://schemas.openxmlformats.org/drawingml/2006/main">
            <a:r>
              <a:t>https://ldpr.ru/party/history/</a:t>
            </a:r>
          </a:p>
          <a:p xmlns:a="http://schemas.openxmlformats.org/drawingml/2006/main">
            <a:r>
              <a:t>https://govoritmoskva.ru/interviews/1023/</a:t>
            </a:r>
          </a:p>
          <a:p xmlns:a="http://schemas.openxmlformats.org/drawingml/2006/main">
            <a:r>
              <a:t>https://www.gazeta.ru/politics/2017/03/17_a_10580999.shtml</a:t>
            </a:r>
          </a:p>
          <a:p xmlns:a="http://schemas.openxmlformats.org/drawingml/2006/main">
            <a:r>
              <a:t>https://ldpr.ru/upload/iblock/c88/1d6dstdexz6aw7dnwoubeobhr3mnwa1j/a799616e688866c49f2ef6b5b8cfe5c00d45080ae85ce0e5f6d36e2e010681d9.pdf</a:t>
            </a:r>
          </a:p>
          <a:p xmlns:a="http://schemas.openxmlformats.org/drawingml/2006/main">
            <a:r>
              <a:t>https://www.kommersant.ru/doc/3579566</a:t>
            </a:r>
          </a:p>
          <a:p xmlns:a="http://schemas.openxmlformats.org/drawingml/2006/main">
            <a:r>
              <a:t>https://spb.ldpr.ru/event/243915/</a:t>
            </a:r>
          </a:p>
          <a:p xmlns:a="http://schemas.openxmlformats.org/drawingml/2006/main">
            <a:r>
              <a:t>https://kursk.ldpr.ru/event/341398</a:t>
            </a:r>
          </a:p>
          <a:p xmlns:a="http://schemas.openxmlformats.org/drawingml/2006/main">
            <a:r>
              <a:t>https://cyberleninka.ru/article/n/sravnitelnyy-analiz-predvybornyh-programm-ldpr-na-vyborah-2021-g-i-l-e-slutskogo-na-vyborah-2024-g</a:t>
            </a:r>
          </a:p>
          <a:p xmlns:a="http://schemas.openxmlformats.org/drawingml/2006/main">
            <a:r>
              <a:t>https://kcr.ldpr.ru/event/347999/</a:t>
            </a:r>
          </a:p>
          <a:p xmlns:a="http://schemas.openxmlformats.org/drawingml/2006/main">
            <a:r>
              <a:t>https://msknews77.ru/society/2025/09/25/73500.html</a:t>
            </a:r>
          </a:p>
          <a:p xmlns:a="http://schemas.openxmlformats.org/drawingml/2006/main">
            <a:r>
              <a:t>https://bagaevka-press.ru/besplatnyj-zemelnyj-uchastok-dlya-semej-inicziativa-ldpr/</a:t>
            </a:r>
          </a:p>
          <a:p xmlns:a="http://schemas.openxmlformats.org/drawingml/2006/main">
            <a:r>
              <a:t>https://ldpr.ru/event/437527/</a:t>
            </a:r>
          </a:p>
          <a:p xmlns:a="http://schemas.openxmlformats.org/drawingml/2006/main">
            <a:r>
              <a:t>https://rg62.info/2025/11/01/leonid-sluczkij-vstupilsya-za-multserial-masha-i-medved/</a:t>
            </a:r>
          </a:p>
          <a:p xmlns:a="http://schemas.openxmlformats.org/drawingml/2006/main">
            <a:r>
              <a:t>https://mironov.ru/officially</a:t>
            </a:r>
          </a:p>
          <a:p xmlns:a="http://schemas.openxmlformats.org/drawingml/2006/main">
            <a:r>
              <a:t>https://mironov.ru/bio</a:t>
            </a:r>
          </a:p>
          <a:p xmlns:a="http://schemas.openxmlformats.org/drawingml/2006/main">
            <a:r>
              <a:t>https://mironov-online.ru/category/zayavleniya/</a:t>
            </a:r>
          </a:p>
          <a:p xmlns:a="http://schemas.openxmlformats.org/drawingml/2006/main">
            <a:r>
              <a:t>https://www.rbc.ru/person/69806d279a7947baf86c32c5</a:t>
            </a:r>
          </a:p>
          <a:p xmlns:a="http://schemas.openxmlformats.org/drawingml/2006/main">
            <a:r>
              <a:t>https://spravedlivo.ru/16303010</a:t>
            </a:r>
          </a:p>
          <a:p xmlns:a="http://schemas.openxmlformats.org/drawingml/2006/main">
            <a:r>
              <a:t>http://mironov.ru/15133910</a:t>
            </a:r>
          </a:p>
          <a:p xmlns:a="http://schemas.openxmlformats.org/drawingml/2006/main">
            <a:r>
              <a:t>http://www.special.spravedlivo.ru/5_140609.html</a:t>
            </a:r>
          </a:p>
          <a:p xmlns:a="http://schemas.openxmlformats.org/drawingml/2006/main">
            <a:r>
              <a:t>https://spravedlivo.ru/14681110</a:t>
            </a:r>
          </a:p>
          <a:p xmlns:a="http://schemas.openxmlformats.org/drawingml/2006/main">
            <a:r>
              <a:t>https://radiokp.ru/podcast/dialogi-na-radio-kp/759263</a:t>
            </a:r>
          </a:p>
          <a:p xmlns:a="http://schemas.openxmlformats.org/drawingml/2006/main">
            <a:r>
              <a:t>https://mironov.ru/51339910</a:t>
            </a:r>
          </a:p>
          <a:p xmlns:a="http://schemas.openxmlformats.org/drawingml/2006/main">
            <a:r>
              <a:t>https://mironov-online.ru/news/mironov-na-ukraine-idet-bitva-za-budushhee-vsego-chelovechestva-i-pobeda-v-nej-budet-za-rossiej/</a:t>
            </a:r>
          </a:p>
          <a:p xmlns:a="http://schemas.openxmlformats.org/drawingml/2006/main">
            <a:r>
              <a:t>https://spravedlivo.ru/12544510</a:t>
            </a:r>
          </a:p>
          <a:p xmlns:a="http://schemas.openxmlformats.org/drawingml/2006/main">
            <a:r>
              <a:t>https://www.rbc.ru/person/6aa3ef199a79475758621730</a:t>
            </a:r>
          </a:p>
          <a:p xmlns:a="http://schemas.openxmlformats.org/drawingml/2006/main">
            <a:r>
              <a:t>https://www.rbc.ru/politics/24/09/2021/614da73f9a7947b5e3d9399f</a:t>
            </a:r>
          </a:p>
          <a:p xmlns:a="http://schemas.openxmlformats.org/drawingml/2006/main">
            <a:r>
              <a:t>https://amp.rbc.ru/rbcnews/base/14/08/2026/6a957dfb9a79476ae3d823ba</a:t>
            </a:r>
          </a:p>
          <a:p xmlns:a="http://schemas.openxmlformats.org/drawingml/2006/main">
            <a:r>
              <a:t>https://en.wikipedia.org/wiki/Alexey_Nechayev</a:t>
            </a:r>
          </a:p>
          <a:p xmlns:a="http://schemas.openxmlformats.org/drawingml/2006/main">
            <a:r>
              <a:t>https://www.gazeta.ru/politics/23422027/novye-lyudi-na-vyborah-2026-goda.shtml</a:t>
            </a:r>
          </a:p>
          <a:p xmlns:a="http://schemas.openxmlformats.org/drawingml/2006/main">
            <a:r>
              <a:t>https://vremya-bir.ru/2026/03/07/dvenadtsat-shagov-k-strane-v-kotoroj-hochetsya-zhit/</a:t>
            </a:r>
          </a:p>
          <a:p xmlns:a="http://schemas.openxmlformats.org/drawingml/2006/main">
            <a:r>
              <a:t>https://www.rbc.ru/politics/08/09/2026/6aa023ec9a79471e4fd55d3c</a:t>
            </a:r>
          </a:p>
          <a:p xmlns:a="http://schemas.openxmlformats.org/drawingml/2006/main">
            <a:r>
              <a:t>https://www.interfax.ru/interview/1074248</a:t>
            </a:r>
          </a:p>
          <a:p xmlns:a="http://schemas.openxmlformats.org/drawingml/2006/main">
            <a:r>
              <a:t>https://www.interfax.ru/amp/1074248</a:t>
            </a:r>
          </a:p>
          <a:p xmlns:a="http://schemas.openxmlformats.org/drawingml/2006/main">
            <a:r>
              <a:t>https://www.vedomosti.ru/politics/articles/2026/09/09/1227352-novie-lyudi-sformulirovali-programmu</a:t>
            </a:r>
          </a:p>
          <a:p xmlns:a="http://schemas.openxmlformats.org/drawingml/2006/main">
            <a:r>
              <a:t>https://dddkursk.ru/lenta/2026/07/30/129483/</a:t>
            </a:r>
          </a:p>
          <a:p xmlns:a="http://schemas.openxmlformats.org/drawingml/2006/main">
            <a:r>
              <a:t>https://volga.news/article/803292.html</a:t>
            </a:r>
          </a:p>
          <a:p xmlns:a="http://schemas.openxmlformats.org/drawingml/2006/main">
            <a:r>
              <a:t>https://ru.wikipedia.org/wiki/%D0%9D%D0%B5%D1%87%D0%B0%D0%B5%D0%B2,_%D0%90%D0%BB%D0%B5%D0%BA%D1%81%D0%B5%D0%B9_%D0%93%D0%B5%D0%BD%D0%BD%D0%B0%D0%B4%D1%8C%D0%B5%D0%B2%D0%B8%D1%87</a:t>
            </a:r>
          </a:p>
          <a:p xmlns:a="http://schemas.openxmlformats.org/drawingml/2006/main">
            <a:r>
              <a:t>https://www.davankov2024.ru/page_biography/</a:t>
            </a:r>
          </a:p>
          <a:p xmlns:a="http://schemas.openxmlformats.org/drawingml/2006/main">
            <a:r>
              <a:t>https://davankov2024.ru/program</a:t>
            </a:r>
          </a:p>
          <a:p xmlns:a="http://schemas.openxmlformats.org/drawingml/2006/main">
            <a:r>
              <a:t>http://vote.duma.gov.ru/?convocation=AAAAAAA8&amp;deputy=99113489&amp;sort=date_desc</a:t>
            </a:r>
          </a:p>
          <a:p xmlns:a="http://schemas.openxmlformats.org/drawingml/2006/main">
            <a:r>
              <a:t>https://holod.media/2024/02/14/vladislav-davankov/</a:t>
            </a:r>
          </a:p>
          <a:p xmlns:a="http://schemas.openxmlformats.org/drawingml/2006/main">
            <a:r>
              <a:t>https://davankov2024.ru/</a:t>
            </a:r>
          </a:p>
          <a:p xmlns:a="http://schemas.openxmlformats.org/drawingml/2006/main">
            <a:r>
              <a:t>https://novayagazeta.eu/articles/2024/02/15/davankov-predstavil-predvybornuiu-programmu-bez-amnistii-politzakliuchennykh-i-s-namereniem-dobitsia-mira-na-nashikh-usloviiakh-news</a:t>
            </a:r>
          </a:p>
          <a:p xmlns:a="http://schemas.openxmlformats.org/drawingml/2006/main">
            <a:r>
              <a:t>https://www.kavkaz-uzel.eu/articles/398113</a:t>
            </a:r>
          </a:p>
          <a:p xmlns:a="http://schemas.openxmlformats.org/drawingml/2006/main">
            <a:r>
              <a:t>https://echofm.online/portret-dnya/portret-dnya-vladislav-davankov-kandidat-v-prezidenty-rossii</a:t>
            </a:r>
          </a:p>
          <a:p xmlns:a="http://schemas.openxmlformats.org/drawingml/2006/main">
            <a:r>
              <a:t>https://t.me/s/davankov?before=788</a:t>
            </a:r>
          </a:p>
          <a:p xmlns:a="http://schemas.openxmlformats.org/drawingml/2006/main">
            <a:r>
              <a:t>https://zaharprilepin.ru/ru/bio/</a:t>
            </a:r>
          </a:p>
          <a:p xmlns:a="http://schemas.openxmlformats.org/drawingml/2006/main">
            <a:r>
              <a:t>https://zaharprilepin.ru/ru/video/zapisi-vistuplenij/intervju/</a:t>
            </a:r>
          </a:p>
          <a:p xmlns:a="http://schemas.openxmlformats.org/drawingml/2006/main">
            <a:r>
              <a:t>https://zaharprilepin.ru/ru/pressa/intervyu/na-harkov.html</a:t>
            </a:r>
          </a:p>
          <a:p xmlns:a="http://schemas.openxmlformats.org/drawingml/2006/main">
            <a:r>
              <a:t>https://www.kommersant.ru/doc/4141912</a:t>
            </a:r>
          </a:p>
          <a:p xmlns:a="http://schemas.openxmlformats.org/drawingml/2006/main">
            <a:r>
              <a:t>https://novayagazeta.eu/articles/2023/05/06/plokhoi-uchenik-limonova</a:t>
            </a:r>
          </a:p>
          <a:p xmlns:a="http://schemas.openxmlformats.org/drawingml/2006/main">
            <a:r>
              <a:t>https://tass.ru/politika/11761037</a:t>
            </a:r>
          </a:p>
          <a:p xmlns:a="http://schemas.openxmlformats.org/drawingml/2006/main">
            <a:r>
              <a:t>https://www.nn.ru/text/politics/2021/10/11/70186523/</a:t>
            </a:r>
          </a:p>
          <a:p xmlns:a="http://schemas.openxmlformats.org/drawingml/2006/main">
            <a:r>
              <a:t>https://www.zaks.ru/new/archive/view/267194</a:t>
            </a:r>
          </a:p>
          <a:p xmlns:a="http://schemas.openxmlformats.org/drawingml/2006/main">
            <a:r>
              <a:t>https://spravedlivo.ru/11288710</a:t>
            </a:r>
          </a:p>
          <a:p xmlns:a="http://schemas.openxmlformats.org/drawingml/2006/main">
            <a:r>
              <a:t>https://www.kommersant.ru/doc/4241515</a:t>
            </a:r>
          </a:p>
          <a:p xmlns:a="http://schemas.openxmlformats.org/drawingml/2006/main">
            <a:r>
              <a:t>https://zaharprilepin.ru/ru/pressa/intervyu/radio-komsomolskaja-pravda-10022021.html</a:t>
            </a:r>
          </a:p>
          <a:p xmlns:a="http://schemas.openxmlformats.org/drawingml/2006/main">
            <a:r>
              <a:t>https://pozneronline.ru/2024/04/36826/</a:t>
            </a:r>
          </a:p>
          <a:p xmlns:a="http://schemas.openxmlformats.org/drawingml/2006/main">
            <a:r>
              <a:t>https://www.rbc.ru/person/62a85a259a7947b9ae5d6360</a:t>
            </a:r>
          </a:p>
          <a:p xmlns:a="http://schemas.openxmlformats.org/drawingml/2006/main">
            <a:r>
              <a:t>https://tass.ru/encyclopedia/person/poklonskaya-natalya-vladimirovna</a:t>
            </a:r>
          </a:p>
          <a:p xmlns:a="http://schemas.openxmlformats.org/drawingml/2006/main">
            <a:r>
              <a:t>https://tass.ru/tag/poklonskaya-natalya-vladimirovna</a:t>
            </a:r>
          </a:p>
          <a:p xmlns:a="http://schemas.openxmlformats.org/drawingml/2006/main">
            <a:r>
              <a:t>https://www.bbc.com/russian/features-44801571</a:t>
            </a:r>
          </a:p>
          <a:p xmlns:a="http://schemas.openxmlformats.org/drawingml/2006/main">
            <a:r>
              <a:t>https://www.rbc.ru/rbcfreenews/5ba8bd499a794792294ba05d</a:t>
            </a:r>
          </a:p>
          <a:p xmlns:a="http://schemas.openxmlformats.org/drawingml/2006/main">
            <a:r>
              <a:t>https://www.dp.ru/a/2018/08/31/Poklonskaja_otreazirovala</a:t>
            </a:r>
          </a:p>
          <a:p xmlns:a="http://schemas.openxmlformats.org/drawingml/2006/main">
            <a:r>
              <a:t>https://www.themoscowtimes.com/2022/06/13/former-crimea-prosecutor-dismissed-after-anti-war-comments-a77983</a:t>
            </a:r>
          </a:p>
          <a:p xmlns:a="http://schemas.openxmlformats.org/drawingml/2006/main">
            <a:r>
              <a:t>https://www.rbc.ru/politics/30/06/2023/649dee189a79473e3fdc8906</a:t>
            </a:r>
          </a:p>
          <a:p xmlns:a="http://schemas.openxmlformats.org/drawingml/2006/main">
            <a:r>
              <a:t>http://council.gov.ru/structure/persons/1044/</a:t>
            </a:r>
          </a:p>
          <a:p xmlns:a="http://schemas.openxmlformats.org/drawingml/2006/main">
            <a:r>
              <a:t>http://council.gov.ru/services/reference/9156/</a:t>
            </a:r>
          </a:p>
          <a:p xmlns:a="http://schemas.openxmlformats.org/drawingml/2006/main">
            <a:r>
              <a:t>http://council.gov.ru/events/news/135415/</a:t>
            </a:r>
          </a:p>
          <a:p xmlns:a="http://schemas.openxmlformats.org/drawingml/2006/main">
            <a:r>
              <a:t>https://24smi.org/celebrity/1156-elena-mizulina.html</a:t>
            </a:r>
          </a:p>
          <a:p xmlns:a="http://schemas.openxmlformats.org/drawingml/2006/main">
            <a:r>
              <a:t>https://www.bfometr.ru/blog/elena-mizulina</a:t>
            </a:r>
          </a:p>
          <a:p xmlns:a="http://schemas.openxmlformats.org/drawingml/2006/main">
            <a:r>
              <a:t>https://www.rbc.ru/society/30/03/2018/5abe1b849a79470dc3826f68</a:t>
            </a:r>
          </a:p>
          <a:p xmlns:a="http://schemas.openxmlformats.org/drawingml/2006/main">
            <a:r>
              <a:t>https://uznayvse.ru/znamenitosti/biografiya-elena-mizulina.html</a:t>
            </a:r>
          </a:p>
          <a:p xmlns:a="http://schemas.openxmlformats.org/drawingml/2006/main">
            <a:r>
              <a:t>https://radiokp.ru/people/elena-mizulina</a:t>
            </a:r>
          </a:p>
          <a:p xmlns:a="http://schemas.openxmlformats.org/drawingml/2006/main">
            <a:r>
              <a:t>https://ru.wikipedia.org/wiki/%D0%9C%D0%B8%D0%B7%D1%83%D0%BB%D0%B8%D0%BD%D0%B0,_%D0%95%D0%BB%D0%B5%D0%BD%D0%B0_%D0%91%D0%BE%D1%80%D0%B8%D1%81%D0%BE%D0%B2%D0%BD%D0%B0</a:t>
            </a:r>
          </a:p>
          <a:p xmlns:a="http://schemas.openxmlformats.org/drawingml/2006/main">
            <a:r>
              <a:t>https://ru.wikipedia.org/wiki/Милонов,_Виталий_Валентинович</a:t>
            </a:r>
          </a:p>
          <a:p xmlns:a="http://schemas.openxmlformats.org/drawingml/2006/main">
            <a:r>
              <a:t>https://tass.ru/encyclopedia/person/milonov-vitaliy-valentinovich</a:t>
            </a:r>
          </a:p>
          <a:p xmlns:a="http://schemas.openxmlformats.org/drawingml/2006/main">
            <a:r>
              <a:t>https://www.pnp.ru/person/vitaliy-milonov/</a:t>
            </a:r>
          </a:p>
          <a:p xmlns:a="http://schemas.openxmlformats.org/drawingml/2006/main">
            <a:r>
              <a:t>https://www.zaks.ru/new/person/view/172</a:t>
            </a:r>
          </a:p>
          <a:p xmlns:a="http://schemas.openxmlformats.org/drawingml/2006/main">
            <a:r>
              <a:t>https://svpressa.ru/persons/vitaliy-milonov/</a:t>
            </a:r>
          </a:p>
          <a:p xmlns:a="http://schemas.openxmlformats.org/drawingml/2006/main">
            <a:r>
              <a:t>https://stuki-druki.com/authors/Milonov-Vitaliy.php</a:t>
            </a:r>
          </a:p>
          <a:p xmlns:a="http://schemas.openxmlformats.org/drawingml/2006/main">
            <a:r>
              <a:t>https://pa.inion.ru/persons/7104/</a:t>
            </a:r>
          </a:p>
          <a:p xmlns:a="http://schemas.openxmlformats.org/drawingml/2006/main">
            <a:r>
              <a:t>https://pa.inion.ru/documents/16503/</a:t>
            </a:r>
          </a:p>
          <a:p xmlns:a="http://schemas.openxmlformats.org/drawingml/2006/main">
            <a:r>
              <a:t>https://pa.inion.ru/documents/27860/</a:t>
            </a:r>
          </a:p>
          <a:p xmlns:a="http://schemas.openxmlformats.org/drawingml/2006/main">
            <a:r>
              <a:t>https://kprf.ru/personal/ostanina</a:t>
            </a:r>
          </a:p>
          <a:p xmlns:a="http://schemas.openxmlformats.org/drawingml/2006/main">
            <a:r>
              <a:t>https://pa.inion.ru/documents/25577/</a:t>
            </a:r>
          </a:p>
          <a:p xmlns:a="http://schemas.openxmlformats.org/drawingml/2006/main">
            <a:r>
              <a:t>https://kprf.ru/dep/gosduma/activities/245108.html</a:t>
            </a:r>
          </a:p>
          <a:p xmlns:a="http://schemas.openxmlformats.org/drawingml/2006/main">
            <a:r>
              <a:t>https://www.pnp.ru/social/zashhita-detskogo-byudzheta-kruzhki-sokhranit-vyplaty-iz-matkapitala-uvelichit.html</a:t>
            </a:r>
          </a:p>
          <a:p xmlns:a="http://schemas.openxmlformats.org/drawingml/2006/main">
            <a:r>
              <a:t>https://www.pnp.ru/state-duma/nina-ostanina-o-byudzhete-na-2027-2029-gody-semeynoy-ipoteke-i-matkapitale.html</a:t>
            </a:r>
          </a:p>
          <a:p xmlns:a="http://schemas.openxmlformats.org/drawingml/2006/main">
            <a:r>
              <a:t>https://uznayvse.ru/znamenitosti/biografiya-nina-ostanina.html</a:t>
            </a:r>
          </a:p>
          <a:p xmlns:a="http://schemas.openxmlformats.org/drawingml/2006/main">
            <a:r>
              <a:t>https://dumatv.ru/news/ostanina--borba-za-mirovozzrencheskii-suverenitet-stanovitsya-gosudarstvennoi-politikoi</a:t>
            </a:r>
          </a:p>
          <a:p xmlns:a="http://schemas.openxmlformats.org/drawingml/2006/main">
            <a:r>
              <a:t>https://kprf.ru/dep/gosduma/activities/242132.html</a:t>
            </a:r>
          </a:p>
          <a:p xmlns:a="http://schemas.openxmlformats.org/drawingml/2006/main">
            <a:r>
              <a:t>https://www.business-gazeta.ru/article/625616</a:t>
            </a:r>
          </a:p>
          <a:p xmlns:a="http://schemas.openxmlformats.org/drawingml/2006/main">
            <a:r>
              <a:t>https://www.kommersant.ru/doc/3235400</a:t>
            </a:r>
          </a:p>
          <a:p xmlns:a="http://schemas.openxmlformats.org/drawingml/2006/main">
            <a:r>
              <a:t>https://www.rbc.ru/person/67d838f09a7947cdef0b1a95</a:t>
            </a:r>
          </a:p>
          <a:p xmlns:a="http://schemas.openxmlformats.org/drawingml/2006/main">
            <a:r>
              <a:t>https://www.vedomosti.ru/politics/articles/2020/03/10/824795-tereshkova-predlozhila</a:t>
            </a:r>
          </a:p>
          <a:p xmlns:a="http://schemas.openxmlformats.org/drawingml/2006/main">
            <a:r>
              <a:t>http://duma.gov.ru/news/49164/</a:t>
            </a:r>
          </a:p>
          <a:p xmlns:a="http://schemas.openxmlformats.org/drawingml/2006/main">
            <a:r>
              <a:t>https://meduza.io/news/2020/03/12/delayut-vse-dlya-togo-chtoby-gadosti-delat-tereshkova-o-protivnikah-popravki-obnulyayuschey-sroki-putina</a:t>
            </a:r>
          </a:p>
          <a:p xmlns:a="http://schemas.openxmlformats.org/drawingml/2006/main">
            <a:r>
              <a:t>https://meduza.io/feature/2020/03/10/gosduma-neozhidanno-dlya-sebya-obespechila-putina-novymi-prezidentskimi-srokami</a:t>
            </a:r>
          </a:p>
          <a:p xmlns:a="http://schemas.openxmlformats.org/drawingml/2006/main">
            <a:r>
              <a:t>https://hinshtein.ru/biography/</a:t>
            </a:r>
          </a:p>
          <a:p xmlns:a="http://schemas.openxmlformats.org/drawingml/2006/main">
            <a:r>
              <a:t>https://www.vedomosti.ru/politics/articles/2024/12/06/1079852-kto-takoi-aleksandr-hinshtein</a:t>
            </a:r>
          </a:p>
          <a:p xmlns:a="http://schemas.openxmlformats.org/drawingml/2006/main">
            <a:r>
              <a:t>https://www.rbc.ru/person/6752d12a9a7947d62166795e</a:t>
            </a:r>
          </a:p>
          <a:p xmlns:a="http://schemas.openxmlformats.org/drawingml/2006/main">
            <a:r>
              <a:t>https://www.rbc.ru/politics/06/12/2024/675207239a7947e74994842e</a:t>
            </a:r>
          </a:p>
          <a:p xmlns:a="http://schemas.openxmlformats.org/drawingml/2006/main">
            <a:r>
              <a:t>https://hinshtein.ru/news/aleksandr-hinshtejn-podvyol-itogi-goda-raboty-komiteta-gosdumy-po-informpolitike-informatsionnym-tehnologiyam-i-svyazi/</a:t>
            </a:r>
          </a:p>
          <a:p xmlns:a="http://schemas.openxmlformats.org/drawingml/2006/main">
            <a:r>
              <a:t>https://hinshtein.ru/news/a-hinshtejn-itogi-raboty-za-vii-sozyv/</a:t>
            </a:r>
          </a:p>
          <a:p xmlns:a="http://schemas.openxmlformats.org/drawingml/2006/main">
            <a:r>
              <a:t>https://www.kommersant.ru/doc/4660427</a:t>
            </a:r>
          </a:p>
          <a:p xmlns:a="http://schemas.openxmlformats.org/drawingml/2006/main">
            <a:r>
              <a:t>https://www.kommersant.ru/doc/4104004</a:t>
            </a:r>
          </a:p>
          <a:p xmlns:a="http://schemas.openxmlformats.org/drawingml/2006/main">
            <a:r>
              <a:t>https://www.nvgazeta.ru/news/12383/634260/</a:t>
            </a:r>
          </a:p>
          <a:p xmlns:a="http://schemas.openxmlformats.org/drawingml/2006/main">
            <a:r>
              <a:t>https://kpravda.ru/2025/02/11/kursk-poluchit-dengi-iz-gosbyudzheta-na-restavracziyu-istoricheskoj-kreposti/</a:t>
            </a:r>
          </a:p>
          <a:p xmlns:a="http://schemas.openxmlformats.org/drawingml/2006/main">
            <a:r>
              <a:t>https://tass.ru/obschestvo/24001633</a:t>
            </a:r>
          </a:p>
          <a:p xmlns:a="http://schemas.openxmlformats.org/drawingml/2006/main">
            <a:r>
              <a:t>https://www.kommersant.ru/doc/7737032</a:t>
            </a:r>
          </a:p>
          <a:p xmlns:a="http://schemas.openxmlformats.org/drawingml/2006/main">
            <a:r>
              <a:t>https://kpravda.ru/2025/03/21/edinaya-rossiya-pomozhet-v-restavraczii-kurskih-pamyatnikov/</a:t>
            </a:r>
          </a:p>
          <a:p xmlns:a="http://schemas.openxmlformats.org/drawingml/2006/main">
            <a:r>
              <a:t>https://news-kursk.ru/society/2025/07/13/65824.html</a:t>
            </a:r>
          </a:p>
          <a:p xmlns:a="http://schemas.openxmlformats.org/drawingml/2006/main">
            <a:r>
              <a:t>https://news.ru/russia/v-kurske-budet-alleya-geroev-hinshtejn-o-muzee-i-memoriale-zhertvam-vsu</a:t>
            </a:r>
          </a:p>
          <a:p xmlns:a="http://schemas.openxmlformats.org/drawingml/2006/main">
            <a:r>
              <a:t>https://ru.wikipedia.org/wiki/Пушков,_Алексей_Константинович</a:t>
            </a:r>
          </a:p>
          <a:p xmlns:a="http://schemas.openxmlformats.org/drawingml/2006/main">
            <a:r>
              <a:t>http://council.gov.ru/structure/persons/1316/</a:t>
            </a:r>
          </a:p>
          <a:p xmlns:a="http://schemas.openxmlformats.org/drawingml/2006/main">
            <a:r>
              <a:t>http://council.gov.ru/media/files/xjE2QHRAivCH7onABehAcG7OsnrO6DYb.pdf</a:t>
            </a:r>
          </a:p>
          <a:p xmlns:a="http://schemas.openxmlformats.org/drawingml/2006/main">
            <a:r>
              <a:t>https://base.garant.ru/406310971/</a:t>
            </a:r>
          </a:p>
          <a:p xmlns:a="http://schemas.openxmlformats.org/drawingml/2006/main">
            <a:r>
              <a:t>https://russiancouncil.ru/aleksey-pushkov/</a:t>
            </a:r>
          </a:p>
          <a:p xmlns:a="http://schemas.openxmlformats.org/drawingml/2006/main">
            <a:r>
              <a:t>http://legislation.council.gov.ru/events/announce/</a:t>
            </a:r>
          </a:p>
          <a:p xmlns:a="http://schemas.openxmlformats.org/drawingml/2006/main">
            <a:r>
              <a:t>http://council.gov.ru/events/news/173810/</a:t>
            </a:r>
          </a:p>
          <a:p xmlns:a="http://schemas.openxmlformats.org/drawingml/2006/main">
            <a:r>
              <a:t>http://www.council.gov.ru/events/news/175997/</a:t>
            </a:r>
          </a:p>
          <a:p xmlns:a="http://schemas.openxmlformats.org/drawingml/2006/main">
            <a:r>
              <a:t>http://council.gov.ru/media/report/pdf/HtoXfAAzeBJ8JwN0eAduo3rejTAYhqvB.pdf</a:t>
            </a:r>
          </a:p>
          <a:p xmlns:a="http://schemas.openxmlformats.org/drawingml/2006/main">
            <a:r>
              <a:t>http://council.gov.ru/events/news/164749/</a:t>
            </a:r>
          </a:p>
          <a:p xmlns:a="http://schemas.openxmlformats.org/drawingml/2006/main">
            <a:r>
              <a:t>https://t.me/s/alexey_pushkov?before=14914</a:t>
            </a:r>
          </a:p>
          <a:p xmlns:a="http://schemas.openxmlformats.org/drawingml/2006/main">
            <a:r>
              <a:t>http://legislation.council.gov.ru/events/multimedia/video/302078/</a:t>
            </a:r>
          </a:p>
          <a:p xmlns:a="http://schemas.openxmlformats.org/drawingml/2006/main">
            <a:r>
              <a:t>http://council.gov.ru/media/report/pdf/e8Awe3U6hNouHwSvME53OSPGGWxTeVAl.pdf</a:t>
            </a:r>
          </a:p>
          <a:p xmlns:a="http://schemas.openxmlformats.org/drawingml/2006/main">
            <a:r>
              <a:t>https://www.vedomosti.ru/person/1178385-kosachev-konstantin</a:t>
            </a:r>
          </a:p>
          <a:p xmlns:a="http://schemas.openxmlformats.org/drawingml/2006/main">
            <a:r>
              <a:t>https://www.interfax.ru/interview/812963</a:t>
            </a:r>
          </a:p>
          <a:p xmlns:a="http://schemas.openxmlformats.org/drawingml/2006/main">
            <a:r>
              <a:t>https://senatinform.ru/news/yuzhnuyu_osetiyu_neobkhodimo_vyvodit_iz_iskusstvennoy_izolyatsii_schitayut_rossiyskie_senatory_/</a:t>
            </a:r>
          </a:p>
          <a:p xmlns:a="http://schemas.openxmlformats.org/drawingml/2006/main">
            <a:r>
              <a:t>https://senatinform.ru/news/kosachyev_rossiya_gotova_rabotat_s_mps_s_uchyetom_ozabochennostey_nashey_strany/</a:t>
            </a:r>
          </a:p>
          <a:p xmlns:a="http://schemas.openxmlformats.org/drawingml/2006/main">
            <a:r>
              <a:t>https://www.bfm.ru/person/61</a:t>
            </a:r>
          </a:p>
          <a:p xmlns:a="http://schemas.openxmlformats.org/drawingml/2006/main">
            <a:r>
              <a:t>https://svpressa.ru/persons/konstantin-kosachev/</a:t>
            </a:r>
          </a:p>
          <a:p xmlns:a="http://schemas.openxmlformats.org/drawingml/2006/main">
            <a:r>
              <a:t>https://www.pnp.ru/person/konstantin-kosachev/</a:t>
            </a:r>
          </a:p>
          <a:p xmlns:a="http://schemas.openxmlformats.org/drawingml/2006/main">
            <a:r>
              <a:t>https://www.pnp.ru/politics/konstantin-kosachev-dlya-ssha-voyna-s-rossiey-eto-samoubiystvo.html</a:t>
            </a:r>
          </a:p>
          <a:p xmlns:a="http://schemas.openxmlformats.org/drawingml/2006/main">
            <a:r>
              <a:t>https://www.mlg.ru/ratings/vlast/senators/10844/</a:t>
            </a:r>
          </a:p>
          <a:p xmlns:a="http://schemas.openxmlformats.org/drawingml/2006/main">
            <a:r>
              <a:t>http://council.gov.ru/events/news/173506/</a:t>
            </a:r>
          </a:p>
          <a:p xmlns:a="http://schemas.openxmlformats.org/drawingml/2006/main">
            <a:r>
              <a:t>https://t.me/s/Kosachev62</a:t>
            </a:r>
          </a:p>
          <a:p xmlns:a="http://schemas.openxmlformats.org/drawingml/2006/main">
            <a:r>
              <a:t>http://council.gov.ru/events/news/177602/</a:t>
            </a:r>
          </a:p>
          <a:p xmlns:a="http://schemas.openxmlformats.org/drawingml/2006/main">
            <a:r>
              <a:t>https://vmeste-rf.tv/programs/205/konstantin-kosachev-sotrudnichestvo-rossii-i-efiopii-itogi-vizita-delegatsii-sf/</a:t>
            </a:r>
          </a:p>
          <a:p xmlns:a="http://schemas.openxmlformats.org/drawingml/2006/main">
            <a:r>
              <a:t>https://www.rbc.ru/person/64b8e1909a79474f30e86f98</a:t>
            </a:r>
          </a:p>
          <a:p xmlns:a="http://schemas.openxmlformats.org/drawingml/2006/main">
            <a:r>
              <a:t>https://www.kommersant.ru/doc/6041063</a:t>
            </a:r>
          </a:p>
          <a:p xmlns:a="http://schemas.openxmlformats.org/drawingml/2006/main">
            <a:r>
              <a:t>https://www.mos.ru/mayor/themes/6907050/</a:t>
            </a:r>
          </a:p>
          <a:p xmlns:a="http://schemas.openxmlformats.org/drawingml/2006/main">
            <a:r>
              <a:t>https://www.mos.ru/mayor/themes/7037050/</a:t>
            </a:r>
          </a:p>
          <a:p xmlns:a="http://schemas.openxmlformats.org/drawingml/2006/main">
            <a:r>
              <a:t>https://www.mos.ru/mayor/themes/8822050/</a:t>
            </a:r>
          </a:p>
          <a:p xmlns:a="http://schemas.openxmlformats.org/drawingml/2006/main">
            <a:r>
              <a:t>http://special.kremlin.ru/catalog/persons/38/events/70467</a:t>
            </a:r>
          </a:p>
          <a:p xmlns:a="http://schemas.openxmlformats.org/drawingml/2006/main">
            <a:r>
              <a:t>https://www.mos.ru/upload/content/files/15af077500dcc5a1547bf728abf25669/15Zakong_Moskviot17_05_2017N14Odopolnitelnihgaranti.pdf</a:t>
            </a:r>
          </a:p>
          <a:p xmlns:a="http://schemas.openxmlformats.org/drawingml/2006/main">
            <a:r>
              <a:t>https://www.rbc.ru/politics/03/05/2023/645245159a794763ce66d990</a:t>
            </a:r>
          </a:p>
          <a:p xmlns:a="http://schemas.openxmlformats.org/drawingml/2006/main">
            <a:r>
              <a:t>https://www.dw.com/ru/ataka-dronov-v-moskve-i-podmoskove-cto-izvestno/a-65771767</a:t>
            </a:r>
          </a:p>
          <a:p xmlns:a="http://schemas.openxmlformats.org/drawingml/2006/main">
            <a:r>
              <a:t>https://www.rbc.ru/politics/01/08/2023/64c856ce9a79471a722e13ad</a:t>
            </a:r>
          </a:p>
          <a:p xmlns:a="http://schemas.openxmlformats.org/drawingml/2006/main">
            <a:r>
              <a:t>https://www.rbc.ru/politics/23/08/2023/64e54f299a794789ddb55c65</a:t>
            </a:r>
          </a:p>
          <a:p xmlns:a="http://schemas.openxmlformats.org/drawingml/2006/main">
            <a:r>
              <a:t>https://ru.wikipedia.org/wiki/Беглов,_Александр_Дмитриевич</a:t>
            </a:r>
          </a:p>
          <a:p xmlns:a="http://schemas.openxmlformats.org/drawingml/2006/main">
            <a:r>
              <a:t>https://www.gov.spb.ru/governor/</a:t>
            </a:r>
          </a:p>
          <a:p xmlns:a="http://schemas.openxmlformats.org/drawingml/2006/main">
            <a:r>
              <a:t>https://www.rbc.ru/politics/30/05/2019/5cf02cf09a79475ed4d2fa3f</a:t>
            </a:r>
          </a:p>
          <a:p xmlns:a="http://schemas.openxmlformats.org/drawingml/2006/main">
            <a:r>
              <a:t>https://www.themoscowtimes.com/2019/09/11/st-petersburg-re-elects-governor-beglov-after-controversial-campaign-a67240</a:t>
            </a:r>
          </a:p>
          <a:p xmlns:a="http://schemas.openxmlformats.org/drawingml/2006/main">
            <a:r>
              <a:t>https://www.gov.spb.ru/press/governor/188637/</a:t>
            </a:r>
          </a:p>
          <a:p xmlns:a="http://schemas.openxmlformats.org/drawingml/2006/main">
            <a:r>
              <a:t>https://www.gov.spb.ru/press/governor/213661/</a:t>
            </a:r>
          </a:p>
          <a:p xmlns:a="http://schemas.openxmlformats.org/drawingml/2006/main">
            <a:r>
              <a:t>https://www.gov.spb.ru/press/governor/258831/</a:t>
            </a:r>
          </a:p>
          <a:p xmlns:a="http://schemas.openxmlformats.org/drawingml/2006/main">
            <a:r>
              <a:t>https://www.gov.spb.ru/governor/interview/7333/</a:t>
            </a:r>
          </a:p>
          <a:p xmlns:a="http://schemas.openxmlformats.org/drawingml/2006/main">
            <a:r>
              <a:t>https://tass.ru/interviews/21839179</a:t>
            </a:r>
          </a:p>
          <a:p xmlns:a="http://schemas.openxmlformats.org/drawingml/2006/main">
            <a:r>
              <a:t>https://www.gov.spb.ru/press/governor/236663/</a:t>
            </a:r>
          </a:p>
          <a:p xmlns:a="http://schemas.openxmlformats.org/drawingml/2006/main">
            <a:r>
              <a:t>https://tvspb.ru/news/2022/09/21/aleksandr-beglov-ukaz-prezidenta-o-chastichnoj-mobilizaczii-byl-trudnym-no-neobhodimym-shagom</a:t>
            </a:r>
          </a:p>
          <a:p xmlns:a="http://schemas.openxmlformats.org/drawingml/2006/main">
            <a:r>
              <a:t>https://spbvedomosti.ru/news/gorod/gubernator-aleksandr-beglov-obyavil-o-zavershenii-chastichnoy-mobilizatsii/</a:t>
            </a:r>
          </a:p>
          <a:p xmlns:a="http://schemas.openxmlformats.org/drawingml/2006/main">
            <a:r>
              <a:t>https://www.gov.spb.ru/press/governor/253716/</a:t>
            </a:r>
          </a:p>
          <a:p xmlns:a="http://schemas.openxmlformats.org/drawingml/2006/main">
            <a:r>
              <a:t>https://www.gov.spb.ru/press/governor/290070/</a:t>
            </a:r>
          </a:p>
          <a:p xmlns:a="http://schemas.openxmlformats.org/drawingml/2006/main">
            <a:r>
              <a:t>https://spbdnevnik.ru/news/2022-10-06/aleksandr-beglov-rasskazal-o-prizyve-po-mobilizatsii-peterburzhtsa-s-odnoy-pochkoy</a:t>
            </a:r>
          </a:p>
          <a:p xmlns:a="http://schemas.openxmlformats.org/drawingml/2006/main">
            <a:r>
              <a:t>https://www.rbc.ru/person/62c5c0899a79470082fa57eb</a:t>
            </a:r>
          </a:p>
          <a:p xmlns:a="http://schemas.openxmlformats.org/drawingml/2006/main">
            <a:r>
              <a:t>https://www.kavkaz-uzel.eu/articles/85366</a:t>
            </a:r>
          </a:p>
          <a:p xmlns:a="http://schemas.openxmlformats.org/drawingml/2006/main">
            <a:r>
              <a:t>https://news.ru/regions/my-dolzhny-zabrat-vsyu-ukrainu-chto-kadyrov-govoril-ob-svo-rossii-putine</a:t>
            </a:r>
          </a:p>
          <a:p xmlns:a="http://schemas.openxmlformats.org/drawingml/2006/main">
            <a:r>
              <a:t>https://minval.az/k/ramzan-kadyrov</a:t>
            </a:r>
          </a:p>
          <a:p xmlns:a="http://schemas.openxmlformats.org/drawingml/2006/main">
            <a:r>
              <a:t>http://publication.pravo.gov.ru/document/2000202609160002</a:t>
            </a:r>
          </a:p>
          <a:p xmlns:a="http://schemas.openxmlformats.org/drawingml/2006/main">
            <a:r>
              <a:t>https://vestikavkaza.ru/amp/291219</a:t>
            </a:r>
          </a:p>
          <a:p xmlns:a="http://schemas.openxmlformats.org/drawingml/2006/main">
            <a:r>
              <a:t>https://tass.ru/obschestvo/25968415</a:t>
            </a:r>
          </a:p>
          <a:p xmlns:a="http://schemas.openxmlformats.org/drawingml/2006/main">
            <a:r>
              <a:t>https://www.rbc.ru/rbcfreenews/694558f89a794775c8b05d2e</a:t>
            </a:r>
          </a:p>
          <a:p xmlns:a="http://schemas.openxmlformats.org/drawingml/2006/main">
            <a:r>
              <a:t>https://rais.tatarstan.ru/biografiya.htm</a:t>
            </a:r>
          </a:p>
          <a:p xmlns:a="http://schemas.openxmlformats.org/drawingml/2006/main">
            <a:r>
              <a:t>https://rt.rbc.ru/tatarstan/freenews/68c7f77d9a79472be550408e</a:t>
            </a:r>
          </a:p>
          <a:p xmlns:a="http://schemas.openxmlformats.org/drawingml/2006/main">
            <a:r>
              <a:t>https://rt.rbc.ru/tatarstan/freenews/68c90bdc9a794783273a16b6</a:t>
            </a:r>
          </a:p>
          <a:p xmlns:a="http://schemas.openxmlformats.org/drawingml/2006/main">
            <a:r>
              <a:t>https://tass.ru/politika/25045679</a:t>
            </a:r>
          </a:p>
          <a:p xmlns:a="http://schemas.openxmlformats.org/drawingml/2006/main">
            <a:r>
              <a:t>https://tass.ru/info/25058299</a:t>
            </a:r>
          </a:p>
          <a:p xmlns:a="http://schemas.openxmlformats.org/drawingml/2006/main">
            <a:r>
              <a:t>https://tatarstan.ru/index.htm/news/2454245.htm</a:t>
            </a:r>
          </a:p>
          <a:p xmlns:a="http://schemas.openxmlformats.org/drawingml/2006/main">
            <a:r>
              <a:t>https://izbirkom.tatarstan.ru/file/pub/pub_4719790.docx</a:t>
            </a:r>
          </a:p>
          <a:p xmlns:a="http://schemas.openxmlformats.org/drawingml/2006/main">
            <a:r>
              <a:t>http://www.pfo.gov.ru/press/events/112125/</a:t>
            </a:r>
          </a:p>
          <a:p xmlns:a="http://schemas.openxmlformats.org/drawingml/2006/main">
            <a:r>
              <a:t>https://www.tatar-inform.ru/news/rustam-minnixanov-sankcii-ne-koncatsya-poka-my-ne-stanem-samodostatocnymi-5896958</a:t>
            </a:r>
          </a:p>
          <a:p xmlns:a="http://schemas.openxmlformats.org/drawingml/2006/main">
            <a:r>
              <a:t>https://tatarstan.ru/index.htm/news/1916025.htm</a:t>
            </a:r>
          </a:p>
          <a:p xmlns:a="http://schemas.openxmlformats.org/drawingml/2006/main">
            <a:r>
              <a:t>https://kitaphane.tatarstan.ru/digital.htm</a:t>
            </a:r>
          </a:p>
          <a:p xmlns:a="http://schemas.openxmlformats.org/drawingml/2006/main">
            <a:r>
              <a:t>https://kt.tatarstan.ru/index.htm/news/2266706.htm</a:t>
            </a:r>
          </a:p>
          <a:p xmlns:a="http://schemas.openxmlformats.org/drawingml/2006/main">
            <a:r>
              <a:t>https://tatarstan.ru/index.htm/news/2460505.htm</a:t>
            </a:r>
          </a:p>
          <a:p xmlns:a="http://schemas.openxmlformats.org/drawingml/2006/main">
            <a:r>
              <a:t>https://digital.tatarstan.ru/index.htm/news/2460691.htm</a:t>
            </a:r>
          </a:p>
          <a:p xmlns:a="http://schemas.openxmlformats.org/drawingml/2006/main">
            <a:r>
              <a:t>https://amp.rbc.ru/rbcnews/politics/09/07/2020/5f06bbb69a79475c40a9a094</a:t>
            </a:r>
          </a:p>
          <a:p xmlns:a="http://schemas.openxmlformats.org/drawingml/2006/main">
            <a:r>
              <a:t>https://1kas.sudrf.ru/modules.php?name=sud_delo&amp;name_op=doc&amp;number=39453936&amp;delo_id=2450001&amp;case_type=0&amp;new=2450001&amp;text_number=1&amp;srv_num=1</a:t>
            </a:r>
          </a:p>
          <a:p xmlns:a="http://schemas.openxmlformats.org/drawingml/2006/main">
            <a:r>
              <a:t>https://www.interfax.ru/russia/982916</a:t>
            </a:r>
          </a:p>
          <a:p xmlns:a="http://schemas.openxmlformats.org/drawingml/2006/main">
            <a:r>
              <a:t>https://www.svoboda.org/a/sud-ostavil-v-sile-prigovor-habarovskomu-eks-gubernatoru-sergeyu-furgalu/32686024.html</a:t>
            </a:r>
          </a:p>
          <a:p xmlns:a="http://schemas.openxmlformats.org/drawingml/2006/main">
            <a:r>
              <a:t>https://www.dw.com/ru/kommentarij-furgal-peresidit-putina/a-64670560</a:t>
            </a:r>
          </a:p>
          <a:p xmlns:a="http://schemas.openxmlformats.org/drawingml/2006/main">
            <a:r>
              <a:t>https://www.kommersant.ru/doc/3896415</a:t>
            </a:r>
          </a:p>
          <a:p xmlns:a="http://schemas.openxmlformats.org/drawingml/2006/main">
            <a:r>
              <a:t>https://todaykhv.ru/news/policy/19386/</a:t>
            </a:r>
          </a:p>
          <a:p xmlns:a="http://schemas.openxmlformats.org/drawingml/2006/main">
            <a:r>
              <a:t>https://meduza.io/feature/2018/09/19/ya-dumayu-chto-situatsiya-kak-v-primorie-u-nas-ne-povtoritsya</a:t>
            </a:r>
          </a:p>
          <a:p xmlns:a="http://schemas.openxmlformats.org/drawingml/2006/main">
            <a:r>
              <a:t>https://govoritmoskva.ru/news/174327/</a:t>
            </a:r>
          </a:p>
          <a:p xmlns:a="http://schemas.openxmlformats.org/drawingml/2006/main">
            <a:r>
              <a:t>https://todaykhv.ru/news/policy/22426/?sphrase_id=2620206</a:t>
            </a:r>
          </a:p>
          <a:p xmlns:a="http://schemas.openxmlformats.org/drawingml/2006/main">
            <a:r>
              <a:t>https://ru.wikipedia.org/wiki/%D0%A4%D1%83%D1%80%D0%B3%D0%B0%D0%BB,_%D0%A1%D0%B5%D1%80%D0%B3%D0%B5%D0%B9_%D0%98%D0%B2%D0%B0%D0%BD%D0%BE%D0%B2%D0%B8%D1%87</a:t>
            </a:r>
          </a:p>
          <a:p xmlns:a="http://schemas.openxmlformats.org/drawingml/2006/main">
            <a:r>
              <a:t>https://novayagazeta.ru/articles/2018/09/18/77870-ne-dopuschu-zdes-revolyutsii</a:t>
            </a:r>
          </a:p>
          <a:p xmlns:a="http://schemas.openxmlformats.org/drawingml/2006/main">
            <a:r>
              <a:t>https://opkhv.ru/publications/4888</a:t>
            </a:r>
          </a:p>
          <a:p xmlns:a="http://schemas.openxmlformats.org/drawingml/2006/main">
            <a:r>
              <a:t>https://meduza.io/feature/2019/08/26/partiya-vlasti-zdes-ldpr</a:t>
            </a:r>
          </a:p>
          <a:p xmlns:a="http://schemas.openxmlformats.org/drawingml/2006/main">
            <a:r>
              <a:t>https://tass.ru/obschestvo/5946495</a:t>
            </a:r>
          </a:p>
          <a:p xmlns:a="http://schemas.openxmlformats.org/drawingml/2006/main">
            <a:r>
              <a:t>https://amurmedia.ru/news/775590/</a:t>
            </a:r>
          </a:p>
          <a:p xmlns:a="http://schemas.openxmlformats.org/drawingml/2006/main">
            <a:r>
              <a:t>https://www.eastrussia.ru/material/ne-planiruyushchim-pereezzhat-sovetuyu-pomolchat/</a:t>
            </a:r>
          </a:p>
          <a:p xmlns:a="http://schemas.openxmlformats.org/drawingml/2006/main">
            <a:r>
              <a:t>https://www.dw.com/ru/v-habarovske-priznali-ekstremistskim-dvizenie-v-zasitu-furgala/a-68334442</a:t>
            </a:r>
          </a:p>
          <a:p xmlns:a="http://schemas.openxmlformats.org/drawingml/2006/main">
            <a:r>
              <a:t>https://www.rbc.ru/person/66475fec9a79475c4d9443ad</a:t>
            </a:r>
          </a:p>
          <a:p xmlns:a="http://schemas.openxmlformats.org/drawingml/2006/main">
            <a:r>
              <a:t>https://tass.ru/info/12453099</a:t>
            </a:r>
          </a:p>
          <a:p xmlns:a="http://schemas.openxmlformats.org/drawingml/2006/main">
            <a:r>
              <a:t>https://tass.ru/info/9007455</a:t>
            </a:r>
          </a:p>
          <a:p xmlns:a="http://schemas.openxmlformats.org/drawingml/2006/main">
            <a:r>
              <a:t>https://tass.ru/info/20795009</a:t>
            </a:r>
          </a:p>
          <a:p xmlns:a="http://schemas.openxmlformats.org/drawingml/2006/main">
            <a:r>
              <a:t>https://tass.ru/encyclopedia/person/degtyarev-mihail-vladimirovich</a:t>
            </a:r>
          </a:p>
          <a:p xmlns:a="http://schemas.openxmlformats.org/drawingml/2006/main">
            <a:r>
              <a:t>https://www.rbc.ru/politics/20/07/2020/5f1586289a794722b2457d61</a:t>
            </a:r>
          </a:p>
          <a:p xmlns:a="http://schemas.openxmlformats.org/drawingml/2006/main">
            <a:r>
              <a:t>https://www.minsport.gov.ru/press-center/news/intervyu-mihaila-degtyareva-gazete-kommersant/</a:t>
            </a:r>
          </a:p>
          <a:p xmlns:a="http://schemas.openxmlformats.org/drawingml/2006/main">
            <a:r>
              <a:t>https://minsport.gov.ru/press-center/news/mihail-degtyarev-nashe-mesto-za-stolom-a-ne-v-perednej/</a:t>
            </a:r>
          </a:p>
          <a:p xmlns:a="http://schemas.openxmlformats.org/drawingml/2006/main">
            <a:r>
              <a:t>https://news.ru/vlast/degtyarev-prizval-ne-doveryat-evrope-provedenie-sorevnovanij</a:t>
            </a:r>
          </a:p>
          <a:p xmlns:a="http://schemas.openxmlformats.org/drawingml/2006/main">
            <a:r>
              <a:t>https://www.interfax.ru/presscenter/622170</a:t>
            </a:r>
          </a:p>
          <a:p xmlns:a="http://schemas.openxmlformats.org/drawingml/2006/main">
            <a:r>
              <a:t>https://tass.ru/interviews/13152777</a:t>
            </a:r>
          </a:p>
          <a:p xmlns:a="http://schemas.openxmlformats.org/drawingml/2006/main">
            <a:r>
              <a:t>https://www.sports.ru/others/blogs/3302024.html</a:t>
            </a:r>
          </a:p>
          <a:p xmlns:a="http://schemas.openxmlformats.org/drawingml/2006/main">
            <a:r>
              <a:t>https://www.vremyan.ru/news/556863</a:t>
            </a:r>
          </a:p>
          <a:p xmlns:a="http://schemas.openxmlformats.org/drawingml/2006/main">
            <a:r>
              <a:t>https://kprf.ru/personal/levchenko</a:t>
            </a:r>
          </a:p>
          <a:p xmlns:a="http://schemas.openxmlformats.org/drawingml/2006/main">
            <a:r>
              <a:t>https://www.rbc.ru/politics/23/06/2020/5ef0bd949a7947b3cd3dcba6</a:t>
            </a:r>
          </a:p>
          <a:p xmlns:a="http://schemas.openxmlformats.org/drawingml/2006/main">
            <a:r>
              <a:t>https://kprf.ru/party-live/regnews/194838.html</a:t>
            </a:r>
          </a:p>
          <a:p xmlns:a="http://schemas.openxmlformats.org/drawingml/2006/main">
            <a:r>
              <a:t>https://liveangarsk.ru/news/20191214/v-slozhivsheisya</a:t>
            </a:r>
          </a:p>
          <a:p xmlns:a="http://schemas.openxmlformats.org/drawingml/2006/main">
            <a:r>
              <a:t>https://kprf.ru/dep/gosduma/activities/240271.html</a:t>
            </a:r>
          </a:p>
          <a:p xmlns:a="http://schemas.openxmlformats.org/drawingml/2006/main">
            <a:r>
              <a:t>https://kprf.ru/dep/gosduma/activities/241686.html</a:t>
            </a:r>
          </a:p>
          <a:p xmlns:a="http://schemas.openxmlformats.org/drawingml/2006/main">
            <a:r>
              <a:t>https://altairk.ru/new/policy/the_message_of_the_governor</a:t>
            </a:r>
          </a:p>
          <a:p xmlns:a="http://schemas.openxmlformats.org/drawingml/2006/main">
            <a:r>
              <a:t>https://kto-irkutsk.ru/2026/07/20/sergej-levchenko-deyatelnost-i-zayavleniya-i-ix-ocenka/</a:t>
            </a:r>
          </a:p>
          <a:p xmlns:a="http://schemas.openxmlformats.org/drawingml/2006/main">
            <a:r>
              <a:t>https://ru.wikipedia.org/wiki/%D0%9B%D0%B5%D0%B2%D1%87%D0%B5%D0%BD%D0%BA%D0%BE,_%D0%A1%D0%B5%D1%80%D0%B3%D0%B5%D0%B9_%D0%93%D0%B5%D0%BE%D1%80%D0%B3%D0%B8%D0%B5%D0%B2%D0%B8%D1%87</a:t>
            </a:r>
          </a:p>
          <a:p xmlns:a="http://schemas.openxmlformats.org/drawingml/2006/main">
            <a:r>
              <a:t>https://www.newsru.com/dossiers/10330/</a:t>
            </a:r>
          </a:p>
          <a:p xmlns:a="http://schemas.openxmlformats.org/drawingml/2006/main">
            <a:r>
              <a:t>https://www.interfax.ru/russia/714300</a:t>
            </a:r>
          </a:p>
          <a:p xmlns:a="http://schemas.openxmlformats.org/drawingml/2006/main">
            <a:r>
              <a:t>https://www.rbc.ru/politics/14/09/2020/5f5e7dfb9a79477f7753d651</a:t>
            </a:r>
          </a:p>
          <a:p xmlns:a="http://schemas.openxmlformats.org/drawingml/2006/main">
            <a:r>
              <a:t>https://www.rline.tv/podrobnosti/2019-10-06-sergey-levchenko-za-chetyre-goda-sdelano-bolshe-chem-za-predydushchie-15-let/</a:t>
            </a:r>
          </a:p>
          <a:p xmlns:a="http://schemas.openxmlformats.org/drawingml/2006/main">
            <a:r>
              <a:t>https://vs19.ru/verhovny-sovet/deputati/670-konovalov-valentin-olegovich</a:t>
            </a:r>
          </a:p>
          <a:p xmlns:a="http://schemas.openxmlformats.org/drawingml/2006/main">
            <a:r>
              <a:t>https://meduza.io/feature/2018/09/10/etu-vlast-nichego-ne-spaset</a:t>
            </a:r>
          </a:p>
          <a:p xmlns:a="http://schemas.openxmlformats.org/drawingml/2006/main">
            <a:r>
              <a:t>https://kprf.ru/party-live/regnews/188553.html</a:t>
            </a:r>
          </a:p>
          <a:p xmlns:a="http://schemas.openxmlformats.org/drawingml/2006/main">
            <a:r>
              <a:t>https://www.kommersant.ru/doc/4441936</a:t>
            </a:r>
          </a:p>
          <a:p xmlns:a="http://schemas.openxmlformats.org/drawingml/2006/main">
            <a:r>
              <a:t>http://www.youtube.com/watch?v=eO6lUkFCAqM</a:t>
            </a:r>
          </a:p>
          <a:p xmlns:a="http://schemas.openxmlformats.org/drawingml/2006/main">
            <a:r>
              <a:t>https://ru.wikipedia.org/wiki/%D0%92%D1%8B%D0%B1%D0%BE%D1%80%D1%8B_%D0%B3%D0%BB%D0%B0%D0%B2%D1%8B_%D0%A0%D0%B5%D1%81%D0%BF%D1%83%D0%B1%D0%BB%D0%B8%D0%BA%D0%B8_%D0%A5%D0%B0%D0%BA%D0%B0%D1%81%D0%B8%D1%8F_(2018)</a:t>
            </a:r>
          </a:p>
          <a:p xmlns:a="http://schemas.openxmlformats.org/drawingml/2006/main">
            <a:r>
              <a:t>https://ok.ru/group/51615057903766/topic/157744983021718</a:t>
            </a:r>
          </a:p>
          <a:p xmlns:a="http://schemas.openxmlformats.org/drawingml/2006/main">
            <a:r>
              <a:t>https://kprf.ru/party-live/cknews/245343.html</a:t>
            </a:r>
          </a:p>
          <a:p xmlns:a="http://schemas.openxmlformats.org/drawingml/2006/main">
            <a:r>
              <a:t>https://r-19.ru/news/politika/190680/</a:t>
            </a:r>
          </a:p>
          <a:p xmlns:a="http://schemas.openxmlformats.org/drawingml/2006/main">
            <a:r>
              <a:t>https://r-19.ru/news/ekonomika/193031/</a:t>
            </a:r>
          </a:p>
          <a:p xmlns:a="http://schemas.openxmlformats.org/drawingml/2006/main">
            <a:r>
              <a:t>https://19rusinfo.ru/ekonomika/118670-otchjot</a:t>
            </a:r>
          </a:p>
          <a:p xmlns:a="http://schemas.openxmlformats.org/drawingml/2006/main">
            <a:r>
              <a:t>https://iditena.ru/candidates/konovalov-valentin-olegovich/</a:t>
            </a:r>
          </a:p>
          <a:p xmlns:a="http://schemas.openxmlformats.org/drawingml/2006/main">
            <a:r>
              <a:t>https://56.kprf.ru/deyatelnost/tpost/gjjjuy1zi1-glava-hakasii-valentin-konovalov-dal-int</a:t>
            </a:r>
          </a:p>
          <a:p xmlns:a="http://schemas.openxmlformats.org/drawingml/2006/main">
            <a:r>
              <a:t>https://meduza.io/feature/2019/05/31/strana-pobedivshego-kommunista</a:t>
            </a:r>
          </a:p>
          <a:p xmlns:a="http://schemas.openxmlformats.org/drawingml/2006/main">
            <a:r>
              <a:t>https://xn--80aac0c2a.xn--p1acf/2026/08/22/vstrecha-s-uchastiem-valentina-konovalova-i-alekseya-kornienko-proshla-v-habarovske</a:t>
            </a:r>
          </a:p>
          <a:p xmlns:a="http://schemas.openxmlformats.org/drawingml/2006/main">
            <a:r>
              <a:t>https://www.vedomosti.ru/politics/characters/2026/07/06/1211370-valentin-konovalov-rossiya-na-moskve-ne-zakanchivaetsya?from=newsline</a:t>
            </a:r>
          </a:p>
          <a:p xmlns:a="http://schemas.openxmlformats.org/drawingml/2006/main">
            <a:r>
              <a:t>https://www.vedomosti.ru/person/1215197-aksenov-sergei</a:t>
            </a:r>
          </a:p>
          <a:p xmlns:a="http://schemas.openxmlformats.org/drawingml/2006/main">
            <a:r>
              <a:t>https://www.rbc.ru/person/65f020599a79475815e702c9</a:t>
            </a:r>
          </a:p>
          <a:p xmlns:a="http://schemas.openxmlformats.org/drawingml/2006/main">
            <a:r>
              <a:t>http://crimea.gov.ru/news/30_03_18_10</a:t>
            </a:r>
          </a:p>
          <a:p xmlns:a="http://schemas.openxmlformats.org/drawingml/2006/main">
            <a:r>
              <a:t>https://www.npr.org/sections/parallels/2018/01/27/581114772/putins-man-in-crimea-we-ve-returned-to-russia-forever</a:t>
            </a:r>
          </a:p>
          <a:p xmlns:a="http://schemas.openxmlformats.org/drawingml/2006/main">
            <a:r>
              <a:t>http://crimea.gov.ru/en/news/26_02_19_6</a:t>
            </a:r>
          </a:p>
          <a:p xmlns:a="http://schemas.openxmlformats.org/drawingml/2006/main">
            <a:r>
              <a:t>https://antifashist.com/item/kto-polomal-infopole-kryma-i-ne-otvechaet-na-voprosy.html</a:t>
            </a:r>
          </a:p>
          <a:p xmlns:a="http://schemas.openxmlformats.org/drawingml/2006/main">
            <a:r>
              <a:t>https://ru.krymr.com/a/news/27913548.html</a:t>
            </a:r>
          </a:p>
          <a:p xmlns:a="http://schemas.openxmlformats.org/drawingml/2006/main">
            <a:r>
              <a:t>https://simfch.ru/2022/03/02/glava-respubliki-krym-sergej-aksyonov-prizval-krymchan-k-informaczionnoj-mobilizaczii-otkrytomu-i-publichnomu-vyrazheniyu-svoej-patrioticheskoj-poziczii/</a:t>
            </a:r>
          </a:p>
          <a:p xmlns:a="http://schemas.openxmlformats.org/drawingml/2006/main">
            <a:r>
              <a:t>https://www.rbc.ru/politics/29/05/2023/64749e389a7947f3de98dff2</a:t>
            </a:r>
          </a:p>
          <a:p xmlns:a="http://schemas.openxmlformats.org/drawingml/2006/main">
            <a:r>
              <a:t>https://ru.krymr.com/a/krym-sergey-aksenov-pvo-prilety-bavovna-bezopasnost-pvo-udar/32631709.html</a:t>
            </a:r>
          </a:p>
          <a:p xmlns:a="http://schemas.openxmlformats.org/drawingml/2006/main">
            <a:r>
              <a:t>https://rostov.rbc.ru/rostov/interview/18/03/2024/65f75c4f9a7947c8b475ab94</a:t>
            </a:r>
          </a:p>
          <a:p xmlns:a="http://schemas.openxmlformats.org/drawingml/2006/main">
            <a:r>
              <a:t>https://www.kommersant.ru/doc/7715230</a:t>
            </a:r>
          </a:p>
          <a:p xmlns:a="http://schemas.openxmlformats.org/drawingml/2006/main">
            <a:r>
              <a:t>https://www.kommersant.ru/doc/5154319</a:t>
            </a:r>
          </a:p>
          <a:p xmlns:a="http://schemas.openxmlformats.org/drawingml/2006/main">
            <a:r>
              <a:t>https://www.rbc.ru/person/660290b19a7947801fe9439b</a:t>
            </a:r>
          </a:p>
          <a:p xmlns:a="http://schemas.openxmlformats.org/drawingml/2006/main">
            <a:r>
              <a:t>https://www.kommersant.ru/doc/3759211</a:t>
            </a:r>
          </a:p>
          <a:p xmlns:a="http://schemas.openxmlformats.org/drawingml/2006/main">
            <a:r>
              <a:t>https://tass.ru/info/6656656</a:t>
            </a:r>
          </a:p>
          <a:p xmlns:a="http://schemas.openxmlformats.org/drawingml/2006/main">
            <a:r>
              <a:t>https://sevastopol.er.ru/pages/otchet-gubernatora-sevastopolya-mihaila-razvozhaeva</a:t>
            </a:r>
          </a:p>
          <a:p xmlns:a="http://schemas.openxmlformats.org/drawingml/2006/main">
            <a:r>
              <a:t>http://special.kremlin.ru/catalog/persons/579/events/76271</a:t>
            </a:r>
          </a:p>
          <a:p xmlns:a="http://schemas.openxmlformats.org/drawingml/2006/main">
            <a:r>
              <a:t>https://sevastopol.su/news/chastnyy-biznes-vlozhil-v-sevastopol-250-mlrd-rubley-za-tri-goda</a:t>
            </a:r>
          </a:p>
          <a:p xmlns:a="http://schemas.openxmlformats.org/drawingml/2006/main">
            <a:r>
              <a:t>https://sevastopol.su/news/v-sevastopole-ocenili-perspektivy-mikhaila-razvozhaeva-na-sleduyuschikh-vyborakh</a:t>
            </a:r>
          </a:p>
          <a:p xmlns:a="http://schemas.openxmlformats.org/drawingml/2006/main">
            <a:r>
              <a:t>https://tass.ru/interviews/10248577</a:t>
            </a:r>
          </a:p>
          <a:p xmlns:a="http://schemas.openxmlformats.org/drawingml/2006/main">
            <a:r>
              <a:t>https://news.ru/russia/u-nas-smelye-plany-gubernator-sevastopolya-razvozzhaev-o-budushem-goroda</a:t>
            </a:r>
          </a:p>
          <a:p xmlns:a="http://schemas.openxmlformats.org/drawingml/2006/main">
            <a:r>
              <a:t>http://kremlin.ru/events/administration/80838</a:t>
            </a:r>
          </a:p>
          <a:p xmlns:a="http://schemas.openxmlformats.org/drawingml/2006/main">
            <a:r>
              <a:t>https://tass.ru/kultura/28214691</a:t>
            </a:r>
          </a:p>
          <a:p xmlns:a="http://schemas.openxmlformats.org/drawingml/2006/main">
            <a:r>
              <a:t>http://kremlin.ru/events/administration/80591</a:t>
            </a:r>
          </a:p>
          <a:p xmlns:a="http://schemas.openxmlformats.org/drawingml/2006/main">
            <a:r>
              <a:t>https://governors.ru/glava-regiona/Belgorodskaya-oblast/Gladkov-Vyacheslav-Vladimirovich</a:t>
            </a:r>
          </a:p>
          <a:p xmlns:a="http://schemas.openxmlformats.org/drawingml/2006/main">
            <a:r>
              <a:t>https://ru.wikipedia.org/wiki/%D0%93%D0%BB%D0%B0%D0%B4%D0%BA%D0%BE%D0%B2,_%D0%92%D1%8F%D1%87%D0%B5%D1%81%D0%BB%D0%B0%D0%B2_%D0%92%D0%BB%D0%B0%D0%B4%D0%B8%D0%BC%D0%B8%D1%80%D0%BE%D0%B2%D0%B8%D1%87</a:t>
            </a:r>
          </a:p>
          <a:p xmlns:a="http://schemas.openxmlformats.org/drawingml/2006/main">
            <a:r>
              <a:t>http://council.gov.ru/structure/persons/1543/</a:t>
            </a:r>
          </a:p>
          <a:p xmlns:a="http://schemas.openxmlformats.org/drawingml/2006/main">
            <a:r>
              <a:t>https://ufa.rbc.ru/person/648345539a794760fd0c17e8</a:t>
            </a:r>
          </a:p>
          <a:p xmlns:a="http://schemas.openxmlformats.org/drawingml/2006/main">
            <a:r>
              <a:t>https://www.kommersant.ru/doc/8571119</a:t>
            </a:r>
          </a:p>
          <a:p xmlns:a="http://schemas.openxmlformats.org/drawingml/2006/main">
            <a:r>
              <a:t>https://www.kommersant.ru/doc/8655079</a:t>
            </a:r>
          </a:p>
          <a:p xmlns:a="http://schemas.openxmlformats.org/drawingml/2006/main">
            <a:r>
              <a:t>https://tass.ru/info/27861241</a:t>
            </a:r>
          </a:p>
          <a:p xmlns:a="http://schemas.openxmlformats.org/drawingml/2006/main">
            <a:r>
              <a:t>https://meduza.io/feature/2023/06/08/emu-by-vse-eto-razgresti</a:t>
            </a:r>
          </a:p>
          <a:p xmlns:a="http://schemas.openxmlformats.org/drawingml/2006/main">
            <a:r>
              <a:t>http://www.kremlin.ru/events/president/transcripts/66288</a:t>
            </a:r>
          </a:p>
          <a:p xmlns:a="http://schemas.openxmlformats.org/drawingml/2006/main">
            <a:r>
              <a:t>https://www.belpressa.ru/politics/vlast/62665.html</a:t>
            </a:r>
          </a:p>
          <a:p xmlns:a="http://schemas.openxmlformats.org/drawingml/2006/main">
            <a:r>
              <a:t>https://www.belpressa.ru/politics/vlast/71368.html</a:t>
            </a:r>
          </a:p>
          <a:p xmlns:a="http://schemas.openxmlformats.org/drawingml/2006/main">
            <a:r>
              <a:t>https://www.belnovosti.ru/politika/gubernator/127077.html</a:t>
            </a:r>
          </a:p>
          <a:p xmlns:a="http://schemas.openxmlformats.org/drawingml/2006/main">
            <a:r>
              <a:t>https://chr.plus.rbc.ru/news/694b9fb67a8aa90f9c2ce17d</a:t>
            </a:r>
          </a:p>
          <a:p xmlns:a="http://schemas.openxmlformats.org/drawingml/2006/main">
            <a:r>
              <a:t>https://www.belpressa.ru/society/bezopasnost/43348.html</a:t>
            </a:r>
          </a:p>
          <a:p xmlns:a="http://schemas.openxmlformats.org/drawingml/2006/main">
            <a:r>
              <a:t>https://www.rbc.ru/politics/07/03/2023/640758bf9a7947f6af99d464</a:t>
            </a:r>
          </a:p>
          <a:p xmlns:a="http://schemas.openxmlformats.org/drawingml/2006/main">
            <a:r>
              <a:t>https://www.rbc.ru/politics/24/05/2023/646d22029a794797c4bac4bf</a:t>
            </a:r>
          </a:p>
          <a:p xmlns:a="http://schemas.openxmlformats.org/drawingml/2006/main">
            <a:r>
              <a:t>https://www.bbc.com/russian/articles/c70dkd0pvrlo</a:t>
            </a:r>
          </a:p>
          <a:p xmlns:a="http://schemas.openxmlformats.org/drawingml/2006/main">
            <a:r>
              <a:t>https://www.go31.ru/news/proisshestviya/kak-nikto-drugoy-ponimaem-chto-takoe-agressiya-so-storony-ukrainy-gladkov-o-proryve-granitsy-v-kursk/</a:t>
            </a:r>
          </a:p>
          <a:p xmlns:a="http://schemas.openxmlformats.org/drawingml/2006/main">
            <a:r>
              <a:t>https://echofm.online/portret-dnya/portret-dnya-vyacheslav-gladkov-gubernator-belgorodskoj-oblasti-prognozy-o-sudbe-kotorogo-raznyatsya-ot-posta-posla-v-abhazii-do-ugolovnogo-dela</a:t>
            </a:r>
          </a:p>
          <a:p xmlns:a="http://schemas.openxmlformats.org/drawingml/2006/main">
            <a:r>
              <a:t>https://www.kommersant.ru/doc/3917861</a:t>
            </a:r>
          </a:p>
          <a:p xmlns:a="http://schemas.openxmlformats.org/drawingml/2006/main">
            <a:r>
              <a:t>https://minstroyrf.gov.ru/press/okolo-40-kontsessionnykh-soglasheniy-v-rossii-deystvuet-v-sfere-zhkkh/</a:t>
            </a:r>
          </a:p>
          <a:p xmlns:a="http://schemas.openxmlformats.org/drawingml/2006/main">
            <a:r>
              <a:t>https://newsroom24.ru/murmansk/news/politics/2026/news_323931/</a:t>
            </a:r>
          </a:p>
          <a:p xmlns:a="http://schemas.openxmlformats.org/drawingml/2006/main">
            <a:r>
              <a:t>https://murmansk.ru/52053</a:t>
            </a:r>
          </a:p>
          <a:p xmlns:a="http://schemas.openxmlformats.org/drawingml/2006/main">
            <a:r>
              <a:t>https://51.ru/text/gorod/2026/01/22/76228112/</a:t>
            </a:r>
          </a:p>
          <a:p xmlns:a="http://schemas.openxmlformats.org/drawingml/2006/main">
            <a:r>
              <a:t>https://www.murman.ru/news/2026/05/02/2334/</a:t>
            </a:r>
          </a:p>
          <a:p xmlns:a="http://schemas.openxmlformats.org/drawingml/2006/main">
            <a:r>
              <a:t>https://murman.ru/news/2026/09/06/2141/</a:t>
            </a:r>
          </a:p>
          <a:p xmlns:a="http://schemas.openxmlformats.org/drawingml/2006/main">
            <a:r>
              <a:t>https://www.murman.ru/news/2026/09/13/2242/</a:t>
            </a:r>
          </a:p>
          <a:p xmlns:a="http://schemas.openxmlformats.org/drawingml/2006/main">
            <a:r>
              <a:t>https://ru.wikipedia.org/wiki/%D0%A7%D0%B8%D0%B1%D0%B8%D1%81,_%D0%90%D0%BD%D0%B4%D1%80%D0%B5%D0%B9_%D0%92%D0%BB%D0%B0%D0%B4%D0%B8%D0%BC%D0%B8%D1%80%D0%BE%D0%B2%D0%B8%D1%87</a:t>
            </a:r>
          </a:p>
          <a:p xmlns:a="http://schemas.openxmlformats.org/drawingml/2006/main">
            <a:r>
              <a:t>https://tass.ru/obschestvo/23491353</a:t>
            </a:r>
          </a:p>
          <a:p xmlns:a="http://schemas.openxmlformats.org/drawingml/2006/main">
            <a:r>
              <a:t>https://www.murman.ru/news/2026/09/03/2243/</a:t>
            </a:r>
          </a:p>
          <a:p xmlns:a="http://schemas.openxmlformats.org/drawingml/2006/main">
            <a:r>
              <a:t>https://msp.citymurmansk.ru/news/2026/09/03/0930/</a:t>
            </a:r>
          </a:p>
          <a:p xmlns:a="http://schemas.openxmlformats.org/drawingml/2006/main">
            <a:r>
              <a:t>http://kremlin.ru/events/president/letters/80916</a:t>
            </a:r>
          </a:p>
          <a:p xmlns:a="http://schemas.openxmlformats.org/drawingml/2006/main">
            <a:r>
              <a:t>https://www.murmansk.kp.ru/daily/277813.4/5300258/</a:t>
            </a:r>
          </a:p>
          <a:p xmlns:a="http://schemas.openxmlformats.org/drawingml/2006/main">
            <a:r>
              <a:t>https://www.fontanka.ru/2021/07/27/70046798/</a:t>
            </a:r>
          </a:p>
          <a:p xmlns:a="http://schemas.openxmlformats.org/drawingml/2006/main">
            <a:r>
              <a:t>https://www.kommersant.ru/doc/4639758</a:t>
            </a:r>
          </a:p>
          <a:p xmlns:a="http://schemas.openxmlformats.org/drawingml/2006/main">
            <a:r>
              <a:t>https://www.bbc.com/russian/news-55614829</a:t>
            </a:r>
          </a:p>
          <a:p xmlns:a="http://schemas.openxmlformats.org/drawingml/2006/main">
            <a:r>
              <a:t>https://newpeople.ru/Deputy/sardana-avksenteva</a:t>
            </a:r>
          </a:p>
          <a:p xmlns:a="http://schemas.openxmlformats.org/drawingml/2006/main">
            <a:r>
              <a:t>https://www.pnp.ru/economics/kontrol-za-koncessionnymi-soglasheniyami-predlozhili-usilit.html</a:t>
            </a:r>
          </a:p>
          <a:p xmlns:a="http://schemas.openxmlformats.org/drawingml/2006/main">
            <a:r>
              <a:t>https://www.ng.ru/politics/2024-12-05/1_9150_right.html</a:t>
            </a:r>
          </a:p>
          <a:p xmlns:a="http://schemas.openxmlformats.org/drawingml/2006/main">
            <a:r>
              <a:t>https://news.ru/society/v-novyh-lyudyah-rasskazali-o-glavnyh-zadachah-partii-pered-vyborami</a:t>
            </a:r>
          </a:p>
          <a:p xmlns:a="http://schemas.openxmlformats.org/drawingml/2006/main">
            <a:r>
              <a:t>https://www.kommersant.ru/doc/8939397</a:t>
            </a:r>
          </a:p>
          <a:p xmlns:a="http://schemas.openxmlformats.org/drawingml/2006/main">
            <a:r>
              <a:t>https://tass.ru/info/5220823</a:t>
            </a:r>
          </a:p>
          <a:p xmlns:a="http://schemas.openxmlformats.org/drawingml/2006/main">
            <a:r>
              <a:t>https://tass.ru/info/15547711</a:t>
            </a:r>
          </a:p>
          <a:p xmlns:a="http://schemas.openxmlformats.org/drawingml/2006/main">
            <a:r>
              <a:t>https://www.bbc.com/russian/features-62661643</a:t>
            </a:r>
          </a:p>
          <a:p xmlns:a="http://schemas.openxmlformats.org/drawingml/2006/main">
            <a:r>
              <a:t>https://www.kommersant.ru/doc/3298219</a:t>
            </a:r>
          </a:p>
          <a:p xmlns:a="http://schemas.openxmlformats.org/drawingml/2006/main">
            <a:r>
              <a:t>https://www.svoboda.org/a/31217129.html</a:t>
            </a:r>
          </a:p>
          <a:p xmlns:a="http://schemas.openxmlformats.org/drawingml/2006/main">
            <a:r>
              <a:t>https://www.interfax.ru/russia/902059</a:t>
            </a:r>
          </a:p>
          <a:p xmlns:a="http://schemas.openxmlformats.org/drawingml/2006/main">
            <a:r>
              <a:t>https://www.bfm.ru/news/525620</a:t>
            </a:r>
          </a:p>
          <a:p xmlns:a="http://schemas.openxmlformats.org/drawingml/2006/main">
            <a:r>
              <a:t>https://novayagazeta.ru/articles/2023/03/16/do-urovnia-myshei-media</a:t>
            </a:r>
          </a:p>
          <a:p xmlns:a="http://schemas.openxmlformats.org/drawingml/2006/main">
            <a:r>
              <a:t>https://tjournal.ru/71076</a:t>
            </a:r>
          </a:p>
          <a:p xmlns:a="http://schemas.openxmlformats.org/drawingml/2006/main">
            <a:r>
              <a:t>https://www.nakanune.ru/articles/111648/</a:t>
            </a:r>
          </a:p>
          <a:p xmlns:a="http://schemas.openxmlformats.org/drawingml/2006/main">
            <a:r>
              <a:t>https://adcmemorial.org/statyi/kolonki/neprotivlenie-rasizmu/</a:t>
            </a:r>
          </a:p>
          <a:p xmlns:a="http://schemas.openxmlformats.org/drawingml/2006/main">
            <a:r>
              <a:t>https://www.svoboda.org/a/royzman-i-drugie-zhiteli-ekaterinburga/31997151.html</a:t>
            </a:r>
          </a:p>
          <a:p xmlns:a="http://schemas.openxmlformats.org/drawingml/2006/main">
            <a:r>
              <a:t>https://www.e1.ru/text/politics/2022/02/24/70466417/</a:t>
            </a:r>
          </a:p>
          <a:p xmlns:a="http://schemas.openxmlformats.org/drawingml/2006/main">
            <a:r>
              <a:t>https://www.dw.com/ru/kommentarij-evgenij-rojzman-i-sila-pravdy/a-62917754</a:t>
            </a:r>
          </a:p>
          <a:p xmlns:a="http://schemas.openxmlformats.org/drawingml/2006/main">
            <a:r>
              <a:t>https://meduza.io/paragraph/2022/08/26/priehali-moskvichi-i-dumali-chto-zdes-duraki-sobralis</a:t>
            </a:r>
          </a:p>
          <a:p xmlns:a="http://schemas.openxmlformats.org/drawingml/2006/main">
            <a:r>
              <a:t>https://znamlit.ru/publication.php?id=7379</a:t>
            </a:r>
          </a:p>
          <a:p xmlns:a="http://schemas.openxmlformats.org/drawingml/2006/main">
            <a:r>
              <a:t>https://tass.ru/interviews/6080499</a:t>
            </a:r>
          </a:p>
          <a:p xmlns:a="http://schemas.openxmlformats.org/drawingml/2006/main">
            <a:r>
              <a:t>https://45.ru/text/politics/2024/09/09/73952072/</a:t>
            </a:r>
          </a:p>
          <a:p xmlns:a="http://schemas.openxmlformats.org/drawingml/2006/main">
            <a:r>
              <a:t>http://special.kremlin.ru/events/president/news/70638</a:t>
            </a:r>
          </a:p>
          <a:p xmlns:a="http://schemas.openxmlformats.org/drawingml/2006/main">
            <a:r>
              <a:t>https://ura.news/news/1053132902</a:t>
            </a:r>
          </a:p>
          <a:p xmlns:a="http://schemas.openxmlformats.org/drawingml/2006/main">
            <a:r>
              <a:t>https://ura.news/articles/1036276564</a:t>
            </a:r>
          </a:p>
          <a:p xmlns:a="http://schemas.openxmlformats.org/drawingml/2006/main">
            <a:r>
              <a:t>https://tass.ru/novosti-regionov/28187431</a:t>
            </a:r>
          </a:p>
          <a:p xmlns:a="http://schemas.openxmlformats.org/drawingml/2006/main">
            <a:r>
              <a:t>https://fedpress.ru/person/1753607</a:t>
            </a:r>
          </a:p>
          <a:p xmlns:a="http://schemas.openxmlformats.org/drawingml/2006/main">
            <a:r>
              <a:t>https://eburg.mk.ru/social/2026/10/14/zhiteley-zauralya-predupredili-o-lozhnykh-videorolikakh-s-gubernatorom.html</a:t>
            </a:r>
          </a:p>
          <a:p xmlns:a="http://schemas.openxmlformats.org/drawingml/2006/main">
            <a:r>
              <a:t>https://regnum.ru/news/3530808</a:t>
            </a:r>
          </a:p>
          <a:p xmlns:a="http://schemas.openxmlformats.org/drawingml/2006/main">
            <a:r>
              <a:t>https://kurganvera.ru/news/vrns/mitropolit-daniil-i-vadim-shumkov-vozglavili-delegatsiyu-kurganskoy-oblasti-na-vsemirnom-russkom-sob/</a:t>
            </a:r>
          </a:p>
          <a:p xmlns:a="http://schemas.openxmlformats.org/drawingml/2006/main">
            <a:r>
              <a:t>https://45.ru/text/politics/2026/06/26/76499700/</a:t>
            </a:r>
          </a:p>
          <a:p xmlns:a="http://schemas.openxmlformats.org/drawingml/2006/main">
            <a:r>
              <a:t>https://niva-kurtamysh.com/news/obshchestvo/vystuplenie-gubernatora-kurganskoy-oblasti-vadima-shumkova</a:t>
            </a:r>
          </a:p>
          <a:p xmlns:a="http://schemas.openxmlformats.org/drawingml/2006/main">
            <a:r>
              <a:t>https://t.me/s/kurganskayaobl?before=42616</a:t>
            </a:r>
          </a:p>
          <a:p xmlns:a="http://schemas.openxmlformats.org/drawingml/2006/main">
            <a:r>
              <a:t>https://www.bbc.com/russian/news-54368577</a:t>
            </a:r>
          </a:p>
          <a:p xmlns:a="http://schemas.openxmlformats.org/drawingml/2006/main">
            <a:r>
              <a:t>https://www.bbc.com/russian/articles/cp0769dp15eo</a:t>
            </a:r>
          </a:p>
          <a:p xmlns:a="http://schemas.openxmlformats.org/drawingml/2006/main">
            <a:r>
              <a:t>https://navalny.com/materials/blogpost-6017</a:t>
            </a:r>
          </a:p>
          <a:p xmlns:a="http://schemas.openxmlformats.org/drawingml/2006/main">
            <a:r>
              <a:t>https://www.bbc.com/russian/news-58563592</a:t>
            </a:r>
          </a:p>
          <a:p xmlns:a="http://schemas.openxmlformats.org/drawingml/2006/main">
            <a:r>
              <a:t>https://navalny.com/materials/blogpost-6544</a:t>
            </a:r>
          </a:p>
          <a:p xmlns:a="http://schemas.openxmlformats.org/drawingml/2006/main">
            <a:r>
              <a:t>https://www.bbc.com/russian/news-58270043</a:t>
            </a:r>
          </a:p>
          <a:p xmlns:a="http://schemas.openxmlformats.org/drawingml/2006/main">
            <a:r>
              <a:t>https://www.bbc.com/russian/articles/cvg3p9l1e5ro</a:t>
            </a:r>
          </a:p>
          <a:p xmlns:a="http://schemas.openxmlformats.org/drawingml/2006/main">
            <a:r>
              <a:t>https://www.bbc.com/russian/features-54435835</a:t>
            </a:r>
          </a:p>
          <a:p xmlns:a="http://schemas.openxmlformats.org/drawingml/2006/main">
            <a:r>
              <a:t>https://2018.navalny.com/platform/7/</a:t>
            </a:r>
          </a:p>
          <a:p xmlns:a="http://schemas.openxmlformats.org/drawingml/2006/main">
            <a:r>
              <a:t>https://2018.navalny.com/platform/3/</a:t>
            </a:r>
          </a:p>
          <a:p xmlns:a="http://schemas.openxmlformats.org/drawingml/2006/main">
            <a:r>
              <a:t>https://2018.navalny.com/platform/10/</a:t>
            </a:r>
          </a:p>
          <a:p xmlns:a="http://schemas.openxmlformats.org/drawingml/2006/main">
            <a:r>
              <a:t>https://2018.navalny.com/platform/9/</a:t>
            </a:r>
          </a:p>
          <a:p xmlns:a="http://schemas.openxmlformats.org/drawingml/2006/main">
            <a:r>
              <a:t>https://navalny.com/editorials/aleksey-navalnyy-protiv-voyny</a:t>
            </a:r>
          </a:p>
          <a:p xmlns:a="http://schemas.openxmlformats.org/drawingml/2006/main">
            <a:r>
              <a:t>https://navalny.com/?p=149</a:t>
            </a:r>
          </a:p>
          <a:p xmlns:a="http://schemas.openxmlformats.org/drawingml/2006/main">
            <a:r>
              <a:t>https://www.interfax.ru/russia/876151</a:t>
            </a:r>
          </a:p>
          <a:p xmlns:a="http://schemas.openxmlformats.org/drawingml/2006/main">
            <a:r>
              <a:t>https://www.dw.com/ru/srok-ne-za-fejk-a-za-politiku-reakcii-v-frg-i-rf-na-prigovor-asinu/a-64049957</a:t>
            </a:r>
          </a:p>
          <a:p xmlns:a="http://schemas.openxmlformats.org/drawingml/2006/main">
            <a:r>
              <a:t>https://www.lemonde.fr/en/international/article/2025/05/27/russian-opposition-figure-ilya-yashin-if-ukraine-is-handed-over-to-putin-it-will-be-a-tragedy-and-the-prologue-to-a-global-confrontation_6741728_4.html</a:t>
            </a:r>
          </a:p>
          <a:p xmlns:a="http://schemas.openxmlformats.org/drawingml/2006/main">
            <a:r>
              <a:t>https://www.bbc.com/russian/articles/crgl69w9472o</a:t>
            </a:r>
          </a:p>
          <a:p xmlns:a="http://schemas.openxmlformats.org/drawingml/2006/main">
            <a:r>
              <a:t>https://www.svoboda.org/a/yashin-court/32165539.html</a:t>
            </a:r>
          </a:p>
          <a:p xmlns:a="http://schemas.openxmlformats.org/drawingml/2006/main">
            <a:r>
              <a:t>https://www.dw.com/ru/ila-asin-putin-predvoditel-sil-mrakobesia/a-69923731</a:t>
            </a:r>
          </a:p>
          <a:p xmlns:a="http://schemas.openxmlformats.org/drawingml/2006/main">
            <a:r>
              <a:t>https://novayagazeta.eu/articles/2025/08/01/my-ne-mozhem-trebovat-no-mozhem-obiasniat</a:t>
            </a:r>
          </a:p>
          <a:p xmlns:a="http://schemas.openxmlformats.org/drawingml/2006/main">
            <a:r>
              <a:t>https://meduza.io/feature/2019/07/20/to-chto-putin-ne-smog-sdelat-za-20-let-sobyanin-sdelal-za-mesyats</a:t>
            </a:r>
          </a:p>
          <a:p xmlns:a="http://schemas.openxmlformats.org/drawingml/2006/main">
            <a:r>
              <a:t>https://novayagazeta.eu/articles/2024/11/18/pochuvstvovat-sebia-ne-odinokimi</a:t>
            </a:r>
          </a:p>
          <a:p xmlns:a="http://schemas.openxmlformats.org/drawingml/2006/main">
            <a:r>
              <a:t>https://www.svoboda.org/a/voyna-putin-i-politzaklyuchennye-iljya-yashin-o-svoih-planah/33177839.html</a:t>
            </a:r>
          </a:p>
          <a:p xmlns:a="http://schemas.openxmlformats.org/drawingml/2006/main">
            <a:r>
              <a:t>https://www.dw.com/ru/asin-sejcas-nevozmozno-obedinit-rossijskuu-oppoziciu-da-i-ne-nuzno/a-70291088</a:t>
            </a:r>
          </a:p>
          <a:p xmlns:a="http://schemas.openxmlformats.org/drawingml/2006/main">
            <a:r>
              <a:t>https://www.dw.com/ru/vladimir-karamurza/t-37465233</a:t>
            </a:r>
          </a:p>
          <a:p xmlns:a="http://schemas.openxmlformats.org/drawingml/2006/main">
            <a:r>
              <a:t>https://ovd.info/persons/kara-murza-vladimir-vladimirovich</a:t>
            </a:r>
          </a:p>
          <a:p xmlns:a="http://schemas.openxmlformats.org/drawingml/2006/main">
            <a:r>
              <a:t>https://ovd.info/2024/08/03/kogo-rossiya-vydala-v-ramkakh-obmena-zaklyuchennymi-s-zapadom-istorii-osvobozhdennykh</a:t>
            </a:r>
          </a:p>
          <a:p xmlns:a="http://schemas.openxmlformats.org/drawingml/2006/main">
            <a:r>
              <a:t>https://www.svoboda.org/a/kara-murza-obmen/33059121.html</a:t>
            </a:r>
          </a:p>
          <a:p xmlns:a="http://schemas.openxmlformats.org/drawingml/2006/main">
            <a:r>
              <a:t>https://novayagazeta.ru/articles/2024/08/16/prezident-baiden-prinial-osvobozhdennogo-v-rezultate-obmena-politzakliuchennogo-vladimira-kara-murzu-s-semei-v-belom-dome-news</a:t>
            </a:r>
          </a:p>
          <a:p xmlns:a="http://schemas.openxmlformats.org/drawingml/2006/main">
            <a:r>
              <a:t>https://genevasummit.org/speech/vladimir-kara-murza-speaks-at-2018-geneva-summit-main-event/</a:t>
            </a:r>
          </a:p>
          <a:p xmlns:a="http://schemas.openxmlformats.org/drawingml/2006/main">
            <a:r>
              <a:t>https://humanrights.ca/event-series/presidents-lecture-series</a:t>
            </a:r>
          </a:p>
          <a:p xmlns:a="http://schemas.openxmlformats.org/drawingml/2006/main">
            <a:r>
              <a:t>https://www.radiofrance.fr/franceinter/podcasts/l-info-de-france-inter/la-democratie-doit-etre-protegee-chaque-minute-de-chaque-jour-declare-l-opposant-russe-vladimir-kara-mourza-8105094</a:t>
            </a:r>
          </a:p>
          <a:p xmlns:a="http://schemas.openxmlformats.org/drawingml/2006/main">
            <a:r>
              <a:t>https://georgetownvoice.com/2025/10/08/dissident-in-residence-vladimir-kara-murza-applies-past-lessons-to-present-day-in-recent-event-discussing-democracy/</a:t>
            </a:r>
          </a:p>
          <a:p xmlns:a="http://schemas.openxmlformats.org/drawingml/2006/main">
            <a:r>
              <a:t>https://www.oscepa.org/en/documents/winter-meetings/2025-vienna/speeches-36/5176-vladimir-kara-murza-address-to-the-osce-pa-winter-meeting-in-vienna-21-february-2025/file</a:t>
            </a:r>
          </a:p>
          <a:p xmlns:a="http://schemas.openxmlformats.org/drawingml/2006/main">
            <a:r>
              <a:t>https://hrf.org/wp-content/uploads/2024/10/VKM-%E2%80%93-Statement-of-Facts-and-Levinson-Analysis.pdf</a:t>
            </a:r>
          </a:p>
          <a:p xmlns:a="http://schemas.openxmlformats.org/drawingml/2006/main">
            <a:r>
              <a:t>https://www.govinfo.gov/content/pkg/CREC-2024-06-11/html/CREC-2024-06-11-pt1-PgH3699.htm</a:t>
            </a:r>
          </a:p>
          <a:p xmlns:a="http://schemas.openxmlformats.org/drawingml/2006/main">
            <a:r>
              <a:t>https://antiwarcommittee.info/en/statement-on-the-persecution-of-vladimir-kara-murza/</a:t>
            </a:r>
          </a:p>
          <a:p xmlns:a="http://schemas.openxmlformats.org/drawingml/2006/main">
            <a:r>
              <a:t>https://www.norway.no/en/missions/osce/norway-and-the-osce/statements/statements-with--norwegian-alignment-2024/joint-statement-on-vladimir-kara-murza/</a:t>
            </a:r>
          </a:p>
          <a:p xmlns:a="http://schemas.openxmlformats.org/drawingml/2006/main">
            <a:r>
              <a:t>https://www.aljazeera.com/news/2025/4/23/kremlin-critic-decried-for-racist-rant-on-minorities-fighting-for-russia</a:t>
            </a:r>
          </a:p>
          <a:p xmlns:a="http://schemas.openxmlformats.org/drawingml/2006/main">
            <a:r>
              <a:t>https://www.rmc.edu/news/former-political-prisoner-vladimir-kara-murza-offers-vision-of-hope-for-russian-democracy/</a:t>
            </a:r>
          </a:p>
          <a:p xmlns:a="http://schemas.openxmlformats.org/drawingml/2006/main">
            <a:r>
              <a:t>https://2018.yavlinsky.ru/campaign/</a:t>
            </a:r>
          </a:p>
          <a:p xmlns:a="http://schemas.openxmlformats.org/drawingml/2006/main">
            <a:r>
              <a:t>http://2018.yavlinsky.ru/programm/</a:t>
            </a:r>
          </a:p>
          <a:p xmlns:a="http://schemas.openxmlformats.org/drawingml/2006/main">
            <a:r>
              <a:t>https://campaign2018.yavlinsky.ru/</a:t>
            </a:r>
          </a:p>
          <a:p xmlns:a="http://schemas.openxmlformats.org/drawingml/2006/main">
            <a:r>
              <a:t>https://www.yavlinsky.ru/position/war/</a:t>
            </a:r>
          </a:p>
          <a:p xmlns:a="http://schemas.openxmlformats.org/drawingml/2006/main">
            <a:r>
              <a:t>https://www.yavlinsky.ru/position/cease-fire/</a:t>
            </a:r>
          </a:p>
          <a:p xmlns:a="http://schemas.openxmlformats.org/drawingml/2006/main">
            <a:r>
              <a:t>https://www.yavlinsky.ru/article_tax/ukraina/</a:t>
            </a:r>
          </a:p>
          <a:p xmlns:a="http://schemas.openxmlformats.org/drawingml/2006/main">
            <a:r>
              <a:t>https://www.yavlinsky.ru/biografiya/</a:t>
            </a:r>
          </a:p>
          <a:p xmlns:a="http://schemas.openxmlformats.org/drawingml/2006/main">
            <a:r>
              <a:t>https://www.yabloko.ru/publikatsii/2018/02/15_0</a:t>
            </a:r>
          </a:p>
          <a:p xmlns:a="http://schemas.openxmlformats.org/drawingml/2006/main">
            <a:r>
              <a:t>https://www.yabloko.ru/publikatsii/2018/06/19</a:t>
            </a:r>
          </a:p>
          <a:p xmlns:a="http://schemas.openxmlformats.org/drawingml/2006/main">
            <a:r>
              <a:t>https://www.yavlinsky.ru/article/eto-referendum/</a:t>
            </a:r>
          </a:p>
          <a:p xmlns:a="http://schemas.openxmlformats.org/drawingml/2006/main">
            <a:r>
              <a:t>https://www.svoboda.org/a/27801792.html</a:t>
            </a:r>
          </a:p>
          <a:p xmlns:a="http://schemas.openxmlformats.org/drawingml/2006/main">
            <a:r>
              <a:t>https://www.svoboda.org/a/29294829.html</a:t>
            </a:r>
          </a:p>
          <a:p xmlns:a="http://schemas.openxmlformats.org/drawingml/2006/main">
            <a:r>
              <a:t>https://www.yavlinsky.ru/article/intervyu-g-yavlinskogo-zhertvy-budut-proryva-net/</a:t>
            </a:r>
          </a:p>
          <a:p xmlns:a="http://schemas.openxmlformats.org/drawingml/2006/main">
            <a:r>
              <a:t>https://www.yavlinsky.ru/article/my-budem-idti-do-kontsa/</a:t>
            </a:r>
          </a:p>
          <a:p xmlns:a="http://schemas.openxmlformats.org/drawingml/2006/main">
            <a:r>
              <a:t>https://www.yavlinsky.ru/article/prezidentskie-vybory-1996-30-let-spustya/</a:t>
            </a:r>
          </a:p>
          <a:p xmlns:a="http://schemas.openxmlformats.org/drawingml/2006/main">
            <a:r>
              <a:t>https://www.forbes.ru/interview/45575-reformatory-prihodyat-k-vlasti-grigorii-yavlinskii</a:t>
            </a:r>
          </a:p>
          <a:p xmlns:a="http://schemas.openxmlformats.org/drawingml/2006/main">
            <a:r>
              <a:t>https://www.bbc.com/russian/articles/cy8ee2wngd8o</a:t>
            </a:r>
          </a:p>
          <a:p xmlns:a="http://schemas.openxmlformats.org/drawingml/2006/main">
            <a:r>
              <a:t>https://www.yabloko.ru/regnews/Pskov/2019/01/21-0</a:t>
            </a:r>
          </a:p>
          <a:p xmlns:a="http://schemas.openxmlformats.org/drawingml/2006/main">
            <a:r>
              <a:t>https://www.yabloko.ru/publikatsii/2019/06/14</a:t>
            </a:r>
          </a:p>
          <a:p xmlns:a="http://schemas.openxmlformats.org/drawingml/2006/main">
            <a:r>
              <a:t>https://zona.media/article/2019/02/27/pskov</a:t>
            </a:r>
          </a:p>
          <a:p xmlns:a="http://schemas.openxmlformats.org/drawingml/2006/main">
            <a:r>
              <a:t>https://spektr.press/ya-otvechayu-za-vse-mnoj-skazannoe-no-ne-otvechayu-za-izvraschenie-skazannogo-lev-shlosberg-o-travle-i-setkah-telegram-kanalov-odnokletochnyh-politikah-reshivshih-pobedit-putina-rukami-u/</a:t>
            </a:r>
          </a:p>
          <a:p xmlns:a="http://schemas.openxmlformats.org/drawingml/2006/main">
            <a:r>
              <a:t>https://www.yabloko.ru/Persons/shlosberg.html</a:t>
            </a:r>
          </a:p>
          <a:p xmlns:a="http://schemas.openxmlformats.org/drawingml/2006/main">
            <a:r>
              <a:t>https://pln-pskov.ru/politics/314872.html</a:t>
            </a:r>
          </a:p>
          <a:p xmlns:a="http://schemas.openxmlformats.org/drawingml/2006/main">
            <a:r>
              <a:t>https://www.yabloko.ru/publikatsii/2022/02/18-0</a:t>
            </a:r>
          </a:p>
          <a:p xmlns:a="http://schemas.openxmlformats.org/drawingml/2006/main">
            <a:r>
              <a:t>https://ru.krymr.com/a/rossiya-putin-voyna-repressii-lev-shlosberg-intervyu/31806389.html</a:t>
            </a:r>
          </a:p>
          <a:p xmlns:a="http://schemas.openxmlformats.org/drawingml/2006/main">
            <a:r>
              <a:t>https://www.currenttime.tv/a/politika-vlastey-chtoby-lyudi-perestali-govorit-o-spetsialnoy-voennoy-operatsii-lev-shlosberg-o-dele-protiv-nego-i-nikolaya-kuzmina/31807396.html</a:t>
            </a:r>
          </a:p>
          <a:p xmlns:a="http://schemas.openxmlformats.org/drawingml/2006/main">
            <a:r>
              <a:t>https://zona.media/article/2026/08/14/schlosberg</a:t>
            </a:r>
          </a:p>
          <a:p xmlns:a="http://schemas.openxmlformats.org/drawingml/2006/main">
            <a:r>
              <a:t>https://www.svoboda.org/a/lishniy-zalozhnik-vot-chto-im-vazhno-arest-lva-shlosberga/33615624.html</a:t>
            </a:r>
          </a:p>
          <a:p xmlns:a="http://schemas.openxmlformats.org/drawingml/2006/main">
            <a:r>
              <a:t>https://novayagazeta.eu/articles/2026/08/17/ostavshiisia</a:t>
            </a:r>
          </a:p>
          <a:p xmlns:a="http://schemas.openxmlformats.org/drawingml/2006/main">
            <a:r>
              <a:t>https://www.yabloko.ru/content/vishnevskii_boris_lazarevich</a:t>
            </a:r>
          </a:p>
          <a:p xmlns:a="http://schemas.openxmlformats.org/drawingml/2006/main">
            <a:r>
              <a:t>https://www.dp.ru/a/2018/06/18/Aktivnaja_storona_konflikt</a:t>
            </a:r>
          </a:p>
          <a:p xmlns:a="http://schemas.openxmlformats.org/drawingml/2006/main">
            <a:r>
              <a:t>https://www.bbc.com/russian/features-58481940</a:t>
            </a:r>
          </a:p>
          <a:p xmlns:a="http://schemas.openxmlformats.org/drawingml/2006/main">
            <a:r>
              <a:t>https://www.dp.ru/a/2023/01/16/Deputat_Peterburga_Vishnev</a:t>
            </a:r>
          </a:p>
          <a:p xmlns:a="http://schemas.openxmlformats.org/drawingml/2006/main">
            <a:r>
              <a:t>https://echofm.online/portret-dnya/portret-dnya-boris-vishnevskij-peterburgskij-politik</a:t>
            </a:r>
          </a:p>
          <a:p xmlns:a="http://schemas.openxmlformats.org/drawingml/2006/main">
            <a:r>
              <a:t>https://spb.yabloko.ru/people/vishnevskij-boris-lazarevich/</a:t>
            </a:r>
          </a:p>
          <a:p xmlns:a="http://schemas.openxmlformats.org/drawingml/2006/main">
            <a:r>
              <a:t>https://www.dp.ru/a/2026/08/26/bitva-nachalas-gde-v-peterburge</a:t>
            </a:r>
          </a:p>
          <a:p xmlns:a="http://schemas.openxmlformats.org/drawingml/2006/main">
            <a:r>
              <a:t>https://www.yabloko.ru/regnews/Spb/2022/02/21</a:t>
            </a:r>
          </a:p>
          <a:p xmlns:a="http://schemas.openxmlformats.org/drawingml/2006/main">
            <a:r>
              <a:t>https://www.yabloko.ru/cat-news/2021/08/06-0</a:t>
            </a:r>
          </a:p>
          <a:p xmlns:a="http://schemas.openxmlformats.org/drawingml/2006/main">
            <a:r>
              <a:t>https://www.rbc.ru/spb_sz/16/01/2023/63c53d9c9a7947d9bef4b853</a:t>
            </a:r>
          </a:p>
          <a:p xmlns:a="http://schemas.openxmlformats.org/drawingml/2006/main">
            <a:r>
              <a:t>https://www.rbc.ru/politics/06/05/2024/6638a8609a79472c01075a2c</a:t>
            </a:r>
          </a:p>
          <a:p xmlns:a="http://schemas.openxmlformats.org/drawingml/2006/main">
            <a:r>
              <a:t>https://www.svoboda.org/a/politika-dmitriya-gudkova-deportirovali-iz-gruzii-v-kiev/31679697.html</a:t>
            </a:r>
          </a:p>
          <a:p xmlns:a="http://schemas.openxmlformats.org/drawingml/2006/main">
            <a:r>
              <a:t>https://ru.krymr.com/a/dmitriy-gudkov-ob-otyezde-iz-rossii/31295079.html</a:t>
            </a:r>
          </a:p>
          <a:p xmlns:a="http://schemas.openxmlformats.org/drawingml/2006/main">
            <a:r>
              <a:t>https://daily.afisha.ru/news/114366-syn-politika-dmitriya-gudkova-pokonchil-s-soboy-v-emigracii/amp/</a:t>
            </a:r>
          </a:p>
          <a:p xmlns:a="http://schemas.openxmlformats.org/drawingml/2006/main">
            <a:r>
              <a:t>https://life.ru/t/dmitriygudkov</a:t>
            </a:r>
          </a:p>
          <a:p xmlns:a="http://schemas.openxmlformats.org/drawingml/2006/main">
            <a:r>
              <a:t>https://uk.wikipedia.org/wiki/%D0%93%D1%83%D0%B4%D0%BA%D0%BE%D0%B2_%D0%94%D0%BC%D0%B8%D1%82%D1%80%D1%96%D0%B9_%D0%93%D0%B5%D0%BD%D0%B0%D0%B4%D1%96%D0%B9%D0%BE%D0%B2%D0%B8%D1%87</a:t>
            </a:r>
          </a:p>
          <a:p xmlns:a="http://schemas.openxmlformats.org/drawingml/2006/main">
            <a:r>
              <a:t>https://mt.gazeta.ru/blog/43692366076/Syin-byivshego-deputata-Gosdumyi-Dmitriya-Gudkova-pokonchil-s-so?utm_referrer=mirtesen.ru</a:t>
            </a:r>
          </a:p>
          <a:p xmlns:a="http://schemas.openxmlformats.org/drawingml/2006/main">
            <a:r>
              <a:t>https://www.bbc.com/russian/news-57381443</a:t>
            </a:r>
          </a:p>
          <a:p xmlns:a="http://schemas.openxmlformats.org/drawingml/2006/main">
            <a:r>
              <a:t>https://www.themoscowtimes.com/2021/06/06/kremlin-critic-dmitry-gudkov-flees-to-ukraine-a74123</a:t>
            </a:r>
          </a:p>
          <a:p xmlns:a="http://schemas.openxmlformats.org/drawingml/2006/main">
            <a:r>
              <a:t>https://www.yabloko.ru/publikatsii/2016/09/15</a:t>
            </a:r>
          </a:p>
          <a:p xmlns:a="http://schemas.openxmlformats.org/drawingml/2006/main">
            <a:r>
              <a:t>https://novayagazeta.ru/articles/2018/03/21/75886-ya-privyk-lyudyam-verit</a:t>
            </a:r>
          </a:p>
          <a:p xmlns:a="http://schemas.openxmlformats.org/drawingml/2006/main">
            <a:r>
              <a:t>https://www.rbc.ru/politics/15/03/2018/5aaa98049a7947d12d63f1e1</a:t>
            </a:r>
          </a:p>
          <a:p xmlns:a="http://schemas.openxmlformats.org/drawingml/2006/main">
            <a:r>
              <a:t>https://rus.team/people/gudkov-dmitrij-gennadevich</a:t>
            </a:r>
          </a:p>
          <a:p xmlns:a="http://schemas.openxmlformats.org/drawingml/2006/main">
            <a:r>
              <a:t>https://www.azattyqasia.org/a/chto-proiskhodit-v-donbasse-/31863310/lbl0lbi299676.html</a:t>
            </a:r>
          </a:p>
          <a:p xmlns:a="http://schemas.openxmlformats.org/drawingml/2006/main">
            <a:r>
              <a:t>https://www.dw.com/ru/dmitrij-gudkov-putin-na-storone-partii-vojny-no-pri-etom-on-trus-21092022/video-63193199</a:t>
            </a:r>
          </a:p>
          <a:p xmlns:a="http://schemas.openxmlformats.org/drawingml/2006/main">
            <a:r>
              <a:t>https://ru.wikinews.org/wiki/%D0%9A%D0%B0%D1%82%D0%B5%D0%B3%D0%BE%D1%80%D0%B8%D1%8F:%D0%93%D0%B5%D0%BD%D0%BD%D0%B0%D0%B4%D0%B8%D0%B9_%D0%93%D1%83%D0%B4%D0%BA%D0%BE%D0%B2</a:t>
            </a:r>
          </a:p>
          <a:p xmlns:a="http://schemas.openxmlformats.org/drawingml/2006/main">
            <a:r>
              <a:t>https://en.wikipedia.org/wiki/Gennady_Gudkov</a:t>
            </a:r>
          </a:p>
          <a:p xmlns:a="http://schemas.openxmlformats.org/drawingml/2006/main">
            <a:r>
              <a:t>https://x.com/gudkov_g</a:t>
            </a:r>
          </a:p>
          <a:p xmlns:a="http://schemas.openxmlformats.org/drawingml/2006/main">
            <a:r>
              <a:t>https://www.dw.com/ru/chto-dmitrij-gudkov-nameren-delat-v-ukraine-i-vernetsja-li-v-rossiju/a-57830619</a:t>
            </a:r>
          </a:p>
          <a:p xmlns:a="http://schemas.openxmlformats.org/drawingml/2006/main">
            <a:r>
              <a:t>https://ru.wikipedia.org/wiki/%D0%93%D1%83%D0%B4%D0%BA%D0%BE%D0%B2,_%D0%93%D0%B5%D0%BD%D0%BD%D0%B0%D0%B4%D0%B8%D0%B9_%D0%92%D0%BB%D0%B0%D0%B4%D0%B8%D0%BC%D0%B8%D1%80%D0%BE%D0%B2%D0%B8%D1%87</a:t>
            </a:r>
          </a:p>
          <a:p xmlns:a="http://schemas.openxmlformats.org/drawingml/2006/main">
            <a:r>
              <a:t>https://ru.wikipedia.org/wiki/%D0%93%D1%83%D0%B4%D0%BA%D0%BE%D0%B2,_%D0%94%D0%BC%D0%B8%D1%82%D1%80%D0%B8%D0%B9_%D0%93%D0%B5%D0%BD%D0%BD%D0%B0%D0%B4%D1%8C%D0%B5%D0%B2%D0%B8%D1%87</a:t>
            </a:r>
          </a:p>
          <a:p xmlns:a="http://schemas.openxmlformats.org/drawingml/2006/main">
            <a:r>
              <a:t>https://utro02.tv/2022/10/31/navstrechu-sezdu-gennadij-gudkov-o-vyborah-obedinenii-oppoziczii-i-razdelenii-vlasti/</a:t>
            </a:r>
          </a:p>
          <a:p xmlns:a="http://schemas.openxmlformats.org/drawingml/2006/main">
            <a:r>
              <a:t>https://www.unian.net/war/rossiyskiy-oppozicioner-gudkov-putin-nachinaet-ponimat-chto-nastupaet-zh-pa-12031263.html</a:t>
            </a:r>
          </a:p>
          <a:p xmlns:a="http://schemas.openxmlformats.org/drawingml/2006/main">
            <a:r>
              <a:t>https://bntnews.bg/genadiy-gudkov-86846tag.html</a:t>
            </a:r>
          </a:p>
          <a:p xmlns:a="http://schemas.openxmlformats.org/drawingml/2006/main">
            <a:r>
              <a:t>https://tass.ru/encyclopedia/person/gudkov-dmitriy-gennadevich</a:t>
            </a:r>
          </a:p>
          <a:p xmlns:a="http://schemas.openxmlformats.org/drawingml/2006/main">
            <a:r>
              <a:t>https://www.kasparov.com/garry-kasparov-on-putin-and-the-virus-of-imperialism-wsj-free-expression-april-11-2022/</a:t>
            </a:r>
          </a:p>
          <a:p xmlns:a="http://schemas.openxmlformats.org/drawingml/2006/main">
            <a:r>
              <a:t>https://www.ilmessaggero.it/en/garry_kasparov_from_chess_champion_to_kremlin_critic-9797261.html</a:t>
            </a:r>
          </a:p>
          <a:p xmlns:a="http://schemas.openxmlformats.org/drawingml/2006/main">
            <a:r>
              <a:t>https://www.kasparov.com/category/russia/</a:t>
            </a:r>
          </a:p>
          <a:p xmlns:a="http://schemas.openxmlformats.org/drawingml/2006/main">
            <a:r>
              <a:t>https://www.kasparov.com/category/politics/</a:t>
            </a:r>
          </a:p>
          <a:p xmlns:a="http://schemas.openxmlformats.org/drawingml/2006/main">
            <a:r>
              <a:t>https://en.wikipedia.org/wiki/Political_views_of_Garry_Kasparov</a:t>
            </a:r>
          </a:p>
          <a:p xmlns:a="http://schemas.openxmlformats.org/drawingml/2006/main">
            <a:r>
              <a:t>https://www.dw.com/ru/kasparov-v-intervu-dw-vse-cto-delal-delaet-i-budet-delat-tramp-pomogaet-putinu/a-79633734</a:t>
            </a:r>
          </a:p>
          <a:p xmlns:a="http://schemas.openxmlformats.org/drawingml/2006/main">
            <a:r>
              <a:t>https://www.kasparov.com/</a:t>
            </a:r>
          </a:p>
          <a:p xmlns:a="http://schemas.openxmlformats.org/drawingml/2006/main">
            <a:r>
              <a:t>https://www.kasparov.com/a-conversation-with-garry-kasparov-thought-economics-with-vikas-shas-may-21-2017/</a:t>
            </a:r>
          </a:p>
          <a:p xmlns:a="http://schemas.openxmlformats.org/drawingml/2006/main">
            <a:r>
              <a:t>https://www.kasparov.com/new-yorker-interview-the-chess-grandmaster-and-political-activist-on-putin-trump-and-how-we-are-living-again-through-the-eighteen-fifties/</a:t>
            </a:r>
          </a:p>
          <a:p xmlns:a="http://schemas.openxmlformats.org/drawingml/2006/main">
            <a:r>
              <a:t>https://www.cnbc.com/2017/02/13/the-full-interview-with-former-world-chess-champion-garry-kasparov-on-trump-putin.html</a:t>
            </a:r>
          </a:p>
          <a:p xmlns:a="http://schemas.openxmlformats.org/drawingml/2006/main">
            <a:r>
              <a:t>https://www.reuters.com/world/europe/kasparov-calls-world-powers-throw-russia-back-into-stone-age-2022-03-03/</a:t>
            </a:r>
          </a:p>
          <a:p xmlns:a="http://schemas.openxmlformats.org/drawingml/2006/main">
            <a:r>
              <a:t>https://khodorkovsky.com/open-russia-manifesto/</a:t>
            </a:r>
          </a:p>
          <a:p xmlns:a="http://schemas.openxmlformats.org/drawingml/2006/main">
            <a:r>
              <a:t>https://khodorkovsky.com/programmes/initiatives/openrussia/</a:t>
            </a:r>
          </a:p>
          <a:p xmlns:a="http://schemas.openxmlformats.org/drawingml/2006/main">
            <a:r>
              <a:t>https://khodorkovsky.com/page/65/?m</a:t>
            </a:r>
          </a:p>
          <a:p xmlns:a="http://schemas.openxmlformats.org/drawingml/2006/main">
            <a:r>
              <a:t>https://khodorkovsky.com/page/80/?m</a:t>
            </a:r>
          </a:p>
          <a:p xmlns:a="http://schemas.openxmlformats.org/drawingml/2006/main">
            <a:r>
              <a:t>https://angliya.com/publication/mihail-hodorkovskiy-ne-priznayu-razdelenie-lyudey-na-osnovanii-politicheskih-vzglyadov/</a:t>
            </a:r>
          </a:p>
          <a:p xmlns:a="http://schemas.openxmlformats.org/drawingml/2006/main">
            <a:r>
              <a:t>https://www.dw.com/ru/mihail-hodorkovski-bojus-jeta-vojna-ne-budet-poslednej/a-61314556</a:t>
            </a:r>
          </a:p>
          <a:p xmlns:a="http://schemas.openxmlformats.org/drawingml/2006/main">
            <a:r>
              <a:t>https://ru.euronews.com/2022/06/21/ru-khodorkovsky-interview</a:t>
            </a:r>
          </a:p>
          <a:p xmlns:a="http://schemas.openxmlformats.org/drawingml/2006/main">
            <a:r>
              <a:t>https://ru.euronews.com/2022/06/23/mikhail-khodorkovsky</a:t>
            </a:r>
          </a:p>
          <a:p xmlns:a="http://schemas.openxmlformats.org/drawingml/2006/main">
            <a:r>
              <a:t>https://poligonmedia.io/mihail-hodorkovskij-putin-ne-pobedil/</a:t>
            </a:r>
          </a:p>
          <a:p xmlns:a="http://schemas.openxmlformats.org/drawingml/2006/main">
            <a:r>
              <a:t>https://www.pap.pl/ru/russian/news/khodorkovskiy-u-putina-est-prichiny-vesti-peregovory-o-prekraschenii-voyny-na-ukraine</a:t>
            </a:r>
          </a:p>
          <a:p xmlns:a="http://schemas.openxmlformats.org/drawingml/2006/main">
            <a:r>
              <a:t>https://milov.org/cat/debates</a:t>
            </a:r>
          </a:p>
          <a:p xmlns:a="http://schemas.openxmlformats.org/drawingml/2006/main">
            <a:r>
              <a:t>https://milov.org/entry/4188</a:t>
            </a:r>
          </a:p>
          <a:p xmlns:a="http://schemas.openxmlformats.org/drawingml/2006/main">
            <a:r>
              <a:t>https://milov.org/cat/international</a:t>
            </a:r>
          </a:p>
          <a:p xmlns:a="http://schemas.openxmlformats.org/drawingml/2006/main">
            <a:r>
              <a:t>https://tvrain.tv/teleshow/amerikanskie_gonki/tramp_vynashivaet_ideju_primiritsja_s_putinym-453802/</a:t>
            </a:r>
          </a:p>
          <a:p xmlns:a="http://schemas.openxmlformats.org/drawingml/2006/main">
            <a:r>
              <a:t>https://www.currenttime.tv/a/vladimir-milov-interview/31505887.html</a:t>
            </a:r>
          </a:p>
          <a:p xmlns:a="http://schemas.openxmlformats.org/drawingml/2006/main">
            <a:r>
              <a:t>https://ovd.info/express-news/2021/07/27/roskomnadzor-potreboval-ot-youtube-zablokirovat-kanaly-troikh-soratnikov</a:t>
            </a:r>
          </a:p>
          <a:p xmlns:a="http://schemas.openxmlformats.org/drawingml/2006/main">
            <a:r>
              <a:t>https://www.dw.com/ru/sud-v-moskve-prigovoril-vladimira-milova-k-8-godam-kolonii/a-67415717</a:t>
            </a:r>
          </a:p>
          <a:p xmlns:a="http://schemas.openxmlformats.org/drawingml/2006/main">
            <a:r>
              <a:t>https://ru.wikipedia.org/wiki/%D0%9C%D0%B8%D0%BB%D0%BE%D0%B2,_%D0%92%D0%BB%D0%B0%D0%B4%D0%B8%D0%BC%D0%B8%D1%80_%D0%A1%D1%82%D0%B0%D0%BD%D0%B8%D1%81%D0%BB%D0%B0%D0%B2%D0%BE%D0%B2%D0%B8%D1%87</a:t>
            </a:r>
          </a:p>
          <a:p xmlns:a="http://schemas.openxmlformats.org/drawingml/2006/main">
            <a:r>
              <a:t>https://gordonua.com/news/worldnews/milov-merkel-molodec-poteryala-vsego-7-8-v-polzu-svezhey-antiimmigrantskoy-partii-na-fone-migrantskogo-krizisa-208758.html</a:t>
            </a:r>
          </a:p>
          <a:p xmlns:a="http://schemas.openxmlformats.org/drawingml/2006/main">
            <a:r>
              <a:t>https://echofm.online/programs/hochu-skazat/hochu-skazat-larina-69</a:t>
            </a:r>
          </a:p>
          <a:p xmlns:a="http://schemas.openxmlformats.org/drawingml/2006/main">
            <a:r>
              <a:t>https://www.hoover.org/plus/research/russian-opposition-and-ukraine-conversation-vladimir-milov</a:t>
            </a:r>
          </a:p>
          <a:p xmlns:a="http://schemas.openxmlformats.org/drawingml/2006/main">
            <a:r>
              <a:t>https://www.golosameriki.com/a/washington-dialogue-russian-opposition-conference/7648250.html</a:t>
            </a:r>
          </a:p>
          <a:p xmlns:a="http://schemas.openxmlformats.org/drawingml/2006/main">
            <a:r>
              <a:t>https://glavred.info/chat/1337-vladimir-milov.html</a:t>
            </a:r>
          </a:p>
          <a:p xmlns:a="http://schemas.openxmlformats.org/drawingml/2006/main">
            <a:r>
              <a:t>https://www.interfax.ru/moscow/669378</a:t>
            </a:r>
          </a:p>
          <a:p xmlns:a="http://schemas.openxmlformats.org/drawingml/2006/main">
            <a:r>
              <a:t>https://tass.ru/politika/6670439</a:t>
            </a:r>
          </a:p>
          <a:p xmlns:a="http://schemas.openxmlformats.org/drawingml/2006/main">
            <a:r>
              <a:t>https://www.rbc.ru/politics/16/07/2019/5d2c8b3b9a794799a7c7d413</a:t>
            </a:r>
          </a:p>
          <a:p xmlns:a="http://schemas.openxmlformats.org/drawingml/2006/main">
            <a:r>
              <a:t>https://www.bbc.com/russian/news-56269079</a:t>
            </a:r>
          </a:p>
          <a:p xmlns:a="http://schemas.openxmlformats.org/drawingml/2006/main">
            <a:r>
              <a:t>https://ovd.info/express-news/2020/12/28/s-yurista-fbk-kotoraya-provela-pochti-dvoe-sutok-v-ivs-pytalis-vzyat</a:t>
            </a:r>
          </a:p>
          <a:p xmlns:a="http://schemas.openxmlformats.org/drawingml/2006/main">
            <a:r>
              <a:t>https://ovd.info/express-news/2021/02/26/prokuratura-utverdila-obvinenie-sobol-po-delu-o-proniknovenii-v-kvartiru</a:t>
            </a:r>
          </a:p>
          <a:p xmlns:a="http://schemas.openxmlformats.org/drawingml/2006/main">
            <a:r>
              <a:t>https://ovd.info/express-news/2020/12/29/protiv-alekseya-navalnogo-vozbudili-ugolovnoe-delo-o-moshennichestve-iz-za</a:t>
            </a:r>
          </a:p>
          <a:p xmlns:a="http://schemas.openxmlformats.org/drawingml/2006/main">
            <a:r>
              <a:t>https://www.currenttime.tv/a/sobol/31723600.html</a:t>
            </a:r>
          </a:p>
          <a:p xmlns:a="http://schemas.openxmlformats.org/drawingml/2006/main">
            <a:r>
              <a:t>https://www.currenttime.tv/interview/episodes/2022/2/26</a:t>
            </a:r>
          </a:p>
          <a:p xmlns:a="http://schemas.openxmlformats.org/drawingml/2006/main">
            <a:r>
              <a:t>https://ochevidcy.com/putin-budet-vorovat-do-groba/</a:t>
            </a:r>
          </a:p>
          <a:p xmlns:a="http://schemas.openxmlformats.org/drawingml/2006/main">
            <a:r>
              <a:t>https://www.svoboda.org/a/32881433.html</a:t>
            </a:r>
          </a:p>
          <a:p xmlns:a="http://schemas.openxmlformats.org/drawingml/2006/main">
            <a:r>
              <a:t>https://echofm.online/programs/idyom-po-zvyozdam/idyom-po-zvezdam-s-lyubovyu-sobol</a:t>
            </a:r>
          </a:p>
          <a:p xmlns:a="http://schemas.openxmlformats.org/drawingml/2006/main">
            <a:r>
              <a:t>https://x.com/SobolLubov</a:t>
            </a:r>
          </a:p>
          <a:p xmlns:a="http://schemas.openxmlformats.org/drawingml/2006/main">
            <a:r>
              <a:t>https://stuki-druki.com/authors/sobol-lubov.php</a:t>
            </a:r>
          </a:p>
          <a:p xmlns:a="http://schemas.openxmlformats.org/drawingml/2006/main">
            <a:r>
              <a:t>https://www.interfax.ru/elections2018/593143</a:t>
            </a:r>
          </a:p>
          <a:p xmlns:a="http://schemas.openxmlformats.org/drawingml/2006/main">
            <a:r>
              <a:t>https://elections2018.tass.ru/candidate/sobchak</a:t>
            </a:r>
          </a:p>
          <a:p xmlns:a="http://schemas.openxmlformats.org/drawingml/2006/main">
            <a:r>
              <a:t>https://www.interfax.ru/elections2018/604186</a:t>
            </a:r>
          </a:p>
          <a:p xmlns:a="http://schemas.openxmlformats.org/drawingml/2006/main">
            <a:r>
              <a:t>https://www.interfax.ru/elections2018/604908</a:t>
            </a:r>
          </a:p>
          <a:p xmlns:a="http://schemas.openxmlformats.org/drawingml/2006/main">
            <a:r>
              <a:t>https://www.consultant.ru/law/hotdocs/53066.html</a:t>
            </a:r>
          </a:p>
          <a:p xmlns:a="http://schemas.openxmlformats.org/drawingml/2006/main">
            <a:r>
              <a:t>https://www.rbc.ru/newspaper/2018/03/20/5aae9ca49a794739b02918a0</a:t>
            </a:r>
          </a:p>
          <a:p xmlns:a="http://schemas.openxmlformats.org/drawingml/2006/main">
            <a:r>
              <a:t>https://www.interfax.ru/elections2018/604136</a:t>
            </a:r>
          </a:p>
          <a:p xmlns:a="http://schemas.openxmlformats.org/drawingml/2006/main">
            <a:r>
              <a:t>https://www.interfax.ru/elections2018/604190</a:t>
            </a:r>
          </a:p>
          <a:p xmlns:a="http://schemas.openxmlformats.org/drawingml/2006/main">
            <a:r>
              <a:t>https://www.rbc.ru/economics/25/12/2017/5a4025f19a79472e3f5f4ad9?from=right_column_materials_3</a:t>
            </a:r>
          </a:p>
          <a:p xmlns:a="http://schemas.openxmlformats.org/drawingml/2006/main">
            <a:r>
              <a:t>https://news.ru/show-business/otezd-iz-rf-vybory-svo-v-chem-priznalas-kseniya-sobchak-v-novom-intervyu</a:t>
            </a:r>
          </a:p>
          <a:p xmlns:a="http://schemas.openxmlformats.org/drawingml/2006/main">
            <a:r>
              <a:t>https://rtvi.com/news/sobchak-otvetila-na-vopros-putin-ili-zelenskij/</a:t>
            </a:r>
          </a:p>
          <a:p xmlns:a="http://schemas.openxmlformats.org/drawingml/2006/main">
            <a:r>
              <a:t>https://informator.ua/ru/kompromissy-iz-rf-legitimnost-zelenskogo-i-gotovnost-pozhat-ruku-putinu-o-chem-govoril-arestovich-v-intervyu-sobchak</a:t>
            </a:r>
          </a:p>
          <a:p xmlns:a="http://schemas.openxmlformats.org/drawingml/2006/main">
            <a:r>
              <a:t>https://rassvet-party.info/</a:t>
            </a:r>
          </a:p>
          <a:p xmlns:a="http://schemas.openxmlformats.org/drawingml/2006/main">
            <a:r>
              <a:t>https://en.wikipedia.org/wiki/Yekaterina_Duntsova</a:t>
            </a:r>
          </a:p>
          <a:p xmlns:a="http://schemas.openxmlformats.org/drawingml/2006/main">
            <a:r>
              <a:t>https://www.dw.com/ru/cto-nuzno-znat-o-ekaterine-duncovoj-kotoraa-hocet-stat-prezidentom-rf/a-67832425</a:t>
            </a:r>
          </a:p>
          <a:p xmlns:a="http://schemas.openxmlformats.org/drawingml/2006/main">
            <a:r>
              <a:t>https://baj.media/ru/ya-gotova-idti-do-konca-zhurnalistka-iz-rossiyskoy-provincii-reshila-stat-prezidentom-i-2/</a:t>
            </a:r>
          </a:p>
          <a:p xmlns:a="http://schemas.openxmlformats.org/drawingml/2006/main">
            <a:r>
              <a:t>https://echofm.online/portret-dnya/portret-dnya-ekaterina-dunczova-reshivshaya-vydvinutsya-kandidatom-v-prezidenty-rossii-zhurnalistka-iz-rzheva</a:t>
            </a:r>
          </a:p>
          <a:p xmlns:a="http://schemas.openxmlformats.org/drawingml/2006/main">
            <a:r>
              <a:t>https://novayagazeta.eu/articles/2024/03/15/zlost-i-nenavist-vsem-nadoeli</a:t>
            </a:r>
          </a:p>
          <a:p xmlns:a="http://schemas.openxmlformats.org/drawingml/2006/main">
            <a:r>
              <a:t>https://altapress.ru/politika/story/kto-takaya-ekaterina-duntsova-kotoraya-sobiraetsya-stat-poslednim-prezidentom-rossii-i-kto-eshche-hochet-ballotirovatsya-336526</a:t>
            </a:r>
          </a:p>
          <a:p xmlns:a="http://schemas.openxmlformats.org/drawingml/2006/main">
            <a:r>
              <a:t>https://cherta.media/interview/ekaterina-duncova-kandidat-v-prezidenty/</a:t>
            </a:r>
          </a:p>
          <a:p xmlns:a="http://schemas.openxmlformats.org/drawingml/2006/main">
            <a:r>
              <a:t>https://novayagazeta.eu/articles/2023/12/05/zachem-ia-budu-stoiat-na-barrikadakh-esli-mogu-zanimatsia-realnymi-delami</a:t>
            </a:r>
          </a:p>
          <a:p xmlns:a="http://schemas.openxmlformats.org/drawingml/2006/main">
            <a:r>
              <a:t>https://holod.media/2023/12/20/ekaterina-duntsova-view/</a:t>
            </a:r>
          </a:p>
          <a:p xmlns:a="http://schemas.openxmlformats.org/drawingml/2006/main">
            <a:r>
              <a:t>https://www.dw.com/ru/ekaterina-duncova-o-sozdanii-partii-rassvet-my-mezdu-dvuh-ognej/a-68992724</a:t>
            </a:r>
          </a:p>
          <a:p xmlns:a="http://schemas.openxmlformats.org/drawingml/2006/main">
            <a:r>
              <a:t>https://rassvet-party.info/static/program.pdf</a:t>
            </a:r>
          </a:p>
          <a:p xmlns:a="http://schemas.openxmlformats.org/drawingml/2006/main">
            <a:r>
              <a:t>https://www.currenttime.tv/a/ekaterina-duntsova-o-sozdanii-partii-i-svoem-zaderzhanii/32775510.html</a:t>
            </a:r>
          </a:p>
          <a:p xmlns:a="http://schemas.openxmlformats.org/drawingml/2006/main">
            <a:r>
              <a:t>https://duntsovainitiative.1c-umi.ru/galereya/</a:t>
            </a:r>
          </a:p>
          <a:p xmlns:a="http://schemas.openxmlformats.org/drawingml/2006/main">
            <a:r>
              <a:t>https://rassvet-party.info/static/manifest.pdf</a:t>
            </a:r>
          </a:p>
          <a:p xmlns:a="http://schemas.openxmlformats.org/drawingml/2006/main">
            <a:r>
              <a:t>https://www.rbc.ru/person/65afb4a99a79470e434da73d</a:t>
            </a:r>
          </a:p>
          <a:p xmlns:a="http://schemas.openxmlformats.org/drawingml/2006/main">
            <a:r>
              <a:t>https://www.bbc.com/russian/articles/c84npr0wxx9o</a:t>
            </a:r>
          </a:p>
          <a:p xmlns:a="http://schemas.openxmlformats.org/drawingml/2006/main">
            <a:r>
              <a:t>https://www.rbc.ru/politics/08/02/2024/65c3749b9a79479ef5fe7934</a:t>
            </a:r>
          </a:p>
          <a:p xmlns:a="http://schemas.openxmlformats.org/drawingml/2006/main">
            <a:r>
              <a:t>https://www.business-gazeta.ru/article/622600</a:t>
            </a:r>
          </a:p>
          <a:p xmlns:a="http://schemas.openxmlformats.org/drawingml/2006/main">
            <a:r>
              <a:t>https://semnasem.org/articles/2024/02/02/poslednij-sredi-antivoennyh-kto-takoj-boris-nadezhdin-kotoryj-vse-eshe-nadeetsya-stat-prezidentom</a:t>
            </a:r>
          </a:p>
          <a:p xmlns:a="http://schemas.openxmlformats.org/drawingml/2006/main">
            <a:r>
              <a:t>https://novayagazeta.eu/articles/2024/02/03/17-marta-nachalo-kontsa-epokhi-putina</a:t>
            </a:r>
          </a:p>
          <a:p xmlns:a="http://schemas.openxmlformats.org/drawingml/2006/main">
            <a:r>
              <a:t>https://www.youtube.com/watch?v=mGMdgxBCdns</a:t>
            </a:r>
          </a:p>
          <a:p xmlns:a="http://schemas.openxmlformats.org/drawingml/2006/main">
            <a:r>
              <a:t>https://www.dw.com/ru/boris-nadezdin-moj-rejting-rastet-na-5-v-nedelu/a-68154251</a:t>
            </a:r>
          </a:p>
          <a:p xmlns:a="http://schemas.openxmlformats.org/drawingml/2006/main">
            <a:r>
              <a:t>https://ovd.info/express-news/2026/07/17/u-menya-dva-puti-lenina-ili-navalnogo-chto-nuzhno-znat-o-borise-nadezhdine</a:t>
            </a:r>
          </a:p>
          <a:p xmlns:a="http://schemas.openxmlformats.org/drawingml/2006/main">
            <a:r>
              <a:t>https://www.rbc.ru/person/65afb4a99a79470e434da73d?ysclid=mrt22n99to603501119</a:t>
            </a:r>
          </a:p>
          <a:p xmlns:a="http://schemas.openxmlformats.org/drawingml/2006/main">
            <a:r>
              <a:t>https://www.youtube.com/watch?v=UNytg_H_1pY</a:t>
            </a:r>
          </a:p>
          <a:p xmlns:a="http://schemas.openxmlformats.org/drawingml/2006/main">
            <a:r>
              <a:t>https://www.youtube.com/watch?v=DwTC5bilf_8</a:t>
            </a:r>
          </a:p>
          <a:p xmlns:a="http://schemas.openxmlformats.org/drawingml/2006/main">
            <a:r>
              <a:t>https://www.youtube.com/watch?v=sG4_THnT9W0</a:t>
            </a:r>
          </a:p>
          <a:p xmlns:a="http://schemas.openxmlformats.org/drawingml/2006/main">
            <a:r>
              <a:t>https://www.rbc.ru/rbcfreenews/6586cdf49a79479c3cd3d4b3</a:t>
            </a:r>
          </a:p>
          <a:p xmlns:a="http://schemas.openxmlformats.org/drawingml/2006/main">
            <a:r>
              <a:t>https://kprf.ru/activity/elections/223485.html/print</a:t>
            </a:r>
          </a:p>
          <a:p xmlns:a="http://schemas.openxmlformats.org/drawingml/2006/main">
            <a:r>
              <a:t>http://msk.kprf.ru/2024/01/24/247473/</a:t>
            </a:r>
          </a:p>
          <a:p xmlns:a="http://schemas.openxmlformats.org/drawingml/2006/main">
            <a:r>
              <a:t>https://www.dw.com/ru/vybory-prezidenta-rossii-2024/a-68528003</a:t>
            </a:r>
          </a:p>
          <a:p xmlns:a="http://schemas.openxmlformats.org/drawingml/2006/main">
            <a:r>
              <a:t>https://ru.wikipedia.org/wiki/%D0%A5%D0%B0%D1%80%D0%B8%D1%82%D0%BE%D0%BD%D0%BE%D0%B2,_%D0%9D%D0%B8%D0%BA%D0%BE%D0%BB%D0%B0%D0%B9_%D0%9C%D0%B8%D1%85%D0%B0%D0%B9%D0%BB%D0%BE%D0%B2%D0%B8%D1%87</a:t>
            </a:r>
          </a:p>
          <a:p xmlns:a="http://schemas.openxmlformats.org/drawingml/2006/main">
            <a:r>
              <a:t>https://kprf.ru/party-live/cknews/225170.html</a:t>
            </a:r>
          </a:p>
          <a:p xmlns:a="http://schemas.openxmlformats.org/drawingml/2006/main">
            <a:r>
              <a:t>https://kprf.ru/dep/gosduma/activities/232802.html</a:t>
            </a:r>
          </a:p>
          <a:p xmlns:a="http://schemas.openxmlformats.org/drawingml/2006/main">
            <a:r>
              <a:t>https://kprf35.com/2024/02/17/32710/</a:t>
            </a:r>
          </a:p>
          <a:p xmlns:a="http://schemas.openxmlformats.org/drawingml/2006/main">
            <a:r>
              <a:t>https://www.pkokprf.ru/news/view/35448</a:t>
            </a:r>
          </a:p>
          <a:p xmlns:a="http://schemas.openxmlformats.org/drawingml/2006/main">
            <a:r>
              <a:t>https://altkprf.ru/upload/iblock/eea/jiv0wm7hzk6gq4qdxw0r5wvp7zwb6luk.pdf</a:t>
            </a:r>
          </a:p>
          <a:p xmlns:a="http://schemas.openxmlformats.org/drawingml/2006/main">
            <a:r>
              <a:t>https://kprf.ru/activity/army/224789.html</a:t>
            </a:r>
          </a:p>
          <a:p xmlns:a="http://schemas.openxmlformats.org/drawingml/2006/main">
            <a:r>
              <a:t>https://gazeta-pravda.ru/issue/24-31517-711-marta-2024-goda-/alternativa-polupravde/</a:t>
            </a:r>
          </a:p>
          <a:p xmlns:a="http://schemas.openxmlformats.org/drawingml/2006/main">
            <a:r>
              <a:t>https://spbpalata.ru/?p=13755</a:t>
            </a:r>
          </a:p>
          <a:p xmlns:a="http://schemas.openxmlformats.org/drawingml/2006/main">
            <a:r>
              <a:t>https://kprf.ru/activity/elections/171941.html</a:t>
            </a:r>
          </a:p>
          <a:p xmlns:a="http://schemas.openxmlformats.org/drawingml/2006/main">
            <a:r>
              <a:t>https://kprf.ru/party-live/cknews/171994.html</a:t>
            </a:r>
          </a:p>
          <a:p xmlns:a="http://schemas.openxmlformats.org/drawingml/2006/main">
            <a:r>
              <a:t>https://elections2018.tass.ru/candidate/grudinin</a:t>
            </a:r>
          </a:p>
          <a:p xmlns:a="http://schemas.openxmlformats.org/drawingml/2006/main">
            <a:r>
              <a:t>https://www.bbc.com/russian/features-43105617</a:t>
            </a:r>
          </a:p>
          <a:p xmlns:a="http://schemas.openxmlformats.org/drawingml/2006/main">
            <a:r>
              <a:t>https://www.rbc.ru/politics/24/07/2021/60fbe35b9a794716f25253a0</a:t>
            </a:r>
          </a:p>
          <a:p xmlns:a="http://schemas.openxmlformats.org/drawingml/2006/main">
            <a:r>
              <a:t>https://kprf.ru/dep/reg/204410.html</a:t>
            </a:r>
          </a:p>
          <a:p xmlns:a="http://schemas.openxmlformats.org/drawingml/2006/main">
            <a:r>
              <a:t>https://msk.kprf.ru/2021/09/16/168273/</a:t>
            </a:r>
          </a:p>
          <a:p xmlns:a="http://schemas.openxmlformats.org/drawingml/2006/main">
            <a:r>
              <a:t>https://svpressa.ru/persons/pavel-grudinin/</a:t>
            </a:r>
          </a:p>
          <a:p xmlns:a="http://schemas.openxmlformats.org/drawingml/2006/main">
            <a:r>
              <a:t>https://carnegieendowment.org/ru/russia-eurasia/posts/2018/02/kuda-privedut-ekonomiku-rossii-20-shagov-grudinina</a:t>
            </a:r>
          </a:p>
          <a:p xmlns:a="http://schemas.openxmlformats.org/drawingml/2006/main">
            <a:r>
              <a:t>https://www.kompas-rf.ru/2018/01/2980/</a:t>
            </a:r>
          </a:p>
          <a:p xmlns:a="http://schemas.openxmlformats.org/drawingml/2006/main">
            <a:r>
              <a:t>https://www.svoboda.org/a/30073365.html</a:t>
            </a:r>
          </a:p>
          <a:p xmlns:a="http://schemas.openxmlformats.org/drawingml/2006/main">
            <a:r>
              <a:t>https://kandidativprezidenti.ru/programma-grudinina-2018/</a:t>
            </a:r>
          </a:p>
          <a:p xmlns:a="http://schemas.openxmlformats.org/drawingml/2006/main">
            <a:r>
              <a:t>https://mbk-news.appspot.com/suzhet/za-lenina-i-protiv-ege/</a:t>
            </a:r>
          </a:p>
          <a:p xmlns:a="http://schemas.openxmlformats.org/drawingml/2006/main">
            <a:r>
              <a:t>https://www.amnesty.org/ru/latest/research/2021/06/zayavlenie-rossijskaya-federacziya-obvinitelnyj-prigovor-nikolayu-platoshkinu-dolzhen-byt-otmenyon/</a:t>
            </a:r>
          </a:p>
          <a:p xmlns:a="http://schemas.openxmlformats.org/drawingml/2006/main">
            <a:r>
              <a:t>https://zona.media/article/2021/05/20/nikolay-nikolaevitch</a:t>
            </a:r>
          </a:p>
          <a:p xmlns:a="http://schemas.openxmlformats.org/drawingml/2006/main">
            <a:r>
              <a:t>https://novayagazeta.ru/articles/2020/06/05/85705-sotsialisticheskiy-prizyv</a:t>
            </a:r>
          </a:p>
          <a:p xmlns:a="http://schemas.openxmlformats.org/drawingml/2006/main">
            <a:r>
              <a:t>https://www.revda-info.ru/2020/08/26/v-revde-poyavilos-otdelenie-dvizheniya-za-novyj-sotsializm-ego-lider-sejchas-pod-arestom</a:t>
            </a:r>
          </a:p>
          <a:p xmlns:a="http://schemas.openxmlformats.org/drawingml/2006/main">
            <a:r>
              <a:t>https://new-socialism.org/o-dvizhenii/programma/</a:t>
            </a:r>
          </a:p>
          <a:p xmlns:a="http://schemas.openxmlformats.org/drawingml/2006/main">
            <a:r>
              <a:t>https://new-socialism.org/o-dvizhenii/lider/</a:t>
            </a:r>
          </a:p>
          <a:p xmlns:a="http://schemas.openxmlformats.org/drawingml/2006/main">
            <a:r>
              <a:t>https://www.themoscowtimes.com/2024/01/19/ilya-ponomaryov-we-have-to-capture-the-kremlin-there-is-no-other-way-a83772</a:t>
            </a:r>
          </a:p>
          <a:p xmlns:a="http://schemas.openxmlformats.org/drawingml/2006/main">
            <a:r>
              <a:t>https://www.dw.com/ru/cto-izvestno-o-rossijskih-podrazdeleniah-v-sostave-vsu/a-63915634</a:t>
            </a:r>
          </a:p>
          <a:p xmlns:a="http://schemas.openxmlformats.org/drawingml/2006/main">
            <a:r>
              <a:t>https://www.svoboda.org/a/32321226.html</a:t>
            </a:r>
          </a:p>
          <a:p xmlns:a="http://schemas.openxmlformats.org/drawingml/2006/main">
            <a:r>
              <a:t>https://hromadske.ua/ru/posts/nasha-cel-moskva-my-dolzhny-sbrosit-putina-rossijskie-partizany-mif-ili-pravda</a:t>
            </a:r>
          </a:p>
          <a:p xmlns:a="http://schemas.openxmlformats.org/drawingml/2006/main">
            <a:r>
              <a:t>https://epravda.com.ua/rus/publications/2018/06/11/637572/</a:t>
            </a:r>
          </a:p>
          <a:p xmlns:a="http://schemas.openxmlformats.org/drawingml/2006/main">
            <a:r>
              <a:t>https://pointmedia.io/story/672b355fdc48800406e0f515</a:t>
            </a:r>
          </a:p>
          <a:p xmlns:a="http://schemas.openxmlformats.org/drawingml/2006/main">
            <a:r>
              <a:t>https://ru.wikipedia.org/wiki/%D0%9B%D0%B5%D0%B3%D0%B8%D0%BE%D0%BD_%C2%AB%D0%A1%D0%B2%D0%BE%D0%B1%D0%BE%D0%B4%D0%B0_%D0%A0%D0%BE%D1%81%D1%81%D0%B8%D0%B8%C2%BB</a:t>
            </a:r>
          </a:p>
          <a:p xmlns:a="http://schemas.openxmlformats.org/drawingml/2006/main">
            <a:r>
              <a:t>https://ru.wikipedia.org/wiki/%D0%9F%D0%BE%D0%BD%D0%BE%D0%BC%D0%B0%D1%80%D1%91%D0%B2,_%D0%98%D0%BB%D1%8C%D1%8F_%D0%92%D0%BB%D0%B0%D0%B4%D0%B8%D0%BC%D0%B8%D1%80%D0%BE%D0%B2%D0%B8%D1%87</a:t>
            </a:r>
          </a:p>
          <a:p xmlns:a="http://schemas.openxmlformats.org/drawingml/2006/main">
            <a:r>
              <a:t>https://russophob.ru/person/ponomarev_ilya_vladimirovich</a:t>
            </a:r>
          </a:p>
          <a:p xmlns:a="http://schemas.openxmlformats.org/drawingml/2006/main">
            <a:r>
              <a:t>https://www.svoboda.org/a/32063164.html</a:t>
            </a:r>
          </a:p>
          <a:p xmlns:a="http://schemas.openxmlformats.org/drawingml/2006/main">
            <a:r>
              <a:t>https://www.kpbs.org/news/news/international/2023/03/26/a-scrappy-newscast-in-kyiv-aimed-at-russians-counters-putins-propaganda-machine</a:t>
            </a:r>
          </a:p>
          <a:p xmlns:a="http://schemas.openxmlformats.org/drawingml/2006/main">
            <a:r>
              <a:t>https://ovd.info/express-news/2022/10/02/politik-leonid-gozman-uekhal-iz-rossii-posle-dvukh-administrativnykh</a:t>
            </a:r>
          </a:p>
          <a:p xmlns:a="http://schemas.openxmlformats.org/drawingml/2006/main">
            <a:r>
              <a:t>https://ovd.info/express-news/2022/08/30/politika-leonida-gozmana-arestovali-na-15-sutok-iz-za-posta-v-feysbuke</a:t>
            </a:r>
          </a:p>
          <a:p xmlns:a="http://schemas.openxmlformats.org/drawingml/2006/main">
            <a:r>
              <a:t>https://www.rbc.ru/politics/15/07/2022/62d1b3f39a7947299cdeb6a4</a:t>
            </a:r>
          </a:p>
          <a:p xmlns:a="http://schemas.openxmlformats.org/drawingml/2006/main">
            <a:r>
              <a:t>https://novayagazeta.eu/articles/2022/07/15/sk-doprosil-politika-leonida-gozmana-kak-podozrevaemogo-po-delu-o-neuvedomlenii-o-vtorom-grazhdanstve-news</a:t>
            </a:r>
          </a:p>
          <a:p xmlns:a="http://schemas.openxmlformats.org/drawingml/2006/main">
            <a:r>
              <a:t>https://www.rbc.ru/politics/15/02/2024/65cdc9e09a7947a2995026fa</a:t>
            </a:r>
          </a:p>
          <a:p xmlns:a="http://schemas.openxmlformats.org/drawingml/2006/main">
            <a:r>
              <a:t>https://ovd.info/express-news/2025/01/22/leonida-gozmana-i-rovshana-askerova-vnesli-v-reestr-terroristov-i</a:t>
            </a:r>
          </a:p>
          <a:p xmlns:a="http://schemas.openxmlformats.org/drawingml/2006/main">
            <a:r>
              <a:t>https://www.rbc.ru/opinion-authors/gozman</a:t>
            </a:r>
          </a:p>
          <a:p xmlns:a="http://schemas.openxmlformats.org/drawingml/2006/main">
            <a:r>
              <a:t>https://novayagazeta.eu/articles/2022/07/25/ovd-info-v-moskve-zaderzhali-politika-leonida-gozmana-news</a:t>
            </a:r>
          </a:p>
          <a:p xmlns:a="http://schemas.openxmlformats.org/drawingml/2006/main">
            <a:r>
              <a:t>https://gefter.ru/archive/23487</a:t>
            </a:r>
          </a:p>
          <a:p xmlns:a="http://schemas.openxmlformats.org/drawingml/2006/main">
            <a:r>
              <a:t>https://www.svoboda.org/a/31147156.html</a:t>
            </a:r>
          </a:p>
          <a:p xmlns:a="http://schemas.openxmlformats.org/drawingml/2006/main">
            <a:r>
              <a:t>https://uatv.ua/gozman-putin-zagnal-rossiyu-v-ugol-sleduyushhij-shag-repressii/</a:t>
            </a:r>
          </a:p>
          <a:p xmlns:a="http://schemas.openxmlformats.org/drawingml/2006/main">
            <a:r>
              <a:t>https://echofm.online/programs/hochu-skazat/hochu-skazat-odin-protiv-vseh-kak-ne-dat-strahu-pobedit-sebya</a:t>
            </a:r>
          </a:p>
          <a:p xmlns:a="http://schemas.openxmlformats.org/drawingml/2006/main">
            <a:r>
              <a:t>https://www.svoboda.org/a/leonid-gozman-russkih-lyudey-neljzya-mazatj-odnoy-chernoy-kraskoy-/32732625.html</a:t>
            </a:r>
          </a:p>
          <a:p xmlns:a="http://schemas.openxmlformats.org/drawingml/2006/main">
            <a:r>
              <a:t>https://novayagazeta.eu/articles/2022/07/18/prepiatstvovat-prosveshcheniiu-liudei-vlast-budet-pulemiotami</a:t>
            </a:r>
          </a:p>
          <a:p xmlns:a="http://schemas.openxmlformats.org/drawingml/2006/main">
            <a:r>
              <a:t>https://www.svoboda.org/a/29652429.html</a:t>
            </a:r>
          </a:p>
          <a:p xmlns:a="http://schemas.openxmlformats.org/drawingml/2006/main">
            <a:r>
              <a:t>https://novayagazeta.eu/articles/2022/04/26/nesobliudenie-rezhima</a:t>
            </a:r>
          </a:p>
          <a:p xmlns:a="http://schemas.openxmlformats.org/drawingml/2006/main">
            <a:r>
              <a:t>https://novayagazeta.eu/articles/2022/07/21/zapiski-ugolovnika</a:t>
            </a:r>
          </a:p>
          <a:p xmlns:a="http://schemas.openxmlformats.org/drawingml/2006/main">
            <a:r>
              <a:t>https://novayagazeta.ru/authors/2349</a:t>
            </a:r>
          </a:p>
          <a:p xmlns:a="http://schemas.openxmlformats.org/drawingml/2006/main">
            <a:r>
              <a:t>https://www.rbc.ru/politics/10/08/2017/598c8d6d9a79474cff05cbab</a:t>
            </a:r>
          </a:p>
          <a:p xmlns:a="http://schemas.openxmlformats.org/drawingml/2006/main">
            <a:r>
              <a:t>https://www.bbc.com/russian/news-40853405</a:t>
            </a:r>
          </a:p>
          <a:p xmlns:a="http://schemas.openxmlformats.org/drawingml/2006/main">
            <a:r>
              <a:t>https://www.rbc.ru/politics/10/08/2017/598c0a8e9a7947569574ba10?from=right_column_materials_1</a:t>
            </a:r>
          </a:p>
          <a:p xmlns:a="http://schemas.openxmlformats.org/drawingml/2006/main">
            <a:r>
              <a:t>https://www.vedomosti.ru/politics/articles/2017/08/10/728820-udaltsov</a:t>
            </a:r>
          </a:p>
          <a:p xmlns:a="http://schemas.openxmlformats.org/drawingml/2006/main">
            <a:r>
              <a:t>https://www.interfax.ru/elections2018/598382</a:t>
            </a:r>
          </a:p>
          <a:p xmlns:a="http://schemas.openxmlformats.org/drawingml/2006/main">
            <a:r>
              <a:t>https://sotaproject.com/article/sergeia-udaltsova-opiat-pytaiutsia-posadit-khotia-on-vsego-lish-prosit-putina-postroit-sotsializm</a:t>
            </a:r>
          </a:p>
          <a:p xmlns:a="http://schemas.openxmlformats.org/drawingml/2006/main">
            <a:r>
              <a:t>https://www.gazeta.ru/tags/person/sergei_udaltsov.shtml</a:t>
            </a:r>
          </a:p>
          <a:p xmlns:a="http://schemas.openxmlformats.org/drawingml/2006/main">
            <a:r>
              <a:t>https://www.kommersant.ru/doc/8317316</a:t>
            </a:r>
          </a:p>
          <a:p xmlns:a="http://schemas.openxmlformats.org/drawingml/2006/main">
            <a:r>
              <a:t>https://www.kommersant.ru/doc/8972418</a:t>
            </a:r>
          </a:p>
          <a:p xmlns:a="http://schemas.openxmlformats.org/drawingml/2006/main">
            <a:r>
              <a:t>https://holod.media/2023/09/12/udaltsov-interview/</a:t>
            </a:r>
          </a:p>
          <a:p xmlns:a="http://schemas.openxmlformats.org/drawingml/2006/main">
            <a:r>
              <a:t>https://meduza.io/feature/2024/01/11/sergey-udaltsov-zaderzhan-po-obvineniyu-v-opravdanii-terrorizma</a:t>
            </a:r>
          </a:p>
          <a:p xmlns:a="http://schemas.openxmlformats.org/drawingml/2006/main">
            <a:r>
              <a:t>https://ref-book.sova-center.ru/index.php/%D0%94%D1%80%D1%83%D0%B3%D0%B0%D1%8F_%D0%A0%D0%BE%D1%81%D1%81%D0%B8%D1%8F,_%D0%BF%D0%B0%D1%80%D1%82%D0%B8%D1%8F</a:t>
            </a:r>
          </a:p>
          <a:p xmlns:a="http://schemas.openxmlformats.org/drawingml/2006/main">
            <a:r>
              <a:t>https://www.rbc.ru/society/17/03/2020/5e71048d9a79473925ab81a7</a:t>
            </a:r>
          </a:p>
          <a:p xmlns:a="http://schemas.openxmlformats.org/drawingml/2006/main">
            <a:r>
              <a:t>https://rt.rbc.ru/society/18/03/2020/5e71acc49a794773553f824e</a:t>
            </a:r>
          </a:p>
          <a:p xmlns:a="http://schemas.openxmlformats.org/drawingml/2006/main">
            <a:r>
              <a:t>https://www.bostonglobe.com/metro/obituaries/2020/03/18/russian-author-political-activist-eduard-limonov-dies/jnjHywBRjVTTgnlsqI12vN/story.html</a:t>
            </a:r>
          </a:p>
          <a:p xmlns:a="http://schemas.openxmlformats.org/drawingml/2006/main">
            <a:r>
              <a:t>https://nsn.fm/society/poslednee-intervu-pisatelya-i-politika-eduarda-limonova</a:t>
            </a:r>
          </a:p>
          <a:p xmlns:a="http://schemas.openxmlformats.org/drawingml/2006/main">
            <a:r>
              <a:t>http://www.grso.ru/person/limonov-eduard.html</a:t>
            </a:r>
          </a:p>
          <a:p xmlns:a="http://schemas.openxmlformats.org/drawingml/2006/main">
            <a:r>
              <a:t>https://ru.wikipedia.org/wiki/%D0%94%D1%80%D1%83%D0%B3%D0%B0%D1%8F_%D0%A0%D0%BE%D1%81%D1%81%D0%B8%D1%8F_%D0%AD._%D0%92._%D0%9B%D0%B8%D0%BC%D0%BE%D0%BD%D0%BE%D0%B2%D0%B0</a:t>
            </a:r>
          </a:p>
          <a:p xmlns:a="http://schemas.openxmlformats.org/drawingml/2006/main">
            <a:r>
              <a:t>https://novayagazeta.ru/articles/2017/03/12/71752-puteshestvie-natsbolov-k-putinu-i-obratno</a:t>
            </a:r>
          </a:p>
          <a:p xmlns:a="http://schemas.openxmlformats.org/drawingml/2006/main">
            <a:r>
              <a:t>https://mediabrest.by/news/lyudi/umer-eduard-limonov-chem-zapomnilsya-pisatel</a:t>
            </a:r>
          </a:p>
          <a:p xmlns:a="http://schemas.openxmlformats.org/drawingml/2006/main">
            <a:r>
              <a:t>https://www.limonow.de/read/EL_2013-2018_T.html</a:t>
            </a:r>
          </a:p>
          <a:p xmlns:a="http://schemas.openxmlformats.org/drawingml/2006/main">
            <a:r>
              <a:t>https://www.infpol.ru/203662-ot-ubezhdennogo-antisovetchika-do-kolumnista-rt/</a:t>
            </a:r>
          </a:p>
          <a:p xmlns:a="http://schemas.openxmlformats.org/drawingml/2006/main">
            <a:r>
              <a:t>https://www.bbc.com/russian/articles/c2eg90d7gg9o</a:t>
            </a:r>
          </a:p>
          <a:p xmlns:a="http://schemas.openxmlformats.org/drawingml/2006/main">
            <a:r>
              <a:t>https://www.dw.com/ru/mosgorsud-prigovoril-igora-girkina-strelkova-k-4-godam-kolonii/a-68080937</a:t>
            </a:r>
          </a:p>
          <a:p xmlns:a="http://schemas.openxmlformats.org/drawingml/2006/main">
            <a:r>
              <a:t>https://www.fontanka.ru/2023/07/21/72520253</a:t>
            </a:r>
          </a:p>
          <a:p xmlns:a="http://schemas.openxmlformats.org/drawingml/2006/main">
            <a:r>
              <a:t>https://www.svoboda.org/a/strelkov-iz-sizo-opasayusj-amnistii-kak-u-prigozhina-/32722083.html</a:t>
            </a:r>
          </a:p>
          <a:p xmlns:a="http://schemas.openxmlformats.org/drawingml/2006/main">
            <a:r>
              <a:t>https://ru.themoscowtimes.com/2023/12/07/girkin-zayavil-chto-opasaetsya-povtorit-sudbu-prigozhina-a115592</a:t>
            </a:r>
          </a:p>
          <a:p xmlns:a="http://schemas.openxmlformats.org/drawingml/2006/main">
            <a:r>
              <a:t>https://ru.krymr.com/a/boing-mn17-10-let-podozrevayemyye-obvinyayemyye-vinovnyye/33040170.html</a:t>
            </a:r>
          </a:p>
          <a:p xmlns:a="http://schemas.openxmlformats.org/drawingml/2006/main">
            <a:r>
              <a:t>https://charter97.org/ru/news/2023/7/22/556802/</a:t>
            </a:r>
          </a:p>
          <a:p xmlns:a="http://schemas.openxmlformats.org/drawingml/2006/main">
            <a:r>
              <a:t>https://t.me/s/pgubarev?after=622</a:t>
            </a:r>
          </a:p>
          <a:p xmlns:a="http://schemas.openxmlformats.org/drawingml/2006/main">
            <a:r>
              <a:t>https://rabkor.ru/columns/debates/2023/05/23/angry_patriots_of_an_imaginary_country/</a:t>
            </a:r>
          </a:p>
          <a:p xmlns:a="http://schemas.openxmlformats.org/drawingml/2006/main">
            <a:r>
              <a:t>https://www.bbc.com/news/world-60947877</a:t>
            </a:r>
          </a:p>
          <a:p xmlns:a="http://schemas.openxmlformats.org/drawingml/2006/main">
            <a:r>
              <a:t>https://www.reuters.com/world/europe/russian-mercenary-boss-courts-putin-with-ukrainian-battlefield-success-2023-01-13/</a:t>
            </a:r>
          </a:p>
          <a:p xmlns:a="http://schemas.openxmlformats.org/drawingml/2006/main">
            <a:r>
              <a:t>https://www.reuters.com/world/europe/russias-wagner-mercenaries-halt-prisoner-recruitment-campaign-founder-prigozhin-2023-02-09/</a:t>
            </a:r>
          </a:p>
          <a:p xmlns:a="http://schemas.openxmlformats.org/drawingml/2006/main">
            <a:r>
              <a:t>https://www.reuters.com/investigates/special-report/ukraine-crisis-russia-wagner/</a:t>
            </a:r>
          </a:p>
          <a:p xmlns:a="http://schemas.openxmlformats.org/drawingml/2006/main">
            <a:r>
              <a:t>https://www.reuters.com/world/europe/russias-wagner-chief-prigozhin-says-ukraine-counteroffensive-already-under-way-2023-05-03/</a:t>
            </a:r>
          </a:p>
          <a:p xmlns:a="http://schemas.openxmlformats.org/drawingml/2006/main">
            <a:r>
              <a:t>https://www.bbc.com/russian/media-66023357</a:t>
            </a:r>
          </a:p>
          <a:p xmlns:a="http://schemas.openxmlformats.org/drawingml/2006/main">
            <a:r>
              <a:t>https://www.reuters.com/world/europe/russias-prigozhin-his-own-words-mutiny-2023-06-26/</a:t>
            </a:r>
          </a:p>
          <a:p xmlns:a="http://schemas.openxmlformats.org/drawingml/2006/main">
            <a:r>
              <a:t>https://x.com/Reuters/status/1632709213641113601</a:t>
            </a:r>
          </a:p>
          <a:p xmlns:a="http://schemas.openxmlformats.org/drawingml/2006/main">
            <a:r>
              <a:t>https://www.reuters.com/world/europe/russian-mercenary-boss-says-moscows-war-ukraine-based-lies-2023-06-23/</a:t>
            </a:r>
          </a:p>
          <a:p xmlns:a="http://schemas.openxmlformats.org/drawingml/2006/main">
            <a:r>
              <a:t>https://www.rbc.ru/spb_sz/02/10/2026/6abfb91afd4c7ff957d9cbe8</a:t>
            </a:r>
          </a:p>
          <a:p xmlns:a="http://schemas.openxmlformats.org/drawingml/2006/main">
            <a:r>
              <a:t>https://www.zaks.ru/new/person/view/639</a:t>
            </a:r>
          </a:p>
          <a:p xmlns:a="http://schemas.openxmlformats.org/drawingml/2006/main">
            <a:r>
              <a:t>https://www.zaks.ru/new/archive/view/219520</a:t>
            </a:r>
          </a:p>
          <a:p xmlns:a="http://schemas.openxmlformats.org/drawingml/2006/main">
            <a:r>
              <a:t>https://tvspb.ru/news/2016/09/27/novyij-sostav-parlamenta-kto-zajmet-kresla-v-zakonodatelnom-sobranii-vi-sozyiva</a:t>
            </a:r>
          </a:p>
          <a:p xmlns:a="http://schemas.openxmlformats.org/drawingml/2006/main">
            <a:r>
              <a:t>https://tass.ru/politika/20994233</a:t>
            </a:r>
          </a:p>
          <a:p xmlns:a="http://schemas.openxmlformats.org/drawingml/2006/main">
            <a:r>
              <a:t>https://www.zaks.ru/new/archive/view/265712</a:t>
            </a:r>
          </a:p>
          <a:p xmlns:a="http://schemas.openxmlformats.org/drawingml/2006/main">
            <a:r>
              <a:t>https://www.zaks.ru/new/archive/view/269374</a:t>
            </a:r>
          </a:p>
          <a:p xmlns:a="http://schemas.openxmlformats.org/drawingml/2006/main">
            <a:r>
              <a:t>https://www.dp.ru/a/2026/10/02/oksana-dmitrieva-proigrala</a:t>
            </a:r>
          </a:p>
          <a:p xmlns:a="http://schemas.openxmlformats.org/drawingml/2006/main">
            <a:r>
              <a:t>https://ru.wikipedia.org/wiki/%D0%9F%D0%B0%D1%80%D1%82%D0%B8%D1%8F_%D1%80%D0%BE%D1%81%D1%82%D0%B0</a:t>
            </a:r>
          </a:p>
          <a:p xmlns:a="http://schemas.openxmlformats.org/drawingml/2006/main">
            <a:r>
              <a:t>https://dmitrieva.org/category/gosduma/zakonoproekty/</a:t>
            </a:r>
          </a:p>
          <a:p xmlns:a="http://schemas.openxmlformats.org/drawingml/2006/main">
            <a:r>
              <a:t>https://t.me/s/oxdmitrieva?before=1072</a:t>
            </a:r>
          </a:p>
          <a:p xmlns:a="http://schemas.openxmlformats.org/drawingml/2006/main">
            <a:r>
              <a:t>http://api.duma.gov.ru/api/transcriptFull/2023-09-28</a:t>
            </a:r>
          </a:p>
          <a:p xmlns:a="http://schemas.openxmlformats.org/drawingml/2006/main">
            <a:r>
              <a:t>https://www.fontanka.ru/2026/09/04/76623983/</a:t>
            </a:r>
          </a:p>
          <a:p xmlns:a="http://schemas.openxmlformats.org/drawingml/2006/main">
            <a:r>
              <a:t>https://www.vedomosti.ru/politics/articles/2026/03/10/1181644-deputat-semi-sozivov-oksana-dmitrieva-snova-poidet-v-gosdumu</a:t>
            </a:r>
          </a:p>
          <a:p xmlns:a="http://schemas.openxmlformats.org/drawingml/2006/main">
            <a:r>
              <a:t>https://www.kommersant.ru/doc/8497588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17c5ddf77944f2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0e2aa2c95d4428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fc5fa6ff7b1476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ed5494ade02422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82ffeebe6d443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345123fae5349e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50D39FC-EDA8-4F77-B5AB-1A32F082046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BC092892-8B03-471E-BC5B-F1BC6093522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47167064-9527-4A1C-B89E-DACD21A0434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4E0A3A9-B74F-40BD-A492-FA5884F7A53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A4E1E36-616A-48D7-951F-F64014C0E36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7FBF968E-AFD8-4BD9-A145-908A61BEF3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9BF2721-31B4-42B4-A3F9-C827B6389A9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3252FD72-00DD-47B2-9A10-99ED966B4E0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3CF6577-21BB-47DA-833F-3F1A532DA06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EB91D6F-B506-4D0F-A5BE-A867BED55A7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0784f1957d64a96" /><Relationship Type="http://schemas.openxmlformats.org/officeDocument/2006/relationships/slideLayout" Target="/ppt/slideLayouts/slideLayout1.xml" Id="Rf8408e398d164a2e" /><Relationship Type="http://schemas.openxmlformats.org/officeDocument/2006/relationships/slideLayout" Target="/ppt/slideLayouts/slideLayout2.xml" Id="R59c5f7d39b324089" /><Relationship Type="http://schemas.openxmlformats.org/officeDocument/2006/relationships/slideLayout" Target="/ppt/slideLayouts/slideLayout3.xml" Id="Rfaf075eeeeca467d" /><Relationship Type="http://schemas.openxmlformats.org/officeDocument/2006/relationships/slideLayout" Target="/ppt/slideLayouts/slideLayout4.xml" Id="Re39202730a0c4220" /><Relationship Type="http://schemas.openxmlformats.org/officeDocument/2006/relationships/slideLayout" Target="/ppt/slideLayouts/slideLayout5.xml" Id="Racd9ac876bec4b77" /><Relationship Type="http://schemas.openxmlformats.org/officeDocument/2006/relationships/slideLayout" Target="/ppt/slideLayouts/slideLayout6.xml" Id="R2d3cd85d42f9437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8408e398d164a2e"/>
    <p:sldLayoutId xmlns:r="http://schemas.openxmlformats.org/officeDocument/2006/relationships" id="2147483650" r:id="R59c5f7d39b324089"/>
    <p:sldLayoutId xmlns:r="http://schemas.openxmlformats.org/officeDocument/2006/relationships" id="2147483651" r:id="Rfaf075eeeeca467d"/>
    <p:sldLayoutId xmlns:r="http://schemas.openxmlformats.org/officeDocument/2006/relationships" id="2147483652" r:id="Re39202730a0c4220"/>
    <p:sldLayoutId xmlns:r="http://schemas.openxmlformats.org/officeDocument/2006/relationships" id="2147483653" r:id="Racd9ac876bec4b77"/>
    <p:sldLayoutId xmlns:r="http://schemas.openxmlformats.org/officeDocument/2006/relationships" id="2147483654" r:id="R2d3cd85d42f9437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5650b6a9f5041a7" /><Relationship Type="http://schemas.openxmlformats.org/officeDocument/2006/relationships/notesSlide" Target="/ppt/notesSlides/notesSlide1.xml" Id="R967bcd34aa21461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03bc640d82947bf" /><Relationship Type="http://schemas.openxmlformats.org/officeDocument/2006/relationships/notesSlide" Target="/ppt/notesSlides/notesSlide2.xml" Id="R286ac0b07064423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26e24ed7a1a47e7" /><Relationship Type="http://schemas.openxmlformats.org/officeDocument/2006/relationships/notesSlide" Target="/ppt/notesSlides/notesSlide3.xml" Id="Rf804bc38301a438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fabcf9f78874cc3" /><Relationship Type="http://schemas.openxmlformats.org/officeDocument/2006/relationships/image" Target="/ppt/media/image.png" Id="R193cbcc9115447e1" /><Relationship Type="http://schemas.openxmlformats.org/officeDocument/2006/relationships/notesSlide" Target="/ppt/notesSlides/notesSlide4.xml" Id="R0d0ece0cd5e84c3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dc6dcf5e8e940b4" /><Relationship Type="http://schemas.openxmlformats.org/officeDocument/2006/relationships/notesSlide" Target="/ppt/notesSlides/notesSlide5.xml" Id="R8d33fd1837e742d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5b0a28e64934e20" /><Relationship Type="http://schemas.openxmlformats.org/officeDocument/2006/relationships/notesSlide" Target="/ppt/notesSlides/notesSlide6.xml" Id="R3531c29dae38460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dc7a049ec754732" /><Relationship Type="http://schemas.openxmlformats.org/officeDocument/2006/relationships/image" Target="/ppt/media/image2.png" Id="Rd63dcd9dc97347a3" /><Relationship Type="http://schemas.openxmlformats.org/officeDocument/2006/relationships/notesSlide" Target="/ppt/notesSlides/notesSlide7.xml" Id="R25ece73778e246f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76e2c88097f4ab9" /><Relationship Type="http://schemas.openxmlformats.org/officeDocument/2006/relationships/image" Target="/ppt/media/image3.png" Id="R144bce59fbd64db1" /><Relationship Type="http://schemas.openxmlformats.org/officeDocument/2006/relationships/notesSlide" Target="/ppt/notesSlides/notesSlide8.xml" Id="R4d538bcac31e413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59e3d5516504b90" /><Relationship Type="http://schemas.openxmlformats.org/officeDocument/2006/relationships/image" Target="/ppt/media/image4.png" Id="Ra240fc2e83b84f0c" /><Relationship Type="http://schemas.openxmlformats.org/officeDocument/2006/relationships/image" Target="/ppt/media/image5.png" Id="Rc7ffd348a0ba48da" /><Relationship Type="http://schemas.openxmlformats.org/officeDocument/2006/relationships/notesSlide" Target="/ppt/notesSlides/notesSlide9.xml" Id="R92c6c45f4275444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c956135988446c2" /><Relationship Type="http://schemas.openxmlformats.org/officeDocument/2006/relationships/notesSlide" Target="/ppt/notesSlides/notesSlide10.xml" Id="R3f1aa8708a354f5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8cafd551db540c3" /><Relationship Type="http://schemas.openxmlformats.org/officeDocument/2006/relationships/notesSlide" Target="/ppt/notesSlides/notesSlide11.xml" Id="Rec261ee8fac246a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f71dc8b9ad34ee4" /><Relationship Type="http://schemas.openxmlformats.org/officeDocument/2006/relationships/notesSlide" Target="/ppt/notesSlides/notesSlide12.xml" Id="Rd26e15d1a51d4ed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332b2eca92a436e" /><Relationship Type="http://schemas.openxmlformats.org/officeDocument/2006/relationships/notesSlide" Target="/ppt/notesSlides/notesSlide13.xml" Id="R9b2a526cb45940e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1b9354902fc4c4a" /><Relationship Type="http://schemas.openxmlformats.org/officeDocument/2006/relationships/notesSlide" Target="/ppt/notesSlides/notesSlide14.xml" Id="R98236f9d728d43f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d94ff7b2fa44f7a" /><Relationship Type="http://schemas.openxmlformats.org/officeDocument/2006/relationships/notesSlide" Target="/ppt/notesSlides/notesSlide15.xml" Id="R17089a440e014819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eb9a7993ed04c9c" /><Relationship Type="http://schemas.openxmlformats.org/officeDocument/2006/relationships/notesSlide" Target="/ppt/notesSlides/notesSlide16.xml" Id="R1102bf513341444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685a1aaa00c453a" /><Relationship Type="http://schemas.openxmlformats.org/officeDocument/2006/relationships/notesSlide" Target="/ppt/notesSlides/notesSlide17.xml" Id="R04e8f28574a54927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5270693f91748f1" /><Relationship Type="http://schemas.openxmlformats.org/officeDocument/2006/relationships/notesSlide" Target="/ppt/notesSlides/notesSlide18.xml" Id="R5844f04df7394c13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a80e343926e42c6" /><Relationship Type="http://schemas.openxmlformats.org/officeDocument/2006/relationships/notesSlide" Target="/ppt/notesSlides/notesSlide19.xml" Id="Rd3cc4f3df317450d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b999cba1795490d" /><Relationship Type="http://schemas.openxmlformats.org/officeDocument/2006/relationships/notesSlide" Target="/ppt/notesSlides/notesSlide20.xml" Id="R60d31992e39443a9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644c8f27d4d4d2c" /><Relationship Type="http://schemas.openxmlformats.org/officeDocument/2006/relationships/notesSlide" Target="/ppt/notesSlides/notesSlide21.xml" Id="R34e54b5f83264b8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0BC7D219-8141-46DC-9917-DAA90D41A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"/>
            <a:ext cx="1089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Публичное политическое пространство России: политики 2016–2026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2F77FB68-842E-45BE-BFBB-E3DB0D7AF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B460E17A-5E13-4B4D-9CFE-462B16859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10239375" cy="10192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Публичный политический образ российских политиков и иных заметных политических акторов, включая деятелей за рубежом, активных хотя бы в части периода. Не рейтинг популярности.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D4A28D8F-60E2-4C77-841C-B6590996E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4270"/>
            <a:ext cx="10239375" cy="3397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Период: 2016-10-15 – 2026-10-15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DD53178C-E455-4FA6-86A7-F6B3277D6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0"/>
            <a:ext cx="3286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66F73"/>
                </a:solidFill>
                <a:latin typeface="Arial"/>
                <a:ea typeface="Arial"/>
                <a:cs typeface="Arial"/>
              </a:rPr>
              <a:t>63 объектов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FDA1D420-83B2-4F58-936D-BD4116C7A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191000"/>
            <a:ext cx="3286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66F73"/>
                </a:solidFill>
                <a:latin typeface="Arial"/>
                <a:ea typeface="Arial"/>
                <a:cs typeface="Arial"/>
              </a:rPr>
              <a:t>17 шкал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FF0BD780-0E11-44FD-A099-47041C0D1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191000"/>
            <a:ext cx="3286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66F73"/>
                </a:solidFill>
                <a:latin typeface="Arial"/>
                <a:ea typeface="Arial"/>
                <a:cs typeface="Arial"/>
              </a:rPr>
              <a:t>2 факторов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193798F2-EF7B-4B02-BC00-AB7761DB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10477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Разведочное исследование оценённых публичных образов</a:t>
            </a:r>
          </a:p>
        </p:txBody>
      </p:sp>
    </p:spTree>
    <p:extLst>
      <p:ext uri="{BB962C8B-B14F-4D97-AF65-F5344CB8AC3E}">
        <p14:creationId xmlns:p14="http://schemas.microsoft.com/office/powerpoint/2010/main" val="111506044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D8503106-B3FD-4BAF-954F-528DF6B1C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"/>
            <a:ext cx="1089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Выборка и способ измерения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6723D386-77DD-45B8-AAD4-043A14270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FF388BAE-C8B9-42E3-861E-723ED6647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6375"/>
            <a:ext cx="10668000" cy="9138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Исследовательская целевая выборка с покрытием федерального управления, парламентских партий, регионов, оппозиции, избирательных кампаний и иных публичных политических акторов. Первичный состав предложен исследователем,…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53966246-890F-48E9-8C09-C1108716A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379"/>
            <a:ext cx="10668000" cy="304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Каждый полюс: от 0 до 5. Разность: от −5 до +5. Неизвестное остаётся пропуском.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5AD4F493-BEEA-4630-AEE5-091CD8E8F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09163"/>
            <a:ext cx="10668000" cy="6092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Gaussian FA и согласованное вращение varimax. Группы определяются по всем выбранным факторам.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5C5818B3-BBD6-40F1-B0AB-BDCE546D6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75557"/>
            <a:ext cx="10668000" cy="304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3 групп. Описанная общая дисперсия: 47,1%. Полнота матрицы: 86,3%.</a:t>
            </a:r>
          </a:p>
        </p:txBody>
      </p:sp>
    </p:spTree>
    <p:extLst>
      <p:ext uri="{BB962C8B-B14F-4D97-AF65-F5344CB8AC3E}">
        <p14:creationId xmlns:p14="http://schemas.microsoft.com/office/powerpoint/2010/main" val="104261464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8A3CBDC7-E1C7-4A3F-8E73-33FD6CC9E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"/>
            <a:ext cx="1089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Измерительные шкалы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9CE39F27-A463-4DA4-AED0-0740817C9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3BFEF4-B402-4A1A-B805-DA6BE05329BC}"/>
              </a:ext>
            </a:extLst>
          </p:cNvPr>
          <p:cNvGraphicFramePr/>
          <p:nvPr/>
        </p:nvGraphicFramePr>
        <p:xfrm>
          <a:off xmlns:a="http://schemas.openxmlformats.org/drawingml/2006/main" x="685800" y="1476375"/>
          <a:ext xmlns:a="http://schemas.openxmlformats.org/drawingml/2006/main" cx="108204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3695700"/>
                <a:gridCol w="3695700"/>
              </a:tblGrid>
              <a:tr h="557893"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Шкала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T w="9525">
                      <a:solidFill>
                        <a:srgbClr val="E0E7E9"/>
                      </a:solidFill>
                      <a:prstDash val="solid"/>
                    </a:lnT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166F73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Положительный полюс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T w="9525">
                      <a:solidFill>
                        <a:srgbClr val="E0E7E9"/>
                      </a:solidFill>
                      <a:prstDash val="solid"/>
                    </a:lnT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166F73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Отрицательный полюс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T w="9525">
                      <a:solidFill>
                        <a:srgbClr val="E0E7E9"/>
                      </a:solidFill>
                      <a:prstDash val="solid"/>
                    </a:lnT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166F73"/>
                    </a:solidFill>
                  </a:tcPr>
                </a:tc>
              </a:tr>
              <a:tr h="557893"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Суверенная самостоятельность…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Суверенная самостоятельность…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Международная интеграция и…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7893"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Историческая преемственность…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Историческая преемственность…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Обновление и разрыв с…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</a:tr>
              <a:tr h="557893"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Практические результаты —…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Измеримые результаты и…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Идеологические принципы и…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7893"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Институциональная работа —…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Изменения через действующие…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Изменения через внеинституциона…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</a:tr>
              <a:tr h="557893"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Критика действующей власти —…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Публичная критика действующей…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Публичная поддержка курса…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7893"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Социальное перераспределение…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Государственные социальные…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Личная ответственность и…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</a:tr>
            </a:tbl>
          </a:graphicData>
        </a:graphic>
      </p:graphicFrame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D08F78F5-2B0F-4349-AF55-F2206E4E9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1076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Примеры 6 из 26 утверждённых шкал. Полный словарь и определения включены в отчёт.</a:t>
            </a:r>
          </a:p>
        </p:txBody>
      </p:sp>
    </p:spTree>
    <p:extLst>
      <p:ext uri="{BB962C8B-B14F-4D97-AF65-F5344CB8AC3E}">
        <p14:creationId xmlns:p14="http://schemas.microsoft.com/office/powerpoint/2010/main" val="145886472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645956F2-C004-4FB9-8546-1A88B9847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"/>
            <a:ext cx="1089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Описанная дисперсия факторов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ACDF5F8A-2E5F-4BED-B0F4-646783B24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C709C1-770F-4DFD-8116-6828A98782C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3cbcc9115447e1"/>
          <a:stretch xmlns:a="http://schemas.openxmlformats.org/drawingml/2006/main"/>
        </p:blipFill>
        <p:spPr>
          <a:xfrm xmlns:a="http://schemas.openxmlformats.org/drawingml/2006/main">
            <a:off x="619125" y="1663744"/>
            <a:ext cx="7715250" cy="3911511"/>
          </a:xfrm>
          <a:prstGeom xmlns:a="http://schemas.openxmlformats.org/drawingml/2006/main" prst="rect">
            <a:avLst/>
          </a:prstGeom>
        </p:spPr>
      </p:pic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63FCEDEF-C429-45C2-BC66-5398C7BAB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143125"/>
            <a:ext cx="2571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275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4275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pPr>
            <a:r>
              <a:rPr sz="4275" b="1">
                <a:solidFill>
                  <a:srgbClr val="166F73"/>
                </a:solidFill>
                <a:latin typeface="Arial"/>
                <a:ea typeface="Arial"/>
                <a:cs typeface="Arial"/>
              </a:rPr>
              <a:t>47,1%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02AFA719-E087-4933-B099-10727B494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095625"/>
            <a:ext cx="2524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Общая описанная дисперсия выбранного решения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89B385A1-9A91-4094-A50E-E837B2B27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53125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Доли FA описывают модель оценок. Их нельзя трактовать как доли населения.</a:t>
            </a:r>
          </a:p>
        </p:txBody>
      </p:sp>
    </p:spTree>
    <p:extLst>
      <p:ext uri="{BB962C8B-B14F-4D97-AF65-F5344CB8AC3E}">
        <p14:creationId xmlns:p14="http://schemas.microsoft.com/office/powerpoint/2010/main" val="125092742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16D87D8C-8A2B-4FDA-A2A0-4886F9B19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"/>
            <a:ext cx="1089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F1 Антивоенная критика и электоральная легитимность ↔ Антизападная мобилизация и суверенитет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5FFDEDF6-518D-49F2-B4E2-50BD6D294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6B794E79-F28C-43A7-B489-9EE136A00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71600"/>
            <a:ext cx="108204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66F73"/>
                </a:solidFill>
                <a:latin typeface="Arial"/>
                <a:ea typeface="Arial"/>
                <a:cs typeface="Arial"/>
              </a:rPr>
              <a:t>Доля наблюдаемой дисперсии: 28,8%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8C978DA8-3D3A-4397-8A56-BD8312E0C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108204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Первая ось пространства отражает противопоставление между публичной антивоенной риторикой, критикой федеральной власти и акцентом на конкурентных выборах — с одной стороны, и акцентом на противостоянии Западу, мобилизационной риторике, суверенитете, национально-патриотических…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FAE6CEEE-8256-49ED-9B5D-4A9C236DD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09925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66F73"/>
                </a:solidFill>
                <a:latin typeface="Arial"/>
                <a:ea typeface="Arial"/>
                <a:cs typeface="Arial"/>
              </a:rPr>
              <a:t>Высокая координата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D4581AB3-9D65-456D-B20B-9EA072248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62375"/>
            <a:ext cx="5095875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Публичные призывы прекратить военные действия и перейти к миру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Сотрудничество и политическое сближение с западными государствами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Призывы к открытому обсуждению, сомнению и убеждению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BC2FCE18-898B-4063-BF27-456250A4D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209925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66F73"/>
                </a:solidFill>
                <a:latin typeface="Arial"/>
                <a:ea typeface="Arial"/>
                <a:cs typeface="Arial"/>
              </a:rPr>
              <a:t>Низкая координата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D31266D3-AE90-488D-867E-A1D5E5F0A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762375"/>
            <a:ext cx="5095875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Публичная поддержка продолжения военных действий ради заявленных целей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Противостояние западным государствам и институтам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Призывы к единению, дисциплине и чрезвычайной мобилизации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92CC8994-92C1-4027-B4B7-DB3953E82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00750"/>
            <a:ext cx="10820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Свойства ориентированы по знакам нагрузок и заданным полюсам шкал. Знак факторной оси условен.</a:t>
            </a:r>
          </a:p>
        </p:txBody>
      </p:sp>
    </p:spTree>
    <p:extLst>
      <p:ext uri="{BB962C8B-B14F-4D97-AF65-F5344CB8AC3E}">
        <p14:creationId xmlns:p14="http://schemas.microsoft.com/office/powerpoint/2010/main" val="26179306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D654B6EF-E839-4A38-9C97-E4479B563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"/>
            <a:ext cx="1089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F2 Институциональная партийность и централизация ↔ Конфронтационная персонализация и протест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77948960-9184-4224-9531-B4B0191C0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6877EDCE-941B-45D2-A95C-07DFE9CF0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71600"/>
            <a:ext cx="108204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66F73"/>
                </a:solidFill>
                <a:latin typeface="Arial"/>
                <a:ea typeface="Arial"/>
                <a:cs typeface="Arial"/>
              </a:rPr>
              <a:t>Доля наблюдаемой дисперсии: 18,3%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D34B0A14-9887-4EC4-90E3-136A6D345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108204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Вторая ось выделяет различие между акцентом на институциональной работе через парламентские процедуры, партийной организацией и централизацией полномочий — и противоположным полюсом, где преобладают конфронтационная риторика, персонализированный стиль, протестные и…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A7AE884C-FEBA-40C7-A86B-A77C3713B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09925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66F73"/>
                </a:solidFill>
                <a:latin typeface="Arial"/>
                <a:ea typeface="Arial"/>
                <a:cs typeface="Arial"/>
              </a:rPr>
              <a:t>Высокая координата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1822D7A4-3753-457E-AA9B-56F05D53A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62375"/>
            <a:ext cx="5095875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Компромиссная и согласительная риторика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Изменения через действующие правовые и парламентские процедуры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Коллективное представительство и институциональное авторство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A0292CF3-08C9-4880-8823-C2E66B675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209925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66F73"/>
                </a:solidFill>
                <a:latin typeface="Arial"/>
                <a:ea typeface="Arial"/>
                <a:cs typeface="Arial"/>
              </a:rPr>
              <a:t>Низкая координата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BAF8C56C-B374-406F-A280-F66A593F6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762375"/>
            <a:ext cx="5095875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Конфронтационная полемика и жёсткое противопоставление оппонентам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Изменения через внеинституциональное протестное давление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Личный бренд и обращение от собственного имени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6EE83D5F-8811-4064-BC51-529326F96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00750"/>
            <a:ext cx="10820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Свойства ориентированы по знакам нагрузок и заданным полюсам шкал. Знак факторной оси условен.</a:t>
            </a:r>
          </a:p>
        </p:txBody>
      </p:sp>
    </p:spTree>
    <p:extLst>
      <p:ext uri="{BB962C8B-B14F-4D97-AF65-F5344CB8AC3E}">
        <p14:creationId xmlns:p14="http://schemas.microsoft.com/office/powerpoint/2010/main" val="54979706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BDB938B2-6E62-4F92-896F-854A3EA81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"/>
            <a:ext cx="1089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Объекты в факторном пространстве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23E7F3DA-A324-4123-8108-BA1B09FE3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CEDEF9-6812-4F87-B285-A302F44A994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3dcd9dc97347a3"/>
          <a:stretch xmlns:a="http://schemas.openxmlformats.org/drawingml/2006/main"/>
        </p:blipFill>
        <p:spPr>
          <a:xfrm xmlns:a="http://schemas.openxmlformats.org/drawingml/2006/main">
            <a:off x="2652692" y="1285875"/>
            <a:ext cx="6886617" cy="4619625"/>
          </a:xfrm>
          <a:prstGeom xmlns:a="http://schemas.openxmlformats.org/drawingml/2006/main" prst="rect">
            <a:avLst/>
          </a:prstGeom>
        </p:spPr>
      </p:pic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BA441BD9-E6FB-4018-B196-B927ECC95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19800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F1/F2 показывают проекцию. Группы рассчитаны по всем выбранным факторам.</a:t>
            </a:r>
          </a:p>
        </p:txBody>
      </p:sp>
    </p:spTree>
    <p:extLst>
      <p:ext uri="{BB962C8B-B14F-4D97-AF65-F5344CB8AC3E}">
        <p14:creationId xmlns:p14="http://schemas.microsoft.com/office/powerpoint/2010/main" val="68481255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442431F3-9295-4E1F-A348-7FFAEB53D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"/>
            <a:ext cx="1089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Признаки в факторном пространстве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D541ACD2-BFDB-430C-B56B-D1D664950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1122AD-8551-453C-978B-CF9997F8FB9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4bce59fbd64db1"/>
          <a:stretch xmlns:a="http://schemas.openxmlformats.org/drawingml/2006/main"/>
        </p:blipFill>
        <p:spPr>
          <a:xfrm xmlns:a="http://schemas.openxmlformats.org/drawingml/2006/main">
            <a:off x="2652692" y="1285875"/>
            <a:ext cx="6886617" cy="4619625"/>
          </a:xfrm>
          <a:prstGeom xmlns:a="http://schemas.openxmlformats.org/drawingml/2006/main" prst="rect">
            <a:avLst/>
          </a:prstGeom>
        </p:spPr>
      </p:pic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8EA4EB68-8755-4E42-8BC1-0BEB1B0B5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19800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Точки обозначают шкалы. Их координаты — нагрузки, а не факторные баллы объектов.</a:t>
            </a:r>
          </a:p>
        </p:txBody>
      </p:sp>
    </p:spTree>
    <p:extLst>
      <p:ext uri="{BB962C8B-B14F-4D97-AF65-F5344CB8AC3E}">
        <p14:creationId xmlns:p14="http://schemas.microsoft.com/office/powerpoint/2010/main" val="154431146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9BC4B410-CFEC-4F83-95BA-452042DDD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"/>
            <a:ext cx="1089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Локальное соседство на картах t-SNE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F2C7795B-0B5A-41C2-912A-3E32EAF66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9BBE26-271E-4303-9F20-A5870685EFF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40fc2e83b84f0c"/>
          <a:stretch xmlns:a="http://schemas.openxmlformats.org/drawingml/2006/main"/>
        </p:blipFill>
        <p:spPr>
          <a:xfrm xmlns:a="http://schemas.openxmlformats.org/drawingml/2006/main">
            <a:off x="571500" y="1719221"/>
            <a:ext cx="5381625" cy="3610059"/>
          </a:xfrm>
          <a:prstGeom xmlns:a="http://schemas.openxmlformats.org/drawingml/2006/main" prst="rect">
            <a:avLst/>
          </a:prstGeom>
        </p:spPr>
      </p:pic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C7F2B8-DC13-4FC6-8A49-7046650E09B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ffd348a0ba48da"/>
          <a:stretch xmlns:a="http://schemas.openxmlformats.org/drawingml/2006/main"/>
        </p:blipFill>
        <p:spPr>
          <a:xfrm xmlns:a="http://schemas.openxmlformats.org/drawingml/2006/main">
            <a:off x="6238875" y="1719221"/>
            <a:ext cx="5381625" cy="3610059"/>
          </a:xfrm>
          <a:prstGeom xmlns:a="http://schemas.openxmlformats.org/drawingml/2006/main" prst="rect">
            <a:avLst/>
          </a:prstGeom>
        </p:spPr>
      </p:pic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E6C56775-1174-4D82-B75C-E6A6A97F7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66F73"/>
                </a:solidFill>
                <a:latin typeface="Arial"/>
                <a:ea typeface="Arial"/>
                <a:cs typeface="Arial"/>
              </a:rPr>
              <a:t>Объекты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66E36A01-D83E-45ED-974B-4E278BF1C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2954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66F73"/>
                </a:solidFill>
                <a:latin typeface="Arial"/>
                <a:ea typeface="Arial"/>
                <a:cs typeface="Arial"/>
              </a:rPr>
              <a:t>Семантические шкалы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31DFF961-3AF4-4233-BE2E-C140A228F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62625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Оси t-SNE не являются факторами. Пустоты и глобальные расстояния на этой проекции требуют осторожной интерпретации.</a:t>
            </a:r>
          </a:p>
        </p:txBody>
      </p:sp>
    </p:spTree>
    <p:extLst>
      <p:ext uri="{BB962C8B-B14F-4D97-AF65-F5344CB8AC3E}">
        <p14:creationId xmlns:p14="http://schemas.microsoft.com/office/powerpoint/2010/main" val="189186663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6BFAEAD5-BE1B-4121-B983-BEED7B8C9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"/>
            <a:ext cx="1089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Сравнение числа групп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2DD73E04-0918-4145-BEEB-F25883CC4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69429E-E010-47C1-9DBD-FF9DE6F577BA}"/>
              </a:ext>
            </a:extLst>
          </p:cNvPr>
          <p:cNvGraphicFramePr/>
          <p:nvPr/>
        </p:nvGraphicFramePr>
        <p:xfrm>
          <a:off xmlns:a="http://schemas.openxmlformats.org/drawingml/2006/main" x="685800" y="1409700"/>
          <a:ext xmlns:a="http://schemas.openxmlformats.org/drawingml/2006/main" cx="10820400" cy="4095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905000"/>
                <a:gridCol w="2667000"/>
                <a:gridCol w="3124200"/>
                <a:gridCol w="3124200"/>
              </a:tblGrid>
              <a:tr h="409575"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l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Групп k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T w="9525">
                      <a:solidFill>
                        <a:srgbClr val="E0E7E9"/>
                      </a:solidFill>
                      <a:prstDash val="solid"/>
                    </a:lnT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166F73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Силуэт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T w="9525">
                      <a:solidFill>
                        <a:srgbClr val="E0E7E9"/>
                      </a:solidFill>
                      <a:prstDash val="solid"/>
                    </a:lnT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166F73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Размеры групп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T w="9525">
                      <a:solidFill>
                        <a:srgbClr val="E0E7E9"/>
                      </a:solidFill>
                      <a:prstDash val="solid"/>
                    </a:lnT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166F73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Устойчивость ARI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T w="9525">
                      <a:solidFill>
                        <a:srgbClr val="E0E7E9"/>
                      </a:solidFill>
                      <a:prstDash val="solid"/>
                    </a:lnT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166F73"/>
                    </a:solidFill>
                  </a:tcPr>
                </a:tc>
              </a:tr>
              <a:tr h="409575"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0,446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19–44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0,766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9575"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0,508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8–40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0,914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</a:tr>
              <a:tr h="409575"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0,473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8–30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0,781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9575"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0,486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8–21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0,948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</a:tr>
              <a:tr h="409575"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0,509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4–21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0,883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9575"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0,512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4–21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0,946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</a:tr>
              <a:tr h="409575"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0,475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4–16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0,846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9575"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0,458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4–16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0,815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2F6F7"/>
                    </a:solidFill>
                  </a:tcPr>
                </a:tc>
              </a:tr>
              <a:tr h="409575"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E0E7E9"/>
                      </a:solidFill>
                      <a:prstDash val="solid"/>
                    </a:lnL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0,458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3–12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66675" rIns="66675" bIns="66675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32126"/>
                          </a:solidFill>
                          <a:latin typeface="Arial"/>
                          <a:ea typeface="Arial"/>
                          <a:cs typeface="Arial"/>
                        </a:rPr>
                        <a:t>0,863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E0E7E9"/>
                      </a:solidFill>
                      <a:prstDash val="solid"/>
                    </a:lnR>
                    <a:lnB w="9525">
                      <a:solidFill>
                        <a:srgbClr val="E0E7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C3AEADF0-2028-4798-94D9-7A5220993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0820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Рабочее решение: 3 групп. Устойчивость оценена на подвыборках при фиксированных факторных координатах.</a:t>
            </a:r>
          </a:p>
        </p:txBody>
      </p:sp>
    </p:spTree>
    <p:extLst>
      <p:ext uri="{BB962C8B-B14F-4D97-AF65-F5344CB8AC3E}">
        <p14:creationId xmlns:p14="http://schemas.microsoft.com/office/powerpoint/2010/main" val="172511323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B24DFC38-7293-478D-B0D7-A4C0B9FD7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"/>
            <a:ext cx="1089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Почему выбрано решение с k=3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0D9439C1-3763-4B14-897A-23D11C072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C1671723-A91F-423F-8F6C-B70242AAA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43050"/>
            <a:ext cx="1082040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Трёхкластерное решение выделяет три содержательно различимых профиля, каждый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из которых характеризуется уникальным сочетанием нагруженных свойств. Первый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кластер объединяет акторов, ориентированных на институциональные процедуры и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умеренную поддержку действующей власти, второй — выраженных сторонников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антивоенной риторики, критики власти и интеграции с Западом, а третий — группу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с выраженной конфронтационностью, мобилизационной риторикой и персонализацией.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Эти профили различаются не только по ключевым факторам, но и по ряду шкал с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крупными сдвигами относительно всей выборки, что позволяет говорить о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содержательной интерпретируемости каждого кластера.</a:t>
            </a:r>
          </a:p>
        </p:txBody>
      </p:sp>
    </p:spTree>
    <p:extLst>
      <p:ext uri="{BB962C8B-B14F-4D97-AF65-F5344CB8AC3E}">
        <p14:creationId xmlns:p14="http://schemas.microsoft.com/office/powerpoint/2010/main" val="40395189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A0945E83-AD5B-48DD-9A0C-2510AC13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"/>
            <a:ext cx="1089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Почему выбрано решение с k=3 (продолжение)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D8A8702C-DF74-45FA-9D94-E64027F32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E032B594-3F4F-4AF3-B600-AF7898D97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43050"/>
            <a:ext cx="1082040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При дальнейшем увеличении числа кластеров (k &gt; 3) происходит преимущественно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дробление уже выделенных профилей на более мелкие подгруппы, различия между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которыми выражены слабее и часто касаются нюансов внутри уже описанных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направлений (например, разделение умеренных и радикальных представителей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внутри одного лагеря). При этом новые кластеры зачастую оказываются малы по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размеру и менее устойчивы, а их содержательная специфика не столь отчётлива,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как у трёх основных профилей. Таким образом, k=3 выбрано как рабочий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компромисс между различимостью, интерпретируемостью и ценой дополнительного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дробления.</a:t>
            </a:r>
          </a:p>
        </p:txBody>
      </p:sp>
    </p:spTree>
    <p:extLst>
      <p:ext uri="{BB962C8B-B14F-4D97-AF65-F5344CB8AC3E}">
        <p14:creationId xmlns:p14="http://schemas.microsoft.com/office/powerpoint/2010/main" val="101577997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F294CC22-23F5-4F44-9402-0B0C146FA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"/>
            <a:ext cx="1089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Почему выбрано решение с k=3 (продолжение)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4A466A4A-FFF6-471F-B78A-8CA6E711E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9F2DDA8C-4221-4842-9983-4A3C0FEB0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43050"/>
            <a:ext cx="1082040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Численная сводка из расчёта: у k=3 силуэт 0.508; наибольший силуэт среди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проверенных вариантов — 0.512 при k=7. Медианный ARI выбранного разбиения —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1.000, минимальный по группам медианный Jaccard — 1.000. Содержательное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предпочтение не означает максимума всех численных показателей или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доказательства естественных классов. Средний ARI — 0.914, минимальный ARI —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0.360; устойчивость оценена при фиксированных факторных координатах, без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повторного сбора досье и оценивания.</a:t>
            </a:r>
          </a:p>
        </p:txBody>
      </p:sp>
    </p:spTree>
    <p:extLst>
      <p:ext uri="{BB962C8B-B14F-4D97-AF65-F5344CB8AC3E}">
        <p14:creationId xmlns:p14="http://schemas.microsoft.com/office/powerpoint/2010/main" val="187485685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CDD64176-EAFB-4683-883B-DB3710603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"/>
            <a:ext cx="1089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C1 Институциональная поддержка курса и партийная централизация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D0155B16-B26D-4686-BD88-95560D0F3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919E6373-B0FD-4747-A67A-1E2D00E7F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66F73"/>
                </a:solidFill>
                <a:latin typeface="Arial"/>
                <a:ea typeface="Arial"/>
                <a:cs typeface="Arial"/>
              </a:rPr>
              <a:t>40 объектов (63,5% выборки)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1DAE9C8F-BAE7-47BA-B1FA-66BAF72DC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05000"/>
            <a:ext cx="108204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Общность этой группы определяется устойчивой поддержкой действующей федеральной власти, акцентом на продолжении военных действий, институциональной работой через парламентские процедуры и партийной организацией.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8B18F66C-7A4D-4361-8B2E-A8B994EF1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38525"/>
            <a:ext cx="52863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Состав группы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B75EEEF6-D36A-4E29-BF89-06A11D616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14775"/>
            <a:ext cx="5286375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Михаил Дегтярёв</a:t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Нина Останина</a:t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Сергей Аксёнов</a:t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Леонид Слуцкий</a:t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Геннадий Зюганов</a:t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Владимир Путин</a:t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Дмитрий Медведев</a:t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Михаил Мишустин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CE18A260-2C5D-4686-B7C4-ECADDF327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438525"/>
            <a:ext cx="5000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Отличия от среднего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54477447-7E1B-47C6-8290-0B04ACD0D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914775"/>
            <a:ext cx="5000625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Публичная критика действующей…</a:t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-0,64 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Публичные призывы прекратить…</a:t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-0,57 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Изменения через действующие…</a:t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+0,56 σ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1B701E4C-934E-42D4-B17F-C085FAA38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81700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Показаны 8 участников, представители центра идут первыми. Ещё 32 объектов приведены в полном отчёте.</a:t>
            </a:r>
          </a:p>
        </p:txBody>
      </p:sp>
    </p:spTree>
    <p:extLst>
      <p:ext uri="{BB962C8B-B14F-4D97-AF65-F5344CB8AC3E}">
        <p14:creationId xmlns:p14="http://schemas.microsoft.com/office/powerpoint/2010/main" val="77365247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98BE3F3D-CE1F-4B29-9B78-080CFC7BD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"/>
            <a:ext cx="1089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C2 Антивоенная оппозиция и электоральная легитимность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1CBE5CA8-6114-43B8-89E9-5028CA15E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759DFAEE-3E37-487A-B9E6-CBD841DCF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66F73"/>
                </a:solidFill>
                <a:latin typeface="Arial"/>
                <a:ea typeface="Arial"/>
                <a:cs typeface="Arial"/>
              </a:rPr>
              <a:t>15 объектов (23,8% выборки)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48EB9561-E4C7-42C5-81BD-688D193CA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05000"/>
            <a:ext cx="108204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Группа объединяет публичные образы с выраженной критикой действующей власти, антивоенной риторикой, акцентом на конкурентных выборах, поддержкой международной интеграции, универсальных прав и децентрализации.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31F507D2-043C-4C11-8CD2-F40005CB2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38525"/>
            <a:ext cx="52863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Состав группы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CA81346E-B891-4597-99A9-80B70A66E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14775"/>
            <a:ext cx="5286375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Михаил Ходорковский</a:t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Владимир Кара-Мурза</a:t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Леонид Гозман</a:t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Илья Яшин</a:t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Владимир Милов</a:t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Евгений Ройзман</a:t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Алексей Навальный</a:t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Григорий Явлинский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162B305C-1103-43F7-A3C2-E6169A5AC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438525"/>
            <a:ext cx="5000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Отличия от среднего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BA8D4AE8-7F22-450E-9B79-B775CA879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914775"/>
            <a:ext cx="5000625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Суверенная самостоятельность и…</a:t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-1,74 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Особые интересы национальной…</a:t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-1,67 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Единая вертикаль и концентрация…</a:t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-1,61 σ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EE65D541-64BB-4D85-BA47-4A55687A7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81700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Показаны 8 участников, представители центра идут первыми. Ещё 7 объектов приведены в полном отчёте.</a:t>
            </a:r>
          </a:p>
        </p:txBody>
      </p:sp>
    </p:spTree>
    <p:extLst>
      <p:ext uri="{BB962C8B-B14F-4D97-AF65-F5344CB8AC3E}">
        <p14:creationId xmlns:p14="http://schemas.microsoft.com/office/powerpoint/2010/main" val="122688206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0C35CEA1-43FD-49F4-98CC-61E933CE8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"/>
            <a:ext cx="1089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C3 Конфронтационная мобилизация и персонализация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1B3FBD45-A1D0-4E69-958D-759E88E23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33B7A94C-56A8-41F6-84E9-D41485135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66F7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66F73"/>
                </a:solidFill>
                <a:latin typeface="Arial"/>
                <a:ea typeface="Arial"/>
                <a:cs typeface="Arial"/>
              </a:rPr>
              <a:t>8 объектов (12,7% выборки)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5F4880A9-6824-48E3-8A2E-04C7E1DF1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05000"/>
            <a:ext cx="108204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Группа характеризуется выраженной конфронтационной риторикой, мобилизационными призывами, персонализированным стилем публичности и протестной стратегией. Здесь преобладают образы, строящиеся на личном бренде, лозунговой простоте, акценте на национальной идентичности и внеинституциональных формах действия.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98356777-B5AE-4C0F-844A-EC08FFF40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38525"/>
            <a:ext cx="52863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Состав группы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25B3D1AC-E9E9-45A3-B581-7DC3C27E0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14775"/>
            <a:ext cx="5286375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Эдуард Лимонов</a:t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Игорь Стрелков (Гиркин)</a:t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Владимир Жириновский</a:t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Захар Прилепин</a:t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Евгений Пригожин</a:t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Рамзан Кадыров</a:t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Илья Пономарёв</a:t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Сергей Удальцов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317C7E71-781F-40B2-AAE0-32A4AA883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438525"/>
            <a:ext cx="5000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Отличия от среднего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5E7C0CD8-4AC5-4C54-9CDE-3BC64BCCC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914775"/>
            <a:ext cx="5000625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Конфронтационная полемика и…</a:t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+1,49 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Призывы к единению, дисциплине и…</a:t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+1,33 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Личный бренд и обращение от…</a:t>
            </a:r>
          </a:p>
          <a:p xmlns:a="http://schemas.openxmlformats.org/drawingml/2006/main">
            <a:pPr algn="l">
              <a:defRPr sz="15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+1,31 σ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221A92EA-361A-4505-A03C-8F9013F87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81700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Показан полный состав группы, представители центра идут первыми. Основания и пограничные профили приведены в отчёте.</a:t>
            </a:r>
          </a:p>
        </p:txBody>
      </p:sp>
    </p:spTree>
    <p:extLst>
      <p:ext uri="{BB962C8B-B14F-4D97-AF65-F5344CB8AC3E}">
        <p14:creationId xmlns:p14="http://schemas.microsoft.com/office/powerpoint/2010/main" val="23544646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A7C63D9F-58B8-4FC2-8CF4-99DAE432D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"/>
            <a:ext cx="1089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Интерпретация изученного пространства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7D52109F-4E82-4569-A8BB-6E716FAE8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3CB11218-08F9-40D4-9D6B-24300935D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43050"/>
            <a:ext cx="1082040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Рассчитанное пространство публичных политических образов российских политиков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и заметных акторов за 2016–2026 годы структурировано по двум главным осям: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первая противопоставляет антивоенную, оппозиционную и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электорально-легитимистскую риторику — антизападной мобилизации, суверенитету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и поддержке административного порядка; вторая различает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институционально-коллективные и партийные стратегии — и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конфронтационно-персонализированные, протестные стили публичности.</a:t>
            </a:r>
          </a:p>
        </p:txBody>
      </p:sp>
    </p:spTree>
    <p:extLst>
      <p:ext uri="{BB962C8B-B14F-4D97-AF65-F5344CB8AC3E}">
        <p14:creationId xmlns:p14="http://schemas.microsoft.com/office/powerpoint/2010/main" val="83019085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95DC2DD6-CF8E-498E-A47D-03850803A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"/>
            <a:ext cx="1089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Интерпретация изученного пространства (продолжение)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C842015F-8D2D-4055-8244-5F93EF6F4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8E22DBC9-27F4-4015-9B98-0B282BE6D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43050"/>
            <a:ext cx="1082040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Выделено три кластера, для которых проверена устойчивость при фиксированных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факторных координатах: группа институциональной поддержки курса и партийной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централизации, антивоенная оппозиция с акцентом на электоральную легитимность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и международную интеграцию, а также конфронтационная мобилизация с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персонализированным стилем и протестной стратегией. Основные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противопоставления проходят по линиям отношения к власти, способам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легитимации, формам публичной риторики и организационной структуре.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Модель позволяет выявить устойчивые сочетания публичных позиций, риторических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акцентов и стратегий действия, но не устанавливает причинно-следственных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связей между ними. Она не даёт оснований для выводов о личных свойствах,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электоральной поддержке или мотивах участников, а также не позволяет судить о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распространённости тех или иных позиций в обществе в целом.</a:t>
            </a:r>
          </a:p>
        </p:txBody>
      </p:sp>
    </p:spTree>
    <p:extLst>
      <p:ext uri="{BB962C8B-B14F-4D97-AF65-F5344CB8AC3E}">
        <p14:creationId xmlns:p14="http://schemas.microsoft.com/office/powerpoint/2010/main" val="182222864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4397AD48-4DEA-4D52-876E-B3ED85675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"/>
            <a:ext cx="1089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Интерпретация изученного пространства (продолжение)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C98A0E3B-DF1C-4587-9703-6B20E965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506A91CE-6469-442B-917A-8EE98AE44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43050"/>
            <a:ext cx="1082040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Ограничения анализа связаны с разведочным характером исследования,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приближённостью линейной факторной модели к порядковым оценкам и условностью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кластеризации. Группы могут возникать и в непрерывном пространстве, а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устойчивость кластеров не гарантирует полноты охвата всех возможных публичных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стратегий.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Интерпретация опирается только на реально выраженные и агрегированные свойства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публичных образов, без привязки к партийным ярлыкам или именам. Не все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возможные сочетания представлены в выборке, и модель не фиксирует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статистическую значимость различий или их причинность.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Пограничных профилей: 3 из 63. Их свойства могут сочетать признаки нескольких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групп.</a:t>
            </a:r>
          </a:p>
        </p:txBody>
      </p:sp>
    </p:spTree>
    <p:extLst>
      <p:ext uri="{BB962C8B-B14F-4D97-AF65-F5344CB8AC3E}">
        <p14:creationId xmlns:p14="http://schemas.microsoft.com/office/powerpoint/2010/main" val="2032121161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69B8A10C-4D9B-48B2-ABE1-672316171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"/>
            <a:ext cx="1089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Интерпретация изученного пространства (продолжение)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A7B81309-F3A1-4294-8A30-55230667E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B3589B34-1F67-42B3-BACA-094FB3D79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43050"/>
            <a:ext cx="1082040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Незаполненный сектор означает отсутствие такого профиля в выбранной выборке и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корпусе. Международное сравнение требует единого словаря и сопоставимого</a:t>
            </a:r>
          </a:p>
          <a:p xmlns:a="http://schemas.openxmlformats.org/drawingml/2006/main">
            <a:pPr algn="l">
              <a:defRPr sz="1875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отбора.</a:t>
            </a:r>
          </a:p>
        </p:txBody>
      </p:sp>
    </p:spTree>
    <p:extLst>
      <p:ext uri="{BB962C8B-B14F-4D97-AF65-F5344CB8AC3E}">
        <p14:creationId xmlns:p14="http://schemas.microsoft.com/office/powerpoint/2010/main" val="72609010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A730748A-9233-492D-B7E2-3788B0B1D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"/>
            <a:ext cx="1089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32126"/>
                </a:solidFill>
                <a:latin typeface="Arial"/>
                <a:ea typeface="Arial"/>
                <a:cs typeface="Arial"/>
              </a:rPr>
              <a:t>Ограничения и следующая проверка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3CA93980-9E31-4A97-8C8A-477F9F8D6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5664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6646D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998B0E3D-D96E-4BEE-928E-AE0F34660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668000" cy="6092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Число факторов и групп остаётся исследовательским решением. Содержательная интерпретация дополняет численные критерии.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05C99C15-413C-4AB4-AA92-55E283442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244"/>
            <a:ext cx="10668000" cy="6092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Оценки LLM отражают модель публичного образа в источниках. Они требуют сравнения с независимыми человеческими оценками.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63596FB7-69F4-43FA-80E3-445326312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99638"/>
            <a:ext cx="10668000" cy="6092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Сходство партий или политиков не устанавливает общность реального электората. Частоты объектов в выборке не являются долями населения.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0C116BAD-3785-4150-98D8-429DC8A2E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66032"/>
            <a:ext cx="10668000" cy="6092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132126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32126"/>
                </a:solidFill>
                <a:latin typeface="Arial"/>
                <a:ea typeface="Arial"/>
                <a:cs typeface="Arial"/>
              </a:rPr>
              <a:t>Следующая проверка: новые объекты, иной корпус и независимые оценщики при фиксированных шкалах и параметрах проекции.</a:t>
            </a:r>
          </a:p>
        </p:txBody>
      </p:sp>
    </p:spTree>
    <p:extLst>
      <p:ext uri="{BB962C8B-B14F-4D97-AF65-F5344CB8AC3E}">
        <p14:creationId xmlns:p14="http://schemas.microsoft.com/office/powerpoint/2010/main" val="82181370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2026-10-14T22:20:26.2130000Z</dcterms:created>
  <dcterms:modified xsi:type="dcterms:W3CDTF">2026-10-14T22:20:26.2130000Z</dcterms:modified>
</coreProperties>
</file>