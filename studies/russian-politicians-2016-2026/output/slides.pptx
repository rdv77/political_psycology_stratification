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c7f74c72af41f1" /><Relationship Type="http://schemas.openxmlformats.org/officeDocument/2006/relationships/extended-properties" Target="/docProps/app.xml" Id="Rd2dc6918bb86400a" /><Relationship Type="http://schemas.openxmlformats.org/officeDocument/2006/relationships/officeDocument" Target="/ppt/presentation.xml" Id="R2348b6fdffa6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21dc2db6e4cf9"/>
  </p:sldMasterIdLst>
  <p:notesMasterIdLst>
    <p:notesMasterId xmlns:r="http://schemas.openxmlformats.org/officeDocument/2006/relationships" r:id="R88d2a14f4ef94128"/>
  </p:notesMasterIdLst>
  <p:sldIdLst>
    <p:sldId xmlns:r="http://schemas.openxmlformats.org/officeDocument/2006/relationships" id="256" r:id="R5ddf13f9badd4390"/>
    <p:sldId xmlns:r="http://schemas.openxmlformats.org/officeDocument/2006/relationships" id="257" r:id="R4fc2205c62674325"/>
    <p:sldId xmlns:r="http://schemas.openxmlformats.org/officeDocument/2006/relationships" id="258" r:id="R73b9d5204eae4dc1"/>
    <p:sldId xmlns:r="http://schemas.openxmlformats.org/officeDocument/2006/relationships" id="259" r:id="R6a8de5724ff04406"/>
    <p:sldId xmlns:r="http://schemas.openxmlformats.org/officeDocument/2006/relationships" id="260" r:id="R3b12165929394406"/>
    <p:sldId xmlns:r="http://schemas.openxmlformats.org/officeDocument/2006/relationships" id="261" r:id="R4bfd0e145cc641da"/>
    <p:sldId xmlns:r="http://schemas.openxmlformats.org/officeDocument/2006/relationships" id="262" r:id="R7be9c73e8594499f"/>
    <p:sldId xmlns:r="http://schemas.openxmlformats.org/officeDocument/2006/relationships" id="263" r:id="Rdb2c875eb4ba4189"/>
    <p:sldId xmlns:r="http://schemas.openxmlformats.org/officeDocument/2006/relationships" id="264" r:id="R6fe9144d7e8b437b"/>
    <p:sldId xmlns:r="http://schemas.openxmlformats.org/officeDocument/2006/relationships" id="265" r:id="R74c57390704f4871"/>
    <p:sldId xmlns:r="http://schemas.openxmlformats.org/officeDocument/2006/relationships" id="266" r:id="R4c60187ab6ba4d52"/>
    <p:sldId xmlns:r="http://schemas.openxmlformats.org/officeDocument/2006/relationships" id="267" r:id="Rc793fc9d7d3e47c3"/>
    <p:sldId xmlns:r="http://schemas.openxmlformats.org/officeDocument/2006/relationships" id="268" r:id="Ra5d51eec692e4a48"/>
    <p:sldId xmlns:r="http://schemas.openxmlformats.org/officeDocument/2006/relationships" id="269" r:id="Rcff3bc2b2b6b4fad"/>
    <p:sldId xmlns:r="http://schemas.openxmlformats.org/officeDocument/2006/relationships" id="270" r:id="R3baa8444ace3404f"/>
    <p:sldId xmlns:r="http://schemas.openxmlformats.org/officeDocument/2006/relationships" id="271" r:id="Re55b60fde7874603"/>
    <p:sldId xmlns:r="http://schemas.openxmlformats.org/officeDocument/2006/relationships" id="272" r:id="R19b1c986b9934266"/>
    <p:sldId xmlns:r="http://schemas.openxmlformats.org/officeDocument/2006/relationships" id="273" r:id="R21c84fd46f4c40a1"/>
    <p:sldId xmlns:r="http://schemas.openxmlformats.org/officeDocument/2006/relationships" id="274" r:id="R38e3226f34164a6b"/>
    <p:sldId xmlns:r="http://schemas.openxmlformats.org/officeDocument/2006/relationships" id="275" r:id="Rfe86b8ab090f464c"/>
    <p:sldId xmlns:r="http://schemas.openxmlformats.org/officeDocument/2006/relationships" id="276" r:id="Rcfb93fa2b7724d1b"/>
    <p:sldId xmlns:r="http://schemas.openxmlformats.org/officeDocument/2006/relationships" id="277" r:id="Rb15fb91ba18747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3110e1bc448ce" /><Relationship Type="http://schemas.openxmlformats.org/officeDocument/2006/relationships/slideMaster" Target="/ppt/slideMasters/slideMaster1.xml" Id="Rc8d21dc2db6e4cf9" /><Relationship Type="http://schemas.openxmlformats.org/officeDocument/2006/relationships/notesMaster" Target="/ppt/notesMasters/notesMaster1.xml" Id="R88d2a14f4ef94128" /><Relationship Type="http://schemas.openxmlformats.org/officeDocument/2006/relationships/presProps" Target="/ppt/presProps.xml" Id="R57f96caf82bf47ed" /><Relationship Type="http://schemas.openxmlformats.org/officeDocument/2006/relationships/tableStyles" Target="/ppt/tableStyles.xml" Id="Rb74564cf40d340d2" /><Relationship Type="http://schemas.openxmlformats.org/officeDocument/2006/relationships/slide" Target="/ppt/slides/slide1.xml" Id="R5ddf13f9badd4390" /><Relationship Type="http://schemas.openxmlformats.org/officeDocument/2006/relationships/slide" Target="/ppt/slides/slide2.xml" Id="R4fc2205c62674325" /><Relationship Type="http://schemas.openxmlformats.org/officeDocument/2006/relationships/slide" Target="/ppt/slides/slide3.xml" Id="R73b9d5204eae4dc1" /><Relationship Type="http://schemas.openxmlformats.org/officeDocument/2006/relationships/slide" Target="/ppt/slides/slide4.xml" Id="R6a8de5724ff04406" /><Relationship Type="http://schemas.openxmlformats.org/officeDocument/2006/relationships/slide" Target="/ppt/slides/slide5.xml" Id="R3b12165929394406" /><Relationship Type="http://schemas.openxmlformats.org/officeDocument/2006/relationships/slide" Target="/ppt/slides/slide6.xml" Id="R4bfd0e145cc641da" /><Relationship Type="http://schemas.openxmlformats.org/officeDocument/2006/relationships/slide" Target="/ppt/slides/slide7.xml" Id="R7be9c73e8594499f" /><Relationship Type="http://schemas.openxmlformats.org/officeDocument/2006/relationships/slide" Target="/ppt/slides/slide8.xml" Id="Rdb2c875eb4ba4189" /><Relationship Type="http://schemas.openxmlformats.org/officeDocument/2006/relationships/slide" Target="/ppt/slides/slide9.xml" Id="R6fe9144d7e8b437b" /><Relationship Type="http://schemas.openxmlformats.org/officeDocument/2006/relationships/slide" Target="/ppt/slides/slide10.xml" Id="R74c57390704f4871" /><Relationship Type="http://schemas.openxmlformats.org/officeDocument/2006/relationships/slide" Target="/ppt/slides/slide11.xml" Id="R4c60187ab6ba4d52" /><Relationship Type="http://schemas.openxmlformats.org/officeDocument/2006/relationships/slide" Target="/ppt/slides/slide12.xml" Id="Rc793fc9d7d3e47c3" /><Relationship Type="http://schemas.openxmlformats.org/officeDocument/2006/relationships/slide" Target="/ppt/slides/slide13.xml" Id="Ra5d51eec692e4a48" /><Relationship Type="http://schemas.openxmlformats.org/officeDocument/2006/relationships/slide" Target="/ppt/slides/slide14.xml" Id="Rcff3bc2b2b6b4fad" /><Relationship Type="http://schemas.openxmlformats.org/officeDocument/2006/relationships/slide" Target="/ppt/slides/slide15.xml" Id="R3baa8444ace3404f" /><Relationship Type="http://schemas.openxmlformats.org/officeDocument/2006/relationships/slide" Target="/ppt/slides/slide16.xml" Id="Re55b60fde7874603" /><Relationship Type="http://schemas.openxmlformats.org/officeDocument/2006/relationships/slide" Target="/ppt/slides/slide17.xml" Id="R19b1c986b9934266" /><Relationship Type="http://schemas.openxmlformats.org/officeDocument/2006/relationships/slide" Target="/ppt/slides/slide18.xml" Id="R21c84fd46f4c40a1" /><Relationship Type="http://schemas.openxmlformats.org/officeDocument/2006/relationships/slide" Target="/ppt/slides/slide19.xml" Id="R38e3226f34164a6b" /><Relationship Type="http://schemas.openxmlformats.org/officeDocument/2006/relationships/slide" Target="/ppt/slides/slide20.xml" Id="Rfe86b8ab090f464c" /><Relationship Type="http://schemas.openxmlformats.org/officeDocument/2006/relationships/slide" Target="/ppt/slides/slide21.xml" Id="Rcfb93fa2b7724d1b" /><Relationship Type="http://schemas.openxmlformats.org/officeDocument/2006/relationships/slide" Target="/ppt/slides/slide22.xml" Id="Rb15fb91ba187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72c1f3621e42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210752e0c4d97" /><Relationship Type="http://schemas.openxmlformats.org/officeDocument/2006/relationships/notesMaster" Target="/ppt/notesMasters/notesMaster1.xml" Id="Rd1ef015dc74f4e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f83511d2184bb3" /><Relationship Type="http://schemas.openxmlformats.org/officeDocument/2006/relationships/notesMaster" Target="/ppt/notesMasters/notesMaster1.xml" Id="Rc30fe2f9fb87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619299e26d45d7" /><Relationship Type="http://schemas.openxmlformats.org/officeDocument/2006/relationships/notesMaster" Target="/ppt/notesMasters/notesMaster1.xml" Id="R71b0f043be39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bf5a6d946d4ad1" /><Relationship Type="http://schemas.openxmlformats.org/officeDocument/2006/relationships/notesMaster" Target="/ppt/notesMasters/notesMaster1.xml" Id="R7714f5e512e94c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c91a3feed4d98" /><Relationship Type="http://schemas.openxmlformats.org/officeDocument/2006/relationships/notesMaster" Target="/ppt/notesMasters/notesMaster1.xml" Id="R9e854f2f47c349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c76fc856c94719" /><Relationship Type="http://schemas.openxmlformats.org/officeDocument/2006/relationships/notesMaster" Target="/ppt/notesMasters/notesMaster1.xml" Id="Rac73bff115d543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1d8ffbe9f3452d" /><Relationship Type="http://schemas.openxmlformats.org/officeDocument/2006/relationships/notesMaster" Target="/ppt/notesMasters/notesMaster1.xml" Id="R8e820ccdf9ab4f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1a074cacc34564" /><Relationship Type="http://schemas.openxmlformats.org/officeDocument/2006/relationships/notesMaster" Target="/ppt/notesMasters/notesMaster1.xml" Id="R524d929a17e94f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8b531d5a9d42bf" /><Relationship Type="http://schemas.openxmlformats.org/officeDocument/2006/relationships/notesMaster" Target="/ppt/notesMasters/notesMaster1.xml" Id="R715263f1b0414c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7fc3583878424b" /><Relationship Type="http://schemas.openxmlformats.org/officeDocument/2006/relationships/notesMaster" Target="/ppt/notesMasters/notesMaster1.xml" Id="Rc8ba9d0bf37b43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3918b5c924d04" /><Relationship Type="http://schemas.openxmlformats.org/officeDocument/2006/relationships/notesMaster" Target="/ppt/notesMasters/notesMaster1.xml" Id="Re7b52a46d34f48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11608f089b4972" /><Relationship Type="http://schemas.openxmlformats.org/officeDocument/2006/relationships/notesMaster" Target="/ppt/notesMasters/notesMaster1.xml" Id="Rf03e332ec07c44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87f0cd151b45b2" /><Relationship Type="http://schemas.openxmlformats.org/officeDocument/2006/relationships/notesMaster" Target="/ppt/notesMasters/notesMaster1.xml" Id="Re3d56750191e44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460b286e4748c7" /><Relationship Type="http://schemas.openxmlformats.org/officeDocument/2006/relationships/notesMaster" Target="/ppt/notesMasters/notesMaster1.xml" Id="R5c618f2174e04a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031285ba20461c" /><Relationship Type="http://schemas.openxmlformats.org/officeDocument/2006/relationships/notesMaster" Target="/ppt/notesMasters/notesMaster1.xml" Id="R0dd008c2666f44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422b3de7244b3b" /><Relationship Type="http://schemas.openxmlformats.org/officeDocument/2006/relationships/notesMaster" Target="/ppt/notesMasters/notesMaster1.xml" Id="R7014516ded0d44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e4512a70f24b41" /><Relationship Type="http://schemas.openxmlformats.org/officeDocument/2006/relationships/notesMaster" Target="/ppt/notesMasters/notesMaster1.xml" Id="R3d2a044f5c1f4c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3b4b12e2c445b9" /><Relationship Type="http://schemas.openxmlformats.org/officeDocument/2006/relationships/notesMaster" Target="/ppt/notesMasters/notesMaster1.xml" Id="R7d48a0f648ae44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b214292ae24483" /><Relationship Type="http://schemas.openxmlformats.org/officeDocument/2006/relationships/notesMaster" Target="/ppt/notesMasters/notesMaster1.xml" Id="R45c32f6eb4534b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a78c2a5b504cce" /><Relationship Type="http://schemas.openxmlformats.org/officeDocument/2006/relationships/notesMaster" Target="/ppt/notesMasters/notesMaster1.xml" Id="R2cc9bd5a6ee943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915d92a3604c47" /><Relationship Type="http://schemas.openxmlformats.org/officeDocument/2006/relationships/notesMaster" Target="/ppt/notesMasters/notesMaster1.xml" Id="R307ec824e0a74c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612e9747cc4472" /><Relationship Type="http://schemas.openxmlformats.org/officeDocument/2006/relationships/notesMaster" Target="/ppt/notesMasters/notesMaster1.xml" Id="R08201ddc89224b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Каждая точка — смысловая шкала, подписанная её первым полюсом: например, «Противостояние Западу». Положение показывает связь этого признака с двумя осями. По горизонтали различаются мир и интеграция, с одной стороны, противостояние и мобилизация — с другой. По вертикали различаются персональная конфронтация и действие через институты. Противоположный полюс каждой шкалы читается в обратном направлении.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Близкие точки означают похожее сочетание акцентов на этих двух осях. Точки по разные стороны центра вдоль одной оси связаны с противоположными направлениями. Так можно увидеть, какие признаки в изученных публичных образах часто образуют общий смысловой рисунок; соседство не делает слова синонимами.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плоскости видны только две из четырёх осей. Шкалы могут оказаться рядом здесь и сильно различаться на другой карте. Точка около центра также не означает, что свойство неважно: оно может быть связано с другими осями.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Каждая точка — смысловая шкала, подписанная её первым полюсом: например, «Противостояние Западу». Положение показывает связь этого признака с двумя осями. По горизонтали различаются мир и интеграция, с одной стороны, противостояние и мобилизация — с другой. По вертикали различаются персональная конфронтация и действие через институты. Противоположный полюс каждой шкалы читается в обратном направлении.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Близкие точки означают похожее сочетание акцентов на этих двух осях. Точки по разные стороны центра вдоль одной оси связаны с противоположными направлениями. Так можно увидеть, какие признаки в изученных публичных образах часто образуют общий смысловой рисунок; соседство не делает слова синонимами.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плоскости видны только две из четырёх осей. Шкалы могут оказаться рядом здесь и сильно различаться на другой карте. Точка около центра также не означает, что свойство неважно: оно может быть связано с другими осями.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этом пространстве различаются внешнеполитические акценты, способы политического действия, распределение власти и публичное обоснование программы. Группы показывают повторяющиеся сочетания этих свойств в образах изученных участников.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Похожий способ действия может сочетаться с противоположными внешнеполитическими акцентами. Институциональная конкуренция и персональная конфронтация образуют разные сочетания публичных свойств.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Общность профиля показывает сходство публичных акцентов. Политические программы и отношение к действующей власти внутри группы могут различаться.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Публичные образы участников исследования.</a:t>
            </a:r>
          </a:p>
          <a:p xmlns:a="http://schemas.openxmlformats.org/drawingml/2006/main">
            <a:r>
              <a:t>Изучаемое пространство: Публичный политический образ российских политиков и иных заметных политических акторов, включая деятелей за рубежом, активных хотя бы в части периода. Не рейтинг популярности..</a:t>
            </a:r>
          </a:p>
          <a:p xmlns:a="http://schemas.openxmlformats.org/drawingml/2006/main">
            <a:r>
              <a:t>Оценщик: llm_exploratory.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>https://kremlin.ru/structure/president</a:t>
            </a:r>
          </a:p>
          <a:p xmlns:a="http://schemas.openxmlformats.org/drawingml/2006/main">
            <a:r>
              <a:t>http://www.special.kremlin.ru/events/president/transcripts/67843</a:t>
            </a:r>
          </a:p>
          <a:p xmlns:a="http://schemas.openxmlformats.org/drawingml/2006/main">
            <a:r>
              <a:t>http://en.kremlin.ru/events/president/news/70315</a:t>
            </a:r>
          </a:p>
          <a:p xmlns:a="http://schemas.openxmlformats.org/drawingml/2006/main">
            <a:r>
              <a:t>http://special.kremlin.ru/events/president/transcripts/70565</a:t>
            </a:r>
          </a:p>
          <a:p xmlns:a="http://schemas.openxmlformats.org/drawingml/2006/main">
            <a:r>
              <a:t>http://special.kremlin.ru/events/president/transcripts/72994</a:t>
            </a:r>
          </a:p>
          <a:p xmlns:a="http://schemas.openxmlformats.org/drawingml/2006/main">
            <a:r>
              <a:t>http://kremlin.ru/events/president/news/73585</a:t>
            </a:r>
          </a:p>
          <a:p xmlns:a="http://schemas.openxmlformats.org/drawingml/2006/main">
            <a:r>
              <a:t>http://special.kremlin.ru/events/president/transcripts/75762</a:t>
            </a:r>
          </a:p>
          <a:p xmlns:a="http://schemas.openxmlformats.org/drawingml/2006/main">
            <a:r>
              <a:t>http://www.special.kremlin.ru/events/president/transcripts/76899</a:t>
            </a:r>
          </a:p>
          <a:p xmlns:a="http://schemas.openxmlformats.org/drawingml/2006/main">
            <a:r>
              <a:t>http://special.kremlin.ru/events/president/transcripts/80017</a:t>
            </a:r>
          </a:p>
          <a:p xmlns:a="http://schemas.openxmlformats.org/drawingml/2006/main">
            <a:r>
              <a:t>http://www.special.kremlin.ru/events/president/transcripts/72084</a:t>
            </a:r>
          </a:p>
          <a:p xmlns:a="http://schemas.openxmlformats.org/drawingml/2006/main">
            <a:r>
              <a:t>http://www.special.kremlin.ru/events/president/transcripts/80172</a:t>
            </a:r>
          </a:p>
          <a:p xmlns:a="http://schemas.openxmlformats.org/drawingml/2006/main">
            <a:r>
              <a:t>https://www.diva-portal.org/smash/get/diva2:2035197/FULLTEXT01.pdf</a:t>
            </a:r>
          </a:p>
          <a:p xmlns:a="http://schemas.openxmlformats.org/drawingml/2006/main">
            <a:r>
              <a:t>https://www.reuters.com/world/what-know-about-russias-upcoming-parliamentary-election-2026-09-15/</a:t>
            </a:r>
          </a:p>
          <a:p xmlns:a="http://schemas.openxmlformats.org/drawingml/2006/main">
            <a:r>
              <a:t>https://www.reuters.com/world/europe/how-putin-may-leverage-predictable-outcome-russias-elections-2026-09-18/</a:t>
            </a:r>
          </a:p>
          <a:p xmlns:a="http://schemas.openxmlformats.org/drawingml/2006/main">
            <a:r>
              <a:t>https://ru.wikipedia.org/wiki/Медведев,_Дмитрий_Анатольевич</a:t>
            </a:r>
          </a:p>
          <a:p xmlns:a="http://schemas.openxmlformats.org/drawingml/2006/main">
            <a:r>
              <a:t>https://tass.ru/ekonomika/3941450</a:t>
            </a:r>
          </a:p>
          <a:p xmlns:a="http://schemas.openxmlformats.org/drawingml/2006/main">
            <a:r>
              <a:t>http://archive.government.ru/docs/21653/print/</a:t>
            </a:r>
          </a:p>
          <a:p xmlns:a="http://schemas.openxmlformats.org/drawingml/2006/main">
            <a:r>
              <a:t>https://netfreedom.org.ua/ru/dmytro-anatoliiovych-medvediev-biohrafiia-posady-i-sanktsii/</a:t>
            </a:r>
          </a:p>
          <a:p xmlns:a="http://schemas.openxmlformats.org/drawingml/2006/main">
            <a:r>
              <a:t>https://verstka.media/czeli-svo-kak-kreml-menyal-ih-na-protyazhenii-tryoh-let-vojny</a:t>
            </a:r>
          </a:p>
          <a:p xmlns:a="http://schemas.openxmlformats.org/drawingml/2006/main">
            <a:r>
              <a:t>http://www.scrf.gov.ru/news/allnews/3820/</a:t>
            </a:r>
          </a:p>
          <a:p xmlns:a="http://schemas.openxmlformats.org/drawingml/2006/main">
            <a:r>
              <a:t>http://scrf.gov.ru/news/allnews/3837/</a:t>
            </a:r>
          </a:p>
          <a:p xmlns:a="http://schemas.openxmlformats.org/drawingml/2006/main">
            <a:r>
              <a:t>https://baike.baidu.com/ru/item/%D0%94%D0%BC%D0%B8%D1%82%D1%80%D0%B8%D0%B9%20%D0%90%D0%BD%D0%B0%D1%82%D0%BE%D0%BB%D1%8C%D0%B5%D0%B2%D0%B8%D1%87%20%D0%9C%D0%B5%D0%B4%D0%B2%D0%B5%D0%B4%D0%B5%D0%B2/3254451</a:t>
            </a:r>
          </a:p>
          <a:p xmlns:a="http://schemas.openxmlformats.org/drawingml/2006/main">
            <a:r>
              <a:t>https://tass.ru/politika/5889577</a:t>
            </a:r>
          </a:p>
          <a:p xmlns:a="http://schemas.openxmlformats.org/drawingml/2006/main">
            <a:r>
              <a:t>https://meduza.io/feature/2023/06/26/chto-proizoshlo-s-dmitriem-medvedevym</a:t>
            </a:r>
          </a:p>
          <a:p xmlns:a="http://schemas.openxmlformats.org/drawingml/2006/main">
            <a:r>
              <a:t>https://www.bbc.com/russian/articles/c6evw7d22lv0o</a:t>
            </a:r>
          </a:p>
          <a:p xmlns:a="http://schemas.openxmlformats.org/drawingml/2006/main">
            <a:r>
              <a:t>https://er.ru/activity/news/dmitrij-medvedev-edinaya-rossiya-ne-dopustit-razrusheniya-cennostnyh-osnov-strany</a:t>
            </a:r>
          </a:p>
          <a:p xmlns:a="http://schemas.openxmlformats.org/drawingml/2006/main">
            <a:r>
              <a:t>https://en.wikipedia.org/wiki/Media_freedom_in_Russia</a:t>
            </a:r>
          </a:p>
          <a:p xmlns:a="http://schemas.openxmlformats.org/drawingml/2006/main">
            <a:r>
              <a:t>https://government.ru/gov/persons/151/travel/?area=KHA</a:t>
            </a:r>
          </a:p>
          <a:p xmlns:a="http://schemas.openxmlformats.org/drawingml/2006/main">
            <a:r>
              <a:t>http://government.ru/gov/persons/151/biography/</a:t>
            </a:r>
          </a:p>
          <a:p xmlns:a="http://schemas.openxmlformats.org/drawingml/2006/main">
            <a:r>
              <a:t>https://www.reuters.com/world/europe/who-is-russias-mikhail-mishustin-2024-05-10/</a:t>
            </a:r>
          </a:p>
          <a:p xmlns:a="http://schemas.openxmlformats.org/drawingml/2006/main">
            <a:r>
              <a:t>https://www.kommersant.ru/doc/4220798</a:t>
            </a:r>
          </a:p>
          <a:p xmlns:a="http://schemas.openxmlformats.org/drawingml/2006/main">
            <a:r>
              <a:t>https://www.vedomosti.ru/politics/galleries/2026/03/03/1179718-nalogi-pod-kontrolem</a:t>
            </a:r>
          </a:p>
          <a:p xmlns:a="http://schemas.openxmlformats.org/drawingml/2006/main">
            <a:r>
              <a:t>http://government.ru/gov/persons/151/travel/?page=5</a:t>
            </a:r>
          </a:p>
          <a:p xmlns:a="http://schemas.openxmlformats.org/drawingml/2006/main">
            <a:r>
              <a:t>http://government.ru/news/46476/</a:t>
            </a:r>
          </a:p>
          <a:p xmlns:a="http://schemas.openxmlformats.org/drawingml/2006/main">
            <a:r>
              <a:t>http://government.ru/news/52063/</a:t>
            </a:r>
          </a:p>
          <a:p xmlns:a="http://schemas.openxmlformats.org/drawingml/2006/main">
            <a:r>
              <a:t>http://government.ru/news/52851/</a:t>
            </a:r>
          </a:p>
          <a:p xmlns:a="http://schemas.openxmlformats.org/drawingml/2006/main">
            <a:r>
              <a:t>https://nangs.org/news/society/kabmin-privlek-otdelnye-gosorgany-k-ukrepleniyu-traditsionnykh-tsennostej</a:t>
            </a:r>
          </a:p>
          <a:p xmlns:a="http://schemas.openxmlformats.org/drawingml/2006/main">
            <a:r>
              <a:t>http://government.ru/news/57315/</a:t>
            </a:r>
          </a:p>
          <a:p xmlns:a="http://schemas.openxmlformats.org/drawingml/2006/main">
            <a:r>
              <a:t>https://www.rbc.ru/person/617bf30d9a7947f92ee2d266</a:t>
            </a:r>
          </a:p>
          <a:p xmlns:a="http://schemas.openxmlformats.org/drawingml/2006/main">
            <a:r>
              <a:t>https://mid.ru/ru/press_service/video/view/1848395/</a:t>
            </a:r>
          </a:p>
          <a:p xmlns:a="http://schemas.openxmlformats.org/drawingml/2006/main">
            <a:r>
              <a:t>https://mid.ru/ru/foreign_policy/international_organizations/1932076/</a:t>
            </a:r>
          </a:p>
          <a:p xmlns:a="http://schemas.openxmlformats.org/drawingml/2006/main">
            <a:r>
              <a:t>https://mid.ru/ru/press_service/minister_speeches/1991476/</a:t>
            </a:r>
          </a:p>
          <a:p xmlns:a="http://schemas.openxmlformats.org/drawingml/2006/main">
            <a:r>
              <a:t>https://www.mid.ru/ru/press_service/vizity-ministra/1922112/</a:t>
            </a:r>
          </a:p>
          <a:p xmlns:a="http://schemas.openxmlformats.org/drawingml/2006/main">
            <a:r>
              <a:t>https://www.mid.ru/ru/foreign_policy/news/1927568/</a:t>
            </a:r>
          </a:p>
          <a:p xmlns:a="http://schemas.openxmlformats.org/drawingml/2006/main">
            <a:r>
              <a:t>https://mid.ru/ru/foreign_policy/news/1912973/</a:t>
            </a:r>
          </a:p>
          <a:p xmlns:a="http://schemas.openxmlformats.org/drawingml/2006/main">
            <a:r>
              <a:t>https://www.reuters.com/world/europe/russias-lavrov-says-moscow-committed-us-proposals-peace-rejects-europes-2026-06-15/</a:t>
            </a:r>
          </a:p>
          <a:p xmlns:a="http://schemas.openxmlformats.org/drawingml/2006/main">
            <a:r>
              <a:t>https://www.reuters.com/world/lavrov-says-russia-is-ready-resume-talks-with-ukraine-point-where-they-left-off-2026-06-23/</a:t>
            </a:r>
          </a:p>
          <a:p xmlns:a="http://schemas.openxmlformats.org/drawingml/2006/main">
            <a:r>
              <a:t>https://mid.ru/ru/press_service/video/view/1799184/</a:t>
            </a:r>
          </a:p>
          <a:p xmlns:a="http://schemas.openxmlformats.org/drawingml/2006/main">
            <a:r>
              <a:t>https://en.wikipedia.org/wiki/Sergey_Lavrov</a:t>
            </a:r>
          </a:p>
          <a:p xmlns:a="http://schemas.openxmlformats.org/drawingml/2006/main">
            <a:r>
              <a:t>https://www.garant.ru/products/ipo/prime/doc/70627660/</a:t>
            </a:r>
          </a:p>
          <a:p xmlns:a="http://schemas.openxmlformats.org/drawingml/2006/main">
            <a:r>
              <a:t>https://www.rbc.ru/person/617fc0679a794761d6170b80</a:t>
            </a:r>
          </a:p>
          <a:p xmlns:a="http://schemas.openxmlformats.org/drawingml/2006/main">
            <a:r>
              <a:t>http://www.kremlin.ru/acts/bank/50544</a:t>
            </a:r>
          </a:p>
          <a:p xmlns:a="http://schemas.openxmlformats.org/drawingml/2006/main">
            <a:r>
              <a:t>http://special.kremlin.ru/events/president/news/74019</a:t>
            </a:r>
          </a:p>
          <a:p xmlns:a="http://schemas.openxmlformats.org/drawingml/2006/main">
            <a:r>
              <a:t>https://www.interfax.ru/russia/960081</a:t>
            </a:r>
          </a:p>
          <a:p xmlns:a="http://schemas.openxmlformats.org/drawingml/2006/main">
            <a:r>
              <a:t>https://www.rbc.ru/politics/21/09/2022/632ab17c9a794781413c8582</a:t>
            </a:r>
          </a:p>
          <a:p xmlns:a="http://schemas.openxmlformats.org/drawingml/2006/main">
            <a:r>
              <a:t>https://www.bbc.com/russian/articles/c72p0jq04gjo</a:t>
            </a:r>
          </a:p>
          <a:p xmlns:a="http://schemas.openxmlformats.org/drawingml/2006/main">
            <a:r>
              <a:t>https://meduza.io/feature/2024/05/12/putin-uvolil-shoygu-s-posta-ministra-oborony-i-perevel-v-sovbez</a:t>
            </a:r>
          </a:p>
          <a:p xmlns:a="http://schemas.openxmlformats.org/drawingml/2006/main">
            <a:r>
              <a:t>https://paodkb.org/events/sergey-shoygu-naznachen-sekretarem-soveta-bezopasnosti-rf</a:t>
            </a:r>
          </a:p>
          <a:p xmlns:a="http://schemas.openxmlformats.org/drawingml/2006/main">
            <a:r>
              <a:t>https://base.garant.ru/409005084/</a:t>
            </a:r>
          </a:p>
          <a:p xmlns:a="http://schemas.openxmlformats.org/drawingml/2006/main">
            <a:r>
              <a:t>http://special.kremlin.ru/supplement/6345</a:t>
            </a:r>
          </a:p>
          <a:p xmlns:a="http://schemas.openxmlformats.org/drawingml/2006/main">
            <a:r>
              <a:t>http://en.kremlin.ru/supplement/6345</a:t>
            </a:r>
          </a:p>
          <a:p xmlns:a="http://schemas.openxmlformats.org/drawingml/2006/main">
            <a:r>
              <a:t>https://www.kp.ru/daily/27656.5/5040576/</a:t>
            </a:r>
          </a:p>
          <a:p xmlns:a="http://schemas.openxmlformats.org/drawingml/2006/main">
            <a:r>
              <a:t>https://www.fontanka.ru/2025/06/10/75574928/</a:t>
            </a:r>
          </a:p>
          <a:p xmlns:a="http://schemas.openxmlformats.org/drawingml/2006/main">
            <a:r>
              <a:t>https://tass.ru/politika/25506737</a:t>
            </a:r>
          </a:p>
          <a:p xmlns:a="http://schemas.openxmlformats.org/drawingml/2006/main">
            <a:r>
              <a:t>https://www.rbc.ru/person/6181419c9a7947df128a22f7</a:t>
            </a:r>
          </a:p>
          <a:p xmlns:a="http://schemas.openxmlformats.org/drawingml/2006/main">
            <a:r>
              <a:t>https://www.rbc.ru/economics/31/05/2021/60b3de5d9a7947f2883f7aa0</a:t>
            </a:r>
          </a:p>
          <a:p xmlns:a="http://schemas.openxmlformats.org/drawingml/2006/main">
            <a:r>
              <a:t>https://www.rbc.ru/politics/13/05/2024/6641109a9a7947ab8eebcf7f</a:t>
            </a:r>
          </a:p>
          <a:p xmlns:a="http://schemas.openxmlformats.org/drawingml/2006/main">
            <a:r>
              <a:t>https://www.rbc.ru/business/13/06/2023/6482d3389a79473805ee8978</a:t>
            </a:r>
          </a:p>
          <a:p xmlns:a="http://schemas.openxmlformats.org/drawingml/2006/main">
            <a:r>
              <a:t>https://thebell.io/kuda-vedet-ekonomiku-andrej-belousov-zagadki-dmitriya-medvedeva-i-sposoby-perezhit-sanktsii</a:t>
            </a:r>
          </a:p>
          <a:p xmlns:a="http://schemas.openxmlformats.org/drawingml/2006/main">
            <a:r>
              <a:t>https://72.ru/text/politics/2024/05/14/73575386/</a:t>
            </a:r>
          </a:p>
          <a:p xmlns:a="http://schemas.openxmlformats.org/drawingml/2006/main">
            <a:r>
              <a:t>https://tass.ru/armiya-i-opk/22683223</a:t>
            </a:r>
          </a:p>
          <a:p xmlns:a="http://schemas.openxmlformats.org/drawingml/2006/main">
            <a:r>
              <a:t>https://www.rbc.ru/society/12/12/2017/5a2f9b5a9a79473649fe0042</a:t>
            </a:r>
          </a:p>
          <a:p xmlns:a="http://schemas.openxmlformats.org/drawingml/2006/main">
            <a:r>
              <a:t>https://www.istorex.org/post/russia-december-2024-february-2025</a:t>
            </a:r>
          </a:p>
          <a:p xmlns:a="http://schemas.openxmlformats.org/drawingml/2006/main">
            <a:r>
              <a:t>https://rosinform.ru/news/andrej-belousov-osoboe-znachenie-pridayom-obespecheniyu-voennoj-bezopasnosti-soyuznogo-gosudarstva</a:t>
            </a:r>
          </a:p>
          <a:p xmlns:a="http://schemas.openxmlformats.org/drawingml/2006/main">
            <a:r>
              <a:t>https://xn--b1apnk.xn--p1ai/tpost/nsk7vo4xh1-vstrecha-s-ministrom-oboroni-rossii-i-os</a:t>
            </a:r>
          </a:p>
          <a:p xmlns:a="http://schemas.openxmlformats.org/drawingml/2006/main">
            <a:r>
              <a:t>https://www.rbc.ru/person/62d120d89a79475f0ddd8b5e</a:t>
            </a:r>
          </a:p>
          <a:p xmlns:a="http://schemas.openxmlformats.org/drawingml/2006/main">
            <a:r>
              <a:t>http://scrf.gov.ru/news/allnews/2148/</a:t>
            </a:r>
          </a:p>
          <a:p xmlns:a="http://schemas.openxmlformats.org/drawingml/2006/main">
            <a:r>
              <a:t>https://www.rbc.ru/politics/14/05/2024/6643287b9a7947a8f0b8ba78</a:t>
            </a:r>
          </a:p>
          <a:p xmlns:a="http://schemas.openxmlformats.org/drawingml/2006/main">
            <a:r>
              <a:t>https://tass.ru/info/20789699</a:t>
            </a:r>
          </a:p>
          <a:p xmlns:a="http://schemas.openxmlformats.org/drawingml/2006/main">
            <a:r>
              <a:t>https://marine.org.ru/structure/person/56/</a:t>
            </a:r>
          </a:p>
          <a:p xmlns:a="http://schemas.openxmlformats.org/drawingml/2006/main">
            <a:r>
              <a:t>https://marine.org.ru/publication/smi/16108/</a:t>
            </a:r>
          </a:p>
          <a:p xmlns:a="http://schemas.openxmlformats.org/drawingml/2006/main">
            <a:r>
              <a:t>https://www.svoboda.org/a/30676123.html</a:t>
            </a:r>
          </a:p>
          <a:p xmlns:a="http://schemas.openxmlformats.org/drawingml/2006/main">
            <a:r>
              <a:t>https://aif.ru/society/safety/kuklovodstvo_k_deystviyu_nikolay_patrushev_o_metodah_cvetnyh_revolyuciy</a:t>
            </a:r>
          </a:p>
          <a:p xmlns:a="http://schemas.openxmlformats.org/drawingml/2006/main">
            <a:r>
              <a:t>https://vkrizis.info/vlast/czennosti-razmyvaniya/</a:t>
            </a:r>
          </a:p>
          <a:p xmlns:a="http://schemas.openxmlformats.org/drawingml/2006/main">
            <a:r>
              <a:t>https://infranomica.ru/2026/05/19/selskoe-hozyajstvo-est-rezultat-budet-i-pishha/</a:t>
            </a:r>
          </a:p>
          <a:p xmlns:a="http://schemas.openxmlformats.org/drawingml/2006/main">
            <a:r>
              <a:t>https://www.rbc.ru/person/660400989a79471b36dbb514</a:t>
            </a:r>
          </a:p>
          <a:p xmlns:a="http://schemas.openxmlformats.org/drawingml/2006/main">
            <a:r>
              <a:t>http://special.kremlin.ru/catalog/persons/100/events</a:t>
            </a:r>
          </a:p>
          <a:p xmlns:a="http://schemas.openxmlformats.org/drawingml/2006/main">
            <a:r>
              <a:t>https://nac.gov.ru/view/eb008ff4-1608-4b47-b2a9-3d604c1833c2</a:t>
            </a:r>
          </a:p>
          <a:p xmlns:a="http://schemas.openxmlformats.org/drawingml/2006/main">
            <a:r>
              <a:t>http://pfo.gov.ru/press/events/113336/</a:t>
            </a:r>
          </a:p>
          <a:p xmlns:a="http://schemas.openxmlformats.org/drawingml/2006/main">
            <a:r>
              <a:t>https://www.opensanctions.org/entities/Q516824/</a:t>
            </a:r>
          </a:p>
          <a:p xmlns:a="http://schemas.openxmlformats.org/drawingml/2006/main">
            <a:r>
              <a:t>https://www.agents.media/ssha-poprobuyut-vozobnovit-peregovory-o-mire-v-ukraine-cherez-glavu-fsb-che-vedomstvo-kak-schitaetsya-svoimi-dokladami-podtolknulo-putina-k-vojne/</a:t>
            </a:r>
          </a:p>
          <a:p xmlns:a="http://schemas.openxmlformats.org/drawingml/2006/main">
            <a:r>
              <a:t>https://letters.kremlin.ru/news/receptions/by-section/assignments/by-person/260</a:t>
            </a:r>
          </a:p>
          <a:p xmlns:a="http://schemas.openxmlformats.org/drawingml/2006/main">
            <a:r>
              <a:t>https://www.kommersant.ru/doc/3612580</a:t>
            </a:r>
          </a:p>
          <a:p xmlns:a="http://schemas.openxmlformats.org/drawingml/2006/main">
            <a:r>
              <a:t>https://fbk.info/ru/investigations/kirienko-kholyi-putina</a:t>
            </a:r>
          </a:p>
          <a:p xmlns:a="http://schemas.openxmlformats.org/drawingml/2006/main">
            <a:r>
              <a:t>https://utro02.tv/2022/05/24/kolebaniya-kirienok/</a:t>
            </a:r>
          </a:p>
          <a:p xmlns:a="http://schemas.openxmlformats.org/drawingml/2006/main">
            <a:r>
              <a:t>https://meduza.io/feature/2023/12/19/on-peresidel-v-svoem-kresle-v-kremle-i-pravitelstve-obsuzhdayut-chto-sergey-kirienko-mozhet-lishitsya-dolzhnosti-v-ap-posle-vyborov-prezidenta</a:t>
            </a:r>
          </a:p>
          <a:p xmlns:a="http://schemas.openxmlformats.org/drawingml/2006/main">
            <a:r>
              <a:t>https://verstka.media/kak-rossiya-prodvigaet-svoyu-molodezhnuyu-politiku-na-okkupirovannyh-territoriyah</a:t>
            </a:r>
          </a:p>
          <a:p xmlns:a="http://schemas.openxmlformats.org/drawingml/2006/main">
            <a:r>
              <a:t>https://dnrnews.ru/society/2025/09/04/1167117.html</a:t>
            </a:r>
          </a:p>
          <a:p xmlns:a="http://schemas.openxmlformats.org/drawingml/2006/main">
            <a:r>
              <a:t>https://www.tadviser.ru/index.php/%D0%9F%D0%B5%D1%80%D1%81%D0%BE%D0%BD%D0%B0:%D0%9A%D0%B8%D1%80%D0%B8%D0%B5%D0%BD%D0%BA%D0%BE_%D0%A1%D0%B5%D1%80%D0%B3%D0%B5%D0%B9_%D0%92%D0%BB%D0%B0%D0%B4%D0%B8%D0%BB%D0%B5%D0%BD%D0%BE%D0%B2%D0%B8%D1%87</a:t>
            </a:r>
          </a:p>
          <a:p xmlns:a="http://schemas.openxmlformats.org/drawingml/2006/main">
            <a:r>
              <a:t>https://tass.ru/politika/18225741</a:t>
            </a:r>
          </a:p>
          <a:p xmlns:a="http://schemas.openxmlformats.org/drawingml/2006/main">
            <a:r>
              <a:t>https://www.kommersant.ru/doc/6187168</a:t>
            </a:r>
          </a:p>
          <a:p xmlns:a="http://schemas.openxmlformats.org/drawingml/2006/main">
            <a:r>
              <a:t>https://duma.gov.ru/news/63383/</a:t>
            </a:r>
          </a:p>
          <a:p xmlns:a="http://schemas.openxmlformats.org/drawingml/2006/main">
            <a:r>
              <a:t>http://duma.gov.ru/en/duma/persons/99100829/news/</a:t>
            </a:r>
          </a:p>
          <a:p xmlns:a="http://schemas.openxmlformats.org/drawingml/2006/main">
            <a:r>
              <a:t>http://duma.gov.ru/en/news/62248/</a:t>
            </a:r>
          </a:p>
          <a:p xmlns:a="http://schemas.openxmlformats.org/drawingml/2006/main">
            <a:r>
              <a:t>http://duma.gov.ru/en/news/61352/</a:t>
            </a:r>
          </a:p>
          <a:p xmlns:a="http://schemas.openxmlformats.org/drawingml/2006/main">
            <a:r>
              <a:t>http://duma.gov.ru/en/news/64178/</a:t>
            </a:r>
          </a:p>
          <a:p xmlns:a="http://schemas.openxmlformats.org/drawingml/2006/main">
            <a:r>
              <a:t>http://duma.gov.ru/en/news/64216</a:t>
            </a:r>
          </a:p>
          <a:p xmlns:a="http://schemas.openxmlformats.org/drawingml/2006/main">
            <a:r>
              <a:t>http://duma.gov.ru/en/news/64239</a:t>
            </a:r>
          </a:p>
          <a:p xmlns:a="http://schemas.openxmlformats.org/drawingml/2006/main">
            <a:r>
              <a:t>https://en.wikipedia.org/wiki/Vyacheslav_Volodin</a:t>
            </a:r>
          </a:p>
          <a:p xmlns:a="http://schemas.openxmlformats.org/drawingml/2006/main">
            <a:r>
              <a:t>http://duma.gov.ru/news/56060/</a:t>
            </a:r>
          </a:p>
          <a:p xmlns:a="http://schemas.openxmlformats.org/drawingml/2006/main">
            <a:r>
              <a:t>http://duma.gov.ru/news/60448/</a:t>
            </a:r>
          </a:p>
          <a:p xmlns:a="http://schemas.openxmlformats.org/drawingml/2006/main">
            <a:r>
              <a:t>http://duma.gov.ru/news/61362/</a:t>
            </a:r>
          </a:p>
          <a:p xmlns:a="http://schemas.openxmlformats.org/drawingml/2006/main">
            <a:r>
              <a:t>http://duma.gov.ru/news/61384/</a:t>
            </a:r>
          </a:p>
          <a:p xmlns:a="http://schemas.openxmlformats.org/drawingml/2006/main">
            <a:r>
              <a:t>http://duma.gov.ru/news/61874/</a:t>
            </a:r>
          </a:p>
          <a:p xmlns:a="http://schemas.openxmlformats.org/drawingml/2006/main">
            <a:r>
              <a:t>http://duma.gov.ru/news/62022/</a:t>
            </a:r>
          </a:p>
          <a:p xmlns:a="http://schemas.openxmlformats.org/drawingml/2006/main">
            <a:r>
              <a:t>http://duma.gov.ru/news/63772/</a:t>
            </a:r>
          </a:p>
          <a:p xmlns:a="http://schemas.openxmlformats.org/drawingml/2006/main">
            <a:r>
              <a:t>https://council.gov.ru/events/news/160466/</a:t>
            </a:r>
          </a:p>
          <a:p xmlns:a="http://schemas.openxmlformats.org/drawingml/2006/main">
            <a:r>
              <a:t>http://council.gov.ru/structure/persons/257/</a:t>
            </a:r>
          </a:p>
          <a:p xmlns:a="http://schemas.openxmlformats.org/drawingml/2006/main">
            <a:r>
              <a:t>https://interaffairs.ru/news/show/16199</a:t>
            </a:r>
          </a:p>
          <a:p xmlns:a="http://schemas.openxmlformats.org/drawingml/2006/main">
            <a:r>
              <a:t>https://www.rbc.ru/person/617fb5ef9a79475c6cfc4502</a:t>
            </a:r>
          </a:p>
          <a:p xmlns:a="http://schemas.openxmlformats.org/drawingml/2006/main">
            <a:r>
              <a:t>https://vksrs.com/publications/matvienko-rasskazala-o-neobkhodimosti-protivostoyat-geroizatsii-natsistov/</a:t>
            </a:r>
          </a:p>
          <a:p xmlns:a="http://schemas.openxmlformats.org/drawingml/2006/main">
            <a:r>
              <a:t>https://absatz.media/politika/158438-valentine-matvienko-77-istoriya-uspeha-put-k-vershine-i-samye-yarkie-zayavleniya</a:t>
            </a:r>
          </a:p>
          <a:p xmlns:a="http://schemas.openxmlformats.org/drawingml/2006/main">
            <a:r>
              <a:t>https://www.rbc.ru/society/14/10/2026/6acf597c9a794743e0478a15?from=short_news</a:t>
            </a:r>
          </a:p>
          <a:p xmlns:a="http://schemas.openxmlformats.org/drawingml/2006/main">
            <a:r>
              <a:t>https://senatinform.ru/news/sf_stremitsya_byt_maksimalno_otkrytym_dlya_raboty_zhurnalistov_matvienko/</a:t>
            </a:r>
          </a:p>
          <a:p xmlns:a="http://schemas.openxmlformats.org/drawingml/2006/main">
            <a:r>
              <a:t>https://eparlament.irzs.ru/Files/getFile/11853</a:t>
            </a:r>
          </a:p>
          <a:p xmlns:a="http://schemas.openxmlformats.org/drawingml/2006/main">
            <a:r>
              <a:t>http://special.council.gov.ru/activity/meetings/170703/transcript/</a:t>
            </a:r>
          </a:p>
          <a:p xmlns:a="http://schemas.openxmlformats.org/drawingml/2006/main">
            <a:r>
              <a:t>https://bookonlime.ru/lecture/12-razvitie-ekonomicheskih-otnosheniy-i-strategicheskoe-planirovanie-v-cifrovoy-ekonomike-2</a:t>
            </a:r>
          </a:p>
          <a:p xmlns:a="http://schemas.openxmlformats.org/drawingml/2006/main">
            <a:r>
              <a:t>https://ru.wikipedia.org/wiki/Песков,_Дмитрий_Сергеевич</a:t>
            </a:r>
          </a:p>
          <a:p xmlns:a="http://schemas.openxmlformats.org/drawingml/2006/main">
            <a:r>
              <a:t>https://www.reuters.com/world/europe/kremlin-says-ukraine-is-now-paying-price-its-own-attacks-russia-2026-09-28/</a:t>
            </a:r>
          </a:p>
          <a:p xmlns:a="http://schemas.openxmlformats.org/drawingml/2006/main">
            <a:r>
              <a:t>https://www.reuters.com/world/europe/kremlin-rejects-le-penbardella-rebuke-says-russia-is-no-threat-france-2026-09-21/</a:t>
            </a:r>
          </a:p>
          <a:p xmlns:a="http://schemas.openxmlformats.org/drawingml/2006/main">
            <a:r>
              <a:t>https://theins.ru/antifake/295208</a:t>
            </a:r>
          </a:p>
          <a:p xmlns:a="http://schemas.openxmlformats.org/drawingml/2006/main">
            <a:r>
              <a:t>https://expert.ru/news/v-kremle-otvetili-na-slova-donalda-trampa-o-rossiyskom-vmeshatelstve</a:t>
            </a:r>
          </a:p>
          <a:p xmlns:a="http://schemas.openxmlformats.org/drawingml/2006/main">
            <a:r>
              <a:t>https://www.dw.com/ru/dmitrij-peskov/t-18146676/page-1</a:t>
            </a:r>
          </a:p>
          <a:p xmlns:a="http://schemas.openxmlformats.org/drawingml/2006/main">
            <a:r>
              <a:t>https://www.pnp.ru/person/dmitriy--peskov/</a:t>
            </a:r>
          </a:p>
          <a:p xmlns:a="http://schemas.openxmlformats.org/drawingml/2006/main">
            <a:r>
              <a:t>https://www.rbc.ua/ukr/dossier/peskov-19032015</a:t>
            </a:r>
          </a:p>
          <a:p xmlns:a="http://schemas.openxmlformats.org/drawingml/2006/main">
            <a:r>
              <a:t>https://www.rbc.ru/politics/12/10/2026/6accae3bb18f4460834ce063</a:t>
            </a:r>
          </a:p>
          <a:p xmlns:a="http://schemas.openxmlformats.org/drawingml/2006/main">
            <a:r>
              <a:t>https://tass.ru/politika/20355193</a:t>
            </a:r>
          </a:p>
          <a:p xmlns:a="http://schemas.openxmlformats.org/drawingml/2006/main">
            <a:r>
              <a:t>https://www.m24.ru/news/06052024/689412</a:t>
            </a:r>
          </a:p>
          <a:p xmlns:a="http://schemas.openxmlformats.org/drawingml/2006/main">
            <a:r>
              <a:t>http://www.kremlin.ru/acts/bank/48502</a:t>
            </a:r>
          </a:p>
          <a:p xmlns:a="http://schemas.openxmlformats.org/drawingml/2006/main">
            <a:r>
              <a:t>https://www.m24.ru/news/11022025/769070</a:t>
            </a:r>
          </a:p>
          <a:p xmlns:a="http://schemas.openxmlformats.org/drawingml/2006/main">
            <a:r>
              <a:t>https://www.m24.ru/news/23042026/894202</a:t>
            </a:r>
          </a:p>
          <a:p xmlns:a="http://schemas.openxmlformats.org/drawingml/2006/main">
            <a:r>
              <a:t>https://cbr.ru/about_br/nabiullinaes/</a:t>
            </a:r>
          </a:p>
          <a:p xmlns:a="http://schemas.openxmlformats.org/drawingml/2006/main">
            <a:r>
              <a:t>https://cbr.ru/press/event/?id=12840</a:t>
            </a:r>
          </a:p>
          <a:p xmlns:a="http://schemas.openxmlformats.org/drawingml/2006/main">
            <a:r>
              <a:t>https://www.cbr.ru/press/event/?id=12904</a:t>
            </a:r>
          </a:p>
          <a:p xmlns:a="http://schemas.openxmlformats.org/drawingml/2006/main">
            <a:r>
              <a:t>https://cbr.ru/press/event/?id=14033</a:t>
            </a:r>
          </a:p>
          <a:p xmlns:a="http://schemas.openxmlformats.org/drawingml/2006/main">
            <a:r>
              <a:t>https://www.cbr.ru/press/event/?id=12764</a:t>
            </a:r>
          </a:p>
          <a:p xmlns:a="http://schemas.openxmlformats.org/drawingml/2006/main">
            <a:r>
              <a:t>https://kazanfirst.ru/articles/534335</a:t>
            </a:r>
          </a:p>
          <a:p xmlns:a="http://schemas.openxmlformats.org/drawingml/2006/main">
            <a:r>
              <a:t>https://www.rbc.ru/person/65e831449a79476cbfd8e5fd</a:t>
            </a:r>
          </a:p>
          <a:p xmlns:a="http://schemas.openxmlformats.org/drawingml/2006/main">
            <a:r>
              <a:t>https://www.interfax.ru/russia/955290</a:t>
            </a:r>
          </a:p>
          <a:p xmlns:a="http://schemas.openxmlformats.org/drawingml/2006/main">
            <a:r>
              <a:t>https://minfin.gov.ru/ru/press-center/?id_4=38548-intervyu_ministra_finansov_antona_siluanova_gazete_argumenty_i_fakty</a:t>
            </a:r>
          </a:p>
          <a:p xmlns:a="http://schemas.openxmlformats.org/drawingml/2006/main">
            <a:r>
              <a:t>https://minfin.gov.ru/ru/press-center/?id_4=37667-vystuplenie_antona_siluanova_na_plenarnom_zasedanii_v_gosudarstvennoi_dume</a:t>
            </a:r>
          </a:p>
          <a:p xmlns:a="http://schemas.openxmlformats.org/drawingml/2006/main">
            <a:r>
              <a:t>https://www.rbc.ru/economics/24/10/2022/63529d159a7947efb82a59eb</a:t>
            </a:r>
          </a:p>
          <a:p xmlns:a="http://schemas.openxmlformats.org/drawingml/2006/main">
            <a:r>
              <a:t>https://www.rbc.ru/newspaper/2020/02/21/5e4e83289a79474bcf9f8cf9</a:t>
            </a:r>
          </a:p>
          <a:p xmlns:a="http://schemas.openxmlformats.org/drawingml/2006/main">
            <a:r>
              <a:t>https://www.rbc.ru/economics/20/02/2020/5e4e91919a79475559478893</a:t>
            </a:r>
          </a:p>
          <a:p xmlns:a="http://schemas.openxmlformats.org/drawingml/2006/main">
            <a:r>
              <a:t>https://minfin.gov.ru/ru/press-center/?id_4=39336-anton_siluanov_predstavil_na_parlamentskikh_slushaniyakh_v_sovete_federatsii_proekt_byudzheta_na_2025-2027_gg.</a:t>
            </a:r>
          </a:p>
          <a:p xmlns:a="http://schemas.openxmlformats.org/drawingml/2006/main">
            <a:r>
              <a:t>https://www.interfax.ru/amp/1035506</a:t>
            </a:r>
          </a:p>
          <a:p xmlns:a="http://schemas.openxmlformats.org/drawingml/2006/main">
            <a:r>
              <a:t>https://tass.ru/ekonomika/28198121</a:t>
            </a:r>
          </a:p>
          <a:p xmlns:a="http://schemas.openxmlformats.org/drawingml/2006/main">
            <a:r>
              <a:t>https://www.rbc.ru/person/65b9f4369a7947ec8a7f242a</a:t>
            </a:r>
          </a:p>
          <a:p xmlns:a="http://schemas.openxmlformats.org/drawingml/2006/main">
            <a:r>
              <a:t>https://www.bfm.ru/news/435050</a:t>
            </a:r>
          </a:p>
          <a:p xmlns:a="http://schemas.openxmlformats.org/drawingml/2006/main">
            <a:r>
              <a:t>https://ru.ruwiki.ru/wiki/%D0%93%D0%BE%D0%BB%D0%B8%D0%BA%D0%BE%D0%B2%D0%B0,_%D0%A2%D0%B0%D1%82%D1%8C%D1%8F%D0%BD%D0%B0_%D0%90%D0%BB%D0%B5%D0%BA%D1%81%D0%B5%D0%B5%D0%B2%D0%BD%D0%B0</a:t>
            </a:r>
          </a:p>
          <a:p xmlns:a="http://schemas.openxmlformats.org/drawingml/2006/main">
            <a:r>
              <a:t>http://www.kremlin.ru/events/president/transcripts/deliberations%20/77439</a:t>
            </a:r>
          </a:p>
          <a:p xmlns:a="http://schemas.openxmlformats.org/drawingml/2006/main">
            <a:r>
              <a:t>https://xn--90aivcdt6dxbc.xn--p1ai/articles/news/prezident-zdravookhranenie-zanimaet-klyuchevoe-mesto-v-sotsialnoy-politike-rossii/</a:t>
            </a:r>
          </a:p>
          <a:p xmlns:a="http://schemas.openxmlformats.org/drawingml/2006/main">
            <a:r>
              <a:t>https://xn--90aivcdt6dxbc.xn--p1ai/articles/news/tatyana-golikova-edinaya-rossiya-nadezhnyy-soyuznik-i-partner-pravitelstva/</a:t>
            </a:r>
          </a:p>
          <a:p xmlns:a="http://schemas.openxmlformats.org/drawingml/2006/main">
            <a:r>
              <a:t>http://government.ru/news/58648/</a:t>
            </a:r>
          </a:p>
          <a:p xmlns:a="http://schemas.openxmlformats.org/drawingml/2006/main">
            <a:r>
              <a:t>http://government.ru/news/54912/</a:t>
            </a:r>
          </a:p>
          <a:p xmlns:a="http://schemas.openxmlformats.org/drawingml/2006/main">
            <a:r>
              <a:t>http://government.ru/news/58000/</a:t>
            </a:r>
          </a:p>
          <a:p xmlns:a="http://schemas.openxmlformats.org/drawingml/2006/main">
            <a:r>
              <a:t>https://tass.ru/politika/28141547</a:t>
            </a:r>
          </a:p>
          <a:p xmlns:a="http://schemas.openxmlformats.org/drawingml/2006/main">
            <a:r>
              <a:t>https://duma.gov.ru/media/files/smUklOtuNPyzwTneQGCfFUHHIsilAqcm.pdf</a:t>
            </a:r>
          </a:p>
          <a:p xmlns:a="http://schemas.openxmlformats.org/drawingml/2006/main">
            <a:r>
              <a:t>https://kprf.ru/dep/gosduma/activities/187187.html</a:t>
            </a:r>
          </a:p>
          <a:p xmlns:a="http://schemas.openxmlformats.org/drawingml/2006/main">
            <a:r>
              <a:t>http://msk.kprf.ru/2022/08/22/222866/</a:t>
            </a:r>
          </a:p>
          <a:p xmlns:a="http://schemas.openxmlformats.org/drawingml/2006/main">
            <a:r>
              <a:t>https://kprf.ru/party-live/cknews/235903.html</a:t>
            </a:r>
          </a:p>
          <a:p xmlns:a="http://schemas.openxmlformats.org/drawingml/2006/main">
            <a:r>
              <a:t>https://kprf.ru/dep/gosduma/activities/236198.html/print</a:t>
            </a:r>
          </a:p>
          <a:p xmlns:a="http://schemas.openxmlformats.org/drawingml/2006/main">
            <a:r>
              <a:t>https://kprf.ru/dep/gosduma/activities/239812.html</a:t>
            </a:r>
          </a:p>
          <a:p xmlns:a="http://schemas.openxmlformats.org/drawingml/2006/main">
            <a:r>
              <a:t>https://kprf-don.ru/index.php/news/facts/12501-2025-09-15-12-58-35.html</a:t>
            </a:r>
          </a:p>
          <a:p xmlns:a="http://schemas.openxmlformats.org/drawingml/2006/main">
            <a:r>
              <a:t>https://kprf.ru/dep/gosduma/activities/237529.html</a:t>
            </a:r>
          </a:p>
          <a:p xmlns:a="http://schemas.openxmlformats.org/drawingml/2006/main">
            <a:r>
              <a:t>https://novayagazeta.ru/articles/2025/09/19/putin-udivilsia-khodu-zapushchennoi-im-vesnoi-munitsipalnoi-reformy-posle-slov-ziuganova-kak-regiony-dlia-nee-lomali-cherez-koleno-a-tatarstan-otkazalsia-ee-ispolniat-news</a:t>
            </a:r>
          </a:p>
          <a:p xmlns:a="http://schemas.openxmlformats.org/drawingml/2006/main">
            <a:r>
              <a:t>https://kprf.ru/official/2025/11/15/15-noiabria-2025-oda-sostoialsia-ii-noiabrskii-plenum-tsk-kprf/473.html</a:t>
            </a:r>
          </a:p>
          <a:p xmlns:a="http://schemas.openxmlformats.org/drawingml/2006/main">
            <a:r>
              <a:t>https://www.rbc.ru/person/617bfbb79a7947fc327a3bcb</a:t>
            </a:r>
          </a:p>
          <a:p xmlns:a="http://schemas.openxmlformats.org/drawingml/2006/main">
            <a:r>
              <a:t>https://www.bbc.com/russian/features-60873381</a:t>
            </a:r>
          </a:p>
          <a:p xmlns:a="http://schemas.openxmlformats.org/drawingml/2006/main">
            <a:r>
              <a:t>https://www.svoboda.org/a/umer-lider-partii-ldpr-vladimir-zhirinovskiy-nekrolog/31770134.html</a:t>
            </a:r>
          </a:p>
          <a:p xmlns:a="http://schemas.openxmlformats.org/drawingml/2006/main">
            <a:r>
              <a:t>https://www.rbc.ru/politics/06/04/2022/624d661b9a79473f7416fe26</a:t>
            </a:r>
          </a:p>
          <a:p xmlns:a="http://schemas.openxmlformats.org/drawingml/2006/main">
            <a:r>
              <a:t>https://tass.ru/politika/3392889</a:t>
            </a:r>
          </a:p>
          <a:p xmlns:a="http://schemas.openxmlformats.org/drawingml/2006/main">
            <a:r>
              <a:t>https://www.pnp.ru/politics/2016/06/28/v-centre-predvybornoy-programmy-ldpr-russkiy-vopros.html</a:t>
            </a:r>
          </a:p>
          <a:p xmlns:a="http://schemas.openxmlformats.org/drawingml/2006/main">
            <a:r>
              <a:t>https://ldpr.ru/party/history/</a:t>
            </a:r>
          </a:p>
          <a:p xmlns:a="http://schemas.openxmlformats.org/drawingml/2006/main">
            <a:r>
              <a:t>https://govoritmoskva.ru/interviews/1023/</a:t>
            </a:r>
          </a:p>
          <a:p xmlns:a="http://schemas.openxmlformats.org/drawingml/2006/main">
            <a:r>
              <a:t>https://www.gazeta.ru/politics/2017/03/17_a_10580999.shtml</a:t>
            </a:r>
          </a:p>
          <a:p xmlns:a="http://schemas.openxmlformats.org/drawingml/2006/main">
            <a:r>
              <a:t>https://ldpr.ru/upload/iblock/c88/1d6dstdexz6aw7dnwoubeobhr3mnwa1j/a799616e688866c49f2ef6b5b8cfe5c00d45080ae85ce0e5f6d36e2e010681d9.pdf</a:t>
            </a:r>
          </a:p>
          <a:p xmlns:a="http://schemas.openxmlformats.org/drawingml/2006/main">
            <a:r>
              <a:t>https://www.kommersant.ru/doc/3579566</a:t>
            </a:r>
          </a:p>
          <a:p xmlns:a="http://schemas.openxmlformats.org/drawingml/2006/main">
            <a:r>
              <a:t>https://spb.ldpr.ru/event/243915/</a:t>
            </a:r>
          </a:p>
          <a:p xmlns:a="http://schemas.openxmlformats.org/drawingml/2006/main">
            <a:r>
              <a:t>https://kursk.ldpr.ru/event/341398</a:t>
            </a:r>
          </a:p>
          <a:p xmlns:a="http://schemas.openxmlformats.org/drawingml/2006/main">
            <a:r>
              <a:t>https://cyberleninka.ru/article/n/sravnitelnyy-analiz-predvybornyh-programm-ldpr-na-vyborah-2021-g-i-l-e-slutskogo-na-vyborah-2024-g</a:t>
            </a:r>
          </a:p>
          <a:p xmlns:a="http://schemas.openxmlformats.org/drawingml/2006/main">
            <a:r>
              <a:t>https://kcr.ldpr.ru/event/347999/</a:t>
            </a:r>
          </a:p>
          <a:p xmlns:a="http://schemas.openxmlformats.org/drawingml/2006/main">
            <a:r>
              <a:t>https://msknews77.ru/society/2025/09/25/73500.html</a:t>
            </a:r>
          </a:p>
          <a:p xmlns:a="http://schemas.openxmlformats.org/drawingml/2006/main">
            <a:r>
              <a:t>https://bagaevka-press.ru/besplatnyj-zemelnyj-uchastok-dlya-semej-inicziativa-ldpr/</a:t>
            </a:r>
          </a:p>
          <a:p xmlns:a="http://schemas.openxmlformats.org/drawingml/2006/main">
            <a:r>
              <a:t>https://ldpr.ru/event/437527/</a:t>
            </a:r>
          </a:p>
          <a:p xmlns:a="http://schemas.openxmlformats.org/drawingml/2006/main">
            <a:r>
              <a:t>https://rg62.info/2025/11/01/leonid-sluczkij-vstupilsya-za-multserial-masha-i-medved/</a:t>
            </a:r>
          </a:p>
          <a:p xmlns:a="http://schemas.openxmlformats.org/drawingml/2006/main">
            <a:r>
              <a:t>https://mironov.ru/officially</a:t>
            </a:r>
          </a:p>
          <a:p xmlns:a="http://schemas.openxmlformats.org/drawingml/2006/main">
            <a:r>
              <a:t>https://mironov.ru/bio</a:t>
            </a:r>
          </a:p>
          <a:p xmlns:a="http://schemas.openxmlformats.org/drawingml/2006/main">
            <a:r>
              <a:t>https://mironov-online.ru/category/zayavleniya/</a:t>
            </a:r>
          </a:p>
          <a:p xmlns:a="http://schemas.openxmlformats.org/drawingml/2006/main">
            <a:r>
              <a:t>https://www.rbc.ru/person/69806d279a7947baf86c32c5</a:t>
            </a:r>
          </a:p>
          <a:p xmlns:a="http://schemas.openxmlformats.org/drawingml/2006/main">
            <a:r>
              <a:t>https://spravedlivo.ru/16303010</a:t>
            </a:r>
          </a:p>
          <a:p xmlns:a="http://schemas.openxmlformats.org/drawingml/2006/main">
            <a:r>
              <a:t>http://mironov.ru/15133910</a:t>
            </a:r>
          </a:p>
          <a:p xmlns:a="http://schemas.openxmlformats.org/drawingml/2006/main">
            <a:r>
              <a:t>http://www.special.spravedlivo.ru/5_140609.html</a:t>
            </a:r>
          </a:p>
          <a:p xmlns:a="http://schemas.openxmlformats.org/drawingml/2006/main">
            <a:r>
              <a:t>https://spravedlivo.ru/14681110</a:t>
            </a:r>
          </a:p>
          <a:p xmlns:a="http://schemas.openxmlformats.org/drawingml/2006/main">
            <a:r>
              <a:t>https://radiokp.ru/podcast/dialogi-na-radio-kp/759263</a:t>
            </a:r>
          </a:p>
          <a:p xmlns:a="http://schemas.openxmlformats.org/drawingml/2006/main">
            <a:r>
              <a:t>https://mironov.ru/51339910</a:t>
            </a:r>
          </a:p>
          <a:p xmlns:a="http://schemas.openxmlformats.org/drawingml/2006/main">
            <a:r>
              <a:t>https://mironov-online.ru/news/mironov-na-ukraine-idet-bitva-za-budushhee-vsego-chelovechestva-i-pobeda-v-nej-budet-za-rossiej/</a:t>
            </a:r>
          </a:p>
          <a:p xmlns:a="http://schemas.openxmlformats.org/drawingml/2006/main">
            <a:r>
              <a:t>https://spravedlivo.ru/12544510</a:t>
            </a:r>
          </a:p>
          <a:p xmlns:a="http://schemas.openxmlformats.org/drawingml/2006/main">
            <a:r>
              <a:t>https://www.rbc.ru/person/6aa3ef199a79475758621730</a:t>
            </a:r>
          </a:p>
          <a:p xmlns:a="http://schemas.openxmlformats.org/drawingml/2006/main">
            <a:r>
              <a:t>https://www.rbc.ru/politics/24/09/2021/614da73f9a7947b5e3d9399f</a:t>
            </a:r>
          </a:p>
          <a:p xmlns:a="http://schemas.openxmlformats.org/drawingml/2006/main">
            <a:r>
              <a:t>https://amp.rbc.ru/rbcnews/base/14/08/2026/6a957dfb9a79476ae3d823ba</a:t>
            </a:r>
          </a:p>
          <a:p xmlns:a="http://schemas.openxmlformats.org/drawingml/2006/main">
            <a:r>
              <a:t>https://en.wikipedia.org/wiki/Alexey_Nechayev</a:t>
            </a:r>
          </a:p>
          <a:p xmlns:a="http://schemas.openxmlformats.org/drawingml/2006/main">
            <a:r>
              <a:t>https://www.gazeta.ru/politics/23422027/novye-lyudi-na-vyborah-2026-goda.shtml</a:t>
            </a:r>
          </a:p>
          <a:p xmlns:a="http://schemas.openxmlformats.org/drawingml/2006/main">
            <a:r>
              <a:t>https://vremya-bir.ru/2026/03/07/dvenadtsat-shagov-k-strane-v-kotoroj-hochetsya-zhit/</a:t>
            </a:r>
          </a:p>
          <a:p xmlns:a="http://schemas.openxmlformats.org/drawingml/2006/main">
            <a:r>
              <a:t>https://www.rbc.ru/politics/08/09/2026/6aa023ec9a79471e4fd55d3c</a:t>
            </a:r>
          </a:p>
          <a:p xmlns:a="http://schemas.openxmlformats.org/drawingml/2006/main">
            <a:r>
              <a:t>https://www.interfax.ru/interview/1074248</a:t>
            </a:r>
          </a:p>
          <a:p xmlns:a="http://schemas.openxmlformats.org/drawingml/2006/main">
            <a:r>
              <a:t>https://www.interfax.ru/amp/1074248</a:t>
            </a:r>
          </a:p>
          <a:p xmlns:a="http://schemas.openxmlformats.org/drawingml/2006/main">
            <a:r>
              <a:t>https://www.vedomosti.ru/politics/articles/2026/09/09/1227352-novie-lyudi-sformulirovali-programmu</a:t>
            </a:r>
          </a:p>
          <a:p xmlns:a="http://schemas.openxmlformats.org/drawingml/2006/main">
            <a:r>
              <a:t>https://dddkursk.ru/lenta/2026/07/30/129483/</a:t>
            </a:r>
          </a:p>
          <a:p xmlns:a="http://schemas.openxmlformats.org/drawingml/2006/main">
            <a:r>
              <a:t>https://volga.news/article/803292.html</a:t>
            </a:r>
          </a:p>
          <a:p xmlns:a="http://schemas.openxmlformats.org/drawingml/2006/main">
            <a:r>
              <a:t>https://ru.wikipedia.org/wiki/%D0%9D%D0%B5%D1%87%D0%B0%D0%B5%D0%B2,_%D0%90%D0%BB%D0%B5%D0%BA%D1%81%D0%B5%D0%B9_%D0%93%D0%B5%D0%BD%D0%BD%D0%B0%D0%B4%D1%8C%D0%B5%D0%B2%D0%B8%D1%87</a:t>
            </a:r>
          </a:p>
          <a:p xmlns:a="http://schemas.openxmlformats.org/drawingml/2006/main">
            <a:r>
              <a:t>https://www.davankov2024.ru/page_biography/</a:t>
            </a:r>
          </a:p>
          <a:p xmlns:a="http://schemas.openxmlformats.org/drawingml/2006/main">
            <a:r>
              <a:t>https://davankov2024.ru/program</a:t>
            </a:r>
          </a:p>
          <a:p xmlns:a="http://schemas.openxmlformats.org/drawingml/2006/main">
            <a:r>
              <a:t>http://vote.duma.gov.ru/?convocation=AAAAAAA8&amp;deputy=99113489&amp;sort=date_desc</a:t>
            </a:r>
          </a:p>
          <a:p xmlns:a="http://schemas.openxmlformats.org/drawingml/2006/main">
            <a:r>
              <a:t>https://holod.media/2024/02/14/vladislav-davankov/</a:t>
            </a:r>
          </a:p>
          <a:p xmlns:a="http://schemas.openxmlformats.org/drawingml/2006/main">
            <a:r>
              <a:t>https://davankov2024.ru/</a:t>
            </a:r>
          </a:p>
          <a:p xmlns:a="http://schemas.openxmlformats.org/drawingml/2006/main">
            <a:r>
              <a:t>https://novayagazeta.eu/articles/2024/02/15/davankov-predstavil-predvybornuiu-programmu-bez-amnistii-politzakliuchennykh-i-s-namereniem-dobitsia-mira-na-nashikh-usloviiakh-news</a:t>
            </a:r>
          </a:p>
          <a:p xmlns:a="http://schemas.openxmlformats.org/drawingml/2006/main">
            <a:r>
              <a:t>https://www.kavkaz-uzel.eu/articles/398113</a:t>
            </a:r>
          </a:p>
          <a:p xmlns:a="http://schemas.openxmlformats.org/drawingml/2006/main">
            <a:r>
              <a:t>https://echofm.online/portret-dnya/portret-dnya-vladislav-davankov-kandidat-v-prezidenty-rossii</a:t>
            </a:r>
          </a:p>
          <a:p xmlns:a="http://schemas.openxmlformats.org/drawingml/2006/main">
            <a:r>
              <a:t>https://t.me/s/davankov?before=788</a:t>
            </a:r>
          </a:p>
          <a:p xmlns:a="http://schemas.openxmlformats.org/drawingml/2006/main">
            <a:r>
              <a:t>https://zaharprilepin.ru/ru/bio/</a:t>
            </a:r>
          </a:p>
          <a:p xmlns:a="http://schemas.openxmlformats.org/drawingml/2006/main">
            <a:r>
              <a:t>https://zaharprilepin.ru/ru/video/zapisi-vistuplenij/intervju/</a:t>
            </a:r>
          </a:p>
          <a:p xmlns:a="http://schemas.openxmlformats.org/drawingml/2006/main">
            <a:r>
              <a:t>https://zaharprilepin.ru/ru/pressa/intervyu/na-harkov.html</a:t>
            </a:r>
          </a:p>
          <a:p xmlns:a="http://schemas.openxmlformats.org/drawingml/2006/main">
            <a:r>
              <a:t>https://www.kommersant.ru/doc/4141912</a:t>
            </a:r>
          </a:p>
          <a:p xmlns:a="http://schemas.openxmlformats.org/drawingml/2006/main">
            <a:r>
              <a:t>https://novayagazeta.eu/articles/2023/05/06/plokhoi-uchenik-limonova</a:t>
            </a:r>
          </a:p>
          <a:p xmlns:a="http://schemas.openxmlformats.org/drawingml/2006/main">
            <a:r>
              <a:t>https://tass.ru/politika/11761037</a:t>
            </a:r>
          </a:p>
          <a:p xmlns:a="http://schemas.openxmlformats.org/drawingml/2006/main">
            <a:r>
              <a:t>https://www.nn.ru/text/politics/2021/10/11/70186523/</a:t>
            </a:r>
          </a:p>
          <a:p xmlns:a="http://schemas.openxmlformats.org/drawingml/2006/main">
            <a:r>
              <a:t>https://www.zaks.ru/new/archive/view/267194</a:t>
            </a:r>
          </a:p>
          <a:p xmlns:a="http://schemas.openxmlformats.org/drawingml/2006/main">
            <a:r>
              <a:t>https://spravedlivo.ru/11288710</a:t>
            </a:r>
          </a:p>
          <a:p xmlns:a="http://schemas.openxmlformats.org/drawingml/2006/main">
            <a:r>
              <a:t>https://www.kommersant.ru/doc/4241515</a:t>
            </a:r>
          </a:p>
          <a:p xmlns:a="http://schemas.openxmlformats.org/drawingml/2006/main">
            <a:r>
              <a:t>https://zaharprilepin.ru/ru/pressa/intervyu/radio-komsomolskaja-pravda-10022021.html</a:t>
            </a:r>
          </a:p>
          <a:p xmlns:a="http://schemas.openxmlformats.org/drawingml/2006/main">
            <a:r>
              <a:t>https://pozneronline.ru/2024/04/36826/</a:t>
            </a:r>
          </a:p>
          <a:p xmlns:a="http://schemas.openxmlformats.org/drawingml/2006/main">
            <a:r>
              <a:t>https://www.rbc.ru/person/62a85a259a7947b9ae5d6360</a:t>
            </a:r>
          </a:p>
          <a:p xmlns:a="http://schemas.openxmlformats.org/drawingml/2006/main">
            <a:r>
              <a:t>https://tass.ru/encyclopedia/person/poklonskaya-natalya-vladimirovna</a:t>
            </a:r>
          </a:p>
          <a:p xmlns:a="http://schemas.openxmlformats.org/drawingml/2006/main">
            <a:r>
              <a:t>https://tass.ru/tag/poklonskaya-natalya-vladimirovna</a:t>
            </a:r>
          </a:p>
          <a:p xmlns:a="http://schemas.openxmlformats.org/drawingml/2006/main">
            <a:r>
              <a:t>https://www.bbc.com/russian/features-44801571</a:t>
            </a:r>
          </a:p>
          <a:p xmlns:a="http://schemas.openxmlformats.org/drawingml/2006/main">
            <a:r>
              <a:t>https://www.rbc.ru/rbcfreenews/5ba8bd499a794792294ba05d</a:t>
            </a:r>
          </a:p>
          <a:p xmlns:a="http://schemas.openxmlformats.org/drawingml/2006/main">
            <a:r>
              <a:t>https://www.dp.ru/a/2018/08/31/Poklonskaja_otreazirovala</a:t>
            </a:r>
          </a:p>
          <a:p xmlns:a="http://schemas.openxmlformats.org/drawingml/2006/main">
            <a:r>
              <a:t>https://www.themoscowtimes.com/2022/06/13/former-crimea-prosecutor-dismissed-after-anti-war-comments-a77983</a:t>
            </a:r>
          </a:p>
          <a:p xmlns:a="http://schemas.openxmlformats.org/drawingml/2006/main">
            <a:r>
              <a:t>https://www.rbc.ru/politics/30/06/2023/649dee189a79473e3fdc8906</a:t>
            </a:r>
          </a:p>
          <a:p xmlns:a="http://schemas.openxmlformats.org/drawingml/2006/main">
            <a:r>
              <a:t>http://council.gov.ru/structure/persons/1044/</a:t>
            </a:r>
          </a:p>
          <a:p xmlns:a="http://schemas.openxmlformats.org/drawingml/2006/main">
            <a:r>
              <a:t>http://council.gov.ru/services/reference/9156/</a:t>
            </a:r>
          </a:p>
          <a:p xmlns:a="http://schemas.openxmlformats.org/drawingml/2006/main">
            <a:r>
              <a:t>http://council.gov.ru/events/news/135415/</a:t>
            </a:r>
          </a:p>
          <a:p xmlns:a="http://schemas.openxmlformats.org/drawingml/2006/main">
            <a:r>
              <a:t>https://24smi.org/celebrity/1156-elena-mizulina.html</a:t>
            </a:r>
          </a:p>
          <a:p xmlns:a="http://schemas.openxmlformats.org/drawingml/2006/main">
            <a:r>
              <a:t>https://www.bfometr.ru/blog/elena-mizulina</a:t>
            </a:r>
          </a:p>
          <a:p xmlns:a="http://schemas.openxmlformats.org/drawingml/2006/main">
            <a:r>
              <a:t>https://www.rbc.ru/society/30/03/2018/5abe1b849a79470dc3826f68</a:t>
            </a:r>
          </a:p>
          <a:p xmlns:a="http://schemas.openxmlformats.org/drawingml/2006/main">
            <a:r>
              <a:t>https://uznayvse.ru/znamenitosti/biografiya-elena-mizulina.html</a:t>
            </a:r>
          </a:p>
          <a:p xmlns:a="http://schemas.openxmlformats.org/drawingml/2006/main">
            <a:r>
              <a:t>https://radiokp.ru/people/elena-mizulina</a:t>
            </a:r>
          </a:p>
          <a:p xmlns:a="http://schemas.openxmlformats.org/drawingml/2006/main">
            <a:r>
              <a:t>https://ru.wikipedia.org/wiki/%D0%9C%D0%B8%D0%B7%D1%83%D0%BB%D0%B8%D0%BD%D0%B0,_%D0%95%D0%BB%D0%B5%D0%BD%D0%B0_%D0%91%D0%BE%D1%80%D0%B8%D1%81%D0%BE%D0%B2%D0%BD%D0%B0</a:t>
            </a:r>
          </a:p>
          <a:p xmlns:a="http://schemas.openxmlformats.org/drawingml/2006/main">
            <a:r>
              <a:t>https://ru.wikipedia.org/wiki/Милонов,_Виталий_Валентинович</a:t>
            </a:r>
          </a:p>
          <a:p xmlns:a="http://schemas.openxmlformats.org/drawingml/2006/main">
            <a:r>
              <a:t>https://tass.ru/encyclopedia/person/milonov-vitaliy-valentinovich</a:t>
            </a:r>
          </a:p>
          <a:p xmlns:a="http://schemas.openxmlformats.org/drawingml/2006/main">
            <a:r>
              <a:t>https://www.pnp.ru/person/vitaliy-milonov/</a:t>
            </a:r>
          </a:p>
          <a:p xmlns:a="http://schemas.openxmlformats.org/drawingml/2006/main">
            <a:r>
              <a:t>https://www.zaks.ru/new/person/view/172</a:t>
            </a:r>
          </a:p>
          <a:p xmlns:a="http://schemas.openxmlformats.org/drawingml/2006/main">
            <a:r>
              <a:t>https://svpressa.ru/persons/vitaliy-milonov/</a:t>
            </a:r>
          </a:p>
          <a:p xmlns:a="http://schemas.openxmlformats.org/drawingml/2006/main">
            <a:r>
              <a:t>https://stuki-druki.com/authors/Milonov-Vitaliy.php</a:t>
            </a:r>
          </a:p>
          <a:p xmlns:a="http://schemas.openxmlformats.org/drawingml/2006/main">
            <a:r>
              <a:t>https://pa.inion.ru/persons/7104/</a:t>
            </a:r>
          </a:p>
          <a:p xmlns:a="http://schemas.openxmlformats.org/drawingml/2006/main">
            <a:r>
              <a:t>https://pa.inion.ru/documents/16503/</a:t>
            </a:r>
          </a:p>
          <a:p xmlns:a="http://schemas.openxmlformats.org/drawingml/2006/main">
            <a:r>
              <a:t>https://pa.inion.ru/documents/27860/</a:t>
            </a:r>
          </a:p>
          <a:p xmlns:a="http://schemas.openxmlformats.org/drawingml/2006/main">
            <a:r>
              <a:t>https://kprf.ru/personal/ostanina</a:t>
            </a:r>
          </a:p>
          <a:p xmlns:a="http://schemas.openxmlformats.org/drawingml/2006/main">
            <a:r>
              <a:t>https://pa.inion.ru/documents/25577/</a:t>
            </a:r>
          </a:p>
          <a:p xmlns:a="http://schemas.openxmlformats.org/drawingml/2006/main">
            <a:r>
              <a:t>https://kprf.ru/dep/gosduma/activities/245108.html</a:t>
            </a:r>
          </a:p>
          <a:p xmlns:a="http://schemas.openxmlformats.org/drawingml/2006/main">
            <a:r>
              <a:t>https://www.pnp.ru/social/zashhita-detskogo-byudzheta-kruzhki-sokhranit-vyplaty-iz-matkapitala-uvelichit.html</a:t>
            </a:r>
          </a:p>
          <a:p xmlns:a="http://schemas.openxmlformats.org/drawingml/2006/main">
            <a:r>
              <a:t>https://www.pnp.ru/state-duma/nina-ostanina-o-byudzhete-na-2027-2029-gody-semeynoy-ipoteke-i-matkapitale.html</a:t>
            </a:r>
          </a:p>
          <a:p xmlns:a="http://schemas.openxmlformats.org/drawingml/2006/main">
            <a:r>
              <a:t>https://uznayvse.ru/znamenitosti/biografiya-nina-ostanina.html</a:t>
            </a:r>
          </a:p>
          <a:p xmlns:a="http://schemas.openxmlformats.org/drawingml/2006/main">
            <a:r>
              <a:t>https://dumatv.ru/news/ostanina--borba-za-mirovozzrencheskii-suverenitet-stanovitsya-gosudarstvennoi-politikoi</a:t>
            </a:r>
          </a:p>
          <a:p xmlns:a="http://schemas.openxmlformats.org/drawingml/2006/main">
            <a:r>
              <a:t>https://kprf.ru/dep/gosduma/activities/242132.html</a:t>
            </a:r>
          </a:p>
          <a:p xmlns:a="http://schemas.openxmlformats.org/drawingml/2006/main">
            <a:r>
              <a:t>https://www.business-gazeta.ru/article/625616</a:t>
            </a:r>
          </a:p>
          <a:p xmlns:a="http://schemas.openxmlformats.org/drawingml/2006/main">
            <a:r>
              <a:t>https://www.kommersant.ru/doc/3235400</a:t>
            </a:r>
          </a:p>
          <a:p xmlns:a="http://schemas.openxmlformats.org/drawingml/2006/main">
            <a:r>
              <a:t>https://www.rbc.ru/person/67d838f09a7947cdef0b1a95</a:t>
            </a:r>
          </a:p>
          <a:p xmlns:a="http://schemas.openxmlformats.org/drawingml/2006/main">
            <a:r>
              <a:t>https://www.vedomosti.ru/politics/articles/2020/03/10/824795-tereshkova-predlozhila</a:t>
            </a:r>
          </a:p>
          <a:p xmlns:a="http://schemas.openxmlformats.org/drawingml/2006/main">
            <a:r>
              <a:t>http://duma.gov.ru/news/49164/</a:t>
            </a:r>
          </a:p>
          <a:p xmlns:a="http://schemas.openxmlformats.org/drawingml/2006/main">
            <a:r>
              <a:t>https://meduza.io/news/2020/03/12/delayut-vse-dlya-togo-chtoby-gadosti-delat-tereshkova-o-protivnikah-popravki-obnulyayuschey-sroki-putina</a:t>
            </a:r>
          </a:p>
          <a:p xmlns:a="http://schemas.openxmlformats.org/drawingml/2006/main">
            <a:r>
              <a:t>https://meduza.io/feature/2020/03/10/gosduma-neozhidanno-dlya-sebya-obespechila-putina-novymi-prezidentskimi-srokami</a:t>
            </a:r>
          </a:p>
          <a:p xmlns:a="http://schemas.openxmlformats.org/drawingml/2006/main">
            <a:r>
              <a:t>https://hinshtein.ru/biography/</a:t>
            </a:r>
          </a:p>
          <a:p xmlns:a="http://schemas.openxmlformats.org/drawingml/2006/main">
            <a:r>
              <a:t>https://www.vedomosti.ru/politics/articles/2024/12/06/1079852-kto-takoi-aleksandr-hinshtein</a:t>
            </a:r>
          </a:p>
          <a:p xmlns:a="http://schemas.openxmlformats.org/drawingml/2006/main">
            <a:r>
              <a:t>https://www.rbc.ru/person/6752d12a9a7947d62166795e</a:t>
            </a:r>
          </a:p>
          <a:p xmlns:a="http://schemas.openxmlformats.org/drawingml/2006/main">
            <a:r>
              <a:t>https://www.rbc.ru/politics/06/12/2024/675207239a7947e74994842e</a:t>
            </a:r>
          </a:p>
          <a:p xmlns:a="http://schemas.openxmlformats.org/drawingml/2006/main">
            <a:r>
              <a:t>https://hinshtein.ru/news/aleksandr-hinshtejn-podvyol-itogi-goda-raboty-komiteta-gosdumy-po-informpolitike-informatsionnym-tehnologiyam-i-svyazi/</a:t>
            </a:r>
          </a:p>
          <a:p xmlns:a="http://schemas.openxmlformats.org/drawingml/2006/main">
            <a:r>
              <a:t>https://hinshtein.ru/news/a-hinshtejn-itogi-raboty-za-vii-sozyv/</a:t>
            </a:r>
          </a:p>
          <a:p xmlns:a="http://schemas.openxmlformats.org/drawingml/2006/main">
            <a:r>
              <a:t>https://www.kommersant.ru/doc/4660427</a:t>
            </a:r>
          </a:p>
          <a:p xmlns:a="http://schemas.openxmlformats.org/drawingml/2006/main">
            <a:r>
              <a:t>https://www.kommersant.ru/doc/4104004</a:t>
            </a:r>
          </a:p>
          <a:p xmlns:a="http://schemas.openxmlformats.org/drawingml/2006/main">
            <a:r>
              <a:t>https://www.nvgazeta.ru/news/12383/634260/</a:t>
            </a:r>
          </a:p>
          <a:p xmlns:a="http://schemas.openxmlformats.org/drawingml/2006/main">
            <a:r>
              <a:t>https://kpravda.ru/2025/02/11/kursk-poluchit-dengi-iz-gosbyudzheta-na-restavracziyu-istoricheskoj-kreposti/</a:t>
            </a:r>
          </a:p>
          <a:p xmlns:a="http://schemas.openxmlformats.org/drawingml/2006/main">
            <a:r>
              <a:t>https://tass.ru/obschestvo/24001633</a:t>
            </a:r>
          </a:p>
          <a:p xmlns:a="http://schemas.openxmlformats.org/drawingml/2006/main">
            <a:r>
              <a:t>https://www.kommersant.ru/doc/7737032</a:t>
            </a:r>
          </a:p>
          <a:p xmlns:a="http://schemas.openxmlformats.org/drawingml/2006/main">
            <a:r>
              <a:t>https://kpravda.ru/2025/03/21/edinaya-rossiya-pomozhet-v-restavraczii-kurskih-pamyatnikov/</a:t>
            </a:r>
          </a:p>
          <a:p xmlns:a="http://schemas.openxmlformats.org/drawingml/2006/main">
            <a:r>
              <a:t>https://news-kursk.ru/society/2025/07/13/65824.html</a:t>
            </a:r>
          </a:p>
          <a:p xmlns:a="http://schemas.openxmlformats.org/drawingml/2006/main">
            <a:r>
              <a:t>https://news.ru/russia/v-kurske-budet-alleya-geroev-hinshtejn-o-muzee-i-memoriale-zhertvam-vsu</a:t>
            </a:r>
          </a:p>
          <a:p xmlns:a="http://schemas.openxmlformats.org/drawingml/2006/main">
            <a:r>
              <a:t>https://ru.wikipedia.org/wiki/Пушков,_Алексей_Константинович</a:t>
            </a:r>
          </a:p>
          <a:p xmlns:a="http://schemas.openxmlformats.org/drawingml/2006/main">
            <a:r>
              <a:t>http://council.gov.ru/structure/persons/1316/</a:t>
            </a:r>
          </a:p>
          <a:p xmlns:a="http://schemas.openxmlformats.org/drawingml/2006/main">
            <a:r>
              <a:t>http://council.gov.ru/media/files/xjE2QHRAivCH7onABehAcG7OsnrO6DYb.pdf</a:t>
            </a:r>
          </a:p>
          <a:p xmlns:a="http://schemas.openxmlformats.org/drawingml/2006/main">
            <a:r>
              <a:t>https://base.garant.ru/406310971/</a:t>
            </a:r>
          </a:p>
          <a:p xmlns:a="http://schemas.openxmlformats.org/drawingml/2006/main">
            <a:r>
              <a:t>https://russiancouncil.ru/aleksey-pushkov/</a:t>
            </a:r>
          </a:p>
          <a:p xmlns:a="http://schemas.openxmlformats.org/drawingml/2006/main">
            <a:r>
              <a:t>http://legislation.council.gov.ru/events/announce/</a:t>
            </a:r>
          </a:p>
          <a:p xmlns:a="http://schemas.openxmlformats.org/drawingml/2006/main">
            <a:r>
              <a:t>http://council.gov.ru/events/news/173810/</a:t>
            </a:r>
          </a:p>
          <a:p xmlns:a="http://schemas.openxmlformats.org/drawingml/2006/main">
            <a:r>
              <a:t>http://www.council.gov.ru/events/news/175997/</a:t>
            </a:r>
          </a:p>
          <a:p xmlns:a="http://schemas.openxmlformats.org/drawingml/2006/main">
            <a:r>
              <a:t>http://council.gov.ru/media/report/pdf/HtoXfAAzeBJ8JwN0eAduo3rejTAYhqvB.pdf</a:t>
            </a:r>
          </a:p>
          <a:p xmlns:a="http://schemas.openxmlformats.org/drawingml/2006/main">
            <a:r>
              <a:t>http://council.gov.ru/events/news/164749/</a:t>
            </a:r>
          </a:p>
          <a:p xmlns:a="http://schemas.openxmlformats.org/drawingml/2006/main">
            <a:r>
              <a:t>https://t.me/s/alexey_pushkov?before=14914</a:t>
            </a:r>
          </a:p>
          <a:p xmlns:a="http://schemas.openxmlformats.org/drawingml/2006/main">
            <a:r>
              <a:t>http://legislation.council.gov.ru/events/multimedia/video/302078/</a:t>
            </a:r>
          </a:p>
          <a:p xmlns:a="http://schemas.openxmlformats.org/drawingml/2006/main">
            <a:r>
              <a:t>http://council.gov.ru/media/report/pdf/e8Awe3U6hNouHwSvME53OSPGGWxTeVAl.pdf</a:t>
            </a:r>
          </a:p>
          <a:p xmlns:a="http://schemas.openxmlformats.org/drawingml/2006/main">
            <a:r>
              <a:t>https://www.vedomosti.ru/person/1178385-kosachev-konstantin</a:t>
            </a:r>
          </a:p>
          <a:p xmlns:a="http://schemas.openxmlformats.org/drawingml/2006/main">
            <a:r>
              <a:t>https://www.interfax.ru/interview/812963</a:t>
            </a:r>
          </a:p>
          <a:p xmlns:a="http://schemas.openxmlformats.org/drawingml/2006/main">
            <a:r>
              <a:t>https://senatinform.ru/news/yuzhnuyu_osetiyu_neobkhodimo_vyvodit_iz_iskusstvennoy_izolyatsii_schitayut_rossiyskie_senatory_/</a:t>
            </a:r>
          </a:p>
          <a:p xmlns:a="http://schemas.openxmlformats.org/drawingml/2006/main">
            <a:r>
              <a:t>https://senatinform.ru/news/kosachyev_rossiya_gotova_rabotat_s_mps_s_uchyetom_ozabochennostey_nashey_strany/</a:t>
            </a:r>
          </a:p>
          <a:p xmlns:a="http://schemas.openxmlformats.org/drawingml/2006/main">
            <a:r>
              <a:t>https://www.bfm.ru/person/61</a:t>
            </a:r>
          </a:p>
          <a:p xmlns:a="http://schemas.openxmlformats.org/drawingml/2006/main">
            <a:r>
              <a:t>https://svpressa.ru/persons/konstantin-kosachev/</a:t>
            </a:r>
          </a:p>
          <a:p xmlns:a="http://schemas.openxmlformats.org/drawingml/2006/main">
            <a:r>
              <a:t>https://www.pnp.ru/person/konstantin-kosachev/</a:t>
            </a:r>
          </a:p>
          <a:p xmlns:a="http://schemas.openxmlformats.org/drawingml/2006/main">
            <a:r>
              <a:t>https://www.pnp.ru/politics/konstantin-kosachev-dlya-ssha-voyna-s-rossiey-eto-samoubiystvo.html</a:t>
            </a:r>
          </a:p>
          <a:p xmlns:a="http://schemas.openxmlformats.org/drawingml/2006/main">
            <a:r>
              <a:t>https://www.mlg.ru/ratings/vlast/senators/10844/</a:t>
            </a:r>
          </a:p>
          <a:p xmlns:a="http://schemas.openxmlformats.org/drawingml/2006/main">
            <a:r>
              <a:t>http://council.gov.ru/events/news/173506/</a:t>
            </a:r>
          </a:p>
          <a:p xmlns:a="http://schemas.openxmlformats.org/drawingml/2006/main">
            <a:r>
              <a:t>https://t.me/s/Kosachev62</a:t>
            </a:r>
          </a:p>
          <a:p xmlns:a="http://schemas.openxmlformats.org/drawingml/2006/main">
            <a:r>
              <a:t>http://council.gov.ru/events/news/177602/</a:t>
            </a:r>
          </a:p>
          <a:p xmlns:a="http://schemas.openxmlformats.org/drawingml/2006/main">
            <a:r>
              <a:t>https://vmeste-rf.tv/programs/205/konstantin-kosachev-sotrudnichestvo-rossii-i-efiopii-itogi-vizita-delegatsii-sf/</a:t>
            </a:r>
          </a:p>
          <a:p xmlns:a="http://schemas.openxmlformats.org/drawingml/2006/main">
            <a:r>
              <a:t>https://www.rbc.ru/person/64b8e1909a79474f30e86f98</a:t>
            </a:r>
          </a:p>
          <a:p xmlns:a="http://schemas.openxmlformats.org/drawingml/2006/main">
            <a:r>
              <a:t>https://www.kommersant.ru/doc/6041063</a:t>
            </a:r>
          </a:p>
          <a:p xmlns:a="http://schemas.openxmlformats.org/drawingml/2006/main">
            <a:r>
              <a:t>https://www.mos.ru/mayor/themes/6907050/</a:t>
            </a:r>
          </a:p>
          <a:p xmlns:a="http://schemas.openxmlformats.org/drawingml/2006/main">
            <a:r>
              <a:t>https://www.mos.ru/mayor/themes/7037050/</a:t>
            </a:r>
          </a:p>
          <a:p xmlns:a="http://schemas.openxmlformats.org/drawingml/2006/main">
            <a:r>
              <a:t>https://www.mos.ru/mayor/themes/8822050/</a:t>
            </a:r>
          </a:p>
          <a:p xmlns:a="http://schemas.openxmlformats.org/drawingml/2006/main">
            <a:r>
              <a:t>http://special.kremlin.ru/catalog/persons/38/events/70467</a:t>
            </a:r>
          </a:p>
          <a:p xmlns:a="http://schemas.openxmlformats.org/drawingml/2006/main">
            <a:r>
              <a:t>https://www.mos.ru/upload/content/files/15af077500dcc5a1547bf728abf25669/15Zakong_Moskviot17_05_2017N14Odopolnitelnihgaranti.pdf</a:t>
            </a:r>
          </a:p>
          <a:p xmlns:a="http://schemas.openxmlformats.org/drawingml/2006/main">
            <a:r>
              <a:t>https://www.rbc.ru/politics/03/05/2023/645245159a794763ce66d990</a:t>
            </a:r>
          </a:p>
          <a:p xmlns:a="http://schemas.openxmlformats.org/drawingml/2006/main">
            <a:r>
              <a:t>https://www.dw.com/ru/ataka-dronov-v-moskve-i-podmoskove-cto-izvestno/a-65771767</a:t>
            </a:r>
          </a:p>
          <a:p xmlns:a="http://schemas.openxmlformats.org/drawingml/2006/main">
            <a:r>
              <a:t>https://www.rbc.ru/politics/01/08/2023/64c856ce9a79471a722e13ad</a:t>
            </a:r>
          </a:p>
          <a:p xmlns:a="http://schemas.openxmlformats.org/drawingml/2006/main">
            <a:r>
              <a:t>https://www.rbc.ru/politics/23/08/2023/64e54f299a794789ddb55c65</a:t>
            </a:r>
          </a:p>
          <a:p xmlns:a="http://schemas.openxmlformats.org/drawingml/2006/main">
            <a:r>
              <a:t>https://ru.wikipedia.org/wiki/Беглов,_Александр_Дмитриевич</a:t>
            </a:r>
          </a:p>
          <a:p xmlns:a="http://schemas.openxmlformats.org/drawingml/2006/main">
            <a:r>
              <a:t>https://www.gov.spb.ru/governor/</a:t>
            </a:r>
          </a:p>
          <a:p xmlns:a="http://schemas.openxmlformats.org/drawingml/2006/main">
            <a:r>
              <a:t>https://www.rbc.ru/politics/30/05/2019/5cf02cf09a79475ed4d2fa3f</a:t>
            </a:r>
          </a:p>
          <a:p xmlns:a="http://schemas.openxmlformats.org/drawingml/2006/main">
            <a:r>
              <a:t>https://www.themoscowtimes.com/2019/09/11/st-petersburg-re-elects-governor-beglov-after-controversial-campaign-a67240</a:t>
            </a:r>
          </a:p>
          <a:p xmlns:a="http://schemas.openxmlformats.org/drawingml/2006/main">
            <a:r>
              <a:t>https://www.gov.spb.ru/press/governor/188637/</a:t>
            </a:r>
          </a:p>
          <a:p xmlns:a="http://schemas.openxmlformats.org/drawingml/2006/main">
            <a:r>
              <a:t>https://www.gov.spb.ru/press/governor/213661/</a:t>
            </a:r>
          </a:p>
          <a:p xmlns:a="http://schemas.openxmlformats.org/drawingml/2006/main">
            <a:r>
              <a:t>https://www.gov.spb.ru/press/governor/258831/</a:t>
            </a:r>
          </a:p>
          <a:p xmlns:a="http://schemas.openxmlformats.org/drawingml/2006/main">
            <a:r>
              <a:t>https://www.gov.spb.ru/governor/interview/7333/</a:t>
            </a:r>
          </a:p>
          <a:p xmlns:a="http://schemas.openxmlformats.org/drawingml/2006/main">
            <a:r>
              <a:t>https://tass.ru/interviews/21839179</a:t>
            </a:r>
          </a:p>
          <a:p xmlns:a="http://schemas.openxmlformats.org/drawingml/2006/main">
            <a:r>
              <a:t>https://www.gov.spb.ru/press/governor/236663/</a:t>
            </a:r>
          </a:p>
          <a:p xmlns:a="http://schemas.openxmlformats.org/drawingml/2006/main">
            <a:r>
              <a:t>https://tvspb.ru/news/2022/09/21/aleksandr-beglov-ukaz-prezidenta-o-chastichnoj-mobilizaczii-byl-trudnym-no-neobhodimym-shagom</a:t>
            </a:r>
          </a:p>
          <a:p xmlns:a="http://schemas.openxmlformats.org/drawingml/2006/main">
            <a:r>
              <a:t>https://spbvedomosti.ru/news/gorod/gubernator-aleksandr-beglov-obyavil-o-zavershenii-chastichnoy-mobilizatsii/</a:t>
            </a:r>
          </a:p>
          <a:p xmlns:a="http://schemas.openxmlformats.org/drawingml/2006/main">
            <a:r>
              <a:t>https://www.gov.spb.ru/press/governor/253716/</a:t>
            </a:r>
          </a:p>
          <a:p xmlns:a="http://schemas.openxmlformats.org/drawingml/2006/main">
            <a:r>
              <a:t>https://www.gov.spb.ru/press/governor/290070/</a:t>
            </a:r>
          </a:p>
          <a:p xmlns:a="http://schemas.openxmlformats.org/drawingml/2006/main">
            <a:r>
              <a:t>https://spbdnevnik.ru/news/2022-10-06/aleksandr-beglov-rasskazal-o-prizyve-po-mobilizatsii-peterburzhtsa-s-odnoy-pochkoy</a:t>
            </a:r>
          </a:p>
          <a:p xmlns:a="http://schemas.openxmlformats.org/drawingml/2006/main">
            <a:r>
              <a:t>https://www.rbc.ru/person/62c5c0899a79470082fa57eb</a:t>
            </a:r>
          </a:p>
          <a:p xmlns:a="http://schemas.openxmlformats.org/drawingml/2006/main">
            <a:r>
              <a:t>https://www.kavkaz-uzel.eu/articles/85366</a:t>
            </a:r>
          </a:p>
          <a:p xmlns:a="http://schemas.openxmlformats.org/drawingml/2006/main">
            <a:r>
              <a:t>https://news.ru/regions/my-dolzhny-zabrat-vsyu-ukrainu-chto-kadyrov-govoril-ob-svo-rossii-putine</a:t>
            </a:r>
          </a:p>
          <a:p xmlns:a="http://schemas.openxmlformats.org/drawingml/2006/main">
            <a:r>
              <a:t>https://minval.az/k/ramzan-kadyrov</a:t>
            </a:r>
          </a:p>
          <a:p xmlns:a="http://schemas.openxmlformats.org/drawingml/2006/main">
            <a:r>
              <a:t>http://publication.pravo.gov.ru/document/2000202609160002</a:t>
            </a:r>
          </a:p>
          <a:p xmlns:a="http://schemas.openxmlformats.org/drawingml/2006/main">
            <a:r>
              <a:t>https://vestikavkaza.ru/amp/291219</a:t>
            </a:r>
          </a:p>
          <a:p xmlns:a="http://schemas.openxmlformats.org/drawingml/2006/main">
            <a:r>
              <a:t>https://tass.ru/obschestvo/25968415</a:t>
            </a:r>
          </a:p>
          <a:p xmlns:a="http://schemas.openxmlformats.org/drawingml/2006/main">
            <a:r>
              <a:t>https://www.rbc.ru/rbcfreenews/694558f89a794775c8b05d2e</a:t>
            </a:r>
          </a:p>
          <a:p xmlns:a="http://schemas.openxmlformats.org/drawingml/2006/main">
            <a:r>
              <a:t>https://rais.tatarstan.ru/biografiya.htm</a:t>
            </a:r>
          </a:p>
          <a:p xmlns:a="http://schemas.openxmlformats.org/drawingml/2006/main">
            <a:r>
              <a:t>https://rt.rbc.ru/tatarstan/freenews/68c7f77d9a79472be550408e</a:t>
            </a:r>
          </a:p>
          <a:p xmlns:a="http://schemas.openxmlformats.org/drawingml/2006/main">
            <a:r>
              <a:t>https://rt.rbc.ru/tatarstan/freenews/68c90bdc9a794783273a16b6</a:t>
            </a:r>
          </a:p>
          <a:p xmlns:a="http://schemas.openxmlformats.org/drawingml/2006/main">
            <a:r>
              <a:t>https://tass.ru/politika/25045679</a:t>
            </a:r>
          </a:p>
          <a:p xmlns:a="http://schemas.openxmlformats.org/drawingml/2006/main">
            <a:r>
              <a:t>https://tass.ru/info/25058299</a:t>
            </a:r>
          </a:p>
          <a:p xmlns:a="http://schemas.openxmlformats.org/drawingml/2006/main">
            <a:r>
              <a:t>https://tatarstan.ru/index.htm/news/2454245.htm</a:t>
            </a:r>
          </a:p>
          <a:p xmlns:a="http://schemas.openxmlformats.org/drawingml/2006/main">
            <a:r>
              <a:t>https://izbirkom.tatarstan.ru/file/pub/pub_4719790.docx</a:t>
            </a:r>
          </a:p>
          <a:p xmlns:a="http://schemas.openxmlformats.org/drawingml/2006/main">
            <a:r>
              <a:t>http://www.pfo.gov.ru/press/events/112125/</a:t>
            </a:r>
          </a:p>
          <a:p xmlns:a="http://schemas.openxmlformats.org/drawingml/2006/main">
            <a:r>
              <a:t>https://www.tatar-inform.ru/news/rustam-minnixanov-sankcii-ne-koncatsya-poka-my-ne-stanem-samodostatocnymi-5896958</a:t>
            </a:r>
          </a:p>
          <a:p xmlns:a="http://schemas.openxmlformats.org/drawingml/2006/main">
            <a:r>
              <a:t>https://tatarstan.ru/index.htm/news/1916025.htm</a:t>
            </a:r>
          </a:p>
          <a:p xmlns:a="http://schemas.openxmlformats.org/drawingml/2006/main">
            <a:r>
              <a:t>https://kitaphane.tatarstan.ru/digital.htm</a:t>
            </a:r>
          </a:p>
          <a:p xmlns:a="http://schemas.openxmlformats.org/drawingml/2006/main">
            <a:r>
              <a:t>https://kt.tatarstan.ru/index.htm/news/2266706.htm</a:t>
            </a:r>
          </a:p>
          <a:p xmlns:a="http://schemas.openxmlformats.org/drawingml/2006/main">
            <a:r>
              <a:t>https://tatarstan.ru/index.htm/news/2460505.htm</a:t>
            </a:r>
          </a:p>
          <a:p xmlns:a="http://schemas.openxmlformats.org/drawingml/2006/main">
            <a:r>
              <a:t>https://digital.tatarstan.ru/index.htm/news/2460691.htm</a:t>
            </a:r>
          </a:p>
          <a:p xmlns:a="http://schemas.openxmlformats.org/drawingml/2006/main">
            <a:r>
              <a:t>https://amp.rbc.ru/rbcnews/politics/09/07/2020/5f06bbb69a79475c40a9a094</a:t>
            </a:r>
          </a:p>
          <a:p xmlns:a="http://schemas.openxmlformats.org/drawingml/2006/main">
            <a:r>
              <a:t>https://1kas.sudrf.ru/modules.php?name=sud_delo&amp;name_op=doc&amp;number=39453936&amp;delo_id=2450001&amp;case_type=0&amp;new=2450001&amp;text_number=1&amp;srv_num=1</a:t>
            </a:r>
          </a:p>
          <a:p xmlns:a="http://schemas.openxmlformats.org/drawingml/2006/main">
            <a:r>
              <a:t>https://www.interfax.ru/russia/982916</a:t>
            </a:r>
          </a:p>
          <a:p xmlns:a="http://schemas.openxmlformats.org/drawingml/2006/main">
            <a:r>
              <a:t>https://www.svoboda.org/a/sud-ostavil-v-sile-prigovor-habarovskomu-eks-gubernatoru-sergeyu-furgalu/32686024.html</a:t>
            </a:r>
          </a:p>
          <a:p xmlns:a="http://schemas.openxmlformats.org/drawingml/2006/main">
            <a:r>
              <a:t>https://www.dw.com/ru/kommentarij-furgal-peresidit-putina/a-64670560</a:t>
            </a:r>
          </a:p>
          <a:p xmlns:a="http://schemas.openxmlformats.org/drawingml/2006/main">
            <a:r>
              <a:t>https://www.kommersant.ru/doc/3896415</a:t>
            </a:r>
          </a:p>
          <a:p xmlns:a="http://schemas.openxmlformats.org/drawingml/2006/main">
            <a:r>
              <a:t>https://todaykhv.ru/news/policy/19386/</a:t>
            </a:r>
          </a:p>
          <a:p xmlns:a="http://schemas.openxmlformats.org/drawingml/2006/main">
            <a:r>
              <a:t>https://meduza.io/feature/2018/09/19/ya-dumayu-chto-situatsiya-kak-v-primorie-u-nas-ne-povtoritsya</a:t>
            </a:r>
          </a:p>
          <a:p xmlns:a="http://schemas.openxmlformats.org/drawingml/2006/main">
            <a:r>
              <a:t>https://govoritmoskva.ru/news/174327/</a:t>
            </a:r>
          </a:p>
          <a:p xmlns:a="http://schemas.openxmlformats.org/drawingml/2006/main">
            <a:r>
              <a:t>https://todaykhv.ru/news/policy/22426/?sphrase_id=2620206</a:t>
            </a:r>
          </a:p>
          <a:p xmlns:a="http://schemas.openxmlformats.org/drawingml/2006/main">
            <a:r>
              <a:t>https://ru.wikipedia.org/wiki/%D0%A4%D1%83%D1%80%D0%B3%D0%B0%D0%BB,_%D0%A1%D0%B5%D1%80%D0%B3%D0%B5%D0%B9_%D0%98%D0%B2%D0%B0%D0%BD%D0%BE%D0%B2%D0%B8%D1%87</a:t>
            </a:r>
          </a:p>
          <a:p xmlns:a="http://schemas.openxmlformats.org/drawingml/2006/main">
            <a:r>
              <a:t>https://novayagazeta.ru/articles/2018/09/18/77870-ne-dopuschu-zdes-revolyutsii</a:t>
            </a:r>
          </a:p>
          <a:p xmlns:a="http://schemas.openxmlformats.org/drawingml/2006/main">
            <a:r>
              <a:t>https://opkhv.ru/publications/4888</a:t>
            </a:r>
          </a:p>
          <a:p xmlns:a="http://schemas.openxmlformats.org/drawingml/2006/main">
            <a:r>
              <a:t>https://meduza.io/feature/2019/08/26/partiya-vlasti-zdes-ldpr</a:t>
            </a:r>
          </a:p>
          <a:p xmlns:a="http://schemas.openxmlformats.org/drawingml/2006/main">
            <a:r>
              <a:t>https://tass.ru/obschestvo/5946495</a:t>
            </a:r>
          </a:p>
          <a:p xmlns:a="http://schemas.openxmlformats.org/drawingml/2006/main">
            <a:r>
              <a:t>https://amurmedia.ru/news/775590/</a:t>
            </a:r>
          </a:p>
          <a:p xmlns:a="http://schemas.openxmlformats.org/drawingml/2006/main">
            <a:r>
              <a:t>https://www.eastrussia.ru/material/ne-planiruyushchim-pereezzhat-sovetuyu-pomolchat/</a:t>
            </a:r>
          </a:p>
          <a:p xmlns:a="http://schemas.openxmlformats.org/drawingml/2006/main">
            <a:r>
              <a:t>https://www.dw.com/ru/v-habarovske-priznali-ekstremistskim-dvizenie-v-zasitu-furgala/a-68334442</a:t>
            </a:r>
          </a:p>
          <a:p xmlns:a="http://schemas.openxmlformats.org/drawingml/2006/main">
            <a:r>
              <a:t>https://www.rbc.ru/person/66475fec9a79475c4d9443ad</a:t>
            </a:r>
          </a:p>
          <a:p xmlns:a="http://schemas.openxmlformats.org/drawingml/2006/main">
            <a:r>
              <a:t>https://tass.ru/info/12453099</a:t>
            </a:r>
          </a:p>
          <a:p xmlns:a="http://schemas.openxmlformats.org/drawingml/2006/main">
            <a:r>
              <a:t>https://tass.ru/info/9007455</a:t>
            </a:r>
          </a:p>
          <a:p xmlns:a="http://schemas.openxmlformats.org/drawingml/2006/main">
            <a:r>
              <a:t>https://tass.ru/info/20795009</a:t>
            </a:r>
          </a:p>
          <a:p xmlns:a="http://schemas.openxmlformats.org/drawingml/2006/main">
            <a:r>
              <a:t>https://tass.ru/encyclopedia/person/degtyarev-mihail-vladimirovich</a:t>
            </a:r>
          </a:p>
          <a:p xmlns:a="http://schemas.openxmlformats.org/drawingml/2006/main">
            <a:r>
              <a:t>https://www.rbc.ru/politics/20/07/2020/5f1586289a794722b2457d61</a:t>
            </a:r>
          </a:p>
          <a:p xmlns:a="http://schemas.openxmlformats.org/drawingml/2006/main">
            <a:r>
              <a:t>https://www.minsport.gov.ru/press-center/news/intervyu-mihaila-degtyareva-gazete-kommersant/</a:t>
            </a:r>
          </a:p>
          <a:p xmlns:a="http://schemas.openxmlformats.org/drawingml/2006/main">
            <a:r>
              <a:t>https://minsport.gov.ru/press-center/news/mihail-degtyarev-nashe-mesto-za-stolom-a-ne-v-perednej/</a:t>
            </a:r>
          </a:p>
          <a:p xmlns:a="http://schemas.openxmlformats.org/drawingml/2006/main">
            <a:r>
              <a:t>https://news.ru/vlast/degtyarev-prizval-ne-doveryat-evrope-provedenie-sorevnovanij</a:t>
            </a:r>
          </a:p>
          <a:p xmlns:a="http://schemas.openxmlformats.org/drawingml/2006/main">
            <a:r>
              <a:t>https://www.interfax.ru/presscenter/622170</a:t>
            </a:r>
          </a:p>
          <a:p xmlns:a="http://schemas.openxmlformats.org/drawingml/2006/main">
            <a:r>
              <a:t>https://tass.ru/interviews/13152777</a:t>
            </a:r>
          </a:p>
          <a:p xmlns:a="http://schemas.openxmlformats.org/drawingml/2006/main">
            <a:r>
              <a:t>https://www.sports.ru/others/blogs/3302024.html</a:t>
            </a:r>
          </a:p>
          <a:p xmlns:a="http://schemas.openxmlformats.org/drawingml/2006/main">
            <a:r>
              <a:t>https://www.vremyan.ru/news/556863</a:t>
            </a:r>
          </a:p>
          <a:p xmlns:a="http://schemas.openxmlformats.org/drawingml/2006/main">
            <a:r>
              <a:t>https://kprf.ru/personal/levchenko</a:t>
            </a:r>
          </a:p>
          <a:p xmlns:a="http://schemas.openxmlformats.org/drawingml/2006/main">
            <a:r>
              <a:t>https://www.rbc.ru/politics/23/06/2020/5ef0bd949a7947b3cd3dcba6</a:t>
            </a:r>
          </a:p>
          <a:p xmlns:a="http://schemas.openxmlformats.org/drawingml/2006/main">
            <a:r>
              <a:t>https://kprf.ru/party-live/regnews/194838.html</a:t>
            </a:r>
          </a:p>
          <a:p xmlns:a="http://schemas.openxmlformats.org/drawingml/2006/main">
            <a:r>
              <a:t>https://liveangarsk.ru/news/20191214/v-slozhivsheisya</a:t>
            </a:r>
          </a:p>
          <a:p xmlns:a="http://schemas.openxmlformats.org/drawingml/2006/main">
            <a:r>
              <a:t>https://kprf.ru/dep/gosduma/activities/240271.html</a:t>
            </a:r>
          </a:p>
          <a:p xmlns:a="http://schemas.openxmlformats.org/drawingml/2006/main">
            <a:r>
              <a:t>https://kprf.ru/dep/gosduma/activities/241686.html</a:t>
            </a:r>
          </a:p>
          <a:p xmlns:a="http://schemas.openxmlformats.org/drawingml/2006/main">
            <a:r>
              <a:t>https://altairk.ru/new/policy/the_message_of_the_governor</a:t>
            </a:r>
          </a:p>
          <a:p xmlns:a="http://schemas.openxmlformats.org/drawingml/2006/main">
            <a:r>
              <a:t>https://kto-irkutsk.ru/2026/07/20/sergej-levchenko-deyatelnost-i-zayavleniya-i-ix-ocenka/</a:t>
            </a:r>
          </a:p>
          <a:p xmlns:a="http://schemas.openxmlformats.org/drawingml/2006/main">
            <a:r>
              <a:t>https://ru.wikipedia.org/wiki/%D0%9B%D0%B5%D0%B2%D1%87%D0%B5%D0%BD%D0%BA%D0%BE,_%D0%A1%D0%B5%D1%80%D0%B3%D0%B5%D0%B9_%D0%93%D0%B5%D0%BE%D1%80%D0%B3%D0%B8%D0%B5%D0%B2%D0%B8%D1%87</a:t>
            </a:r>
          </a:p>
          <a:p xmlns:a="http://schemas.openxmlformats.org/drawingml/2006/main">
            <a:r>
              <a:t>https://www.newsru.com/dossiers/10330/</a:t>
            </a:r>
          </a:p>
          <a:p xmlns:a="http://schemas.openxmlformats.org/drawingml/2006/main">
            <a:r>
              <a:t>https://www.interfax.ru/russia/714300</a:t>
            </a:r>
          </a:p>
          <a:p xmlns:a="http://schemas.openxmlformats.org/drawingml/2006/main">
            <a:r>
              <a:t>https://www.rbc.ru/politics/14/09/2020/5f5e7dfb9a79477f7753d651</a:t>
            </a:r>
          </a:p>
          <a:p xmlns:a="http://schemas.openxmlformats.org/drawingml/2006/main">
            <a:r>
              <a:t>https://www.rline.tv/podrobnosti/2019-10-06-sergey-levchenko-za-chetyre-goda-sdelano-bolshe-chem-za-predydushchie-15-let/</a:t>
            </a:r>
          </a:p>
          <a:p xmlns:a="http://schemas.openxmlformats.org/drawingml/2006/main">
            <a:r>
              <a:t>https://vs19.ru/verhovny-sovet/deputati/670-konovalov-valentin-olegovich</a:t>
            </a:r>
          </a:p>
          <a:p xmlns:a="http://schemas.openxmlformats.org/drawingml/2006/main">
            <a:r>
              <a:t>https://meduza.io/feature/2018/09/10/etu-vlast-nichego-ne-spaset</a:t>
            </a:r>
          </a:p>
          <a:p xmlns:a="http://schemas.openxmlformats.org/drawingml/2006/main">
            <a:r>
              <a:t>https://kprf.ru/party-live/regnews/188553.html</a:t>
            </a:r>
          </a:p>
          <a:p xmlns:a="http://schemas.openxmlformats.org/drawingml/2006/main">
            <a:r>
              <a:t>https://www.kommersant.ru/doc/4441936</a:t>
            </a:r>
          </a:p>
          <a:p xmlns:a="http://schemas.openxmlformats.org/drawingml/2006/main">
            <a:r>
              <a:t>http://www.youtube.com/watch?v=eO6lUkFCAqM</a:t>
            </a:r>
          </a:p>
          <a:p xmlns:a="http://schemas.openxmlformats.org/drawingml/2006/main">
            <a:r>
              <a:t>https://ru.wikipedia.org/wiki/%D0%92%D1%8B%D0%B1%D0%BE%D1%80%D1%8B_%D0%B3%D0%BB%D0%B0%D0%B2%D1%8B_%D0%A0%D0%B5%D1%81%D0%BF%D1%83%D0%B1%D0%BB%D0%B8%D0%BA%D0%B8_%D0%A5%D0%B0%D0%BA%D0%B0%D1%81%D0%B8%D1%8F_(2018)</a:t>
            </a:r>
          </a:p>
          <a:p xmlns:a="http://schemas.openxmlformats.org/drawingml/2006/main">
            <a:r>
              <a:t>https://ok.ru/group/51615057903766/topic/157744983021718</a:t>
            </a:r>
          </a:p>
          <a:p xmlns:a="http://schemas.openxmlformats.org/drawingml/2006/main">
            <a:r>
              <a:t>https://kprf.ru/party-live/cknews/245343.html</a:t>
            </a:r>
          </a:p>
          <a:p xmlns:a="http://schemas.openxmlformats.org/drawingml/2006/main">
            <a:r>
              <a:t>https://r-19.ru/news/politika/190680/</a:t>
            </a:r>
          </a:p>
          <a:p xmlns:a="http://schemas.openxmlformats.org/drawingml/2006/main">
            <a:r>
              <a:t>https://r-19.ru/news/ekonomika/193031/</a:t>
            </a:r>
          </a:p>
          <a:p xmlns:a="http://schemas.openxmlformats.org/drawingml/2006/main">
            <a:r>
              <a:t>https://19rusinfo.ru/ekonomika/118670-otchjot</a:t>
            </a:r>
          </a:p>
          <a:p xmlns:a="http://schemas.openxmlformats.org/drawingml/2006/main">
            <a:r>
              <a:t>https://iditena.ru/candidates/konovalov-valentin-olegovich/</a:t>
            </a:r>
          </a:p>
          <a:p xmlns:a="http://schemas.openxmlformats.org/drawingml/2006/main">
            <a:r>
              <a:t>https://56.kprf.ru/deyatelnost/tpost/gjjjuy1zi1-glava-hakasii-valentin-konovalov-dal-int</a:t>
            </a:r>
          </a:p>
          <a:p xmlns:a="http://schemas.openxmlformats.org/drawingml/2006/main">
            <a:r>
              <a:t>https://meduza.io/feature/2019/05/31/strana-pobedivshego-kommunista</a:t>
            </a:r>
          </a:p>
          <a:p xmlns:a="http://schemas.openxmlformats.org/drawingml/2006/main">
            <a:r>
              <a:t>https://xn--80aac0c2a.xn--p1acf/2026/08/22/vstrecha-s-uchastiem-valentina-konovalova-i-alekseya-kornienko-proshla-v-habarovske</a:t>
            </a:r>
          </a:p>
          <a:p xmlns:a="http://schemas.openxmlformats.org/drawingml/2006/main">
            <a:r>
              <a:t>https://www.vedomosti.ru/politics/characters/2026/07/06/1211370-valentin-konovalov-rossiya-na-moskve-ne-zakanchivaetsya?from=newsline</a:t>
            </a:r>
          </a:p>
          <a:p xmlns:a="http://schemas.openxmlformats.org/drawingml/2006/main">
            <a:r>
              <a:t>https://www.vedomosti.ru/person/1215197-aksenov-sergei</a:t>
            </a:r>
          </a:p>
          <a:p xmlns:a="http://schemas.openxmlformats.org/drawingml/2006/main">
            <a:r>
              <a:t>https://www.rbc.ru/person/65f020599a79475815e702c9</a:t>
            </a:r>
          </a:p>
          <a:p xmlns:a="http://schemas.openxmlformats.org/drawingml/2006/main">
            <a:r>
              <a:t>http://crimea.gov.ru/news/30_03_18_10</a:t>
            </a:r>
          </a:p>
          <a:p xmlns:a="http://schemas.openxmlformats.org/drawingml/2006/main">
            <a:r>
              <a:t>https://www.npr.org/sections/parallels/2018/01/27/581114772/putins-man-in-crimea-we-ve-returned-to-russia-forever</a:t>
            </a:r>
          </a:p>
          <a:p xmlns:a="http://schemas.openxmlformats.org/drawingml/2006/main">
            <a:r>
              <a:t>http://crimea.gov.ru/en/news/26_02_19_6</a:t>
            </a:r>
          </a:p>
          <a:p xmlns:a="http://schemas.openxmlformats.org/drawingml/2006/main">
            <a:r>
              <a:t>https://antifashist.com/item/kto-polomal-infopole-kryma-i-ne-otvechaet-na-voprosy.html</a:t>
            </a:r>
          </a:p>
          <a:p xmlns:a="http://schemas.openxmlformats.org/drawingml/2006/main">
            <a:r>
              <a:t>https://ru.krymr.com/a/news/27913548.html</a:t>
            </a:r>
          </a:p>
          <a:p xmlns:a="http://schemas.openxmlformats.org/drawingml/2006/main">
            <a:r>
              <a:t>https://simfch.ru/2022/03/02/glava-respubliki-krym-sergej-aksyonov-prizval-krymchan-k-informaczionnoj-mobilizaczii-otkrytomu-i-publichnomu-vyrazheniyu-svoej-patrioticheskoj-poziczii/</a:t>
            </a:r>
          </a:p>
          <a:p xmlns:a="http://schemas.openxmlformats.org/drawingml/2006/main">
            <a:r>
              <a:t>https://www.rbc.ru/politics/29/05/2023/64749e389a7947f3de98dff2</a:t>
            </a:r>
          </a:p>
          <a:p xmlns:a="http://schemas.openxmlformats.org/drawingml/2006/main">
            <a:r>
              <a:t>https://ru.krymr.com/a/krym-sergey-aksenov-pvo-prilety-bavovna-bezopasnost-pvo-udar/32631709.html</a:t>
            </a:r>
          </a:p>
          <a:p xmlns:a="http://schemas.openxmlformats.org/drawingml/2006/main">
            <a:r>
              <a:t>https://rostov.rbc.ru/rostov/interview/18/03/2024/65f75c4f9a7947c8b475ab94</a:t>
            </a:r>
          </a:p>
          <a:p xmlns:a="http://schemas.openxmlformats.org/drawingml/2006/main">
            <a:r>
              <a:t>https://www.kommersant.ru/doc/7715230</a:t>
            </a:r>
          </a:p>
          <a:p xmlns:a="http://schemas.openxmlformats.org/drawingml/2006/main">
            <a:r>
              <a:t>https://www.kommersant.ru/doc/5154319</a:t>
            </a:r>
          </a:p>
          <a:p xmlns:a="http://schemas.openxmlformats.org/drawingml/2006/main">
            <a:r>
              <a:t>https://www.rbc.ru/person/660290b19a7947801fe9439b</a:t>
            </a:r>
          </a:p>
          <a:p xmlns:a="http://schemas.openxmlformats.org/drawingml/2006/main">
            <a:r>
              <a:t>https://www.kommersant.ru/doc/3759211</a:t>
            </a:r>
          </a:p>
          <a:p xmlns:a="http://schemas.openxmlformats.org/drawingml/2006/main">
            <a:r>
              <a:t>https://tass.ru/info/6656656</a:t>
            </a:r>
          </a:p>
          <a:p xmlns:a="http://schemas.openxmlformats.org/drawingml/2006/main">
            <a:r>
              <a:t>https://sevastopol.er.ru/pages/otchet-gubernatora-sevastopolya-mihaila-razvozhaeva</a:t>
            </a:r>
          </a:p>
          <a:p xmlns:a="http://schemas.openxmlformats.org/drawingml/2006/main">
            <a:r>
              <a:t>http://special.kremlin.ru/catalog/persons/579/events/76271</a:t>
            </a:r>
          </a:p>
          <a:p xmlns:a="http://schemas.openxmlformats.org/drawingml/2006/main">
            <a:r>
              <a:t>https://sevastopol.su/news/chastnyy-biznes-vlozhil-v-sevastopol-250-mlrd-rubley-za-tri-goda</a:t>
            </a:r>
          </a:p>
          <a:p xmlns:a="http://schemas.openxmlformats.org/drawingml/2006/main">
            <a:r>
              <a:t>https://sevastopol.su/news/v-sevastopole-ocenili-perspektivy-mikhaila-razvozhaeva-na-sleduyuschikh-vyborakh</a:t>
            </a:r>
          </a:p>
          <a:p xmlns:a="http://schemas.openxmlformats.org/drawingml/2006/main">
            <a:r>
              <a:t>https://tass.ru/interviews/10248577</a:t>
            </a:r>
          </a:p>
          <a:p xmlns:a="http://schemas.openxmlformats.org/drawingml/2006/main">
            <a:r>
              <a:t>https://news.ru/russia/u-nas-smelye-plany-gubernator-sevastopolya-razvozzhaev-o-budushem-goroda</a:t>
            </a:r>
          </a:p>
          <a:p xmlns:a="http://schemas.openxmlformats.org/drawingml/2006/main">
            <a:r>
              <a:t>http://kremlin.ru/events/administration/80838</a:t>
            </a:r>
          </a:p>
          <a:p xmlns:a="http://schemas.openxmlformats.org/drawingml/2006/main">
            <a:r>
              <a:t>https://tass.ru/kultura/28214691</a:t>
            </a:r>
          </a:p>
          <a:p xmlns:a="http://schemas.openxmlformats.org/drawingml/2006/main">
            <a:r>
              <a:t>http://kremlin.ru/events/administration/80591</a:t>
            </a:r>
          </a:p>
          <a:p xmlns:a="http://schemas.openxmlformats.org/drawingml/2006/main">
            <a:r>
              <a:t>https://governors.ru/glava-regiona/Belgorodskaya-oblast/Gladkov-Vyacheslav-Vladimirovich</a:t>
            </a:r>
          </a:p>
          <a:p xmlns:a="http://schemas.openxmlformats.org/drawingml/2006/main">
            <a:r>
              <a:t>https://ru.wikipedia.org/wiki/%D0%93%D0%BB%D0%B0%D0%B4%D0%BA%D0%BE%D0%B2,_%D0%92%D1%8F%D1%87%D0%B5%D1%81%D0%BB%D0%B0%D0%B2_%D0%92%D0%BB%D0%B0%D0%B4%D0%B8%D0%BC%D0%B8%D1%80%D0%BE%D0%B2%D0%B8%D1%87</a:t>
            </a:r>
          </a:p>
          <a:p xmlns:a="http://schemas.openxmlformats.org/drawingml/2006/main">
            <a:r>
              <a:t>http://council.gov.ru/structure/persons/1543/</a:t>
            </a:r>
          </a:p>
          <a:p xmlns:a="http://schemas.openxmlformats.org/drawingml/2006/main">
            <a:r>
              <a:t>https://ufa.rbc.ru/person/648345539a794760fd0c17e8</a:t>
            </a:r>
          </a:p>
          <a:p xmlns:a="http://schemas.openxmlformats.org/drawingml/2006/main">
            <a:r>
              <a:t>https://www.kommersant.ru/doc/8571119</a:t>
            </a:r>
          </a:p>
          <a:p xmlns:a="http://schemas.openxmlformats.org/drawingml/2006/main">
            <a:r>
              <a:t>https://www.kommersant.ru/doc/8655079</a:t>
            </a:r>
          </a:p>
          <a:p xmlns:a="http://schemas.openxmlformats.org/drawingml/2006/main">
            <a:r>
              <a:t>https://tass.ru/info/27861241</a:t>
            </a:r>
          </a:p>
          <a:p xmlns:a="http://schemas.openxmlformats.org/drawingml/2006/main">
            <a:r>
              <a:t>https://meduza.io/feature/2023/06/08/emu-by-vse-eto-razgresti</a:t>
            </a:r>
          </a:p>
          <a:p xmlns:a="http://schemas.openxmlformats.org/drawingml/2006/main">
            <a:r>
              <a:t>http://www.kremlin.ru/events/president/transcripts/66288</a:t>
            </a:r>
          </a:p>
          <a:p xmlns:a="http://schemas.openxmlformats.org/drawingml/2006/main">
            <a:r>
              <a:t>https://www.belpressa.ru/politics/vlast/62665.html</a:t>
            </a:r>
          </a:p>
          <a:p xmlns:a="http://schemas.openxmlformats.org/drawingml/2006/main">
            <a:r>
              <a:t>https://www.belpressa.ru/politics/vlast/71368.html</a:t>
            </a:r>
          </a:p>
          <a:p xmlns:a="http://schemas.openxmlformats.org/drawingml/2006/main">
            <a:r>
              <a:t>https://www.belnovosti.ru/politika/gubernator/127077.html</a:t>
            </a:r>
          </a:p>
          <a:p xmlns:a="http://schemas.openxmlformats.org/drawingml/2006/main">
            <a:r>
              <a:t>https://chr.plus.rbc.ru/news/694b9fb67a8aa90f9c2ce17d</a:t>
            </a:r>
          </a:p>
          <a:p xmlns:a="http://schemas.openxmlformats.org/drawingml/2006/main">
            <a:r>
              <a:t>https://www.belpressa.ru/society/bezopasnost/43348.html</a:t>
            </a:r>
          </a:p>
          <a:p xmlns:a="http://schemas.openxmlformats.org/drawingml/2006/main">
            <a:r>
              <a:t>https://www.rbc.ru/politics/07/03/2023/640758bf9a7947f6af99d464</a:t>
            </a:r>
          </a:p>
          <a:p xmlns:a="http://schemas.openxmlformats.org/drawingml/2006/main">
            <a:r>
              <a:t>https://www.rbc.ru/politics/24/05/2023/646d22029a794797c4bac4bf</a:t>
            </a:r>
          </a:p>
          <a:p xmlns:a="http://schemas.openxmlformats.org/drawingml/2006/main">
            <a:r>
              <a:t>https://www.bbc.com/russian/articles/c70dkd0pvrlo</a:t>
            </a:r>
          </a:p>
          <a:p xmlns:a="http://schemas.openxmlformats.org/drawingml/2006/main">
            <a:r>
              <a:t>https://www.go31.ru/news/proisshestviya/kak-nikto-drugoy-ponimaem-chto-takoe-agressiya-so-storony-ukrainy-gladkov-o-proryve-granitsy-v-kursk/</a:t>
            </a:r>
          </a:p>
          <a:p xmlns:a="http://schemas.openxmlformats.org/drawingml/2006/main">
            <a:r>
              <a:t>https://echofm.online/portret-dnya/portret-dnya-vyacheslav-gladkov-gubernator-belgorodskoj-oblasti-prognozy-o-sudbe-kotorogo-raznyatsya-ot-posta-posla-v-abhazii-do-ugolovnogo-dela</a:t>
            </a:r>
          </a:p>
          <a:p xmlns:a="http://schemas.openxmlformats.org/drawingml/2006/main">
            <a:r>
              <a:t>https://www.kommersant.ru/doc/3917861</a:t>
            </a:r>
          </a:p>
          <a:p xmlns:a="http://schemas.openxmlformats.org/drawingml/2006/main">
            <a:r>
              <a:t>https://minstroyrf.gov.ru/press/okolo-40-kontsessionnykh-soglasheniy-v-rossii-deystvuet-v-sfere-zhkkh/</a:t>
            </a:r>
          </a:p>
          <a:p xmlns:a="http://schemas.openxmlformats.org/drawingml/2006/main">
            <a:r>
              <a:t>https://newsroom24.ru/murmansk/news/politics/2026/news_323931/</a:t>
            </a:r>
          </a:p>
          <a:p xmlns:a="http://schemas.openxmlformats.org/drawingml/2006/main">
            <a:r>
              <a:t>https://murmansk.ru/52053</a:t>
            </a:r>
          </a:p>
          <a:p xmlns:a="http://schemas.openxmlformats.org/drawingml/2006/main">
            <a:r>
              <a:t>https://51.ru/text/gorod/2026/01/22/76228112/</a:t>
            </a:r>
          </a:p>
          <a:p xmlns:a="http://schemas.openxmlformats.org/drawingml/2006/main">
            <a:r>
              <a:t>https://www.murman.ru/news/2026/05/02/2334/</a:t>
            </a:r>
          </a:p>
          <a:p xmlns:a="http://schemas.openxmlformats.org/drawingml/2006/main">
            <a:r>
              <a:t>https://murman.ru/news/2026/09/06/2141/</a:t>
            </a:r>
          </a:p>
          <a:p xmlns:a="http://schemas.openxmlformats.org/drawingml/2006/main">
            <a:r>
              <a:t>https://www.murman.ru/news/2026/09/13/2242/</a:t>
            </a:r>
          </a:p>
          <a:p xmlns:a="http://schemas.openxmlformats.org/drawingml/2006/main">
            <a:r>
              <a:t>https://ru.wikipedia.org/wiki/%D0%A7%D0%B8%D0%B1%D0%B8%D1%81,_%D0%90%D0%BD%D0%B4%D1%80%D0%B5%D0%B9_%D0%92%D0%BB%D0%B0%D0%B4%D0%B8%D0%BC%D0%B8%D1%80%D0%BE%D0%B2%D0%B8%D1%87</a:t>
            </a:r>
          </a:p>
          <a:p xmlns:a="http://schemas.openxmlformats.org/drawingml/2006/main">
            <a:r>
              <a:t>https://tass.ru/obschestvo/23491353</a:t>
            </a:r>
          </a:p>
          <a:p xmlns:a="http://schemas.openxmlformats.org/drawingml/2006/main">
            <a:r>
              <a:t>https://www.murman.ru/news/2026/09/03/2243/</a:t>
            </a:r>
          </a:p>
          <a:p xmlns:a="http://schemas.openxmlformats.org/drawingml/2006/main">
            <a:r>
              <a:t>https://msp.citymurmansk.ru/news/2026/09/03/0930/</a:t>
            </a:r>
          </a:p>
          <a:p xmlns:a="http://schemas.openxmlformats.org/drawingml/2006/main">
            <a:r>
              <a:t>http://kremlin.ru/events/president/letters/80916</a:t>
            </a:r>
          </a:p>
          <a:p xmlns:a="http://schemas.openxmlformats.org/drawingml/2006/main">
            <a:r>
              <a:t>https://www.murmansk.kp.ru/daily/277813.4/5300258/</a:t>
            </a:r>
          </a:p>
          <a:p xmlns:a="http://schemas.openxmlformats.org/drawingml/2006/main">
            <a:r>
              <a:t>https://www.fontanka.ru/2021/07/27/70046798/</a:t>
            </a:r>
          </a:p>
          <a:p xmlns:a="http://schemas.openxmlformats.org/drawingml/2006/main">
            <a:r>
              <a:t>https://www.kommersant.ru/doc/4639758</a:t>
            </a:r>
          </a:p>
          <a:p xmlns:a="http://schemas.openxmlformats.org/drawingml/2006/main">
            <a:r>
              <a:t>https://www.bbc.com/russian/news-55614829</a:t>
            </a:r>
          </a:p>
          <a:p xmlns:a="http://schemas.openxmlformats.org/drawingml/2006/main">
            <a:r>
              <a:t>https://newpeople.ru/Deputy/sardana-avksenteva</a:t>
            </a:r>
          </a:p>
          <a:p xmlns:a="http://schemas.openxmlformats.org/drawingml/2006/main">
            <a:r>
              <a:t>https://www.pnp.ru/economics/kontrol-za-koncessionnymi-soglasheniyami-predlozhili-usilit.html</a:t>
            </a:r>
          </a:p>
          <a:p xmlns:a="http://schemas.openxmlformats.org/drawingml/2006/main">
            <a:r>
              <a:t>https://www.ng.ru/politics/2024-12-05/1_9150_right.html</a:t>
            </a:r>
          </a:p>
          <a:p xmlns:a="http://schemas.openxmlformats.org/drawingml/2006/main">
            <a:r>
              <a:t>https://news.ru/society/v-novyh-lyudyah-rasskazali-o-glavnyh-zadachah-partii-pered-vyborami</a:t>
            </a:r>
          </a:p>
          <a:p xmlns:a="http://schemas.openxmlformats.org/drawingml/2006/main">
            <a:r>
              <a:t>https://www.kommersant.ru/doc/8939397</a:t>
            </a:r>
          </a:p>
          <a:p xmlns:a="http://schemas.openxmlformats.org/drawingml/2006/main">
            <a:r>
              <a:t>https://tass.ru/info/5220823</a:t>
            </a:r>
          </a:p>
          <a:p xmlns:a="http://schemas.openxmlformats.org/drawingml/2006/main">
            <a:r>
              <a:t>https://tass.ru/info/15547711</a:t>
            </a:r>
          </a:p>
          <a:p xmlns:a="http://schemas.openxmlformats.org/drawingml/2006/main">
            <a:r>
              <a:t>https://www.bbc.com/russian/features-62661643</a:t>
            </a:r>
          </a:p>
          <a:p xmlns:a="http://schemas.openxmlformats.org/drawingml/2006/main">
            <a:r>
              <a:t>https://www.kommersant.ru/doc/3298219</a:t>
            </a:r>
          </a:p>
          <a:p xmlns:a="http://schemas.openxmlformats.org/drawingml/2006/main">
            <a:r>
              <a:t>https://www.svoboda.org/a/31217129.html</a:t>
            </a:r>
          </a:p>
          <a:p xmlns:a="http://schemas.openxmlformats.org/drawingml/2006/main">
            <a:r>
              <a:t>https://www.interfax.ru/russia/902059</a:t>
            </a:r>
          </a:p>
          <a:p xmlns:a="http://schemas.openxmlformats.org/drawingml/2006/main">
            <a:r>
              <a:t>https://www.bfm.ru/news/525620</a:t>
            </a:r>
          </a:p>
          <a:p xmlns:a="http://schemas.openxmlformats.org/drawingml/2006/main">
            <a:r>
              <a:t>https://novayagazeta.ru/articles/2023/03/16/do-urovnia-myshei-media</a:t>
            </a:r>
          </a:p>
          <a:p xmlns:a="http://schemas.openxmlformats.org/drawingml/2006/main">
            <a:r>
              <a:t>https://tjournal.ru/71076</a:t>
            </a:r>
          </a:p>
          <a:p xmlns:a="http://schemas.openxmlformats.org/drawingml/2006/main">
            <a:r>
              <a:t>https://www.nakanune.ru/articles/111648/</a:t>
            </a:r>
          </a:p>
          <a:p xmlns:a="http://schemas.openxmlformats.org/drawingml/2006/main">
            <a:r>
              <a:t>https://adcmemorial.org/statyi/kolonki/neprotivlenie-rasizmu/</a:t>
            </a:r>
          </a:p>
          <a:p xmlns:a="http://schemas.openxmlformats.org/drawingml/2006/main">
            <a:r>
              <a:t>https://www.svoboda.org/a/royzman-i-drugie-zhiteli-ekaterinburga/31997151.html</a:t>
            </a:r>
          </a:p>
          <a:p xmlns:a="http://schemas.openxmlformats.org/drawingml/2006/main">
            <a:r>
              <a:t>https://www.e1.ru/text/politics/2022/02/24/70466417/</a:t>
            </a:r>
          </a:p>
          <a:p xmlns:a="http://schemas.openxmlformats.org/drawingml/2006/main">
            <a:r>
              <a:t>https://www.dw.com/ru/kommentarij-evgenij-rojzman-i-sila-pravdy/a-62917754</a:t>
            </a:r>
          </a:p>
          <a:p xmlns:a="http://schemas.openxmlformats.org/drawingml/2006/main">
            <a:r>
              <a:t>https://meduza.io/paragraph/2022/08/26/priehali-moskvichi-i-dumali-chto-zdes-duraki-sobralis</a:t>
            </a:r>
          </a:p>
          <a:p xmlns:a="http://schemas.openxmlformats.org/drawingml/2006/main">
            <a:r>
              <a:t>https://znamlit.ru/publication.php?id=7379</a:t>
            </a:r>
          </a:p>
          <a:p xmlns:a="http://schemas.openxmlformats.org/drawingml/2006/main">
            <a:r>
              <a:t>https://tass.ru/interviews/6080499</a:t>
            </a:r>
          </a:p>
          <a:p xmlns:a="http://schemas.openxmlformats.org/drawingml/2006/main">
            <a:r>
              <a:t>https://45.ru/text/politics/2024/09/09/73952072/</a:t>
            </a:r>
          </a:p>
          <a:p xmlns:a="http://schemas.openxmlformats.org/drawingml/2006/main">
            <a:r>
              <a:t>http://special.kremlin.ru/events/president/news/70638</a:t>
            </a:r>
          </a:p>
          <a:p xmlns:a="http://schemas.openxmlformats.org/drawingml/2006/main">
            <a:r>
              <a:t>https://ura.news/news/1053132902</a:t>
            </a:r>
          </a:p>
          <a:p xmlns:a="http://schemas.openxmlformats.org/drawingml/2006/main">
            <a:r>
              <a:t>https://ura.news/articles/1036276564</a:t>
            </a:r>
          </a:p>
          <a:p xmlns:a="http://schemas.openxmlformats.org/drawingml/2006/main">
            <a:r>
              <a:t>https://tass.ru/novosti-regionov/28187431</a:t>
            </a:r>
          </a:p>
          <a:p xmlns:a="http://schemas.openxmlformats.org/drawingml/2006/main">
            <a:r>
              <a:t>https://fedpress.ru/person/1753607</a:t>
            </a:r>
          </a:p>
          <a:p xmlns:a="http://schemas.openxmlformats.org/drawingml/2006/main">
            <a:r>
              <a:t>https://eburg.mk.ru/social/2026/10/14/zhiteley-zauralya-predupredili-o-lozhnykh-videorolikakh-s-gubernatorom.html</a:t>
            </a:r>
          </a:p>
          <a:p xmlns:a="http://schemas.openxmlformats.org/drawingml/2006/main">
            <a:r>
              <a:t>https://regnum.ru/news/3530808</a:t>
            </a:r>
          </a:p>
          <a:p xmlns:a="http://schemas.openxmlformats.org/drawingml/2006/main">
            <a:r>
              <a:t>https://kurganvera.ru/news/vrns/mitropolit-daniil-i-vadim-shumkov-vozglavili-delegatsiyu-kurganskoy-oblasti-na-vsemirnom-russkom-sob/</a:t>
            </a:r>
          </a:p>
          <a:p xmlns:a="http://schemas.openxmlformats.org/drawingml/2006/main">
            <a:r>
              <a:t>https://45.ru/text/politics/2026/06/26/76499700/</a:t>
            </a:r>
          </a:p>
          <a:p xmlns:a="http://schemas.openxmlformats.org/drawingml/2006/main">
            <a:r>
              <a:t>https://niva-kurtamysh.com/news/obshchestvo/vystuplenie-gubernatora-kurganskoy-oblasti-vadima-shumkova</a:t>
            </a:r>
          </a:p>
          <a:p xmlns:a="http://schemas.openxmlformats.org/drawingml/2006/main">
            <a:r>
              <a:t>https://t.me/s/kurganskayaobl?before=42616</a:t>
            </a:r>
          </a:p>
          <a:p xmlns:a="http://schemas.openxmlformats.org/drawingml/2006/main">
            <a:r>
              <a:t>https://www.bbc.com/russian/news-54368577</a:t>
            </a:r>
          </a:p>
          <a:p xmlns:a="http://schemas.openxmlformats.org/drawingml/2006/main">
            <a:r>
              <a:t>https://www.bbc.com/russian/articles/cp0769dp15eo</a:t>
            </a:r>
          </a:p>
          <a:p xmlns:a="http://schemas.openxmlformats.org/drawingml/2006/main">
            <a:r>
              <a:t>https://navalny.com/materials/blogpost-6017</a:t>
            </a:r>
          </a:p>
          <a:p xmlns:a="http://schemas.openxmlformats.org/drawingml/2006/main">
            <a:r>
              <a:t>https://www.bbc.com/russian/news-58563592</a:t>
            </a:r>
          </a:p>
          <a:p xmlns:a="http://schemas.openxmlformats.org/drawingml/2006/main">
            <a:r>
              <a:t>https://navalny.com/materials/blogpost-6544</a:t>
            </a:r>
          </a:p>
          <a:p xmlns:a="http://schemas.openxmlformats.org/drawingml/2006/main">
            <a:r>
              <a:t>https://www.bbc.com/russian/news-58270043</a:t>
            </a:r>
          </a:p>
          <a:p xmlns:a="http://schemas.openxmlformats.org/drawingml/2006/main">
            <a:r>
              <a:t>https://www.bbc.com/russian/articles/cvg3p9l1e5ro</a:t>
            </a:r>
          </a:p>
          <a:p xmlns:a="http://schemas.openxmlformats.org/drawingml/2006/main">
            <a:r>
              <a:t>https://www.bbc.com/russian/features-54435835</a:t>
            </a:r>
          </a:p>
          <a:p xmlns:a="http://schemas.openxmlformats.org/drawingml/2006/main">
            <a:r>
              <a:t>https://2018.navalny.com/platform/7/</a:t>
            </a:r>
          </a:p>
          <a:p xmlns:a="http://schemas.openxmlformats.org/drawingml/2006/main">
            <a:r>
              <a:t>https://2018.navalny.com/platform/3/</a:t>
            </a:r>
          </a:p>
          <a:p xmlns:a="http://schemas.openxmlformats.org/drawingml/2006/main">
            <a:r>
              <a:t>https://2018.navalny.com/platform/10/</a:t>
            </a:r>
          </a:p>
          <a:p xmlns:a="http://schemas.openxmlformats.org/drawingml/2006/main">
            <a:r>
              <a:t>https://2018.navalny.com/platform/9/</a:t>
            </a:r>
          </a:p>
          <a:p xmlns:a="http://schemas.openxmlformats.org/drawingml/2006/main">
            <a:r>
              <a:t>https://navalny.com/editorials/aleksey-navalnyy-protiv-voyny</a:t>
            </a:r>
          </a:p>
          <a:p xmlns:a="http://schemas.openxmlformats.org/drawingml/2006/main">
            <a:r>
              <a:t>https://navalny.com/?p=149</a:t>
            </a:r>
          </a:p>
          <a:p xmlns:a="http://schemas.openxmlformats.org/drawingml/2006/main">
            <a:r>
              <a:t>https://www.interfax.ru/russia/876151</a:t>
            </a:r>
          </a:p>
          <a:p xmlns:a="http://schemas.openxmlformats.org/drawingml/2006/main">
            <a:r>
              <a:t>https://www.dw.com/ru/srok-ne-za-fejk-a-za-politiku-reakcii-v-frg-i-rf-na-prigovor-asinu/a-64049957</a:t>
            </a:r>
          </a:p>
          <a:p xmlns:a="http://schemas.openxmlformats.org/drawingml/2006/main">
            <a:r>
              <a:t>https://www.lemonde.fr/en/international/article/2025/05/27/russian-opposition-figure-ilya-yashin-if-ukraine-is-handed-over-to-putin-it-will-be-a-tragedy-and-the-prologue-to-a-global-confrontation_6741728_4.html</a:t>
            </a:r>
          </a:p>
          <a:p xmlns:a="http://schemas.openxmlformats.org/drawingml/2006/main">
            <a:r>
              <a:t>https://www.bbc.com/russian/articles/crgl69w9472o</a:t>
            </a:r>
          </a:p>
          <a:p xmlns:a="http://schemas.openxmlformats.org/drawingml/2006/main">
            <a:r>
              <a:t>https://www.svoboda.org/a/yashin-court/32165539.html</a:t>
            </a:r>
          </a:p>
          <a:p xmlns:a="http://schemas.openxmlformats.org/drawingml/2006/main">
            <a:r>
              <a:t>https://www.dw.com/ru/ila-asin-putin-predvoditel-sil-mrakobesia/a-69923731</a:t>
            </a:r>
          </a:p>
          <a:p xmlns:a="http://schemas.openxmlformats.org/drawingml/2006/main">
            <a:r>
              <a:t>https://novayagazeta.eu/articles/2025/08/01/my-ne-mozhem-trebovat-no-mozhem-obiasniat</a:t>
            </a:r>
          </a:p>
          <a:p xmlns:a="http://schemas.openxmlformats.org/drawingml/2006/main">
            <a:r>
              <a:t>https://meduza.io/feature/2019/07/20/to-chto-putin-ne-smog-sdelat-za-20-let-sobyanin-sdelal-za-mesyats</a:t>
            </a:r>
          </a:p>
          <a:p xmlns:a="http://schemas.openxmlformats.org/drawingml/2006/main">
            <a:r>
              <a:t>https://novayagazeta.eu/articles/2024/11/18/pochuvstvovat-sebia-ne-odinokimi</a:t>
            </a:r>
          </a:p>
          <a:p xmlns:a="http://schemas.openxmlformats.org/drawingml/2006/main">
            <a:r>
              <a:t>https://www.svoboda.org/a/voyna-putin-i-politzaklyuchennye-iljya-yashin-o-svoih-planah/33177839.html</a:t>
            </a:r>
          </a:p>
          <a:p xmlns:a="http://schemas.openxmlformats.org/drawingml/2006/main">
            <a:r>
              <a:t>https://www.dw.com/ru/asin-sejcas-nevozmozno-obedinit-rossijskuu-oppoziciu-da-i-ne-nuzno/a-70291088</a:t>
            </a:r>
          </a:p>
          <a:p xmlns:a="http://schemas.openxmlformats.org/drawingml/2006/main">
            <a:r>
              <a:t>https://www.dw.com/ru/vladimir-karamurza/t-37465233</a:t>
            </a:r>
          </a:p>
          <a:p xmlns:a="http://schemas.openxmlformats.org/drawingml/2006/main">
            <a:r>
              <a:t>https://ovd.info/persons/kara-murza-vladimir-vladimirovich</a:t>
            </a:r>
          </a:p>
          <a:p xmlns:a="http://schemas.openxmlformats.org/drawingml/2006/main">
            <a:r>
              <a:t>https://ovd.info/2024/08/03/kogo-rossiya-vydala-v-ramkakh-obmena-zaklyuchennymi-s-zapadom-istorii-osvobozhdennykh</a:t>
            </a:r>
          </a:p>
          <a:p xmlns:a="http://schemas.openxmlformats.org/drawingml/2006/main">
            <a:r>
              <a:t>https://www.svoboda.org/a/kara-murza-obmen/33059121.html</a:t>
            </a:r>
          </a:p>
          <a:p xmlns:a="http://schemas.openxmlformats.org/drawingml/2006/main">
            <a:r>
              <a:t>https://novayagazeta.ru/articles/2024/08/16/prezident-baiden-prinial-osvobozhdennogo-v-rezultate-obmena-politzakliuchennogo-vladimira-kara-murzu-s-semei-v-belom-dome-news</a:t>
            </a:r>
          </a:p>
          <a:p xmlns:a="http://schemas.openxmlformats.org/drawingml/2006/main">
            <a:r>
              <a:t>https://genevasummit.org/speech/vladimir-kara-murza-speaks-at-2018-geneva-summit-main-event/</a:t>
            </a:r>
          </a:p>
          <a:p xmlns:a="http://schemas.openxmlformats.org/drawingml/2006/main">
            <a:r>
              <a:t>https://humanrights.ca/event-series/presidents-lecture-series</a:t>
            </a:r>
          </a:p>
          <a:p xmlns:a="http://schemas.openxmlformats.org/drawingml/2006/main">
            <a:r>
              <a:t>https://www.radiofrance.fr/franceinter/podcasts/l-info-de-france-inter/la-democratie-doit-etre-protegee-chaque-minute-de-chaque-jour-declare-l-opposant-russe-vladimir-kara-mourza-8105094</a:t>
            </a:r>
          </a:p>
          <a:p xmlns:a="http://schemas.openxmlformats.org/drawingml/2006/main">
            <a:r>
              <a:t>https://georgetownvoice.com/2025/10/08/dissident-in-residence-vladimir-kara-murza-applies-past-lessons-to-present-day-in-recent-event-discussing-democracy/</a:t>
            </a:r>
          </a:p>
          <a:p xmlns:a="http://schemas.openxmlformats.org/drawingml/2006/main">
            <a:r>
              <a:t>https://www.oscepa.org/en/documents/winter-meetings/2025-vienna/speeches-36/5176-vladimir-kara-murza-address-to-the-osce-pa-winter-meeting-in-vienna-21-february-2025/file</a:t>
            </a:r>
          </a:p>
          <a:p xmlns:a="http://schemas.openxmlformats.org/drawingml/2006/main">
            <a:r>
              <a:t>https://hrf.org/wp-content/uploads/2024/10/VKM-%E2%80%93-Statement-of-Facts-and-Levinson-Analysis.pdf</a:t>
            </a:r>
          </a:p>
          <a:p xmlns:a="http://schemas.openxmlformats.org/drawingml/2006/main">
            <a:r>
              <a:t>https://www.govinfo.gov/content/pkg/CREC-2024-06-11/html/CREC-2024-06-11-pt1-PgH3699.htm</a:t>
            </a:r>
          </a:p>
          <a:p xmlns:a="http://schemas.openxmlformats.org/drawingml/2006/main">
            <a:r>
              <a:t>https://antiwarcommittee.info/en/statement-on-the-persecution-of-vladimir-kara-murza/</a:t>
            </a:r>
          </a:p>
          <a:p xmlns:a="http://schemas.openxmlformats.org/drawingml/2006/main">
            <a:r>
              <a:t>https://www.norway.no/en/missions/osce/norway-and-the-osce/statements/statements-with--norwegian-alignment-2024/joint-statement-on-vladimir-kara-murza/</a:t>
            </a:r>
          </a:p>
          <a:p xmlns:a="http://schemas.openxmlformats.org/drawingml/2006/main">
            <a:r>
              <a:t>https://www.aljazeera.com/news/2025/4/23/kremlin-critic-decried-for-racist-rant-on-minorities-fighting-for-russia</a:t>
            </a:r>
          </a:p>
          <a:p xmlns:a="http://schemas.openxmlformats.org/drawingml/2006/main">
            <a:r>
              <a:t>https://www.rmc.edu/news/former-political-prisoner-vladimir-kara-murza-offers-vision-of-hope-for-russian-democracy/</a:t>
            </a:r>
          </a:p>
          <a:p xmlns:a="http://schemas.openxmlformats.org/drawingml/2006/main">
            <a:r>
              <a:t>https://2018.yavlinsky.ru/campaign/</a:t>
            </a:r>
          </a:p>
          <a:p xmlns:a="http://schemas.openxmlformats.org/drawingml/2006/main">
            <a:r>
              <a:t>http://2018.yavlinsky.ru/programm/</a:t>
            </a:r>
          </a:p>
          <a:p xmlns:a="http://schemas.openxmlformats.org/drawingml/2006/main">
            <a:r>
              <a:t>https://campaign2018.yavlinsky.ru/</a:t>
            </a:r>
          </a:p>
          <a:p xmlns:a="http://schemas.openxmlformats.org/drawingml/2006/main">
            <a:r>
              <a:t>https://www.yavlinsky.ru/position/war/</a:t>
            </a:r>
          </a:p>
          <a:p xmlns:a="http://schemas.openxmlformats.org/drawingml/2006/main">
            <a:r>
              <a:t>https://www.yavlinsky.ru/position/cease-fire/</a:t>
            </a:r>
          </a:p>
          <a:p xmlns:a="http://schemas.openxmlformats.org/drawingml/2006/main">
            <a:r>
              <a:t>https://www.yavlinsky.ru/article_tax/ukraina/</a:t>
            </a:r>
          </a:p>
          <a:p xmlns:a="http://schemas.openxmlformats.org/drawingml/2006/main">
            <a:r>
              <a:t>https://www.yavlinsky.ru/biografiya/</a:t>
            </a:r>
          </a:p>
          <a:p xmlns:a="http://schemas.openxmlformats.org/drawingml/2006/main">
            <a:r>
              <a:t>https://www.yabloko.ru/publikatsii/2018/02/15_0</a:t>
            </a:r>
          </a:p>
          <a:p xmlns:a="http://schemas.openxmlformats.org/drawingml/2006/main">
            <a:r>
              <a:t>https://www.yabloko.ru/publikatsii/2018/06/19</a:t>
            </a:r>
          </a:p>
          <a:p xmlns:a="http://schemas.openxmlformats.org/drawingml/2006/main">
            <a:r>
              <a:t>https://www.yavlinsky.ru/article/eto-referendum/</a:t>
            </a:r>
          </a:p>
          <a:p xmlns:a="http://schemas.openxmlformats.org/drawingml/2006/main">
            <a:r>
              <a:t>https://www.svoboda.org/a/27801792.html</a:t>
            </a:r>
          </a:p>
          <a:p xmlns:a="http://schemas.openxmlformats.org/drawingml/2006/main">
            <a:r>
              <a:t>https://www.svoboda.org/a/29294829.html</a:t>
            </a:r>
          </a:p>
          <a:p xmlns:a="http://schemas.openxmlformats.org/drawingml/2006/main">
            <a:r>
              <a:t>https://www.yavlinsky.ru/article/intervyu-g-yavlinskogo-zhertvy-budut-proryva-net/</a:t>
            </a:r>
          </a:p>
          <a:p xmlns:a="http://schemas.openxmlformats.org/drawingml/2006/main">
            <a:r>
              <a:t>https://www.yavlinsky.ru/article/my-budem-idti-do-kontsa/</a:t>
            </a:r>
          </a:p>
          <a:p xmlns:a="http://schemas.openxmlformats.org/drawingml/2006/main">
            <a:r>
              <a:t>https://www.yavlinsky.ru/article/prezidentskie-vybory-1996-30-let-spustya/</a:t>
            </a:r>
          </a:p>
          <a:p xmlns:a="http://schemas.openxmlformats.org/drawingml/2006/main">
            <a:r>
              <a:t>https://www.forbes.ru/interview/45575-reformatory-prihodyat-k-vlasti-grigorii-yavlinskii</a:t>
            </a:r>
          </a:p>
          <a:p xmlns:a="http://schemas.openxmlformats.org/drawingml/2006/main">
            <a:r>
              <a:t>https://www.bbc.com/russian/articles/cy8ee2wngd8o</a:t>
            </a:r>
          </a:p>
          <a:p xmlns:a="http://schemas.openxmlformats.org/drawingml/2006/main">
            <a:r>
              <a:t>https://www.yabloko.ru/regnews/Pskov/2019/01/21-0</a:t>
            </a:r>
          </a:p>
          <a:p xmlns:a="http://schemas.openxmlformats.org/drawingml/2006/main">
            <a:r>
              <a:t>https://www.yabloko.ru/publikatsii/2019/06/14</a:t>
            </a:r>
          </a:p>
          <a:p xmlns:a="http://schemas.openxmlformats.org/drawingml/2006/main">
            <a:r>
              <a:t>https://zona.media/article/2019/02/27/pskov</a:t>
            </a:r>
          </a:p>
          <a:p xmlns:a="http://schemas.openxmlformats.org/drawingml/2006/main">
            <a:r>
              <a:t>https://spektr.press/ya-otvechayu-za-vse-mnoj-skazannoe-no-ne-otvechayu-za-izvraschenie-skazannogo-lev-shlosberg-o-travle-i-setkah-telegram-kanalov-odnokletochnyh-politikah-reshivshih-pobedit-putina-rukami-u/</a:t>
            </a:r>
          </a:p>
          <a:p xmlns:a="http://schemas.openxmlformats.org/drawingml/2006/main">
            <a:r>
              <a:t>https://www.yabloko.ru/Persons/shlosberg.html</a:t>
            </a:r>
          </a:p>
          <a:p xmlns:a="http://schemas.openxmlformats.org/drawingml/2006/main">
            <a:r>
              <a:t>https://pln-pskov.ru/politics/314872.html</a:t>
            </a:r>
          </a:p>
          <a:p xmlns:a="http://schemas.openxmlformats.org/drawingml/2006/main">
            <a:r>
              <a:t>https://www.yabloko.ru/publikatsii/2022/02/18-0</a:t>
            </a:r>
          </a:p>
          <a:p xmlns:a="http://schemas.openxmlformats.org/drawingml/2006/main">
            <a:r>
              <a:t>https://ru.krymr.com/a/rossiya-putin-voyna-repressii-lev-shlosberg-intervyu/31806389.html</a:t>
            </a:r>
          </a:p>
          <a:p xmlns:a="http://schemas.openxmlformats.org/drawingml/2006/main">
            <a:r>
              <a:t>https://www.currenttime.tv/a/politika-vlastey-chtoby-lyudi-perestali-govorit-o-spetsialnoy-voennoy-operatsii-lev-shlosberg-o-dele-protiv-nego-i-nikolaya-kuzmina/31807396.html</a:t>
            </a:r>
          </a:p>
          <a:p xmlns:a="http://schemas.openxmlformats.org/drawingml/2006/main">
            <a:r>
              <a:t>https://zona.media/article/2026/08/14/schlosberg</a:t>
            </a:r>
          </a:p>
          <a:p xmlns:a="http://schemas.openxmlformats.org/drawingml/2006/main">
            <a:r>
              <a:t>https://www.svoboda.org/a/lishniy-zalozhnik-vot-chto-im-vazhno-arest-lva-shlosberga/33615624.html</a:t>
            </a:r>
          </a:p>
          <a:p xmlns:a="http://schemas.openxmlformats.org/drawingml/2006/main">
            <a:r>
              <a:t>https://novayagazeta.eu/articles/2026/08/17/ostavshiisia</a:t>
            </a:r>
          </a:p>
          <a:p xmlns:a="http://schemas.openxmlformats.org/drawingml/2006/main">
            <a:r>
              <a:t>https://www.yabloko.ru/content/vishnevskii_boris_lazarevich</a:t>
            </a:r>
          </a:p>
          <a:p xmlns:a="http://schemas.openxmlformats.org/drawingml/2006/main">
            <a:r>
              <a:t>https://www.dp.ru/a/2018/06/18/Aktivnaja_storona_konflikt</a:t>
            </a:r>
          </a:p>
          <a:p xmlns:a="http://schemas.openxmlformats.org/drawingml/2006/main">
            <a:r>
              <a:t>https://www.bbc.com/russian/features-58481940</a:t>
            </a:r>
          </a:p>
          <a:p xmlns:a="http://schemas.openxmlformats.org/drawingml/2006/main">
            <a:r>
              <a:t>https://www.dp.ru/a/2023/01/16/Deputat_Peterburga_Vishnev</a:t>
            </a:r>
          </a:p>
          <a:p xmlns:a="http://schemas.openxmlformats.org/drawingml/2006/main">
            <a:r>
              <a:t>https://echofm.online/portret-dnya/portret-dnya-boris-vishnevskij-peterburgskij-politik</a:t>
            </a:r>
          </a:p>
          <a:p xmlns:a="http://schemas.openxmlformats.org/drawingml/2006/main">
            <a:r>
              <a:t>https://spb.yabloko.ru/people/vishnevskij-boris-lazarevich/</a:t>
            </a:r>
          </a:p>
          <a:p xmlns:a="http://schemas.openxmlformats.org/drawingml/2006/main">
            <a:r>
              <a:t>https://www.dp.ru/a/2026/08/26/bitva-nachalas-gde-v-peterburge</a:t>
            </a:r>
          </a:p>
          <a:p xmlns:a="http://schemas.openxmlformats.org/drawingml/2006/main">
            <a:r>
              <a:t>https://www.yabloko.ru/regnews/Spb/2022/02/21</a:t>
            </a:r>
          </a:p>
          <a:p xmlns:a="http://schemas.openxmlformats.org/drawingml/2006/main">
            <a:r>
              <a:t>https://www.yabloko.ru/cat-news/2021/08/06-0</a:t>
            </a:r>
          </a:p>
          <a:p xmlns:a="http://schemas.openxmlformats.org/drawingml/2006/main">
            <a:r>
              <a:t>https://www.rbc.ru/spb_sz/16/01/2023/63c53d9c9a7947d9bef4b853</a:t>
            </a:r>
          </a:p>
          <a:p xmlns:a="http://schemas.openxmlformats.org/drawingml/2006/main">
            <a:r>
              <a:t>https://www.rbc.ru/politics/06/05/2024/6638a8609a79472c01075a2c</a:t>
            </a:r>
          </a:p>
          <a:p xmlns:a="http://schemas.openxmlformats.org/drawingml/2006/main">
            <a:r>
              <a:t>https://www.svoboda.org/a/politika-dmitriya-gudkova-deportirovali-iz-gruzii-v-kiev/31679697.html</a:t>
            </a:r>
          </a:p>
          <a:p xmlns:a="http://schemas.openxmlformats.org/drawingml/2006/main">
            <a:r>
              <a:t>https://ru.krymr.com/a/dmitriy-gudkov-ob-otyezde-iz-rossii/31295079.html</a:t>
            </a:r>
          </a:p>
          <a:p xmlns:a="http://schemas.openxmlformats.org/drawingml/2006/main">
            <a:r>
              <a:t>https://daily.afisha.ru/news/114366-syn-politika-dmitriya-gudkova-pokonchil-s-soboy-v-emigracii/amp/</a:t>
            </a:r>
          </a:p>
          <a:p xmlns:a="http://schemas.openxmlformats.org/drawingml/2006/main">
            <a:r>
              <a:t>https://life.ru/t/dmitriygudkov</a:t>
            </a:r>
          </a:p>
          <a:p xmlns:a="http://schemas.openxmlformats.org/drawingml/2006/main">
            <a:r>
              <a:t>https://uk.wikipedia.org/wiki/%D0%93%D1%83%D0%B4%D0%BA%D0%BE%D0%B2_%D0%94%D0%BC%D0%B8%D1%82%D1%80%D1%96%D0%B9_%D0%93%D0%B5%D0%BD%D0%B0%D0%B4%D1%96%D0%B9%D0%BE%D0%B2%D0%B8%D1%87</a:t>
            </a:r>
          </a:p>
          <a:p xmlns:a="http://schemas.openxmlformats.org/drawingml/2006/main">
            <a:r>
              <a:t>https://mt.gazeta.ru/blog/43692366076/Syin-byivshego-deputata-Gosdumyi-Dmitriya-Gudkova-pokonchil-s-so?utm_referrer=mirtesen.ru</a:t>
            </a:r>
          </a:p>
          <a:p xmlns:a="http://schemas.openxmlformats.org/drawingml/2006/main">
            <a:r>
              <a:t>https://www.bbc.com/russian/news-57381443</a:t>
            </a:r>
          </a:p>
          <a:p xmlns:a="http://schemas.openxmlformats.org/drawingml/2006/main">
            <a:r>
              <a:t>https://www.themoscowtimes.com/2021/06/06/kremlin-critic-dmitry-gudkov-flees-to-ukraine-a74123</a:t>
            </a:r>
          </a:p>
          <a:p xmlns:a="http://schemas.openxmlformats.org/drawingml/2006/main">
            <a:r>
              <a:t>https://www.yabloko.ru/publikatsii/2016/09/15</a:t>
            </a:r>
          </a:p>
          <a:p xmlns:a="http://schemas.openxmlformats.org/drawingml/2006/main">
            <a:r>
              <a:t>https://novayagazeta.ru/articles/2018/03/21/75886-ya-privyk-lyudyam-verit</a:t>
            </a:r>
          </a:p>
          <a:p xmlns:a="http://schemas.openxmlformats.org/drawingml/2006/main">
            <a:r>
              <a:t>https://www.rbc.ru/politics/15/03/2018/5aaa98049a7947d12d63f1e1</a:t>
            </a:r>
          </a:p>
          <a:p xmlns:a="http://schemas.openxmlformats.org/drawingml/2006/main">
            <a:r>
              <a:t>https://rus.team/people/gudkov-dmitrij-gennadevich</a:t>
            </a:r>
          </a:p>
          <a:p xmlns:a="http://schemas.openxmlformats.org/drawingml/2006/main">
            <a:r>
              <a:t>https://www.azattyqasia.org/a/chto-proiskhodit-v-donbasse-/31863310/lbl0lbi299676.html</a:t>
            </a:r>
          </a:p>
          <a:p xmlns:a="http://schemas.openxmlformats.org/drawingml/2006/main">
            <a:r>
              <a:t>https://www.dw.com/ru/dmitrij-gudkov-putin-na-storone-partii-vojny-no-pri-etom-on-trus-21092022/video-63193199</a:t>
            </a:r>
          </a:p>
          <a:p xmlns:a="http://schemas.openxmlformats.org/drawingml/2006/main">
            <a:r>
              <a:t>https://ru.wikinews.org/wiki/%D0%9A%D0%B0%D1%82%D0%B5%D0%B3%D0%BE%D1%80%D0%B8%D1%8F:%D0%93%D0%B5%D0%BD%D0%BD%D0%B0%D0%B4%D0%B8%D0%B9_%D0%93%D1%83%D0%B4%D0%BA%D0%BE%D0%B2</a:t>
            </a:r>
          </a:p>
          <a:p xmlns:a="http://schemas.openxmlformats.org/drawingml/2006/main">
            <a:r>
              <a:t>https://en.wikipedia.org/wiki/Gennady_Gudkov</a:t>
            </a:r>
          </a:p>
          <a:p xmlns:a="http://schemas.openxmlformats.org/drawingml/2006/main">
            <a:r>
              <a:t>https://x.com/gudkov_g</a:t>
            </a:r>
          </a:p>
          <a:p xmlns:a="http://schemas.openxmlformats.org/drawingml/2006/main">
            <a:r>
              <a:t>https://www.dw.com/ru/chto-dmitrij-gudkov-nameren-delat-v-ukraine-i-vernetsja-li-v-rossiju/a-57830619</a:t>
            </a:r>
          </a:p>
          <a:p xmlns:a="http://schemas.openxmlformats.org/drawingml/2006/main">
            <a:r>
              <a:t>https://ru.wikipedia.org/wiki/%D0%93%D1%83%D0%B4%D0%BA%D0%BE%D0%B2,_%D0%93%D0%B5%D0%BD%D0%BD%D0%B0%D0%B4%D0%B8%D0%B9_%D0%92%D0%BB%D0%B0%D0%B4%D0%B8%D0%BC%D0%B8%D1%80%D0%BE%D0%B2%D0%B8%D1%87</a:t>
            </a:r>
          </a:p>
          <a:p xmlns:a="http://schemas.openxmlformats.org/drawingml/2006/main">
            <a:r>
              <a:t>https://ru.wikipedia.org/wiki/%D0%93%D1%83%D0%B4%D0%BA%D0%BE%D0%B2,_%D0%94%D0%BC%D0%B8%D1%82%D1%80%D0%B8%D0%B9_%D0%93%D0%B5%D0%BD%D0%BD%D0%B0%D0%B4%D1%8C%D0%B5%D0%B2%D0%B8%D1%87</a:t>
            </a:r>
          </a:p>
          <a:p xmlns:a="http://schemas.openxmlformats.org/drawingml/2006/main">
            <a:r>
              <a:t>https://utro02.tv/2022/10/31/navstrechu-sezdu-gennadij-gudkov-o-vyborah-obedinenii-oppoziczii-i-razdelenii-vlasti/</a:t>
            </a:r>
          </a:p>
          <a:p xmlns:a="http://schemas.openxmlformats.org/drawingml/2006/main">
            <a:r>
              <a:t>https://www.unian.net/war/rossiyskiy-oppozicioner-gudkov-putin-nachinaet-ponimat-chto-nastupaet-zh-pa-12031263.html</a:t>
            </a:r>
          </a:p>
          <a:p xmlns:a="http://schemas.openxmlformats.org/drawingml/2006/main">
            <a:r>
              <a:t>https://bntnews.bg/genadiy-gudkov-86846tag.html</a:t>
            </a:r>
          </a:p>
          <a:p xmlns:a="http://schemas.openxmlformats.org/drawingml/2006/main">
            <a:r>
              <a:t>https://tass.ru/encyclopedia/person/gudkov-dmitriy-gennadevich</a:t>
            </a:r>
          </a:p>
          <a:p xmlns:a="http://schemas.openxmlformats.org/drawingml/2006/main">
            <a:r>
              <a:t>https://www.kasparov.com/garry-kasparov-on-putin-and-the-virus-of-imperialism-wsj-free-expression-april-11-2022/</a:t>
            </a:r>
          </a:p>
          <a:p xmlns:a="http://schemas.openxmlformats.org/drawingml/2006/main">
            <a:r>
              <a:t>https://www.ilmessaggero.it/en/garry_kasparov_from_chess_champion_to_kremlin_critic-9797261.html</a:t>
            </a:r>
          </a:p>
          <a:p xmlns:a="http://schemas.openxmlformats.org/drawingml/2006/main">
            <a:r>
              <a:t>https://www.kasparov.com/category/russia/</a:t>
            </a:r>
          </a:p>
          <a:p xmlns:a="http://schemas.openxmlformats.org/drawingml/2006/main">
            <a:r>
              <a:t>https://www.kasparov.com/category/politics/</a:t>
            </a:r>
          </a:p>
          <a:p xmlns:a="http://schemas.openxmlformats.org/drawingml/2006/main">
            <a:r>
              <a:t>https://en.wikipedia.org/wiki/Political_views_of_Garry_Kasparov</a:t>
            </a:r>
          </a:p>
          <a:p xmlns:a="http://schemas.openxmlformats.org/drawingml/2006/main">
            <a:r>
              <a:t>https://www.dw.com/ru/kasparov-v-intervu-dw-vse-cto-delal-delaet-i-budet-delat-tramp-pomogaet-putinu/a-79633734</a:t>
            </a:r>
          </a:p>
          <a:p xmlns:a="http://schemas.openxmlformats.org/drawingml/2006/main">
            <a:r>
              <a:t>https://www.kasparov.com/</a:t>
            </a:r>
          </a:p>
          <a:p xmlns:a="http://schemas.openxmlformats.org/drawingml/2006/main">
            <a:r>
              <a:t>https://www.kasparov.com/a-conversation-with-garry-kasparov-thought-economics-with-vikas-shas-may-21-2017/</a:t>
            </a:r>
          </a:p>
          <a:p xmlns:a="http://schemas.openxmlformats.org/drawingml/2006/main">
            <a:r>
              <a:t>https://www.kasparov.com/new-yorker-interview-the-chess-grandmaster-and-political-activist-on-putin-trump-and-how-we-are-living-again-through-the-eighteen-fifties/</a:t>
            </a:r>
          </a:p>
          <a:p xmlns:a="http://schemas.openxmlformats.org/drawingml/2006/main">
            <a:r>
              <a:t>https://www.cnbc.com/2017/02/13/the-full-interview-with-former-world-chess-champion-garry-kasparov-on-trump-putin.html</a:t>
            </a:r>
          </a:p>
          <a:p xmlns:a="http://schemas.openxmlformats.org/drawingml/2006/main">
            <a:r>
              <a:t>https://www.reuters.com/world/europe/kasparov-calls-world-powers-throw-russia-back-into-stone-age-2022-03-03/</a:t>
            </a:r>
          </a:p>
          <a:p xmlns:a="http://schemas.openxmlformats.org/drawingml/2006/main">
            <a:r>
              <a:t>https://khodorkovsky.com/open-russia-manifesto/</a:t>
            </a:r>
          </a:p>
          <a:p xmlns:a="http://schemas.openxmlformats.org/drawingml/2006/main">
            <a:r>
              <a:t>https://khodorkovsky.com/programmes/initiatives/openrussia/</a:t>
            </a:r>
          </a:p>
          <a:p xmlns:a="http://schemas.openxmlformats.org/drawingml/2006/main">
            <a:r>
              <a:t>https://khodorkovsky.com/page/65/?m</a:t>
            </a:r>
          </a:p>
          <a:p xmlns:a="http://schemas.openxmlformats.org/drawingml/2006/main">
            <a:r>
              <a:t>https://khodorkovsky.com/page/80/?m</a:t>
            </a:r>
          </a:p>
          <a:p xmlns:a="http://schemas.openxmlformats.org/drawingml/2006/main">
            <a:r>
              <a:t>https://angliya.com/publication/mihail-hodorkovskiy-ne-priznayu-razdelenie-lyudey-na-osnovanii-politicheskih-vzglyadov/</a:t>
            </a:r>
          </a:p>
          <a:p xmlns:a="http://schemas.openxmlformats.org/drawingml/2006/main">
            <a:r>
              <a:t>https://www.dw.com/ru/mihail-hodorkovski-bojus-jeta-vojna-ne-budet-poslednej/a-61314556</a:t>
            </a:r>
          </a:p>
          <a:p xmlns:a="http://schemas.openxmlformats.org/drawingml/2006/main">
            <a:r>
              <a:t>https://ru.euronews.com/2022/06/21/ru-khodorkovsky-interview</a:t>
            </a:r>
          </a:p>
          <a:p xmlns:a="http://schemas.openxmlformats.org/drawingml/2006/main">
            <a:r>
              <a:t>https://ru.euronews.com/2022/06/23/mikhail-khodorkovsky</a:t>
            </a:r>
          </a:p>
          <a:p xmlns:a="http://schemas.openxmlformats.org/drawingml/2006/main">
            <a:r>
              <a:t>https://poligonmedia.io/mihail-hodorkovskij-putin-ne-pobedil/</a:t>
            </a:r>
          </a:p>
          <a:p xmlns:a="http://schemas.openxmlformats.org/drawingml/2006/main">
            <a:r>
              <a:t>https://www.pap.pl/ru/russian/news/khodorkovskiy-u-putina-est-prichiny-vesti-peregovory-o-prekraschenii-voyny-na-ukraine</a:t>
            </a:r>
          </a:p>
          <a:p xmlns:a="http://schemas.openxmlformats.org/drawingml/2006/main">
            <a:r>
              <a:t>https://milov.org/cat/debates</a:t>
            </a:r>
          </a:p>
          <a:p xmlns:a="http://schemas.openxmlformats.org/drawingml/2006/main">
            <a:r>
              <a:t>https://milov.org/entry/4188</a:t>
            </a:r>
          </a:p>
          <a:p xmlns:a="http://schemas.openxmlformats.org/drawingml/2006/main">
            <a:r>
              <a:t>https://milov.org/cat/international</a:t>
            </a:r>
          </a:p>
          <a:p xmlns:a="http://schemas.openxmlformats.org/drawingml/2006/main">
            <a:r>
              <a:t>https://tvrain.tv/teleshow/amerikanskie_gonki/tramp_vynashivaet_ideju_primiritsja_s_putinym-453802/</a:t>
            </a:r>
          </a:p>
          <a:p xmlns:a="http://schemas.openxmlformats.org/drawingml/2006/main">
            <a:r>
              <a:t>https://www.currenttime.tv/a/vladimir-milov-interview/31505887.html</a:t>
            </a:r>
          </a:p>
          <a:p xmlns:a="http://schemas.openxmlformats.org/drawingml/2006/main">
            <a:r>
              <a:t>https://ovd.info/express-news/2021/07/27/roskomnadzor-potreboval-ot-youtube-zablokirovat-kanaly-troikh-soratnikov</a:t>
            </a:r>
          </a:p>
          <a:p xmlns:a="http://schemas.openxmlformats.org/drawingml/2006/main">
            <a:r>
              <a:t>https://www.dw.com/ru/sud-v-moskve-prigovoril-vladimira-milova-k-8-godam-kolonii/a-67415717</a:t>
            </a:r>
          </a:p>
          <a:p xmlns:a="http://schemas.openxmlformats.org/drawingml/2006/main">
            <a:r>
              <a:t>https://ru.wikipedia.org/wiki/%D0%9C%D0%B8%D0%BB%D0%BE%D0%B2,_%D0%92%D0%BB%D0%B0%D0%B4%D0%B8%D0%BC%D0%B8%D1%80_%D0%A1%D1%82%D0%B0%D0%BD%D0%B8%D1%81%D0%BB%D0%B0%D0%B2%D0%BE%D0%B2%D0%B8%D1%87</a:t>
            </a:r>
          </a:p>
          <a:p xmlns:a="http://schemas.openxmlformats.org/drawingml/2006/main">
            <a:r>
              <a:t>https://gordonua.com/news/worldnews/milov-merkel-molodec-poteryala-vsego-7-8-v-polzu-svezhey-antiimmigrantskoy-partii-na-fone-migrantskogo-krizisa-208758.html</a:t>
            </a:r>
          </a:p>
          <a:p xmlns:a="http://schemas.openxmlformats.org/drawingml/2006/main">
            <a:r>
              <a:t>https://echofm.online/programs/hochu-skazat/hochu-skazat-larina-69</a:t>
            </a:r>
          </a:p>
          <a:p xmlns:a="http://schemas.openxmlformats.org/drawingml/2006/main">
            <a:r>
              <a:t>https://www.hoover.org/plus/research/russian-opposition-and-ukraine-conversation-vladimir-milov</a:t>
            </a:r>
          </a:p>
          <a:p xmlns:a="http://schemas.openxmlformats.org/drawingml/2006/main">
            <a:r>
              <a:t>https://www.golosameriki.com/a/washington-dialogue-russian-opposition-conference/7648250.html</a:t>
            </a:r>
          </a:p>
          <a:p xmlns:a="http://schemas.openxmlformats.org/drawingml/2006/main">
            <a:r>
              <a:t>https://glavred.info/chat/1337-vladimir-milov.html</a:t>
            </a:r>
          </a:p>
          <a:p xmlns:a="http://schemas.openxmlformats.org/drawingml/2006/main">
            <a:r>
              <a:t>https://www.interfax.ru/moscow/669378</a:t>
            </a:r>
          </a:p>
          <a:p xmlns:a="http://schemas.openxmlformats.org/drawingml/2006/main">
            <a:r>
              <a:t>https://tass.ru/politika/6670439</a:t>
            </a:r>
          </a:p>
          <a:p xmlns:a="http://schemas.openxmlformats.org/drawingml/2006/main">
            <a:r>
              <a:t>https://www.rbc.ru/politics/16/07/2019/5d2c8b3b9a794799a7c7d413</a:t>
            </a:r>
          </a:p>
          <a:p xmlns:a="http://schemas.openxmlformats.org/drawingml/2006/main">
            <a:r>
              <a:t>https://www.bbc.com/russian/news-56269079</a:t>
            </a:r>
          </a:p>
          <a:p xmlns:a="http://schemas.openxmlformats.org/drawingml/2006/main">
            <a:r>
              <a:t>https://ovd.info/express-news/2020/12/28/s-yurista-fbk-kotoraya-provela-pochti-dvoe-sutok-v-ivs-pytalis-vzyat</a:t>
            </a:r>
          </a:p>
          <a:p xmlns:a="http://schemas.openxmlformats.org/drawingml/2006/main">
            <a:r>
              <a:t>https://ovd.info/express-news/2021/02/26/prokuratura-utverdila-obvinenie-sobol-po-delu-o-proniknovenii-v-kvartiru</a:t>
            </a:r>
          </a:p>
          <a:p xmlns:a="http://schemas.openxmlformats.org/drawingml/2006/main">
            <a:r>
              <a:t>https://ovd.info/express-news/2020/12/29/protiv-alekseya-navalnogo-vozbudili-ugolovnoe-delo-o-moshennichestve-iz-za</a:t>
            </a:r>
          </a:p>
          <a:p xmlns:a="http://schemas.openxmlformats.org/drawingml/2006/main">
            <a:r>
              <a:t>https://www.currenttime.tv/a/sobol/31723600.html</a:t>
            </a:r>
          </a:p>
          <a:p xmlns:a="http://schemas.openxmlformats.org/drawingml/2006/main">
            <a:r>
              <a:t>https://www.currenttime.tv/interview/episodes/2022/2/26</a:t>
            </a:r>
          </a:p>
          <a:p xmlns:a="http://schemas.openxmlformats.org/drawingml/2006/main">
            <a:r>
              <a:t>https://ochevidcy.com/putin-budet-vorovat-do-groba/</a:t>
            </a:r>
          </a:p>
          <a:p xmlns:a="http://schemas.openxmlformats.org/drawingml/2006/main">
            <a:r>
              <a:t>https://www.svoboda.org/a/32881433.html</a:t>
            </a:r>
          </a:p>
          <a:p xmlns:a="http://schemas.openxmlformats.org/drawingml/2006/main">
            <a:r>
              <a:t>https://echofm.online/programs/idyom-po-zvyozdam/idyom-po-zvezdam-s-lyubovyu-sobol</a:t>
            </a:r>
          </a:p>
          <a:p xmlns:a="http://schemas.openxmlformats.org/drawingml/2006/main">
            <a:r>
              <a:t>https://x.com/SobolLubov</a:t>
            </a:r>
          </a:p>
          <a:p xmlns:a="http://schemas.openxmlformats.org/drawingml/2006/main">
            <a:r>
              <a:t>https://stuki-druki.com/authors/sobol-lubov.php</a:t>
            </a:r>
          </a:p>
          <a:p xmlns:a="http://schemas.openxmlformats.org/drawingml/2006/main">
            <a:r>
              <a:t>https://www.interfax.ru/elections2018/593143</a:t>
            </a:r>
          </a:p>
          <a:p xmlns:a="http://schemas.openxmlformats.org/drawingml/2006/main">
            <a:r>
              <a:t>https://elections2018.tass.ru/candidate/sobchak</a:t>
            </a:r>
          </a:p>
          <a:p xmlns:a="http://schemas.openxmlformats.org/drawingml/2006/main">
            <a:r>
              <a:t>https://www.interfax.ru/elections2018/604186</a:t>
            </a:r>
          </a:p>
          <a:p xmlns:a="http://schemas.openxmlformats.org/drawingml/2006/main">
            <a:r>
              <a:t>https://www.interfax.ru/elections2018/604908</a:t>
            </a:r>
          </a:p>
          <a:p xmlns:a="http://schemas.openxmlformats.org/drawingml/2006/main">
            <a:r>
              <a:t>https://www.consultant.ru/law/hotdocs/53066.html</a:t>
            </a:r>
          </a:p>
          <a:p xmlns:a="http://schemas.openxmlformats.org/drawingml/2006/main">
            <a:r>
              <a:t>https://www.rbc.ru/newspaper/2018/03/20/5aae9ca49a794739b02918a0</a:t>
            </a:r>
          </a:p>
          <a:p xmlns:a="http://schemas.openxmlformats.org/drawingml/2006/main">
            <a:r>
              <a:t>https://www.interfax.ru/elections2018/604136</a:t>
            </a:r>
          </a:p>
          <a:p xmlns:a="http://schemas.openxmlformats.org/drawingml/2006/main">
            <a:r>
              <a:t>https://www.interfax.ru/elections2018/604190</a:t>
            </a:r>
          </a:p>
          <a:p xmlns:a="http://schemas.openxmlformats.org/drawingml/2006/main">
            <a:r>
              <a:t>https://www.rbc.ru/economics/25/12/2017/5a4025f19a79472e3f5f4ad9?from=right_column_materials_3</a:t>
            </a:r>
          </a:p>
          <a:p xmlns:a="http://schemas.openxmlformats.org/drawingml/2006/main">
            <a:r>
              <a:t>https://news.ru/show-business/otezd-iz-rf-vybory-svo-v-chem-priznalas-kseniya-sobchak-v-novom-intervyu</a:t>
            </a:r>
          </a:p>
          <a:p xmlns:a="http://schemas.openxmlformats.org/drawingml/2006/main">
            <a:r>
              <a:t>https://rtvi.com/news/sobchak-otvetila-na-vopros-putin-ili-zelenskij/</a:t>
            </a:r>
          </a:p>
          <a:p xmlns:a="http://schemas.openxmlformats.org/drawingml/2006/main">
            <a:r>
              <a:t>https://informator.ua/ru/kompromissy-iz-rf-legitimnost-zelenskogo-i-gotovnost-pozhat-ruku-putinu-o-chem-govoril-arestovich-v-intervyu-sobchak</a:t>
            </a:r>
          </a:p>
          <a:p xmlns:a="http://schemas.openxmlformats.org/drawingml/2006/main">
            <a:r>
              <a:t>https://rassvet-party.info/</a:t>
            </a:r>
          </a:p>
          <a:p xmlns:a="http://schemas.openxmlformats.org/drawingml/2006/main">
            <a:r>
              <a:t>https://en.wikipedia.org/wiki/Yekaterina_Duntsova</a:t>
            </a:r>
          </a:p>
          <a:p xmlns:a="http://schemas.openxmlformats.org/drawingml/2006/main">
            <a:r>
              <a:t>https://www.dw.com/ru/cto-nuzno-znat-o-ekaterine-duncovoj-kotoraa-hocet-stat-prezidentom-rf/a-67832425</a:t>
            </a:r>
          </a:p>
          <a:p xmlns:a="http://schemas.openxmlformats.org/drawingml/2006/main">
            <a:r>
              <a:t>https://baj.media/ru/ya-gotova-idti-do-konca-zhurnalistka-iz-rossiyskoy-provincii-reshila-stat-prezidentom-i-2/</a:t>
            </a:r>
          </a:p>
          <a:p xmlns:a="http://schemas.openxmlformats.org/drawingml/2006/main">
            <a:r>
              <a:t>https://echofm.online/portret-dnya/portret-dnya-ekaterina-dunczova-reshivshaya-vydvinutsya-kandidatom-v-prezidenty-rossii-zhurnalistka-iz-rzheva</a:t>
            </a:r>
          </a:p>
          <a:p xmlns:a="http://schemas.openxmlformats.org/drawingml/2006/main">
            <a:r>
              <a:t>https://novayagazeta.eu/articles/2024/03/15/zlost-i-nenavist-vsem-nadoeli</a:t>
            </a:r>
          </a:p>
          <a:p xmlns:a="http://schemas.openxmlformats.org/drawingml/2006/main">
            <a:r>
              <a:t>https://altapress.ru/politika/story/kto-takaya-ekaterina-duntsova-kotoraya-sobiraetsya-stat-poslednim-prezidentom-rossii-i-kto-eshche-hochet-ballotirovatsya-336526</a:t>
            </a:r>
          </a:p>
          <a:p xmlns:a="http://schemas.openxmlformats.org/drawingml/2006/main">
            <a:r>
              <a:t>https://cherta.media/interview/ekaterina-duncova-kandidat-v-prezidenty/</a:t>
            </a:r>
          </a:p>
          <a:p xmlns:a="http://schemas.openxmlformats.org/drawingml/2006/main">
            <a:r>
              <a:t>https://novayagazeta.eu/articles/2023/12/05/zachem-ia-budu-stoiat-na-barrikadakh-esli-mogu-zanimatsia-realnymi-delami</a:t>
            </a:r>
          </a:p>
          <a:p xmlns:a="http://schemas.openxmlformats.org/drawingml/2006/main">
            <a:r>
              <a:t>https://holod.media/2023/12/20/ekaterina-duntsova-view/</a:t>
            </a:r>
          </a:p>
          <a:p xmlns:a="http://schemas.openxmlformats.org/drawingml/2006/main">
            <a:r>
              <a:t>https://www.dw.com/ru/ekaterina-duncova-o-sozdanii-partii-rassvet-my-mezdu-dvuh-ognej/a-68992724</a:t>
            </a:r>
          </a:p>
          <a:p xmlns:a="http://schemas.openxmlformats.org/drawingml/2006/main">
            <a:r>
              <a:t>https://rassvet-party.info/static/program.pdf</a:t>
            </a:r>
          </a:p>
          <a:p xmlns:a="http://schemas.openxmlformats.org/drawingml/2006/main">
            <a:r>
              <a:t>https://www.currenttime.tv/a/ekaterina-duntsova-o-sozdanii-partii-i-svoem-zaderzhanii/32775510.html</a:t>
            </a:r>
          </a:p>
          <a:p xmlns:a="http://schemas.openxmlformats.org/drawingml/2006/main">
            <a:r>
              <a:t>https://duntsovainitiative.1c-umi.ru/galereya/</a:t>
            </a:r>
          </a:p>
          <a:p xmlns:a="http://schemas.openxmlformats.org/drawingml/2006/main">
            <a:r>
              <a:t>https://rassvet-party.info/static/manifest.pdf</a:t>
            </a:r>
          </a:p>
          <a:p xmlns:a="http://schemas.openxmlformats.org/drawingml/2006/main">
            <a:r>
              <a:t>https://www.rbc.ru/person/65afb4a99a79470e434da73d</a:t>
            </a:r>
          </a:p>
          <a:p xmlns:a="http://schemas.openxmlformats.org/drawingml/2006/main">
            <a:r>
              <a:t>https://www.bbc.com/russian/articles/c84npr0wxx9o</a:t>
            </a:r>
          </a:p>
          <a:p xmlns:a="http://schemas.openxmlformats.org/drawingml/2006/main">
            <a:r>
              <a:t>https://www.rbc.ru/politics/08/02/2024/65c3749b9a79479ef5fe7934</a:t>
            </a:r>
          </a:p>
          <a:p xmlns:a="http://schemas.openxmlformats.org/drawingml/2006/main">
            <a:r>
              <a:t>https://www.business-gazeta.ru/article/622600</a:t>
            </a:r>
          </a:p>
          <a:p xmlns:a="http://schemas.openxmlformats.org/drawingml/2006/main">
            <a:r>
              <a:t>https://semnasem.org/articles/2024/02/02/poslednij-sredi-antivoennyh-kto-takoj-boris-nadezhdin-kotoryj-vse-eshe-nadeetsya-stat-prezidentom</a:t>
            </a:r>
          </a:p>
          <a:p xmlns:a="http://schemas.openxmlformats.org/drawingml/2006/main">
            <a:r>
              <a:t>https://novayagazeta.eu/articles/2024/02/03/17-marta-nachalo-kontsa-epokhi-putina</a:t>
            </a:r>
          </a:p>
          <a:p xmlns:a="http://schemas.openxmlformats.org/drawingml/2006/main">
            <a:r>
              <a:t>https://www.youtube.com/watch?v=mGMdgxBCdns</a:t>
            </a:r>
          </a:p>
          <a:p xmlns:a="http://schemas.openxmlformats.org/drawingml/2006/main">
            <a:r>
              <a:t>https://www.dw.com/ru/boris-nadezdin-moj-rejting-rastet-na-5-v-nedelu/a-68154251</a:t>
            </a:r>
          </a:p>
          <a:p xmlns:a="http://schemas.openxmlformats.org/drawingml/2006/main">
            <a:r>
              <a:t>https://ovd.info/express-news/2026/07/17/u-menya-dva-puti-lenina-ili-navalnogo-chto-nuzhno-znat-o-borise-nadezhdine</a:t>
            </a:r>
          </a:p>
          <a:p xmlns:a="http://schemas.openxmlformats.org/drawingml/2006/main">
            <a:r>
              <a:t>https://www.rbc.ru/person/65afb4a99a79470e434da73d?ysclid=mrt22n99to603501119</a:t>
            </a:r>
          </a:p>
          <a:p xmlns:a="http://schemas.openxmlformats.org/drawingml/2006/main">
            <a:r>
              <a:t>https://www.youtube.com/watch?v=UNytg_H_1pY</a:t>
            </a:r>
          </a:p>
          <a:p xmlns:a="http://schemas.openxmlformats.org/drawingml/2006/main">
            <a:r>
              <a:t>https://www.youtube.com/watch?v=DwTC5bilf_8</a:t>
            </a:r>
          </a:p>
          <a:p xmlns:a="http://schemas.openxmlformats.org/drawingml/2006/main">
            <a:r>
              <a:t>https://www.youtube.com/watch?v=sG4_THnT9W0</a:t>
            </a:r>
          </a:p>
          <a:p xmlns:a="http://schemas.openxmlformats.org/drawingml/2006/main">
            <a:r>
              <a:t>https://www.rbc.ru/rbcfreenews/6586cdf49a79479c3cd3d4b3</a:t>
            </a:r>
          </a:p>
          <a:p xmlns:a="http://schemas.openxmlformats.org/drawingml/2006/main">
            <a:r>
              <a:t>https://kprf.ru/activity/elections/223485.html/print</a:t>
            </a:r>
          </a:p>
          <a:p xmlns:a="http://schemas.openxmlformats.org/drawingml/2006/main">
            <a:r>
              <a:t>http://msk.kprf.ru/2024/01/24/247473/</a:t>
            </a:r>
          </a:p>
          <a:p xmlns:a="http://schemas.openxmlformats.org/drawingml/2006/main">
            <a:r>
              <a:t>https://www.dw.com/ru/vybory-prezidenta-rossii-2024/a-68528003</a:t>
            </a:r>
          </a:p>
          <a:p xmlns:a="http://schemas.openxmlformats.org/drawingml/2006/main">
            <a:r>
              <a:t>https://ru.wikipedia.org/wiki/%D0%A5%D0%B0%D1%80%D0%B8%D1%82%D0%BE%D0%BD%D0%BE%D0%B2,_%D0%9D%D0%B8%D0%BA%D0%BE%D0%BB%D0%B0%D0%B9_%D0%9C%D0%B8%D1%85%D0%B0%D0%B9%D0%BB%D0%BE%D0%B2%D0%B8%D1%87</a:t>
            </a:r>
          </a:p>
          <a:p xmlns:a="http://schemas.openxmlformats.org/drawingml/2006/main">
            <a:r>
              <a:t>https://kprf.ru/party-live/cknews/225170.html</a:t>
            </a:r>
          </a:p>
          <a:p xmlns:a="http://schemas.openxmlformats.org/drawingml/2006/main">
            <a:r>
              <a:t>https://kprf.ru/dep/gosduma/activities/232802.html</a:t>
            </a:r>
          </a:p>
          <a:p xmlns:a="http://schemas.openxmlformats.org/drawingml/2006/main">
            <a:r>
              <a:t>https://kprf35.com/2024/02/17/32710/</a:t>
            </a:r>
          </a:p>
          <a:p xmlns:a="http://schemas.openxmlformats.org/drawingml/2006/main">
            <a:r>
              <a:t>https://www.pkokprf.ru/news/view/35448</a:t>
            </a:r>
          </a:p>
          <a:p xmlns:a="http://schemas.openxmlformats.org/drawingml/2006/main">
            <a:r>
              <a:t>https://altkprf.ru/upload/iblock/eea/jiv0wm7hzk6gq4qdxw0r5wvp7zwb6luk.pdf</a:t>
            </a:r>
          </a:p>
          <a:p xmlns:a="http://schemas.openxmlformats.org/drawingml/2006/main">
            <a:r>
              <a:t>https://kprf.ru/activity/army/224789.html</a:t>
            </a:r>
          </a:p>
          <a:p xmlns:a="http://schemas.openxmlformats.org/drawingml/2006/main">
            <a:r>
              <a:t>https://gazeta-pravda.ru/issue/24-31517-711-marta-2024-goda-/alternativa-polupravde/</a:t>
            </a:r>
          </a:p>
          <a:p xmlns:a="http://schemas.openxmlformats.org/drawingml/2006/main">
            <a:r>
              <a:t>https://spbpalata.ru/?p=13755</a:t>
            </a:r>
          </a:p>
          <a:p xmlns:a="http://schemas.openxmlformats.org/drawingml/2006/main">
            <a:r>
              <a:t>https://kprf.ru/activity/elections/171941.html</a:t>
            </a:r>
          </a:p>
          <a:p xmlns:a="http://schemas.openxmlformats.org/drawingml/2006/main">
            <a:r>
              <a:t>https://kprf.ru/party-live/cknews/171994.html</a:t>
            </a:r>
          </a:p>
          <a:p xmlns:a="http://schemas.openxmlformats.org/drawingml/2006/main">
            <a:r>
              <a:t>https://elections2018.tass.ru/candidate/grudinin</a:t>
            </a:r>
          </a:p>
          <a:p xmlns:a="http://schemas.openxmlformats.org/drawingml/2006/main">
            <a:r>
              <a:t>https://www.bbc.com/russian/features-43105617</a:t>
            </a:r>
          </a:p>
          <a:p xmlns:a="http://schemas.openxmlformats.org/drawingml/2006/main">
            <a:r>
              <a:t>https://www.rbc.ru/politics/24/07/2021/60fbe35b9a794716f25253a0</a:t>
            </a:r>
          </a:p>
          <a:p xmlns:a="http://schemas.openxmlformats.org/drawingml/2006/main">
            <a:r>
              <a:t>https://kprf.ru/dep/reg/204410.html</a:t>
            </a:r>
          </a:p>
          <a:p xmlns:a="http://schemas.openxmlformats.org/drawingml/2006/main">
            <a:r>
              <a:t>https://msk.kprf.ru/2021/09/16/168273/</a:t>
            </a:r>
          </a:p>
          <a:p xmlns:a="http://schemas.openxmlformats.org/drawingml/2006/main">
            <a:r>
              <a:t>https://svpressa.ru/persons/pavel-grudinin/</a:t>
            </a:r>
          </a:p>
          <a:p xmlns:a="http://schemas.openxmlformats.org/drawingml/2006/main">
            <a:r>
              <a:t>https://carnegieendowment.org/ru/russia-eurasia/posts/2018/02/kuda-privedut-ekonomiku-rossii-20-shagov-grudinina</a:t>
            </a:r>
          </a:p>
          <a:p xmlns:a="http://schemas.openxmlformats.org/drawingml/2006/main">
            <a:r>
              <a:t>https://www.kompas-rf.ru/2018/01/2980/</a:t>
            </a:r>
          </a:p>
          <a:p xmlns:a="http://schemas.openxmlformats.org/drawingml/2006/main">
            <a:r>
              <a:t>https://www.svoboda.org/a/30073365.html</a:t>
            </a:r>
          </a:p>
          <a:p xmlns:a="http://schemas.openxmlformats.org/drawingml/2006/main">
            <a:r>
              <a:t>https://kandidativprezidenti.ru/programma-grudinina-2018/</a:t>
            </a:r>
          </a:p>
          <a:p xmlns:a="http://schemas.openxmlformats.org/drawingml/2006/main">
            <a:r>
              <a:t>https://mbk-news.appspot.com/suzhet/za-lenina-i-protiv-ege/</a:t>
            </a:r>
          </a:p>
          <a:p xmlns:a="http://schemas.openxmlformats.org/drawingml/2006/main">
            <a:r>
              <a:t>https://www.amnesty.org/ru/latest/research/2021/06/zayavlenie-rossijskaya-federacziya-obvinitelnyj-prigovor-nikolayu-platoshkinu-dolzhen-byt-otmenyon/</a:t>
            </a:r>
          </a:p>
          <a:p xmlns:a="http://schemas.openxmlformats.org/drawingml/2006/main">
            <a:r>
              <a:t>https://zona.media/article/2021/05/20/nikolay-nikolaevitch</a:t>
            </a:r>
          </a:p>
          <a:p xmlns:a="http://schemas.openxmlformats.org/drawingml/2006/main">
            <a:r>
              <a:t>https://novayagazeta.ru/articles/2020/06/05/85705-sotsialisticheskiy-prizyv</a:t>
            </a:r>
          </a:p>
          <a:p xmlns:a="http://schemas.openxmlformats.org/drawingml/2006/main">
            <a:r>
              <a:t>https://www.revda-info.ru/2020/08/26/v-revde-poyavilos-otdelenie-dvizheniya-za-novyj-sotsializm-ego-lider-sejchas-pod-arestom</a:t>
            </a:r>
          </a:p>
          <a:p xmlns:a="http://schemas.openxmlformats.org/drawingml/2006/main">
            <a:r>
              <a:t>https://new-socialism.org/o-dvizhenii/programma/</a:t>
            </a:r>
          </a:p>
          <a:p xmlns:a="http://schemas.openxmlformats.org/drawingml/2006/main">
            <a:r>
              <a:t>https://new-socialism.org/o-dvizhenii/lider/</a:t>
            </a:r>
          </a:p>
          <a:p xmlns:a="http://schemas.openxmlformats.org/drawingml/2006/main">
            <a:r>
              <a:t>https://www.themoscowtimes.com/2024/01/19/ilya-ponomaryov-we-have-to-capture-the-kremlin-there-is-no-other-way-a83772</a:t>
            </a:r>
          </a:p>
          <a:p xmlns:a="http://schemas.openxmlformats.org/drawingml/2006/main">
            <a:r>
              <a:t>https://www.dw.com/ru/cto-izvestno-o-rossijskih-podrazdeleniah-v-sostave-vsu/a-63915634</a:t>
            </a:r>
          </a:p>
          <a:p xmlns:a="http://schemas.openxmlformats.org/drawingml/2006/main">
            <a:r>
              <a:t>https://www.svoboda.org/a/32321226.html</a:t>
            </a:r>
          </a:p>
          <a:p xmlns:a="http://schemas.openxmlformats.org/drawingml/2006/main">
            <a:r>
              <a:t>https://hromadske.ua/ru/posts/nasha-cel-moskva-my-dolzhny-sbrosit-putina-rossijskie-partizany-mif-ili-pravda</a:t>
            </a:r>
          </a:p>
          <a:p xmlns:a="http://schemas.openxmlformats.org/drawingml/2006/main">
            <a:r>
              <a:t>https://epravda.com.ua/rus/publications/2018/06/11/637572/</a:t>
            </a:r>
          </a:p>
          <a:p xmlns:a="http://schemas.openxmlformats.org/drawingml/2006/main">
            <a:r>
              <a:t>https://pointmedia.io/story/672b355fdc48800406e0f515</a:t>
            </a:r>
          </a:p>
          <a:p xmlns:a="http://schemas.openxmlformats.org/drawingml/2006/main">
            <a:r>
              <a:t>https://ru.wikipedia.org/wiki/%D0%9B%D0%B5%D0%B3%D0%B8%D0%BE%D0%BD_%C2%AB%D0%A1%D0%B2%D0%BE%D0%B1%D0%BE%D0%B4%D0%B0_%D0%A0%D0%BE%D1%81%D1%81%D0%B8%D0%B8%C2%BB</a:t>
            </a:r>
          </a:p>
          <a:p xmlns:a="http://schemas.openxmlformats.org/drawingml/2006/main">
            <a:r>
              <a:t>https://ru.wikipedia.org/wiki/%D0%9F%D0%BE%D0%BD%D0%BE%D0%BC%D0%B0%D1%80%D1%91%D0%B2,_%D0%98%D0%BB%D1%8C%D1%8F_%D0%92%D0%BB%D0%B0%D0%B4%D0%B8%D0%BC%D0%B8%D1%80%D0%BE%D0%B2%D0%B8%D1%87</a:t>
            </a:r>
          </a:p>
          <a:p xmlns:a="http://schemas.openxmlformats.org/drawingml/2006/main">
            <a:r>
              <a:t>https://russophob.ru/person/ponomarev_ilya_vladimirovich</a:t>
            </a:r>
          </a:p>
          <a:p xmlns:a="http://schemas.openxmlformats.org/drawingml/2006/main">
            <a:r>
              <a:t>https://www.svoboda.org/a/32063164.html</a:t>
            </a:r>
          </a:p>
          <a:p xmlns:a="http://schemas.openxmlformats.org/drawingml/2006/main">
            <a:r>
              <a:t>https://www.kpbs.org/news/news/international/2023/03/26/a-scrappy-newscast-in-kyiv-aimed-at-russians-counters-putins-propaganda-machine</a:t>
            </a:r>
          </a:p>
          <a:p xmlns:a="http://schemas.openxmlformats.org/drawingml/2006/main">
            <a:r>
              <a:t>https://ovd.info/express-news/2022/10/02/politik-leonid-gozman-uekhal-iz-rossii-posle-dvukh-administrativnykh</a:t>
            </a:r>
          </a:p>
          <a:p xmlns:a="http://schemas.openxmlformats.org/drawingml/2006/main">
            <a:r>
              <a:t>https://ovd.info/express-news/2022/08/30/politika-leonida-gozmana-arestovali-na-15-sutok-iz-za-posta-v-feysbuke</a:t>
            </a:r>
          </a:p>
          <a:p xmlns:a="http://schemas.openxmlformats.org/drawingml/2006/main">
            <a:r>
              <a:t>https://www.rbc.ru/politics/15/07/2022/62d1b3f39a7947299cdeb6a4</a:t>
            </a:r>
          </a:p>
          <a:p xmlns:a="http://schemas.openxmlformats.org/drawingml/2006/main">
            <a:r>
              <a:t>https://novayagazeta.eu/articles/2022/07/15/sk-doprosil-politika-leonida-gozmana-kak-podozrevaemogo-po-delu-o-neuvedomlenii-o-vtorom-grazhdanstve-news</a:t>
            </a:r>
          </a:p>
          <a:p xmlns:a="http://schemas.openxmlformats.org/drawingml/2006/main">
            <a:r>
              <a:t>https://www.rbc.ru/politics/15/02/2024/65cdc9e09a7947a2995026fa</a:t>
            </a:r>
          </a:p>
          <a:p xmlns:a="http://schemas.openxmlformats.org/drawingml/2006/main">
            <a:r>
              <a:t>https://ovd.info/express-news/2025/01/22/leonida-gozmana-i-rovshana-askerova-vnesli-v-reestr-terroristov-i</a:t>
            </a:r>
          </a:p>
          <a:p xmlns:a="http://schemas.openxmlformats.org/drawingml/2006/main">
            <a:r>
              <a:t>https://www.rbc.ru/opinion-authors/gozman</a:t>
            </a:r>
          </a:p>
          <a:p xmlns:a="http://schemas.openxmlformats.org/drawingml/2006/main">
            <a:r>
              <a:t>https://novayagazeta.eu/articles/2022/07/25/ovd-info-v-moskve-zaderzhali-politika-leonida-gozmana-news</a:t>
            </a:r>
          </a:p>
          <a:p xmlns:a="http://schemas.openxmlformats.org/drawingml/2006/main">
            <a:r>
              <a:t>https://gefter.ru/archive/23487</a:t>
            </a:r>
          </a:p>
          <a:p xmlns:a="http://schemas.openxmlformats.org/drawingml/2006/main">
            <a:r>
              <a:t>https://www.svoboda.org/a/31147156.html</a:t>
            </a:r>
          </a:p>
          <a:p xmlns:a="http://schemas.openxmlformats.org/drawingml/2006/main">
            <a:r>
              <a:t>https://uatv.ua/gozman-putin-zagnal-rossiyu-v-ugol-sleduyushhij-shag-repressii/</a:t>
            </a:r>
          </a:p>
          <a:p xmlns:a="http://schemas.openxmlformats.org/drawingml/2006/main">
            <a:r>
              <a:t>https://echofm.online/programs/hochu-skazat/hochu-skazat-odin-protiv-vseh-kak-ne-dat-strahu-pobedit-sebya</a:t>
            </a:r>
          </a:p>
          <a:p xmlns:a="http://schemas.openxmlformats.org/drawingml/2006/main">
            <a:r>
              <a:t>https://www.svoboda.org/a/leonid-gozman-russkih-lyudey-neljzya-mazatj-odnoy-chernoy-kraskoy-/32732625.html</a:t>
            </a:r>
          </a:p>
          <a:p xmlns:a="http://schemas.openxmlformats.org/drawingml/2006/main">
            <a:r>
              <a:t>https://novayagazeta.eu/articles/2022/07/18/prepiatstvovat-prosveshcheniiu-liudei-vlast-budet-pulemiotami</a:t>
            </a:r>
          </a:p>
          <a:p xmlns:a="http://schemas.openxmlformats.org/drawingml/2006/main">
            <a:r>
              <a:t>https://www.svoboda.org/a/29652429.html</a:t>
            </a:r>
          </a:p>
          <a:p xmlns:a="http://schemas.openxmlformats.org/drawingml/2006/main">
            <a:r>
              <a:t>https://novayagazeta.eu/articles/2022/04/26/nesobliudenie-rezhima</a:t>
            </a:r>
          </a:p>
          <a:p xmlns:a="http://schemas.openxmlformats.org/drawingml/2006/main">
            <a:r>
              <a:t>https://novayagazeta.eu/articles/2022/07/21/zapiski-ugolovnika</a:t>
            </a:r>
          </a:p>
          <a:p xmlns:a="http://schemas.openxmlformats.org/drawingml/2006/main">
            <a:r>
              <a:t>https://novayagazeta.ru/authors/2349</a:t>
            </a:r>
          </a:p>
          <a:p xmlns:a="http://schemas.openxmlformats.org/drawingml/2006/main">
            <a:r>
              <a:t>https://www.rbc.ru/politics/10/08/2017/598c8d6d9a79474cff05cbab</a:t>
            </a:r>
          </a:p>
          <a:p xmlns:a="http://schemas.openxmlformats.org/drawingml/2006/main">
            <a:r>
              <a:t>https://www.bbc.com/russian/news-40853405</a:t>
            </a:r>
          </a:p>
          <a:p xmlns:a="http://schemas.openxmlformats.org/drawingml/2006/main">
            <a:r>
              <a:t>https://www.rbc.ru/politics/10/08/2017/598c0a8e9a7947569574ba10?from=right_column_materials_1</a:t>
            </a:r>
          </a:p>
          <a:p xmlns:a="http://schemas.openxmlformats.org/drawingml/2006/main">
            <a:r>
              <a:t>https://www.vedomosti.ru/politics/articles/2017/08/10/728820-udaltsov</a:t>
            </a:r>
          </a:p>
          <a:p xmlns:a="http://schemas.openxmlformats.org/drawingml/2006/main">
            <a:r>
              <a:t>https://www.interfax.ru/elections2018/598382</a:t>
            </a:r>
          </a:p>
          <a:p xmlns:a="http://schemas.openxmlformats.org/drawingml/2006/main">
            <a:r>
              <a:t>https://sotaproject.com/article/sergeia-udaltsova-opiat-pytaiutsia-posadit-khotia-on-vsego-lish-prosit-putina-postroit-sotsializm</a:t>
            </a:r>
          </a:p>
          <a:p xmlns:a="http://schemas.openxmlformats.org/drawingml/2006/main">
            <a:r>
              <a:t>https://www.gazeta.ru/tags/person/sergei_udaltsov.shtml</a:t>
            </a:r>
          </a:p>
          <a:p xmlns:a="http://schemas.openxmlformats.org/drawingml/2006/main">
            <a:r>
              <a:t>https://www.kommersant.ru/doc/8317316</a:t>
            </a:r>
          </a:p>
          <a:p xmlns:a="http://schemas.openxmlformats.org/drawingml/2006/main">
            <a:r>
              <a:t>https://www.kommersant.ru/doc/8972418</a:t>
            </a:r>
          </a:p>
          <a:p xmlns:a="http://schemas.openxmlformats.org/drawingml/2006/main">
            <a:r>
              <a:t>https://holod.media/2023/09/12/udaltsov-interview/</a:t>
            </a:r>
          </a:p>
          <a:p xmlns:a="http://schemas.openxmlformats.org/drawingml/2006/main">
            <a:r>
              <a:t>https://meduza.io/feature/2024/01/11/sergey-udaltsov-zaderzhan-po-obvineniyu-v-opravdanii-terrorizma</a:t>
            </a:r>
          </a:p>
          <a:p xmlns:a="http://schemas.openxmlformats.org/drawingml/2006/main">
            <a:r>
              <a:t>https://ref-book.sova-center.ru/index.php/%D0%94%D1%80%D1%83%D0%B3%D0%B0%D1%8F_%D0%A0%D0%BE%D1%81%D1%81%D0%B8%D1%8F,_%D0%BF%D0%B0%D1%80%D1%82%D0%B8%D1%8F</a:t>
            </a:r>
          </a:p>
          <a:p xmlns:a="http://schemas.openxmlformats.org/drawingml/2006/main">
            <a:r>
              <a:t>https://www.rbc.ru/society/17/03/2020/5e71048d9a79473925ab81a7</a:t>
            </a:r>
          </a:p>
          <a:p xmlns:a="http://schemas.openxmlformats.org/drawingml/2006/main">
            <a:r>
              <a:t>https://rt.rbc.ru/society/18/03/2020/5e71acc49a794773553f824e</a:t>
            </a:r>
          </a:p>
          <a:p xmlns:a="http://schemas.openxmlformats.org/drawingml/2006/main">
            <a:r>
              <a:t>https://www.bostonglobe.com/metro/obituaries/2020/03/18/russian-author-political-activist-eduard-limonov-dies/jnjHywBRjVTTgnlsqI12vN/story.html</a:t>
            </a:r>
          </a:p>
          <a:p xmlns:a="http://schemas.openxmlformats.org/drawingml/2006/main">
            <a:r>
              <a:t>https://nsn.fm/society/poslednee-intervu-pisatelya-i-politika-eduarda-limonova</a:t>
            </a:r>
          </a:p>
          <a:p xmlns:a="http://schemas.openxmlformats.org/drawingml/2006/main">
            <a:r>
              <a:t>http://www.grso.ru/person/limonov-eduard.html</a:t>
            </a:r>
          </a:p>
          <a:p xmlns:a="http://schemas.openxmlformats.org/drawingml/2006/main">
            <a:r>
              <a:t>https://ru.wikipedia.org/wiki/%D0%94%D1%80%D1%83%D0%B3%D0%B0%D1%8F_%D0%A0%D0%BE%D1%81%D1%81%D0%B8%D1%8F_%D0%AD._%D0%92._%D0%9B%D0%B8%D0%BC%D0%BE%D0%BD%D0%BE%D0%B2%D0%B0</a:t>
            </a:r>
          </a:p>
          <a:p xmlns:a="http://schemas.openxmlformats.org/drawingml/2006/main">
            <a:r>
              <a:t>https://novayagazeta.ru/articles/2017/03/12/71752-puteshestvie-natsbolov-k-putinu-i-obratno</a:t>
            </a:r>
          </a:p>
          <a:p xmlns:a="http://schemas.openxmlformats.org/drawingml/2006/main">
            <a:r>
              <a:t>https://mediabrest.by/news/lyudi/umer-eduard-limonov-chem-zapomnilsya-pisatel</a:t>
            </a:r>
          </a:p>
          <a:p xmlns:a="http://schemas.openxmlformats.org/drawingml/2006/main">
            <a:r>
              <a:t>https://www.limonow.de/read/EL_2013-2018_T.html</a:t>
            </a:r>
          </a:p>
          <a:p xmlns:a="http://schemas.openxmlformats.org/drawingml/2006/main">
            <a:r>
              <a:t>https://www.infpol.ru/203662-ot-ubezhdennogo-antisovetchika-do-kolumnista-rt/</a:t>
            </a:r>
          </a:p>
          <a:p xmlns:a="http://schemas.openxmlformats.org/drawingml/2006/main">
            <a:r>
              <a:t>https://www.bbc.com/russian/articles/c2eg90d7gg9o</a:t>
            </a:r>
          </a:p>
          <a:p xmlns:a="http://schemas.openxmlformats.org/drawingml/2006/main">
            <a:r>
              <a:t>https://www.dw.com/ru/mosgorsud-prigovoril-igora-girkina-strelkova-k-4-godam-kolonii/a-68080937</a:t>
            </a:r>
          </a:p>
          <a:p xmlns:a="http://schemas.openxmlformats.org/drawingml/2006/main">
            <a:r>
              <a:t>https://www.fontanka.ru/2023/07/21/72520253</a:t>
            </a:r>
          </a:p>
          <a:p xmlns:a="http://schemas.openxmlformats.org/drawingml/2006/main">
            <a:r>
              <a:t>https://www.svoboda.org/a/strelkov-iz-sizo-opasayusj-amnistii-kak-u-prigozhina-/32722083.html</a:t>
            </a:r>
          </a:p>
          <a:p xmlns:a="http://schemas.openxmlformats.org/drawingml/2006/main">
            <a:r>
              <a:t>https://ru.themoscowtimes.com/2023/12/07/girkin-zayavil-chto-opasaetsya-povtorit-sudbu-prigozhina-a115592</a:t>
            </a:r>
          </a:p>
          <a:p xmlns:a="http://schemas.openxmlformats.org/drawingml/2006/main">
            <a:r>
              <a:t>https://ru.krymr.com/a/boing-mn17-10-let-podozrevayemyye-obvinyayemyye-vinovnyye/33040170.html</a:t>
            </a:r>
          </a:p>
          <a:p xmlns:a="http://schemas.openxmlformats.org/drawingml/2006/main">
            <a:r>
              <a:t>https://charter97.org/ru/news/2023/7/22/556802/</a:t>
            </a:r>
          </a:p>
          <a:p xmlns:a="http://schemas.openxmlformats.org/drawingml/2006/main">
            <a:r>
              <a:t>https://t.me/s/pgubarev?after=622</a:t>
            </a:r>
          </a:p>
          <a:p xmlns:a="http://schemas.openxmlformats.org/drawingml/2006/main">
            <a:r>
              <a:t>https://rabkor.ru/columns/debates/2023/05/23/angry_patriots_of_an_imaginary_country/</a:t>
            </a:r>
          </a:p>
          <a:p xmlns:a="http://schemas.openxmlformats.org/drawingml/2006/main">
            <a:r>
              <a:t>https://www.bbc.com/news/world-60947877</a:t>
            </a:r>
          </a:p>
          <a:p xmlns:a="http://schemas.openxmlformats.org/drawingml/2006/main">
            <a:r>
              <a:t>https://www.reuters.com/world/europe/russian-mercenary-boss-courts-putin-with-ukrainian-battlefield-success-2023-01-13/</a:t>
            </a:r>
          </a:p>
          <a:p xmlns:a="http://schemas.openxmlformats.org/drawingml/2006/main">
            <a:r>
              <a:t>https://www.reuters.com/world/europe/russias-wagner-mercenaries-halt-prisoner-recruitment-campaign-founder-prigozhin-2023-02-09/</a:t>
            </a:r>
          </a:p>
          <a:p xmlns:a="http://schemas.openxmlformats.org/drawingml/2006/main">
            <a:r>
              <a:t>https://www.reuters.com/investigates/special-report/ukraine-crisis-russia-wagner/</a:t>
            </a:r>
          </a:p>
          <a:p xmlns:a="http://schemas.openxmlformats.org/drawingml/2006/main">
            <a:r>
              <a:t>https://www.reuters.com/world/europe/russias-wagner-chief-prigozhin-says-ukraine-counteroffensive-already-under-way-2023-05-03/</a:t>
            </a:r>
          </a:p>
          <a:p xmlns:a="http://schemas.openxmlformats.org/drawingml/2006/main">
            <a:r>
              <a:t>https://www.bbc.com/russian/media-66023357</a:t>
            </a:r>
          </a:p>
          <a:p xmlns:a="http://schemas.openxmlformats.org/drawingml/2006/main">
            <a:r>
              <a:t>https://www.reuters.com/world/europe/russias-prigozhin-his-own-words-mutiny-2023-06-26/</a:t>
            </a:r>
          </a:p>
          <a:p xmlns:a="http://schemas.openxmlformats.org/drawingml/2006/main">
            <a:r>
              <a:t>https://x.com/Reuters/status/1632709213641113601</a:t>
            </a:r>
          </a:p>
          <a:p xmlns:a="http://schemas.openxmlformats.org/drawingml/2006/main">
            <a:r>
              <a:t>https://www.reuters.com/world/europe/russian-mercenary-boss-says-moscows-war-ukraine-based-lies-2023-06-23/</a:t>
            </a:r>
          </a:p>
          <a:p xmlns:a="http://schemas.openxmlformats.org/drawingml/2006/main">
            <a:r>
              <a:t>https://www.rbc.ru/spb_sz/02/10/2026/6abfb91afd4c7ff957d9cbe8</a:t>
            </a:r>
          </a:p>
          <a:p xmlns:a="http://schemas.openxmlformats.org/drawingml/2006/main">
            <a:r>
              <a:t>https://www.zaks.ru/new/person/view/639</a:t>
            </a:r>
          </a:p>
          <a:p xmlns:a="http://schemas.openxmlformats.org/drawingml/2006/main">
            <a:r>
              <a:t>https://www.zaks.ru/new/archive/view/219520</a:t>
            </a:r>
          </a:p>
          <a:p xmlns:a="http://schemas.openxmlformats.org/drawingml/2006/main">
            <a:r>
              <a:t>https://tvspb.ru/news/2016/09/27/novyij-sostav-parlamenta-kto-zajmet-kresla-v-zakonodatelnom-sobranii-vi-sozyiva</a:t>
            </a:r>
          </a:p>
          <a:p xmlns:a="http://schemas.openxmlformats.org/drawingml/2006/main">
            <a:r>
              <a:t>https://tass.ru/politika/20994233</a:t>
            </a:r>
          </a:p>
          <a:p xmlns:a="http://schemas.openxmlformats.org/drawingml/2006/main">
            <a:r>
              <a:t>https://www.zaks.ru/new/archive/view/265712</a:t>
            </a:r>
          </a:p>
          <a:p xmlns:a="http://schemas.openxmlformats.org/drawingml/2006/main">
            <a:r>
              <a:t>https://www.zaks.ru/new/archive/view/269374</a:t>
            </a:r>
          </a:p>
          <a:p xmlns:a="http://schemas.openxmlformats.org/drawingml/2006/main">
            <a:r>
              <a:t>https://www.dp.ru/a/2026/10/02/oksana-dmitrieva-proigrala</a:t>
            </a:r>
          </a:p>
          <a:p xmlns:a="http://schemas.openxmlformats.org/drawingml/2006/main">
            <a:r>
              <a:t>https://ru.wikipedia.org/wiki/%D0%9F%D0%B0%D1%80%D1%82%D0%B8%D1%8F_%D1%80%D0%BE%D1%81%D1%82%D0%B0</a:t>
            </a:r>
          </a:p>
          <a:p xmlns:a="http://schemas.openxmlformats.org/drawingml/2006/main">
            <a:r>
              <a:t>https://dmitrieva.org/category/gosduma/zakonoproekty/</a:t>
            </a:r>
          </a:p>
          <a:p xmlns:a="http://schemas.openxmlformats.org/drawingml/2006/main">
            <a:r>
              <a:t>https://t.me/s/oxdmitrieva?before=1072</a:t>
            </a:r>
          </a:p>
          <a:p xmlns:a="http://schemas.openxmlformats.org/drawingml/2006/main">
            <a:r>
              <a:t>http://api.duma.gov.ru/api/transcriptFull/2023-09-28</a:t>
            </a:r>
          </a:p>
          <a:p xmlns:a="http://schemas.openxmlformats.org/drawingml/2006/main">
            <a:r>
              <a:t>https://www.fontanka.ru/2026/09/04/76623983/</a:t>
            </a:r>
          </a:p>
          <a:p xmlns:a="http://schemas.openxmlformats.org/drawingml/2006/main">
            <a:r>
              <a:t>https://www.vedomosti.ru/politics/articles/2026/03/10/1181644-deputat-semi-sozivov-oksana-dmitrieva-snova-poidet-v-gosdumu</a:t>
            </a:r>
          </a:p>
          <a:p xmlns:a="http://schemas.openxmlformats.org/drawingml/2006/main">
            <a:r>
              <a:t>https://www.kommersant.ru/doc/8497588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a620dface42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36de618fd4e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168ef366f45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f1313c2504e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24e34b8d347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9bf4fc68d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9EC6D3-477D-42EA-AF38-47C5C978D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3E6931-CEB7-47CF-9C7C-04DA8C2C82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68B3D3-A534-491B-9989-CE8A55B84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09B8BA-7426-446D-85EF-B91679349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6C084C-8778-4391-ACBA-83B81CBC48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1CFE11-C8BB-4869-8363-1E5478363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D4E5FC-3D19-4F45-AD5E-3097D25317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70A7A4-AE75-442D-AFDE-9013F0E628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BE50CA-A979-4F3E-BD3D-1C5B87E41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EFF394-E61A-41F1-8D47-2B54C2B4B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abfb512634ba0" /><Relationship Type="http://schemas.openxmlformats.org/officeDocument/2006/relationships/slideLayout" Target="/ppt/slideLayouts/slideLayout1.xml" Id="R2f5524ed6bda4629" /><Relationship Type="http://schemas.openxmlformats.org/officeDocument/2006/relationships/slideLayout" Target="/ppt/slideLayouts/slideLayout2.xml" Id="R376b6fdf32b44eb0" /><Relationship Type="http://schemas.openxmlformats.org/officeDocument/2006/relationships/slideLayout" Target="/ppt/slideLayouts/slideLayout3.xml" Id="R49592c425c2a4faa" /><Relationship Type="http://schemas.openxmlformats.org/officeDocument/2006/relationships/slideLayout" Target="/ppt/slideLayouts/slideLayout4.xml" Id="Rb4e69fc307644956" /><Relationship Type="http://schemas.openxmlformats.org/officeDocument/2006/relationships/slideLayout" Target="/ppt/slideLayouts/slideLayout5.xml" Id="R8cd517e42aa4452f" /><Relationship Type="http://schemas.openxmlformats.org/officeDocument/2006/relationships/slideLayout" Target="/ppt/slideLayouts/slideLayout6.xml" Id="R349086b8e511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5524ed6bda4629"/>
    <p:sldLayoutId xmlns:r="http://schemas.openxmlformats.org/officeDocument/2006/relationships" id="2147483650" r:id="R376b6fdf32b44eb0"/>
    <p:sldLayoutId xmlns:r="http://schemas.openxmlformats.org/officeDocument/2006/relationships" id="2147483651" r:id="R49592c425c2a4faa"/>
    <p:sldLayoutId xmlns:r="http://schemas.openxmlformats.org/officeDocument/2006/relationships" id="2147483652" r:id="Rb4e69fc307644956"/>
    <p:sldLayoutId xmlns:r="http://schemas.openxmlformats.org/officeDocument/2006/relationships" id="2147483653" r:id="R8cd517e42aa4452f"/>
    <p:sldLayoutId xmlns:r="http://schemas.openxmlformats.org/officeDocument/2006/relationships" id="2147483654" r:id="R349086b8e511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dfcf72f414a5c" /><Relationship Type="http://schemas.openxmlformats.org/officeDocument/2006/relationships/notesSlide" Target="/ppt/notesSlides/notesSlide1.xml" Id="Rfb286995f6d945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afe585d5c44bb" /><Relationship Type="http://schemas.openxmlformats.org/officeDocument/2006/relationships/notesSlide" Target="/ppt/notesSlides/notesSlide2.xml" Id="R6fcce31cbd4f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aa733d9734700" /><Relationship Type="http://schemas.openxmlformats.org/officeDocument/2006/relationships/notesSlide" Target="/ppt/notesSlides/notesSlide3.xml" Id="R5f7db53e1db6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8bef5f6634ae3" /><Relationship Type="http://schemas.openxmlformats.org/officeDocument/2006/relationships/notesSlide" Target="/ppt/notesSlides/notesSlide4.xml" Id="R973ccb50a1bf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4c5d982d6492d" /><Relationship Type="http://schemas.openxmlformats.org/officeDocument/2006/relationships/notesSlide" Target="/ppt/notesSlides/notesSlide5.xml" Id="Ra400915414044a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34be6117f4366" /><Relationship Type="http://schemas.openxmlformats.org/officeDocument/2006/relationships/notesSlide" Target="/ppt/notesSlides/notesSlide6.xml" Id="Recf62820cdee4b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c1221e8484a2b" /><Relationship Type="http://schemas.openxmlformats.org/officeDocument/2006/relationships/notesSlide" Target="/ppt/notesSlides/notesSlide7.xml" Id="R5c41b2282d5a47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c37b5592a4c8e" /><Relationship Type="http://schemas.openxmlformats.org/officeDocument/2006/relationships/notesSlide" Target="/ppt/notesSlides/notesSlide8.xml" Id="R7ef3d9fc9d004c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3e4dfab30471d" /><Relationship Type="http://schemas.openxmlformats.org/officeDocument/2006/relationships/notesSlide" Target="/ppt/notesSlides/notesSlide9.xml" Id="R8cd7d1c9fb9347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b5ec020344649" /><Relationship Type="http://schemas.openxmlformats.org/officeDocument/2006/relationships/image" Target="/ppt/media/image.png" Id="Rd299a875dfef4dab" /><Relationship Type="http://schemas.openxmlformats.org/officeDocument/2006/relationships/notesSlide" Target="/ppt/notesSlides/notesSlide10.xml" Id="Rc498b694024a4b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71d29709f403a" /><Relationship Type="http://schemas.openxmlformats.org/officeDocument/2006/relationships/notesSlide" Target="/ppt/notesSlides/notesSlide11.xml" Id="Rc465369e4e6240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fd13f2d8d4506" /><Relationship Type="http://schemas.openxmlformats.org/officeDocument/2006/relationships/notesSlide" Target="/ppt/notesSlides/notesSlide12.xml" Id="R9ef73f64766145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def798e894bf0" /><Relationship Type="http://schemas.openxmlformats.org/officeDocument/2006/relationships/notesSlide" Target="/ppt/notesSlides/notesSlide13.xml" Id="Re968f4e0d35948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8f54a06bd474f" /><Relationship Type="http://schemas.openxmlformats.org/officeDocument/2006/relationships/image" Target="/ppt/media/image2.png" Id="R4ba44bd32db64a82" /><Relationship Type="http://schemas.openxmlformats.org/officeDocument/2006/relationships/notesSlide" Target="/ppt/notesSlides/notesSlide14.xml" Id="Rd4b0a0e82ff747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69c7d0e8f4cf0" /><Relationship Type="http://schemas.openxmlformats.org/officeDocument/2006/relationships/image" Target="/ppt/media/image3.png" Id="R8788c7f615c34e4a" /><Relationship Type="http://schemas.openxmlformats.org/officeDocument/2006/relationships/notesSlide" Target="/ppt/notesSlides/notesSlide15.xml" Id="R887765a670a34e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6d7948ad04f8a" /><Relationship Type="http://schemas.openxmlformats.org/officeDocument/2006/relationships/image" Target="/ppt/media/image4.png" Id="R35377dc28f9a4872" /><Relationship Type="http://schemas.openxmlformats.org/officeDocument/2006/relationships/notesSlide" Target="/ppt/notesSlides/notesSlide16.xml" Id="R6835c60bc6fa4e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eaa0bf9ec4372" /><Relationship Type="http://schemas.openxmlformats.org/officeDocument/2006/relationships/image" Target="/ppt/media/image5.png" Id="Rfc2d3c4bb762430a" /><Relationship Type="http://schemas.openxmlformats.org/officeDocument/2006/relationships/notesSlide" Target="/ppt/notesSlides/notesSlide17.xml" Id="Rb903c7c9a0fe42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9b7139a244afa" /><Relationship Type="http://schemas.openxmlformats.org/officeDocument/2006/relationships/notesSlide" Target="/ppt/notesSlides/notesSlide18.xml" Id="Rb738a210282942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f9dede35848db" /><Relationship Type="http://schemas.openxmlformats.org/officeDocument/2006/relationships/notesSlide" Target="/ppt/notesSlides/notesSlide19.xml" Id="R705c5b17788d4b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41e4ad1ab47ac" /><Relationship Type="http://schemas.openxmlformats.org/officeDocument/2006/relationships/notesSlide" Target="/ppt/notesSlides/notesSlide20.xml" Id="R551d97ec3dac4e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3caa867214675" /><Relationship Type="http://schemas.openxmlformats.org/officeDocument/2006/relationships/notesSlide" Target="/ppt/notesSlides/notesSlide21.xml" Id="Raf834bb7ec2f47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0cef5246f4e00" /><Relationship Type="http://schemas.openxmlformats.org/officeDocument/2006/relationships/notesSlide" Target="/ppt/notesSlides/notesSlide22.xml" Id="Redc6b057a0e241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F91909-34F9-422E-A7AB-7F59B72A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Политическое пространство России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661050A-4EA8-43D8-B08A-DC8DE9DF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F5DD3C-9E40-4433-A38D-0F44C22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Публичные образы политиков, 2016–2026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4FB43-A4AD-4C67-AF8A-4E49FF6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Четыре смысловые оси и четыре группы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6E4737-8961-4CBF-A1DA-E05D075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63 участника исследования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969656-B399-4515-B3F9-142C0F6E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Разведочное исследование оценённых публичных образов</a:t>
            </a:r>
          </a:p>
        </p:txBody>
      </p:sp>
    </p:spTree>
    <p:extLst>
      <p:ext uri="{BB962C8B-B14F-4D97-AF65-F5344CB8AC3E}">
        <p14:creationId xmlns:p14="http://schemas.microsoft.com/office/powerpoint/2010/main" val="1617483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986B34-5D59-42EB-BC36-6F3D4936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Четыре измерения политического образа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288F519-10F1-4A73-9142-89960D95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1258B-6B7F-4965-868C-7BC459DBF330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4981575"/>
                <a:gridCol w="4981575"/>
              </a:tblGrid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Одно направление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Противоположное направление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Прекращение войны, сотрудничество и интеграция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Противостояние, суверенитет и мобилизация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Жёсткая полемика, личный бренд и протестное давление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Процедуры, партии, коллективное представительство и компромисс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Самостоятельность, выборный мандат и личная инициатива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Единая вертикаль и поддержка действующего курса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Практические результаты и управленческие задачи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Идеологические принципы и социальные гарантии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AE82E19-5B65-4872-A938-74EEDC3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Каждая ось описывает отдельное различие. У одного политика могут сочетаться разные направления этих осей.</a:t>
            </a:r>
          </a:p>
        </p:txBody>
      </p:sp>
    </p:spTree>
    <p:extLst>
      <p:ext uri="{BB962C8B-B14F-4D97-AF65-F5344CB8AC3E}">
        <p14:creationId xmlns:p14="http://schemas.microsoft.com/office/powerpoint/2010/main" val="538345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FC2C36-3357-4C2A-840B-DDF652F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Четыре группы публичных образов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8AEB613-177B-413B-9A85-B8E7A45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91198-7FCF-4733-B80B-8B896A4186E0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38875"/>
                <a:gridCol w="1381125"/>
                <a:gridCol w="3200400"/>
              </a:tblGrid>
              <a:tr h="752475"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Число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Представители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</a:tr>
              <a:tr h="752475"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C1 Мобилизация и персональная конфронтация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Удальцов, Прилепин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C2 Персональная антивоенная оппозиционная стратегия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Яшин, Соболь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752475"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C3 Поддержка курса и управленческое представительство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Дегтярёв, Лавров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C4 Партийная и электоральная конкуренция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Левченко, Дмитриева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13DA05-9613-46D9-83E1-3351DDE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Цвета этих четырёх групп используются на всех картах политиков. Общность публичного стиля может сочетаться с различием политических позиций.</a:t>
            </a:r>
          </a:p>
        </p:txBody>
      </p:sp>
    </p:spTree>
    <p:extLst>
      <p:ext uri="{BB962C8B-B14F-4D97-AF65-F5344CB8AC3E}">
        <p14:creationId xmlns:p14="http://schemas.microsoft.com/office/powerpoint/2010/main" val="855135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DA84B61-7ECA-45DD-9600-13EF4124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Все шкалы публичного образа (1/2)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26B535-B263-4A62-93C6-CCD9049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3A6C01A-29AF-4903-AA78-364282B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8A7BED-9BE7-45A7-A2F3-ED43F256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763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Суверенная самостоятельность — международная интеграция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0B8293-539C-4D3D-BE39-18C637CB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009D5C-A822-4707-B168-9A5FB613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Историческая преемственность — преобразование будущего *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817F08-AC7E-4AB8-B379-A511CA5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792886-4DFF-4253-B0D8-9B9E3AE9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Практические результаты — идеологические принципы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7B551D-04CD-4F58-B57C-CB0E6444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D526323-2E70-4C5C-ABFE-17AE04B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Институциональная работа — протестное действие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7F11B32-0EFB-457F-8076-6E77A4FA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920262-D3C7-40C4-906C-6041790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098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Критика действующей власти — поддержка её курса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A035E6-7E3C-4DB6-B06B-1E892370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B932ED-C522-43E4-88AF-9B542B5B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Социальное перераспределение — личная экономическая ответственность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E6207E-3089-4CDD-8993-948C122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DBA6F5-79FC-4977-8E55-8AF825D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766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Централизация — децентрализация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0C8F93E-C5B3-49C8-ADB1-125D7B36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647AFB-6B08-43EB-B9A7-B157925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Мобилизационный призыв — обсуждение и убеждение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07474D4-A604-4A9C-9365-C3DC42B0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D5A2AD0-27FA-4302-8FD0-4793A14B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33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Конфронтация — компромисс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BC62A8-5582-45B0-8E2A-ACFE70B6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ECC6F5D-0C98-4D3D-9595-9ACE160D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Персональный бренд — коллективный институт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86D6D87-D817-4251-89F9-1D96104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4439995-1632-4D79-B78F-FDAD81B7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Противостояние Западу — сближение с Западом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FFDAD5E-E6E2-4B02-8D62-561544FB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C062C17-7E9A-4016-A3D4-BC4F1B1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Партийная организация — независимая инициатива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3336AF4-93E0-42B4-9B63-579D742E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2BEDCF8-572D-499C-8F73-88A4C623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768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Открытость решений — закрытость решений *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90F5351-F394-4679-BF79-03C046A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* По этим девяти шкалам пока недостаточно оценок. На картах показаны остальные 17 шкал.</a:t>
            </a:r>
          </a:p>
        </p:txBody>
      </p:sp>
    </p:spTree>
    <p:extLst>
      <p:ext uri="{BB962C8B-B14F-4D97-AF65-F5344CB8AC3E}">
        <p14:creationId xmlns:p14="http://schemas.microsoft.com/office/powerpoint/2010/main" val="3114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702FD87-9432-4732-B624-EEDB21C7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Все шкалы публичного образа (2/2)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6D970E-F1E3-4D87-B429-D125A99F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C4C701E-7146-4A72-8209-4762BA0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DBE66E-F0BB-448E-9135-FC5AA756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763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Традиционные нормы — индивидуальное самоопределение *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6AD29C-EC58-405C-853C-8FC5D572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0BB488-0DB6-4093-A153-C0266F2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Внешняя повестка — внутренняя повестка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BE24541-6DA8-4F6A-9BA8-1A33768A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9CB26D-61AB-40AA-87FA-1A3AB1D2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Прекращение военных действий — их продолжение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89ECEA-E932-409C-95B4-664DC0E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6753F3-6B18-4A04-9707-A19FF375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Электоральный мандат — административный мандат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4BB32D-2D95-458E-A458-9C3554CD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B3A1E4-F0CC-40C8-85AF-5F85F52C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098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Государственная экономика — частная экономика *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3ACA00-2D6A-401A-B683-505B262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6634754-0AB6-403C-BE59-048D7CBB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Технологическое обновление — сохранение освоенных моделей *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D6CE85-2A78-4CB4-AA34-C71675DA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13538F-FA45-42EB-826A-7294EE4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766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Регулирование информации — свобода выражения *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1DC889-DDF5-4A76-B586-BDDDC26B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F8146F-F2DC-49E7-BDC4-8170A31B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Сохранение границ — территориальный пересмотр *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83A894-525D-44EA-8FE9-16C1D46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C5FF2CD-319A-4D19-BC58-8DB7806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33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Лозунговая простота — развёрнутая аргументация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1E7CF93-B6AB-423A-9283-C4524CB0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07DACFA-C38B-4176-AA8D-B6932C0A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Дерегулирование — административное регулирование *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7120CB5-1916-4AD6-A737-FA451109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7699647-4F4B-46B2-9CA1-FACFD4C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Национальная общность — универсальные права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952EA44-2103-4210-95EA-CA02FC0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F39C3EB-E797-47B9-A491-E6BF4799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Коалиционное сотрудничество — самостоятельная конкуренция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AB20450-77E6-41B8-AFD3-022A5537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D378ECC-399F-4F2B-AC42-32AE1C05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7687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Гражданские свободы — ограничения ради порядка *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DEBA302-BF0A-4797-9A1D-602B8AD3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* По этим девяти шкалам пока недостаточно оценок. На картах показаны остальные 17 шкал.</a:t>
            </a:r>
          </a:p>
        </p:txBody>
      </p:sp>
    </p:spTree>
    <p:extLst>
      <p:ext uri="{BB962C8B-B14F-4D97-AF65-F5344CB8AC3E}">
        <p14:creationId xmlns:p14="http://schemas.microsoft.com/office/powerpoint/2010/main" val="920455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82D0A1-69F9-41B4-8D3C-121BEC6A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F2. Мир и интеграция — мобилизация и противостояние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A128455-6E6F-4BF6-8600-CA4CC08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0DC1214-F331-48D5-B67E-C7E54A6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одной стороне — призывы прекратить военные действия, критика действующего курса и сотрудничество с западными странами. На другой — противостояние Западу, защита суверенитета и мобилизационные призывы. Ось показывает одно из главных различий публичных политических акцентов в изученной выборке.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533DCF-50AB-4793-8CC2-70D0581A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одном полюсе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16B375-D512-4E44-808E-F3F42B3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другом полюсе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9C52DC-CDBF-45FB-804E-2E4ACA7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Прекращение войны, сотрудничество и интеграция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7FC0E9-8FE3-45CF-85E1-74B9E770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Противостояние, суверенитет и мобилизация</a:t>
            </a:r>
          </a:p>
        </p:txBody>
      </p:sp>
    </p:spTree>
    <p:extLst>
      <p:ext uri="{BB962C8B-B14F-4D97-AF65-F5344CB8AC3E}">
        <p14:creationId xmlns:p14="http://schemas.microsoft.com/office/powerpoint/2010/main" val="2093734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ED2703-73C6-4C74-9531-B2EB9FA0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F3. Персональная конфронтация — работа через институты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6936BD-8CDE-4CC2-87C2-9FC6F664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0C4C60E-7827-409C-858F-2632293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Один полюс объединяет жёсткую полемику, личный бренд и протестное давление. Другой — парламентские и правовые процедуры, партийную организацию, коллективное представительство и компромисс. Здесь важен способ публичного политического действия: похожий стиль может встречаться у политических противников.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7085F7-E527-4243-BFCD-D5D4D69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одном полюсе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700233-6603-4822-A677-3486FFBB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другом полюсе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8FD50B1-43E8-40E5-8F74-31D1B3D8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Жёсткая полемика, личный бренд и протестное давление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FB6D36-F65D-40DF-AB00-9530C0C5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Процедуры, партии, коллективное представительство и компромисс</a:t>
            </a:r>
          </a:p>
        </p:txBody>
      </p:sp>
    </p:spTree>
    <p:extLst>
      <p:ext uri="{BB962C8B-B14F-4D97-AF65-F5344CB8AC3E}">
        <p14:creationId xmlns:p14="http://schemas.microsoft.com/office/powerpoint/2010/main" val="362087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A350FA-F28E-43D0-A159-C1F448C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F1. Самостоятельность — единая вертикаль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70DAC4C-FD9F-4588-936B-8AA00C4F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F06D92-A2F6-4CCC-8DCE-9A91C64A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Ось различает акцент на распределении полномочий и самостоятельности участников — и акцент на единой вертикали власти. С самостоятельностью здесь сочетаются выборный мандат, публичная критика курса и личная инициатива. Это прежде всего различие в том, как представляются отношения между центром и другими участниками.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BFE199-6E1D-48B7-8879-CE1D8A94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одном полюсе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D1F01D-A90A-4527-A6B0-A3E693F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другом полюсе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7D089F-5356-4AA4-B52B-482B78A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Самостоятельность, выборный мандат и личная инициатива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7CA0C4-E2E0-46DC-8132-158C39E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Единая вертикаль и поддержка действующего курса</a:t>
            </a:r>
          </a:p>
        </p:txBody>
      </p:sp>
    </p:spTree>
    <p:extLst>
      <p:ext uri="{BB962C8B-B14F-4D97-AF65-F5344CB8AC3E}">
        <p14:creationId xmlns:p14="http://schemas.microsoft.com/office/powerpoint/2010/main" val="1405867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3ABD3B-2418-40EF-928E-858C4C04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F4. Практические результаты — идеологическая и социальная программа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B4E07B8-6D63-4699-90C3-C94AAE15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3257A74-EEF5-47D4-9A99-1C35F04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Ось различает способы обоснования решений. На одной стороне — измеримые результаты и управленческая эффективность. На другой — идеологические принципы, символические цели и акцент на государственных социальных гарантиях. Это различие в публичных аргументах и приоритетах, а не оценка реального качества управления.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7F7F6E-40B7-49F2-AFE2-3066DED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одном полюсе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8D7D31-F7A0-4B77-8CB2-22089E6E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другом полюсе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14B2C5-9791-49BB-8679-592ED1B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Практические результаты и управленческие задачи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E18F94-CA24-4539-AB69-22B7C72D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Идеологические принципы и социальные гарантии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756838F-8EE0-42FF-8C59-32FA323D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Предварительное описание: смысл этой оси опирается на ограниченный набор свойств.</a:t>
            </a:r>
          </a:p>
        </p:txBody>
      </p:sp>
    </p:spTree>
    <p:extLst>
      <p:ext uri="{BB962C8B-B14F-4D97-AF65-F5344CB8AC3E}">
        <p14:creationId xmlns:p14="http://schemas.microsoft.com/office/powerpoint/2010/main" val="485407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5259EC-93E4-4D3C-A6F9-C069A6B4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Признаки в факторном пространстве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ECCD97B-00FC-43CF-917E-79AE53B8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A2D8D-4707-43AE-967F-86859B15C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9a875dfef4dab"/>
          <a:stretch xmlns:a="http://schemas.openxmlformats.org/drawingml/2006/main"/>
        </p:blipFill>
        <p:spPr>
          <a:xfrm xmlns:a="http://schemas.openxmlformats.org/drawingml/2006/main">
            <a:off x="876750" y="1285875"/>
            <a:ext cx="10438500" cy="45148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7E65E0-579C-4032-AD79-D115A23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Точки обозначают признаки, а не политиков. Показаны первые полюса шкал. Направления осей подписаны словами.</a:t>
            </a:r>
          </a:p>
        </p:txBody>
      </p:sp>
    </p:spTree>
    <p:extLst>
      <p:ext uri="{BB962C8B-B14F-4D97-AF65-F5344CB8AC3E}">
        <p14:creationId xmlns:p14="http://schemas.microsoft.com/office/powerpoint/2010/main" val="12782466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C140B6-5E0A-462E-A2E1-1FD9DCC7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Как читать карту признаков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C1E80D-0BFD-48AC-B55F-072AF4B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AAEFFD0-46FA-45DF-9C78-1BFD5223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Каждая точка — смысловая шкала, подписанная её первым полюсом: например,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«Противостояние Западу». Положение показывает связь этого признака с двумя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осями. По горизонтали различаются мир и интеграция, с одной стороны,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противостояние и мобилизация — с другой. По вертикали различаются персональная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конфронтация и действие через институты. Противоположный полюс каждой шкалы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читается в обратном направлении.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Близкие точки означают похожее сочетание акцентов на этих двух осях. Точки по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разные стороны центра вдоль одной оси связаны с противоположными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направлениями. Так можно увидеть, какие признаки в изученных публичных образах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часто образуют общий смысловой рисунок; соседство не делает слова синонимами.</a:t>
            </a:r>
          </a:p>
        </p:txBody>
      </p:sp>
    </p:spTree>
    <p:extLst>
      <p:ext uri="{BB962C8B-B14F-4D97-AF65-F5344CB8AC3E}">
        <p14:creationId xmlns:p14="http://schemas.microsoft.com/office/powerpoint/2010/main" val="718819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4707C0-A793-4C78-9D4F-46D31C04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Как читать карту признаков (продолжение)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0A0B02-22BD-421A-9429-A0F04C2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2A57FD-1DA7-4ACA-B89E-35F65F2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 плоскости видны только две из четырёх осей. Шкалы могут оказаться рядом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здесь и сильно различаться на другой карте. Точка около центра также не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означает, что свойство неважно: оно может быть связано с другими осями.</a:t>
            </a:r>
          </a:p>
        </p:txBody>
      </p:sp>
    </p:spTree>
    <p:extLst>
      <p:ext uri="{BB962C8B-B14F-4D97-AF65-F5344CB8AC3E}">
        <p14:creationId xmlns:p14="http://schemas.microsoft.com/office/powerpoint/2010/main" val="17709460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A2960E-D781-467C-A4EC-87E902C3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Три примера чтения карты признаков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34C8CC-41F3-4705-9D45-8E8EE1E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AB8B36-E62C-4E75-9990-B7584EB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Рядом: суверенитет и противостояние Западу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715B73-5D9E-4172-B1B0-F8C4FFE5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«Суверенитет» и «Противостояние Западу» находятся рядом в левой части карты. В изученных образах эти признаки сходно связаны с показанными осями. Их близость помогает увидеть общий внешнеполитический акцент, сохраняя различие самих свойств.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6619F1-6852-4A70-B014-5C48A826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По разные стороны: прекращение войны и противостояние Западу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67E038-4B58-46C6-BB2C-11C246A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«Прекращение войны» находится справа, а «Противостояние Западу» — слева. Горизонтальная ось отделяет акцент на мире и интеграции от акцента на противостоянии и мобилизации.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401C36-2862-486E-B7CA-91A4E41E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Скрытое различие: результаты и социальная программа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5E556F-54C5-421B-8919-5B6B1984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«Практические результаты» и «Социальное перераспределение» почти совпадают на первой карте. Но они расходятся по четвёртой оси. На следующей карте, где показаны самостоятельность и управленческие приоритеты, это различие становится заметно.</a:t>
            </a:r>
          </a:p>
        </p:txBody>
      </p:sp>
    </p:spTree>
    <p:extLst>
      <p:ext uri="{BB962C8B-B14F-4D97-AF65-F5344CB8AC3E}">
        <p14:creationId xmlns:p14="http://schemas.microsoft.com/office/powerpoint/2010/main" val="7811117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07C493-D6B1-4F54-B6FD-3857B35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Признаки: самостоятельность и управленческие приоритеты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00D63D-2C57-4B75-9F59-0FD16A32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451B9-72E0-41C6-A5CD-0B93EBF31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44bd32db64a82"/>
          <a:stretch xmlns:a="http://schemas.openxmlformats.org/drawingml/2006/main"/>
        </p:blipFill>
        <p:spPr>
          <a:xfrm xmlns:a="http://schemas.openxmlformats.org/drawingml/2006/main">
            <a:off x="876750" y="1285875"/>
            <a:ext cx="10438500" cy="45148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6E861F-01E4-404C-B416-CBF898CB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Другая плоскость раскрывает скрытое различие: практические результаты и социальное перераспределение расходятся по вертикали.</a:t>
            </a:r>
          </a:p>
        </p:txBody>
      </p:sp>
    </p:spTree>
    <p:extLst>
      <p:ext uri="{BB962C8B-B14F-4D97-AF65-F5344CB8AC3E}">
        <p14:creationId xmlns:p14="http://schemas.microsoft.com/office/powerpoint/2010/main" val="6675071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7815056-7E88-400C-A635-2FEBEBF5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Политики: внешние акценты и способ действия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6092618-9665-4F0C-8184-5ED253DE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B5F2A-E6D9-477F-AE1B-447B1600C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8c7f615c34e4a"/>
          <a:stretch xmlns:a="http://schemas.openxmlformats.org/drawingml/2006/main"/>
        </p:blipFill>
        <p:spPr>
          <a:xfrm xmlns:a="http://schemas.openxmlformats.org/drawingml/2006/main">
            <a:off x="876750" y="1285875"/>
            <a:ext cx="10438500" cy="45148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466E2A-FEA1-4686-A477-93BF0DC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Каждая точка — политик или другой участник исследования. Близость означает похожее сочетание публичных акцентов на показанных осях. Цвет обозначает группу; различия на остальных осях здесь могут быть не видны.</a:t>
            </a:r>
          </a:p>
        </p:txBody>
      </p:sp>
    </p:spTree>
    <p:extLst>
      <p:ext uri="{BB962C8B-B14F-4D97-AF65-F5344CB8AC3E}">
        <p14:creationId xmlns:p14="http://schemas.microsoft.com/office/powerpoint/2010/main" val="12096057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AFA5A9-763B-42C5-9781-954596C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Политики: распределение власти и обоснование программы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8AB501-C10B-48AB-92B3-9D376ED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C9175-198D-483D-8556-0DEC93089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77dc28f9a4872"/>
          <a:stretch xmlns:a="http://schemas.openxmlformats.org/drawingml/2006/main"/>
        </p:blipFill>
        <p:spPr>
          <a:xfrm xmlns:a="http://schemas.openxmlformats.org/drawingml/2006/main">
            <a:off x="876750" y="1285875"/>
            <a:ext cx="10438500" cy="45148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4A255B-35C9-4A46-84BF-1B78C6D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Справа сильнее акцент на самостоятельности, слева — на вертикали. Сверху — на результатах, снизу — на идеологической и социальной программе.</a:t>
            </a:r>
          </a:p>
        </p:txBody>
      </p:sp>
    </p:spTree>
    <p:extLst>
      <p:ext uri="{BB962C8B-B14F-4D97-AF65-F5344CB8AC3E}">
        <p14:creationId xmlns:p14="http://schemas.microsoft.com/office/powerpoint/2010/main" val="17044752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CC86D2-4B34-449F-AA00-80387646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Карта соседства политиков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6D31D45-628B-4879-8616-B004D1C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1EDEA-50B6-4570-B1DC-0B5852BA9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d3c4bb762430a"/>
          <a:stretch xmlns:a="http://schemas.openxmlformats.org/drawingml/2006/main"/>
        </p:blipFill>
        <p:spPr>
          <a:xfrm xmlns:a="http://schemas.openxmlformats.org/drawingml/2006/main">
            <a:off x="876750" y="1285875"/>
            <a:ext cx="10438500" cy="45148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C8ADAB-9CA5-4A44-9367-50B2D6B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Карта помогает увидеть ближайшее соседство профилей по всем четырём осям. Направления по горизонтали и вертикали самостоятельного политического смысла не имеют.</a:t>
            </a:r>
          </a:p>
        </p:txBody>
      </p:sp>
    </p:spTree>
    <p:extLst>
      <p:ext uri="{BB962C8B-B14F-4D97-AF65-F5344CB8AC3E}">
        <p14:creationId xmlns:p14="http://schemas.microsoft.com/office/powerpoint/2010/main" val="3107672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D8DC2B-701F-43B9-B552-FDD317E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C1. Мобилизация и персональная конфронтация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32F5B7-8EA9-4DFA-A062-5061FD53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D72B1D-A420-418A-8625-D2A58E84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9 участников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22B959-937E-4CAE-ABBE-1AD1C9B3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 группе преобладают мобилизационные призывы, жёсткая полемика и яркий личный бренд. При этом Путин сохраняет более институциональный способ действия. Политические цели и отношение к власти различаются: общность группы не означает одинакового стиля всех её участников.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899F01-2808-47A8-B980-C3AD993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Близкие к центру группы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047025-DA3E-409F-87F6-FFFB6252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Сергей Удальцов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Захар Прилепин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Владимир Жириновский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82CB9D-94D1-4CA2-8173-C5497FB7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Полный состав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499A77-9ABF-47EC-9673-C4F58B7C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43500" cy="413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Владимир Путин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Владимир Жириновский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Захар Прилепин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Рамзан Кадыров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Илья Пономарёв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Сергей Удальцов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Эдуард Лимонов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Игорь Стрелков (Гиркин)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Евгений Пригожин</a:t>
            </a:r>
          </a:p>
        </p:txBody>
      </p:sp>
    </p:spTree>
    <p:extLst>
      <p:ext uri="{BB962C8B-B14F-4D97-AF65-F5344CB8AC3E}">
        <p14:creationId xmlns:p14="http://schemas.microsoft.com/office/powerpoint/2010/main" val="435325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FE137E-FC03-4543-AFC4-193D4FC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C2. Персональная антивоенная оппозиционная стратегия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5D99049-845E-46C2-BC98-078FC31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D951E9-AF97-4E16-B2E4-19D9105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10 участников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1ACA70-AF8D-4897-A0D4-BB085C98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 центре образов — критика федеральной власти, прекращение военных действий и международная интеграция. Этому сопутствуют личная публичность и внепартийная или внеинституциональная стратегия. Общность акцентов сочетается с различием программ и политических биографий.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992BB2-69C4-44F5-9F65-65AE061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Близкие к центру группы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3D8D47-A96B-462F-BDED-BC1E446A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Илья Яшин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Любовь Соболь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Алексей Навальный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82D444-BF45-4F0D-B146-82D5B77C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Полный состав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3413024-89FF-4A9F-BC34-DD3A5CA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43500" cy="413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Евгений Ройзман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Алексей Навальный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Илья Яшин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Владимир Кара-Мурза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Геннадий Гудков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Гарри Каспаров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Михаил Ходорковский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Владимир Милов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Любовь Соболь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Леонид Гозман</a:t>
            </a:r>
          </a:p>
        </p:txBody>
      </p:sp>
    </p:spTree>
    <p:extLst>
      <p:ext uri="{BB962C8B-B14F-4D97-AF65-F5344CB8AC3E}">
        <p14:creationId xmlns:p14="http://schemas.microsoft.com/office/powerpoint/2010/main" val="8108325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5F4E35-7A80-4977-ADCE-2DECE83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C3. Поддержка курса и управленческое представительство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FE9ED13-CF44-4490-900D-2DEC056F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74F7F1-588E-487A-B6B0-253C265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31 участников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F3FF6E-851A-427D-AD2A-78E3F7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Группу объединяют поддержка действующего курса, единая вертикаль и акцент на управленческих задачах. Публичное действие чаще представляется через должность, институт или коллективную работу. Внутри остаются различия между ведомственными, региональными и партийными акцентами.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420BD6-CEB2-400F-BCB5-E9DA6C0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Близкие к центру группы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FFC373-EDCA-49F3-967F-70845ADB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Михаил Дегтярёв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Сергей Лавров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Михаил Развожаев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1747AC-902C-42B1-8D1A-B714CB2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Полный состав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8C8C0C-EBF9-4927-B907-37B51EAF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476500" cy="413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Медведев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Мишустин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Лавров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Шойгу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Белоусов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Патрушев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Бортников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Кириенко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Володин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Матвиенко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Песков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Набиуллина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Силуанов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Голикова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Поклонская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Мизулина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948E4C-8978-4E8B-9277-E5119AC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476500" cy="413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Милонов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Останина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Терешкова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Хинштейн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Пушков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Косачёв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Собянин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Беглов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Минниханов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Дегтярёв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Аксёнов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Развожаев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Гладков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Чибис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Шумков</a:t>
            </a:r>
          </a:p>
        </p:txBody>
      </p:sp>
    </p:spTree>
    <p:extLst>
      <p:ext uri="{BB962C8B-B14F-4D97-AF65-F5344CB8AC3E}">
        <p14:creationId xmlns:p14="http://schemas.microsoft.com/office/powerpoint/2010/main" val="10188749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59B6CA-66EC-491A-8A98-EE315627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C4. Партийная и электоральная конкуренция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68A6F54-6219-462B-A00D-0C553E02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41B3F40-3B25-4C71-A9E6-E35FF88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13 участников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BA464E-0D77-45BD-BF35-5AAB3E10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Здесь заметны выборы, партийная организация, действующие процедуры и сравнительно спокойная полемика. Группу сближает способ политической конкуренции, а не единая позиция по войне или отношениям с Западом. Поэтому рядом оказываются участники с разными программными приоритетами.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FA7722-34A9-480B-A776-BF6065A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Близкие к центру группы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0F7F4B-B519-4897-9620-9612E7E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Сергей Левченко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Оксана Дмитриева</a:t>
            </a:r>
          </a:p>
          <a:p xmlns:a="http://schemas.openxmlformats.org/drawingml/2006/main">
            <a:pPr algn="l">
              <a:defRPr sz="18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Борис Вишневский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C1320C-1331-4145-A070-09094B22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Полный состав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8D755B-B179-45E9-B593-E4B5B003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43500" cy="413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Геннадий Зюганов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Леонид Слуцкий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Сергей Миронов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Алексей Нечаев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Владислав Даванков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Сергей Левченко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Григорий Явлинский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Лев Шлосберг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Борис Вишневский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Екатерина Дунцова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Павел Грудинин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Николай Платошкин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Оксана Дмитриева</a:t>
            </a:r>
          </a:p>
        </p:txBody>
      </p:sp>
    </p:spTree>
    <p:extLst>
      <p:ext uri="{BB962C8B-B14F-4D97-AF65-F5344CB8AC3E}">
        <p14:creationId xmlns:p14="http://schemas.microsoft.com/office/powerpoint/2010/main" val="9281524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72E1EF-D454-43CC-BA42-D29AB28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Содержание политического пространства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C836954-8894-47BA-B1C7-3C8068B2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0BEB596-04E1-43AD-A283-6FE7391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 этом пространстве различаются внешнеполитические акценты, способы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политического действия, распределение власти и публичное обоснование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программы. Группы показывают повторяющиеся сочетания этих свойств в образах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изученных участников.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Похожий способ действия может сочетаться с противоположными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внешнеполитическими акцентами. Институциональная конкуренция и персональная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конфронтация образуют разные сочетания публичных свойств.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Общность профиля показывает сходство публичных акцентов. Политические</a:t>
            </a:r>
          </a:p>
          <a:p xmlns:a="http://schemas.openxmlformats.org/drawingml/2006/main">
            <a:pPr algn="l">
              <a:defRPr sz="18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программы и отношение к действующей власти внутри группы могут различаться.</a:t>
            </a:r>
          </a:p>
        </p:txBody>
      </p:sp>
    </p:spTree>
    <p:extLst>
      <p:ext uri="{BB962C8B-B14F-4D97-AF65-F5344CB8AC3E}">
        <p14:creationId xmlns:p14="http://schemas.microsoft.com/office/powerpoint/2010/main" val="1906521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2026-10-15T08:22:38.9280000Z</dcterms:created>
  <dcterms:modified xsi:type="dcterms:W3CDTF">2026-10-15T08:22:38.9280000Z</dcterms:modified>
</coreProperties>
</file>