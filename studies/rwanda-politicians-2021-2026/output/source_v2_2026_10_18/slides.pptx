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813412e2fa4c99" /><Relationship Type="http://schemas.openxmlformats.org/officeDocument/2006/relationships/extended-properties" Target="/docProps/app.xml" Id="R7b2c4265365c4fc7" /><Relationship Type="http://schemas.openxmlformats.org/officeDocument/2006/relationships/officeDocument" Target="/ppt/presentation.xml" Id="Rd807496f986741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b6011a94a34bc9"/>
  </p:sldMasterIdLst>
  <p:notesMasterIdLst>
    <p:notesMasterId xmlns:r="http://schemas.openxmlformats.org/officeDocument/2006/relationships" r:id="R4043417d71724a18"/>
  </p:notesMasterIdLst>
  <p:sldIdLst>
    <p:sldId xmlns:r="http://schemas.openxmlformats.org/officeDocument/2006/relationships" id="256" r:id="Rf3c0f36c83324442"/>
    <p:sldId xmlns:r="http://schemas.openxmlformats.org/officeDocument/2006/relationships" id="257" r:id="Ra0ade925933d40f1"/>
    <p:sldId xmlns:r="http://schemas.openxmlformats.org/officeDocument/2006/relationships" id="258" r:id="Ref8d1b9dbad74961"/>
    <p:sldId xmlns:r="http://schemas.openxmlformats.org/officeDocument/2006/relationships" id="259" r:id="R13ce59957a4646e2"/>
    <p:sldId xmlns:r="http://schemas.openxmlformats.org/officeDocument/2006/relationships" id="260" r:id="Rf3778fc549744c7d"/>
    <p:sldId xmlns:r="http://schemas.openxmlformats.org/officeDocument/2006/relationships" id="261" r:id="R7b70af892f91410f"/>
    <p:sldId xmlns:r="http://schemas.openxmlformats.org/officeDocument/2006/relationships" id="262" r:id="Re44bd3b69a24406e"/>
    <p:sldId xmlns:r="http://schemas.openxmlformats.org/officeDocument/2006/relationships" id="263" r:id="R852367c9f9a24867"/>
    <p:sldId xmlns:r="http://schemas.openxmlformats.org/officeDocument/2006/relationships" id="264" r:id="R4658a7ca6bbf4972"/>
    <p:sldId xmlns:r="http://schemas.openxmlformats.org/officeDocument/2006/relationships" id="265" r:id="R6e9084e6f6474412"/>
    <p:sldId xmlns:r="http://schemas.openxmlformats.org/officeDocument/2006/relationships" id="266" r:id="Refd41b6565d84797"/>
    <p:sldId xmlns:r="http://schemas.openxmlformats.org/officeDocument/2006/relationships" id="267" r:id="R2be3589dd8f54d9d"/>
    <p:sldId xmlns:r="http://schemas.openxmlformats.org/officeDocument/2006/relationships" id="268" r:id="R51a0f4e6beee4f48"/>
    <p:sldId xmlns:r="http://schemas.openxmlformats.org/officeDocument/2006/relationships" id="269" r:id="R34fbc8afd2604698"/>
    <p:sldId xmlns:r="http://schemas.openxmlformats.org/officeDocument/2006/relationships" id="270" r:id="R003427ebadd7423d"/>
    <p:sldId xmlns:r="http://schemas.openxmlformats.org/officeDocument/2006/relationships" id="271" r:id="R742ad9d715d342df"/>
    <p:sldId xmlns:r="http://schemas.openxmlformats.org/officeDocument/2006/relationships" id="272" r:id="R3036a1431ff24624"/>
    <p:sldId xmlns:r="http://schemas.openxmlformats.org/officeDocument/2006/relationships" id="273" r:id="R4560ff8d817a4783"/>
    <p:sldId xmlns:r="http://schemas.openxmlformats.org/officeDocument/2006/relationships" id="274" r:id="R6300cebea12a4aa5"/>
    <p:sldId xmlns:r="http://schemas.openxmlformats.org/officeDocument/2006/relationships" id="275" r:id="Re59b23d3ad7c4193"/>
    <p:sldId xmlns:r="http://schemas.openxmlformats.org/officeDocument/2006/relationships" id="276" r:id="Rfb783d0506cc4b04"/>
    <p:sldId xmlns:r="http://schemas.openxmlformats.org/officeDocument/2006/relationships" id="277" r:id="R8cfb0483933847eb"/>
    <p:sldId xmlns:r="http://schemas.openxmlformats.org/officeDocument/2006/relationships" id="278" r:id="R5cbdcf519f7c4ae0"/>
    <p:sldId xmlns:r="http://schemas.openxmlformats.org/officeDocument/2006/relationships" id="279" r:id="R1c4c673c5b814149"/>
    <p:sldId xmlns:r="http://schemas.openxmlformats.org/officeDocument/2006/relationships" id="280" r:id="Rab01653287ff491f"/>
    <p:sldId xmlns:r="http://schemas.openxmlformats.org/officeDocument/2006/relationships" id="281" r:id="Rb3e5e6b1403842e6"/>
    <p:sldId xmlns:r="http://schemas.openxmlformats.org/officeDocument/2006/relationships" id="282" r:id="R45251e3e7d1b4ded"/>
    <p:sldId xmlns:r="http://schemas.openxmlformats.org/officeDocument/2006/relationships" id="283" r:id="R667ec7cbc4f54509"/>
    <p:sldId xmlns:r="http://schemas.openxmlformats.org/officeDocument/2006/relationships" id="284" r:id="R2cdd497112034f7a"/>
    <p:sldId xmlns:r="http://schemas.openxmlformats.org/officeDocument/2006/relationships" id="285" r:id="R8dd54375e1834c84"/>
    <p:sldId xmlns:r="http://schemas.openxmlformats.org/officeDocument/2006/relationships" id="286" r:id="R86905b68be884dc2"/>
    <p:sldId xmlns:r="http://schemas.openxmlformats.org/officeDocument/2006/relationships" id="287" r:id="R88dd0c721e4c4b09"/>
    <p:sldId xmlns:r="http://schemas.openxmlformats.org/officeDocument/2006/relationships" id="288" r:id="Re2bca1f85ed047e8"/>
    <p:sldId xmlns:r="http://schemas.openxmlformats.org/officeDocument/2006/relationships" id="289" r:id="R62f76a6feff94116"/>
    <p:sldId xmlns:r="http://schemas.openxmlformats.org/officeDocument/2006/relationships" id="290" r:id="R3c5fe942d47f430d"/>
    <p:sldId xmlns:r="http://schemas.openxmlformats.org/officeDocument/2006/relationships" id="291" r:id="Rd4963d183f5c4f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b16eda9c2141ca" /><Relationship Type="http://schemas.openxmlformats.org/officeDocument/2006/relationships/slideMaster" Target="/ppt/slideMasters/slideMaster1.xml" Id="R49b6011a94a34bc9" /><Relationship Type="http://schemas.openxmlformats.org/officeDocument/2006/relationships/notesMaster" Target="/ppt/notesMasters/notesMaster1.xml" Id="R4043417d71724a18" /><Relationship Type="http://schemas.openxmlformats.org/officeDocument/2006/relationships/presProps" Target="/ppt/presProps.xml" Id="Raca8d21531364e8f" /><Relationship Type="http://schemas.openxmlformats.org/officeDocument/2006/relationships/tableStyles" Target="/ppt/tableStyles.xml" Id="Rb83e897886e349e0" /><Relationship Type="http://schemas.openxmlformats.org/officeDocument/2006/relationships/slide" Target="/ppt/slides/slide1.xml" Id="Rf3c0f36c83324442" /><Relationship Type="http://schemas.openxmlformats.org/officeDocument/2006/relationships/slide" Target="/ppt/slides/slide2.xml" Id="Ra0ade925933d40f1" /><Relationship Type="http://schemas.openxmlformats.org/officeDocument/2006/relationships/slide" Target="/ppt/slides/slide3.xml" Id="Ref8d1b9dbad74961" /><Relationship Type="http://schemas.openxmlformats.org/officeDocument/2006/relationships/slide" Target="/ppt/slides/slide4.xml" Id="R13ce59957a4646e2" /><Relationship Type="http://schemas.openxmlformats.org/officeDocument/2006/relationships/slide" Target="/ppt/slides/slide5.xml" Id="Rf3778fc549744c7d" /><Relationship Type="http://schemas.openxmlformats.org/officeDocument/2006/relationships/slide" Target="/ppt/slides/slide6.xml" Id="R7b70af892f91410f" /><Relationship Type="http://schemas.openxmlformats.org/officeDocument/2006/relationships/slide" Target="/ppt/slides/slide7.xml" Id="Re44bd3b69a24406e" /><Relationship Type="http://schemas.openxmlformats.org/officeDocument/2006/relationships/slide" Target="/ppt/slides/slide8.xml" Id="R852367c9f9a24867" /><Relationship Type="http://schemas.openxmlformats.org/officeDocument/2006/relationships/slide" Target="/ppt/slides/slide9.xml" Id="R4658a7ca6bbf4972" /><Relationship Type="http://schemas.openxmlformats.org/officeDocument/2006/relationships/slide" Target="/ppt/slides/slide10.xml" Id="R6e9084e6f6474412" /><Relationship Type="http://schemas.openxmlformats.org/officeDocument/2006/relationships/slide" Target="/ppt/slides/slide11.xml" Id="Refd41b6565d84797" /><Relationship Type="http://schemas.openxmlformats.org/officeDocument/2006/relationships/slide" Target="/ppt/slides/slide12.xml" Id="R2be3589dd8f54d9d" /><Relationship Type="http://schemas.openxmlformats.org/officeDocument/2006/relationships/slide" Target="/ppt/slides/slide13.xml" Id="R51a0f4e6beee4f48" /><Relationship Type="http://schemas.openxmlformats.org/officeDocument/2006/relationships/slide" Target="/ppt/slides/slide14.xml" Id="R34fbc8afd2604698" /><Relationship Type="http://schemas.openxmlformats.org/officeDocument/2006/relationships/slide" Target="/ppt/slides/slide15.xml" Id="R003427ebadd7423d" /><Relationship Type="http://schemas.openxmlformats.org/officeDocument/2006/relationships/slide" Target="/ppt/slides/slide16.xml" Id="R742ad9d715d342df" /><Relationship Type="http://schemas.openxmlformats.org/officeDocument/2006/relationships/slide" Target="/ppt/slides/slide17.xml" Id="R3036a1431ff24624" /><Relationship Type="http://schemas.openxmlformats.org/officeDocument/2006/relationships/slide" Target="/ppt/slides/slide18.xml" Id="R4560ff8d817a4783" /><Relationship Type="http://schemas.openxmlformats.org/officeDocument/2006/relationships/slide" Target="/ppt/slides/slide19.xml" Id="R6300cebea12a4aa5" /><Relationship Type="http://schemas.openxmlformats.org/officeDocument/2006/relationships/slide" Target="/ppt/slides/slide20.xml" Id="Re59b23d3ad7c4193" /><Relationship Type="http://schemas.openxmlformats.org/officeDocument/2006/relationships/slide" Target="/ppt/slides/slide21.xml" Id="Rfb783d0506cc4b04" /><Relationship Type="http://schemas.openxmlformats.org/officeDocument/2006/relationships/slide" Target="/ppt/slides/slide22.xml" Id="R8cfb0483933847eb" /><Relationship Type="http://schemas.openxmlformats.org/officeDocument/2006/relationships/slide" Target="/ppt/slides/slide23.xml" Id="R5cbdcf519f7c4ae0" /><Relationship Type="http://schemas.openxmlformats.org/officeDocument/2006/relationships/slide" Target="/ppt/slides/slide24.xml" Id="R1c4c673c5b814149" /><Relationship Type="http://schemas.openxmlformats.org/officeDocument/2006/relationships/slide" Target="/ppt/slides/slide25.xml" Id="Rab01653287ff491f" /><Relationship Type="http://schemas.openxmlformats.org/officeDocument/2006/relationships/slide" Target="/ppt/slides/slide26.xml" Id="Rb3e5e6b1403842e6" /><Relationship Type="http://schemas.openxmlformats.org/officeDocument/2006/relationships/slide" Target="/ppt/slides/slide27.xml" Id="R45251e3e7d1b4ded" /><Relationship Type="http://schemas.openxmlformats.org/officeDocument/2006/relationships/slide" Target="/ppt/slides/slide28.xml" Id="R667ec7cbc4f54509" /><Relationship Type="http://schemas.openxmlformats.org/officeDocument/2006/relationships/slide" Target="/ppt/slides/slide29.xml" Id="R2cdd497112034f7a" /><Relationship Type="http://schemas.openxmlformats.org/officeDocument/2006/relationships/slide" Target="/ppt/slides/slide30.xml" Id="R8dd54375e1834c84" /><Relationship Type="http://schemas.openxmlformats.org/officeDocument/2006/relationships/slide" Target="/ppt/slides/slide31.xml" Id="R86905b68be884dc2" /><Relationship Type="http://schemas.openxmlformats.org/officeDocument/2006/relationships/slide" Target="/ppt/slides/slide32.xml" Id="R88dd0c721e4c4b09" /><Relationship Type="http://schemas.openxmlformats.org/officeDocument/2006/relationships/slide" Target="/ppt/slides/slide33.xml" Id="Re2bca1f85ed047e8" /><Relationship Type="http://schemas.openxmlformats.org/officeDocument/2006/relationships/slide" Target="/ppt/slides/slide34.xml" Id="R62f76a6feff94116" /><Relationship Type="http://schemas.openxmlformats.org/officeDocument/2006/relationships/slide" Target="/ppt/slides/slide35.xml" Id="R3c5fe942d47f430d" /><Relationship Type="http://schemas.openxmlformats.org/officeDocument/2006/relationships/slide" Target="/ppt/slides/slide36.xml" Id="Rd4963d183f5c4f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9ca23bb8e04e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2aebfd19cd4b6c" /><Relationship Type="http://schemas.openxmlformats.org/officeDocument/2006/relationships/notesMaster" Target="/ppt/notesMasters/notesMaster1.xml" Id="R0c3c52b9111146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373e27986a4e1d" /><Relationship Type="http://schemas.openxmlformats.org/officeDocument/2006/relationships/notesMaster" Target="/ppt/notesMasters/notesMaster1.xml" Id="Ra4dc473bf8ba4a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555f54bef449b6" /><Relationship Type="http://schemas.openxmlformats.org/officeDocument/2006/relationships/notesMaster" Target="/ppt/notesMasters/notesMaster1.xml" Id="Ra83ea6016de440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5f1cf2d64e4ee2" /><Relationship Type="http://schemas.openxmlformats.org/officeDocument/2006/relationships/notesMaster" Target="/ppt/notesMasters/notesMaster1.xml" Id="R2ab4e69876764f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f67309c1034887" /><Relationship Type="http://schemas.openxmlformats.org/officeDocument/2006/relationships/notesMaster" Target="/ppt/notesMasters/notesMaster1.xml" Id="R6ae72eedf77a44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884ecb4b3c453d" /><Relationship Type="http://schemas.openxmlformats.org/officeDocument/2006/relationships/notesMaster" Target="/ppt/notesMasters/notesMaster1.xml" Id="R0093534dbcd242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c441adfee0491f" /><Relationship Type="http://schemas.openxmlformats.org/officeDocument/2006/relationships/notesMaster" Target="/ppt/notesMasters/notesMaster1.xml" Id="Re5041704efbb4c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1003ce8a254c7c" /><Relationship Type="http://schemas.openxmlformats.org/officeDocument/2006/relationships/notesMaster" Target="/ppt/notesMasters/notesMaster1.xml" Id="R6200bbfcf27442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ba8c8938d14e54" /><Relationship Type="http://schemas.openxmlformats.org/officeDocument/2006/relationships/notesMaster" Target="/ppt/notesMasters/notesMaster1.xml" Id="Ra0b7106084a148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3bc14f69d34da6" /><Relationship Type="http://schemas.openxmlformats.org/officeDocument/2006/relationships/notesMaster" Target="/ppt/notesMasters/notesMaster1.xml" Id="R0fb8a2059f9c42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18ca6525bb4d63" /><Relationship Type="http://schemas.openxmlformats.org/officeDocument/2006/relationships/notesMaster" Target="/ppt/notesMasters/notesMaster1.xml" Id="R48bdf60c907b41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656fb639364d6e" /><Relationship Type="http://schemas.openxmlformats.org/officeDocument/2006/relationships/notesMaster" Target="/ppt/notesMasters/notesMaster1.xml" Id="R9c0e6c3dabbc4b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fae0b02e384124" /><Relationship Type="http://schemas.openxmlformats.org/officeDocument/2006/relationships/notesMaster" Target="/ppt/notesMasters/notesMaster1.xml" Id="Rfcbc7122c8d24e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60c1d3e8c64ac2" /><Relationship Type="http://schemas.openxmlformats.org/officeDocument/2006/relationships/notesMaster" Target="/ppt/notesMasters/notesMaster1.xml" Id="Rff9c76fdd44642c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a0751d27e34b61" /><Relationship Type="http://schemas.openxmlformats.org/officeDocument/2006/relationships/notesMaster" Target="/ppt/notesMasters/notesMaster1.xml" Id="Ref2308b815ac40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3c07ff23c840d1" /><Relationship Type="http://schemas.openxmlformats.org/officeDocument/2006/relationships/notesMaster" Target="/ppt/notesMasters/notesMaster1.xml" Id="Rd51db9b44ab346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cea7f39fb0483d" /><Relationship Type="http://schemas.openxmlformats.org/officeDocument/2006/relationships/notesMaster" Target="/ppt/notesMasters/notesMaster1.xml" Id="R1e8f12a8bc904e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cd1f457de747ad" /><Relationship Type="http://schemas.openxmlformats.org/officeDocument/2006/relationships/notesMaster" Target="/ppt/notesMasters/notesMaster1.xml" Id="Raaef587cc7704f7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2344e0e51540ce" /><Relationship Type="http://schemas.openxmlformats.org/officeDocument/2006/relationships/notesMaster" Target="/ppt/notesMasters/notesMaster1.xml" Id="R81f3e4376a3e4d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9e9b840fd6e4db8" /><Relationship Type="http://schemas.openxmlformats.org/officeDocument/2006/relationships/notesMaster" Target="/ppt/notesMasters/notesMaster1.xml" Id="Rabbff5cc89734b1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b4342093b84423" /><Relationship Type="http://schemas.openxmlformats.org/officeDocument/2006/relationships/notesMaster" Target="/ppt/notesMasters/notesMaster1.xml" Id="Rb763a0cca5d94fb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9b9fa2bc25644f9" /><Relationship Type="http://schemas.openxmlformats.org/officeDocument/2006/relationships/notesMaster" Target="/ppt/notesMasters/notesMaster1.xml" Id="Re231e0d709e64c1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33c7e9d85104cc9" /><Relationship Type="http://schemas.openxmlformats.org/officeDocument/2006/relationships/notesMaster" Target="/ppt/notesMasters/notesMaster1.xml" Id="R5efd7f665f4945a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48b52e2d1d34e1a" /><Relationship Type="http://schemas.openxmlformats.org/officeDocument/2006/relationships/notesMaster" Target="/ppt/notesMasters/notesMaster1.xml" Id="Reee3272d1301497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616c83106474d7f" /><Relationship Type="http://schemas.openxmlformats.org/officeDocument/2006/relationships/notesMaster" Target="/ppt/notesMasters/notesMaster1.xml" Id="R8c26cdb27bc5481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7bafc347ad84014" /><Relationship Type="http://schemas.openxmlformats.org/officeDocument/2006/relationships/notesMaster" Target="/ppt/notesMasters/notesMaster1.xml" Id="Rdd97983e9ea440a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aa574859038473a" /><Relationship Type="http://schemas.openxmlformats.org/officeDocument/2006/relationships/notesMaster" Target="/ppt/notesMasters/notesMaster1.xml" Id="R5ce88b764da24e7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ce117809d2c4308" /><Relationship Type="http://schemas.openxmlformats.org/officeDocument/2006/relationships/notesMaster" Target="/ppt/notesMasters/notesMaster1.xml" Id="Rea82291108694a4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84ebee246194812" /><Relationship Type="http://schemas.openxmlformats.org/officeDocument/2006/relationships/notesMaster" Target="/ppt/notesMasters/notesMaster1.xml" Id="Rff8698006db04ec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3ea8c5de2fa40e3" /><Relationship Type="http://schemas.openxmlformats.org/officeDocument/2006/relationships/notesMaster" Target="/ppt/notesMasters/notesMaster1.xml" Id="R66f082bf063e441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079b115aa1c42b3" /><Relationship Type="http://schemas.openxmlformats.org/officeDocument/2006/relationships/notesMaster" Target="/ppt/notesMasters/notesMaster1.xml" Id="Rc6f7dc1ecc14444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5524d9879d94307" /><Relationship Type="http://schemas.openxmlformats.org/officeDocument/2006/relationships/notesMaster" Target="/ppt/notesMasters/notesMaster1.xml" Id="R0a94f2e2211d44c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9ab404c64474b2c" /><Relationship Type="http://schemas.openxmlformats.org/officeDocument/2006/relationships/notesMaster" Target="/ppt/notesMasters/notesMaster1.xml" Id="Ra3807aeb7b894dd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d1df99e2c6348ff" /><Relationship Type="http://schemas.openxmlformats.org/officeDocument/2006/relationships/notesMaster" Target="/ppt/notesMasters/notesMaster1.xml" Id="R55c2bd9612924cf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861dc5463d5428f" /><Relationship Type="http://schemas.openxmlformats.org/officeDocument/2006/relationships/notesMaster" Target="/ppt/notesMasters/notesMaster1.xml" Id="R68d24f5e4d49460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57ae146c4d0460f" /><Relationship Type="http://schemas.openxmlformats.org/officeDocument/2006/relationships/notesMaster" Target="/ppt/notesMasters/notesMaster1.xml" Id="Rd2e333d54e7b40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Проверенные эпизоды: U24, U57, U60, E12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Проверенные эпизоды: U18, U20, U59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Проверенные эпизоды: U19, U26, U30, U40, U44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Проверенные эпизоды: E14, E17, E21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Проверенные эпизоды: U26, U30, U41, U42, U43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Проверенный эпизод: U40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Все утвержденные признаки этой страницы:</a:t>
            </a:r>
          </a:p>
          <a:p xmlns:a="http://schemas.openxmlformats.org/drawingml/2006/main">
            <a:r>
              <a:t>g01: Расширение частной инициативы</a:t>
            </a:r>
          </a:p>
          <a:p xmlns:a="http://schemas.openxmlformats.org/drawingml/2006/main">
            <a:r>
              <a:t>g02: Экономические возможности недостаточно включённых групп</a:t>
            </a:r>
          </a:p>
          <a:p xmlns:a="http://schemas.openxmlformats.org/drawingml/2006/main">
            <a:r>
              <a:t>g03: Доступность общественных услуг</a:t>
            </a:r>
          </a:p>
          <a:p xmlns:a="http://schemas.openxmlformats.org/drawingml/2006/main">
            <a:r>
              <a:t>g04: Опора на внутренние возможности</a:t>
            </a:r>
          </a:p>
          <a:p xmlns:a="http://schemas.openxmlformats.org/drawingml/2006/main">
            <a:r>
              <a:t>g05: Ограничение экологического вреда</a:t>
            </a:r>
          </a:p>
          <a:p xmlns:a="http://schemas.openxmlformats.org/drawingml/2006/main">
            <a:r>
              <a:t>g06: Защита гражданских и политических прав</a:t>
            </a:r>
          </a:p>
          <a:p xmlns:a="http://schemas.openxmlformats.org/drawingml/2006/main">
            <a:r>
              <a:t>g07: Независимость публичных институтов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Все утвержденные признаки этой страницы:</a:t>
            </a:r>
          </a:p>
          <a:p xmlns:a="http://schemas.openxmlformats.org/drawingml/2006/main">
            <a:r>
              <a:t>g08: Передача полномочий на местный уровень</a:t>
            </a:r>
          </a:p>
          <a:p xmlns:a="http://schemas.openxmlformats.org/drawingml/2006/main">
            <a:r>
              <a:t>g09: Сохранение конституционного порядка</a:t>
            </a:r>
          </a:p>
          <a:p xmlns:a="http://schemas.openxmlformats.org/drawingml/2006/main">
            <a:r>
              <a:t>g10: Равенство и недискриминационное включение</a:t>
            </a:r>
          </a:p>
          <a:p xmlns:a="http://schemas.openxmlformats.org/drawingml/2006/main">
            <a:r>
              <a:t>g11: Национальная общность и преодоление расколов</a:t>
            </a:r>
          </a:p>
          <a:p xmlns:a="http://schemas.openxmlformats.org/drawingml/2006/main">
            <a:r>
              <a:t>g12: Общественное примирение</a:t>
            </a:r>
          </a:p>
          <a:p xmlns:a="http://schemas.openxmlformats.org/drawingml/2006/main">
            <a:r>
              <a:t>g13: Ответственность за причинённый общественный вред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Все утвержденные признаки этой страницы:</a:t>
            </a:r>
          </a:p>
          <a:p xmlns:a="http://schemas.openxmlformats.org/drawingml/2006/main">
            <a:r>
              <a:t>m01: Технологическая модернизация</a:t>
            </a:r>
          </a:p>
          <a:p xmlns:a="http://schemas.openxmlformats.org/drawingml/2006/main">
            <a:r>
              <a:t>m02: Опора на проверяемое знание</a:t>
            </a:r>
          </a:p>
          <a:p xmlns:a="http://schemas.openxmlformats.org/drawingml/2006/main">
            <a:r>
              <a:t>m03: Привлечение частных ресурсов к публичным задачам</a:t>
            </a:r>
          </a:p>
          <a:p xmlns:a="http://schemas.openxmlformats.org/drawingml/2006/main">
            <a:r>
              <a:t>m04: Адресные финансовые инструменты</a:t>
            </a:r>
          </a:p>
          <a:p xmlns:a="http://schemas.openxmlformats.org/drawingml/2006/main">
            <a:r>
              <a:t>m05: Предупреждение рисков и подготовка</a:t>
            </a:r>
          </a:p>
          <a:p xmlns:a="http://schemas.openxmlformats.org/drawingml/2006/main">
            <a:r>
              <a:t>m06: Правовое оспаривание и разрешение споров</a:t>
            </a:r>
          </a:p>
          <a:p xmlns:a="http://schemas.openxmlformats.org/drawingml/2006/main">
            <a:r>
              <a:t>m07: Ненасильственное политическое действие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Все утвержденные признаки этой страницы:</a:t>
            </a:r>
          </a:p>
          <a:p xmlns:a="http://schemas.openxmlformats.org/drawingml/2006/main">
            <a:r>
              <a:t>m08: Получение власти через выборы</a:t>
            </a:r>
          </a:p>
          <a:p xmlns:a="http://schemas.openxmlformats.org/drawingml/2006/main">
            <a:r>
              <a:t>m09: Переговоры и посредничество</a:t>
            </a:r>
          </a:p>
          <a:p xmlns:a="http://schemas.openxmlformats.org/drawingml/2006/main">
            <a:r>
              <a:t>m10: Международная и региональная кооперация</a:t>
            </a:r>
          </a:p>
          <a:p xmlns:a="http://schemas.openxmlformats.org/drawingml/2006/main">
            <a:r>
              <a:t>m11: Совместное представительное определение международных правил</a:t>
            </a:r>
          </a:p>
          <a:p xmlns:a="http://schemas.openxmlformats.org/drawingml/2006/main">
            <a:r>
              <a:t>m12: Этические требования к публичной службе</a:t>
            </a:r>
          </a:p>
          <a:p xmlns:a="http://schemas.openxmlformats.org/drawingml/2006/main">
            <a:r>
              <a:t>m13: Пересмотр устройства международных институтов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Все утвержденные признаки этой страницы:</a:t>
            </a:r>
          </a:p>
          <a:p xmlns:a="http://schemas.openxmlformats.org/drawingml/2006/main">
            <a:r>
              <a:t>russia-diplomatic-engagement-positive: Расширение дипломатического сотрудничества с Россией</a:t>
            </a:r>
          </a:p>
          <a:p xmlns:a="http://schemas.openxmlformats.org/drawingml/2006/main">
            <a:r>
              <a:t>russia-diplomatic-engagement-negative: Дипломатическое дистанцирование от России</a:t>
            </a:r>
          </a:p>
          <a:p xmlns:a="http://schemas.openxmlformats.org/drawingml/2006/main">
            <a:r>
              <a:t>russia-security-cooperation-positive: Развитие военно-технического сотрудничества с Россией</a:t>
            </a:r>
          </a:p>
          <a:p xmlns:a="http://schemas.openxmlformats.org/drawingml/2006/main">
            <a:r>
              <a:t>russia-security-cooperation-negative: Ограничение военно-технического сотрудничества с Россией</a:t>
            </a:r>
          </a:p>
          <a:p xmlns:a="http://schemas.openxmlformats.org/drawingml/2006/main">
            <a:r>
              <a:t>russia-economic-technology-cooperation-positive: Развитие экономических и технологических проектов с Россией</a:t>
            </a:r>
          </a:p>
          <a:p xmlns:a="http://schemas.openxmlformats.org/drawingml/2006/main">
            <a:r>
              <a:t>russia-economic-technology-cooperation-negative: Ограничение экономических и технологических проектов с Россией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Все утвержденные признаки этой страницы:</a:t>
            </a:r>
          </a:p>
          <a:p xmlns:a="http://schemas.openxmlformats.org/drawingml/2006/main">
            <a:r>
              <a:t>russia-education-cultural-cooperation-positive: Расширение образовательных и культурных обменов с Россией</a:t>
            </a:r>
          </a:p>
          <a:p xmlns:a="http://schemas.openxmlformats.org/drawingml/2006/main">
            <a:r>
              <a:t>russia-education-cultural-cooperation-negative: Ограничение образовательных и культурных обменов с Россией</a:t>
            </a:r>
          </a:p>
          <a:p xmlns:a="http://schemas.openxmlformats.org/drawingml/2006/main">
            <a:r>
              <a:t>russia-conflict-policy-evaluation-positive: Публичное оправдание конкретных внешнеполитических действий России</a:t>
            </a:r>
          </a:p>
          <a:p xmlns:a="http://schemas.openxmlformats.org/drawingml/2006/main">
            <a:r>
              <a:t>russia-conflict-policy-evaluation-negative: Публичная критика конкретных внешнеполитических действий России</a:t>
            </a:r>
          </a:p>
          <a:p xmlns:a="http://schemas.openxmlformats.org/drawingml/2006/main">
            <a:r>
              <a:t>russia-isolation-sanctions-positive: Противодействие санкциям и изоляции России</a:t>
            </a:r>
          </a:p>
          <a:p xmlns:a="http://schemas.openxmlformats.org/drawingml/2006/main">
            <a:r>
              <a:t>russia-isolation-sanctions-negative: Поддержка санкций и изоляции России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Поль Кагаме</a:t>
            </a:r>
          </a:p>
          <a:p xmlns:a="http://schemas.openxmlformats.org/drawingml/2006/main">
            <a:r>
              <a:t>Биографический источник: https://www.rwandainghana.gov.rw/actualites/info-details/president-kagame-sworn-in-for-a-five-year-term</a:t>
            </a:r>
          </a:p>
          <a:p xmlns:a="http://schemas.openxmlformats.org/drawingml/2006/main">
            <a:r>
              <a:t>Биографический источник: https://www.hrw.org/news/2024/06/14/rwanda-respect-rights-during-elections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Эдуар Нгиренте</a:t>
            </a:r>
          </a:p>
          <a:p xmlns:a="http://schemas.openxmlformats.org/drawingml/2006/main">
            <a:r>
              <a:t>Биографический источник: https://www.primature.gov.rw/index.php?eID=dumpFile&amp;f=120236&amp;t=f&amp;token=7de66acf7742c515b4ac9071f0ea51fa31d4451e</a:t>
            </a:r>
          </a:p>
          <a:p xmlns:a="http://schemas.openxmlformats.org/drawingml/2006/main">
            <a:r>
              <a:t>Биографический источник: https://www.primature.gov.rw/about</a:t>
            </a:r>
          </a:p>
          <a:p xmlns:a="http://schemas.openxmlformats.org/drawingml/2006/main">
            <a:r>
              <a:t>Биографический источник: https://primature.prod.risa.rw/news-detail/pm-nsengiyumva-officially-sworn-in-as-prime-minister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Жюстен Нсенгийюмва</a:t>
            </a:r>
          </a:p>
          <a:p xmlns:a="http://schemas.openxmlformats.org/drawingml/2006/main">
            <a:r>
              <a:t>Биографический источник: https://www.primature.gov.rw/about</a:t>
            </a:r>
          </a:p>
          <a:p xmlns:a="http://schemas.openxmlformats.org/drawingml/2006/main">
            <a:r>
              <a:t>Биографический источник: https://primature.prod.risa.rw/news-detail/pm-nsengiyumva-officially-sworn-in-as-prime-minister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Венсан Бирута</a:t>
            </a:r>
          </a:p>
          <a:p xmlns:a="http://schemas.openxmlformats.org/drawingml/2006/main">
            <a:r>
              <a:t>Биографический источник: https://www.minaffet.gov.rw/updates/news/page?cHash=764ee7520c0d7693c560332fdd905b60&amp;tx_news_pi1%5BcurrentPage%5D=17</a:t>
            </a:r>
          </a:p>
          <a:p xmlns:a="http://schemas.openxmlformats.org/drawingml/2006/main">
            <a:r>
              <a:t>Биографический источник: https://www.primature.gov.rw/index.php?eID=dumpFile&amp;f=103921&amp;t=f&amp;token=674c3d927f1443e0309c38a0fffb76c2e7e273c3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Оливье Ндухунгирехе</a:t>
            </a:r>
          </a:p>
          <a:p xmlns:a="http://schemas.openxmlformats.org/drawingml/2006/main">
            <a:r>
              <a:t>Биографический источник: https://www.primature.gov.rw/index.php?eID=dumpFile&amp;f=103921&amp;t=f&amp;token=674c3d927f1443e0309c38a0fffb76c2e7e273c3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Джеймс Кабаребе</a:t>
            </a:r>
          </a:p>
          <a:p xmlns:a="http://schemas.openxmlformats.org/drawingml/2006/main">
            <a:r>
              <a:t>Биографический источник: https://www.minaffet.gov.rw/updates/news-details/prof-manasseh-hands-over-to-gen-rtd-kabarebe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Жювеналь Маризамунда</a:t>
            </a:r>
          </a:p>
          <a:p xmlns:a="http://schemas.openxmlformats.org/drawingml/2006/main">
            <a:r>
              <a:t>Биографический источник: https://www.mod.gov.rw/docs-media/news-detail/newly-appointed-minister-of-defence-assumes-responsibilities</a:t>
            </a:r>
          </a:p>
          <a:p xmlns:a="http://schemas.openxmlformats.org/drawingml/2006/main">
            <a:r>
              <a:t>Биографический источник: https://www.primature.gov.rw/index.php?eID=dumpFile&amp;f=103921&amp;t=f&amp;token=674c3d927f1443e0309c38a0fffb76c2e7e273c3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Альбер Мурасира</a:t>
            </a:r>
          </a:p>
          <a:p xmlns:a="http://schemas.openxmlformats.org/drawingml/2006/main">
            <a:r>
              <a:t>Биографический источник: https://www.primature.gov.rw/index.php?eID=dumpFile&amp;f=103921&amp;t=f&amp;token=674c3d927f1443e0309c38a0fffb76c2e7e273c3</a:t>
            </a:r>
          </a:p>
          <a:p xmlns:a="http://schemas.openxmlformats.org/drawingml/2006/main">
            <a:r>
              <a:t>Биографический источник: https://www.mod.gov.rw/docs-media/news-detail/rwanda-defence-minister-addresses-un-peacekeeping-ministerial-conference-in-seoul-2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Эмманюэль Угирасебуджа</a:t>
            </a:r>
          </a:p>
          <a:p xmlns:a="http://schemas.openxmlformats.org/drawingml/2006/main">
            <a:r>
              <a:t>Биографический источник: https://www.minijust.gov.rw/news-detail/minister-of-justice-attorney-general-met-with-government-legal-advisors</a:t>
            </a:r>
          </a:p>
          <a:p xmlns:a="http://schemas.openxmlformats.org/drawingml/2006/main">
            <a:r>
              <a:t>Биографический источник: https://www.primature.gov.rw/index.php?eID=dumpFile&amp;f=103921&amp;t=f&amp;token=674c3d927f1443e0309c38a0fffb76c2e7e273c3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Юсуф Мурангва</a:t>
            </a:r>
          </a:p>
          <a:p xmlns:a="http://schemas.openxmlformats.org/drawingml/2006/main">
            <a:r>
              <a:t>Биографический источник: https://www.minecofin.gov.rw/news-detail/96-of-rwandans-are-financially-included-finscope-survey-2024</a:t>
            </a:r>
          </a:p>
          <a:p xmlns:a="http://schemas.openxmlformats.org/drawingml/2006/main">
            <a:r>
              <a:t>Биографический источник: https://www.eadb.org/site/assets/files/2279/2024_annual_report.pdf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Уззиэль Ндагиджимана</a:t>
            </a:r>
          </a:p>
          <a:p xmlns:a="http://schemas.openxmlformats.org/drawingml/2006/main">
            <a:r>
              <a:t>Биографический источник: https://www.eadb.org/site/assets/files/2279/2024_annual_report.pdf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Паула Ингабире</a:t>
            </a:r>
          </a:p>
          <a:p xmlns:a="http://schemas.openxmlformats.org/drawingml/2006/main">
            <a:r>
              <a:t>Биографический источник: https://www.primature.gov.rw/index.php?eID=dumpFile&amp;f=103921&amp;t=f&amp;token=674c3d927f1443e0309c38a0fffb76c2e7e273c3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Сабин Нсанзимана</a:t>
            </a:r>
          </a:p>
          <a:p xmlns:a="http://schemas.openxmlformats.org/drawingml/2006/main">
            <a:r>
              <a:t>Биографический источник: https://www.moh.gov.rw/news-detail/rwanda-who-join-forces-to-boost-epidemic-preparedness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Жюдит Увизейе</a:t>
            </a:r>
          </a:p>
          <a:p xmlns:a="http://schemas.openxmlformats.org/drawingml/2006/main">
            <a:r>
              <a:t>Биографический источник: https://www.primature.gov.rw/index.php?eID=dumpFile&amp;f=103921&amp;t=f&amp;token=674c3d927f1443e0309c38a0fffb76c2e7e273c3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Инес Мпамбара</a:t>
            </a:r>
          </a:p>
          <a:p xmlns:a="http://schemas.openxmlformats.org/drawingml/2006/main">
            <a:r>
              <a:t>Биографический источник: https://www.primature.gov.rw/about</a:t>
            </a:r>
          </a:p>
          <a:p xmlns:a="http://schemas.openxmlformats.org/drawingml/2006/main">
            <a:r>
              <a:t>Биографический источник: https://www.primature.gov.rw/index.php?eID=dumpFile&amp;f=103921&amp;t=f&amp;token=674c3d927f1443e0309c38a0fffb76c2e7e273c3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Валентин Увамария</a:t>
            </a:r>
          </a:p>
          <a:p xmlns:a="http://schemas.openxmlformats.org/drawingml/2006/main">
            <a:r>
              <a:t>Биографический источник: https://www.primature.gov.rw/index.php?eID=dumpFile&amp;f=103921&amp;t=f&amp;token=674c3d927f1443e0309c38a0fffb76c2e7e273c3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Жанна д’Арк Муджавамария</a:t>
            </a:r>
          </a:p>
          <a:p xmlns:a="http://schemas.openxmlformats.org/drawingml/2006/main">
            <a:r>
              <a:t>Биографический источник: https://www.mifotra.gov.rw/news-detail/handover-ceremony-of-new-minister-of-mifotra-hon-dr-jeanne-darc-mujawamariya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Жерардин Мукешимана</a:t>
            </a:r>
          </a:p>
          <a:p xmlns:a="http://schemas.openxmlformats.org/drawingml/2006/main">
            <a:r>
              <a:t>Биографический источник: https://www.minagri.gov.rw/updates/news/page?cHash=49ecfd44c04f184493dc7133cc4ed740&amp;tx_news_pi1%5BcurrentPage%5D=6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Ильдефонс Мусафири</a:t>
            </a:r>
          </a:p>
          <a:p xmlns:a="http://schemas.openxmlformats.org/drawingml/2006/main">
            <a:r>
              <a:t>Биографический источник: https://www.minagri.gov.rw/updates/news/page?cHash=49ecfd44c04f184493dc7133cc4ed740&amp;tx_news_pi1%5BcurrentPage%5D=6</a:t>
            </a:r>
          </a:p>
          <a:p xmlns:a="http://schemas.openxmlformats.org/drawingml/2006/main">
            <a:r>
              <a:t>Биографический источник: https://www.primature.gov.rw/index.php?eID=dumpFile&amp;f=103921&amp;t=f&amp;token=674c3d927f1443e0309c38a0fffb76c2e7e273c3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Жан-Клод Мусабийимана</a:t>
            </a:r>
          </a:p>
          <a:p xmlns:a="http://schemas.openxmlformats.org/drawingml/2006/main">
            <a:r>
              <a:t>Биографический источник: https://www.kigalicity.gov.rw/news-detail/dusengiyumva-samuel-sworn-in-as-the-new-city-of-kigali-mayor</a:t>
            </a:r>
          </a:p>
          <a:p xmlns:a="http://schemas.openxmlformats.org/drawingml/2006/main">
            <a:r>
              <a:t>Биографический источник: https://www.primature.gov.rw/index.php?eID=dumpFile&amp;f=103921&amp;t=f&amp;token=674c3d927f1443e0309c38a0fffb76c2e7e273c3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Жан-Дамасен Бизимана</a:t>
            </a:r>
          </a:p>
          <a:p xmlns:a="http://schemas.openxmlformats.org/drawingml/2006/main">
            <a:r>
              <a:t>Биографический источник: https://www.primature.gov.rw/index.php?eID=dumpFile&amp;f=103921&amp;t=f&amp;token=674c3d927f1443e0309c38a0fffb76c2e7e273c3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Клэр Акаманзи</a:t>
            </a:r>
          </a:p>
          <a:p xmlns:a="http://schemas.openxmlformats.org/drawingml/2006/main">
            <a:r>
              <a:t>Биографический источник: https://documents1.worldbank.org/curated/en/099053024072067506/pdf/P2523501b4222a08919ccf1c337cb47a5bb.pdf</a:t>
            </a:r>
          </a:p>
          <a:p xmlns:a="http://schemas.openxmlformats.org/drawingml/2006/main">
            <a:r>
              <a:t>Биографический источник: https://pr.nba.com/clare-akamanzi-ceo-nba-africa/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Франсис Гатаре</a:t>
            </a:r>
          </a:p>
          <a:p xmlns:a="http://schemas.openxmlformats.org/drawingml/2006/main">
            <a:r>
              <a:t>Биографический источник: https://documents1.worldbank.org/curated/en/099053024072067506/pdf/P2523501b4222a08919ccf1c337cb47a5bb.pdf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Гертруда Казарва</a:t>
            </a:r>
          </a:p>
          <a:p xmlns:a="http://schemas.openxmlformats.org/drawingml/2006/main">
            <a:r>
              <a:t>Биографический источник: https://www.parliament.gov.rw/about-1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Донатиль Мукабалиса</a:t>
            </a:r>
          </a:p>
          <a:p xmlns:a="http://schemas.openxmlformats.org/drawingml/2006/main">
            <a:r>
              <a:t>Биографический источник: https://www.parliament.gov.rw/updates/news/page?cHash=1a73af6616bebe583f8e229a45ea6028&amp;tx_news_pi1%5BcurrentPage%5D=31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Франсуа-Ксавье Калинда</a:t>
            </a:r>
          </a:p>
          <a:p xmlns:a="http://schemas.openxmlformats.org/drawingml/2006/main">
            <a:r>
              <a:t>Биографический источник: https://www.parliament.gov.rw/about-1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Огюстен Иямуремье</a:t>
            </a:r>
          </a:p>
          <a:p xmlns:a="http://schemas.openxmlformats.org/drawingml/2006/main">
            <a:r>
              <a:t>Биографический источник: https://data.ipu.org/fr/parliament/RW/RW-UC01/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Альвера Мукабарамба</a:t>
            </a:r>
          </a:p>
          <a:p xmlns:a="http://schemas.openxmlformats.org/drawingml/2006/main">
            <a:r>
              <a:t>Биографический источник: https://www.rwandaincongo.gov.rw/actualites/info-details/dr-kalinda-reconduit-a-la-presidence-du-senat-rwandais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Мусса Фазиль Хареримана</a:t>
            </a:r>
          </a:p>
          <a:p xmlns:a="http://schemas.openxmlformats.org/drawingml/2006/main">
            <a:r>
              <a:t>Биографический источник: https://www.parliament.gov.rw/updates/news/page?cHash=1a73af6616bebe583f8e229a45ea6028&amp;tx_news_pi1%5BcurrentPage%5D=31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Пуденс Рубингиса</a:t>
            </a:r>
          </a:p>
          <a:p xmlns:a="http://schemas.openxmlformats.org/drawingml/2006/main">
            <a:r>
              <a:t>Биографический источник: https://www.kigalicity.gov.rw/news-detail/dusengiyumva-samuel-sworn-in-as-the-new-city-of-kigali-mayor</a:t>
            </a:r>
          </a:p>
          <a:p xmlns:a="http://schemas.openxmlformats.org/drawingml/2006/main">
            <a:r>
              <a:t>Биографический источник: https://www.easternprovince.gov.rw/ibindi/guverineri-rubingisa-yatangiye-inshingano-yizeza-ubufatanye-mu-kwihutisha-iterambere-rishingiye-ku-muturage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Самуэль Дусенгийюмва</a:t>
            </a:r>
          </a:p>
          <a:p xmlns:a="http://schemas.openxmlformats.org/drawingml/2006/main">
            <a:r>
              <a:t>Биографический источник: https://www.kigalicity.gov.rw/news-detail/dusengiyumva-samuel-sworn-in-as-the-new-city-of-kigali-mayor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Франк Хабинеза</a:t>
            </a:r>
          </a:p>
          <a:p xmlns:a="http://schemas.openxmlformats.org/drawingml/2006/main">
            <a:r>
              <a:t>Биографический источник: https://www.hrw.org/news/2024/06/14/rwanda-respect-rights-during-elections</a:t>
            </a:r>
          </a:p>
          <a:p xmlns:a="http://schemas.openxmlformats.org/drawingml/2006/main">
            <a:r>
              <a:t>Биографический источник: https://www.amnesty.org/ar/wp-content/uploads/2024/07/AFR4782752024ENGLISH.pdf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Филипп Мпайимана</a:t>
            </a:r>
          </a:p>
          <a:p xmlns:a="http://schemas.openxmlformats.org/drawingml/2006/main">
            <a:r>
              <a:t>Биографический источник: https://www.hrw.org/news/2024/06/14/rwanda-respect-rights-during-elections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Виктуар Ингабире Умухоза</a:t>
            </a:r>
          </a:p>
          <a:p xmlns:a="http://schemas.openxmlformats.org/drawingml/2006/main">
            <a:r>
              <a:t>Биографический источник: https://www.hrw.org/news/2024/06/14/rwanda-respect-rights-during-elections</a:t>
            </a:r>
          </a:p>
          <a:p xmlns:a="http://schemas.openxmlformats.org/drawingml/2006/main">
            <a:r>
              <a:t>Биографический источник: https://www.amnesty.org/ar/wp-content/uploads/2024/07/AFR4782752024ENGLISH.pdf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Диана Рвигара</a:t>
            </a:r>
          </a:p>
          <a:p xmlns:a="http://schemas.openxmlformats.org/drawingml/2006/main">
            <a:r>
              <a:t>Биографический источник: https://www.hrw.org/news/2024/06/14/rwanda-respect-rights-during-elections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Бернар Нтаганда</a:t>
            </a:r>
          </a:p>
          <a:p xmlns:a="http://schemas.openxmlformats.org/drawingml/2006/main">
            <a:r>
              <a:t>Биографический источник: https://www.amnesty.org/ar/wp-content/uploads/2024/07/AFR4782752024ENGLISH.pdf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Кристофер Каюмба</a:t>
            </a:r>
          </a:p>
          <a:p xmlns:a="http://schemas.openxmlformats.org/drawingml/2006/main">
            <a:r>
              <a:t>Биографический источник: https://www.hrw.org/news/2024/06/14/rwanda-respect-rights-during-elections</a:t>
            </a:r>
          </a:p>
          <a:p xmlns:a="http://schemas.openxmlformats.org/drawingml/2006/main">
            <a:r>
              <a:t>Биографический источник: https://www.amnesty.org/ar/wp-content/uploads/2024/07/AFR4782752024ENGLISH.pdf</a:t>
            </a:r>
          </a:p>
          <a:p xmlns:a="http://schemas.openxmlformats.org/drawingml/2006/main">
            <a:r>
              <a:t>Биографический источник: https://www.newtimes.co.rw/article/35672/opinions/rdf-is-a-peoples-army-deserving-a-nobel-peace-prize-not-sanctions/amp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Поль Русесабагина</a:t>
            </a:r>
          </a:p>
          <a:p xmlns:a="http://schemas.openxmlformats.org/drawingml/2006/main">
            <a:r>
              <a:t>Биографический источник: https://www.hrw.org/world-report/2024/country-chapters/rwanda</a:t>
            </a:r>
          </a:p>
          <a:p xmlns:a="http://schemas.openxmlformats.org/drawingml/2006/main">
            <a:r>
              <a:t>Биографический источник: https://www.hrw.org/report/2023/10/10/join-us-or-die/rwandas-extraterritorial-repression</a:t>
            </a:r>
          </a:p>
          <a:p xmlns:a="http://schemas.openxmlformats.org/drawingml/2006/main">
            <a:r>
              <a:t>Биографический источник: https://www.wlrn.org/npr-breaking-news/2024-04-15/his-story-inspired-hotel-rwanda-now-hes-speaking-out-against-the-government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Фостен Каюмба Ньямваса</a:t>
            </a:r>
          </a:p>
          <a:p xmlns:a="http://schemas.openxmlformats.org/drawingml/2006/main">
            <a:r>
              <a:t>Биографический источник: https://www.hrw.org/report/2023/10/10/join-us-or-die/rwandas-extraterritorial-repression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Луиза Мушикивабо</a:t>
            </a:r>
          </a:p>
          <a:p xmlns:a="http://schemas.openxmlformats.org/drawingml/2006/main">
            <a:r>
              <a:t>Биографический источник: https://www.francophonie.org/louise-mushikiwabo-2894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Клавер Гатете</a:t>
            </a:r>
          </a:p>
          <a:p xmlns:a="http://schemas.openxmlformats.org/drawingml/2006/main">
            <a:r>
              <a:t>Биографический источник: https://www.un.org/sg/en/sg-daily-schedules/2023-02-01</a:t>
            </a:r>
          </a:p>
          <a:p xmlns:a="http://schemas.openxmlformats.org/drawingml/2006/main">
            <a:r>
              <a:t>Биографический источник: https://www.un.org/sg/en/content/sg/personnel-appointments/2023-10-06/mr-claver-gatete-of-rwanda-executive-secretary-of-the-united-nations-economic-commission-for-africa-(eca)</a:t>
            </a:r>
          </a:p>
          <a:p xmlns:a="http://schemas.openxmlformats.org/drawingml/2006/main">
            <a:r>
              <a:t>Биографический источник: https://www.uneca.org/sites/default/files/documents/spord-brochure-2023_v03.pdf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Валентин Ругвабиза</a:t>
            </a:r>
          </a:p>
          <a:p xmlns:a="http://schemas.openxmlformats.org/drawingml/2006/main">
            <a:r>
              <a:t>Биографический источник: https://press.un.org/en/2022/sga2101.doc.htm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5adcb3c96f42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4e7c3da11b41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5612ae32248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861c934884c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a08454f5041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c0e8885374d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CB8824-9C03-49CB-AB0B-70F08BA8CB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0FB094-7C73-4500-A1EC-F5247C5438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3E8F6A-8200-4FFC-8DE0-431F45F77B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D025D6-6AD8-4425-8FBC-8ABD57EB48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456A77-6DDE-4900-850E-12F17C648B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272486-A952-415F-906D-1CA5FF0D51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AD1B4D-6477-44D8-9533-EBB163F186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A5A935-CBB4-4C66-AD81-F95FAA7975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E23678-82CD-411E-80A8-63416344E9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118900-51C8-41C9-B74A-CDAF465E9C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24f684c71d4745" /><Relationship Type="http://schemas.openxmlformats.org/officeDocument/2006/relationships/slideLayout" Target="/ppt/slideLayouts/slideLayout1.xml" Id="Rf84c29523a9a4478" /><Relationship Type="http://schemas.openxmlformats.org/officeDocument/2006/relationships/slideLayout" Target="/ppt/slideLayouts/slideLayout2.xml" Id="R4d0f38d77db94ec7" /><Relationship Type="http://schemas.openxmlformats.org/officeDocument/2006/relationships/slideLayout" Target="/ppt/slideLayouts/slideLayout3.xml" Id="R396eae3e70ab4fef" /><Relationship Type="http://schemas.openxmlformats.org/officeDocument/2006/relationships/slideLayout" Target="/ppt/slideLayouts/slideLayout4.xml" Id="Rf3bee0c0ca4a4597" /><Relationship Type="http://schemas.openxmlformats.org/officeDocument/2006/relationships/slideLayout" Target="/ppt/slideLayouts/slideLayout5.xml" Id="Rdf3ccbbb94bd445f" /><Relationship Type="http://schemas.openxmlformats.org/officeDocument/2006/relationships/slideLayout" Target="/ppt/slideLayouts/slideLayout6.xml" Id="R7f98c868a94b47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4c29523a9a4478"/>
    <p:sldLayoutId xmlns:r="http://schemas.openxmlformats.org/officeDocument/2006/relationships" id="2147483650" r:id="R4d0f38d77db94ec7"/>
    <p:sldLayoutId xmlns:r="http://schemas.openxmlformats.org/officeDocument/2006/relationships" id="2147483651" r:id="R396eae3e70ab4fef"/>
    <p:sldLayoutId xmlns:r="http://schemas.openxmlformats.org/officeDocument/2006/relationships" id="2147483652" r:id="Rf3bee0c0ca4a4597"/>
    <p:sldLayoutId xmlns:r="http://schemas.openxmlformats.org/officeDocument/2006/relationships" id="2147483653" r:id="Rdf3ccbbb94bd445f"/>
    <p:sldLayoutId xmlns:r="http://schemas.openxmlformats.org/officeDocument/2006/relationships" id="2147483654" r:id="R7f98c868a94b47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52f63fe201488d" /><Relationship Type="http://schemas.openxmlformats.org/officeDocument/2006/relationships/notesSlide" Target="/ppt/notesSlides/notesSlide1.xml" Id="R378260c1f93947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4bd8c28fb14006" /><Relationship Type="http://schemas.openxmlformats.org/officeDocument/2006/relationships/notesSlide" Target="/ppt/notesSlides/notesSlide2.xml" Id="R4cee17223d7045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53631fc1cc43d3" /><Relationship Type="http://schemas.openxmlformats.org/officeDocument/2006/relationships/chart" Target="/ppt/slides/charts/chart1.xml" Id="Rfb012f3d5617438b" /><Relationship Type="http://schemas.openxmlformats.org/officeDocument/2006/relationships/notesSlide" Target="/ppt/notesSlides/notesSlide3.xml" Id="R9a02ce80606148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021f738eb4e12" /><Relationship Type="http://schemas.openxmlformats.org/officeDocument/2006/relationships/chart" Target="/ppt/slides/charts/chart2.xml" Id="Rc227e2d9504f44dd" /><Relationship Type="http://schemas.openxmlformats.org/officeDocument/2006/relationships/notesSlide" Target="/ppt/notesSlides/notesSlide4.xml" Id="R37a45a272b484e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7c3d985274ca1" /><Relationship Type="http://schemas.openxmlformats.org/officeDocument/2006/relationships/notesSlide" Target="/ppt/notesSlides/notesSlide5.xml" Id="R7c13eccc892a4d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5c9df0780d4aa9" /><Relationship Type="http://schemas.openxmlformats.org/officeDocument/2006/relationships/notesSlide" Target="/ppt/notesSlides/notesSlide6.xml" Id="R17aa02ab0a4447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72fc23c5146b9" /><Relationship Type="http://schemas.openxmlformats.org/officeDocument/2006/relationships/notesSlide" Target="/ppt/notesSlides/notesSlide7.xml" Id="R2899dabe21b640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70669216504a36" /><Relationship Type="http://schemas.openxmlformats.org/officeDocument/2006/relationships/notesSlide" Target="/ppt/notesSlides/notesSlide8.xml" Id="R70bdf0a9ce0f41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9ff090b864460" /><Relationship Type="http://schemas.openxmlformats.org/officeDocument/2006/relationships/notesSlide" Target="/ppt/notesSlides/notesSlide9.xml" Id="R3ffe2e0f7ba649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f8ecc4e66642bb" /><Relationship Type="http://schemas.openxmlformats.org/officeDocument/2006/relationships/notesSlide" Target="/ppt/notesSlides/notesSlide10.xml" Id="Rbab77994b42a4d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2a842afb14e52" /><Relationship Type="http://schemas.openxmlformats.org/officeDocument/2006/relationships/notesSlide" Target="/ppt/notesSlides/notesSlide11.xml" Id="R95a8f853be4049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36a0a0eaa04992" /><Relationship Type="http://schemas.openxmlformats.org/officeDocument/2006/relationships/notesSlide" Target="/ppt/notesSlides/notesSlide12.xml" Id="Rccb2f977ec244f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4e9cfcdbe84900" /><Relationship Type="http://schemas.openxmlformats.org/officeDocument/2006/relationships/notesSlide" Target="/ppt/notesSlides/notesSlide13.xml" Id="R447b35f01a1d46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55239757644d59" /><Relationship Type="http://schemas.openxmlformats.org/officeDocument/2006/relationships/notesSlide" Target="/ppt/notesSlides/notesSlide14.xml" Id="R1567a988e43041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3e216a73b24881" /><Relationship Type="http://schemas.openxmlformats.org/officeDocument/2006/relationships/notesSlide" Target="/ppt/notesSlides/notesSlide15.xml" Id="R20d927dad4ad41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ff43b8612343ed" /><Relationship Type="http://schemas.openxmlformats.org/officeDocument/2006/relationships/notesSlide" Target="/ppt/notesSlides/notesSlide16.xml" Id="Rbf20908f30ec400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12808a0c924f26" /><Relationship Type="http://schemas.openxmlformats.org/officeDocument/2006/relationships/notesSlide" Target="/ppt/notesSlides/notesSlide17.xml" Id="Re509c6bcd0d14ee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1fa74887894b63" /><Relationship Type="http://schemas.openxmlformats.org/officeDocument/2006/relationships/notesSlide" Target="/ppt/notesSlides/notesSlide18.xml" Id="R811df8b5f143452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1fa01fce084a0f" /><Relationship Type="http://schemas.openxmlformats.org/officeDocument/2006/relationships/notesSlide" Target="/ppt/notesSlides/notesSlide19.xml" Id="R551b50fc4d1745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8ba87cd01f4587" /><Relationship Type="http://schemas.openxmlformats.org/officeDocument/2006/relationships/notesSlide" Target="/ppt/notesSlides/notesSlide20.xml" Id="Rc8b71fbada154e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d6f40045ab4292" /><Relationship Type="http://schemas.openxmlformats.org/officeDocument/2006/relationships/notesSlide" Target="/ppt/notesSlides/notesSlide21.xml" Id="Rf94d4b21f69041d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462af91e404664" /><Relationship Type="http://schemas.openxmlformats.org/officeDocument/2006/relationships/notesSlide" Target="/ppt/notesSlides/notesSlide22.xml" Id="R58a8a672b4724f7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4b28e10a1243f7" /><Relationship Type="http://schemas.openxmlformats.org/officeDocument/2006/relationships/notesSlide" Target="/ppt/notesSlides/notesSlide23.xml" Id="R800d91be90de483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ebede44e724a06" /><Relationship Type="http://schemas.openxmlformats.org/officeDocument/2006/relationships/notesSlide" Target="/ppt/notesSlides/notesSlide24.xml" Id="R53b5f601aac34f3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1a3f1a650485c" /><Relationship Type="http://schemas.openxmlformats.org/officeDocument/2006/relationships/notesSlide" Target="/ppt/notesSlides/notesSlide25.xml" Id="R6bdf097374cb4f6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5d773b02e542cf" /><Relationship Type="http://schemas.openxmlformats.org/officeDocument/2006/relationships/notesSlide" Target="/ppt/notesSlides/notesSlide26.xml" Id="R7f5f7014309a430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b4d4d11d424904" /><Relationship Type="http://schemas.openxmlformats.org/officeDocument/2006/relationships/notesSlide" Target="/ppt/notesSlides/notesSlide27.xml" Id="Rb60b09dc6e39443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7fe0c1a697431f" /><Relationship Type="http://schemas.openxmlformats.org/officeDocument/2006/relationships/notesSlide" Target="/ppt/notesSlides/notesSlide28.xml" Id="R16c468893d564ee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04217bb3ee44bb" /><Relationship Type="http://schemas.openxmlformats.org/officeDocument/2006/relationships/notesSlide" Target="/ppt/notesSlides/notesSlide29.xml" Id="Rab50d10073c74d0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1c80433da54c0a" /><Relationship Type="http://schemas.openxmlformats.org/officeDocument/2006/relationships/notesSlide" Target="/ppt/notesSlides/notesSlide30.xml" Id="Re78aa384afe345d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cfe937a83f40f8" /><Relationship Type="http://schemas.openxmlformats.org/officeDocument/2006/relationships/notesSlide" Target="/ppt/notesSlides/notesSlide31.xml" Id="R091b9a5a4674424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89e2c4e3343d6" /><Relationship Type="http://schemas.openxmlformats.org/officeDocument/2006/relationships/notesSlide" Target="/ppt/notesSlides/notesSlide32.xml" Id="R29a5cf4454cc4b0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1e8beb041405e" /><Relationship Type="http://schemas.openxmlformats.org/officeDocument/2006/relationships/notesSlide" Target="/ppt/notesSlides/notesSlide33.xml" Id="Rd2215e8756964d1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997c3f5a2469c" /><Relationship Type="http://schemas.openxmlformats.org/officeDocument/2006/relationships/notesSlide" Target="/ppt/notesSlides/notesSlide34.xml" Id="Rfd57b42ab604433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93ba81984746e6" /><Relationship Type="http://schemas.openxmlformats.org/officeDocument/2006/relationships/notesSlide" Target="/ppt/notesSlides/notesSlide35.xml" Id="R1574fc233dcb454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27b13ddc2a468d" /><Relationship Type="http://schemas.openxmlformats.org/officeDocument/2006/relationships/notesSlide" Target="/ppt/notesSlides/notesSlide36.xml" Id="R780cb9f63b0f41f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Участников</c:v>
          </c:tx>
          <c:spPr>
            <a:solidFill xmlns:a="http://schemas.openxmlformats.org/drawingml/2006/main">
              <a:srgbClr val="176D7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Есть подтверждённые оценки</c:v>
                </c:pt>
                <c:pt idx="1">
                  <c:v>Пока нет оценок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</c:v>
                </c:pt>
                <c:pt idx="1">
                  <c:v>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Подтверждённых оценок</c:v>
          </c:tx>
          <c:spPr>
            <a:solidFill xmlns:a="http://schemas.openxmlformats.org/drawingml/2006/main">
              <a:srgbClr val="176D7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Основная матрица</c:v>
                </c:pt>
                <c:pt idx="1">
                  <c:v>С неуточнёнными датами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39</c:v>
                </c:pt>
                <c:pt idx="1">
                  <c:v>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олитические акценты Руанды">
            <a:extLst xmlns:a="http://schemas.openxmlformats.org/drawingml/2006/main">
              <a:ext uri="{FF2B5EF4-FFF2-40B4-BE49-F238E27FC236}">
                <a16:creationId xmlns:a16="http://schemas.microsoft.com/office/drawing/2014/main" id="{E82C4A03-02D8-4A2D-A774-89155D3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Политические акценты Руанды</a:t>
            </a:r>
          </a:p>
        </p:txBody>
      </p:sp>
      <p:sp>
        <p:nvSpPr>
          <p:cNvPr id="2" name="1">
            <a:extLst xmlns:a="http://schemas.openxmlformats.org/drawingml/2006/main">
              <a:ext uri="{FF2B5EF4-FFF2-40B4-BE49-F238E27FC236}">
                <a16:creationId xmlns:a16="http://schemas.microsoft.com/office/drawing/2014/main" id="{BC8D2C2A-9451-4422-B67B-1986F7A4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Проверенные источники и обновлённые оцен">
            <a:extLst xmlns:a="http://schemas.openxmlformats.org/drawingml/2006/main">
              <a:ext uri="{FF2B5EF4-FFF2-40B4-BE49-F238E27FC236}">
                <a16:creationId xmlns:a16="http://schemas.microsoft.com/office/drawing/2014/main" id="{2FBD8582-E3F6-4785-9760-BCC05C0A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1057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Проверенные источники и обновлённые оценки</a:t>
            </a:r>
          </a:p>
        </p:txBody>
      </p:sp>
      <p:sp>
        <p:nvSpPr>
          <p:cNvPr id="4" name="42 участника&#10;38 самостоятельных признако">
            <a:extLst xmlns:a="http://schemas.openxmlformats.org/drawingml/2006/main">
              <a:ext uri="{FF2B5EF4-FFF2-40B4-BE49-F238E27FC236}">
                <a16:creationId xmlns:a16="http://schemas.microsoft.com/office/drawing/2014/main" id="{9C3E7E00-136E-4BBB-B737-4E51647C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1057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42 участника</a:t>
            </a:r>
          </a:p>
          <a:p xmlns:a="http://schemas.openxmlformats.org/drawingml/2006/main">
            <a:pPr algn="l">
              <a:defRPr sz="225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38 самостоятельных признаков</a:t>
            </a:r>
          </a:p>
          <a:p xmlns:a="http://schemas.openxmlformats.org/drawingml/2006/main">
            <a:pPr algn="l">
              <a:defRPr sz="225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18 октября 2026 года</a:t>
            </a:r>
          </a:p>
        </p:txBody>
      </p:sp>
    </p:spTree>
    <p:extLst>
      <p:ext uri="{BB962C8B-B14F-4D97-AF65-F5344CB8AC3E}">
        <p14:creationId xmlns:p14="http://schemas.microsoft.com/office/powerpoint/2010/main" val="1462697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Основные выводы">
            <a:extLst xmlns:a="http://schemas.openxmlformats.org/drawingml/2006/main">
              <a:ext uri="{FF2B5EF4-FFF2-40B4-BE49-F238E27FC236}">
                <a16:creationId xmlns:a16="http://schemas.microsoft.com/office/drawing/2014/main" id="{36F73FD8-96C2-433A-80E3-F58E757F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Основные выводы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D7698276-FFFA-4F44-AF95-71515DC4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У 18 из 42 участников есть 39 подтверждё">
            <a:extLst xmlns:a="http://schemas.openxmlformats.org/drawingml/2006/main">
              <a:ext uri="{FF2B5EF4-FFF2-40B4-BE49-F238E27FC236}">
                <a16:creationId xmlns:a16="http://schemas.microsoft.com/office/drawing/2014/main" id="{1A8B4E2F-7E8D-4C48-BF85-1B285599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57325"/>
            <a:ext cx="10706100" cy="414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У 18 из 42 участников есть 39 подтверждённых оценок по 19 признакам.</a:t>
            </a:r>
          </a:p>
        </p:txBody>
      </p:sp>
      <p:sp>
        <p:nvSpPr>
          <p:cNvPr id="4" name="В материалах видны задачи развития, защи">
            <a:extLst xmlns:a="http://schemas.openxmlformats.org/drawingml/2006/main">
              <a:ext uri="{FF2B5EF4-FFF2-40B4-BE49-F238E27FC236}">
                <a16:creationId xmlns:a16="http://schemas.microsoft.com/office/drawing/2014/main" id="{A590DA70-114F-4569-84A2-BAB1A498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0359"/>
            <a:ext cx="107061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В материалах видны задачи развития, защиты процедур и конкретного международного сотрудничества.</a:t>
            </a:r>
          </a:p>
        </p:txBody>
      </p:sp>
      <p:sp>
        <p:nvSpPr>
          <p:cNvPr id="5" name="Для новой общей карты и статистических г">
            <a:extLst xmlns:a="http://schemas.openxmlformats.org/drawingml/2006/main">
              <a:ext uri="{FF2B5EF4-FFF2-40B4-BE49-F238E27FC236}">
                <a16:creationId xmlns:a16="http://schemas.microsoft.com/office/drawing/2014/main" id="{23273676-8361-4A05-A85A-A278BB53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2102"/>
            <a:ext cx="107061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Для новой общей карты и статистических групп пока недостаточно сопоставимых сведений.</a:t>
            </a:r>
          </a:p>
        </p:txBody>
      </p:sp>
    </p:spTree>
    <p:extLst>
      <p:ext uri="{BB962C8B-B14F-4D97-AF65-F5344CB8AC3E}">
        <p14:creationId xmlns:p14="http://schemas.microsoft.com/office/powerpoint/2010/main" val="504168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остаточность сведений об участниках">
            <a:extLst xmlns:a="http://schemas.openxmlformats.org/drawingml/2006/main">
              <a:ext uri="{FF2B5EF4-FFF2-40B4-BE49-F238E27FC236}">
                <a16:creationId xmlns:a16="http://schemas.microsoft.com/office/drawing/2014/main" id="{9C734859-3019-45B3-A435-2E740B80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Достаточность сведений об участниках</a:t>
            </a:r>
          </a:p>
        </p:txBody>
      </p:sp>
      <p:sp>
        <p:nvSpPr>
          <p:cNvPr id="2" name="3">
            <a:extLst xmlns:a="http://schemas.openxmlformats.org/drawingml/2006/main">
              <a:ext uri="{FF2B5EF4-FFF2-40B4-BE49-F238E27FC236}">
                <a16:creationId xmlns:a16="http://schemas.microsoft.com/office/drawing/2014/main" id="{38030A6D-8F1C-4B4B-B3FD-B9F0482F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D7D0333-EBCA-45AF-94C5-B46A34F58F40}"/>
              </a:ext>
            </a:extLst>
          </p:cNvPr>
          <p:cNvGraphicFramePr/>
          <p:nvPr/>
        </p:nvGraphicFramePr>
        <p:xfrm>
          <a:off xmlns:a="http://schemas.openxmlformats.org/drawingml/2006/main" x="742950" y="1619250"/>
          <a:ext xmlns:a="http://schemas.openxmlformats.org/drawingml/2006/main" cx="105537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012f3d5617438b"/>
          </a:graphicData>
        </a:graphic>
      </p:graphicFrame>
      <p:sp>
        <p:nvSpPr>
          <p:cNvPr id="4" name="Отсутствие оценки означает недостаток пр">
            <a:extLst xmlns:a="http://schemas.openxmlformats.org/drawingml/2006/main">
              <a:ext uri="{FF2B5EF4-FFF2-40B4-BE49-F238E27FC236}">
                <a16:creationId xmlns:a16="http://schemas.microsoft.com/office/drawing/2014/main" id="{F1A0BEC5-9BB2-4AEC-8BC0-4DB28891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Отсутствие оценки означает недостаток проверенных сведений о позиции человека.</a:t>
            </a:r>
          </a:p>
        </p:txBody>
      </p:sp>
    </p:spTree>
    <p:extLst>
      <p:ext uri="{BB962C8B-B14F-4D97-AF65-F5344CB8AC3E}">
        <p14:creationId xmlns:p14="http://schemas.microsoft.com/office/powerpoint/2010/main" val="492371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Влияние неопределённых дат">
            <a:extLst xmlns:a="http://schemas.openxmlformats.org/drawingml/2006/main">
              <a:ext uri="{FF2B5EF4-FFF2-40B4-BE49-F238E27FC236}">
                <a16:creationId xmlns:a16="http://schemas.microsoft.com/office/drawing/2014/main" id="{5E60A5BF-448E-48EF-91CC-7D861396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Влияние неопределённых дат</a:t>
            </a:r>
          </a:p>
        </p:txBody>
      </p:sp>
      <p:sp>
        <p:nvSpPr>
          <p:cNvPr id="2" name="4">
            <a:extLst xmlns:a="http://schemas.openxmlformats.org/drawingml/2006/main">
              <a:ext uri="{FF2B5EF4-FFF2-40B4-BE49-F238E27FC236}">
                <a16:creationId xmlns:a16="http://schemas.microsoft.com/office/drawing/2014/main" id="{59C6B21D-5A25-4410-9BD5-6AEB64A3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C140CBF-3DA8-4A91-8475-EA1CC542B6F7}"/>
              </a:ext>
            </a:extLst>
          </p:cNvPr>
          <p:cNvGraphicFramePr/>
          <p:nvPr/>
        </p:nvGraphicFramePr>
        <p:xfrm>
          <a:off xmlns:a="http://schemas.openxmlformats.org/drawingml/2006/main" x="742950" y="1619250"/>
          <a:ext xmlns:a="http://schemas.openxmlformats.org/drawingml/2006/main" cx="105537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27e2d9504f44dd"/>
          </a:graphicData>
        </a:graphic>
      </p:graphicFrame>
      <p:sp>
        <p:nvSpPr>
          <p:cNvPr id="4" name="Число оценок. «С неуточнёнными датами» в">
            <a:extLst xmlns:a="http://schemas.openxmlformats.org/drawingml/2006/main">
              <a:ext uri="{FF2B5EF4-FFF2-40B4-BE49-F238E27FC236}">
                <a16:creationId xmlns:a16="http://schemas.microsoft.com/office/drawing/2014/main" id="{10D7F9A6-D820-4B56-98E1-93638298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Число оценок. «С неуточнёнными датами» включает дополнительные эпизоды и остаётся отдельным сценарием.</a:t>
            </a:r>
          </a:p>
        </p:txBody>
      </p:sp>
    </p:spTree>
    <p:extLst>
      <p:ext uri="{BB962C8B-B14F-4D97-AF65-F5344CB8AC3E}">
        <p14:creationId xmlns:p14="http://schemas.microsoft.com/office/powerpoint/2010/main" val="6150808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Развитие возможностей и технологий">
            <a:extLst xmlns:a="http://schemas.openxmlformats.org/drawingml/2006/main">
              <a:ext uri="{FF2B5EF4-FFF2-40B4-BE49-F238E27FC236}">
                <a16:creationId xmlns:a16="http://schemas.microsoft.com/office/drawing/2014/main" id="{30F578A9-B85A-4A8D-A7F5-5A4C46C9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Развитие возможностей и технологий</a:t>
            </a:r>
          </a:p>
        </p:txBody>
      </p:sp>
      <p:sp>
        <p:nvSpPr>
          <p:cNvPr id="2" name="5">
            <a:extLst xmlns:a="http://schemas.openxmlformats.org/drawingml/2006/main">
              <a:ext uri="{FF2B5EF4-FFF2-40B4-BE49-F238E27FC236}">
                <a16:creationId xmlns:a16="http://schemas.microsoft.com/office/drawing/2014/main" id="{FE7BFF19-3E52-47F3-ACA9-28ED05C7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В проверенных эпизодах Паула Ингабире св">
            <a:extLst xmlns:a="http://schemas.openxmlformats.org/drawingml/2006/main">
              <a:ext uri="{FF2B5EF4-FFF2-40B4-BE49-F238E27FC236}">
                <a16:creationId xmlns:a16="http://schemas.microsoft.com/office/drawing/2014/main" id="{ED774FD9-C071-4111-B8A6-9F8D169B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57325"/>
            <a:ext cx="10706100" cy="1431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В проверенных эпизодах Паула Ингабире связывает технологические партнёрства с самостоятельностью Руанды. Здесь важна способность выбирать условия сотрудничества и уменьшать зависимость, а не простое присутствие иностранных компаний.</a:t>
            </a:r>
          </a:p>
        </p:txBody>
      </p:sp>
      <p:sp>
        <p:nvSpPr>
          <p:cNvPr id="4" name="Клавер Гатете подчёркивает внутренние во">
            <a:extLst xmlns:a="http://schemas.openxmlformats.org/drawingml/2006/main">
              <a:ext uri="{FF2B5EF4-FFF2-40B4-BE49-F238E27FC236}">
                <a16:creationId xmlns:a16="http://schemas.microsoft.com/office/drawing/2014/main" id="{FD636695-5212-46C1-86CA-30D046AA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6486"/>
            <a:ext cx="10706100" cy="109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Клавер Гатете подчёркивает внутренние возможности африканских стран, выступая в рамках международного мандата. Его высказывание нельзя автоматически представлять как позицию правительства Руанды.</a:t>
            </a:r>
          </a:p>
        </p:txBody>
      </p:sp>
      <p:sp>
        <p:nvSpPr>
          <p:cNvPr id="5" name="Качественные примеры включают эпизоды с ">
            <a:extLst xmlns:a="http://schemas.openxmlformats.org/drawingml/2006/main">
              <a:ext uri="{FF2B5EF4-FFF2-40B4-BE49-F238E27FC236}">
                <a16:creationId xmlns:a16="http://schemas.microsoft.com/office/drawing/2014/main" id="{F5D11559-A11D-4A8D-B8B3-AB2FD72B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Качественные примеры включают эпизоды с неуточнённой датой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17732530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рава, процедуры и политическое участие">
            <a:extLst xmlns:a="http://schemas.openxmlformats.org/drawingml/2006/main">
              <a:ext uri="{FF2B5EF4-FFF2-40B4-BE49-F238E27FC236}">
                <a16:creationId xmlns:a16="http://schemas.microsoft.com/office/drawing/2014/main" id="{F3CF8F75-84C2-445F-BC1A-46715351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Права, процедуры и политическое участие</a:t>
            </a:r>
          </a:p>
        </p:txBody>
      </p:sp>
      <p:sp>
        <p:nvSpPr>
          <p:cNvPr id="2" name="6">
            <a:extLst xmlns:a="http://schemas.openxmlformats.org/drawingml/2006/main">
              <a:ext uri="{FF2B5EF4-FFF2-40B4-BE49-F238E27FC236}">
                <a16:creationId xmlns:a16="http://schemas.microsoft.com/office/drawing/2014/main" id="{1C959A31-0ED7-492D-990D-B97CC4CB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В материалах об оппозиции важны собствен">
            <a:extLst xmlns:a="http://schemas.openxmlformats.org/drawingml/2006/main">
              <a:ext uri="{FF2B5EF4-FFF2-40B4-BE49-F238E27FC236}">
                <a16:creationId xmlns:a16="http://schemas.microsoft.com/office/drawing/2014/main" id="{3D591884-4955-47D2-9548-3AAB9A1C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57325"/>
            <a:ext cx="10706100" cy="109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В материалах об оппозиции важны собственные политические требования и действия: правовые возражения и ненасильственные способы участия. Сам факт обвинения, ареста или исключения из выборов не доказывает программу человека.</a:t>
            </a:r>
          </a:p>
        </p:txBody>
      </p:sp>
      <p:sp>
        <p:nvSpPr>
          <p:cNvPr id="4" name="Судебная позиция представителей Виктуар ">
            <a:extLst xmlns:a="http://schemas.openxmlformats.org/drawingml/2006/main">
              <a:ext uri="{FF2B5EF4-FFF2-40B4-BE49-F238E27FC236}">
                <a16:creationId xmlns:a16="http://schemas.microsoft.com/office/drawing/2014/main" id="{D78236F9-5FA1-4829-B31D-54F6F6ED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7777"/>
            <a:ext cx="10706100" cy="1431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Судебная позиция представителей Виктуар Ингабире относится к конкретному делу. Её можно описывать как процессуальное требование, но нельзя расширять до полного набора убеждений. Высказывания Франка Хабинезы дают самостоятельные примеры ненасильственного участия.</a:t>
            </a:r>
          </a:p>
        </p:txBody>
      </p:sp>
      <p:sp>
        <p:nvSpPr>
          <p:cNvPr id="5" name="Качественные примеры включают эпизоды с ">
            <a:extLst xmlns:a="http://schemas.openxmlformats.org/drawingml/2006/main">
              <a:ext uri="{FF2B5EF4-FFF2-40B4-BE49-F238E27FC236}">
                <a16:creationId xmlns:a16="http://schemas.microsoft.com/office/drawing/2014/main" id="{A73CD3C5-1688-412B-A6ED-D677589E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Качественные примеры включают эпизоды с неуточнённой датой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19587472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Международные связи как способ решения з">
            <a:extLst xmlns:a="http://schemas.openxmlformats.org/drawingml/2006/main">
              <a:ext uri="{FF2B5EF4-FFF2-40B4-BE49-F238E27FC236}">
                <a16:creationId xmlns:a16="http://schemas.microsoft.com/office/drawing/2014/main" id="{46F11299-99C1-4BF4-B784-8B755F36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Международные связи как способ решения задач</a:t>
            </a:r>
          </a:p>
        </p:txBody>
      </p:sp>
      <p:sp>
        <p:nvSpPr>
          <p:cNvPr id="2" name="7">
            <a:extLst xmlns:a="http://schemas.openxmlformats.org/drawingml/2006/main">
              <a:ext uri="{FF2B5EF4-FFF2-40B4-BE49-F238E27FC236}">
                <a16:creationId xmlns:a16="http://schemas.microsoft.com/office/drawing/2014/main" id="{DC2F4B97-3B15-4619-88FC-57893C9A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Сотрудничество с внешними партнёрами поя">
            <a:extLst xmlns:a="http://schemas.openxmlformats.org/drawingml/2006/main">
              <a:ext uri="{FF2B5EF4-FFF2-40B4-BE49-F238E27FC236}">
                <a16:creationId xmlns:a16="http://schemas.microsoft.com/office/drawing/2014/main" id="{3AA77D30-F4B5-4031-BDE4-7CA507A1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57325"/>
            <a:ext cx="10706100" cy="109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Сотрудничество с внешними партнёрами появляется в разных сферах: медицинские технологии, оборона, возвращение беженцев и региональные переговоры. Одинаковый инструмент ещё не означает одинаковую идеологию его участников.</a:t>
            </a:r>
          </a:p>
        </p:txBody>
      </p:sp>
      <p:sp>
        <p:nvSpPr>
          <p:cNvPr id="4" name="Краткий контакт на форуме или протокольн">
            <a:extLst xmlns:a="http://schemas.openxmlformats.org/drawingml/2006/main">
              <a:ext uri="{FF2B5EF4-FFF2-40B4-BE49-F238E27FC236}">
                <a16:creationId xmlns:a16="http://schemas.microsoft.com/office/drawing/2014/main" id="{8CC23280-0F42-409A-85B7-D051E07E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7777"/>
            <a:ext cx="10706100" cy="109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Краткий контакт на форуме или протокольная фотография подтверждают присутствие и встречу. Для вывода о предпочтениях нужны содержательное заявление, действие или обязательство самого политика.</a:t>
            </a:r>
          </a:p>
        </p:txBody>
      </p:sp>
      <p:sp>
        <p:nvSpPr>
          <p:cNvPr id="5" name="Качественные примеры включают эпизоды с ">
            <a:extLst xmlns:a="http://schemas.openxmlformats.org/drawingml/2006/main">
              <a:ext uri="{FF2B5EF4-FFF2-40B4-BE49-F238E27FC236}">
                <a16:creationId xmlns:a16="http://schemas.microsoft.com/office/drawing/2014/main" id="{B7687E4C-5FD6-41F5-B20E-A36E1000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Качественные примеры включают эпизоды с неуточнённой датой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20207874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Единство общества и предупреждение вреда">
            <a:extLst xmlns:a="http://schemas.openxmlformats.org/drawingml/2006/main">
              <a:ext uri="{FF2B5EF4-FFF2-40B4-BE49-F238E27FC236}">
                <a16:creationId xmlns:a16="http://schemas.microsoft.com/office/drawing/2014/main" id="{7327398B-E48B-4098-B848-19538297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Единство общества и предупреждение вреда</a:t>
            </a:r>
          </a:p>
        </p:txBody>
      </p:sp>
      <p:sp>
        <p:nvSpPr>
          <p:cNvPr id="2" name="8">
            <a:extLst xmlns:a="http://schemas.openxmlformats.org/drawingml/2006/main">
              <a:ext uri="{FF2B5EF4-FFF2-40B4-BE49-F238E27FC236}">
                <a16:creationId xmlns:a16="http://schemas.microsoft.com/office/drawing/2014/main" id="{E9B31BE4-B983-4C11-A69C-BAB5E20D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В выступлениях Жан-Дамасена Бизиманы и Ф">
            <a:extLst xmlns:a="http://schemas.openxmlformats.org/drawingml/2006/main">
              <a:ext uri="{FF2B5EF4-FFF2-40B4-BE49-F238E27FC236}">
                <a16:creationId xmlns:a16="http://schemas.microsoft.com/office/drawing/2014/main" id="{5BEF7BBA-16E6-470B-82A7-68EF851D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57325"/>
            <a:ext cx="10706100" cy="109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В выступлениях Жан-Дамасена Бизиманы и Франсуа-Ксавье Калинды историческая память связана с предотвращением новых расколов. Это конкретная линия национального единства. Она не означает, что остальные участники ей противостоят.</a:t>
            </a:r>
          </a:p>
        </p:txBody>
      </p:sp>
      <p:sp>
        <p:nvSpPr>
          <p:cNvPr id="4" name="Валентин Увамария предлагает перепись ди">
            <a:extLst xmlns:a="http://schemas.openxmlformats.org/drawingml/2006/main">
              <a:ext uri="{FF2B5EF4-FFF2-40B4-BE49-F238E27FC236}">
                <a16:creationId xmlns:a16="http://schemas.microsoft.com/office/drawing/2014/main" id="{6E4A3B4E-39B3-4B63-A7A9-ED057C9E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7777"/>
            <a:ext cx="10706100" cy="1431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Валентин Увамария предлагает перепись диких животных и сопоставление их численности с возможностями парков, чтобы уменьшить нападения и ущерб. Здесь видны проверяемое знание и предупреждение рисков. Сама тема животных ещё не доказывает поддержку экологических ограничений хозяйственной деятельности.</a:t>
            </a:r>
          </a:p>
        </p:txBody>
      </p:sp>
      <p:sp>
        <p:nvSpPr>
          <p:cNvPr id="5" name="Качественные примеры включают эпизоды с ">
            <a:extLst xmlns:a="http://schemas.openxmlformats.org/drawingml/2006/main">
              <a:ext uri="{FF2B5EF4-FFF2-40B4-BE49-F238E27FC236}">
                <a16:creationId xmlns:a16="http://schemas.microsoft.com/office/drawing/2014/main" id="{797194B9-A8BC-445E-999D-45D82FA6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Качественные примеры включают эпизоды с неуточнённой датой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568505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Россия: отраслевые связи">
            <a:extLst xmlns:a="http://schemas.openxmlformats.org/drawingml/2006/main">
              <a:ext uri="{FF2B5EF4-FFF2-40B4-BE49-F238E27FC236}">
                <a16:creationId xmlns:a16="http://schemas.microsoft.com/office/drawing/2014/main" id="{9290E688-C7DA-427C-B1DD-619A6F04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Россия: отраслевые связи</a:t>
            </a:r>
          </a:p>
        </p:txBody>
      </p:sp>
      <p:sp>
        <p:nvSpPr>
          <p:cNvPr id="2" name="9">
            <a:extLst xmlns:a="http://schemas.openxmlformats.org/drawingml/2006/main">
              <a:ext uri="{FF2B5EF4-FFF2-40B4-BE49-F238E27FC236}">
                <a16:creationId xmlns:a16="http://schemas.microsoft.com/office/drawing/2014/main" id="{63B3266E-1C3D-4981-AFD2-03CC984E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Сабин Нсанзимана связан с конкретным эпи">
            <a:extLst xmlns:a="http://schemas.openxmlformats.org/drawingml/2006/main">
              <a:ext uri="{FF2B5EF4-FFF2-40B4-BE49-F238E27FC236}">
                <a16:creationId xmlns:a16="http://schemas.microsoft.com/office/drawing/2014/main" id="{3EC85353-BAF7-462B-B4B2-ADA16F34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57325"/>
            <a:ext cx="10706100" cy="109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Сабин Нсанзимана связан с конкретным эпизодом медицинского сотрудничества с Россией: обсуждаются технологии, подготовка гражданских медицинских кадров и профилактика. Перепечатки одного соглашения образуют один эпизод.</a:t>
            </a:r>
          </a:p>
        </p:txBody>
      </p:sp>
      <p:sp>
        <p:nvSpPr>
          <p:cNvPr id="4" name="У Жювеналя Маризамунды проверенные матер">
            <a:extLst xmlns:a="http://schemas.openxmlformats.org/drawingml/2006/main">
              <a:ext uri="{FF2B5EF4-FFF2-40B4-BE49-F238E27FC236}">
                <a16:creationId xmlns:a16="http://schemas.microsoft.com/office/drawing/2014/main" id="{02EDCD6A-BB37-4C34-A0F0-C6A18908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7777"/>
            <a:ext cx="10706100" cy="109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У Жювеналя Маризамунды проверенные материалы описывают обсуждение военно-технического взаимодействия. Они подтверждают направление сотрудничества, но не доказывают исполнение всех обсуждавшихся проектов.</a:t>
            </a:r>
          </a:p>
        </p:txBody>
      </p:sp>
      <p:sp>
        <p:nvSpPr>
          <p:cNvPr id="5" name="Даты части эпизодов не уточнены. Они рас">
            <a:extLst xmlns:a="http://schemas.openxmlformats.org/drawingml/2006/main">
              <a:ext uri="{FF2B5EF4-FFF2-40B4-BE49-F238E27FC236}">
                <a16:creationId xmlns:a16="http://schemas.microsoft.com/office/drawing/2014/main" id="{4382710A-C6ED-4ADC-9926-D99C10B4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Даты части эпизодов не уточнены. Они рассматриваются отдельно от основной матрицы.</a:t>
            </a:r>
          </a:p>
        </p:txBody>
      </p:sp>
    </p:spTree>
    <p:extLst>
      <p:ext uri="{BB962C8B-B14F-4D97-AF65-F5344CB8AC3E}">
        <p14:creationId xmlns:p14="http://schemas.microsoft.com/office/powerpoint/2010/main" val="1033225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Россия: границы интерпретации">
            <a:extLst xmlns:a="http://schemas.openxmlformats.org/drawingml/2006/main">
              <a:ext uri="{FF2B5EF4-FFF2-40B4-BE49-F238E27FC236}">
                <a16:creationId xmlns:a16="http://schemas.microsoft.com/office/drawing/2014/main" id="{89718742-CC3A-4623-8A9F-C9B14953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Россия: границы интерпретации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14ED6916-95A1-4D16-B39E-C5F16A2D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У Оливье Ндухунгирехе содержательная дву">
            <a:extLst xmlns:a="http://schemas.openxmlformats.org/drawingml/2006/main">
              <a:ext uri="{FF2B5EF4-FFF2-40B4-BE49-F238E27FC236}">
                <a16:creationId xmlns:a16="http://schemas.microsoft.com/office/drawing/2014/main" id="{F1E09D06-57DB-4503-9D64-2C8A9450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57325"/>
            <a:ext cx="10706100" cy="109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У Оливье Ндухунгирехе содержательная двусторонняя повестка позволяет говорить о дипломатическом и экономическом взаимодействии. Эти эпизоды не устанавливают его позицию по каждому внешнеполитическому действию России.</a:t>
            </a:r>
          </a:p>
        </p:txBody>
      </p:sp>
      <p:sp>
        <p:nvSpPr>
          <p:cNvPr id="4" name="Из отраслевого сотрудничества нельзя выв">
            <a:extLst xmlns:a="http://schemas.openxmlformats.org/drawingml/2006/main">
              <a:ext uri="{FF2B5EF4-FFF2-40B4-BE49-F238E27FC236}">
                <a16:creationId xmlns:a16="http://schemas.microsoft.com/office/drawing/2014/main" id="{A86C6596-E854-491B-B46A-888617B5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7777"/>
            <a:ext cx="10706100" cy="1431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Из отраслевого сотрудничества нельзя вывести поддержку войны, санкционную позицию или единую ориентацию всех руководителей страны. Отдельный общий фактор отношения к России и порог 2% дисперсии по этой матрице пока не проверяются: данных недостаточно для допустимой модели.</a:t>
            </a:r>
          </a:p>
        </p:txBody>
      </p:sp>
    </p:spTree>
    <p:extLst>
      <p:ext uri="{BB962C8B-B14F-4D97-AF65-F5344CB8AC3E}">
        <p14:creationId xmlns:p14="http://schemas.microsoft.com/office/powerpoint/2010/main" val="2916847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Общая карта пока остаётся открытым вопро">
            <a:extLst xmlns:a="http://schemas.openxmlformats.org/drawingml/2006/main">
              <a:ext uri="{FF2B5EF4-FFF2-40B4-BE49-F238E27FC236}">
                <a16:creationId xmlns:a16="http://schemas.microsoft.com/office/drawing/2014/main" id="{FF510B67-FA8E-4A7C-80D6-A0C6F76D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Общая карта пока остаётся открытым вопросом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BD9AD9B2-14DB-4D78-A2CF-14FE6428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Прежние три оси и четыре группы относятс">
            <a:extLst xmlns:a="http://schemas.openxmlformats.org/drawingml/2006/main">
              <a:ext uri="{FF2B5EF4-FFF2-40B4-BE49-F238E27FC236}">
                <a16:creationId xmlns:a16="http://schemas.microsoft.com/office/drawing/2014/main" id="{DCE806DD-D27F-4CA6-BB25-325294AB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57325"/>
            <a:ext cx="107061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Прежние три оси и четыре группы относятся к более ранней матрице и другим определениям признаков.</a:t>
            </a:r>
          </a:p>
        </p:txBody>
      </p:sp>
      <p:sp>
        <p:nvSpPr>
          <p:cNvPr id="4" name="Новая проверка не подтверждает прежнее о">
            <a:extLst xmlns:a="http://schemas.openxmlformats.org/drawingml/2006/main">
              <a:ext uri="{FF2B5EF4-FFF2-40B4-BE49-F238E27FC236}">
                <a16:creationId xmlns:a16="http://schemas.microsoft.com/office/drawing/2014/main" id="{A2DB1656-0643-4909-9C75-344E0055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9068"/>
            <a:ext cx="107061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Новая проверка не подтверждает прежнее объединение Кагаме и Дианы Рвигары. Для сопоставления пока недостаточно сведений о Рвигаре.</a:t>
            </a:r>
          </a:p>
        </p:txBody>
      </p:sp>
      <p:sp>
        <p:nvSpPr>
          <p:cNvPr id="5" name="Содержательные темы на предыдущих слайда">
            <a:extLst xmlns:a="http://schemas.openxmlformats.org/drawingml/2006/main">
              <a:ext uri="{FF2B5EF4-FFF2-40B4-BE49-F238E27FC236}">
                <a16:creationId xmlns:a16="http://schemas.microsoft.com/office/drawing/2014/main" id="{325A7D72-4996-4FA3-8EB8-3F480504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0811"/>
            <a:ext cx="107061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Содержательные темы на предыдущих слайдах описывают проверенные эпизоды. Статистические кластеры по ним пока не устанавливаются.</a:t>
            </a:r>
          </a:p>
        </p:txBody>
      </p:sp>
    </p:spTree>
    <p:extLst>
      <p:ext uri="{BB962C8B-B14F-4D97-AF65-F5344CB8AC3E}">
        <p14:creationId xmlns:p14="http://schemas.microsoft.com/office/powerpoint/2010/main" val="3262482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одтверждённые признаки участников: 1">
            <a:extLst xmlns:a="http://schemas.openxmlformats.org/drawingml/2006/main">
              <a:ext uri="{FF2B5EF4-FFF2-40B4-BE49-F238E27FC236}">
                <a16:creationId xmlns:a16="http://schemas.microsoft.com/office/drawing/2014/main" id="{E067A173-743A-41D2-B6E8-4228FFCB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Подтверждённые признаки участников: 1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BE61C597-7FBF-40F6-A1B7-F6772742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701E1-081D-4110-9F22-01F12618B1EC}"/>
              </a:ext>
            </a:extLst>
          </p:cNvPr>
          <p:cNvGraphicFramePr/>
          <p:nvPr/>
        </p:nvGraphicFramePr>
        <p:xfrm>
          <a:off xmlns:a="http://schemas.openxmlformats.org/drawingml/2006/main" x="628650" y="1419225"/>
          <a:ext xmlns:a="http://schemas.openxmlformats.org/drawingml/2006/main" cx="10934700" cy="4162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6858000"/>
                <a:gridCol w="1123950"/>
              </a:tblGrid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Участник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Пример выраженного признака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0-5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Поль Кагаме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Международная и региональная кооперация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Жюстен Нсенгийюмва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Переговоры и посредничество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Венсан Бирута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Международная и региональная кооперация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Оливье Ндухунгирехе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Независимость публичных институтов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Альбер Мурасира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Международная и региональная кооперация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По одному примеру на человека из основно">
            <a:extLst xmlns:a="http://schemas.openxmlformats.org/drawingml/2006/main">
              <a:ext uri="{FF2B5EF4-FFF2-40B4-BE49-F238E27FC236}">
                <a16:creationId xmlns:a16="http://schemas.microsoft.com/office/drawing/2014/main" id="{0A9576A9-2A6F-4915-851F-3F23D13E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По одному примеру на человека из основной матрицы. Балл не зависит от числа публикаций.</a:t>
            </a:r>
          </a:p>
        </p:txBody>
      </p:sp>
    </p:spTree>
    <p:extLst>
      <p:ext uri="{BB962C8B-B14F-4D97-AF65-F5344CB8AC3E}">
        <p14:creationId xmlns:p14="http://schemas.microsoft.com/office/powerpoint/2010/main" val="20813949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одтверждённые признаки участников: 2">
            <a:extLst xmlns:a="http://schemas.openxmlformats.org/drawingml/2006/main">
              <a:ext uri="{FF2B5EF4-FFF2-40B4-BE49-F238E27FC236}">
                <a16:creationId xmlns:a16="http://schemas.microsoft.com/office/drawing/2014/main" id="{A6D3D35A-AC3D-47E2-9ADD-8BC405FA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Подтверждённые признаки участников: 2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0A29A3F6-2C43-4AFF-ABD3-C975B461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2C055-7845-43F6-AB21-9768F32B4648}"/>
              </a:ext>
            </a:extLst>
          </p:cNvPr>
          <p:cNvGraphicFramePr/>
          <p:nvPr/>
        </p:nvGraphicFramePr>
        <p:xfrm>
          <a:off xmlns:a="http://schemas.openxmlformats.org/drawingml/2006/main" x="628650" y="1419225"/>
          <a:ext xmlns:a="http://schemas.openxmlformats.org/drawingml/2006/main" cx="10934700" cy="4162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6858000"/>
                <a:gridCol w="1123950"/>
              </a:tblGrid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Участник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Пример выраженного признака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0-5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Эмманюэль Угирасебуджа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Правовое оспаривание и разрешение споров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Юсуф Мурангва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Адресные финансовые инструменты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Валентин Увамария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Опора на проверяемое знание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Жан-Дамасен Бизимана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Национальная общность и преодоление расколов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4.5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Клэр Акаманзи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Расширение частной инициативы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По одному примеру на человека из основно">
            <a:extLst xmlns:a="http://schemas.openxmlformats.org/drawingml/2006/main">
              <a:ext uri="{FF2B5EF4-FFF2-40B4-BE49-F238E27FC236}">
                <a16:creationId xmlns:a16="http://schemas.microsoft.com/office/drawing/2014/main" id="{2DE870F7-B5FB-4789-833A-9E298D6D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По одному примеру на человека из основной матрицы. Балл не зависит от числа публикаций.</a:t>
            </a:r>
          </a:p>
        </p:txBody>
      </p:sp>
    </p:spTree>
    <p:extLst>
      <p:ext uri="{BB962C8B-B14F-4D97-AF65-F5344CB8AC3E}">
        <p14:creationId xmlns:p14="http://schemas.microsoft.com/office/powerpoint/2010/main" val="2103088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одтверждённые признаки участников: 3">
            <a:extLst xmlns:a="http://schemas.openxmlformats.org/drawingml/2006/main">
              <a:ext uri="{FF2B5EF4-FFF2-40B4-BE49-F238E27FC236}">
                <a16:creationId xmlns:a16="http://schemas.microsoft.com/office/drawing/2014/main" id="{D9F7A366-0002-42B9-895B-8F736561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Подтверждённые признаки участников: 3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A608A3E2-0311-482C-84A1-933DA12E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9810F-7942-4F41-9FD1-0ECD028ADACD}"/>
              </a:ext>
            </a:extLst>
          </p:cNvPr>
          <p:cNvGraphicFramePr/>
          <p:nvPr/>
        </p:nvGraphicFramePr>
        <p:xfrm>
          <a:off xmlns:a="http://schemas.openxmlformats.org/drawingml/2006/main" x="628650" y="1419225"/>
          <a:ext xmlns:a="http://schemas.openxmlformats.org/drawingml/2006/main" cx="10934700" cy="4162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6858000"/>
                <a:gridCol w="1123950"/>
              </a:tblGrid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Участник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Пример выраженного признака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0-5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Гертруда Казарва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Международная и региональная кооперация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Франсуа-Ксавье Калинда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Национальная общность и преодоление расколов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Мусса Фазиль Хареримана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Равенство и недискриминационное включение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Франк Хабинеза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Ненасильственное политическое действие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693738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Виктуар Ингабире Умухоза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Защита гражданских и политических прав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По одному примеру на человека из основно">
            <a:extLst xmlns:a="http://schemas.openxmlformats.org/drawingml/2006/main">
              <a:ext uri="{FF2B5EF4-FFF2-40B4-BE49-F238E27FC236}">
                <a16:creationId xmlns:a16="http://schemas.microsoft.com/office/drawing/2014/main" id="{21264FA6-67C3-4FDB-B16C-4007A771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По одному примеру на человека из основной матрицы. Балл не зависит от числа публикаций.</a:t>
            </a:r>
          </a:p>
        </p:txBody>
      </p:sp>
    </p:spTree>
    <p:extLst>
      <p:ext uri="{BB962C8B-B14F-4D97-AF65-F5344CB8AC3E}">
        <p14:creationId xmlns:p14="http://schemas.microsoft.com/office/powerpoint/2010/main" val="14439465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одтверждённые признаки участников: 4">
            <a:extLst xmlns:a="http://schemas.openxmlformats.org/drawingml/2006/main">
              <a:ext uri="{FF2B5EF4-FFF2-40B4-BE49-F238E27FC236}">
                <a16:creationId xmlns:a16="http://schemas.microsoft.com/office/drawing/2014/main" id="{7FACA994-52E5-49DE-8792-B7E0A88A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Подтверждённые признаки участников: 4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F0D18141-B40E-4F79-B92C-7C8B0EB1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BA612-1F82-45FA-B4E3-CB6079EA068C}"/>
              </a:ext>
            </a:extLst>
          </p:cNvPr>
          <p:cNvGraphicFramePr/>
          <p:nvPr/>
        </p:nvGraphicFramePr>
        <p:xfrm>
          <a:off xmlns:a="http://schemas.openxmlformats.org/drawingml/2006/main" x="628650" y="1419225"/>
          <a:ext xmlns:a="http://schemas.openxmlformats.org/drawingml/2006/main" cx="10934700" cy="4162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6858000"/>
                <a:gridCol w="1123950"/>
              </a:tblGrid>
              <a:tr h="1040606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Участник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Пример выраженного признака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0-5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1040606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Луиза Мушикивабо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Равенство и недискриминационное включение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0606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Клавер Гатете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Технологическая модернизация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1040606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Валентин Ругвабиза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Международная и региональная кооперация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По одному примеру на человека из основно">
            <a:extLst xmlns:a="http://schemas.openxmlformats.org/drawingml/2006/main">
              <a:ext uri="{FF2B5EF4-FFF2-40B4-BE49-F238E27FC236}">
                <a16:creationId xmlns:a16="http://schemas.microsoft.com/office/drawing/2014/main" id="{A1EAC994-F6A3-4FF5-B80D-7F78084F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По одному примеру на человека из основной матрицы. Балл не зависит от числа публикаций.</a:t>
            </a:r>
          </a:p>
        </p:txBody>
      </p:sp>
    </p:spTree>
    <p:extLst>
      <p:ext uri="{BB962C8B-B14F-4D97-AF65-F5344CB8AC3E}">
        <p14:creationId xmlns:p14="http://schemas.microsoft.com/office/powerpoint/2010/main" val="3001721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олитические цели: 1">
            <a:extLst xmlns:a="http://schemas.openxmlformats.org/drawingml/2006/main">
              <a:ext uri="{FF2B5EF4-FFF2-40B4-BE49-F238E27FC236}">
                <a16:creationId xmlns:a16="http://schemas.microsoft.com/office/drawing/2014/main" id="{344160C8-5552-4E8C-BCAB-ED2558EF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Политические цели: 1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0B70473E-A406-4403-BFE4-CBAEAF90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Расширение частной инициативы">
            <a:extLst xmlns:a="http://schemas.openxmlformats.org/drawingml/2006/main">
              <a:ext uri="{FF2B5EF4-FFF2-40B4-BE49-F238E27FC236}">
                <a16:creationId xmlns:a16="http://schemas.microsoft.com/office/drawing/2014/main" id="{41F61D5F-79DF-43A6-848E-98098134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Расширение частной инициативы</a:t>
            </a:r>
          </a:p>
        </p:txBody>
      </p:sp>
      <p:sp>
        <p:nvSpPr>
          <p:cNvPr id="4" name="Экономические возможности недостаточно в">
            <a:extLst xmlns:a="http://schemas.openxmlformats.org/drawingml/2006/main">
              <a:ext uri="{FF2B5EF4-FFF2-40B4-BE49-F238E27FC236}">
                <a16:creationId xmlns:a16="http://schemas.microsoft.com/office/drawing/2014/main" id="{63FB15BD-3B22-4ACB-A382-6E4A5EEF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Экономические возможности недостаточно включённых групп</a:t>
            </a:r>
          </a:p>
        </p:txBody>
      </p:sp>
      <p:sp>
        <p:nvSpPr>
          <p:cNvPr id="5" name="Доступность общественных услуг">
            <a:extLst xmlns:a="http://schemas.openxmlformats.org/drawingml/2006/main">
              <a:ext uri="{FF2B5EF4-FFF2-40B4-BE49-F238E27FC236}">
                <a16:creationId xmlns:a16="http://schemas.microsoft.com/office/drawing/2014/main" id="{C454417C-E011-4F9F-98FB-3B33B386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Доступность общественных услуг</a:t>
            </a:r>
          </a:p>
        </p:txBody>
      </p:sp>
      <p:sp>
        <p:nvSpPr>
          <p:cNvPr id="6" name="Опора на внутренние возможности">
            <a:extLst xmlns:a="http://schemas.openxmlformats.org/drawingml/2006/main">
              <a:ext uri="{FF2B5EF4-FFF2-40B4-BE49-F238E27FC236}">
                <a16:creationId xmlns:a16="http://schemas.microsoft.com/office/drawing/2014/main" id="{E28CA8DF-E02E-4D52-A122-784B0D06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Опора на внутренние возможности</a:t>
            </a:r>
          </a:p>
        </p:txBody>
      </p:sp>
      <p:sp>
        <p:nvSpPr>
          <p:cNvPr id="7" name="Ограничение экологического вреда">
            <a:extLst xmlns:a="http://schemas.openxmlformats.org/drawingml/2006/main">
              <a:ext uri="{FF2B5EF4-FFF2-40B4-BE49-F238E27FC236}">
                <a16:creationId xmlns:a16="http://schemas.microsoft.com/office/drawing/2014/main" id="{A1A4EA9A-9FED-4E13-AFB6-B3BE865A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Ограничение экологического вреда</a:t>
            </a:r>
          </a:p>
        </p:txBody>
      </p:sp>
      <p:sp>
        <p:nvSpPr>
          <p:cNvPr id="8" name="Защита гражданских и политических прав">
            <a:extLst xmlns:a="http://schemas.openxmlformats.org/drawingml/2006/main">
              <a:ext uri="{FF2B5EF4-FFF2-40B4-BE49-F238E27FC236}">
                <a16:creationId xmlns:a16="http://schemas.microsoft.com/office/drawing/2014/main" id="{D521FFB7-0112-4639-BE42-C4A8EF62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Защита гражданских и политических прав</a:t>
            </a:r>
          </a:p>
        </p:txBody>
      </p:sp>
      <p:sp>
        <p:nvSpPr>
          <p:cNvPr id="9" name="Независимость публичных институтов">
            <a:extLst xmlns:a="http://schemas.openxmlformats.org/drawingml/2006/main">
              <a:ext uri="{FF2B5EF4-FFF2-40B4-BE49-F238E27FC236}">
                <a16:creationId xmlns:a16="http://schemas.microsoft.com/office/drawing/2014/main" id="{686972C8-97C6-4A11-B702-02CFB472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Независимость публичных институтов</a:t>
            </a:r>
          </a:p>
        </p:txBody>
      </p:sp>
      <p:sp>
        <p:nvSpPr>
          <p:cNvPr id="10" name="Каждый признак оценивается самостоятельн">
            <a:extLst xmlns:a="http://schemas.openxmlformats.org/drawingml/2006/main">
              <a:ext uri="{FF2B5EF4-FFF2-40B4-BE49-F238E27FC236}">
                <a16:creationId xmlns:a16="http://schemas.microsoft.com/office/drawing/2014/main" id="{6D47227E-AEC1-46B7-B721-033BDCBD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Каждый признак оценивается самостоятельно. Противоположная позиция не выводится из молчания.</a:t>
            </a:r>
          </a:p>
        </p:txBody>
      </p:sp>
    </p:spTree>
    <p:extLst>
      <p:ext uri="{BB962C8B-B14F-4D97-AF65-F5344CB8AC3E}">
        <p14:creationId xmlns:p14="http://schemas.microsoft.com/office/powerpoint/2010/main" val="4873848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Политические цели: 2">
            <a:extLst xmlns:a="http://schemas.openxmlformats.org/drawingml/2006/main">
              <a:ext uri="{FF2B5EF4-FFF2-40B4-BE49-F238E27FC236}">
                <a16:creationId xmlns:a16="http://schemas.microsoft.com/office/drawing/2014/main" id="{EFD7C79A-BBFE-439C-9D73-015AEE02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Политические цели: 2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83E16854-2657-4646-A248-5CDF1AA1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Передача полномочий на местный уровень">
            <a:extLst xmlns:a="http://schemas.openxmlformats.org/drawingml/2006/main">
              <a:ext uri="{FF2B5EF4-FFF2-40B4-BE49-F238E27FC236}">
                <a16:creationId xmlns:a16="http://schemas.microsoft.com/office/drawing/2014/main" id="{04979A54-3D41-47A2-8143-A43DDAF4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Передача полномочий на местный уровень</a:t>
            </a:r>
          </a:p>
        </p:txBody>
      </p:sp>
      <p:sp>
        <p:nvSpPr>
          <p:cNvPr id="4" name="Сохранение конституционного порядка">
            <a:extLst xmlns:a="http://schemas.openxmlformats.org/drawingml/2006/main">
              <a:ext uri="{FF2B5EF4-FFF2-40B4-BE49-F238E27FC236}">
                <a16:creationId xmlns:a16="http://schemas.microsoft.com/office/drawing/2014/main" id="{A9432EF6-16CB-4C01-9135-47F5AADC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Сохранение конституционного порядка</a:t>
            </a:r>
          </a:p>
        </p:txBody>
      </p:sp>
      <p:sp>
        <p:nvSpPr>
          <p:cNvPr id="5" name="Равенство и недискриминационное включени">
            <a:extLst xmlns:a="http://schemas.openxmlformats.org/drawingml/2006/main">
              <a:ext uri="{FF2B5EF4-FFF2-40B4-BE49-F238E27FC236}">
                <a16:creationId xmlns:a16="http://schemas.microsoft.com/office/drawing/2014/main" id="{1504947F-882B-421B-9296-8F8178DC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Равенство и недискриминационное включение</a:t>
            </a:r>
          </a:p>
        </p:txBody>
      </p:sp>
      <p:sp>
        <p:nvSpPr>
          <p:cNvPr id="6" name="Национальная общность и преодоление раск">
            <a:extLst xmlns:a="http://schemas.openxmlformats.org/drawingml/2006/main">
              <a:ext uri="{FF2B5EF4-FFF2-40B4-BE49-F238E27FC236}">
                <a16:creationId xmlns:a16="http://schemas.microsoft.com/office/drawing/2014/main" id="{F73C074E-D94F-45E1-9B50-CC973AAA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Национальная общность и преодоление расколов</a:t>
            </a:r>
          </a:p>
        </p:txBody>
      </p:sp>
      <p:sp>
        <p:nvSpPr>
          <p:cNvPr id="7" name="Общественное примирение">
            <a:extLst xmlns:a="http://schemas.openxmlformats.org/drawingml/2006/main">
              <a:ext uri="{FF2B5EF4-FFF2-40B4-BE49-F238E27FC236}">
                <a16:creationId xmlns:a16="http://schemas.microsoft.com/office/drawing/2014/main" id="{6B73AAC3-80F5-4123-A293-33617628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Общественное примирение</a:t>
            </a:r>
          </a:p>
        </p:txBody>
      </p:sp>
      <p:sp>
        <p:nvSpPr>
          <p:cNvPr id="8" name="Ответственность за причинённый обществен">
            <a:extLst xmlns:a="http://schemas.openxmlformats.org/drawingml/2006/main">
              <a:ext uri="{FF2B5EF4-FFF2-40B4-BE49-F238E27FC236}">
                <a16:creationId xmlns:a16="http://schemas.microsoft.com/office/drawing/2014/main" id="{F5891ED6-FA05-4AFF-A917-3FB18662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Ответственность за причинённый общественный вред</a:t>
            </a:r>
          </a:p>
        </p:txBody>
      </p:sp>
      <p:sp>
        <p:nvSpPr>
          <p:cNvPr id="9" name="Каждый признак оценивается самостоятельн">
            <a:extLst xmlns:a="http://schemas.openxmlformats.org/drawingml/2006/main">
              <a:ext uri="{FF2B5EF4-FFF2-40B4-BE49-F238E27FC236}">
                <a16:creationId xmlns:a16="http://schemas.microsoft.com/office/drawing/2014/main" id="{A5491EC7-244D-473F-AC56-ECA260DA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Каждый признак оценивается самостоятельно. Противоположная позиция не выводится из молчания.</a:t>
            </a:r>
          </a:p>
        </p:txBody>
      </p:sp>
    </p:spTree>
    <p:extLst>
      <p:ext uri="{BB962C8B-B14F-4D97-AF65-F5344CB8AC3E}">
        <p14:creationId xmlns:p14="http://schemas.microsoft.com/office/powerpoint/2010/main" val="2865789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Способы политического действия: 1">
            <a:extLst xmlns:a="http://schemas.openxmlformats.org/drawingml/2006/main">
              <a:ext uri="{FF2B5EF4-FFF2-40B4-BE49-F238E27FC236}">
                <a16:creationId xmlns:a16="http://schemas.microsoft.com/office/drawing/2014/main" id="{C43AD1E8-B5A2-4AB1-A77B-2EA830AF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Способы политического действия: 1</a:t>
            </a: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D4E4DE34-E01C-4155-BBDA-3DFBDF32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Технологическая модернизация">
            <a:extLst xmlns:a="http://schemas.openxmlformats.org/drawingml/2006/main">
              <a:ext uri="{FF2B5EF4-FFF2-40B4-BE49-F238E27FC236}">
                <a16:creationId xmlns:a16="http://schemas.microsoft.com/office/drawing/2014/main" id="{1B016A87-778D-4658-84B0-12EBB7FE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Технологическая модернизация</a:t>
            </a:r>
          </a:p>
        </p:txBody>
      </p:sp>
      <p:sp>
        <p:nvSpPr>
          <p:cNvPr id="4" name="Опора на проверяемое знание">
            <a:extLst xmlns:a="http://schemas.openxmlformats.org/drawingml/2006/main">
              <a:ext uri="{FF2B5EF4-FFF2-40B4-BE49-F238E27FC236}">
                <a16:creationId xmlns:a16="http://schemas.microsoft.com/office/drawing/2014/main" id="{E1667183-8F10-4070-9BA4-3E152A5C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Опора на проверяемое знание</a:t>
            </a:r>
          </a:p>
        </p:txBody>
      </p:sp>
      <p:sp>
        <p:nvSpPr>
          <p:cNvPr id="5" name="Привлечение частных ресурсов к публичным">
            <a:extLst xmlns:a="http://schemas.openxmlformats.org/drawingml/2006/main">
              <a:ext uri="{FF2B5EF4-FFF2-40B4-BE49-F238E27FC236}">
                <a16:creationId xmlns:a16="http://schemas.microsoft.com/office/drawing/2014/main" id="{8C6E3F43-50EA-4C4D-AFCC-C8688BDE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Привлечение частных ресурсов к публичным задачам</a:t>
            </a:r>
          </a:p>
        </p:txBody>
      </p:sp>
      <p:sp>
        <p:nvSpPr>
          <p:cNvPr id="6" name="Адресные финансовые инструменты">
            <a:extLst xmlns:a="http://schemas.openxmlformats.org/drawingml/2006/main">
              <a:ext uri="{FF2B5EF4-FFF2-40B4-BE49-F238E27FC236}">
                <a16:creationId xmlns:a16="http://schemas.microsoft.com/office/drawing/2014/main" id="{E35727D1-62F5-442D-894A-C29EF6CD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Адресные финансовые инструменты</a:t>
            </a:r>
          </a:p>
        </p:txBody>
      </p:sp>
      <p:sp>
        <p:nvSpPr>
          <p:cNvPr id="7" name="Предупреждение рисков и подготовка">
            <a:extLst xmlns:a="http://schemas.openxmlformats.org/drawingml/2006/main">
              <a:ext uri="{FF2B5EF4-FFF2-40B4-BE49-F238E27FC236}">
                <a16:creationId xmlns:a16="http://schemas.microsoft.com/office/drawing/2014/main" id="{BB9588D3-8E4E-4ED6-80B2-212F6888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Предупреждение рисков и подготовка</a:t>
            </a:r>
          </a:p>
        </p:txBody>
      </p:sp>
      <p:sp>
        <p:nvSpPr>
          <p:cNvPr id="8" name="Правовое оспаривание и разрешение споров">
            <a:extLst xmlns:a="http://schemas.openxmlformats.org/drawingml/2006/main">
              <a:ext uri="{FF2B5EF4-FFF2-40B4-BE49-F238E27FC236}">
                <a16:creationId xmlns:a16="http://schemas.microsoft.com/office/drawing/2014/main" id="{ED3358D1-3C09-43C0-A2C5-05E269E9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Правовое оспаривание и разрешение споров</a:t>
            </a:r>
          </a:p>
        </p:txBody>
      </p:sp>
      <p:sp>
        <p:nvSpPr>
          <p:cNvPr id="9" name="Ненасильственное политическое действие">
            <a:extLst xmlns:a="http://schemas.openxmlformats.org/drawingml/2006/main">
              <a:ext uri="{FF2B5EF4-FFF2-40B4-BE49-F238E27FC236}">
                <a16:creationId xmlns:a16="http://schemas.microsoft.com/office/drawing/2014/main" id="{53AAD7B3-0718-4F0B-B120-91780FFC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Ненасильственное политическое действие</a:t>
            </a:r>
          </a:p>
        </p:txBody>
      </p:sp>
      <p:sp>
        <p:nvSpPr>
          <p:cNvPr id="10" name="Каждый признак оценивается самостоятельн">
            <a:extLst xmlns:a="http://schemas.openxmlformats.org/drawingml/2006/main">
              <a:ext uri="{FF2B5EF4-FFF2-40B4-BE49-F238E27FC236}">
                <a16:creationId xmlns:a16="http://schemas.microsoft.com/office/drawing/2014/main" id="{58D4A9E6-ACE9-4A1E-879F-F4E9B442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Каждый признак оценивается самостоятельно. Противоположная позиция не выводится из молчания.</a:t>
            </a:r>
          </a:p>
        </p:txBody>
      </p:sp>
    </p:spTree>
    <p:extLst>
      <p:ext uri="{BB962C8B-B14F-4D97-AF65-F5344CB8AC3E}">
        <p14:creationId xmlns:p14="http://schemas.microsoft.com/office/powerpoint/2010/main" val="16335231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пособы политического действия: 2">
            <a:extLst xmlns:a="http://schemas.openxmlformats.org/drawingml/2006/main">
              <a:ext uri="{FF2B5EF4-FFF2-40B4-BE49-F238E27FC236}">
                <a16:creationId xmlns:a16="http://schemas.microsoft.com/office/drawing/2014/main" id="{F527143B-7A3B-45B5-949E-A1850EC3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Способы политического действия: 2</a:t>
            </a:r>
          </a:p>
        </p:txBody>
      </p:sp>
      <p:sp>
        <p:nvSpPr>
          <p:cNvPr id="2" name="19">
            <a:extLst xmlns:a="http://schemas.openxmlformats.org/drawingml/2006/main">
              <a:ext uri="{FF2B5EF4-FFF2-40B4-BE49-F238E27FC236}">
                <a16:creationId xmlns:a16="http://schemas.microsoft.com/office/drawing/2014/main" id="{1B34BC60-95B2-4CC4-B06B-5BD4E72D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Получение власти через выборы">
            <a:extLst xmlns:a="http://schemas.openxmlformats.org/drawingml/2006/main">
              <a:ext uri="{FF2B5EF4-FFF2-40B4-BE49-F238E27FC236}">
                <a16:creationId xmlns:a16="http://schemas.microsoft.com/office/drawing/2014/main" id="{E5A5DA80-1E51-4D68-BE5E-E1E0F043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Получение власти через выборы</a:t>
            </a:r>
          </a:p>
        </p:txBody>
      </p:sp>
      <p:sp>
        <p:nvSpPr>
          <p:cNvPr id="4" name="Переговоры и посредничество">
            <a:extLst xmlns:a="http://schemas.openxmlformats.org/drawingml/2006/main">
              <a:ext uri="{FF2B5EF4-FFF2-40B4-BE49-F238E27FC236}">
                <a16:creationId xmlns:a16="http://schemas.microsoft.com/office/drawing/2014/main" id="{6DC95662-DAAD-4081-8F35-C7512D56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Переговоры и посредничество</a:t>
            </a:r>
          </a:p>
        </p:txBody>
      </p:sp>
      <p:sp>
        <p:nvSpPr>
          <p:cNvPr id="5" name="Международная и региональная кооперация">
            <a:extLst xmlns:a="http://schemas.openxmlformats.org/drawingml/2006/main">
              <a:ext uri="{FF2B5EF4-FFF2-40B4-BE49-F238E27FC236}">
                <a16:creationId xmlns:a16="http://schemas.microsoft.com/office/drawing/2014/main" id="{AE5CEBB6-9261-49FD-A942-82163D36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Международная и региональная кооперация</a:t>
            </a:r>
          </a:p>
        </p:txBody>
      </p:sp>
      <p:sp>
        <p:nvSpPr>
          <p:cNvPr id="6" name="Совместное представительное определение ">
            <a:extLst xmlns:a="http://schemas.openxmlformats.org/drawingml/2006/main">
              <a:ext uri="{FF2B5EF4-FFF2-40B4-BE49-F238E27FC236}">
                <a16:creationId xmlns:a16="http://schemas.microsoft.com/office/drawing/2014/main" id="{F6B6C812-CB3A-40F8-AF71-3C8EF39A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Совместное представительное определение международных правил</a:t>
            </a:r>
          </a:p>
        </p:txBody>
      </p:sp>
      <p:sp>
        <p:nvSpPr>
          <p:cNvPr id="7" name="Этические требования к публичной службе">
            <a:extLst xmlns:a="http://schemas.openxmlformats.org/drawingml/2006/main">
              <a:ext uri="{FF2B5EF4-FFF2-40B4-BE49-F238E27FC236}">
                <a16:creationId xmlns:a16="http://schemas.microsoft.com/office/drawing/2014/main" id="{BA8CDEF2-1977-4268-91D5-A7D20149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Этические требования к публичной службе</a:t>
            </a:r>
          </a:p>
        </p:txBody>
      </p:sp>
      <p:sp>
        <p:nvSpPr>
          <p:cNvPr id="8" name="Пересмотр устройства международных инсти">
            <a:extLst xmlns:a="http://schemas.openxmlformats.org/drawingml/2006/main">
              <a:ext uri="{FF2B5EF4-FFF2-40B4-BE49-F238E27FC236}">
                <a16:creationId xmlns:a16="http://schemas.microsoft.com/office/drawing/2014/main" id="{9E6A97AE-1589-48E6-B0AA-57A7D8FE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Пересмотр устройства международных институтов</a:t>
            </a:r>
          </a:p>
        </p:txBody>
      </p:sp>
      <p:sp>
        <p:nvSpPr>
          <p:cNvPr id="9" name="Каждый признак оценивается самостоятельн">
            <a:extLst xmlns:a="http://schemas.openxmlformats.org/drawingml/2006/main">
              <a:ext uri="{FF2B5EF4-FFF2-40B4-BE49-F238E27FC236}">
                <a16:creationId xmlns:a16="http://schemas.microsoft.com/office/drawing/2014/main" id="{702B74CF-4E33-421F-A6DD-B179F76E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Каждый признак оценивается самостоятельно. Противоположная позиция не выводится из молчания.</a:t>
            </a:r>
          </a:p>
        </p:txBody>
      </p:sp>
    </p:spTree>
    <p:extLst>
      <p:ext uri="{BB962C8B-B14F-4D97-AF65-F5344CB8AC3E}">
        <p14:creationId xmlns:p14="http://schemas.microsoft.com/office/powerpoint/2010/main" val="12694751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Отношение к России: 1">
            <a:extLst xmlns:a="http://schemas.openxmlformats.org/drawingml/2006/main">
              <a:ext uri="{FF2B5EF4-FFF2-40B4-BE49-F238E27FC236}">
                <a16:creationId xmlns:a16="http://schemas.microsoft.com/office/drawing/2014/main" id="{D37EB0A7-5694-4202-B322-D15DFDA9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Отношение к России: 1</a:t>
            </a:r>
          </a:p>
        </p:txBody>
      </p:sp>
      <p:sp>
        <p:nvSpPr>
          <p:cNvPr id="2" name="20">
            <a:extLst xmlns:a="http://schemas.openxmlformats.org/drawingml/2006/main">
              <a:ext uri="{FF2B5EF4-FFF2-40B4-BE49-F238E27FC236}">
                <a16:creationId xmlns:a16="http://schemas.microsoft.com/office/drawing/2014/main" id="{E8EC456F-D5C4-46C1-ABBC-03C5DA2E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Расширение дипломатического сотрудничест">
            <a:extLst xmlns:a="http://schemas.openxmlformats.org/drawingml/2006/main">
              <a:ext uri="{FF2B5EF4-FFF2-40B4-BE49-F238E27FC236}">
                <a16:creationId xmlns:a16="http://schemas.microsoft.com/office/drawing/2014/main" id="{8D931195-2D10-4470-9CE2-9424C087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Расширение дипломатического сотрудничества с Россией</a:t>
            </a:r>
          </a:p>
        </p:txBody>
      </p:sp>
      <p:sp>
        <p:nvSpPr>
          <p:cNvPr id="4" name="Дипломатическое дистанцирование от Росси">
            <a:extLst xmlns:a="http://schemas.openxmlformats.org/drawingml/2006/main">
              <a:ext uri="{FF2B5EF4-FFF2-40B4-BE49-F238E27FC236}">
                <a16:creationId xmlns:a16="http://schemas.microsoft.com/office/drawing/2014/main" id="{D25DAC27-D906-4B38-9380-22A80E83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Дипломатическое дистанцирование от России</a:t>
            </a:r>
          </a:p>
        </p:txBody>
      </p:sp>
      <p:sp>
        <p:nvSpPr>
          <p:cNvPr id="5" name="Развитие военно-технического сотрудничес">
            <a:extLst xmlns:a="http://schemas.openxmlformats.org/drawingml/2006/main">
              <a:ext uri="{FF2B5EF4-FFF2-40B4-BE49-F238E27FC236}">
                <a16:creationId xmlns:a16="http://schemas.microsoft.com/office/drawing/2014/main" id="{99C89B0D-A84C-4E4E-8C83-CB5F0D1C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Развитие военно-технического сотрудничества с Россией</a:t>
            </a:r>
          </a:p>
        </p:txBody>
      </p:sp>
      <p:sp>
        <p:nvSpPr>
          <p:cNvPr id="6" name="Ограничение военно-технического сотрудни">
            <a:extLst xmlns:a="http://schemas.openxmlformats.org/drawingml/2006/main">
              <a:ext uri="{FF2B5EF4-FFF2-40B4-BE49-F238E27FC236}">
                <a16:creationId xmlns:a16="http://schemas.microsoft.com/office/drawing/2014/main" id="{476F8C52-150A-4443-90A0-1DCFEDAE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Ограничение военно-технического сотрудничества с Россией</a:t>
            </a:r>
          </a:p>
        </p:txBody>
      </p:sp>
      <p:sp>
        <p:nvSpPr>
          <p:cNvPr id="7" name="Развитие экономических и технологических">
            <a:extLst xmlns:a="http://schemas.openxmlformats.org/drawingml/2006/main">
              <a:ext uri="{FF2B5EF4-FFF2-40B4-BE49-F238E27FC236}">
                <a16:creationId xmlns:a16="http://schemas.microsoft.com/office/drawing/2014/main" id="{F4EC355E-5DEB-4DBC-9A80-CD7B0886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Развитие экономических и технологических проектов с Россией</a:t>
            </a:r>
          </a:p>
        </p:txBody>
      </p:sp>
      <p:sp>
        <p:nvSpPr>
          <p:cNvPr id="8" name="Ограничение экономических и технологичес">
            <a:extLst xmlns:a="http://schemas.openxmlformats.org/drawingml/2006/main">
              <a:ext uri="{FF2B5EF4-FFF2-40B4-BE49-F238E27FC236}">
                <a16:creationId xmlns:a16="http://schemas.microsoft.com/office/drawing/2014/main" id="{C23A5369-F790-4BDF-A223-EC7F5917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Ограничение экономических и технологических проектов с Россией</a:t>
            </a:r>
          </a:p>
        </p:txBody>
      </p:sp>
      <p:sp>
        <p:nvSpPr>
          <p:cNvPr id="9" name="Каждый признак оценивается самостоятельн">
            <a:extLst xmlns:a="http://schemas.openxmlformats.org/drawingml/2006/main">
              <a:ext uri="{FF2B5EF4-FFF2-40B4-BE49-F238E27FC236}">
                <a16:creationId xmlns:a16="http://schemas.microsoft.com/office/drawing/2014/main" id="{C0D90C6B-9176-41F4-B99E-32E08099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Каждый признак оценивается самостоятельно. Противоположная позиция не выводится из молчания.</a:t>
            </a:r>
          </a:p>
        </p:txBody>
      </p:sp>
    </p:spTree>
    <p:extLst>
      <p:ext uri="{BB962C8B-B14F-4D97-AF65-F5344CB8AC3E}">
        <p14:creationId xmlns:p14="http://schemas.microsoft.com/office/powerpoint/2010/main" val="1330862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Отношение к России: 2">
            <a:extLst xmlns:a="http://schemas.openxmlformats.org/drawingml/2006/main">
              <a:ext uri="{FF2B5EF4-FFF2-40B4-BE49-F238E27FC236}">
                <a16:creationId xmlns:a16="http://schemas.microsoft.com/office/drawing/2014/main" id="{03638928-6061-4873-90E8-CCFE4B0F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Отношение к России: 2</a:t>
            </a:r>
          </a:p>
        </p:txBody>
      </p:sp>
      <p:sp>
        <p:nvSpPr>
          <p:cNvPr id="2" name="21">
            <a:extLst xmlns:a="http://schemas.openxmlformats.org/drawingml/2006/main">
              <a:ext uri="{FF2B5EF4-FFF2-40B4-BE49-F238E27FC236}">
                <a16:creationId xmlns:a16="http://schemas.microsoft.com/office/drawing/2014/main" id="{05346809-9BFD-463E-B047-338EE78D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Расширение образовательных и культурных ">
            <a:extLst xmlns:a="http://schemas.openxmlformats.org/drawingml/2006/main">
              <a:ext uri="{FF2B5EF4-FFF2-40B4-BE49-F238E27FC236}">
                <a16:creationId xmlns:a16="http://schemas.microsoft.com/office/drawing/2014/main" id="{43973C55-6044-41A8-AABE-097662BE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Расширение образовательных и культурных обменов с Россией</a:t>
            </a:r>
          </a:p>
        </p:txBody>
      </p:sp>
      <p:sp>
        <p:nvSpPr>
          <p:cNvPr id="4" name="Ограничение образовательных и культурных">
            <a:extLst xmlns:a="http://schemas.openxmlformats.org/drawingml/2006/main">
              <a:ext uri="{FF2B5EF4-FFF2-40B4-BE49-F238E27FC236}">
                <a16:creationId xmlns:a16="http://schemas.microsoft.com/office/drawing/2014/main" id="{54A185D2-38D7-4E4F-8827-5223BA77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Ограничение образовательных и культурных обменов с Россией</a:t>
            </a:r>
          </a:p>
        </p:txBody>
      </p:sp>
      <p:sp>
        <p:nvSpPr>
          <p:cNvPr id="5" name="Публичное оправдание конкретных внешнепо">
            <a:extLst xmlns:a="http://schemas.openxmlformats.org/drawingml/2006/main">
              <a:ext uri="{FF2B5EF4-FFF2-40B4-BE49-F238E27FC236}">
                <a16:creationId xmlns:a16="http://schemas.microsoft.com/office/drawing/2014/main" id="{082DB18C-71AB-4332-9C0F-D253C371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Публичное оправдание конкретных внешнеполитических действий России</a:t>
            </a:r>
          </a:p>
        </p:txBody>
      </p:sp>
      <p:sp>
        <p:nvSpPr>
          <p:cNvPr id="6" name="Публичная критика конкретных внешнеполит">
            <a:extLst xmlns:a="http://schemas.openxmlformats.org/drawingml/2006/main">
              <a:ext uri="{FF2B5EF4-FFF2-40B4-BE49-F238E27FC236}">
                <a16:creationId xmlns:a16="http://schemas.microsoft.com/office/drawing/2014/main" id="{9A285AA7-11AB-451D-941F-F4ED0126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Публичная критика конкретных внешнеполитических действий России</a:t>
            </a:r>
          </a:p>
        </p:txBody>
      </p:sp>
      <p:sp>
        <p:nvSpPr>
          <p:cNvPr id="7" name="Противодействие санкциям и изоляции Росс">
            <a:extLst xmlns:a="http://schemas.openxmlformats.org/drawingml/2006/main">
              <a:ext uri="{FF2B5EF4-FFF2-40B4-BE49-F238E27FC236}">
                <a16:creationId xmlns:a16="http://schemas.microsoft.com/office/drawing/2014/main" id="{B223949A-A847-4FC8-BCD4-464F614F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Противодействие санкциям и изоляции России</a:t>
            </a:r>
          </a:p>
        </p:txBody>
      </p:sp>
      <p:sp>
        <p:nvSpPr>
          <p:cNvPr id="8" name="Поддержка санкций и изоляции России">
            <a:extLst xmlns:a="http://schemas.openxmlformats.org/drawingml/2006/main">
              <a:ext uri="{FF2B5EF4-FFF2-40B4-BE49-F238E27FC236}">
                <a16:creationId xmlns:a16="http://schemas.microsoft.com/office/drawing/2014/main" id="{01B33CFC-79C2-49A0-8A0F-54A4DC4B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Поддержка санкций и изоляции России</a:t>
            </a:r>
          </a:p>
        </p:txBody>
      </p:sp>
      <p:sp>
        <p:nvSpPr>
          <p:cNvPr id="9" name="Каждый признак оценивается самостоятельн">
            <a:extLst xmlns:a="http://schemas.openxmlformats.org/drawingml/2006/main">
              <a:ext uri="{FF2B5EF4-FFF2-40B4-BE49-F238E27FC236}">
                <a16:creationId xmlns:a16="http://schemas.microsoft.com/office/drawing/2014/main" id="{7A93CD16-8952-40EE-859A-B72A89C1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Каждый признак оценивается самостоятельно. Противоположная позиция не выводится из молчания.</a:t>
            </a:r>
          </a:p>
        </p:txBody>
      </p:sp>
    </p:spTree>
    <p:extLst>
      <p:ext uri="{BB962C8B-B14F-4D97-AF65-F5344CB8AC3E}">
        <p14:creationId xmlns:p14="http://schemas.microsoft.com/office/powerpoint/2010/main" val="13370739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Участники исследования: 1 из 14">
            <a:extLst xmlns:a="http://schemas.openxmlformats.org/drawingml/2006/main">
              <a:ext uri="{FF2B5EF4-FFF2-40B4-BE49-F238E27FC236}">
                <a16:creationId xmlns:a16="http://schemas.microsoft.com/office/drawing/2014/main" id="{EFE2D6DA-7F3E-4B43-86DB-577920C5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Участники исследования: 1 из 14</a:t>
            </a:r>
          </a:p>
        </p:txBody>
      </p:sp>
      <p:sp>
        <p:nvSpPr>
          <p:cNvPr id="2" name="22">
            <a:extLst xmlns:a="http://schemas.openxmlformats.org/drawingml/2006/main">
              <a:ext uri="{FF2B5EF4-FFF2-40B4-BE49-F238E27FC236}">
                <a16:creationId xmlns:a16="http://schemas.microsoft.com/office/drawing/2014/main" id="{C5399328-7295-4832-A9A1-1C9EA6A1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Поль Кагаме">
            <a:extLst xmlns:a="http://schemas.openxmlformats.org/drawingml/2006/main">
              <a:ext uri="{FF2B5EF4-FFF2-40B4-BE49-F238E27FC236}">
                <a16:creationId xmlns:a16="http://schemas.microsoft.com/office/drawing/2014/main" id="{ECA6D900-A2B9-4C4F-9F48-F441801F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Поль Кагаме</a:t>
            </a:r>
          </a:p>
        </p:txBody>
      </p:sp>
      <p:sp>
        <p:nvSpPr>
          <p:cNvPr id="4" name="Президент Руанды; участник президентских">
            <a:extLst xmlns:a="http://schemas.openxmlformats.org/drawingml/2006/main">
              <a:ext uri="{FF2B5EF4-FFF2-40B4-BE49-F238E27FC236}">
                <a16:creationId xmlns:a16="http://schemas.microsoft.com/office/drawing/2014/main" id="{529CA863-39D3-4AFF-A44F-659217F2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Президент Руанды; участник президентских выборов 2024 года</a:t>
            </a:r>
          </a:p>
        </p:txBody>
      </p:sp>
      <p:sp>
        <p:nvSpPr>
          <p:cNvPr id="5" name="В основной датированной матрице: 1 из 38">
            <a:extLst xmlns:a="http://schemas.openxmlformats.org/drawingml/2006/main">
              <a:ext uri="{FF2B5EF4-FFF2-40B4-BE49-F238E27FC236}">
                <a16:creationId xmlns:a16="http://schemas.microsoft.com/office/drawing/2014/main" id="{240CC5DC-C988-41BD-9844-744361F3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1 из 38 признаков</a:t>
            </a:r>
          </a:p>
        </p:txBody>
      </p:sp>
      <p:sp>
        <p:nvSpPr>
          <p:cNvPr id="6" name="Эдуар Нгиренте">
            <a:extLst xmlns:a="http://schemas.openxmlformats.org/drawingml/2006/main">
              <a:ext uri="{FF2B5EF4-FFF2-40B4-BE49-F238E27FC236}">
                <a16:creationId xmlns:a16="http://schemas.microsoft.com/office/drawing/2014/main" id="{966A9CC3-29B6-43B1-A3F7-4B6AD6C7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Эдуар Нгиренте</a:t>
            </a:r>
          </a:p>
        </p:txBody>
      </p:sp>
      <p:sp>
        <p:nvSpPr>
          <p:cNvPr id="7" name="Премьер-министр в первой части исследуем">
            <a:extLst xmlns:a="http://schemas.openxmlformats.org/drawingml/2006/main">
              <a:ext uri="{FF2B5EF4-FFF2-40B4-BE49-F238E27FC236}">
                <a16:creationId xmlns:a16="http://schemas.microsoft.com/office/drawing/2014/main" id="{F36CB439-863D-4B3D-89CE-FA73A427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Премьер-министр в первой части исследуемого периода</a:t>
            </a:r>
          </a:p>
        </p:txBody>
      </p:sp>
      <p:sp>
        <p:nvSpPr>
          <p:cNvPr id="8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0763542A-E6B3-40EF-B3C3-01A88F16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9" name="Жюстен Нсенгийюмва">
            <a:extLst xmlns:a="http://schemas.openxmlformats.org/drawingml/2006/main">
              <a:ext uri="{FF2B5EF4-FFF2-40B4-BE49-F238E27FC236}">
                <a16:creationId xmlns:a16="http://schemas.microsoft.com/office/drawing/2014/main" id="{AC9BDE23-409E-4435-8C6F-78B4BAE8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Жюстен Нсенгийюмва</a:t>
            </a:r>
          </a:p>
        </p:txBody>
      </p:sp>
      <p:sp>
        <p:nvSpPr>
          <p:cNvPr id="10" name="Назначен премьер-министром в июле 2025 г">
            <a:extLst xmlns:a="http://schemas.openxmlformats.org/drawingml/2006/main">
              <a:ext uri="{FF2B5EF4-FFF2-40B4-BE49-F238E27FC236}">
                <a16:creationId xmlns:a16="http://schemas.microsoft.com/office/drawing/2014/main" id="{401A3A98-78B2-40A2-B57B-DAF01541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Назначен премьер-министром в июле 2025 года</a:t>
            </a:r>
          </a:p>
        </p:txBody>
      </p:sp>
      <p:sp>
        <p:nvSpPr>
          <p:cNvPr id="11" name="В основной датированной матрице: 3 из 38">
            <a:extLst xmlns:a="http://schemas.openxmlformats.org/drawingml/2006/main">
              <a:ext uri="{FF2B5EF4-FFF2-40B4-BE49-F238E27FC236}">
                <a16:creationId xmlns:a16="http://schemas.microsoft.com/office/drawing/2014/main" id="{AFF11F69-1B78-4C78-8AD3-859BD849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3 из 38 признаков</a:t>
            </a:r>
          </a:p>
        </p:txBody>
      </p:sp>
      <p:sp>
        <p:nvSpPr>
          <p:cNvPr id="12" name="Должности приведены в контексте исследуе">
            <a:extLst xmlns:a="http://schemas.openxmlformats.org/drawingml/2006/main">
              <a:ext uri="{FF2B5EF4-FFF2-40B4-BE49-F238E27FC236}">
                <a16:creationId xmlns:a16="http://schemas.microsoft.com/office/drawing/2014/main" id="{685F344A-8454-4032-897A-9930631A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приведены в контексте исследуемого периода.</a:t>
            </a:r>
          </a:p>
        </p:txBody>
      </p:sp>
    </p:spTree>
    <p:extLst>
      <p:ext uri="{BB962C8B-B14F-4D97-AF65-F5344CB8AC3E}">
        <p14:creationId xmlns:p14="http://schemas.microsoft.com/office/powerpoint/2010/main" val="7727029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Участники исследования: 2 из 14">
            <a:extLst xmlns:a="http://schemas.openxmlformats.org/drawingml/2006/main">
              <a:ext uri="{FF2B5EF4-FFF2-40B4-BE49-F238E27FC236}">
                <a16:creationId xmlns:a16="http://schemas.microsoft.com/office/drawing/2014/main" id="{7169443E-217F-487C-9422-0B45BCA6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Участники исследования: 2 из 14</a:t>
            </a:r>
          </a:p>
        </p:txBody>
      </p:sp>
      <p:sp>
        <p:nvSpPr>
          <p:cNvPr id="2" name="23">
            <a:extLst xmlns:a="http://schemas.openxmlformats.org/drawingml/2006/main">
              <a:ext uri="{FF2B5EF4-FFF2-40B4-BE49-F238E27FC236}">
                <a16:creationId xmlns:a16="http://schemas.microsoft.com/office/drawing/2014/main" id="{49260CA1-8C90-43DF-9893-1E4B98CD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Венсан Бирута">
            <a:extLst xmlns:a="http://schemas.openxmlformats.org/drawingml/2006/main">
              <a:ext uri="{FF2B5EF4-FFF2-40B4-BE49-F238E27FC236}">
                <a16:creationId xmlns:a16="http://schemas.microsoft.com/office/drawing/2014/main" id="{14949584-9678-4F04-9000-C4917415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Венсан Бирута</a:t>
            </a:r>
          </a:p>
        </p:txBody>
      </p:sp>
      <p:sp>
        <p:nvSpPr>
          <p:cNvPr id="4" name="Министр иностранных дел в апреле 2024 го">
            <a:extLst xmlns:a="http://schemas.openxmlformats.org/drawingml/2006/main">
              <a:ext uri="{FF2B5EF4-FFF2-40B4-BE49-F238E27FC236}">
                <a16:creationId xmlns:a16="http://schemas.microsoft.com/office/drawing/2014/main" id="{B3B38F9B-196F-434A-841F-36A4F0C9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Министр иностранных дел в апреле 2024 года; назначен министром внутренних дел в августе 2024 года</a:t>
            </a:r>
          </a:p>
        </p:txBody>
      </p:sp>
      <p:sp>
        <p:nvSpPr>
          <p:cNvPr id="5" name="В основной датированной матрице: 1 из 38">
            <a:extLst xmlns:a="http://schemas.openxmlformats.org/drawingml/2006/main">
              <a:ext uri="{FF2B5EF4-FFF2-40B4-BE49-F238E27FC236}">
                <a16:creationId xmlns:a16="http://schemas.microsoft.com/office/drawing/2014/main" id="{168E2B00-F9E0-41BB-88B0-CA9338E0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1 из 38 признаков</a:t>
            </a:r>
          </a:p>
        </p:txBody>
      </p:sp>
      <p:sp>
        <p:nvSpPr>
          <p:cNvPr id="6" name="Оливье Ндухунгирехе">
            <a:extLst xmlns:a="http://schemas.openxmlformats.org/drawingml/2006/main">
              <a:ext uri="{FF2B5EF4-FFF2-40B4-BE49-F238E27FC236}">
                <a16:creationId xmlns:a16="http://schemas.microsoft.com/office/drawing/2014/main" id="{192E3BF2-CD4B-4C7E-BBE5-E7C02D5C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Оливье Ндухунгирехе</a:t>
            </a:r>
          </a:p>
        </p:txBody>
      </p:sp>
      <p:sp>
        <p:nvSpPr>
          <p:cNvPr id="7" name="Министр иностранных дел и международного">
            <a:extLst xmlns:a="http://schemas.openxmlformats.org/drawingml/2006/main">
              <a:ext uri="{FF2B5EF4-FFF2-40B4-BE49-F238E27FC236}">
                <a16:creationId xmlns:a16="http://schemas.microsoft.com/office/drawing/2014/main" id="{F14EC965-E007-4DF1-A458-AD6CE86A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Министр иностранных дел и международного сотрудничества в правительстве августа 2024 года</a:t>
            </a:r>
          </a:p>
        </p:txBody>
      </p:sp>
      <p:sp>
        <p:nvSpPr>
          <p:cNvPr id="8" name="В основной датированной матрице: 4 из 38">
            <a:extLst xmlns:a="http://schemas.openxmlformats.org/drawingml/2006/main">
              <a:ext uri="{FF2B5EF4-FFF2-40B4-BE49-F238E27FC236}">
                <a16:creationId xmlns:a16="http://schemas.microsoft.com/office/drawing/2014/main" id="{F777797B-2F1A-482B-BCF5-2C7557E7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4 из 38 признаков</a:t>
            </a:r>
          </a:p>
        </p:txBody>
      </p:sp>
      <p:sp>
        <p:nvSpPr>
          <p:cNvPr id="9" name="Джеймс Кабаребе">
            <a:extLst xmlns:a="http://schemas.openxmlformats.org/drawingml/2006/main">
              <a:ext uri="{FF2B5EF4-FFF2-40B4-BE49-F238E27FC236}">
                <a16:creationId xmlns:a16="http://schemas.microsoft.com/office/drawing/2014/main" id="{7AC1295C-FB32-4EEA-B020-AA62C14C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Джеймс Кабаребе</a:t>
            </a:r>
          </a:p>
        </p:txBody>
      </p:sp>
      <p:sp>
        <p:nvSpPr>
          <p:cNvPr id="10" name="Государственный министр по региональному">
            <a:extLst xmlns:a="http://schemas.openxmlformats.org/drawingml/2006/main">
              <a:ext uri="{FF2B5EF4-FFF2-40B4-BE49-F238E27FC236}">
                <a16:creationId xmlns:a16="http://schemas.microsoft.com/office/drawing/2014/main" id="{A063B23D-6237-484A-BAF8-CCCB8C40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Государственный министр по региональному сотрудничеству, вступивший в должность в 2023 году</a:t>
            </a:r>
          </a:p>
        </p:txBody>
      </p:sp>
      <p:sp>
        <p:nvSpPr>
          <p:cNvPr id="11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E57813EB-6CBE-48AF-ACBF-8FB36E90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12" name="Должности приведены в контексте исследуе">
            <a:extLst xmlns:a="http://schemas.openxmlformats.org/drawingml/2006/main">
              <a:ext uri="{FF2B5EF4-FFF2-40B4-BE49-F238E27FC236}">
                <a16:creationId xmlns:a16="http://schemas.microsoft.com/office/drawing/2014/main" id="{8DDF7E62-B85F-4C56-BE3F-56DFBD84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приведены в контексте исследуемого периода.</a:t>
            </a:r>
          </a:p>
        </p:txBody>
      </p:sp>
    </p:spTree>
    <p:extLst>
      <p:ext uri="{BB962C8B-B14F-4D97-AF65-F5344CB8AC3E}">
        <p14:creationId xmlns:p14="http://schemas.microsoft.com/office/powerpoint/2010/main" val="108845549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Участники исследования: 3 из 14">
            <a:extLst xmlns:a="http://schemas.openxmlformats.org/drawingml/2006/main">
              <a:ext uri="{FF2B5EF4-FFF2-40B4-BE49-F238E27FC236}">
                <a16:creationId xmlns:a16="http://schemas.microsoft.com/office/drawing/2014/main" id="{D60948F0-635F-49BF-9411-19C01D8A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Участники исследования: 3 из 14</a:t>
            </a:r>
          </a:p>
        </p:txBody>
      </p:sp>
      <p:sp>
        <p:nvSpPr>
          <p:cNvPr id="2" name="24">
            <a:extLst xmlns:a="http://schemas.openxmlformats.org/drawingml/2006/main">
              <a:ext uri="{FF2B5EF4-FFF2-40B4-BE49-F238E27FC236}">
                <a16:creationId xmlns:a16="http://schemas.microsoft.com/office/drawing/2014/main" id="{11661EED-8C1C-4143-B35A-8B9DB30E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Жювеналь Маризамунда">
            <a:extLst xmlns:a="http://schemas.openxmlformats.org/drawingml/2006/main">
              <a:ext uri="{FF2B5EF4-FFF2-40B4-BE49-F238E27FC236}">
                <a16:creationId xmlns:a16="http://schemas.microsoft.com/office/drawing/2014/main" id="{53353F11-3ABC-4D19-8332-B049C77A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Жювеналь Маризамунда</a:t>
            </a:r>
          </a:p>
        </p:txBody>
      </p:sp>
      <p:sp>
        <p:nvSpPr>
          <p:cNvPr id="4" name="Министр обороны, принявший полномочия в ">
            <a:extLst xmlns:a="http://schemas.openxmlformats.org/drawingml/2006/main">
              <a:ext uri="{FF2B5EF4-FFF2-40B4-BE49-F238E27FC236}">
                <a16:creationId xmlns:a16="http://schemas.microsoft.com/office/drawing/2014/main" id="{99AECB88-2116-4C0A-A7C4-C6D5B08C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Министр обороны, принявший полномочия в июне 2023 года</a:t>
            </a:r>
          </a:p>
        </p:txBody>
      </p:sp>
      <p:sp>
        <p:nvSpPr>
          <p:cNvPr id="5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7401E5CD-55E3-4F37-871D-4728D665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6" name="Альбер Мурасира">
            <a:extLst xmlns:a="http://schemas.openxmlformats.org/drawingml/2006/main">
              <a:ext uri="{FF2B5EF4-FFF2-40B4-BE49-F238E27FC236}">
                <a16:creationId xmlns:a16="http://schemas.microsoft.com/office/drawing/2014/main" id="{CDA94581-C98E-4498-925B-4B2CF1D3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Альбер Мурасира</a:t>
            </a:r>
          </a:p>
        </p:txBody>
      </p:sp>
      <p:sp>
        <p:nvSpPr>
          <p:cNvPr id="7" name="Министр по чрезвычайным ситуациям в прав">
            <a:extLst xmlns:a="http://schemas.openxmlformats.org/drawingml/2006/main">
              <a:ext uri="{FF2B5EF4-FFF2-40B4-BE49-F238E27FC236}">
                <a16:creationId xmlns:a16="http://schemas.microsoft.com/office/drawing/2014/main" id="{6024881B-4645-4B34-A305-9B58C489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Министр по чрезвычайным ситуациям в правительстве августа 2024 года</a:t>
            </a:r>
          </a:p>
        </p:txBody>
      </p:sp>
      <p:sp>
        <p:nvSpPr>
          <p:cNvPr id="8" name="В основной датированной матрице: 2 из 38">
            <a:extLst xmlns:a="http://schemas.openxmlformats.org/drawingml/2006/main">
              <a:ext uri="{FF2B5EF4-FFF2-40B4-BE49-F238E27FC236}">
                <a16:creationId xmlns:a16="http://schemas.microsoft.com/office/drawing/2014/main" id="{86B0CBF5-CBDB-4B03-8736-26C6417C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2 из 38 признаков</a:t>
            </a:r>
          </a:p>
        </p:txBody>
      </p:sp>
      <p:sp>
        <p:nvSpPr>
          <p:cNvPr id="9" name="Эмманюэль Угирасебуджа">
            <a:extLst xmlns:a="http://schemas.openxmlformats.org/drawingml/2006/main">
              <a:ext uri="{FF2B5EF4-FFF2-40B4-BE49-F238E27FC236}">
                <a16:creationId xmlns:a16="http://schemas.microsoft.com/office/drawing/2014/main" id="{86FA2C22-0154-4212-9096-59F35E77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Эмманюэль Угирасебуджа</a:t>
            </a:r>
          </a:p>
        </p:txBody>
      </p:sp>
      <p:sp>
        <p:nvSpPr>
          <p:cNvPr id="10" name="Министр юстиции и генеральный прокурор в">
            <a:extLst xmlns:a="http://schemas.openxmlformats.org/drawingml/2006/main">
              <a:ext uri="{FF2B5EF4-FFF2-40B4-BE49-F238E27FC236}">
                <a16:creationId xmlns:a16="http://schemas.microsoft.com/office/drawing/2014/main" id="{47587E13-F437-4C3D-8183-18300CD5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Министр юстиции и генеральный прокурор в 2022 и 2024 годах</a:t>
            </a:r>
          </a:p>
        </p:txBody>
      </p:sp>
      <p:sp>
        <p:nvSpPr>
          <p:cNvPr id="11" name="В основной датированной матрице: 1 из 38">
            <a:extLst xmlns:a="http://schemas.openxmlformats.org/drawingml/2006/main">
              <a:ext uri="{FF2B5EF4-FFF2-40B4-BE49-F238E27FC236}">
                <a16:creationId xmlns:a16="http://schemas.microsoft.com/office/drawing/2014/main" id="{B5350DC3-5291-446F-973F-313AF420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1 из 38 признаков</a:t>
            </a:r>
          </a:p>
        </p:txBody>
      </p:sp>
      <p:sp>
        <p:nvSpPr>
          <p:cNvPr id="12" name="Должности приведены в контексте исследуе">
            <a:extLst xmlns:a="http://schemas.openxmlformats.org/drawingml/2006/main">
              <a:ext uri="{FF2B5EF4-FFF2-40B4-BE49-F238E27FC236}">
                <a16:creationId xmlns:a16="http://schemas.microsoft.com/office/drawing/2014/main" id="{5CA525B5-9BB5-4366-9BAD-BD267A2C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приведены в контексте исследуемого периода.</a:t>
            </a:r>
          </a:p>
        </p:txBody>
      </p:sp>
    </p:spTree>
    <p:extLst>
      <p:ext uri="{BB962C8B-B14F-4D97-AF65-F5344CB8AC3E}">
        <p14:creationId xmlns:p14="http://schemas.microsoft.com/office/powerpoint/2010/main" val="190859449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Участники исследования: 4 из 14">
            <a:extLst xmlns:a="http://schemas.openxmlformats.org/drawingml/2006/main">
              <a:ext uri="{FF2B5EF4-FFF2-40B4-BE49-F238E27FC236}">
                <a16:creationId xmlns:a16="http://schemas.microsoft.com/office/drawing/2014/main" id="{14F6426B-259E-4511-A2C6-8D384D80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Участники исследования: 4 из 14</a:t>
            </a:r>
          </a:p>
        </p:txBody>
      </p:sp>
      <p:sp>
        <p:nvSpPr>
          <p:cNvPr id="2" name="25">
            <a:extLst xmlns:a="http://schemas.openxmlformats.org/drawingml/2006/main">
              <a:ext uri="{FF2B5EF4-FFF2-40B4-BE49-F238E27FC236}">
                <a16:creationId xmlns:a16="http://schemas.microsoft.com/office/drawing/2014/main" id="{C7FE15A6-A032-49A8-8734-BA840652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Юсуф Мурангва">
            <a:extLst xmlns:a="http://schemas.openxmlformats.org/drawingml/2006/main">
              <a:ext uri="{FF2B5EF4-FFF2-40B4-BE49-F238E27FC236}">
                <a16:creationId xmlns:a16="http://schemas.microsoft.com/office/drawing/2014/main" id="{B816C6F0-5340-4964-BBBB-CF2C838C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Юсуф Мурангва</a:t>
            </a:r>
          </a:p>
        </p:txBody>
      </p:sp>
      <p:sp>
        <p:nvSpPr>
          <p:cNvPr id="4" name="Министр финансов и экономического планир">
            <a:extLst xmlns:a="http://schemas.openxmlformats.org/drawingml/2006/main">
              <a:ext uri="{FF2B5EF4-FFF2-40B4-BE49-F238E27FC236}">
                <a16:creationId xmlns:a16="http://schemas.microsoft.com/office/drawing/2014/main" id="{808B62D1-E618-4291-9E25-29F043AD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Министр финансов и экономического планирования, вступивший в должность в июне 2024 года</a:t>
            </a:r>
          </a:p>
        </p:txBody>
      </p:sp>
      <p:sp>
        <p:nvSpPr>
          <p:cNvPr id="5" name="В основной датированной матрице: 4 из 38">
            <a:extLst xmlns:a="http://schemas.openxmlformats.org/drawingml/2006/main">
              <a:ext uri="{FF2B5EF4-FFF2-40B4-BE49-F238E27FC236}">
                <a16:creationId xmlns:a16="http://schemas.microsoft.com/office/drawing/2014/main" id="{1DB44ADD-9F7C-486B-9A81-F62624A4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4 из 38 признаков</a:t>
            </a:r>
          </a:p>
        </p:txBody>
      </p:sp>
      <p:sp>
        <p:nvSpPr>
          <p:cNvPr id="6" name="Уззиэль Ндагиджимана">
            <a:extLst xmlns:a="http://schemas.openxmlformats.org/drawingml/2006/main">
              <a:ext uri="{FF2B5EF4-FFF2-40B4-BE49-F238E27FC236}">
                <a16:creationId xmlns:a16="http://schemas.microsoft.com/office/drawing/2014/main" id="{B5DA5963-5758-4044-BEB4-957A00B5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Уззиэль Ндагиджимана</a:t>
            </a:r>
          </a:p>
        </p:txBody>
      </p:sp>
      <p:sp>
        <p:nvSpPr>
          <p:cNvPr id="7" name="Министр финансов и экономического планир">
            <a:extLst xmlns:a="http://schemas.openxmlformats.org/drawingml/2006/main">
              <a:ext uri="{FF2B5EF4-FFF2-40B4-BE49-F238E27FC236}">
                <a16:creationId xmlns:a16="http://schemas.microsoft.com/office/drawing/2014/main" id="{4425CF91-3C32-416D-940A-E81C1467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Министр финансов и экономического планирования до июня 2024 года</a:t>
            </a:r>
          </a:p>
        </p:txBody>
      </p:sp>
      <p:sp>
        <p:nvSpPr>
          <p:cNvPr id="8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B0ABC087-94B6-4D12-84FA-FD30C547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9" name="Паула Ингабире">
            <a:extLst xmlns:a="http://schemas.openxmlformats.org/drawingml/2006/main">
              <a:ext uri="{FF2B5EF4-FFF2-40B4-BE49-F238E27FC236}">
                <a16:creationId xmlns:a16="http://schemas.microsoft.com/office/drawing/2014/main" id="{94176D85-372C-4D14-B0B9-6DB908D1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Паула Ингабире</a:t>
            </a:r>
          </a:p>
        </p:txBody>
      </p:sp>
      <p:sp>
        <p:nvSpPr>
          <p:cNvPr id="10" name="Министр информационно-коммуникационных т">
            <a:extLst xmlns:a="http://schemas.openxmlformats.org/drawingml/2006/main">
              <a:ext uri="{FF2B5EF4-FFF2-40B4-BE49-F238E27FC236}">
                <a16:creationId xmlns:a16="http://schemas.microsoft.com/office/drawing/2014/main" id="{49B95703-E33C-4343-B9F0-5FD67C33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Министр информационно-коммуникационных технологий и инноваций в правительстве 2024 года</a:t>
            </a:r>
          </a:p>
        </p:txBody>
      </p:sp>
      <p:sp>
        <p:nvSpPr>
          <p:cNvPr id="11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FA369900-4807-439E-B12B-73859F08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12" name="Должности приведены в контексте исследуе">
            <a:extLst xmlns:a="http://schemas.openxmlformats.org/drawingml/2006/main">
              <a:ext uri="{FF2B5EF4-FFF2-40B4-BE49-F238E27FC236}">
                <a16:creationId xmlns:a16="http://schemas.microsoft.com/office/drawing/2014/main" id="{D4CA963D-F7D5-4C7E-9989-CED7A687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приведены в контексте исследуемого периода.</a:t>
            </a:r>
          </a:p>
        </p:txBody>
      </p:sp>
    </p:spTree>
    <p:extLst>
      <p:ext uri="{BB962C8B-B14F-4D97-AF65-F5344CB8AC3E}">
        <p14:creationId xmlns:p14="http://schemas.microsoft.com/office/powerpoint/2010/main" val="12304947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Участники исследования: 5 из 14">
            <a:extLst xmlns:a="http://schemas.openxmlformats.org/drawingml/2006/main">
              <a:ext uri="{FF2B5EF4-FFF2-40B4-BE49-F238E27FC236}">
                <a16:creationId xmlns:a16="http://schemas.microsoft.com/office/drawing/2014/main" id="{1C1DD473-21E2-438D-9DD3-B7D8B1C0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Участники исследования: 5 из 14</a:t>
            </a:r>
          </a:p>
        </p:txBody>
      </p:sp>
      <p:sp>
        <p:nvSpPr>
          <p:cNvPr id="2" name="26">
            <a:extLst xmlns:a="http://schemas.openxmlformats.org/drawingml/2006/main">
              <a:ext uri="{FF2B5EF4-FFF2-40B4-BE49-F238E27FC236}">
                <a16:creationId xmlns:a16="http://schemas.microsoft.com/office/drawing/2014/main" id="{3064A64C-BA1E-482D-804A-8A5E6DB9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Сабин Нсанзимана">
            <a:extLst xmlns:a="http://schemas.openxmlformats.org/drawingml/2006/main">
              <a:ext uri="{FF2B5EF4-FFF2-40B4-BE49-F238E27FC236}">
                <a16:creationId xmlns:a16="http://schemas.microsoft.com/office/drawing/2014/main" id="{D1D2140B-C583-4EAE-A8FC-6B520DA7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Сабин Нсанзимана</a:t>
            </a:r>
          </a:p>
        </p:txBody>
      </p:sp>
      <p:sp>
        <p:nvSpPr>
          <p:cNvPr id="4" name="Министр здравоохранения в 2023 году">
            <a:extLst xmlns:a="http://schemas.openxmlformats.org/drawingml/2006/main">
              <a:ext uri="{FF2B5EF4-FFF2-40B4-BE49-F238E27FC236}">
                <a16:creationId xmlns:a16="http://schemas.microsoft.com/office/drawing/2014/main" id="{40F73195-D09B-4FA9-B033-E6BB7D1F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Министр здравоохранения в 2023 году</a:t>
            </a:r>
          </a:p>
        </p:txBody>
      </p:sp>
      <p:sp>
        <p:nvSpPr>
          <p:cNvPr id="5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22A23534-91D5-4861-A09C-E64CE1A6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6" name="Жюдит Увизейе">
            <a:extLst xmlns:a="http://schemas.openxmlformats.org/drawingml/2006/main">
              <a:ext uri="{FF2B5EF4-FFF2-40B4-BE49-F238E27FC236}">
                <a16:creationId xmlns:a16="http://schemas.microsoft.com/office/drawing/2014/main" id="{DE95B71C-1F8B-4A50-ACA9-89545AC7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Жюдит Увизейе</a:t>
            </a:r>
          </a:p>
        </p:txBody>
      </p:sp>
      <p:sp>
        <p:nvSpPr>
          <p:cNvPr id="7" name="Министр в канцелярии президента в правит">
            <a:extLst xmlns:a="http://schemas.openxmlformats.org/drawingml/2006/main">
              <a:ext uri="{FF2B5EF4-FFF2-40B4-BE49-F238E27FC236}">
                <a16:creationId xmlns:a16="http://schemas.microsoft.com/office/drawing/2014/main" id="{97E87F34-023D-4D23-BC00-46FA3378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Министр в канцелярии президента в правительстве августа 2024 года</a:t>
            </a:r>
          </a:p>
        </p:txBody>
      </p:sp>
      <p:sp>
        <p:nvSpPr>
          <p:cNvPr id="8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9361E8C4-8DE5-4655-948C-AD514503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9" name="Инес Мпамбара">
            <a:extLst xmlns:a="http://schemas.openxmlformats.org/drawingml/2006/main">
              <a:ext uri="{FF2B5EF4-FFF2-40B4-BE49-F238E27FC236}">
                <a16:creationId xmlns:a16="http://schemas.microsoft.com/office/drawing/2014/main" id="{40D06B83-C9ED-43F4-91CE-E4307816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Инес Мпамбара</a:t>
            </a:r>
          </a:p>
        </p:txBody>
      </p:sp>
      <p:sp>
        <p:nvSpPr>
          <p:cNvPr id="10" name="Министр в канцелярии премьер-министра">
            <a:extLst xmlns:a="http://schemas.openxmlformats.org/drawingml/2006/main">
              <a:ext uri="{FF2B5EF4-FFF2-40B4-BE49-F238E27FC236}">
                <a16:creationId xmlns:a16="http://schemas.microsoft.com/office/drawing/2014/main" id="{534A7C01-1D24-403F-87A3-EEAF3330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Министр в канцелярии премьер-министра</a:t>
            </a:r>
          </a:p>
        </p:txBody>
      </p:sp>
      <p:sp>
        <p:nvSpPr>
          <p:cNvPr id="11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8D2A17FA-CBF0-4A9B-AD6D-D70574EA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12" name="Должности приведены в контексте исследуе">
            <a:extLst xmlns:a="http://schemas.openxmlformats.org/drawingml/2006/main">
              <a:ext uri="{FF2B5EF4-FFF2-40B4-BE49-F238E27FC236}">
                <a16:creationId xmlns:a16="http://schemas.microsoft.com/office/drawing/2014/main" id="{E2B61B41-36E7-4F08-B1B0-0235272C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приведены в контексте исследуемого периода.</a:t>
            </a:r>
          </a:p>
        </p:txBody>
      </p:sp>
    </p:spTree>
    <p:extLst>
      <p:ext uri="{BB962C8B-B14F-4D97-AF65-F5344CB8AC3E}">
        <p14:creationId xmlns:p14="http://schemas.microsoft.com/office/powerpoint/2010/main" val="178437955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Участники исследования: 6 из 14">
            <a:extLst xmlns:a="http://schemas.openxmlformats.org/drawingml/2006/main">
              <a:ext uri="{FF2B5EF4-FFF2-40B4-BE49-F238E27FC236}">
                <a16:creationId xmlns:a16="http://schemas.microsoft.com/office/drawing/2014/main" id="{C6110302-76D9-4161-A6D9-24568352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Участники исследования: 6 из 14</a:t>
            </a:r>
          </a:p>
        </p:txBody>
      </p:sp>
      <p:sp>
        <p:nvSpPr>
          <p:cNvPr id="2" name="27">
            <a:extLst xmlns:a="http://schemas.openxmlformats.org/drawingml/2006/main">
              <a:ext uri="{FF2B5EF4-FFF2-40B4-BE49-F238E27FC236}">
                <a16:creationId xmlns:a16="http://schemas.microsoft.com/office/drawing/2014/main" id="{569AF03A-AFE7-42F4-AF72-6CD3702F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Валентин Увамария">
            <a:extLst xmlns:a="http://schemas.openxmlformats.org/drawingml/2006/main">
              <a:ext uri="{FF2B5EF4-FFF2-40B4-BE49-F238E27FC236}">
                <a16:creationId xmlns:a16="http://schemas.microsoft.com/office/drawing/2014/main" id="{F06904AD-F67C-4806-B997-F6D3EC91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Валентин Увамария</a:t>
            </a:r>
          </a:p>
        </p:txBody>
      </p:sp>
      <p:sp>
        <p:nvSpPr>
          <p:cNvPr id="4" name="Министр окружающей среды в правительстве">
            <a:extLst xmlns:a="http://schemas.openxmlformats.org/drawingml/2006/main">
              <a:ext uri="{FF2B5EF4-FFF2-40B4-BE49-F238E27FC236}">
                <a16:creationId xmlns:a16="http://schemas.microsoft.com/office/drawing/2014/main" id="{7D17AC68-70DE-41EB-A8F2-FD491476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Министр окружающей среды в правительстве августа 2024 года; в проверенном выступлении 2026 года - сенатор</a:t>
            </a:r>
          </a:p>
        </p:txBody>
      </p:sp>
      <p:sp>
        <p:nvSpPr>
          <p:cNvPr id="5" name="В основной датированной матрице: 2 из 38">
            <a:extLst xmlns:a="http://schemas.openxmlformats.org/drawingml/2006/main">
              <a:ext uri="{FF2B5EF4-FFF2-40B4-BE49-F238E27FC236}">
                <a16:creationId xmlns:a16="http://schemas.microsoft.com/office/drawing/2014/main" id="{EE6BCB9B-08A6-470D-9AF4-BDBC7254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2 из 38 признаков</a:t>
            </a:r>
          </a:p>
        </p:txBody>
      </p:sp>
      <p:sp>
        <p:nvSpPr>
          <p:cNvPr id="6" name="Жанна д’Арк Муджавамария">
            <a:extLst xmlns:a="http://schemas.openxmlformats.org/drawingml/2006/main">
              <a:ext uri="{FF2B5EF4-FFF2-40B4-BE49-F238E27FC236}">
                <a16:creationId xmlns:a16="http://schemas.microsoft.com/office/drawing/2014/main" id="{348826A9-4093-4A82-AF1E-C28DD648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Жанна д’Арк Муджавамария</a:t>
            </a:r>
          </a:p>
        </p:txBody>
      </p:sp>
      <p:sp>
        <p:nvSpPr>
          <p:cNvPr id="7" name="Назначена министром государственной служ">
            <a:extLst xmlns:a="http://schemas.openxmlformats.org/drawingml/2006/main">
              <a:ext uri="{FF2B5EF4-FFF2-40B4-BE49-F238E27FC236}">
                <a16:creationId xmlns:a16="http://schemas.microsoft.com/office/drawing/2014/main" id="{53D6FF69-59D3-47BE-B3C2-F8FFE681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Назначена министром государственной службы и труда в июне 2024 года</a:t>
            </a:r>
          </a:p>
        </p:txBody>
      </p:sp>
      <p:sp>
        <p:nvSpPr>
          <p:cNvPr id="8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D3CA3491-53C1-450C-85D1-5D9E6A86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9" name="Жерардин Мукешимана">
            <a:extLst xmlns:a="http://schemas.openxmlformats.org/drawingml/2006/main">
              <a:ext uri="{FF2B5EF4-FFF2-40B4-BE49-F238E27FC236}">
                <a16:creationId xmlns:a16="http://schemas.microsoft.com/office/drawing/2014/main" id="{3B9E6818-4ACD-48BD-BFE3-DF1E5A82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Жерардин Мукешимана</a:t>
            </a:r>
          </a:p>
        </p:txBody>
      </p:sp>
      <p:sp>
        <p:nvSpPr>
          <p:cNvPr id="10" name="Министр сельского хозяйства и животновод">
            <a:extLst xmlns:a="http://schemas.openxmlformats.org/drawingml/2006/main">
              <a:ext uri="{FF2B5EF4-FFF2-40B4-BE49-F238E27FC236}">
                <a16:creationId xmlns:a16="http://schemas.microsoft.com/office/drawing/2014/main" id="{D9354E86-6E8C-4FCB-8E0F-B69E1D03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Министр сельского хозяйства и животноводства в декабре 2022 года</a:t>
            </a:r>
          </a:p>
        </p:txBody>
      </p:sp>
      <p:sp>
        <p:nvSpPr>
          <p:cNvPr id="11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570F719E-7845-496F-965F-298B67D9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12" name="Должности приведены в контексте исследуе">
            <a:extLst xmlns:a="http://schemas.openxmlformats.org/drawingml/2006/main">
              <a:ext uri="{FF2B5EF4-FFF2-40B4-BE49-F238E27FC236}">
                <a16:creationId xmlns:a16="http://schemas.microsoft.com/office/drawing/2014/main" id="{987F4989-A69A-43E7-8801-F64EDF1D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приведены в контексте исследуемого периода.</a:t>
            </a:r>
          </a:p>
        </p:txBody>
      </p:sp>
    </p:spTree>
    <p:extLst>
      <p:ext uri="{BB962C8B-B14F-4D97-AF65-F5344CB8AC3E}">
        <p14:creationId xmlns:p14="http://schemas.microsoft.com/office/powerpoint/2010/main" val="167497331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Участники исследования: 7 из 14">
            <a:extLst xmlns:a="http://schemas.openxmlformats.org/drawingml/2006/main">
              <a:ext uri="{FF2B5EF4-FFF2-40B4-BE49-F238E27FC236}">
                <a16:creationId xmlns:a16="http://schemas.microsoft.com/office/drawing/2014/main" id="{FB1747A6-0888-4165-8473-5066CCC7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Участники исследования: 7 из 14</a:t>
            </a:r>
          </a:p>
        </p:txBody>
      </p:sp>
      <p:sp>
        <p:nvSpPr>
          <p:cNvPr id="2" name="28">
            <a:extLst xmlns:a="http://schemas.openxmlformats.org/drawingml/2006/main">
              <a:ext uri="{FF2B5EF4-FFF2-40B4-BE49-F238E27FC236}">
                <a16:creationId xmlns:a16="http://schemas.microsoft.com/office/drawing/2014/main" id="{9047FEC0-2CD3-4CE3-9F27-2C7888BA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Ильдефонс Мусафири">
            <a:extLst xmlns:a="http://schemas.openxmlformats.org/drawingml/2006/main">
              <a:ext uri="{FF2B5EF4-FFF2-40B4-BE49-F238E27FC236}">
                <a16:creationId xmlns:a16="http://schemas.microsoft.com/office/drawing/2014/main" id="{39E38783-3BE7-4A75-A09F-EA37F27A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Ильдефонс Мусафири</a:t>
            </a:r>
          </a:p>
        </p:txBody>
      </p:sp>
      <p:sp>
        <p:nvSpPr>
          <p:cNvPr id="4" name="Назначен министром сельского хозяйства и">
            <a:extLst xmlns:a="http://schemas.openxmlformats.org/drawingml/2006/main">
              <a:ext uri="{FF2B5EF4-FFF2-40B4-BE49-F238E27FC236}">
                <a16:creationId xmlns:a16="http://schemas.microsoft.com/office/drawing/2014/main" id="{99B2D803-5827-41BA-95D5-4C487B6C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Назначен министром сельского хозяйства и животноводства в 2023 году; подтверждён в августе 2024 года</a:t>
            </a:r>
          </a:p>
        </p:txBody>
      </p:sp>
      <p:sp>
        <p:nvSpPr>
          <p:cNvPr id="5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868702A4-464E-4FDE-B450-834B059F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6" name="Жан-Клод Мусабийимана">
            <a:extLst xmlns:a="http://schemas.openxmlformats.org/drawingml/2006/main">
              <a:ext uri="{FF2B5EF4-FFF2-40B4-BE49-F238E27FC236}">
                <a16:creationId xmlns:a16="http://schemas.microsoft.com/office/drawing/2014/main" id="{540C5488-7D4B-48AF-AC6D-A8522AA3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Жан-Клод Мусабийимана</a:t>
            </a:r>
          </a:p>
        </p:txBody>
      </p:sp>
      <p:sp>
        <p:nvSpPr>
          <p:cNvPr id="7" name="Министр местного самоуправления в декабр">
            <a:extLst xmlns:a="http://schemas.openxmlformats.org/drawingml/2006/main">
              <a:ext uri="{FF2B5EF4-FFF2-40B4-BE49-F238E27FC236}">
                <a16:creationId xmlns:a16="http://schemas.microsoft.com/office/drawing/2014/main" id="{6E2B5DC6-593A-4C40-8705-36E9FC87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Министр местного самоуправления в декабре 2023 и августе 2024 года</a:t>
            </a:r>
          </a:p>
        </p:txBody>
      </p:sp>
      <p:sp>
        <p:nvSpPr>
          <p:cNvPr id="8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CA6CB736-A30D-4113-8CA9-A72B500A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9" name="Жан-Дамасен Бизимана">
            <a:extLst xmlns:a="http://schemas.openxmlformats.org/drawingml/2006/main">
              <a:ext uri="{FF2B5EF4-FFF2-40B4-BE49-F238E27FC236}">
                <a16:creationId xmlns:a16="http://schemas.microsoft.com/office/drawing/2014/main" id="{C9839342-DFC0-435E-A6D9-810A39F5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Жан-Дамасен Бизимана</a:t>
            </a:r>
          </a:p>
        </p:txBody>
      </p:sp>
      <p:sp>
        <p:nvSpPr>
          <p:cNvPr id="10" name="Министр национального единства и граждан">
            <a:extLst xmlns:a="http://schemas.openxmlformats.org/drawingml/2006/main">
              <a:ext uri="{FF2B5EF4-FFF2-40B4-BE49-F238E27FC236}">
                <a16:creationId xmlns:a16="http://schemas.microsoft.com/office/drawing/2014/main" id="{1E7F4D7E-EE4E-4E6B-9889-0906759C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Министр национального единства и гражданской активности в правительстве 2024 года</a:t>
            </a:r>
          </a:p>
        </p:txBody>
      </p:sp>
      <p:sp>
        <p:nvSpPr>
          <p:cNvPr id="11" name="В основной датированной матрице: 1 из 38">
            <a:extLst xmlns:a="http://schemas.openxmlformats.org/drawingml/2006/main">
              <a:ext uri="{FF2B5EF4-FFF2-40B4-BE49-F238E27FC236}">
                <a16:creationId xmlns:a16="http://schemas.microsoft.com/office/drawing/2014/main" id="{1D2EB1F8-FD9A-44E3-BE18-DA84B04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1 из 38 признаков</a:t>
            </a:r>
          </a:p>
        </p:txBody>
      </p:sp>
      <p:sp>
        <p:nvSpPr>
          <p:cNvPr id="12" name="Должности приведены в контексте исследуе">
            <a:extLst xmlns:a="http://schemas.openxmlformats.org/drawingml/2006/main">
              <a:ext uri="{FF2B5EF4-FFF2-40B4-BE49-F238E27FC236}">
                <a16:creationId xmlns:a16="http://schemas.microsoft.com/office/drawing/2014/main" id="{7D71C47F-1DBD-4856-A03E-ADA1A369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приведены в контексте исследуемого периода.</a:t>
            </a:r>
          </a:p>
        </p:txBody>
      </p:sp>
    </p:spTree>
    <p:extLst>
      <p:ext uri="{BB962C8B-B14F-4D97-AF65-F5344CB8AC3E}">
        <p14:creationId xmlns:p14="http://schemas.microsoft.com/office/powerpoint/2010/main" val="2025047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Участники исследования: 8 из 14">
            <a:extLst xmlns:a="http://schemas.openxmlformats.org/drawingml/2006/main">
              <a:ext uri="{FF2B5EF4-FFF2-40B4-BE49-F238E27FC236}">
                <a16:creationId xmlns:a16="http://schemas.microsoft.com/office/drawing/2014/main" id="{00BB7A6F-9A5E-46FB-8061-18F80089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Участники исследования: 8 из 14</a:t>
            </a:r>
          </a:p>
        </p:txBody>
      </p:sp>
      <p:sp>
        <p:nvSpPr>
          <p:cNvPr id="2" name="29">
            <a:extLst xmlns:a="http://schemas.openxmlformats.org/drawingml/2006/main">
              <a:ext uri="{FF2B5EF4-FFF2-40B4-BE49-F238E27FC236}">
                <a16:creationId xmlns:a16="http://schemas.microsoft.com/office/drawing/2014/main" id="{A1552001-0D8F-4720-81B9-F3551373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Клэр Акаманзи">
            <a:extLst xmlns:a="http://schemas.openxmlformats.org/drawingml/2006/main">
              <a:ext uri="{FF2B5EF4-FFF2-40B4-BE49-F238E27FC236}">
                <a16:creationId xmlns:a16="http://schemas.microsoft.com/office/drawing/2014/main" id="{5F48C903-BA4B-4759-9FEE-817F4999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Клэр Акаманзи</a:t>
            </a:r>
          </a:p>
        </p:txBody>
      </p:sp>
      <p:sp>
        <p:nvSpPr>
          <p:cNvPr id="4" name="Руководитель Rwanda Development Board до">
            <a:extLst xmlns:a="http://schemas.openxmlformats.org/drawingml/2006/main">
              <a:ext uri="{FF2B5EF4-FFF2-40B4-BE49-F238E27FC236}">
                <a16:creationId xmlns:a16="http://schemas.microsoft.com/office/drawing/2014/main" id="{6F4454E6-248D-4596-B6BD-7797B06E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Руководитель Rwanda Development Board до сентября 2023 года</a:t>
            </a:r>
          </a:p>
        </p:txBody>
      </p:sp>
      <p:sp>
        <p:nvSpPr>
          <p:cNvPr id="5" name="В основной датированной матрице: 1 из 38">
            <a:extLst xmlns:a="http://schemas.openxmlformats.org/drawingml/2006/main">
              <a:ext uri="{FF2B5EF4-FFF2-40B4-BE49-F238E27FC236}">
                <a16:creationId xmlns:a16="http://schemas.microsoft.com/office/drawing/2014/main" id="{34FD2BAB-05D4-4BDF-B3AB-B1123ABA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1 из 38 признаков</a:t>
            </a:r>
          </a:p>
        </p:txBody>
      </p:sp>
      <p:sp>
        <p:nvSpPr>
          <p:cNvPr id="6" name="Франсис Гатаре">
            <a:extLst xmlns:a="http://schemas.openxmlformats.org/drawingml/2006/main">
              <a:ext uri="{FF2B5EF4-FFF2-40B4-BE49-F238E27FC236}">
                <a16:creationId xmlns:a16="http://schemas.microsoft.com/office/drawing/2014/main" id="{33E1DE7D-3ABC-457D-A352-C1D7EA20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Франсис Гатаре</a:t>
            </a:r>
          </a:p>
        </p:txBody>
      </p:sp>
      <p:sp>
        <p:nvSpPr>
          <p:cNvPr id="7" name="Руководитель Rwanda Development Board с ">
            <a:extLst xmlns:a="http://schemas.openxmlformats.org/drawingml/2006/main">
              <a:ext uri="{FF2B5EF4-FFF2-40B4-BE49-F238E27FC236}">
                <a16:creationId xmlns:a16="http://schemas.microsoft.com/office/drawing/2014/main" id="{6D9927BB-A76D-4B3C-9EA8-18DF75D8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Руководитель Rwanda Development Board с сентября 2023 года на дату аудита</a:t>
            </a:r>
          </a:p>
        </p:txBody>
      </p:sp>
      <p:sp>
        <p:nvSpPr>
          <p:cNvPr id="8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4FC11B9A-51C3-4701-B862-5C8CEFA4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9" name="Гертруда Казарва">
            <a:extLst xmlns:a="http://schemas.openxmlformats.org/drawingml/2006/main">
              <a:ext uri="{FF2B5EF4-FFF2-40B4-BE49-F238E27FC236}">
                <a16:creationId xmlns:a16="http://schemas.microsoft.com/office/drawing/2014/main" id="{C84DF2F7-5DEC-4A01-A341-7DFAF873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Гертруда Казарва</a:t>
            </a:r>
          </a:p>
        </p:txBody>
      </p:sp>
      <p:sp>
        <p:nvSpPr>
          <p:cNvPr id="10" name="Спикер Палаты депутатов с августа 2024 г">
            <a:extLst xmlns:a="http://schemas.openxmlformats.org/drawingml/2006/main">
              <a:ext uri="{FF2B5EF4-FFF2-40B4-BE49-F238E27FC236}">
                <a16:creationId xmlns:a16="http://schemas.microsoft.com/office/drawing/2014/main" id="{2C582CC1-FC4E-4EA5-B104-6060D29B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Спикер Палаты депутатов с августа 2024 года по официальной биографии</a:t>
            </a:r>
          </a:p>
        </p:txBody>
      </p:sp>
      <p:sp>
        <p:nvSpPr>
          <p:cNvPr id="11" name="В основной датированной матрице: 1 из 38">
            <a:extLst xmlns:a="http://schemas.openxmlformats.org/drawingml/2006/main">
              <a:ext uri="{FF2B5EF4-FFF2-40B4-BE49-F238E27FC236}">
                <a16:creationId xmlns:a16="http://schemas.microsoft.com/office/drawing/2014/main" id="{494B5FED-2FED-44C7-899B-EFC6F3D0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1 из 38 признаков</a:t>
            </a:r>
          </a:p>
        </p:txBody>
      </p:sp>
      <p:sp>
        <p:nvSpPr>
          <p:cNvPr id="12" name="Должности приведены в контексте исследуе">
            <a:extLst xmlns:a="http://schemas.openxmlformats.org/drawingml/2006/main">
              <a:ext uri="{FF2B5EF4-FFF2-40B4-BE49-F238E27FC236}">
                <a16:creationId xmlns:a16="http://schemas.microsoft.com/office/drawing/2014/main" id="{0A8FFF61-35E0-4460-AFEA-E313C92A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приведены в контексте исследуемого периода.</a:t>
            </a:r>
          </a:p>
        </p:txBody>
      </p:sp>
    </p:spTree>
    <p:extLst>
      <p:ext uri="{BB962C8B-B14F-4D97-AF65-F5344CB8AC3E}">
        <p14:creationId xmlns:p14="http://schemas.microsoft.com/office/powerpoint/2010/main" val="17823447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Участники исследования: 9 из 14">
            <a:extLst xmlns:a="http://schemas.openxmlformats.org/drawingml/2006/main">
              <a:ext uri="{FF2B5EF4-FFF2-40B4-BE49-F238E27FC236}">
                <a16:creationId xmlns:a16="http://schemas.microsoft.com/office/drawing/2014/main" id="{2D9685BF-5500-419F-B828-5B38FAC7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Участники исследования: 9 из 14</a:t>
            </a:r>
          </a:p>
        </p:txBody>
      </p:sp>
      <p:sp>
        <p:nvSpPr>
          <p:cNvPr id="2" name="30">
            <a:extLst xmlns:a="http://schemas.openxmlformats.org/drawingml/2006/main">
              <a:ext uri="{FF2B5EF4-FFF2-40B4-BE49-F238E27FC236}">
                <a16:creationId xmlns:a16="http://schemas.microsoft.com/office/drawing/2014/main" id="{34F57BCD-32F1-405E-AF6F-AB265057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Донатиль Мукабалиса">
            <a:extLst xmlns:a="http://schemas.openxmlformats.org/drawingml/2006/main">
              <a:ext uri="{FF2B5EF4-FFF2-40B4-BE49-F238E27FC236}">
                <a16:creationId xmlns:a16="http://schemas.microsoft.com/office/drawing/2014/main" id="{A331452A-874C-4A80-AFA8-1FE1BB30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Донатиль Мукабалиса</a:t>
            </a:r>
          </a:p>
        </p:txBody>
      </p:sp>
      <p:sp>
        <p:nvSpPr>
          <p:cNvPr id="4" name="Спикер Палаты депутатов в 2023 году">
            <a:extLst xmlns:a="http://schemas.openxmlformats.org/drawingml/2006/main">
              <a:ext uri="{FF2B5EF4-FFF2-40B4-BE49-F238E27FC236}">
                <a16:creationId xmlns:a16="http://schemas.microsoft.com/office/drawing/2014/main" id="{C915890E-7581-484E-9002-D82D27E4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Спикер Палаты депутатов в 2023 году</a:t>
            </a:r>
          </a:p>
        </p:txBody>
      </p:sp>
      <p:sp>
        <p:nvSpPr>
          <p:cNvPr id="5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DECAEAB8-2E37-4238-AB86-59DFE7EE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6" name="Франсуа-Ксавье Калинда">
            <a:extLst xmlns:a="http://schemas.openxmlformats.org/drawingml/2006/main">
              <a:ext uri="{FF2B5EF4-FFF2-40B4-BE49-F238E27FC236}">
                <a16:creationId xmlns:a16="http://schemas.microsoft.com/office/drawing/2014/main" id="{5B54B66C-AFF3-4AE8-8CBA-63B95065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Франсуа-Ксавье Калинда</a:t>
            </a:r>
          </a:p>
        </p:txBody>
      </p:sp>
      <p:sp>
        <p:nvSpPr>
          <p:cNvPr id="7" name="Председатель Сената с января 2023 года, ">
            <a:extLst xmlns:a="http://schemas.openxmlformats.org/drawingml/2006/main">
              <a:ext uri="{FF2B5EF4-FFF2-40B4-BE49-F238E27FC236}">
                <a16:creationId xmlns:a16="http://schemas.microsoft.com/office/drawing/2014/main" id="{DDF54F52-8DC9-4F0C-9CD0-62C3D20C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Председатель Сената с января 2023 года, переизбран в сентябре 2024 года</a:t>
            </a:r>
          </a:p>
        </p:txBody>
      </p:sp>
      <p:sp>
        <p:nvSpPr>
          <p:cNvPr id="8" name="В основной датированной матрице: 2 из 38">
            <a:extLst xmlns:a="http://schemas.openxmlformats.org/drawingml/2006/main">
              <a:ext uri="{FF2B5EF4-FFF2-40B4-BE49-F238E27FC236}">
                <a16:creationId xmlns:a16="http://schemas.microsoft.com/office/drawing/2014/main" id="{C4E22CE8-663F-4079-8BF4-7CB0D238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2 из 38 признаков</a:t>
            </a:r>
          </a:p>
        </p:txBody>
      </p:sp>
      <p:sp>
        <p:nvSpPr>
          <p:cNvPr id="9" name="Огюстен Иямуремье">
            <a:extLst xmlns:a="http://schemas.openxmlformats.org/drawingml/2006/main">
              <a:ext uri="{FF2B5EF4-FFF2-40B4-BE49-F238E27FC236}">
                <a16:creationId xmlns:a16="http://schemas.microsoft.com/office/drawing/2014/main" id="{7249195C-F249-464B-9A54-0E4A6791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Огюстен Иямуремье</a:t>
            </a:r>
          </a:p>
        </p:txBody>
      </p:sp>
      <p:sp>
        <p:nvSpPr>
          <p:cNvPr id="10" name="Председатель Сената в первой части иссле">
            <a:extLst xmlns:a="http://schemas.openxmlformats.org/drawingml/2006/main">
              <a:ext uri="{FF2B5EF4-FFF2-40B4-BE49-F238E27FC236}">
                <a16:creationId xmlns:a16="http://schemas.microsoft.com/office/drawing/2014/main" id="{86B28EB5-FF15-4CBB-B597-86366EBE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Председатель Сената в первой части исследуемого периода</a:t>
            </a:r>
          </a:p>
        </p:txBody>
      </p:sp>
      <p:sp>
        <p:nvSpPr>
          <p:cNvPr id="11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B8890096-BCD6-4DCE-94EA-8F621FB0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12" name="Должности приведены в контексте исследуе">
            <a:extLst xmlns:a="http://schemas.openxmlformats.org/drawingml/2006/main">
              <a:ext uri="{FF2B5EF4-FFF2-40B4-BE49-F238E27FC236}">
                <a16:creationId xmlns:a16="http://schemas.microsoft.com/office/drawing/2014/main" id="{94D5C232-9257-4DC7-832C-A28E5C70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приведены в контексте исследуемого периода.</a:t>
            </a:r>
          </a:p>
        </p:txBody>
      </p:sp>
    </p:spTree>
    <p:extLst>
      <p:ext uri="{BB962C8B-B14F-4D97-AF65-F5344CB8AC3E}">
        <p14:creationId xmlns:p14="http://schemas.microsoft.com/office/powerpoint/2010/main" val="205941458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Участники исследования: 10 из 14">
            <a:extLst xmlns:a="http://schemas.openxmlformats.org/drawingml/2006/main">
              <a:ext uri="{FF2B5EF4-FFF2-40B4-BE49-F238E27FC236}">
                <a16:creationId xmlns:a16="http://schemas.microsoft.com/office/drawing/2014/main" id="{CAAC722B-B436-4E10-9008-D996BF26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Участники исследования: 10 из 14</a:t>
            </a:r>
          </a:p>
        </p:txBody>
      </p:sp>
      <p:sp>
        <p:nvSpPr>
          <p:cNvPr id="2" name="31">
            <a:extLst xmlns:a="http://schemas.openxmlformats.org/drawingml/2006/main">
              <a:ext uri="{FF2B5EF4-FFF2-40B4-BE49-F238E27FC236}">
                <a16:creationId xmlns:a16="http://schemas.microsoft.com/office/drawing/2014/main" id="{7B583B2E-CEF1-4FE9-AA2F-A078FCB2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Альвера Мукабарамба">
            <a:extLst xmlns:a="http://schemas.openxmlformats.org/drawingml/2006/main">
              <a:ext uri="{FF2B5EF4-FFF2-40B4-BE49-F238E27FC236}">
                <a16:creationId xmlns:a16="http://schemas.microsoft.com/office/drawing/2014/main" id="{9CBCEA27-5269-4172-A14F-CBA3BB7E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Альвера Мукабарамба</a:t>
            </a:r>
          </a:p>
        </p:txBody>
      </p:sp>
      <p:sp>
        <p:nvSpPr>
          <p:cNvPr id="4" name="Вице-президент Сената, избрана в руковод">
            <a:extLst xmlns:a="http://schemas.openxmlformats.org/drawingml/2006/main">
              <a:ext uri="{FF2B5EF4-FFF2-40B4-BE49-F238E27FC236}">
                <a16:creationId xmlns:a16="http://schemas.microsoft.com/office/drawing/2014/main" id="{D60EBF09-C167-4CB6-B333-4027581F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Вице-президент Сената, избрана в руководящий состав в сентябре 2024 года</a:t>
            </a:r>
          </a:p>
        </p:txBody>
      </p:sp>
      <p:sp>
        <p:nvSpPr>
          <p:cNvPr id="5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BE5F3CBC-17F6-472A-BD27-CB793A3A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6" name="Мусса Фазиль Хареримана">
            <a:extLst xmlns:a="http://schemas.openxmlformats.org/drawingml/2006/main">
              <a:ext uri="{FF2B5EF4-FFF2-40B4-BE49-F238E27FC236}">
                <a16:creationId xmlns:a16="http://schemas.microsoft.com/office/drawing/2014/main" id="{16202C9D-7CB9-4609-8EDE-320A0DB1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Мусса Фазиль Хареримана</a:t>
            </a:r>
          </a:p>
        </p:txBody>
      </p:sp>
      <p:sp>
        <p:nvSpPr>
          <p:cNvPr id="7" name="Заместитель спикера Палаты депутатов в 2">
            <a:extLst xmlns:a="http://schemas.openxmlformats.org/drawingml/2006/main">
              <a:ext uri="{FF2B5EF4-FFF2-40B4-BE49-F238E27FC236}">
                <a16:creationId xmlns:a16="http://schemas.microsoft.com/office/drawing/2014/main" id="{D2A72BC5-71F0-4BCA-9A64-80EDF273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Заместитель спикера Палаты депутатов в 2023 году</a:t>
            </a:r>
          </a:p>
        </p:txBody>
      </p:sp>
      <p:sp>
        <p:nvSpPr>
          <p:cNvPr id="8" name="В основной датированной матрице: 1 из 38">
            <a:extLst xmlns:a="http://schemas.openxmlformats.org/drawingml/2006/main">
              <a:ext uri="{FF2B5EF4-FFF2-40B4-BE49-F238E27FC236}">
                <a16:creationId xmlns:a16="http://schemas.microsoft.com/office/drawing/2014/main" id="{7DC574C1-D7E1-4F30-82F4-BE57AD72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1 из 38 признаков</a:t>
            </a:r>
          </a:p>
        </p:txBody>
      </p:sp>
      <p:sp>
        <p:nvSpPr>
          <p:cNvPr id="9" name="Пуденс Рубингиса">
            <a:extLst xmlns:a="http://schemas.openxmlformats.org/drawingml/2006/main">
              <a:ext uri="{FF2B5EF4-FFF2-40B4-BE49-F238E27FC236}">
                <a16:creationId xmlns:a16="http://schemas.microsoft.com/office/drawing/2014/main" id="{73CADC8A-7BB0-4200-9E9A-F475B3DE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Пуденс Рубингиса</a:t>
            </a:r>
          </a:p>
        </p:txBody>
      </p:sp>
      <p:sp>
        <p:nvSpPr>
          <p:cNvPr id="10" name="Мэр Кигали до перехода на пост губернато">
            <a:extLst xmlns:a="http://schemas.openxmlformats.org/drawingml/2006/main">
              <a:ext uri="{FF2B5EF4-FFF2-40B4-BE49-F238E27FC236}">
                <a16:creationId xmlns:a16="http://schemas.microsoft.com/office/drawing/2014/main" id="{6D27F3E1-9E31-4098-86FD-1C2B0029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Мэр Кигали до перехода на пост губернатора Восточной провинции в декабре 2023 года</a:t>
            </a:r>
          </a:p>
        </p:txBody>
      </p:sp>
      <p:sp>
        <p:nvSpPr>
          <p:cNvPr id="11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A5359B20-B6C2-463A-907B-B6053A1C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12" name="Должности приведены в контексте исследуе">
            <a:extLst xmlns:a="http://schemas.openxmlformats.org/drawingml/2006/main">
              <a:ext uri="{FF2B5EF4-FFF2-40B4-BE49-F238E27FC236}">
                <a16:creationId xmlns:a16="http://schemas.microsoft.com/office/drawing/2014/main" id="{27087DD7-4720-49E9-8B9B-5950070E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приведены в контексте исследуемого периода.</a:t>
            </a:r>
          </a:p>
        </p:txBody>
      </p:sp>
    </p:spTree>
    <p:extLst>
      <p:ext uri="{BB962C8B-B14F-4D97-AF65-F5344CB8AC3E}">
        <p14:creationId xmlns:p14="http://schemas.microsoft.com/office/powerpoint/2010/main" val="12340459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Участники исследования: 11 из 14">
            <a:extLst xmlns:a="http://schemas.openxmlformats.org/drawingml/2006/main">
              <a:ext uri="{FF2B5EF4-FFF2-40B4-BE49-F238E27FC236}">
                <a16:creationId xmlns:a16="http://schemas.microsoft.com/office/drawing/2014/main" id="{90C587F6-F161-42B9-9AF7-3BFC3297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Участники исследования: 11 из 14</a:t>
            </a:r>
          </a:p>
        </p:txBody>
      </p:sp>
      <p:sp>
        <p:nvSpPr>
          <p:cNvPr id="2" name="32">
            <a:extLst xmlns:a="http://schemas.openxmlformats.org/drawingml/2006/main">
              <a:ext uri="{FF2B5EF4-FFF2-40B4-BE49-F238E27FC236}">
                <a16:creationId xmlns:a16="http://schemas.microsoft.com/office/drawing/2014/main" id="{41547436-B8E8-4DD0-9754-C1CA0A92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" name="Самуэль Дусенгийюмва">
            <a:extLst xmlns:a="http://schemas.openxmlformats.org/drawingml/2006/main">
              <a:ext uri="{FF2B5EF4-FFF2-40B4-BE49-F238E27FC236}">
                <a16:creationId xmlns:a16="http://schemas.microsoft.com/office/drawing/2014/main" id="{3096B532-1B71-4707-AB3D-86D3631D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Самуэль Дусенгийюмва</a:t>
            </a:r>
          </a:p>
        </p:txBody>
      </p:sp>
      <p:sp>
        <p:nvSpPr>
          <p:cNvPr id="4" name="Избран мэром Кигали в декабре 2023 года">
            <a:extLst xmlns:a="http://schemas.openxmlformats.org/drawingml/2006/main">
              <a:ext uri="{FF2B5EF4-FFF2-40B4-BE49-F238E27FC236}">
                <a16:creationId xmlns:a16="http://schemas.microsoft.com/office/drawing/2014/main" id="{1B18B454-1822-47E9-92CC-C39535C8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Избран мэром Кигали в декабре 2023 года</a:t>
            </a:r>
          </a:p>
        </p:txBody>
      </p:sp>
      <p:sp>
        <p:nvSpPr>
          <p:cNvPr id="5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72A3F9E8-5C25-4C26-947D-C4BEA9B3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6" name="Франк Хабинеза">
            <a:extLst xmlns:a="http://schemas.openxmlformats.org/drawingml/2006/main">
              <a:ext uri="{FF2B5EF4-FFF2-40B4-BE49-F238E27FC236}">
                <a16:creationId xmlns:a16="http://schemas.microsoft.com/office/drawing/2014/main" id="{2EECB83E-B01E-4C2D-8CC7-BEB32CF4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Франк Хабинеза</a:t>
            </a:r>
          </a:p>
        </p:txBody>
      </p:sp>
      <p:sp>
        <p:nvSpPr>
          <p:cNvPr id="7" name="Лидер Демократической зелёной партии; ка">
            <a:extLst xmlns:a="http://schemas.openxmlformats.org/drawingml/2006/main">
              <a:ext uri="{FF2B5EF4-FFF2-40B4-BE49-F238E27FC236}">
                <a16:creationId xmlns:a16="http://schemas.microsoft.com/office/drawing/2014/main" id="{0DA7E4B7-9F3A-4D80-81B3-F7D0E328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Лидер Демократической зелёной партии; кандидат в президенты в 2024 году</a:t>
            </a:r>
          </a:p>
        </p:txBody>
      </p:sp>
      <p:sp>
        <p:nvSpPr>
          <p:cNvPr id="8" name="В основной датированной матрице: 3 из 38">
            <a:extLst xmlns:a="http://schemas.openxmlformats.org/drawingml/2006/main">
              <a:ext uri="{FF2B5EF4-FFF2-40B4-BE49-F238E27FC236}">
                <a16:creationId xmlns:a16="http://schemas.microsoft.com/office/drawing/2014/main" id="{2E75E9C9-A7FD-4A56-8C2F-6557E122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3 из 38 признаков</a:t>
            </a:r>
          </a:p>
        </p:txBody>
      </p:sp>
      <p:sp>
        <p:nvSpPr>
          <p:cNvPr id="9" name="Филипп Мпайимана">
            <a:extLst xmlns:a="http://schemas.openxmlformats.org/drawingml/2006/main">
              <a:ext uri="{FF2B5EF4-FFF2-40B4-BE49-F238E27FC236}">
                <a16:creationId xmlns:a16="http://schemas.microsoft.com/office/drawing/2014/main" id="{67C70189-FEED-430E-AD99-86867460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Филипп Мпайимана</a:t>
            </a:r>
          </a:p>
        </p:txBody>
      </p:sp>
      <p:sp>
        <p:nvSpPr>
          <p:cNvPr id="10" name="Независимый кандидат в президенты в 2024">
            <a:extLst xmlns:a="http://schemas.openxmlformats.org/drawingml/2006/main">
              <a:ext uri="{FF2B5EF4-FFF2-40B4-BE49-F238E27FC236}">
                <a16:creationId xmlns:a16="http://schemas.microsoft.com/office/drawing/2014/main" id="{1DE0F0F3-7AA6-4726-BCA8-F15126EC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Независимый кандидат в президенты в 2024 году</a:t>
            </a:r>
          </a:p>
        </p:txBody>
      </p:sp>
      <p:sp>
        <p:nvSpPr>
          <p:cNvPr id="11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0414E04D-082C-452C-9F0B-97193358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12" name="Должности приведены в контексте исследуе">
            <a:extLst xmlns:a="http://schemas.openxmlformats.org/drawingml/2006/main">
              <a:ext uri="{FF2B5EF4-FFF2-40B4-BE49-F238E27FC236}">
                <a16:creationId xmlns:a16="http://schemas.microsoft.com/office/drawing/2014/main" id="{DE0169BD-0BAE-4FAC-B0B9-C4A95843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приведены в контексте исследуемого периода.</a:t>
            </a:r>
          </a:p>
        </p:txBody>
      </p:sp>
    </p:spTree>
    <p:extLst>
      <p:ext uri="{BB962C8B-B14F-4D97-AF65-F5344CB8AC3E}">
        <p14:creationId xmlns:p14="http://schemas.microsoft.com/office/powerpoint/2010/main" val="213070771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Участники исследования: 12 из 14">
            <a:extLst xmlns:a="http://schemas.openxmlformats.org/drawingml/2006/main">
              <a:ext uri="{FF2B5EF4-FFF2-40B4-BE49-F238E27FC236}">
                <a16:creationId xmlns:a16="http://schemas.microsoft.com/office/drawing/2014/main" id="{12F8ECAC-0B41-45DC-81FB-41FF50F4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Участники исследования: 12 из 14</a:t>
            </a:r>
          </a:p>
        </p:txBody>
      </p:sp>
      <p:sp>
        <p:nvSpPr>
          <p:cNvPr id="2" name="33">
            <a:extLst xmlns:a="http://schemas.openxmlformats.org/drawingml/2006/main">
              <a:ext uri="{FF2B5EF4-FFF2-40B4-BE49-F238E27FC236}">
                <a16:creationId xmlns:a16="http://schemas.microsoft.com/office/drawing/2014/main" id="{CA401049-66C4-4E4D-A5D1-348D60A5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3" name="Виктуар Ингабире Умухоза">
            <a:extLst xmlns:a="http://schemas.openxmlformats.org/drawingml/2006/main">
              <a:ext uri="{FF2B5EF4-FFF2-40B4-BE49-F238E27FC236}">
                <a16:creationId xmlns:a16="http://schemas.microsoft.com/office/drawing/2014/main" id="{54A93164-BEF5-4C5A-BB5B-68FF6AC8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Виктуар Ингабире Умухоза</a:t>
            </a:r>
          </a:p>
        </p:txBody>
      </p:sp>
      <p:sp>
        <p:nvSpPr>
          <p:cNvPr id="4" name="Руководитель незарегистрированной DALFA-">
            <a:extLst xmlns:a="http://schemas.openxmlformats.org/drawingml/2006/main">
              <a:ext uri="{FF2B5EF4-FFF2-40B4-BE49-F238E27FC236}">
                <a16:creationId xmlns:a16="http://schemas.microsoft.com/office/drawing/2014/main" id="{B2E0FB98-B204-4181-8C48-2F1DCD51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Руководитель незарегистрированной DALFA-Umurinzi; пыталась добиться допуска к выборам 2024 года</a:t>
            </a:r>
          </a:p>
        </p:txBody>
      </p:sp>
      <p:sp>
        <p:nvSpPr>
          <p:cNvPr id="5" name="В основной датированной матрице: 3 из 38">
            <a:extLst xmlns:a="http://schemas.openxmlformats.org/drawingml/2006/main">
              <a:ext uri="{FF2B5EF4-FFF2-40B4-BE49-F238E27FC236}">
                <a16:creationId xmlns:a16="http://schemas.microsoft.com/office/drawing/2014/main" id="{30823A90-A583-4751-943D-4015CD4B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3 из 38 признаков</a:t>
            </a:r>
          </a:p>
        </p:txBody>
      </p:sp>
      <p:sp>
        <p:nvSpPr>
          <p:cNvPr id="6" name="Диана Рвигара">
            <a:extLst xmlns:a="http://schemas.openxmlformats.org/drawingml/2006/main">
              <a:ext uri="{FF2B5EF4-FFF2-40B4-BE49-F238E27FC236}">
                <a16:creationId xmlns:a16="http://schemas.microsoft.com/office/drawing/2014/main" id="{7D96B6F3-821A-4013-AE19-E6AD400D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Диана Рвигара</a:t>
            </a:r>
          </a:p>
        </p:txBody>
      </p:sp>
      <p:sp>
        <p:nvSpPr>
          <p:cNvPr id="7" name="Руководитель People Salvation Movement; ">
            <a:extLst xmlns:a="http://schemas.openxmlformats.org/drawingml/2006/main">
              <a:ext uri="{FF2B5EF4-FFF2-40B4-BE49-F238E27FC236}">
                <a16:creationId xmlns:a16="http://schemas.microsoft.com/office/drawing/2014/main" id="{0B8AB8D0-058D-439F-97CC-9DCF0DFA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Руководитель People Salvation Movement; её кандидатура не допущена на выборы 2024 года</a:t>
            </a:r>
          </a:p>
        </p:txBody>
      </p:sp>
      <p:sp>
        <p:nvSpPr>
          <p:cNvPr id="8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5860C528-D83C-4D7B-BA84-03380C90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9" name="Бернар Нтаганда">
            <a:extLst xmlns:a="http://schemas.openxmlformats.org/drawingml/2006/main">
              <a:ext uri="{FF2B5EF4-FFF2-40B4-BE49-F238E27FC236}">
                <a16:creationId xmlns:a16="http://schemas.microsoft.com/office/drawing/2014/main" id="{FECE6604-A655-4F52-A2BE-D4C6408D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Бернар Нтаганда</a:t>
            </a:r>
          </a:p>
        </p:txBody>
      </p:sp>
      <p:sp>
        <p:nvSpPr>
          <p:cNvPr id="10" name="Основатель PS-Imberakuri; добивался восс">
            <a:extLst xmlns:a="http://schemas.openxmlformats.org/drawingml/2006/main">
              <a:ext uri="{FF2B5EF4-FFF2-40B4-BE49-F238E27FC236}">
                <a16:creationId xmlns:a16="http://schemas.microsoft.com/office/drawing/2014/main" id="{1271FAD3-8BE4-4E88-BDC7-6B14321B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Основатель PS-Imberakuri; добивался восстановления права выдвижения в 2024 году</a:t>
            </a:r>
          </a:p>
        </p:txBody>
      </p:sp>
      <p:sp>
        <p:nvSpPr>
          <p:cNvPr id="11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EEA470A1-E329-4440-8765-7CA69284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12" name="Должности приведены в контексте исследуе">
            <a:extLst xmlns:a="http://schemas.openxmlformats.org/drawingml/2006/main">
              <a:ext uri="{FF2B5EF4-FFF2-40B4-BE49-F238E27FC236}">
                <a16:creationId xmlns:a16="http://schemas.microsoft.com/office/drawing/2014/main" id="{59F2DDD6-C059-437B-87F7-05D733AF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приведены в контексте исследуемого периода.</a:t>
            </a:r>
          </a:p>
        </p:txBody>
      </p:sp>
    </p:spTree>
    <p:extLst>
      <p:ext uri="{BB962C8B-B14F-4D97-AF65-F5344CB8AC3E}">
        <p14:creationId xmlns:p14="http://schemas.microsoft.com/office/powerpoint/2010/main" val="190482869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Участники исследования: 13 из 14">
            <a:extLst xmlns:a="http://schemas.openxmlformats.org/drawingml/2006/main">
              <a:ext uri="{FF2B5EF4-FFF2-40B4-BE49-F238E27FC236}">
                <a16:creationId xmlns:a16="http://schemas.microsoft.com/office/drawing/2014/main" id="{95447B92-BB78-4A16-817D-878FAF43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Участники исследования: 13 из 14</a:t>
            </a:r>
          </a:p>
        </p:txBody>
      </p:sp>
      <p:sp>
        <p:nvSpPr>
          <p:cNvPr id="2" name="34">
            <a:extLst xmlns:a="http://schemas.openxmlformats.org/drawingml/2006/main">
              <a:ext uri="{FF2B5EF4-FFF2-40B4-BE49-F238E27FC236}">
                <a16:creationId xmlns:a16="http://schemas.microsoft.com/office/drawing/2014/main" id="{B76E6A5C-A3D4-4E7F-A032-67083AA2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" name="Кристофер Каюмба">
            <a:extLst xmlns:a="http://schemas.openxmlformats.org/drawingml/2006/main">
              <a:ext uri="{FF2B5EF4-FFF2-40B4-BE49-F238E27FC236}">
                <a16:creationId xmlns:a16="http://schemas.microsoft.com/office/drawing/2014/main" id="{7D552CD9-1DF7-44F2-8DDB-80534488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Кристофер Каюмба</a:t>
            </a:r>
          </a:p>
        </p:txBody>
      </p:sp>
      <p:sp>
        <p:nvSpPr>
          <p:cNvPr id="4" name="Основатель Rwandese Platform for Democra">
            <a:extLst xmlns:a="http://schemas.openxmlformats.org/drawingml/2006/main">
              <a:ext uri="{FF2B5EF4-FFF2-40B4-BE49-F238E27FC236}">
                <a16:creationId xmlns:a16="http://schemas.microsoft.com/office/drawing/2014/main" id="{E1B8DCD5-CC34-4AEB-B28C-A3ABA1FA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Основатель Rwandese Platform for Democracy; политическая и судебная история освещалась в 2023–2024 годах</a:t>
            </a:r>
          </a:p>
        </p:txBody>
      </p:sp>
      <p:sp>
        <p:nvSpPr>
          <p:cNvPr id="5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901D81E3-C621-4B71-AEAD-00175E8C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6" name="Поль Русесабагина">
            <a:extLst xmlns:a="http://schemas.openxmlformats.org/drawingml/2006/main">
              <a:ext uri="{FF2B5EF4-FFF2-40B4-BE49-F238E27FC236}">
                <a16:creationId xmlns:a16="http://schemas.microsoft.com/office/drawing/2014/main" id="{8642D968-7414-4FDD-8ACE-CD893579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Поль Русесабагина</a:t>
            </a:r>
          </a:p>
        </p:txBody>
      </p:sp>
      <p:sp>
        <p:nvSpPr>
          <p:cNvPr id="7" name="Оппозиционный критик правительства; осво">
            <a:extLst xmlns:a="http://schemas.openxmlformats.org/drawingml/2006/main">
              <a:ext uri="{FF2B5EF4-FFF2-40B4-BE49-F238E27FC236}">
                <a16:creationId xmlns:a16="http://schemas.microsoft.com/office/drawing/2014/main" id="{37BC43C5-5D38-48AB-A14F-822ADC05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Оппозиционный критик правительства; освобождён из заключения в марте 2023 года</a:t>
            </a:r>
          </a:p>
        </p:txBody>
      </p:sp>
      <p:sp>
        <p:nvSpPr>
          <p:cNvPr id="8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0BC3E127-641E-4455-AEF8-65CA148E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9" name="Фостен Каюмба Ньямваса">
            <a:extLst xmlns:a="http://schemas.openxmlformats.org/drawingml/2006/main">
              <a:ext uri="{FF2B5EF4-FFF2-40B4-BE49-F238E27FC236}">
                <a16:creationId xmlns:a16="http://schemas.microsoft.com/office/drawing/2014/main" id="{5BCE7296-FE89-49CB-94F1-B8C3AC5A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Фостен Каюмба Ньямваса</a:t>
            </a:r>
          </a:p>
        </p:txBody>
      </p:sp>
      <p:sp>
        <p:nvSpPr>
          <p:cNvPr id="10" name="Бывший глава военного штаба; соосновател">
            <a:extLst xmlns:a="http://schemas.openxmlformats.org/drawingml/2006/main">
              <a:ext uri="{FF2B5EF4-FFF2-40B4-BE49-F238E27FC236}">
                <a16:creationId xmlns:a16="http://schemas.microsoft.com/office/drawing/2014/main" id="{901A96CF-91E2-4A44-AF0C-0374B344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Бывший глава военного штаба; сооснователь оппозиционного Rwanda National Congress в эмиграции</a:t>
            </a:r>
          </a:p>
        </p:txBody>
      </p:sp>
      <p:sp>
        <p:nvSpPr>
          <p:cNvPr id="11" name="В основной датированной матрице: 0 из 38">
            <a:extLst xmlns:a="http://schemas.openxmlformats.org/drawingml/2006/main">
              <a:ext uri="{FF2B5EF4-FFF2-40B4-BE49-F238E27FC236}">
                <a16:creationId xmlns:a16="http://schemas.microsoft.com/office/drawing/2014/main" id="{80C5B0C0-5527-46AF-AD8C-8DB37C61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0 из 38 признаков</a:t>
            </a:r>
          </a:p>
        </p:txBody>
      </p:sp>
      <p:sp>
        <p:nvSpPr>
          <p:cNvPr id="12" name="Должности приведены в контексте исследуе">
            <a:extLst xmlns:a="http://schemas.openxmlformats.org/drawingml/2006/main">
              <a:ext uri="{FF2B5EF4-FFF2-40B4-BE49-F238E27FC236}">
                <a16:creationId xmlns:a16="http://schemas.microsoft.com/office/drawing/2014/main" id="{E021306D-7477-4CF2-834B-8C1B9EAC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приведены в контексте исследуемого периода.</a:t>
            </a:r>
          </a:p>
        </p:txBody>
      </p:sp>
    </p:spTree>
    <p:extLst>
      <p:ext uri="{BB962C8B-B14F-4D97-AF65-F5344CB8AC3E}">
        <p14:creationId xmlns:p14="http://schemas.microsoft.com/office/powerpoint/2010/main" val="44471581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Участники исследования: 14 из 14">
            <a:extLst xmlns:a="http://schemas.openxmlformats.org/drawingml/2006/main">
              <a:ext uri="{FF2B5EF4-FFF2-40B4-BE49-F238E27FC236}">
                <a16:creationId xmlns:a16="http://schemas.microsoft.com/office/drawing/2014/main" id="{7A4E0E4F-5452-4A84-BF53-E69EC618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Участники исследования: 14 из 14</a:t>
            </a:r>
          </a:p>
        </p:txBody>
      </p:sp>
      <p:sp>
        <p:nvSpPr>
          <p:cNvPr id="2" name="35">
            <a:extLst xmlns:a="http://schemas.openxmlformats.org/drawingml/2006/main">
              <a:ext uri="{FF2B5EF4-FFF2-40B4-BE49-F238E27FC236}">
                <a16:creationId xmlns:a16="http://schemas.microsoft.com/office/drawing/2014/main" id="{E9013E73-82B3-422B-8583-ED0AB144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" name="Луиза Мушикивабо">
            <a:extLst xmlns:a="http://schemas.openxmlformats.org/drawingml/2006/main">
              <a:ext uri="{FF2B5EF4-FFF2-40B4-BE49-F238E27FC236}">
                <a16:creationId xmlns:a16="http://schemas.microsoft.com/office/drawing/2014/main" id="{5FB0BD3C-F8D2-40EC-B655-FC1E8A8D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Луиза Мушикивабо</a:t>
            </a:r>
          </a:p>
        </p:txBody>
      </p:sp>
      <p:sp>
        <p:nvSpPr>
          <p:cNvPr id="4" name="Бывший министр иностранных дел Руанды; г">
            <a:extLst xmlns:a="http://schemas.openxmlformats.org/drawingml/2006/main">
              <a:ext uri="{FF2B5EF4-FFF2-40B4-BE49-F238E27FC236}">
                <a16:creationId xmlns:a16="http://schemas.microsoft.com/office/drawing/2014/main" id="{CD7AEFBE-9135-43B9-AEB8-2B7469DD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Бывший министр иностранных дел Руанды; генеральный секретарь Франкофонии, переизбрана в 2022 году</a:t>
            </a:r>
          </a:p>
        </p:txBody>
      </p:sp>
      <p:sp>
        <p:nvSpPr>
          <p:cNvPr id="5" name="В основной датированной матрице: 3 из 38">
            <a:extLst xmlns:a="http://schemas.openxmlformats.org/drawingml/2006/main">
              <a:ext uri="{FF2B5EF4-FFF2-40B4-BE49-F238E27FC236}">
                <a16:creationId xmlns:a16="http://schemas.microsoft.com/office/drawing/2014/main" id="{1570415C-37C3-4427-89D9-ED2BF9CF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3 из 38 признаков</a:t>
            </a:r>
          </a:p>
        </p:txBody>
      </p:sp>
      <p:sp>
        <p:nvSpPr>
          <p:cNvPr id="6" name="Клавер Гатете">
            <a:extLst xmlns:a="http://schemas.openxmlformats.org/drawingml/2006/main">
              <a:ext uri="{FF2B5EF4-FFF2-40B4-BE49-F238E27FC236}">
                <a16:creationId xmlns:a16="http://schemas.microsoft.com/office/drawing/2014/main" id="{4D891CFF-1C7A-4CE2-8951-1AFA99B8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Клавер Гатете</a:t>
            </a:r>
          </a:p>
        </p:txBody>
      </p:sp>
      <p:sp>
        <p:nvSpPr>
          <p:cNvPr id="7" name="Постоянный представитель Руанды при ООН ">
            <a:extLst xmlns:a="http://schemas.openxmlformats.org/drawingml/2006/main">
              <a:ext uri="{FF2B5EF4-FFF2-40B4-BE49-F238E27FC236}">
                <a16:creationId xmlns:a16="http://schemas.microsoft.com/office/drawing/2014/main" id="{5B5FBBDC-640F-4143-96C1-35C3E094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Постоянный представитель Руанды при ООН в 2023 году; назначен исполнительным секретарём ЭКА ООН 6 октября 2023 года</a:t>
            </a:r>
          </a:p>
        </p:txBody>
      </p:sp>
      <p:sp>
        <p:nvSpPr>
          <p:cNvPr id="8" name="В основной датированной матрице: 5 из 38">
            <a:extLst xmlns:a="http://schemas.openxmlformats.org/drawingml/2006/main">
              <a:ext uri="{FF2B5EF4-FFF2-40B4-BE49-F238E27FC236}">
                <a16:creationId xmlns:a16="http://schemas.microsoft.com/office/drawing/2014/main" id="{1D2AC48C-B117-49DF-B35C-66B94AC1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5 из 38 признаков</a:t>
            </a:r>
          </a:p>
        </p:txBody>
      </p:sp>
      <p:sp>
        <p:nvSpPr>
          <p:cNvPr id="9" name="Валентин Ругвабиза">
            <a:extLst xmlns:a="http://schemas.openxmlformats.org/drawingml/2006/main">
              <a:ext uri="{FF2B5EF4-FFF2-40B4-BE49-F238E27FC236}">
                <a16:creationId xmlns:a16="http://schemas.microsoft.com/office/drawing/2014/main" id="{C9509666-542C-43B4-8051-0BB532BB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Валентин Ругвабиза</a:t>
            </a:r>
          </a:p>
        </p:txBody>
      </p:sp>
      <p:sp>
        <p:nvSpPr>
          <p:cNvPr id="10" name="Постоянный представитель Руанды при ООН ">
            <a:extLst xmlns:a="http://schemas.openxmlformats.org/drawingml/2006/main">
              <a:ext uri="{FF2B5EF4-FFF2-40B4-BE49-F238E27FC236}">
                <a16:creationId xmlns:a16="http://schemas.microsoft.com/office/drawing/2014/main" id="{4476339A-5FEA-462B-A163-F30B589B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070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Постоянный представитель Руанды при ООН до назначения специальным представителем генсека ООН по ЦАР в феврале 2022 года</a:t>
            </a:r>
          </a:p>
        </p:txBody>
      </p:sp>
      <p:sp>
        <p:nvSpPr>
          <p:cNvPr id="11" name="В основной датированной матрице: 1 из 38">
            <a:extLst xmlns:a="http://schemas.openxmlformats.org/drawingml/2006/main">
              <a:ext uri="{FF2B5EF4-FFF2-40B4-BE49-F238E27FC236}">
                <a16:creationId xmlns:a16="http://schemas.microsoft.com/office/drawing/2014/main" id="{856A37A6-760D-4304-9000-6C0C3D7C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 основной датированной матрице: 1 из 38 признаков</a:t>
            </a:r>
          </a:p>
        </p:txBody>
      </p:sp>
      <p:sp>
        <p:nvSpPr>
          <p:cNvPr id="12" name="Должности приведены в контексте исследуе">
            <a:extLst xmlns:a="http://schemas.openxmlformats.org/drawingml/2006/main">
              <a:ext uri="{FF2B5EF4-FFF2-40B4-BE49-F238E27FC236}">
                <a16:creationId xmlns:a16="http://schemas.microsoft.com/office/drawing/2014/main" id="{04E35D46-6703-4CCE-B7D1-035F9DCF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приведены в контексте исследуемого периода.</a:t>
            </a:r>
          </a:p>
        </p:txBody>
      </p:sp>
    </p:spTree>
    <p:extLst>
      <p:ext uri="{BB962C8B-B14F-4D97-AF65-F5344CB8AC3E}">
        <p14:creationId xmlns:p14="http://schemas.microsoft.com/office/powerpoint/2010/main" val="41982230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Что нужно для общей политической карты">
            <a:extLst xmlns:a="http://schemas.openxmlformats.org/drawingml/2006/main">
              <a:ext uri="{FF2B5EF4-FFF2-40B4-BE49-F238E27FC236}">
                <a16:creationId xmlns:a16="http://schemas.microsoft.com/office/drawing/2014/main" id="{C0593406-E32F-471C-931A-DC96E702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Что нужно для общей политической карты</a:t>
            </a:r>
          </a:p>
        </p:txBody>
      </p:sp>
      <p:sp>
        <p:nvSpPr>
          <p:cNvPr id="2" name="36">
            <a:extLst xmlns:a="http://schemas.openxmlformats.org/drawingml/2006/main">
              <a:ext uri="{FF2B5EF4-FFF2-40B4-BE49-F238E27FC236}">
                <a16:creationId xmlns:a16="http://schemas.microsoft.com/office/drawing/2014/main" id="{74726F82-0F55-47F2-BC92-92E9BB04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" name="Сопоставимые собственные высказывания и ">
            <a:extLst xmlns:a="http://schemas.openxmlformats.org/drawingml/2006/main">
              <a:ext uri="{FF2B5EF4-FFF2-40B4-BE49-F238E27FC236}">
                <a16:creationId xmlns:a16="http://schemas.microsoft.com/office/drawing/2014/main" id="{221C4240-A969-45BE-AB60-32BD2759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57325"/>
            <a:ext cx="107061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Сопоставимые собственные высказывания и действия для участников, о которых пока известно мало.</a:t>
            </a:r>
          </a:p>
        </p:txBody>
      </p:sp>
      <p:sp>
        <p:nvSpPr>
          <p:cNvPr id="4" name="Материалы, которые содержательно обсужда">
            <a:extLst xmlns:a="http://schemas.openxmlformats.org/drawingml/2006/main">
              <a:ext uri="{FF2B5EF4-FFF2-40B4-BE49-F238E27FC236}">
                <a16:creationId xmlns:a16="http://schemas.microsoft.com/office/drawing/2014/main" id="{62DB30F4-F71E-4A31-B489-891C8EB1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9068"/>
            <a:ext cx="107061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Материалы, которые содержательно обсуждают утверждённые признаки и позволяют различить выраженную позицию, её отсутствие и нехватку сведений.</a:t>
            </a:r>
          </a:p>
        </p:txBody>
      </p:sp>
      <p:sp>
        <p:nvSpPr>
          <p:cNvPr id="5" name="После накопления таких оценок можно срав">
            <a:extLst xmlns:a="http://schemas.openxmlformats.org/drawingml/2006/main">
              <a:ext uri="{FF2B5EF4-FFF2-40B4-BE49-F238E27FC236}">
                <a16:creationId xmlns:a16="http://schemas.microsoft.com/office/drawing/2014/main" id="{BF150ABA-1040-469A-9C60-553CB9C6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0811"/>
            <a:ext cx="107061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После накопления таких оценок можно сравнить оси и группы, не превращая пропуски в сходство.</a:t>
            </a:r>
          </a:p>
        </p:txBody>
      </p:sp>
    </p:spTree>
    <p:extLst>
      <p:ext uri="{BB962C8B-B14F-4D97-AF65-F5344CB8AC3E}">
        <p14:creationId xmlns:p14="http://schemas.microsoft.com/office/powerpoint/2010/main" val="1069070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2026-10-17T21:38:52.5270000Z</dcterms:created>
  <dcterms:modified xsi:type="dcterms:W3CDTF">2026-10-17T21:38:52.5270000Z</dcterms:modified>
</coreProperties>
</file>