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2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3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4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slides/charts/chart5.xml" ContentType="application/vnd.openxmlformats-officedocument.drawingml.chart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a6d89a723f4afb" /><Relationship Type="http://schemas.openxmlformats.org/officeDocument/2006/relationships/extended-properties" Target="/docProps/app.xml" Id="R5dce96296efd4100" /><Relationship Type="http://schemas.openxmlformats.org/officeDocument/2006/relationships/officeDocument" Target="/ppt/presentation.xml" Id="Rd2b4e84562dc43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5fa2e799e84335"/>
  </p:sldMasterIdLst>
  <p:notesMasterIdLst>
    <p:notesMasterId xmlns:r="http://schemas.openxmlformats.org/officeDocument/2006/relationships" r:id="Rbfc686ad030f4311"/>
  </p:notesMasterIdLst>
  <p:sldIdLst>
    <p:sldId xmlns:r="http://schemas.openxmlformats.org/officeDocument/2006/relationships" id="256" r:id="R8a4ed345ed0c4d30"/>
    <p:sldId xmlns:r="http://schemas.openxmlformats.org/officeDocument/2006/relationships" id="257" r:id="R91516e3debb8496d"/>
    <p:sldId xmlns:r="http://schemas.openxmlformats.org/officeDocument/2006/relationships" id="258" r:id="Rca346aa093bc4227"/>
    <p:sldId xmlns:r="http://schemas.openxmlformats.org/officeDocument/2006/relationships" id="259" r:id="R256a30443d50466b"/>
    <p:sldId xmlns:r="http://schemas.openxmlformats.org/officeDocument/2006/relationships" id="260" r:id="Rea2ace965d1d42fb"/>
    <p:sldId xmlns:r="http://schemas.openxmlformats.org/officeDocument/2006/relationships" id="261" r:id="R63895555bc234784"/>
    <p:sldId xmlns:r="http://schemas.openxmlformats.org/officeDocument/2006/relationships" id="262" r:id="R5b26bcca7f624ce2"/>
    <p:sldId xmlns:r="http://schemas.openxmlformats.org/officeDocument/2006/relationships" id="263" r:id="R2ddcc2f0972d4a2e"/>
    <p:sldId xmlns:r="http://schemas.openxmlformats.org/officeDocument/2006/relationships" id="264" r:id="Rd99213c4f31a451f"/>
    <p:sldId xmlns:r="http://schemas.openxmlformats.org/officeDocument/2006/relationships" id="265" r:id="R30a4dd88a35545a0"/>
    <p:sldId xmlns:r="http://schemas.openxmlformats.org/officeDocument/2006/relationships" id="266" r:id="R970dda3878154d04"/>
    <p:sldId xmlns:r="http://schemas.openxmlformats.org/officeDocument/2006/relationships" id="267" r:id="R0f0af90ffc484f6e"/>
    <p:sldId xmlns:r="http://schemas.openxmlformats.org/officeDocument/2006/relationships" id="268" r:id="R81457828004e4acb"/>
    <p:sldId xmlns:r="http://schemas.openxmlformats.org/officeDocument/2006/relationships" id="269" r:id="R14ef80c0dac44c5b"/>
    <p:sldId xmlns:r="http://schemas.openxmlformats.org/officeDocument/2006/relationships" id="270" r:id="R04a892147a5f448e"/>
    <p:sldId xmlns:r="http://schemas.openxmlformats.org/officeDocument/2006/relationships" id="271" r:id="Rc1a8ad2a5fb540a6"/>
    <p:sldId xmlns:r="http://schemas.openxmlformats.org/officeDocument/2006/relationships" id="272" r:id="R7aa529cdb77c4800"/>
    <p:sldId xmlns:r="http://schemas.openxmlformats.org/officeDocument/2006/relationships" id="273" r:id="R41e430f599504ff8"/>
    <p:sldId xmlns:r="http://schemas.openxmlformats.org/officeDocument/2006/relationships" id="274" r:id="R16114f830b3641d2"/>
    <p:sldId xmlns:r="http://schemas.openxmlformats.org/officeDocument/2006/relationships" id="275" r:id="Rc72c46ec99c644ec"/>
    <p:sldId xmlns:r="http://schemas.openxmlformats.org/officeDocument/2006/relationships" id="276" r:id="Rff64cfa943dc4bc3"/>
    <p:sldId xmlns:r="http://schemas.openxmlformats.org/officeDocument/2006/relationships" id="277" r:id="R88c876f72c024019"/>
    <p:sldId xmlns:r="http://schemas.openxmlformats.org/officeDocument/2006/relationships" id="278" r:id="R0c5cb227a15b4b5a"/>
    <p:sldId xmlns:r="http://schemas.openxmlformats.org/officeDocument/2006/relationships" id="279" r:id="R6022c7459d444cab"/>
    <p:sldId xmlns:r="http://schemas.openxmlformats.org/officeDocument/2006/relationships" id="280" r:id="R1b1bd41a86f74228"/>
    <p:sldId xmlns:r="http://schemas.openxmlformats.org/officeDocument/2006/relationships" id="281" r:id="R278c381a59e34c05"/>
    <p:sldId xmlns:r="http://schemas.openxmlformats.org/officeDocument/2006/relationships" id="282" r:id="Re33821f1a5294239"/>
    <p:sldId xmlns:r="http://schemas.openxmlformats.org/officeDocument/2006/relationships" id="283" r:id="R71ce19c643df4976"/>
    <p:sldId xmlns:r="http://schemas.openxmlformats.org/officeDocument/2006/relationships" id="284" r:id="R9166065e830b42eb"/>
    <p:sldId xmlns:r="http://schemas.openxmlformats.org/officeDocument/2006/relationships" id="285" r:id="R7a17660c24364825"/>
    <p:sldId xmlns:r="http://schemas.openxmlformats.org/officeDocument/2006/relationships" id="286" r:id="Rb33597d83ad54913"/>
    <p:sldId xmlns:r="http://schemas.openxmlformats.org/officeDocument/2006/relationships" id="287" r:id="Ree4800a05ba9432e"/>
    <p:sldId xmlns:r="http://schemas.openxmlformats.org/officeDocument/2006/relationships" id="288" r:id="R7c6105bb49f04ad9"/>
    <p:sldId xmlns:r="http://schemas.openxmlformats.org/officeDocument/2006/relationships" id="289" r:id="R166fba7cb68a42ad"/>
    <p:sldId xmlns:r="http://schemas.openxmlformats.org/officeDocument/2006/relationships" id="290" r:id="Ra75d40b65b4e4116"/>
    <p:sldId xmlns:r="http://schemas.openxmlformats.org/officeDocument/2006/relationships" id="291" r:id="R28ea573b23a2497a"/>
    <p:sldId xmlns:r="http://schemas.openxmlformats.org/officeDocument/2006/relationships" id="292" r:id="R4d33c81f20d747de"/>
    <p:sldId xmlns:r="http://schemas.openxmlformats.org/officeDocument/2006/relationships" id="293" r:id="R55069120a8bc45fe"/>
    <p:sldId xmlns:r="http://schemas.openxmlformats.org/officeDocument/2006/relationships" id="294" r:id="Ra60bab66c55d4f26"/>
    <p:sldId xmlns:r="http://schemas.openxmlformats.org/officeDocument/2006/relationships" id="295" r:id="Re571a908f2234220"/>
    <p:sldId xmlns:r="http://schemas.openxmlformats.org/officeDocument/2006/relationships" id="296" r:id="R3e5fa6743aff419c"/>
    <p:sldId xmlns:r="http://schemas.openxmlformats.org/officeDocument/2006/relationships" id="297" r:id="Rb05517f40ba64cd8"/>
    <p:sldId xmlns:r="http://schemas.openxmlformats.org/officeDocument/2006/relationships" id="298" r:id="R4dd6e4cba73e4fbc"/>
    <p:sldId xmlns:r="http://schemas.openxmlformats.org/officeDocument/2006/relationships" id="299" r:id="R612dbc3b31a8458a"/>
    <p:sldId xmlns:r="http://schemas.openxmlformats.org/officeDocument/2006/relationships" id="300" r:id="Ra36b4fab67df4fac"/>
    <p:sldId xmlns:r="http://schemas.openxmlformats.org/officeDocument/2006/relationships" id="301" r:id="Rba00cb16b20a46c8"/>
    <p:sldId xmlns:r="http://schemas.openxmlformats.org/officeDocument/2006/relationships" id="302" r:id="R6f622de99e1e4ac2"/>
    <p:sldId xmlns:r="http://schemas.openxmlformats.org/officeDocument/2006/relationships" id="303" r:id="Rfc70841925bc493e"/>
    <p:sldId xmlns:r="http://schemas.openxmlformats.org/officeDocument/2006/relationships" id="304" r:id="Re97d584c412841ae"/>
    <p:sldId xmlns:r="http://schemas.openxmlformats.org/officeDocument/2006/relationships" id="305" r:id="Rd7f165bed53442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254e54f1f84376" /><Relationship Type="http://schemas.openxmlformats.org/officeDocument/2006/relationships/slideMaster" Target="/ppt/slideMasters/slideMaster1.xml" Id="Rd05fa2e799e84335" /><Relationship Type="http://schemas.openxmlformats.org/officeDocument/2006/relationships/notesMaster" Target="/ppt/notesMasters/notesMaster1.xml" Id="Rbfc686ad030f4311" /><Relationship Type="http://schemas.openxmlformats.org/officeDocument/2006/relationships/presProps" Target="/ppt/presProps.xml" Id="R17a5f4fa1ee04eb1" /><Relationship Type="http://schemas.openxmlformats.org/officeDocument/2006/relationships/tableStyles" Target="/ppt/tableStyles.xml" Id="R24f51782e16e45fa" /><Relationship Type="http://schemas.openxmlformats.org/officeDocument/2006/relationships/slide" Target="/ppt/slides/slide1.xml" Id="R8a4ed345ed0c4d30" /><Relationship Type="http://schemas.openxmlformats.org/officeDocument/2006/relationships/slide" Target="/ppt/slides/slide2.xml" Id="R91516e3debb8496d" /><Relationship Type="http://schemas.openxmlformats.org/officeDocument/2006/relationships/slide" Target="/ppt/slides/slide3.xml" Id="Rca346aa093bc4227" /><Relationship Type="http://schemas.openxmlformats.org/officeDocument/2006/relationships/slide" Target="/ppt/slides/slide4.xml" Id="R256a30443d50466b" /><Relationship Type="http://schemas.openxmlformats.org/officeDocument/2006/relationships/slide" Target="/ppt/slides/slide5.xml" Id="Rea2ace965d1d42fb" /><Relationship Type="http://schemas.openxmlformats.org/officeDocument/2006/relationships/slide" Target="/ppt/slides/slide6.xml" Id="R63895555bc234784" /><Relationship Type="http://schemas.openxmlformats.org/officeDocument/2006/relationships/slide" Target="/ppt/slides/slide7.xml" Id="R5b26bcca7f624ce2" /><Relationship Type="http://schemas.openxmlformats.org/officeDocument/2006/relationships/slide" Target="/ppt/slides/slide8.xml" Id="R2ddcc2f0972d4a2e" /><Relationship Type="http://schemas.openxmlformats.org/officeDocument/2006/relationships/slide" Target="/ppt/slides/slide9.xml" Id="Rd99213c4f31a451f" /><Relationship Type="http://schemas.openxmlformats.org/officeDocument/2006/relationships/slide" Target="/ppt/slides/slide10.xml" Id="R30a4dd88a35545a0" /><Relationship Type="http://schemas.openxmlformats.org/officeDocument/2006/relationships/slide" Target="/ppt/slides/slide11.xml" Id="R970dda3878154d04" /><Relationship Type="http://schemas.openxmlformats.org/officeDocument/2006/relationships/slide" Target="/ppt/slides/slide12.xml" Id="R0f0af90ffc484f6e" /><Relationship Type="http://schemas.openxmlformats.org/officeDocument/2006/relationships/slide" Target="/ppt/slides/slide13.xml" Id="R81457828004e4acb" /><Relationship Type="http://schemas.openxmlformats.org/officeDocument/2006/relationships/slide" Target="/ppt/slides/slide14.xml" Id="R14ef80c0dac44c5b" /><Relationship Type="http://schemas.openxmlformats.org/officeDocument/2006/relationships/slide" Target="/ppt/slides/slide15.xml" Id="R04a892147a5f448e" /><Relationship Type="http://schemas.openxmlformats.org/officeDocument/2006/relationships/slide" Target="/ppt/slides/slide16.xml" Id="Rc1a8ad2a5fb540a6" /><Relationship Type="http://schemas.openxmlformats.org/officeDocument/2006/relationships/slide" Target="/ppt/slides/slide17.xml" Id="R7aa529cdb77c4800" /><Relationship Type="http://schemas.openxmlformats.org/officeDocument/2006/relationships/slide" Target="/ppt/slides/slide18.xml" Id="R41e430f599504ff8" /><Relationship Type="http://schemas.openxmlformats.org/officeDocument/2006/relationships/slide" Target="/ppt/slides/slide19.xml" Id="R16114f830b3641d2" /><Relationship Type="http://schemas.openxmlformats.org/officeDocument/2006/relationships/slide" Target="/ppt/slides/slide20.xml" Id="Rc72c46ec99c644ec" /><Relationship Type="http://schemas.openxmlformats.org/officeDocument/2006/relationships/slide" Target="/ppt/slides/slide21.xml" Id="Rff64cfa943dc4bc3" /><Relationship Type="http://schemas.openxmlformats.org/officeDocument/2006/relationships/slide" Target="/ppt/slides/slide22.xml" Id="R88c876f72c024019" /><Relationship Type="http://schemas.openxmlformats.org/officeDocument/2006/relationships/slide" Target="/ppt/slides/slide23.xml" Id="R0c5cb227a15b4b5a" /><Relationship Type="http://schemas.openxmlformats.org/officeDocument/2006/relationships/slide" Target="/ppt/slides/slide24.xml" Id="R6022c7459d444cab" /><Relationship Type="http://schemas.openxmlformats.org/officeDocument/2006/relationships/slide" Target="/ppt/slides/slide25.xml" Id="R1b1bd41a86f74228" /><Relationship Type="http://schemas.openxmlformats.org/officeDocument/2006/relationships/slide" Target="/ppt/slides/slide26.xml" Id="R278c381a59e34c05" /><Relationship Type="http://schemas.openxmlformats.org/officeDocument/2006/relationships/slide" Target="/ppt/slides/slide27.xml" Id="Re33821f1a5294239" /><Relationship Type="http://schemas.openxmlformats.org/officeDocument/2006/relationships/slide" Target="/ppt/slides/slide28.xml" Id="R71ce19c643df4976" /><Relationship Type="http://schemas.openxmlformats.org/officeDocument/2006/relationships/slide" Target="/ppt/slides/slide29.xml" Id="R9166065e830b42eb" /><Relationship Type="http://schemas.openxmlformats.org/officeDocument/2006/relationships/slide" Target="/ppt/slides/slide30.xml" Id="R7a17660c24364825" /><Relationship Type="http://schemas.openxmlformats.org/officeDocument/2006/relationships/slide" Target="/ppt/slides/slide31.xml" Id="Rb33597d83ad54913" /><Relationship Type="http://schemas.openxmlformats.org/officeDocument/2006/relationships/slide" Target="/ppt/slides/slide32.xml" Id="Ree4800a05ba9432e" /><Relationship Type="http://schemas.openxmlformats.org/officeDocument/2006/relationships/slide" Target="/ppt/slides/slide33.xml" Id="R7c6105bb49f04ad9" /><Relationship Type="http://schemas.openxmlformats.org/officeDocument/2006/relationships/slide" Target="/ppt/slides/slide34.xml" Id="R166fba7cb68a42ad" /><Relationship Type="http://schemas.openxmlformats.org/officeDocument/2006/relationships/slide" Target="/ppt/slides/slide35.xml" Id="Ra75d40b65b4e4116" /><Relationship Type="http://schemas.openxmlformats.org/officeDocument/2006/relationships/slide" Target="/ppt/slides/slide36.xml" Id="R28ea573b23a2497a" /><Relationship Type="http://schemas.openxmlformats.org/officeDocument/2006/relationships/slide" Target="/ppt/slides/slide37.xml" Id="R4d33c81f20d747de" /><Relationship Type="http://schemas.openxmlformats.org/officeDocument/2006/relationships/slide" Target="/ppt/slides/slide38.xml" Id="R55069120a8bc45fe" /><Relationship Type="http://schemas.openxmlformats.org/officeDocument/2006/relationships/slide" Target="/ppt/slides/slide39.xml" Id="Ra60bab66c55d4f26" /><Relationship Type="http://schemas.openxmlformats.org/officeDocument/2006/relationships/slide" Target="/ppt/slides/slide40.xml" Id="Re571a908f2234220" /><Relationship Type="http://schemas.openxmlformats.org/officeDocument/2006/relationships/slide" Target="/ppt/slides/slide41.xml" Id="R3e5fa6743aff419c" /><Relationship Type="http://schemas.openxmlformats.org/officeDocument/2006/relationships/slide" Target="/ppt/slides/slide42.xml" Id="Rb05517f40ba64cd8" /><Relationship Type="http://schemas.openxmlformats.org/officeDocument/2006/relationships/slide" Target="/ppt/slides/slide43.xml" Id="R4dd6e4cba73e4fbc" /><Relationship Type="http://schemas.openxmlformats.org/officeDocument/2006/relationships/slide" Target="/ppt/slides/slide44.xml" Id="R612dbc3b31a8458a" /><Relationship Type="http://schemas.openxmlformats.org/officeDocument/2006/relationships/slide" Target="/ppt/slides/slide45.xml" Id="Ra36b4fab67df4fac" /><Relationship Type="http://schemas.openxmlformats.org/officeDocument/2006/relationships/slide" Target="/ppt/slides/slide46.xml" Id="Rba00cb16b20a46c8" /><Relationship Type="http://schemas.openxmlformats.org/officeDocument/2006/relationships/slide" Target="/ppt/slides/slide47.xml" Id="R6f622de99e1e4ac2" /><Relationship Type="http://schemas.openxmlformats.org/officeDocument/2006/relationships/slide" Target="/ppt/slides/slide48.xml" Id="Rfc70841925bc493e" /><Relationship Type="http://schemas.openxmlformats.org/officeDocument/2006/relationships/slide" Target="/ppt/slides/slide49.xml" Id="Re97d584c412841ae" /><Relationship Type="http://schemas.openxmlformats.org/officeDocument/2006/relationships/slide" Target="/ppt/slides/slide50.xml" Id="Rd7f165bed53442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165f0878524e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67cf876ef74687" /><Relationship Type="http://schemas.openxmlformats.org/officeDocument/2006/relationships/notesMaster" Target="/ppt/notesMasters/notesMaster1.xml" Id="R9b738567871541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9d19aa54724963" /><Relationship Type="http://schemas.openxmlformats.org/officeDocument/2006/relationships/notesMaster" Target="/ppt/notesMasters/notesMaster1.xml" Id="Rfdec3ddf094649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71577ce5b34bcc" /><Relationship Type="http://schemas.openxmlformats.org/officeDocument/2006/relationships/notesMaster" Target="/ppt/notesMasters/notesMaster1.xml" Id="R859ff03ab74e4a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ec02863d00498c" /><Relationship Type="http://schemas.openxmlformats.org/officeDocument/2006/relationships/notesMaster" Target="/ppt/notesMasters/notesMaster1.xml" Id="Rd16329c4d82049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5159e530004c0e" /><Relationship Type="http://schemas.openxmlformats.org/officeDocument/2006/relationships/notesMaster" Target="/ppt/notesMasters/notesMaster1.xml" Id="Rd20329a63a514d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45561304cb4dc3" /><Relationship Type="http://schemas.openxmlformats.org/officeDocument/2006/relationships/notesMaster" Target="/ppt/notesMasters/notesMaster1.xml" Id="R3584675af49b4b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4b056f0eea4c67" /><Relationship Type="http://schemas.openxmlformats.org/officeDocument/2006/relationships/notesMaster" Target="/ppt/notesMasters/notesMaster1.xml" Id="R2e73f63644f24a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27991b73454ba3" /><Relationship Type="http://schemas.openxmlformats.org/officeDocument/2006/relationships/notesMaster" Target="/ppt/notesMasters/notesMaster1.xml" Id="R8b641fe6dc1744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b1637933a84f0f" /><Relationship Type="http://schemas.openxmlformats.org/officeDocument/2006/relationships/notesMaster" Target="/ppt/notesMasters/notesMaster1.xml" Id="Rfc6d511d78ca45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4f21867e1142dc" /><Relationship Type="http://schemas.openxmlformats.org/officeDocument/2006/relationships/notesMaster" Target="/ppt/notesMasters/notesMaster1.xml" Id="Re6734acd736446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e7934fc11d4b0a" /><Relationship Type="http://schemas.openxmlformats.org/officeDocument/2006/relationships/notesMaster" Target="/ppt/notesMasters/notesMaster1.xml" Id="R5a81b0a41d6345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494f4c1719466b" /><Relationship Type="http://schemas.openxmlformats.org/officeDocument/2006/relationships/notesMaster" Target="/ppt/notesMasters/notesMaster1.xml" Id="R122849e940a145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cd170c6c9243a5" /><Relationship Type="http://schemas.openxmlformats.org/officeDocument/2006/relationships/notesMaster" Target="/ppt/notesMasters/notesMaster1.xml" Id="R7b2885992d834ad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7492e6d49604fcd" /><Relationship Type="http://schemas.openxmlformats.org/officeDocument/2006/relationships/notesMaster" Target="/ppt/notesMasters/notesMaster1.xml" Id="R57d2c39e19074b8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cb653a682c6405d" /><Relationship Type="http://schemas.openxmlformats.org/officeDocument/2006/relationships/notesMaster" Target="/ppt/notesMasters/notesMaster1.xml" Id="R3e1d33e72a844d9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7b797978acf4d5d" /><Relationship Type="http://schemas.openxmlformats.org/officeDocument/2006/relationships/notesMaster" Target="/ppt/notesMasters/notesMaster1.xml" Id="Rb69ac74520c2488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dc65c72203c438e" /><Relationship Type="http://schemas.openxmlformats.org/officeDocument/2006/relationships/notesMaster" Target="/ppt/notesMasters/notesMaster1.xml" Id="R54fc736ff17942e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82ff2338108403d" /><Relationship Type="http://schemas.openxmlformats.org/officeDocument/2006/relationships/notesMaster" Target="/ppt/notesMasters/notesMaster1.xml" Id="R976072a9e04f4c0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0aedec86ff44809" /><Relationship Type="http://schemas.openxmlformats.org/officeDocument/2006/relationships/notesMaster" Target="/ppt/notesMasters/notesMaster1.xml" Id="Rc61d61baf6574f2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2f2999b4a054667" /><Relationship Type="http://schemas.openxmlformats.org/officeDocument/2006/relationships/notesMaster" Target="/ppt/notesMasters/notesMaster1.xml" Id="R8c9826ad0938429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dcbfdb62df14aa0" /><Relationship Type="http://schemas.openxmlformats.org/officeDocument/2006/relationships/notesMaster" Target="/ppt/notesMasters/notesMaster1.xml" Id="R721b29915c4e49d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6b91b85db874506" /><Relationship Type="http://schemas.openxmlformats.org/officeDocument/2006/relationships/notesMaster" Target="/ppt/notesMasters/notesMaster1.xml" Id="R51134bc23c0f45c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b7525160e204b11" /><Relationship Type="http://schemas.openxmlformats.org/officeDocument/2006/relationships/notesMaster" Target="/ppt/notesMasters/notesMaster1.xml" Id="R89862a2fda46416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7537e9ae6e848cb" /><Relationship Type="http://schemas.openxmlformats.org/officeDocument/2006/relationships/notesMaster" Target="/ppt/notesMasters/notesMaster1.xml" Id="Rd895f832b268400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75abaaef11f4505" /><Relationship Type="http://schemas.openxmlformats.org/officeDocument/2006/relationships/notesMaster" Target="/ppt/notesMasters/notesMaster1.xml" Id="R8f369a4234a0413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3af2e0f41074083" /><Relationship Type="http://schemas.openxmlformats.org/officeDocument/2006/relationships/notesMaster" Target="/ppt/notesMasters/notesMaster1.xml" Id="R25bb9eee95824e3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cdb19c9811b4375" /><Relationship Type="http://schemas.openxmlformats.org/officeDocument/2006/relationships/notesMaster" Target="/ppt/notesMasters/notesMaster1.xml" Id="Re23a8f76d11948c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ef18d44cf0d4880" /><Relationship Type="http://schemas.openxmlformats.org/officeDocument/2006/relationships/notesMaster" Target="/ppt/notesMasters/notesMaster1.xml" Id="Ra03a12bb727e4e6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9980dbaf3e84340" /><Relationship Type="http://schemas.openxmlformats.org/officeDocument/2006/relationships/notesMaster" Target="/ppt/notesMasters/notesMaster1.xml" Id="R7cb15e416134488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debe1696aa540b9" /><Relationship Type="http://schemas.openxmlformats.org/officeDocument/2006/relationships/notesMaster" Target="/ppt/notesMasters/notesMaster1.xml" Id="Rcc2cd1070e3a4f4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cab6ec760ed47a5" /><Relationship Type="http://schemas.openxmlformats.org/officeDocument/2006/relationships/notesMaster" Target="/ppt/notesMasters/notesMaster1.xml" Id="R53ca207a7824488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b50744b1b664671" /><Relationship Type="http://schemas.openxmlformats.org/officeDocument/2006/relationships/notesMaster" Target="/ppt/notesMasters/notesMaster1.xml" Id="Re20d5e17915b49e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bab32d96efb4658" /><Relationship Type="http://schemas.openxmlformats.org/officeDocument/2006/relationships/notesMaster" Target="/ppt/notesMasters/notesMaster1.xml" Id="R663809577783438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b7048557b76440c" /><Relationship Type="http://schemas.openxmlformats.org/officeDocument/2006/relationships/notesMaster" Target="/ppt/notesMasters/notesMaster1.xml" Id="Rf8e3da854df242f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0fee7cce1764d28" /><Relationship Type="http://schemas.openxmlformats.org/officeDocument/2006/relationships/notesMaster" Target="/ppt/notesMasters/notesMaster1.xml" Id="R4d5d42da730441a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b373123122c4456" /><Relationship Type="http://schemas.openxmlformats.org/officeDocument/2006/relationships/notesMaster" Target="/ppt/notesMasters/notesMaster1.xml" Id="Rfc2e8580a59a417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4eaeb9927224e2b" /><Relationship Type="http://schemas.openxmlformats.org/officeDocument/2006/relationships/notesMaster" Target="/ppt/notesMasters/notesMaster1.xml" Id="Readfa497f3c3472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f625c1dd60b4c8c" /><Relationship Type="http://schemas.openxmlformats.org/officeDocument/2006/relationships/notesMaster" Target="/ppt/notesMasters/notesMaster1.xml" Id="Rb3b491c63d694b5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9f56a69bfdb4d85" /><Relationship Type="http://schemas.openxmlformats.org/officeDocument/2006/relationships/notesMaster" Target="/ppt/notesMasters/notesMaster1.xml" Id="R03b9eed595e8492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32dbdbf5a3640db" /><Relationship Type="http://schemas.openxmlformats.org/officeDocument/2006/relationships/notesMaster" Target="/ppt/notesMasters/notesMaster1.xml" Id="Rc943b19497f5411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6be329048fb4cfa" /><Relationship Type="http://schemas.openxmlformats.org/officeDocument/2006/relationships/notesMaster" Target="/ppt/notesMasters/notesMaster1.xml" Id="Rfb74f6024c4b4f9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843378701424a42" /><Relationship Type="http://schemas.openxmlformats.org/officeDocument/2006/relationships/notesMaster" Target="/ppt/notesMasters/notesMaster1.xml" Id="R3a3cd02c8c78439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873f0fab6f54e8f" /><Relationship Type="http://schemas.openxmlformats.org/officeDocument/2006/relationships/notesMaster" Target="/ppt/notesMasters/notesMaster1.xml" Id="R74454fdba8ea433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13ac15a72cc48ae" /><Relationship Type="http://schemas.openxmlformats.org/officeDocument/2006/relationships/notesMaster" Target="/ppt/notesMasters/notesMaster1.xml" Id="R83e5df2e41a74ea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2cdbf0096b1477e" /><Relationship Type="http://schemas.openxmlformats.org/officeDocument/2006/relationships/notesMaster" Target="/ppt/notesMasters/notesMaster1.xml" Id="R3834fd37a0d04a5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de2c3da910e04c05" /><Relationship Type="http://schemas.openxmlformats.org/officeDocument/2006/relationships/notesMaster" Target="/ppt/notesMasters/notesMaster1.xml" Id="R35ac3776a614477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355c8257ce134c39" /><Relationship Type="http://schemas.openxmlformats.org/officeDocument/2006/relationships/notesMaster" Target="/ppt/notesMasters/notesMaster1.xml" Id="R372ec084e1544da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f78b2c320c5447c5" /><Relationship Type="http://schemas.openxmlformats.org/officeDocument/2006/relationships/notesMaster" Target="/ppt/notesMasters/notesMaster1.xml" Id="R9d088f2ac9814e8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e42b1ef49bf4e8b" /><Relationship Type="http://schemas.openxmlformats.org/officeDocument/2006/relationships/notesMaster" Target="/ppt/notesMasters/notesMaster1.xml" Id="R71b4544976114476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8b4fdb5dc6874c87" /><Relationship Type="http://schemas.openxmlformats.org/officeDocument/2006/relationships/notesMaster" Target="/ppt/notesMasters/notesMaster1.xml" Id="Rc6f25a6557de43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https://www.nec.gov.rw/fileadmin/user_upload/NEC/Publications/Elections_Results/Elections-Results-1.pdf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https://www.hrw.org/news/2024/06/14/rwanda-respect-rights-during-elections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https://www.paulkagame.rw/kwibuka-30-address-by-president-kagame/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https://www.minecofin.gov.rw/fileadmin/user_upload/Minecofin/Publications/STRATEGIES/NST_2/NST2_2024-2029_Abridged.pdf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https://www.minecofin.gov.rw/fileadmin/user_upload/Minecofin/Publications/STRATEGIES/NST_2/NST2_2024-2029_Abridged.pdf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https://www.worldbank.org/en/news/press-release/2025/04/01/rwandas-afe-economy-registers-robust-growth-in-2024-despite-global-challenges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https://www.minecofin.gov.rw/fileadmin/user_upload/Minecofin/Publications/STRATEGIES/NST_2/NST2_2024-2029_Abridged.pdf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https://www.worldbank.org/en/news/press-release/2025/04/01/rwandas-afe-economy-registers-robust-growth-in-2024-despite-global-challenges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https://www.minecofin.gov.rw/fileadmin/user_upload/Minecofin/Publications/STRATEGIES/NST_2/NST2_2024-2029_Abridged.pdf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https://www.worldbank.org/en/news/press-release/2025/04/01/rwandas-afe-economy-registers-robust-growth-in-2024-despite-global-challenges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https://www.paulkagame.rw/kwibuka-30-address-by-president-kagame/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https://www.moh.gov.rw/news-detail/rwanda-who-join-forces-to-boost-epidemic-preparedness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Точные координаты: selected_q3/metadata.json. Число подписей статической карты 8/8.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Точные координаты: selected_q3/metadata.json. Число подписей статической карты 8/8.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Точные координаты: selected_q3/metadata.json. Число подписей статической карты 37/37.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Точные координаты: selected_q3/metadata.json. Число подписей статической карты 37/37.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https://www.minubumwe.gov.rw/news-detail/min-dr-bizimana-yasabye-abiga-muri-seminari-nkuru-ya-kabgayi-kwimakaza-ndi-umunyarwanda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https://www.ktpress.rw/2021/12/pdi-party-marks-30-years-with-pledge-of-allegiance-to-ruling-party/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https://www.primature.gov.rw/news-detail/the-prime-minister-presented-government-actions-related-to-achievements-in-basic-education-primary-secondary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https://primature.prod.risa.rw/news-detail/pm-nsengiyumva-officially-sworn-in-as-prime-minister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https://www.newtimes.co.rw/article/18346/news/elections/frank-habineza-campaigns-in-muhanga-promises-changes-in-mining-sector/amp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https://www.paulkagame.rw/remarks-by-the-president-of-the-republic-during-the-swearing-in-ceremony-of-new-government-officials-kigali-23-december-2024/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https://www.bbc.com/news/articles/cw007n5pn4wo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{"method": "t-SNE", "seed": 20261015, "perplexity": 12.0, "init": "pca", "iterations": 1000, "input_dimensions": 3, "coordinates": [[2.4590091705322266, 1.9082868099212646], [1.769302248954773, 11.942258834838867], [-1.9760699272155762, 6.074139595031738], [-2.6079041957855225, 5.462597846984863], [-0.7777326703071594, 5.436401844024658], [-2.3230175971984863, 1.882885456085205], [1.4350450038909912, 2.732623815536499], [2.8615925312042236, 8.532267570495605], [1.4800782203674316, 12.132847785949707], [0.7082613706588745, 11.799094200134277], [-0.009819313883781433, 11.357007026672363], [2.387946844100952, 12.060105323791504], [3.202033042907715, 9.270898818969727], [0.6404746174812317, 6.589987754821777], [0.9824686050415039, 7.670310020446777], [-1.752937912940979, 5.254044055938721], [1.6216216087341309, 6.8871259689331055], [0.07351499795913696, 7.008114814758301], [1.4806034564971924, 7.786139965057373], [-3.054816961288452, 10.577790260314941], [-0.25531989336013794, 11.180340766906738], [-3.195704698562622, 2.6819703578948975], [-0.23832100629806519, 6.1321258544921875], [0.4324618875980377, 5.856276035308838], [2.6798293590545654, 2.708012104034424], [-3.1059963703155518, 2.599571466445923], [-3.2441866397857666, 5.838416576385498], [-3.001213312149048, 10.621931076049805], [2.640742301940918, 8.652436256408691], [-0.7837436199188232, 6.707493305206299], [4.104005336761475, 4.014102935791016], [3.1600217819213867, 3.3362576961517334], [4.774392127990723, 4.694878101348877], [2.19909930229187, 2.7022690773010254], [-2.944427728652954, 6.433496952056885], [-1.022778868675232, 6.064141750335693], [1.4541962146759033, 10.865635871887207]]}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https://rwandaises.com/2023/06/la-russie-et-le-rwanda-sengagent-a-renforcer-les-liens-diplomatiques-existants/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https://www.topafricanews.com/2022/03/31/washington-here-are-q-a-from-dr-vincent-biruta-and-dr-mujawamariya-about-geopolitical-and-climate-issues/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https://www.newtimes.co.rw/article/10916/news/politics/kagame-the-problem-is-not-between-me-and-tshisekedi/amp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https://www.paulkagame.rw/president-kagame-visits-benin-cotonou-15-17-april-2023/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https://t.me/rusembrwanda/129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https://mid.ru/ru/foreign_policy/news/2067378/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https://t.me/rusembrwanda/396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https://www.mod.gov.rw/docs-media/news-detail/rrdf-hosts-the-7th-meeting-of-the-rwanda-russia-joint-commission-on-military-technical-cooperation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https://t.me/minzdrav_ru/14879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https://www.francophonie.org/la-secretaire-generale-de-la-francophonie-demeure-extremement-preoccupee-par-la-persistance-de-2636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https://www.topafricanews.com/2022/03/31/washington-here-are-q-a-from-dr-vincent-biruta-and-dr-mujawamariya-about-geopolitical-and-climate-issues/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https://www.themoscowtimes.com/2024/11/09/rwanda-counting-on-russia-to-train-nuclear-power-specialists-a86964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https://www.rwandainghana.gov.rw/actualites/info-details/president-kagame-sworn-in-for-a-five-year-term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https://www.hrw.org/news/2024/06/14/rwanda-respect-rights-during-elections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https://www.primature.gov.rw/index.php?eID=dumpFile&amp;f=120236&amp;t=f&amp;token=7de66acf7742c515b4ac9071f0ea51fa31d4451e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https://www.primature.gov.rw/about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https://primature.prod.risa.rw/news-detail/pm-nsengiyumva-officially-sworn-in-as-prime-minister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https://www.primature.gov.rw/about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https://primature.prod.risa.rw/news-detail/pm-nsengiyumva-officially-sworn-in-as-prime-minister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https://www.minaffet.gov.rw/updates/news/page?cHash=764ee7520c0d7693c560332fdd905b60&amp;tx_news_pi1%5BcurrentPage%5D=17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https://www.primature.gov.rw/index.php?eID=dumpFile&amp;f=103921&amp;t=f&amp;token=674c3d927f1443e0309c38a0fffb76c2e7e273c3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https://www.primature.gov.rw/index.php?eID=dumpFile&amp;f=103921&amp;t=f&amp;token=674c3d927f1443e0309c38a0fffb76c2e7e273c3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https://www.minaffet.gov.rw/updates/news-details/prof-manasseh-hands-over-to-gen-rtd-kabarebe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https://www.mod.gov.rw/docs-media/news-detail/newly-appointed-minister-of-defence-assumes-responsibilities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https://www.primature.gov.rw/index.php?eID=dumpFile&amp;f=103921&amp;t=f&amp;token=674c3d927f1443e0309c38a0fffb76c2e7e273c3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https://www.primature.gov.rw/index.php?eID=dumpFile&amp;f=103921&amp;t=f&amp;token=674c3d927f1443e0309c38a0fffb76c2e7e273c3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https://www.mod.gov.rw/docs-media/news-detail/rwanda-defence-minister-addresses-un-peacekeeping-ministerial-conference-in-seoul-2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https://www.minijust.gov.rw/news-detail/minister-of-justice-attorney-general-met-with-government-legal-advisors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https://www.primature.gov.rw/index.php?eID=dumpFile&amp;f=103921&amp;t=f&amp;token=674c3d927f1443e0309c38a0fffb76c2e7e273c3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https://www.minecofin.gov.rw/news-detail/96-of-rwandans-are-financially-included-finscope-survey-2024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https://www.eadb.org/site/assets/files/2279/2024_annual_report.pdf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https://www.eadb.org/site/assets/files/2279/2024_annual_report.pdf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https://www.primature.gov.rw/index.php?eID=dumpFile&amp;f=103921&amp;t=f&amp;token=674c3d927f1443e0309c38a0fffb76c2e7e273c3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https://www.moh.gov.rw/news-detail/rwanda-who-join-forces-to-boost-epidemic-preparedness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https://www.primature.gov.rw/index.php?eID=dumpFile&amp;f=103921&amp;t=f&amp;token=674c3d927f1443e0309c38a0fffb76c2e7e273c3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https://www.primature.gov.rw/about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https://www.primature.gov.rw/index.php?eID=dumpFile&amp;f=103921&amp;t=f&amp;token=674c3d927f1443e0309c38a0fffb76c2e7e273c3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https://www.primature.gov.rw/index.php?eID=dumpFile&amp;f=103921&amp;t=f&amp;token=674c3d927f1443e0309c38a0fffb76c2e7e273c3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https://www.mifotra.gov.rw/news-detail/handover-ceremony-of-new-minister-of-mifotra-hon-dr-jeanne-darc-mujawamariya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https://www.minagri.gov.rw/updates/news/page?cHash=49ecfd44c04f184493dc7133cc4ed740&amp;tx_news_pi1%5BcurrentPage%5D=6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https://www.minagri.gov.rw/updates/news/page?cHash=49ecfd44c04f184493dc7133cc4ed740&amp;tx_news_pi1%5BcurrentPage%5D=6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https://www.primature.gov.rw/index.php?eID=dumpFile&amp;f=103921&amp;t=f&amp;token=674c3d927f1443e0309c38a0fffb76c2e7e273c3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https://www.kigalicity.gov.rw/news-detail/dusengiyumva-samuel-sworn-in-as-the-new-city-of-kigali-mayor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https://www.primature.gov.rw/index.php?eID=dumpFile&amp;f=103921&amp;t=f&amp;token=674c3d927f1443e0309c38a0fffb76c2e7e273c3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https://www.primature.gov.rw/index.php?eID=dumpFile&amp;f=103921&amp;t=f&amp;token=674c3d927f1443e0309c38a0fffb76c2e7e273c3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https://documents1.worldbank.org/curated/en/099053024072067506/pdf/P2523501b4222a08919ccf1c337cb47a5bb.pdf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https://pr.nba.com/clare-akamanzi-ceo-nba-africa/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https://documents1.worldbank.org/curated/en/099053024072067506/pdf/P2523501b4222a08919ccf1c337cb47a5bb.pdf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https://www.parliament.gov.rw/about-1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https://www.parliament.gov.rw/updates/news/page?cHash=1a73af6616bebe583f8e229a45ea6028&amp;tx_news_pi1%5BcurrentPage%5D=31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https://www.parliament.gov.rw/about-1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https://data.ipu.org/fr/parliament/RW/RW-UC01/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https://www.rwandaincongo.gov.rw/actualites/info-details/dr-kalinda-reconduit-a-la-presidence-du-senat-rwandais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https://www.parliament.gov.rw/updates/news/page?cHash=1a73af6616bebe583f8e229a45ea6028&amp;tx_news_pi1%5BcurrentPage%5D=31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https://www.kigalicity.gov.rw/news-detail/dusengiyumva-samuel-sworn-in-as-the-new-city-of-kigali-mayor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https://www.easternprovince.gov.rw/ibindi/guverineri-rubingisa-yatangiye-inshingano-yizeza-ubufatanye-mu-kwihutisha-iterambere-rishingiye-ku-muturage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https://www.kigalicity.gov.rw/news-detail/dusengiyumva-samuel-sworn-in-as-the-new-city-of-kigali-mayor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https://www.hrw.org/news/2024/06/14/rwanda-respect-rights-during-elections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https://www.amnesty.org/ar/wp-content/uploads/2024/07/AFR4782752024ENGLISH.pdf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https://www.hrw.org/news/2024/06/14/rwanda-respect-rights-during-elections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https://www.hrw.org/news/2024/06/14/rwanda-respect-rights-during-elections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https://www.amnesty.org/ar/wp-content/uploads/2024/07/AFR4782752024ENGLISH.pdf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https://www.hrw.org/news/2024/06/14/rwanda-respect-rights-during-elections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https://www.amnesty.org/ar/wp-content/uploads/2024/07/AFR4782752024ENGLISH.pdf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https://www.hrw.org/news/2024/06/14/rwanda-respect-rights-during-elections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https://www.amnesty.org/ar/wp-content/uploads/2024/07/AFR4782752024ENGLISH.pdf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https://www.newtimes.co.rw/article/35672/opinions/rdf-is-a-peoples-army-deserving-a-nobel-peace-prize-not-sanctions/amp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https://www.hrw.org/world-report/2024/country-chapters/rwanda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https://www.hrw.org/report/2023/10/10/join-us-or-die/rwandas-extraterritorial-repression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https://www.wlrn.org/npr-breaking-news/2024-04-15/his-story-inspired-hotel-rwanda-now-hes-speaking-out-against-the-government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https://www.hrw.org/report/2023/10/10/join-us-or-die/rwandas-extraterritorial-repression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https://www.francophonie.org/louise-mushikiwabo-2894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https://www.un.org/sg/en/sg-daily-schedules/2023-02-01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https://www.un.org/sg/en/content/sg/personnel-appointments/2023-10-06/mr-claver-gatete-of-rwanda-executive-secretary-of-the-united-nations-economic-commission-for-africa-(eca)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https://www.uneca.org/sites/default/files/documents/spord-brochure-2023_v03.pdf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https://press.un.org/en/2022/sga2101.doc.htm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8573d7d6554b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80c700308a4e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6a3d0dc360438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02182cf24a42b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894dc6a68b49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70cd7d7fbb43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6D08E3-69A3-473B-A98F-55A2702A83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7E628C-DC32-4DF7-84CF-B27DF5D89E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0DA6A10-2FD2-4C7E-949D-C5DC23E815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868DA2-1FB8-4F30-A52B-DD9F683323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B12E401-FBE4-474C-BBEF-6D7CFF57B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1092547-8F45-45FA-A0AF-2E1FC52832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AFF5CF4-5F1E-49AB-9A95-FE74620BD2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40248BC-E58D-429F-9B71-3CCDDADFC5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91171D-C24C-4A27-88B6-F447610B35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71663E-AC68-472B-AAF3-B9ADADD51E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cc5f3682f148b7" /><Relationship Type="http://schemas.openxmlformats.org/officeDocument/2006/relationships/slideLayout" Target="/ppt/slideLayouts/slideLayout1.xml" Id="R4c14cd32a3f34579" /><Relationship Type="http://schemas.openxmlformats.org/officeDocument/2006/relationships/slideLayout" Target="/ppt/slideLayouts/slideLayout2.xml" Id="Rb32fe14ce2dd48c3" /><Relationship Type="http://schemas.openxmlformats.org/officeDocument/2006/relationships/slideLayout" Target="/ppt/slideLayouts/slideLayout3.xml" Id="R1feddb0d4dd14ead" /><Relationship Type="http://schemas.openxmlformats.org/officeDocument/2006/relationships/slideLayout" Target="/ppt/slideLayouts/slideLayout4.xml" Id="Rf2e527e4933546fe" /><Relationship Type="http://schemas.openxmlformats.org/officeDocument/2006/relationships/slideLayout" Target="/ppt/slideLayouts/slideLayout5.xml" Id="R604f5da3404e4d51" /><Relationship Type="http://schemas.openxmlformats.org/officeDocument/2006/relationships/slideLayout" Target="/ppt/slideLayouts/slideLayout6.xml" Id="R6df1db3ee80f44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14cd32a3f34579"/>
    <p:sldLayoutId xmlns:r="http://schemas.openxmlformats.org/officeDocument/2006/relationships" id="2147483650" r:id="Rb32fe14ce2dd48c3"/>
    <p:sldLayoutId xmlns:r="http://schemas.openxmlformats.org/officeDocument/2006/relationships" id="2147483651" r:id="R1feddb0d4dd14ead"/>
    <p:sldLayoutId xmlns:r="http://schemas.openxmlformats.org/officeDocument/2006/relationships" id="2147483652" r:id="Rf2e527e4933546fe"/>
    <p:sldLayoutId xmlns:r="http://schemas.openxmlformats.org/officeDocument/2006/relationships" id="2147483653" r:id="R604f5da3404e4d51"/>
    <p:sldLayoutId xmlns:r="http://schemas.openxmlformats.org/officeDocument/2006/relationships" id="2147483654" r:id="R6df1db3ee80f44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6ded401dc94455" /><Relationship Type="http://schemas.openxmlformats.org/officeDocument/2006/relationships/notesSlide" Target="/ppt/notesSlides/notesSlide1.xml" Id="R9a8dc95e25624a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a6a147b38341c0" /><Relationship Type="http://schemas.openxmlformats.org/officeDocument/2006/relationships/notesSlide" Target="/ppt/notesSlides/notesSlide2.xml" Id="R48a545f2f9674f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8ea88f2878400d" /><Relationship Type="http://schemas.openxmlformats.org/officeDocument/2006/relationships/notesSlide" Target="/ppt/notesSlides/notesSlide3.xml" Id="R9d76e565a34e4b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aa3bf8808348e8" /><Relationship Type="http://schemas.openxmlformats.org/officeDocument/2006/relationships/notesSlide" Target="/ppt/notesSlides/notesSlide4.xml" Id="R574771a351f64c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3efbe7a9f246a5" /><Relationship Type="http://schemas.openxmlformats.org/officeDocument/2006/relationships/notesSlide" Target="/ppt/notesSlides/notesSlide5.xml" Id="R9777b1bf44cd41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0e4fcc62764306" /><Relationship Type="http://schemas.openxmlformats.org/officeDocument/2006/relationships/notesSlide" Target="/ppt/notesSlides/notesSlide6.xml" Id="R82cc2304654e4c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f67852a97f4f68" /><Relationship Type="http://schemas.openxmlformats.org/officeDocument/2006/relationships/notesSlide" Target="/ppt/notesSlides/notesSlide7.xml" Id="Ra0a91cc271a04d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d51196c9d143dd" /><Relationship Type="http://schemas.openxmlformats.org/officeDocument/2006/relationships/notesSlide" Target="/ppt/notesSlides/notesSlide8.xml" Id="R94a63e1a0bc646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3b9c3ca7b7452e" /><Relationship Type="http://schemas.openxmlformats.org/officeDocument/2006/relationships/notesSlide" Target="/ppt/notesSlides/notesSlide9.xml" Id="Rdfde248e8b1243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13c395d8d347e4" /><Relationship Type="http://schemas.openxmlformats.org/officeDocument/2006/relationships/notesSlide" Target="/ppt/notesSlides/notesSlide10.xml" Id="R3eed676ca39441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0fb484e59341f1" /><Relationship Type="http://schemas.openxmlformats.org/officeDocument/2006/relationships/notesSlide" Target="/ppt/notesSlides/notesSlide11.xml" Id="R135eab5987094f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11a0d210c8473b" /><Relationship Type="http://schemas.openxmlformats.org/officeDocument/2006/relationships/notesSlide" Target="/ppt/notesSlides/notesSlide12.xml" Id="R3224ca4a927f471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eedee4e1d14608" /><Relationship Type="http://schemas.openxmlformats.org/officeDocument/2006/relationships/notesSlide" Target="/ppt/notesSlides/notesSlide13.xml" Id="R68e566d39b814e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e6db951af140dc" /><Relationship Type="http://schemas.openxmlformats.org/officeDocument/2006/relationships/chart" Target="/ppt/slides/charts/chart1.xml" Id="R6c2c37e128c14ebd" /><Relationship Type="http://schemas.openxmlformats.org/officeDocument/2006/relationships/notesSlide" Target="/ppt/notesSlides/notesSlide14.xml" Id="R565a7a8565b744f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194fdc2832491f" /><Relationship Type="http://schemas.openxmlformats.org/officeDocument/2006/relationships/chart" Target="/ppt/slides/charts/chart2.xml" Id="R3b367e08971d4939" /><Relationship Type="http://schemas.openxmlformats.org/officeDocument/2006/relationships/notesSlide" Target="/ppt/notesSlides/notesSlide15.xml" Id="Rff4a68c886134cc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72d8ec9f994336" /><Relationship Type="http://schemas.openxmlformats.org/officeDocument/2006/relationships/chart" Target="/ppt/slides/charts/chart3.xml" Id="R6168d1d18b6345af" /><Relationship Type="http://schemas.openxmlformats.org/officeDocument/2006/relationships/notesSlide" Target="/ppt/notesSlides/notesSlide16.xml" Id="R9bc89d550b91485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caabb701cd4438" /><Relationship Type="http://schemas.openxmlformats.org/officeDocument/2006/relationships/chart" Target="/ppt/slides/charts/chart4.xml" Id="Ree97e15c59a343e7" /><Relationship Type="http://schemas.openxmlformats.org/officeDocument/2006/relationships/notesSlide" Target="/ppt/notesSlides/notesSlide17.xml" Id="R506bef6d02eb484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3e5cb454714847" /><Relationship Type="http://schemas.openxmlformats.org/officeDocument/2006/relationships/notesSlide" Target="/ppt/notesSlides/notesSlide18.xml" Id="Rc3177b79dbd7460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707c9959904be3" /><Relationship Type="http://schemas.openxmlformats.org/officeDocument/2006/relationships/notesSlide" Target="/ppt/notesSlides/notesSlide19.xml" Id="Rdf96107d3a4c40d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d4c49017ea4557" /><Relationship Type="http://schemas.openxmlformats.org/officeDocument/2006/relationships/notesSlide" Target="/ppt/notesSlides/notesSlide20.xml" Id="Rc548774a3e2248a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49e993205e4c18" /><Relationship Type="http://schemas.openxmlformats.org/officeDocument/2006/relationships/notesSlide" Target="/ppt/notesSlides/notesSlide21.xml" Id="Rfe187bbf7191421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b1cc1952004736" /><Relationship Type="http://schemas.openxmlformats.org/officeDocument/2006/relationships/notesSlide" Target="/ppt/notesSlides/notesSlide22.xml" Id="R6221557697ac44b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c22ddffd1e457d" /><Relationship Type="http://schemas.openxmlformats.org/officeDocument/2006/relationships/notesSlide" Target="/ppt/notesSlides/notesSlide23.xml" Id="R179817891647462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703e661fac4572" /><Relationship Type="http://schemas.openxmlformats.org/officeDocument/2006/relationships/notesSlide" Target="/ppt/notesSlides/notesSlide24.xml" Id="R5fcf4c7b016b450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3aaaf6e23d4edd" /><Relationship Type="http://schemas.openxmlformats.org/officeDocument/2006/relationships/notesSlide" Target="/ppt/notesSlides/notesSlide25.xml" Id="Ra14fa046b8fc4a1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e8c4dc12a54700" /><Relationship Type="http://schemas.openxmlformats.org/officeDocument/2006/relationships/notesSlide" Target="/ppt/notesSlides/notesSlide26.xml" Id="Rc15dfab286a5453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3fbce8b4f14f97" /><Relationship Type="http://schemas.openxmlformats.org/officeDocument/2006/relationships/notesSlide" Target="/ppt/notesSlides/notesSlide27.xml" Id="R5bd1bd7b48e84b4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f4a6f34ba94c1e" /><Relationship Type="http://schemas.openxmlformats.org/officeDocument/2006/relationships/notesSlide" Target="/ppt/notesSlides/notesSlide28.xml" Id="R38268c7ece84444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9dd35304df4067" /><Relationship Type="http://schemas.openxmlformats.org/officeDocument/2006/relationships/notesSlide" Target="/ppt/notesSlides/notesSlide29.xml" Id="Rfee83f1304774b7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e48c40be344bf4" /><Relationship Type="http://schemas.openxmlformats.org/officeDocument/2006/relationships/notesSlide" Target="/ppt/notesSlides/notesSlide30.xml" Id="Rd64f8acb53e449b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4639b31f9e49e6" /><Relationship Type="http://schemas.openxmlformats.org/officeDocument/2006/relationships/chart" Target="/ppt/slides/charts/chart5.xml" Id="Rc81f2be48a774745" /><Relationship Type="http://schemas.openxmlformats.org/officeDocument/2006/relationships/notesSlide" Target="/ppt/notesSlides/notesSlide31.xml" Id="R81464c96156e453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8b714aff714994" /><Relationship Type="http://schemas.openxmlformats.org/officeDocument/2006/relationships/notesSlide" Target="/ppt/notesSlides/notesSlide32.xml" Id="R8cf7e9b9845740f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638b81b7734e76" /><Relationship Type="http://schemas.openxmlformats.org/officeDocument/2006/relationships/notesSlide" Target="/ppt/notesSlides/notesSlide33.xml" Id="R78cf6f882173454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3d1667cade4568" /><Relationship Type="http://schemas.openxmlformats.org/officeDocument/2006/relationships/notesSlide" Target="/ppt/notesSlides/notesSlide34.xml" Id="Rd49e9c5616d04eb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f733d806394c23" /><Relationship Type="http://schemas.openxmlformats.org/officeDocument/2006/relationships/notesSlide" Target="/ppt/notesSlides/notesSlide35.xml" Id="R869b1efe17464b7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ba883eca544034" /><Relationship Type="http://schemas.openxmlformats.org/officeDocument/2006/relationships/notesSlide" Target="/ppt/notesSlides/notesSlide36.xml" Id="R36a977859a694dd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00d635d79944a2" /><Relationship Type="http://schemas.openxmlformats.org/officeDocument/2006/relationships/notesSlide" Target="/ppt/notesSlides/notesSlide37.xml" Id="R665fd8fb26ca4a4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08f51ec8d7472d" /><Relationship Type="http://schemas.openxmlformats.org/officeDocument/2006/relationships/notesSlide" Target="/ppt/notesSlides/notesSlide38.xml" Id="R135c29f92e27469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711f3f0c344840" /><Relationship Type="http://schemas.openxmlformats.org/officeDocument/2006/relationships/notesSlide" Target="/ppt/notesSlides/notesSlide39.xml" Id="Rca66267df961471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2845b968834bcd" /><Relationship Type="http://schemas.openxmlformats.org/officeDocument/2006/relationships/notesSlide" Target="/ppt/notesSlides/notesSlide40.xml" Id="Redc63c2f1f8a4ef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ab5e2032f74661" /><Relationship Type="http://schemas.openxmlformats.org/officeDocument/2006/relationships/notesSlide" Target="/ppt/notesSlides/notesSlide41.xml" Id="R4b037accaa70455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c361d82ce34169" /><Relationship Type="http://schemas.openxmlformats.org/officeDocument/2006/relationships/notesSlide" Target="/ppt/notesSlides/notesSlide42.xml" Id="Rdd09762a37ce440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da0ad0d5e34acc" /><Relationship Type="http://schemas.openxmlformats.org/officeDocument/2006/relationships/notesSlide" Target="/ppt/notesSlides/notesSlide43.xml" Id="R96e85a5ecd7c48e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c0975d56ff423a" /><Relationship Type="http://schemas.openxmlformats.org/officeDocument/2006/relationships/notesSlide" Target="/ppt/notesSlides/notesSlide44.xml" Id="Ra3ecb647d5b54275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c277d6ff8347cc" /><Relationship Type="http://schemas.openxmlformats.org/officeDocument/2006/relationships/notesSlide" Target="/ppt/notesSlides/notesSlide45.xml" Id="R9ce225e0b1a8482f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91eda551f14bd1" /><Relationship Type="http://schemas.openxmlformats.org/officeDocument/2006/relationships/notesSlide" Target="/ppt/notesSlides/notesSlide46.xml" Id="Re33dcf6f81a34f4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95062635664bf4" /><Relationship Type="http://schemas.openxmlformats.org/officeDocument/2006/relationships/notesSlide" Target="/ppt/notesSlides/notesSlide47.xml" Id="R7e1b7f1c41db4b14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573b643b484dae" /><Relationship Type="http://schemas.openxmlformats.org/officeDocument/2006/relationships/notesSlide" Target="/ppt/notesSlides/notesSlide48.xml" Id="R8b824d391aee419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24d742b4a04912" /><Relationship Type="http://schemas.openxmlformats.org/officeDocument/2006/relationships/notesSlide" Target="/ppt/notesSlides/notesSlide49.xml" Id="R639e2a832c544ccc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c8d17dbc6f4ce3" /><Relationship Type="http://schemas.openxmlformats.org/officeDocument/2006/relationships/notesSlide" Target="/ppt/notesSlides/notesSlide50.xml" Id="Rf7be573cf859461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Признаки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147B79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Обновление программ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Продолжение курса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Поддержка курса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Поручения и контроль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l"/>
              <c:showVal val="0"/>
              <c:showCatName val="1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Память и ценности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t"/>
              <c:showVal val="0"/>
              <c:showCatName val="1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Доступность благ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t"/>
              <c:showVal val="0"/>
              <c:showCatName val="1"/>
            </c:dLbl>
            <c:dLbl>
              <c:idx val="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Раскрытие проблем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l"/>
              <c:showVal val="0"/>
              <c:showCatName val="1"/>
            </c:dLbl>
            <c:dLbl>
              <c:idx val="7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Предупреждение рисков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b"/>
              <c:showVal val="0"/>
              <c:showCatName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>
                    <a:solidFill>
                      <a:srgbClr val="142B35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Data'!$A$2:$A$9</c:f>
              <c:numCache>
                <c:formatCode>General</c:formatCode>
                <c:ptCount val="8"/>
                <c:pt idx="0">
                  <c:v>-0.04765198</c:v>
                </c:pt>
                <c:pt idx="1">
                  <c:v>0.9662876</c:v>
                </c:pt>
                <c:pt idx="2">
                  <c:v>0.64625741</c:v>
                </c:pt>
                <c:pt idx="3">
                  <c:v>0.34113603</c:v>
                </c:pt>
                <c:pt idx="4">
                  <c:v>0.39905899</c:v>
                </c:pt>
                <c:pt idx="5">
                  <c:v>0.25326156</c:v>
                </c:pt>
                <c:pt idx="6">
                  <c:v>-0.16686107</c:v>
                </c:pt>
                <c:pt idx="7">
                  <c:v>0.26601871</c:v>
                </c:pt>
              </c:numCache>
            </c:numRef>
          </c:xVal>
          <c:yVal>
            <c:numRef>
              <c:f>'Chart Data'!$B$2:$B$9</c:f>
              <c:numCache>
                <c:formatCode>0.0</c:formatCode>
                <c:ptCount val="8"/>
                <c:pt idx="0">
                  <c:v>0.94601529</c:v>
                </c:pt>
                <c:pt idx="1">
                  <c:v>-0.0881537</c:v>
                </c:pt>
                <c:pt idx="2">
                  <c:v>0.09154877</c:v>
                </c:pt>
                <c:pt idx="3">
                  <c:v>0.0766734</c:v>
                </c:pt>
                <c:pt idx="4">
                  <c:v>0.20329363</c:v>
                </c:pt>
                <c:pt idx="5">
                  <c:v>0.3974805</c:v>
                </c:pt>
                <c:pt idx="6">
                  <c:v>0.46751434</c:v>
                </c:pt>
                <c:pt idx="7">
                  <c:v>-0.08660014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35"/>
          <c:min val="-1.35"/>
        </c:scaling>
        <c:delete val="0"/>
        <c:axPos val="l"/>
        <c:majorGridlines>
          <c:spPr>
            <a:ln xmlns:a="http://schemas.openxmlformats.org/drawingml/2006/main" w="5715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Arial"/>
                    <a:ea typeface="Arial"/>
                    <a:cs typeface="Arial"/>
                  </a:rPr>
                  <a:t>Обновление и обсуждение проблем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1.35"/>
          <c:min val="-1.35"/>
        </c:scaling>
        <c:delete val="0"/>
        <c:axPos val="b"/>
        <c:majorGridlines>
          <c:spPr>
            <a:ln xmlns:a="http://schemas.openxmlformats.org/drawingml/2006/main" w="5715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Arial"/>
                    <a:ea typeface="Arial"/>
                    <a:cs typeface="Arial"/>
                  </a:rPr>
                  <a:t>Преемственность и поддержка курса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Признаки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147B79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Обновление программ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Продолжение курса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Поддержка курса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Поручения и контроль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l"/>
              <c:showVal val="0"/>
              <c:showCatName val="1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Память и ценности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Доступность благ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Раскрытие проблем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7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Предупреждение рисков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l"/>
              <c:showVal val="0"/>
              <c:showCatName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>
                    <a:solidFill>
                      <a:srgbClr val="142B35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Data'!$A$2:$A$9</c:f>
              <c:numCache>
                <c:formatCode>General</c:formatCode>
                <c:ptCount val="8"/>
                <c:pt idx="0">
                  <c:v>0.94601529</c:v>
                </c:pt>
                <c:pt idx="1">
                  <c:v>-0.0881537</c:v>
                </c:pt>
                <c:pt idx="2">
                  <c:v>0.09154877</c:v>
                </c:pt>
                <c:pt idx="3">
                  <c:v>0.0766734</c:v>
                </c:pt>
                <c:pt idx="4">
                  <c:v>0.20329363</c:v>
                </c:pt>
                <c:pt idx="5">
                  <c:v>0.3974805</c:v>
                </c:pt>
                <c:pt idx="6">
                  <c:v>0.46751434</c:v>
                </c:pt>
                <c:pt idx="7">
                  <c:v>-0.08660014</c:v>
                </c:pt>
              </c:numCache>
            </c:numRef>
          </c:xVal>
          <c:yVal>
            <c:numRef>
              <c:f>'Chart Data'!$B$2:$B$9</c:f>
              <c:numCache>
                <c:formatCode>0.0</c:formatCode>
                <c:ptCount val="8"/>
                <c:pt idx="0">
                  <c:v>-0.05775301</c:v>
                </c:pt>
                <c:pt idx="1">
                  <c:v>-0.09209685</c:v>
                </c:pt>
                <c:pt idx="2">
                  <c:v>0.08788642</c:v>
                </c:pt>
                <c:pt idx="3">
                  <c:v>0.24920422</c:v>
                </c:pt>
                <c:pt idx="4">
                  <c:v>-0.70605179</c:v>
                </c:pt>
                <c:pt idx="5">
                  <c:v>0.47237368</c:v>
                </c:pt>
                <c:pt idx="6">
                  <c:v>-0.17702255</c:v>
                </c:pt>
                <c:pt idx="7">
                  <c:v>0.46321352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35"/>
          <c:min val="-1.35"/>
        </c:scaling>
        <c:delete val="0"/>
        <c:axPos val="l"/>
        <c:majorGridlines>
          <c:spPr>
            <a:ln xmlns:a="http://schemas.openxmlformats.org/drawingml/2006/main" w="5715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Arial"/>
                    <a:ea typeface="Arial"/>
                    <a:cs typeface="Arial"/>
                  </a:rPr>
                  <a:t>Социальные задачи и профилактика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1.35"/>
          <c:min val="-1.35"/>
        </c:scaling>
        <c:delete val="0"/>
        <c:axPos val="b"/>
        <c:majorGridlines>
          <c:spPr>
            <a:ln xmlns:a="http://schemas.openxmlformats.org/drawingml/2006/main" w="5715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Arial"/>
                    <a:ea typeface="Arial"/>
                    <a:cs typeface="Arial"/>
                  </a:rPr>
                  <a:t>Обновление и обсуждение проблем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C1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B56A19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Бизимана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Фазиль Хареримана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b"/>
              <c:showVal val="0"/>
              <c:showCatName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75">
                    <a:solidFill>
                      <a:srgbClr val="142B35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Data'!$A$2:$A$3</c:f>
              <c:numCache>
                <c:formatCode>General</c:formatCode>
                <c:ptCount val="2"/>
                <c:pt idx="0">
                  <c:v>2.15386301</c:v>
                </c:pt>
                <c:pt idx="1">
                  <c:v>2.32951431</c:v>
                </c:pt>
              </c:numCache>
            </c:numRef>
          </c:xVal>
          <c:yVal>
            <c:numRef>
              <c:f>'Chart Data'!$B$2:$B$3</c:f>
              <c:numCache>
                <c:formatCode>0.0</c:formatCode>
                <c:ptCount val="2"/>
                <c:pt idx="0">
                  <c:v>0.21007993</c:v>
                </c:pt>
                <c:pt idx="1">
                  <c:v>-0.09077381</c:v>
                </c:pt>
              </c:numCache>
            </c:numRef>
          </c:yVal>
        </c:ser>
        <c:ser>
          <c:idx val="1"/>
          <c:order val="1"/>
          <c:tx>
            <c:v>C2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147B79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Нгиренте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Нсанзимана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7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Акаманзи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9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Ругвабиза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75">
                    <a:solidFill>
                      <a:srgbClr val="142B35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Data'!$C$2:$C$11</c:f>
              <c:numCache>
                <c:formatCode>General</c:formatCode>
                <c:ptCount val="10"/>
                <c:pt idx="0">
                  <c:v>1.25393684</c:v>
                </c:pt>
                <c:pt idx="1">
                  <c:v>-0.22067476</c:v>
                </c:pt>
                <c:pt idx="2">
                  <c:v>1.29858072</c:v>
                </c:pt>
                <c:pt idx="3">
                  <c:v>1.15224221</c:v>
                </c:pt>
                <c:pt idx="4">
                  <c:v>1.07415897</c:v>
                </c:pt>
                <c:pt idx="5">
                  <c:v>1.18120192</c:v>
                </c:pt>
                <c:pt idx="6">
                  <c:v>-0.10762874</c:v>
                </c:pt>
                <c:pt idx="7">
                  <c:v>0.93386672</c:v>
                </c:pt>
                <c:pt idx="8">
                  <c:v>-0.20704271</c:v>
                </c:pt>
                <c:pt idx="9">
                  <c:v>1.19312941</c:v>
                </c:pt>
              </c:numCache>
            </c:numRef>
          </c:xVal>
          <c:yVal>
            <c:numRef>
              <c:f>'Chart Data'!$D$2:$D$11</c:f>
              <c:numCache>
                <c:formatCode>0.0</c:formatCode>
                <c:ptCount val="10"/>
                <c:pt idx="0">
                  <c:v>-0.05041807</c:v>
                </c:pt>
                <c:pt idx="1">
                  <c:v>-0.32904866</c:v>
                </c:pt>
                <c:pt idx="2">
                  <c:v>-0.10730361</c:v>
                </c:pt>
                <c:pt idx="3">
                  <c:v>-0.24924947</c:v>
                </c:pt>
                <c:pt idx="4">
                  <c:v>-0.18306019</c:v>
                </c:pt>
                <c:pt idx="5">
                  <c:v>-0.06991612</c:v>
                </c:pt>
                <c:pt idx="6">
                  <c:v>-0.17595661</c:v>
                </c:pt>
                <c:pt idx="7">
                  <c:v>-0.33629142</c:v>
                </c:pt>
                <c:pt idx="8">
                  <c:v>-0.18844754</c:v>
                </c:pt>
                <c:pt idx="9">
                  <c:v>1.12389335</c:v>
                </c:pt>
              </c:numCache>
            </c:numRef>
          </c:yVal>
        </c:ser>
        <c:ser>
          <c:idx val="2"/>
          <c:order val="2"/>
          <c:tx>
            <c:v>C3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8250A7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Хабинеза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Ингабире Умухоза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75">
                    <a:solidFill>
                      <a:srgbClr val="142B35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Data'!$E$2:$E$3</c:f>
              <c:numCache>
                <c:formatCode>General</c:formatCode>
                <c:ptCount val="2"/>
                <c:pt idx="0">
                  <c:v>-1.21363249</c:v>
                </c:pt>
                <c:pt idx="1">
                  <c:v>0.35549455</c:v>
                </c:pt>
              </c:numCache>
            </c:numRef>
          </c:xVal>
          <c:yVal>
            <c:numRef>
              <c:f>'Chart Data'!$F$2:$F$3</c:f>
              <c:numCache>
                <c:formatCode>0.0</c:formatCode>
                <c:ptCount val="2"/>
                <c:pt idx="0">
                  <c:v>2.60605733</c:v>
                </c:pt>
                <c:pt idx="1">
                  <c:v>4.15035711</c:v>
                </c:pt>
              </c:numCache>
            </c:numRef>
          </c:yVal>
        </c:ser>
        <c:ser>
          <c:idx val="3"/>
          <c:order val="3"/>
          <c:tx>
            <c:v>C4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3E6A9B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Кагаме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Нсенгийюмва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b"/>
              <c:showVal val="0"/>
              <c:showCatName val="1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Кабаребе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Маризамунда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l"/>
              <c:showVal val="0"/>
              <c:showCatName val="1"/>
            </c:dLbl>
            <c:dLbl>
              <c:idx val="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Увизейе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t"/>
              <c:showVal val="0"/>
              <c:showCatName val="1"/>
            </c:dLbl>
            <c:dLbl>
              <c:idx val="19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Мпайимана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2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Рвигара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2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Мушикивабо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l"/>
              <c:showVal val="0"/>
              <c:showCatName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75">
                    <a:solidFill>
                      <a:srgbClr val="142B35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Data'!$G$2:$G$24</c:f>
              <c:numCache>
                <c:formatCode>General</c:formatCode>
                <c:ptCount val="23"/>
                <c:pt idx="0">
                  <c:v>-1.54799131</c:v>
                </c:pt>
                <c:pt idx="1">
                  <c:v>-0.39447145</c:v>
                </c:pt>
                <c:pt idx="2">
                  <c:v>-0.3653385</c:v>
                </c:pt>
                <c:pt idx="3">
                  <c:v>-0.26213873</c:v>
                </c:pt>
                <c:pt idx="4">
                  <c:v>0.82719643</c:v>
                </c:pt>
                <c:pt idx="5">
                  <c:v>-1.65201108</c:v>
                </c:pt>
                <c:pt idx="6">
                  <c:v>-0.24472709</c:v>
                </c:pt>
                <c:pt idx="7">
                  <c:v>-0.13725737</c:v>
                </c:pt>
                <c:pt idx="8">
                  <c:v>-0.43034313</c:v>
                </c:pt>
                <c:pt idx="9">
                  <c:v>0.10404951</c:v>
                </c:pt>
                <c:pt idx="10">
                  <c:v>-0.33546556</c:v>
                </c:pt>
                <c:pt idx="11">
                  <c:v>-0.16316094</c:v>
                </c:pt>
                <c:pt idx="12">
                  <c:v>-0.42446484</c:v>
                </c:pt>
                <c:pt idx="13">
                  <c:v>-0.29081209</c:v>
                </c:pt>
                <c:pt idx="14">
                  <c:v>-0.3056508</c:v>
                </c:pt>
                <c:pt idx="15">
                  <c:v>-1.44676768</c:v>
                </c:pt>
                <c:pt idx="16">
                  <c:v>-0.36042691</c:v>
                </c:pt>
                <c:pt idx="17">
                  <c:v>-0.30672755</c:v>
                </c:pt>
                <c:pt idx="18">
                  <c:v>-0.27733372</c:v>
                </c:pt>
                <c:pt idx="19">
                  <c:v>-1.53921587</c:v>
                </c:pt>
                <c:pt idx="20">
                  <c:v>-1.58155457</c:v>
                </c:pt>
                <c:pt idx="21">
                  <c:v>-0.29776742</c:v>
                </c:pt>
                <c:pt idx="22">
                  <c:v>-0.33628212</c:v>
                </c:pt>
              </c:numCache>
            </c:numRef>
          </c:xVal>
          <c:yVal>
            <c:numRef>
              <c:f>'Chart Data'!$H$2:$H$24</c:f>
              <c:numCache>
                <c:formatCode>0.0</c:formatCode>
                <c:ptCount val="23"/>
                <c:pt idx="0">
                  <c:v>-0.28489949</c:v>
                </c:pt>
                <c:pt idx="1">
                  <c:v>-0.34042222</c:v>
                </c:pt>
                <c:pt idx="2">
                  <c:v>-0.39027201</c:v>
                </c:pt>
                <c:pt idx="3">
                  <c:v>-0.36662891</c:v>
                </c:pt>
                <c:pt idx="4">
                  <c:v>-1.64703567</c:v>
                </c:pt>
                <c:pt idx="5">
                  <c:v>-0.18726618</c:v>
                </c:pt>
                <c:pt idx="6">
                  <c:v>-0.0123781</c:v>
                </c:pt>
                <c:pt idx="7">
                  <c:v>-0.12856597</c:v>
                </c:pt>
                <c:pt idx="8">
                  <c:v>-0.41508259</c:v>
                </c:pt>
                <c:pt idx="9">
                  <c:v>-0.58454267</c:v>
                </c:pt>
                <c:pt idx="10">
                  <c:v>-0.2023398</c:v>
                </c:pt>
                <c:pt idx="11">
                  <c:v>-0.13109297</c:v>
                </c:pt>
                <c:pt idx="12">
                  <c:v>-1.78492908</c:v>
                </c:pt>
                <c:pt idx="13">
                  <c:v>-0.2730704</c:v>
                </c:pt>
                <c:pt idx="14">
                  <c:v>-0.02594297</c:v>
                </c:pt>
                <c:pt idx="15">
                  <c:v>0.41429267</c:v>
                </c:pt>
                <c:pt idx="16">
                  <c:v>-1.6211154</c:v>
                </c:pt>
                <c:pt idx="17">
                  <c:v>-0.3842774</c:v>
                </c:pt>
                <c:pt idx="18">
                  <c:v>-0.24228022</c:v>
                </c:pt>
                <c:pt idx="19">
                  <c:v>1.06019702</c:v>
                </c:pt>
                <c:pt idx="20">
                  <c:v>0.2145912</c:v>
                </c:pt>
                <c:pt idx="21">
                  <c:v>-0.24485042</c:v>
                </c:pt>
                <c:pt idx="22">
                  <c:v>-0.30589042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.800357114051033"/>
          <c:min val="-2.4349290798990433"/>
        </c:scaling>
        <c:delete val="0"/>
        <c:axPos val="l"/>
        <c:majorGridlines>
          <c:spPr>
            <a:ln xmlns:a="http://schemas.openxmlformats.org/drawingml/2006/main" w="5715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Arial"/>
                    <a:ea typeface="Arial"/>
                    <a:cs typeface="Arial"/>
                  </a:rPr>
                  <a:t>Обновление и обсуждение проблем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9795143135218747"/>
          <c:min val="-2.3020110750837257"/>
        </c:scaling>
        <c:delete val="0"/>
        <c:axPos val="b"/>
        <c:majorGridlines>
          <c:spPr>
            <a:ln xmlns:a="http://schemas.openxmlformats.org/drawingml/2006/main" w="5715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Arial"/>
                    <a:ea typeface="Arial"/>
                    <a:cs typeface="Arial"/>
                  </a:rPr>
                  <a:t>Преемственность и поддержка курса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C1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B56A19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Бизимана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Фазиль Хареримана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75">
                    <a:solidFill>
                      <a:srgbClr val="142B35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Data'!$A$2:$A$3</c:f>
              <c:numCache>
                <c:formatCode>General</c:formatCode>
                <c:ptCount val="2"/>
                <c:pt idx="0">
                  <c:v>0.21007993</c:v>
                </c:pt>
                <c:pt idx="1">
                  <c:v>-0.09077381</c:v>
                </c:pt>
              </c:numCache>
            </c:numRef>
          </c:xVal>
          <c:yVal>
            <c:numRef>
              <c:f>'Chart Data'!$B$2:$B$3</c:f>
              <c:numCache>
                <c:formatCode>0.0</c:formatCode>
                <c:ptCount val="2"/>
                <c:pt idx="0">
                  <c:v>-2.39085373</c:v>
                </c:pt>
                <c:pt idx="1">
                  <c:v>-1.61235008</c:v>
                </c:pt>
              </c:numCache>
            </c:numRef>
          </c:yVal>
        </c:ser>
        <c:ser>
          <c:idx val="1"/>
          <c:order val="1"/>
          <c:tx>
            <c:v>C2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147B79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Нгиренте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Нсанзимана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7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Акаманзи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9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Ругвабиза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75">
                    <a:solidFill>
                      <a:srgbClr val="142B35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Data'!$C$2:$C$11</c:f>
              <c:numCache>
                <c:formatCode>General</c:formatCode>
                <c:ptCount val="10"/>
                <c:pt idx="0">
                  <c:v>-0.05041807</c:v>
                </c:pt>
                <c:pt idx="1">
                  <c:v>-0.32904866</c:v>
                </c:pt>
                <c:pt idx="2">
                  <c:v>-0.10730361</c:v>
                </c:pt>
                <c:pt idx="3">
                  <c:v>-0.24924947</c:v>
                </c:pt>
                <c:pt idx="4">
                  <c:v>-0.18306019</c:v>
                </c:pt>
                <c:pt idx="5">
                  <c:v>-0.06991612</c:v>
                </c:pt>
                <c:pt idx="6">
                  <c:v>-0.17595661</c:v>
                </c:pt>
                <c:pt idx="7">
                  <c:v>-0.33629142</c:v>
                </c:pt>
                <c:pt idx="8">
                  <c:v>-0.18844754</c:v>
                </c:pt>
                <c:pt idx="9">
                  <c:v>1.12389335</c:v>
                </c:pt>
              </c:numCache>
            </c:numRef>
          </c:xVal>
          <c:yVal>
            <c:numRef>
              <c:f>'Chart Data'!$D$2:$D$11</c:f>
              <c:numCache>
                <c:formatCode>0.0</c:formatCode>
                <c:ptCount val="10"/>
                <c:pt idx="0">
                  <c:v>1.16898973</c:v>
                </c:pt>
                <c:pt idx="1">
                  <c:v>0.97813536</c:v>
                </c:pt>
                <c:pt idx="2">
                  <c:v>1.06522756</c:v>
                </c:pt>
                <c:pt idx="3">
                  <c:v>0.60662759</c:v>
                </c:pt>
                <c:pt idx="4">
                  <c:v>0.08472945</c:v>
                </c:pt>
                <c:pt idx="5">
                  <c:v>1.67514255</c:v>
                </c:pt>
                <c:pt idx="6">
                  <c:v>1.56303576</c:v>
                </c:pt>
                <c:pt idx="7">
                  <c:v>-0.04508895</c:v>
                </c:pt>
                <c:pt idx="8">
                  <c:v>0.96060687</c:v>
                </c:pt>
                <c:pt idx="9">
                  <c:v>0.52182598</c:v>
                </c:pt>
              </c:numCache>
            </c:numRef>
          </c:yVal>
        </c:ser>
        <c:ser>
          <c:idx val="2"/>
          <c:order val="2"/>
          <c:tx>
            <c:v>C3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8250A7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Хабинеза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Ингабире Умухоза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l"/>
              <c:showVal val="0"/>
              <c:showCatName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75">
                    <a:solidFill>
                      <a:srgbClr val="142B35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Data'!$E$2:$E$3</c:f>
              <c:numCache>
                <c:formatCode>General</c:formatCode>
                <c:ptCount val="2"/>
                <c:pt idx="0">
                  <c:v>2.60605733</c:v>
                </c:pt>
                <c:pt idx="1">
                  <c:v>4.15035711</c:v>
                </c:pt>
              </c:numCache>
            </c:numRef>
          </c:xVal>
          <c:yVal>
            <c:numRef>
              <c:f>'Chart Data'!$F$2:$F$3</c:f>
              <c:numCache>
                <c:formatCode>0.0</c:formatCode>
                <c:ptCount val="2"/>
                <c:pt idx="0">
                  <c:v>1.33455539</c:v>
                </c:pt>
                <c:pt idx="1">
                  <c:v>-1.24879914</c:v>
                </c:pt>
              </c:numCache>
            </c:numRef>
          </c:yVal>
        </c:ser>
        <c:ser>
          <c:idx val="3"/>
          <c:order val="3"/>
          <c:tx>
            <c:v>C4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3E6A9B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Кагаме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Нсенгийюмва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Бирута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l"/>
              <c:showVal val="0"/>
              <c:showCatName val="1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Ндухунгирехе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l"/>
              <c:showVal val="0"/>
              <c:showCatName val="1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Кабаребе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19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Мпайимана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2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Рвигара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2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Мушикивабо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75">
                    <a:solidFill>
                      <a:srgbClr val="142B35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Data'!$G$2:$G$24</c:f>
              <c:numCache>
                <c:formatCode>General</c:formatCode>
                <c:ptCount val="23"/>
                <c:pt idx="0">
                  <c:v>-0.28489949</c:v>
                </c:pt>
                <c:pt idx="1">
                  <c:v>-0.34042222</c:v>
                </c:pt>
                <c:pt idx="2">
                  <c:v>-0.39027201</c:v>
                </c:pt>
                <c:pt idx="3">
                  <c:v>-0.36662891</c:v>
                </c:pt>
                <c:pt idx="4">
                  <c:v>-1.64703567</c:v>
                </c:pt>
                <c:pt idx="5">
                  <c:v>-0.18726618</c:v>
                </c:pt>
                <c:pt idx="6">
                  <c:v>-0.0123781</c:v>
                </c:pt>
                <c:pt idx="7">
                  <c:v>-0.12856597</c:v>
                </c:pt>
                <c:pt idx="8">
                  <c:v>-0.41508259</c:v>
                </c:pt>
                <c:pt idx="9">
                  <c:v>-0.58454267</c:v>
                </c:pt>
                <c:pt idx="10">
                  <c:v>-0.2023398</c:v>
                </c:pt>
                <c:pt idx="11">
                  <c:v>-0.13109297</c:v>
                </c:pt>
                <c:pt idx="12">
                  <c:v>-1.78492908</c:v>
                </c:pt>
                <c:pt idx="13">
                  <c:v>-0.2730704</c:v>
                </c:pt>
                <c:pt idx="14">
                  <c:v>-0.02594297</c:v>
                </c:pt>
                <c:pt idx="15">
                  <c:v>0.41429267</c:v>
                </c:pt>
                <c:pt idx="16">
                  <c:v>-1.6211154</c:v>
                </c:pt>
                <c:pt idx="17">
                  <c:v>-0.3842774</c:v>
                </c:pt>
                <c:pt idx="18">
                  <c:v>-0.24228022</c:v>
                </c:pt>
                <c:pt idx="19">
                  <c:v>1.06019702</c:v>
                </c:pt>
                <c:pt idx="20">
                  <c:v>0.2145912</c:v>
                </c:pt>
                <c:pt idx="21">
                  <c:v>-0.24485042</c:v>
                </c:pt>
                <c:pt idx="22">
                  <c:v>-0.30589042</c:v>
                </c:pt>
              </c:numCache>
            </c:numRef>
          </c:xVal>
          <c:yVal>
            <c:numRef>
              <c:f>'Chart Data'!$H$2:$H$24</c:f>
              <c:numCache>
                <c:formatCode>0.0</c:formatCode>
                <c:ptCount val="23"/>
                <c:pt idx="0">
                  <c:v>0.30727131</c:v>
                </c:pt>
                <c:pt idx="1">
                  <c:v>-0.60778489</c:v>
                </c:pt>
                <c:pt idx="2">
                  <c:v>-0.81259046</c:v>
                </c:pt>
                <c:pt idx="3">
                  <c:v>-0.32393817</c:v>
                </c:pt>
                <c:pt idx="4">
                  <c:v>0.45954847</c:v>
                </c:pt>
                <c:pt idx="5">
                  <c:v>-0.94450755</c:v>
                </c:pt>
                <c:pt idx="6">
                  <c:v>0.0011035</c:v>
                </c:pt>
                <c:pt idx="7">
                  <c:v>0.29393057</c:v>
                </c:pt>
                <c:pt idx="8">
                  <c:v>-0.55631386</c:v>
                </c:pt>
                <c:pt idx="9">
                  <c:v>0.17592676</c:v>
                </c:pt>
                <c:pt idx="10">
                  <c:v>-0.00346687</c:v>
                </c:pt>
                <c:pt idx="11">
                  <c:v>0.37626637</c:v>
                </c:pt>
                <c:pt idx="12">
                  <c:v>-0.17107722</c:v>
                </c:pt>
                <c:pt idx="13">
                  <c:v>-0.16858207</c:v>
                </c:pt>
                <c:pt idx="14">
                  <c:v>-0.12329796</c:v>
                </c:pt>
                <c:pt idx="15">
                  <c:v>-0.10975614</c:v>
                </c:pt>
                <c:pt idx="16">
                  <c:v>0.16212947</c:v>
                </c:pt>
                <c:pt idx="17">
                  <c:v>-1.03851454</c:v>
                </c:pt>
                <c:pt idx="18">
                  <c:v>-0.24386412</c:v>
                </c:pt>
                <c:pt idx="19">
                  <c:v>-0.42133384</c:v>
                </c:pt>
                <c:pt idx="20">
                  <c:v>-0.4174905</c:v>
                </c:pt>
                <c:pt idx="21">
                  <c:v>-0.9927188</c:v>
                </c:pt>
                <c:pt idx="22">
                  <c:v>-0.3149567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.325142552327864"/>
          <c:min val="-3.040853728953952"/>
        </c:scaling>
        <c:delete val="0"/>
        <c:axPos val="l"/>
        <c:majorGridlines>
          <c:spPr>
            <a:ln xmlns:a="http://schemas.openxmlformats.org/drawingml/2006/main" w="5715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Arial"/>
                    <a:ea typeface="Arial"/>
                    <a:cs typeface="Arial"/>
                  </a:rPr>
                  <a:t>Социальные задачи и профилактика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4.800357114051033"/>
          <c:min val="-2.4349290798990433"/>
        </c:scaling>
        <c:delete val="0"/>
        <c:axPos val="b"/>
        <c:majorGridlines>
          <c:spPr>
            <a:ln xmlns:a="http://schemas.openxmlformats.org/drawingml/2006/main" w="5715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Arial"/>
                    <a:ea typeface="Arial"/>
                    <a:cs typeface="Arial"/>
                  </a:rPr>
                  <a:t>Обновление и обсуждение проблем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C1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B56A19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Бизимана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75">
                    <a:solidFill>
                      <a:srgbClr val="142B35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Data'!$A$2:$A$3</c:f>
              <c:numCache>
                <c:formatCode>General</c:formatCode>
                <c:ptCount val="2"/>
                <c:pt idx="0">
                  <c:v>-3.05481696</c:v>
                </c:pt>
                <c:pt idx="1">
                  <c:v>-3.00121331</c:v>
                </c:pt>
              </c:numCache>
            </c:numRef>
          </c:xVal>
          <c:yVal>
            <c:numRef>
              <c:f>'Chart Data'!$B$2:$B$3</c:f>
              <c:numCache>
                <c:formatCode>0.0</c:formatCode>
                <c:ptCount val="2"/>
                <c:pt idx="0">
                  <c:v>10.57779026</c:v>
                </c:pt>
                <c:pt idx="1">
                  <c:v>10.62193108</c:v>
                </c:pt>
              </c:numCache>
            </c:numRef>
          </c:yVal>
        </c:ser>
        <c:ser>
          <c:idx val="1"/>
          <c:order val="1"/>
          <c:tx>
            <c:v>C2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147B79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Нгиренте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Нсанзимана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7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Акаманзи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9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Ругвабиза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75">
                    <a:solidFill>
                      <a:srgbClr val="142B35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Data'!$C$2:$C$11</c:f>
              <c:numCache>
                <c:formatCode>General</c:formatCode>
                <c:ptCount val="10"/>
                <c:pt idx="0">
                  <c:v>1.76930225</c:v>
                </c:pt>
                <c:pt idx="1">
                  <c:v>2.86159253</c:v>
                </c:pt>
                <c:pt idx="2">
                  <c:v>1.48007822</c:v>
                </c:pt>
                <c:pt idx="3">
                  <c:v>0.70826137</c:v>
                </c:pt>
                <c:pt idx="4">
                  <c:v>-0.00981931</c:v>
                </c:pt>
                <c:pt idx="5">
                  <c:v>2.38794684</c:v>
                </c:pt>
                <c:pt idx="6">
                  <c:v>3.20203304</c:v>
                </c:pt>
                <c:pt idx="7">
                  <c:v>-0.25531989</c:v>
                </c:pt>
                <c:pt idx="8">
                  <c:v>2.6407423</c:v>
                </c:pt>
                <c:pt idx="9">
                  <c:v>1.45419621</c:v>
                </c:pt>
              </c:numCache>
            </c:numRef>
          </c:xVal>
          <c:yVal>
            <c:numRef>
              <c:f>'Chart Data'!$D$2:$D$11</c:f>
              <c:numCache>
                <c:formatCode>0.0</c:formatCode>
                <c:ptCount val="10"/>
                <c:pt idx="0">
                  <c:v>11.94225883</c:v>
                </c:pt>
                <c:pt idx="1">
                  <c:v>8.53226757</c:v>
                </c:pt>
                <c:pt idx="2">
                  <c:v>12.13284779</c:v>
                </c:pt>
                <c:pt idx="3">
                  <c:v>11.7990942</c:v>
                </c:pt>
                <c:pt idx="4">
                  <c:v>11.35700703</c:v>
                </c:pt>
                <c:pt idx="5">
                  <c:v>12.06010532</c:v>
                </c:pt>
                <c:pt idx="6">
                  <c:v>9.27089882</c:v>
                </c:pt>
                <c:pt idx="7">
                  <c:v>11.18034077</c:v>
                </c:pt>
                <c:pt idx="8">
                  <c:v>8.65243626</c:v>
                </c:pt>
                <c:pt idx="9">
                  <c:v>10.86563587</c:v>
                </c:pt>
              </c:numCache>
            </c:numRef>
          </c:yVal>
        </c:ser>
        <c:ser>
          <c:idx val="2"/>
          <c:order val="2"/>
          <c:tx>
            <c:v>C3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8250A7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Хабинеза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Ингабире Умухоза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t"/>
              <c:showVal val="0"/>
              <c:showCatName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75">
                    <a:solidFill>
                      <a:srgbClr val="142B35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Data'!$E$2:$E$3</c:f>
              <c:numCache>
                <c:formatCode>General</c:formatCode>
                <c:ptCount val="2"/>
                <c:pt idx="0">
                  <c:v>4.10400534</c:v>
                </c:pt>
                <c:pt idx="1">
                  <c:v>4.77439213</c:v>
                </c:pt>
              </c:numCache>
            </c:numRef>
          </c:xVal>
          <c:yVal>
            <c:numRef>
              <c:f>'Chart Data'!$F$2:$F$3</c:f>
              <c:numCache>
                <c:formatCode>0.0</c:formatCode>
                <c:ptCount val="2"/>
                <c:pt idx="0">
                  <c:v>4.01410294</c:v>
                </c:pt>
                <c:pt idx="1">
                  <c:v>4.6948781</c:v>
                </c:pt>
              </c:numCache>
            </c:numRef>
          </c:yVal>
        </c:ser>
        <c:ser>
          <c:idx val="3"/>
          <c:order val="3"/>
          <c:tx>
            <c:v>C4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3E6A9B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Кагаме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Нсенгийюмва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Бирута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Ндухунгирехе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Кабаребе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Маризамунда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b"/>
              <c:showVal val="0"/>
              <c:showCatName val="1"/>
            </c:dLbl>
            <c:dLbl>
              <c:idx val="19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Мпайимана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dLbl>
              <c:idx val="2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Рвигара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t"/>
              <c:showVal val="0"/>
              <c:showCatName val="1"/>
            </c:dLbl>
            <c:dLbl>
              <c:idx val="2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75">
                        <a:solidFill>
                          <a:srgbClr val="142B35"/>
                        </a:solidFill>
                        <a:latin typeface="Arial"/>
                        <a:ea typeface="Arial"/>
                        <a:cs typeface="Arial"/>
                      </a:rPr>
                      <a:t>Мушикивабо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75">
                      <a:solidFill>
                        <a:srgbClr val="142B3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  <c:showVal val="0"/>
              <c:showCatName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75">
                    <a:solidFill>
                      <a:srgbClr val="142B35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Data'!$G$2:$G$24</c:f>
              <c:numCache>
                <c:formatCode>General</c:formatCode>
                <c:ptCount val="23"/>
                <c:pt idx="0">
                  <c:v>2.45900917</c:v>
                </c:pt>
                <c:pt idx="1">
                  <c:v>-1.97606993</c:v>
                </c:pt>
                <c:pt idx="2">
                  <c:v>-2.6079042</c:v>
                </c:pt>
                <c:pt idx="3">
                  <c:v>-0.77773267</c:v>
                </c:pt>
                <c:pt idx="4">
                  <c:v>-2.3230176</c:v>
                </c:pt>
                <c:pt idx="5">
                  <c:v>1.435045</c:v>
                </c:pt>
                <c:pt idx="6">
                  <c:v>0.64047462</c:v>
                </c:pt>
                <c:pt idx="7">
                  <c:v>0.98246861</c:v>
                </c:pt>
                <c:pt idx="8">
                  <c:v>-1.75293791</c:v>
                </c:pt>
                <c:pt idx="9">
                  <c:v>1.62162161</c:v>
                </c:pt>
                <c:pt idx="10">
                  <c:v>0.073515</c:v>
                </c:pt>
                <c:pt idx="11">
                  <c:v>1.48060346</c:v>
                </c:pt>
                <c:pt idx="12">
                  <c:v>-3.1957047</c:v>
                </c:pt>
                <c:pt idx="13">
                  <c:v>-0.23832101</c:v>
                </c:pt>
                <c:pt idx="14">
                  <c:v>0.43246189</c:v>
                </c:pt>
                <c:pt idx="15">
                  <c:v>2.67982936</c:v>
                </c:pt>
                <c:pt idx="16">
                  <c:v>-3.10599637</c:v>
                </c:pt>
                <c:pt idx="17">
                  <c:v>-3.24418664</c:v>
                </c:pt>
                <c:pt idx="18">
                  <c:v>-0.78374362</c:v>
                </c:pt>
                <c:pt idx="19">
                  <c:v>3.16002178</c:v>
                </c:pt>
                <c:pt idx="20">
                  <c:v>2.1990993</c:v>
                </c:pt>
                <c:pt idx="21">
                  <c:v>-2.94442773</c:v>
                </c:pt>
                <c:pt idx="22">
                  <c:v>-1.02277887</c:v>
                </c:pt>
              </c:numCache>
            </c:numRef>
          </c:xVal>
          <c:yVal>
            <c:numRef>
              <c:f>'Chart Data'!$H$2:$H$24</c:f>
              <c:numCache>
                <c:formatCode>0.0</c:formatCode>
                <c:ptCount val="23"/>
                <c:pt idx="0">
                  <c:v>1.90828681</c:v>
                </c:pt>
                <c:pt idx="1">
                  <c:v>6.0741396</c:v>
                </c:pt>
                <c:pt idx="2">
                  <c:v>5.46259785</c:v>
                </c:pt>
                <c:pt idx="3">
                  <c:v>5.43640184</c:v>
                </c:pt>
                <c:pt idx="4">
                  <c:v>1.88288546</c:v>
                </c:pt>
                <c:pt idx="5">
                  <c:v>2.73262382</c:v>
                </c:pt>
                <c:pt idx="6">
                  <c:v>6.58998775</c:v>
                </c:pt>
                <c:pt idx="7">
                  <c:v>7.67031002</c:v>
                </c:pt>
                <c:pt idx="8">
                  <c:v>5.25404406</c:v>
                </c:pt>
                <c:pt idx="9">
                  <c:v>6.88712597</c:v>
                </c:pt>
                <c:pt idx="10">
                  <c:v>7.00811481</c:v>
                </c:pt>
                <c:pt idx="11">
                  <c:v>7.78613997</c:v>
                </c:pt>
                <c:pt idx="12">
                  <c:v>2.68197036</c:v>
                </c:pt>
                <c:pt idx="13">
                  <c:v>6.13212585</c:v>
                </c:pt>
                <c:pt idx="14">
                  <c:v>5.85627604</c:v>
                </c:pt>
                <c:pt idx="15">
                  <c:v>2.7080121</c:v>
                </c:pt>
                <c:pt idx="16">
                  <c:v>2.59957147</c:v>
                </c:pt>
                <c:pt idx="17">
                  <c:v>5.83841658</c:v>
                </c:pt>
                <c:pt idx="18">
                  <c:v>6.70749331</c:v>
                </c:pt>
                <c:pt idx="19">
                  <c:v>3.3362577</c:v>
                </c:pt>
                <c:pt idx="20">
                  <c:v>2.70226908</c:v>
                </c:pt>
                <c:pt idx="21">
                  <c:v>6.43349695</c:v>
                </c:pt>
                <c:pt idx="22">
                  <c:v>6.06414175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2.782847785949707"/>
          <c:min val="1.2328854560852052"/>
        </c:scaling>
        <c:delete val="0"/>
        <c:axPos val="l"/>
        <c:majorGridlines>
          <c:spPr>
            <a:ln xmlns:a="http://schemas.openxmlformats.org/drawingml/2006/main" w="5715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Arial"/>
                    <a:ea typeface="Arial"/>
                    <a:cs typeface="Arial"/>
                  </a:rPr>
                  <a:t>Направление 2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5.424392127990723"/>
          <c:min val="-3.8941866397857665"/>
        </c:scaling>
        <c:delete val="0"/>
        <c:axPos val="b"/>
        <c:majorGridlines>
          <c:spPr>
            <a:ln xmlns:a="http://schemas.openxmlformats.org/drawingml/2006/main" w="5715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Arial"/>
                    <a:ea typeface="Arial"/>
                    <a:cs typeface="Arial"/>
                  </a:rPr>
                  <a:t>Направление 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7B7AFBEA-93D1-43F9-A8D9-59257125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Политическое пространство Руанды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431AFF92-FA02-446C-853E-97287E42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41A9D9A2-D2A6-413A-BC32-1F40CB70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Три смысловые оси и четыре группы</a:t>
            </a:r>
          </a:p>
        </p:txBody>
      </p:sp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A306DE2B-6779-424E-A875-1E78ADF7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42 участника в справочнике</a:t>
            </a:r>
          </a:p>
          <a:p xmlns:a="http://schemas.openxmlformats.org/drawingml/2006/main">
            <a:pPr algn="l">
              <a:defRPr sz="225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37 публичных профилей на картах</a:t>
            </a:r>
          </a:p>
        </p:txBody>
      </p:sp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C82B4CD0-A093-45A5-8D97-0D1FD698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0072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Публичные политические акценты 2021–2026</a:t>
            </a:r>
          </a:p>
        </p:txBody>
      </p:sp>
    </p:spTree>
    <p:extLst>
      <p:ext uri="{BB962C8B-B14F-4D97-AF65-F5344CB8AC3E}">
        <p14:creationId xmlns:p14="http://schemas.microsoft.com/office/powerpoint/2010/main" val="19431435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46F96C8E-9734-4509-86CF-A68874E0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Основные выводы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E1CF0BA7-055B-4AE3-B7B0-E53F8E06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8459FCEF-71D0-4F6A-AB1D-8285E35F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Преемственность, обновление программ и разные способы обосновывать политику образуют самостоятельные линии различий.</a:t>
            </a:r>
          </a:p>
        </p:txBody>
      </p:sp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904C05CB-6EC7-41BA-B83E-A8F8E738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5743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Социальные задачи и язык памяти могут поддерживать общий государственный курс в разных публичных формах.</a:t>
            </a:r>
          </a:p>
        </p:txBody>
      </p:sp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A74B1C02-AB28-4F1A-80B3-342A9D85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7486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Четыре группы описывают сходство акцентов. Их состав нельзя читать как список политических союзов.</a:t>
            </a:r>
          </a:p>
        </p:txBody>
      </p:sp>
    </p:spTree>
    <p:extLst>
      <p:ext uri="{BB962C8B-B14F-4D97-AF65-F5344CB8AC3E}">
        <p14:creationId xmlns:p14="http://schemas.microsoft.com/office/powerpoint/2010/main" val="10140019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2961986E-C8A3-46FC-A19C-2983102D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Кто вошёл в исследование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3DF2635A-FE0E-4E66-8BDB-AE3D0D4E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4F639856-68D9-492F-AD7C-92A73B62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Руководство страны, министры, парламент и местное управление, кандидаты, оппозиционные фигуры и международные дипломаты.</a:t>
            </a:r>
          </a:p>
        </p:txBody>
      </p:sp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AAF2459A-C970-454D-8B70-864694DC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5743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Период: 15 октября 2021 — 15 октября 2026 года. Список охватывает разные публичные роли и не является рейтингом популярности.</a:t>
            </a:r>
          </a:p>
        </p:txBody>
      </p:sp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D498091A-52C8-4DEC-B4C1-C97BD9C7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7486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Все 42 участника описаны в справочнике. На картах размещены 37 достаточно описанных профилей.</a:t>
            </a:r>
          </a:p>
        </p:txBody>
      </p:sp>
    </p:spTree>
    <p:extLst>
      <p:ext uri="{BB962C8B-B14F-4D97-AF65-F5344CB8AC3E}">
        <p14:creationId xmlns:p14="http://schemas.microsoft.com/office/powerpoint/2010/main" val="8167544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97237A59-89BB-4F06-9E23-1FFA1011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Политическая среда Руанды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5A0A8EEF-E41B-4D63-A0D1-BA81BE0D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E9ECFF3B-C3E6-4DC0-98A6-D8FDB16E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По окончательным результатам NEC, на выборах 2024 года Кагаме получил 99,18% голосов. Список FPR-Inkotanyi получил 37 из 53 напрямую избираемых мест.</a:t>
            </a:r>
          </a:p>
        </p:txBody>
      </p:sp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502A20A4-12D1-4173-B513-D25E35BD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5743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HRW описывает ограничения публичной конкуренции и участия оппозиции. Официальный результат нельзя считать измерением всех частных убеждений населения.</a:t>
            </a:r>
          </a:p>
        </p:txBody>
      </p:sp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887923AB-609E-426C-993F-3CC443BD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7486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В этой среде государственная преемственность и предложения политических изменений имеют разные институциональные возможности.</a:t>
            </a:r>
          </a:p>
        </p:txBody>
      </p:sp>
    </p:spTree>
    <p:extLst>
      <p:ext uri="{BB962C8B-B14F-4D97-AF65-F5344CB8AC3E}">
        <p14:creationId xmlns:p14="http://schemas.microsoft.com/office/powerpoint/2010/main" val="11115726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8B39FFD8-D691-4048-9944-3EF50329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Почему различаются публичные акценты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BBB6963B-43E4-47DE-9884-49110DCF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D9E789F3-9C80-4A52-A95C-43B4DF4B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10923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Долгосрочная стратегия развития позволяет сохранять общие цели и пересматривать способы их достижения. Так устроена заявленная логика NST2 на 2024–2029 годы.</a:t>
            </a:r>
          </a:p>
        </p:txBody>
      </p:sp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7B3014E9-7D98-4C30-8BFA-77B19132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4452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Память о геноциде 1994 года и язык единства задают самостоятельную рамку публичного обоснования политики.</a:t>
            </a:r>
          </a:p>
        </p:txBody>
      </p:sp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E3F1D228-073C-4937-AA27-E8EF5D18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6195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Служебные задачи тоже различаются: здравоохранение требует говорить об услугах и готовности к рискам, политика памяти — об истории и ответственности.</a:t>
            </a:r>
          </a:p>
        </p:txBody>
      </p:sp>
      <p:sp>
        <p:nvSpPr>
          <p:cNvPr id="6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145ECE64-4E74-457F-B49B-8D31285E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934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Это объяснение в контексте источников. Карта сама по себе не устанавливает причин поведения.</a:t>
            </a:r>
          </a:p>
        </p:txBody>
      </p:sp>
    </p:spTree>
    <p:extLst>
      <p:ext uri="{BB962C8B-B14F-4D97-AF65-F5344CB8AC3E}">
        <p14:creationId xmlns:p14="http://schemas.microsoft.com/office/powerpoint/2010/main" val="5456270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33855EB6-0D94-4F1A-8EEF-024FB0AB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Признаки итоговой карты 1–4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CB156BA0-12C1-44C5-9F2B-2C83C6B6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205F5-5C9C-4085-87BF-D33845740F4C}"/>
              </a:ext>
            </a:extLst>
          </p:cNvPr>
          <p:cNvGraphicFramePr/>
          <p:nvPr/>
        </p:nvGraphicFramePr>
        <p:xfrm>
          <a:off xmlns:a="http://schemas.openxmlformats.org/drawingml/2006/main" x="628650" y="1381125"/>
          <a:ext xmlns:a="http://schemas.openxmlformats.org/drawingml/2006/main" cx="109347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7410450"/>
              </a:tblGrid>
              <a:tr h="809625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Свойство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Какой публичный акцент описывает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</a:tr>
              <a:tr h="809625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Обновление программ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Программное изменение существующего курса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Продолжение курса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Продолжение и закрепление действующего курса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809625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Поддержка курса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Публичная поддержка действующего государственного курса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Поручения и контроль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Административная постановка задач и контроль исполнения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F8B5DCC7-3B91-44DB-8076-21DFD7CE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934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У одного человека могут сочетаться разные свойства. Меньшая выраженность не создаёт противоположного убеждения.</a:t>
            </a:r>
          </a:p>
        </p:txBody>
      </p:sp>
    </p:spTree>
    <p:extLst>
      <p:ext uri="{BB962C8B-B14F-4D97-AF65-F5344CB8AC3E}">
        <p14:creationId xmlns:p14="http://schemas.microsoft.com/office/powerpoint/2010/main" val="13863384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D3D48D83-9EF0-49B8-89F9-B00B4596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Признаки итоговой карты 5–8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31C34F0C-BC1E-45D8-BE20-37ACB562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8B9F1-C9E8-4C10-BCD4-C06B306FE6B6}"/>
              </a:ext>
            </a:extLst>
          </p:cNvPr>
          <p:cNvGraphicFramePr/>
          <p:nvPr/>
        </p:nvGraphicFramePr>
        <p:xfrm>
          <a:off xmlns:a="http://schemas.openxmlformats.org/drawingml/2006/main" x="628650" y="1381125"/>
          <a:ext xmlns:a="http://schemas.openxmlformats.org/drawingml/2006/main" cx="109347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7410450"/>
              </a:tblGrid>
              <a:tr h="809625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Свойство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Какой публичный акцент описывает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</a:tr>
              <a:tr h="809625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Память и ценности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Обоснование через ценности, память и коллективные символы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Доступность благ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Расширение доступности базовых благ для населения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809625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Раскрытие проблем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Публичное раскрытие проблем и недостатков исполнения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Предупреждение рисков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Упреждающее снижение рисков и подготовка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F78A2553-B1E2-4E8B-9A2E-CB0578E2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934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У одного человека могут сочетаться разные свойства. Меньшая выраженность не создаёт противоположного убеждения.</a:t>
            </a:r>
          </a:p>
        </p:txBody>
      </p:sp>
    </p:spTree>
    <p:extLst>
      <p:ext uri="{BB962C8B-B14F-4D97-AF65-F5344CB8AC3E}">
        <p14:creationId xmlns:p14="http://schemas.microsoft.com/office/powerpoint/2010/main" val="2337300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16ECE6F8-A26B-4011-BEA1-5D911A51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Преемственность и поддержка курса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3D2611A4-22B8-4E72-96C7-C6774182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F5AA3257-7F31-4AA9-96F8-5CC885FA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Связанные акценты: продолжать принятую линию, поддерживать государственный курс, обращаться к единству и коллективной памяти.</a:t>
            </a:r>
          </a:p>
        </p:txBody>
      </p:sp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38FACABA-3D3D-46CB-8F60-74B06E7B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5743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Политический смысл: преемственность служит способом обосновать управление и придать общую рамку работе разных институтов.</a:t>
            </a:r>
          </a:p>
        </p:txBody>
      </p:sp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914616BD-59D4-4059-865C-3D10E37E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7486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Более слабая выраженность этой связки сама по себе не означает оппозиционности.</a:t>
            </a:r>
          </a:p>
        </p:txBody>
      </p:sp>
    </p:spTree>
    <p:extLst>
      <p:ext uri="{BB962C8B-B14F-4D97-AF65-F5344CB8AC3E}">
        <p14:creationId xmlns:p14="http://schemas.microsoft.com/office/powerpoint/2010/main" val="11963013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4C5F4C9F-B8A5-4958-AC42-6D6B4D00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Обновление и обсуждение проблем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AD12F13F-5700-4DCD-BBB8-E9C6874A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BEE416B0-BE09-4E58-A777-7B8A020F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Рядом оказались предложения изменить программы и открытое обсуждение недостатков исполнения.</a:t>
            </a:r>
          </a:p>
        </p:txBody>
      </p:sp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5EFE2040-30C7-46B4-9558-9670B7E2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5743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Изменения предлагают и оппозиционные фигуры, и действующие руководители в своих отраслях.</a:t>
            </a:r>
          </a:p>
        </p:txBody>
      </p:sp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053C8321-0843-468E-A4C2-4C43514A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7486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Общий акцент на обновлении ещё не означает общей программы или политического союза.</a:t>
            </a:r>
          </a:p>
        </p:txBody>
      </p:sp>
    </p:spTree>
    <p:extLst>
      <p:ext uri="{BB962C8B-B14F-4D97-AF65-F5344CB8AC3E}">
        <p14:creationId xmlns:p14="http://schemas.microsoft.com/office/powerpoint/2010/main" val="4037856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58BBC322-A877-4BD4-B36F-723D9B3B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Социальные задачи и профилактика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B6DBF1C5-9281-4510-A105-5B88C58B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87A66416-3195-47EF-AEB1-38DF4B52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Один акцент связан с доступностью благ и подготовкой к рискам. Другой сильнее связан с памятью, ценностями и коллективными символами.</a:t>
            </a:r>
          </a:p>
        </p:txBody>
      </p:sp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5D9155F9-BADF-48ED-A9D4-BCA6C877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5743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Часть различий объяснима служебными задачами: министр здравоохранения и руководитель политики памяти говорят о разных вопросах.</a:t>
            </a:r>
          </a:p>
        </p:txBody>
      </p:sp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98E02670-9CE4-438F-858E-F2ED8716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7486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У одного человека эти акценты могут сочетаться. Карта не означает, что социальные задачи противоречат ценностям.</a:t>
            </a:r>
          </a:p>
        </p:txBody>
      </p:sp>
    </p:spTree>
    <p:extLst>
      <p:ext uri="{BB962C8B-B14F-4D97-AF65-F5344CB8AC3E}">
        <p14:creationId xmlns:p14="http://schemas.microsoft.com/office/powerpoint/2010/main" val="8216757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2D4314CF-5EA7-4072-B8CB-EB080818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Единство в президентской публичной речи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67B33D6B-1254-473E-AFB2-BEE57D79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5331D281-390F-4FAB-B7AC-CAF5D4A7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1047750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«Основа всего — единство.»</a:t>
            </a:r>
          </a:p>
        </p:txBody>
      </p:sp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93D371AE-3A36-4A45-84EA-175078AB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Поль Кагаме, Kwibuka 30, 7 апреля 2024 года. Перевод с английского.</a:t>
            </a:r>
          </a:p>
        </p:txBody>
      </p:sp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A30F5E36-ADDD-4DF6-B8CF-050DE187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10382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Память и единство служат способом объяснять преемственность. Эта речь иллюстрирует политический контекст, а не взгляды всех участников.</a:t>
            </a:r>
          </a:p>
        </p:txBody>
      </p:sp>
    </p:spTree>
    <p:extLst>
      <p:ext uri="{BB962C8B-B14F-4D97-AF65-F5344CB8AC3E}">
        <p14:creationId xmlns:p14="http://schemas.microsoft.com/office/powerpoint/2010/main" val="17957228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C74BC604-010F-4EEF-918A-CDDB0AED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Профилактика в отраслевой политике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D29CE054-F032-41C5-852F-656E9EAA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74647B1F-94C5-4E3F-860F-16F71D8F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1047750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«Это возможность построить более сильную систему здравоохранения.»</a:t>
            </a:r>
          </a:p>
        </p:txBody>
      </p:sp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F8DA6B0B-2035-4ED6-AD2A-DD6D31F2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Сабин Нсанзимана, министр здравоохранения, 13 февраля 2023 года. Перевод с английского.</a:t>
            </a:r>
          </a:p>
        </p:txBody>
      </p:sp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FC2CF88D-B2A1-4A2B-AAC5-BB4A649E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10382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При подписании меморандума с ВОЗ министр связывает готовность к эпидемиям с укреплением системы здравоохранения. Это пример практического обоснования профилактики.</a:t>
            </a:r>
          </a:p>
        </p:txBody>
      </p:sp>
    </p:spTree>
    <p:extLst>
      <p:ext uri="{BB962C8B-B14F-4D97-AF65-F5344CB8AC3E}">
        <p14:creationId xmlns:p14="http://schemas.microsoft.com/office/powerpoint/2010/main" val="379421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B4250025-76BB-4791-A510-8E1D8499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Как читать карту признаков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805358DC-D47D-42C1-9D75-D6A52116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9B0E5D6D-333A-4360-8AA7-2E8D9942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Точка обозначает свойство публичной речи. Близкие точки показывают похожую связь с выбранными осями.</a:t>
            </a:r>
          </a:p>
        </p:txBody>
      </p:sp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E27A68F6-74B8-4BB4-AB1D-32FCDCF2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5743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Продолжение и поддержка курса сближаются по первой оси. Обновление программ и раскрытие проблем — по второй.</a:t>
            </a:r>
          </a:p>
        </p:txBody>
      </p:sp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2D418AA3-603E-4AF9-9670-5B0C8036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7486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Одна картинка показывает две оси. Третья может раскрыть различие, которое в этой плоскости незаметно.</a:t>
            </a:r>
          </a:p>
        </p:txBody>
      </p:sp>
    </p:spTree>
    <p:extLst>
      <p:ext uri="{BB962C8B-B14F-4D97-AF65-F5344CB8AC3E}">
        <p14:creationId xmlns:p14="http://schemas.microsoft.com/office/powerpoint/2010/main" val="21239557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C13001CC-FB1E-4618-864A-8F036DD8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Признаки в смысловом пространстве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6255A133-8677-413E-8C8C-2675F202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2606258A-62BD-4F84-8FD6-4396E5A7A838}"/>
              </a:ext>
            </a:extLst>
          </p:cNvPr>
          <p:cNvGraphicFramePr/>
          <p:nvPr/>
        </p:nvGraphicFramePr>
        <p:xfrm>
          <a:off xmlns:a="http://schemas.openxmlformats.org/drawingml/2006/main" x="552450" y="1314450"/>
          <a:ext xmlns:a="http://schemas.openxmlformats.org/drawingml/2006/main" cx="11068050" cy="4505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2c37e128c14ebd"/>
          </a:graphicData>
        </a:graphic>
      </p:graphicFrame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D4D0C220-1813-4E17-8FE1-9D103AC2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934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Точки обозначают свойства публичной речи. Каждая карта показывает две из трёх осей.</a:t>
            </a:r>
          </a:p>
        </p:txBody>
      </p:sp>
    </p:spTree>
    <p:extLst>
      <p:ext uri="{BB962C8B-B14F-4D97-AF65-F5344CB8AC3E}">
        <p14:creationId xmlns:p14="http://schemas.microsoft.com/office/powerpoint/2010/main" val="21009259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EE7DE2AE-5343-4267-9EF4-F01E416B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Признаки в смысловом пространстве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7689D1B6-75EC-43A7-AEE1-6EED51D1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0632C071-CDB2-48F7-98AE-94AED86BEAAB}"/>
              </a:ext>
            </a:extLst>
          </p:cNvPr>
          <p:cNvGraphicFramePr/>
          <p:nvPr/>
        </p:nvGraphicFramePr>
        <p:xfrm>
          <a:off xmlns:a="http://schemas.openxmlformats.org/drawingml/2006/main" x="552450" y="1314450"/>
          <a:ext xmlns:a="http://schemas.openxmlformats.org/drawingml/2006/main" cx="11068050" cy="4505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367e08971d4939"/>
          </a:graphicData>
        </a:graphic>
      </p:graphicFrame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89341687-6783-4A86-91AE-66E7FB36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934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Точки обозначают свойства публичной речи. Каждая карта показывает две из трёх осей.</a:t>
            </a:r>
          </a:p>
        </p:txBody>
      </p:sp>
    </p:spTree>
    <p:extLst>
      <p:ext uri="{BB962C8B-B14F-4D97-AF65-F5344CB8AC3E}">
        <p14:creationId xmlns:p14="http://schemas.microsoft.com/office/powerpoint/2010/main" val="12206206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3C2834A7-512D-4878-A02F-F645BE8B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Политики в смысловом пространстве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D14E732B-EE1B-44C8-8021-DF98FDE0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D4F46E76-397B-487F-90A0-347B8DE2EC1B}"/>
              </a:ext>
            </a:extLst>
          </p:cNvPr>
          <p:cNvGraphicFramePr/>
          <p:nvPr/>
        </p:nvGraphicFramePr>
        <p:xfrm>
          <a:off xmlns:a="http://schemas.openxmlformats.org/drawingml/2006/main" x="552450" y="1314450"/>
          <a:ext xmlns:a="http://schemas.openxmlformats.org/drawingml/2006/main" cx="11068050" cy="4505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68d1d18b6345af"/>
          </a:graphicData>
        </a:graphic>
      </p:graphicFrame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B10DAF9D-400E-40DE-8F4F-342447C4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934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Все 37 показаны точками, часть профилей совпадает. Полные составы и должности даны далее.</a:t>
            </a:r>
          </a:p>
        </p:txBody>
      </p:sp>
    </p:spTree>
    <p:extLst>
      <p:ext uri="{BB962C8B-B14F-4D97-AF65-F5344CB8AC3E}">
        <p14:creationId xmlns:p14="http://schemas.microsoft.com/office/powerpoint/2010/main" val="147652919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8FB185C4-36ED-49A2-8548-1F8EAD28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Политики в смысловом пространстве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DDF4EAB2-E7AC-4418-8E60-BB7C506D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B83E54BA-4FAF-46CF-9E92-C82F9691F1E5}"/>
              </a:ext>
            </a:extLst>
          </p:cNvPr>
          <p:cNvGraphicFramePr/>
          <p:nvPr/>
        </p:nvGraphicFramePr>
        <p:xfrm>
          <a:off xmlns:a="http://schemas.openxmlformats.org/drawingml/2006/main" x="552450" y="1314450"/>
          <a:ext xmlns:a="http://schemas.openxmlformats.org/drawingml/2006/main" cx="11068050" cy="4505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97e15c59a343e7"/>
          </a:graphicData>
        </a:graphic>
      </p:graphicFrame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881CA659-0AD6-4614-9C9E-093CE850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934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Все 37 показаны точками, часть профилей совпадает. Полные составы и должности даны далее.</a:t>
            </a:r>
          </a:p>
        </p:txBody>
      </p:sp>
    </p:spTree>
    <p:extLst>
      <p:ext uri="{BB962C8B-B14F-4D97-AF65-F5344CB8AC3E}">
        <p14:creationId xmlns:p14="http://schemas.microsoft.com/office/powerpoint/2010/main" val="2167241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FC2C4E53-AE5C-4151-A677-78FF4747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Четыре группы публичных профилей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C7370A75-C46E-4023-B15E-5D4666E3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759CF-AE0B-48CC-89C3-8D541830FEB2}"/>
              </a:ext>
            </a:extLst>
          </p:cNvPr>
          <p:cNvGraphicFramePr/>
          <p:nvPr/>
        </p:nvGraphicFramePr>
        <p:xfrm>
          <a:off xmlns:a="http://schemas.openxmlformats.org/drawingml/2006/main" x="628650" y="1381125"/>
          <a:ext xmlns:a="http://schemas.openxmlformats.org/drawingml/2006/main" cx="109347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1238250"/>
                <a:gridCol w="8458200"/>
              </a:tblGrid>
              <a:tr h="762000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Группа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Число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Смысл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</a:tr>
              <a:tr h="762000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C1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Ценностное обоснование преемственности курса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C2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Практическое управление: услуги и предупреждение рисков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762000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C3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Программные альтернативы и доступность благ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C4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85725" tIns="85725" rIns="85725" bIns="85725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Смешанные публичные профили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8618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673B2108-0B77-4EFD-9A09-593FB2C5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C1 Ценностное обоснование преемственности курса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3186DA10-0FA8-45FB-B950-99D4A163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78923D3F-0761-4953-B4FC-F1C98017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Бизиману и Харериману сближают ценностная аргументация, единство, память и продолжение принятого курса.</a:t>
            </a:r>
          </a:p>
        </p:txBody>
      </p:sp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3FCC08F8-B47C-4FD8-86D4-750290AF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5743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Разные политические роли соединены сходным способом публично обосновывать сохранение достигнутого.</a:t>
            </a:r>
          </a:p>
        </p:txBody>
      </p:sp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53A192F4-BF75-479D-AE08-3D3FB963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7486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Неизвестная оценка программных изменений не означает отказа от реформ. Пара не является доказанной коалицией.</a:t>
            </a:r>
          </a:p>
        </p:txBody>
      </p:sp>
    </p:spTree>
    <p:extLst>
      <p:ext uri="{BB962C8B-B14F-4D97-AF65-F5344CB8AC3E}">
        <p14:creationId xmlns:p14="http://schemas.microsoft.com/office/powerpoint/2010/main" val="14997431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0F77A17B-76CC-4043-9FBC-DDA77307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C2 Практическое управление: услуги и предупреждение рисков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FC5EC55A-15EF-403D-B5A2-47CEB5B1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C3A0CF0C-913A-4542-8859-36C70712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Продолжение программ сочетается с доступностью услуг, управленческими задачами и подготовкой к рискам.</a:t>
            </a:r>
          </a:p>
        </p:txBody>
      </p:sp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9C65E566-0980-48BC-9792-61108C31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5743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Нгиренте, Мурангва, Нсанзимана и другие описывают организацию работы для конкретных получателей.</a:t>
            </a:r>
          </a:p>
        </p:txBody>
      </p:sp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0B8DB98B-E308-450B-97DF-9D0F18D3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7486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Профиль объединяет разные отрасли и международную роль Ругвабизы. Он не измеряет эффективность или экспертную компетентность.</a:t>
            </a:r>
          </a:p>
        </p:txBody>
      </p:sp>
    </p:spTree>
    <p:extLst>
      <p:ext uri="{BB962C8B-B14F-4D97-AF65-F5344CB8AC3E}">
        <p14:creationId xmlns:p14="http://schemas.microsoft.com/office/powerpoint/2010/main" val="21325572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587A057A-8BD7-41B0-970B-66A075CB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C2 Состав группы 1–7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4C2D1308-F3AC-4987-8FBD-1DCA7018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7F7E8-AF18-4F45-A1BE-D5EDC2AE512B}"/>
              </a:ext>
            </a:extLst>
          </p:cNvPr>
          <p:cNvGraphicFramePr/>
          <p:nvPr/>
        </p:nvGraphicFramePr>
        <p:xfrm>
          <a:off xmlns:a="http://schemas.openxmlformats.org/drawingml/2006/main" x="628650" y="1381125"/>
          <a:ext xmlns:a="http://schemas.openxmlformats.org/drawingml/2006/main" cx="109347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43700"/>
              </a:tblGrid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Участник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Роль в исследуемый период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</a:tr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Эдуар Нгиренте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Премьер-министр; передал полномочия преемнику 25.07.2025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Альбер Мурасира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Министр обороны в 2021; министр чрезвычайных ситуаций в августе 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Эмманюэль Угирасебуджа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Министр юстиции и Attorney General: подтверждён в 2022 и августе 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Юсуф Мурангва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Министр финансов и экономического планирования: назначение 12.06.2024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Уззиэль Ндагиджимана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Министр финансов и экономического планирования до 12.06.2024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Паула Ингабире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Министр ИКТ и инноваций в составе правительства от 16.08.2024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Сабин Нсанзимана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Министр здравоохранения: датированное выступление 13.02.2023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789347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0EDE74B0-2289-4D37-BA3D-2E436C7C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C2 Состав группы 8–10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201E736F-0A66-4389-8D94-CACA0D47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F8B4E-5079-4BF4-B95E-F92CCF2724D6}"/>
              </a:ext>
            </a:extLst>
          </p:cNvPr>
          <p:cNvGraphicFramePr/>
          <p:nvPr/>
        </p:nvGraphicFramePr>
        <p:xfrm>
          <a:off xmlns:a="http://schemas.openxmlformats.org/drawingml/2006/main" x="628650" y="1381125"/>
          <a:ext xmlns:a="http://schemas.openxmlformats.org/drawingml/2006/main" cx="109347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43700"/>
              </a:tblGrid>
              <a:tr h="110728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Участник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Роль в исследуемый период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</a:tr>
              <a:tr h="110728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Клэр Акаманзи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Руководитель RDB до сентября 2023; назначение в NBA Africa — 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0728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Пуденс Рубингиса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Мэр Кигали, затем губернатор Восточной провинции в декабре 2023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110728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Валентин Ругвабиза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Представитель Руанды при ООН; назначена главой MINUSCA 23.02.2022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442078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E5A51FC2-31E1-4017-8FF1-A7D1B30D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C3 Программные альтернативы и доступность благ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C7DC207E-8968-4744-AEEC-E5F88E88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E455E0EB-8F92-49C5-AF74-3DDB1AD1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Хабинеза и Ингабире выделяются программными альтернативами и приоритетом доступности базовых благ.</a:t>
            </a:r>
          </a:p>
        </p:txBody>
      </p:sp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445C4BE4-52DD-4D18-A7EB-2658CF97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5743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Общность части предложений не означает одинаковой идеологии, условий участия или политического союза.</a:t>
            </a:r>
          </a:p>
        </p:txBody>
      </p:sp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93A1566A-826C-420B-BE6F-859F17EB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7486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Эта пара не равна всей оппозиции: другие альтернативные политики находятся вне неё, а часть участников не включена из-за пропусков.</a:t>
            </a:r>
          </a:p>
        </p:txBody>
      </p:sp>
    </p:spTree>
    <p:extLst>
      <p:ext uri="{BB962C8B-B14F-4D97-AF65-F5344CB8AC3E}">
        <p14:creationId xmlns:p14="http://schemas.microsoft.com/office/powerpoint/2010/main" val="838895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31B40AF4-2145-4861-B936-769D5C2E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C4 Смешанные публичные профили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4C2FCA70-780E-41EF-B490-38E7942D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1C881055-67F6-4CAB-9E01-5A693780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Кагаме, руководители, дипломаты и часть альтернативных политиков объединены сходством ограниченного набора оценок.</a:t>
            </a:r>
          </a:p>
        </p:txBody>
      </p:sp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246A4563-F81F-4ABD-89C7-0E873E39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5743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Кагаме и Рвигара политически различны. Критика власти и доступ к выборам не входят в восемь оставшихся переменных.</a:t>
            </a:r>
          </a:p>
        </p:txBody>
      </p:sp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1062743F-7BA1-4EA3-9B35-FCA2471D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7486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Большая разнородная группа не имеет установленной общей идеологии, коалиции или одинакового отношения к власти.</a:t>
            </a:r>
          </a:p>
        </p:txBody>
      </p:sp>
    </p:spTree>
    <p:extLst>
      <p:ext uri="{BB962C8B-B14F-4D97-AF65-F5344CB8AC3E}">
        <p14:creationId xmlns:p14="http://schemas.microsoft.com/office/powerpoint/2010/main" val="185827969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33C2F958-A78D-4510-8224-AC1A5003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C4 Состав группы 1–7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23DF3A3A-F0FB-444E-9725-C40A65FC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10FB1-3E90-493D-A450-3D818A821291}"/>
              </a:ext>
            </a:extLst>
          </p:cNvPr>
          <p:cNvGraphicFramePr/>
          <p:nvPr/>
        </p:nvGraphicFramePr>
        <p:xfrm>
          <a:off xmlns:a="http://schemas.openxmlformats.org/drawingml/2006/main" x="628650" y="1381125"/>
          <a:ext xmlns:a="http://schemas.openxmlformats.org/drawingml/2006/main" cx="109347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43700"/>
              </a:tblGrid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Участник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Роль в исследуемый период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</a:tr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Поль Кагаме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Президент; инаугурация на новый пятилетний срок 11.08.2024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Жюстен Нсенгийюмва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Премьер-министр: назначен 23.07.2025; принёс присягу 25.07.2025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Венсан Бирута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Глава МИД в апреле 2024; министр внутренних дел в августе 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Оливье Ндухунгирехе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Министр иностранных дел в составе правительства от 16.08.2024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Джеймс Кабаребе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Государственный министр регионального сотрудничества: с 04.10.2023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Жювеналь Маризамунда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Министр обороны: принял полномочия 07.06.2023; подтверждён в 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Жюдит Увизейе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Министр в канцелярии президента: состав правительства 16.08.2024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241047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39A62220-C5D7-4549-AF6F-88D6E882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C4 Состав группы 8–14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9853707B-3109-4CEE-B594-5451F243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DAD5E-45A6-4015-95FA-90C4D16257FF}"/>
              </a:ext>
            </a:extLst>
          </p:cNvPr>
          <p:cNvGraphicFramePr/>
          <p:nvPr/>
        </p:nvGraphicFramePr>
        <p:xfrm>
          <a:off xmlns:a="http://schemas.openxmlformats.org/drawingml/2006/main" x="628650" y="1381125"/>
          <a:ext xmlns:a="http://schemas.openxmlformats.org/drawingml/2006/main" cx="109347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43700"/>
              </a:tblGrid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Участник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Роль в исследуемый период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</a:tr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Валентин Увамария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Министр окружающей среды: состав правительства от 16.08.2024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Жанна д’Арк Муджавамария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Экологический портфель в 2022–2024; госслужба и труд в июне 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Жерардин Мукешимана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Министр сельского хозяйства и животноводства: подтверждение 01.12.2022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Ильдефонс Мусафири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Аграрный министр: назначение 02.03.2023, подтверждён в августе 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Жан-Клод Мусабийимана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Министр местного самоуправления: подтверждён в декабре 2023 и 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Франсис Гатаре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Руководитель Rwanda Development Board: назначение 27.09.2023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Гертруда Казарва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Спикер Палаты депутатов: избрана 14.08.2024 на новый созыв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298254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AC45F3DF-73F0-4523-8167-A046E3C5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C4 Состав группы 15–21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1C3509D9-683C-4859-9D6C-EDD5B8CF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08C43-AA87-4B63-91C8-8AABCC179C32}"/>
              </a:ext>
            </a:extLst>
          </p:cNvPr>
          <p:cNvGraphicFramePr/>
          <p:nvPr/>
        </p:nvGraphicFramePr>
        <p:xfrm>
          <a:off xmlns:a="http://schemas.openxmlformats.org/drawingml/2006/main" x="628650" y="1381125"/>
          <a:ext xmlns:a="http://schemas.openxmlformats.org/drawingml/2006/main" cx="109347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43700"/>
              </a:tblGrid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Участник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Роль в исследуемый период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</a:tr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Донатиль Мукабалиса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Спикер Палаты депутатов в предыдущем созыве: подтверждение 12.09.2023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Франсуа-Ксавье Калинда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Глава Сената с 09.01.2023; избран на следующий срок 26.09.2024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Огюстен Иямуремье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Председатель Сената в начале окна: роль до 09.12.2022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Альвера Мукабарамба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Вице-президент Сената: избрана в руководство 26.09.2024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Самуэль Дусенгийюмва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Мэр столицы Кигали: избран на эту должность 15.12.2023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Филипп Мпайимана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Независимый кандидат, допущенный к президентским выборам 2024 года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553641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Диана Рвигара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Независимая претендентка на президентских выборах 2024; не допущена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183186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33D15BC4-A053-4259-9906-4378C6BC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C4 Состав группы 22–23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88F826D7-5476-47D6-A819-B0D17338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5E9AB-CEE9-429B-A10D-817F7A6BF63A}"/>
              </a:ext>
            </a:extLst>
          </p:cNvPr>
          <p:cNvGraphicFramePr/>
          <p:nvPr/>
        </p:nvGraphicFramePr>
        <p:xfrm>
          <a:off xmlns:a="http://schemas.openxmlformats.org/drawingml/2006/main" x="628650" y="1381125"/>
          <a:ext xmlns:a="http://schemas.openxmlformats.org/drawingml/2006/main" cx="109347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43700"/>
              </a:tblGrid>
              <a:tr h="1476375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Участник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Роль в исследуемый период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</a:tr>
              <a:tr h="1476375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Луиза Мушикивабо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Генсек международной OIF с января 2019; переизбрана в ноябре 2022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76375"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Клавер Гатете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Представитель Руанды при ООН; назначен главой ЭКА ООН 06.10.2023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868109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B17C74DB-65C7-4EAC-9996-2A20AC9E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Кагаме и Рвигара в одной группе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A5BACB4C-5A7F-4C29-84A4-8420811F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3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15EBF33F-97AF-4D1A-8BC9-2B0E53AC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Кагаме и Диана Рвигара вошли в большой разнородный круг C4. По этим восьми свойствам у них нет профиля двух малых крайних групп.</a:t>
            </a:r>
          </a:p>
        </p:txBody>
      </p:sp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9789B5F0-526E-4B42-A113-2D906DD7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5743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Состав C4 не означает общей программы. Президентская власть и критика действующей власти остаются принципиально разными политическими ролями.</a:t>
            </a:r>
          </a:p>
        </p:txBody>
      </p:sp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1982BFF0-7AAB-48D8-9284-301CC5D8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7486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Карта публичных акцентов помогает сравнивать речь, но не заменяет анализ институтов и политических отношений.</a:t>
            </a:r>
          </a:p>
        </p:txBody>
      </p:sp>
    </p:spTree>
    <p:extLst>
      <p:ext uri="{BB962C8B-B14F-4D97-AF65-F5344CB8AC3E}">
        <p14:creationId xmlns:p14="http://schemas.microsoft.com/office/powerpoint/2010/main" val="134047882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F5700891-4ECD-4FC5-88EF-6F4F2EC6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Политическое влияние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6E8F6D7D-C63F-4F5E-A974-30772058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3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70D557FC-3AA8-4B19-B967-73543474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Политический вес связан с полномочиями и доступом к государственным решениям, а не с количеством участников кластера.</a:t>
            </a:r>
          </a:p>
        </p:txBody>
      </p:sp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B9BDD865-90C6-4C33-89E6-738B1952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5743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Президентская и правительственные должности дают иной ресурс, чем международная дипломатическая роль или публичная критика.</a:t>
            </a:r>
          </a:p>
        </p:txBody>
      </p:sp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FEA90BC6-6ACA-4CAC-979F-345AC40C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7486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Малый размер группы не доказывает слабого влияния. Поддержка избирателей, сети и реальные результаты здесь отдельно не измерялись.</a:t>
            </a:r>
          </a:p>
        </p:txBody>
      </p:sp>
    </p:spTree>
    <p:extLst>
      <p:ext uri="{BB962C8B-B14F-4D97-AF65-F5344CB8AC3E}">
        <p14:creationId xmlns:p14="http://schemas.microsoft.com/office/powerpoint/2010/main" val="10021711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36CF3506-3587-4A72-BAB2-ED633405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Дополнительная карта соседства политиков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B60A8B0A-A2E3-477F-85EE-5AAA32D3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B0E3B04C-7407-4803-9763-6770ECFA538C}"/>
              </a:ext>
            </a:extLst>
          </p:cNvPr>
          <p:cNvGraphicFramePr/>
          <p:nvPr/>
        </p:nvGraphicFramePr>
        <p:xfrm>
          <a:off xmlns:a="http://schemas.openxmlformats.org/drawingml/2006/main" x="552450" y="1314450"/>
          <a:ext xmlns:a="http://schemas.openxmlformats.org/drawingml/2006/main" cx="11068050" cy="4505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1f2be48a774745"/>
          </a:graphicData>
        </a:graphic>
      </p:graphicFrame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492E6AEA-F468-45E4-8BD2-5E47F130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934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Оси этой карты не имеют политического смысла. Она помогает рассмотреть соседство профилей.</a:t>
            </a:r>
          </a:p>
        </p:txBody>
      </p:sp>
    </p:spTree>
    <p:extLst>
      <p:ext uri="{BB962C8B-B14F-4D97-AF65-F5344CB8AC3E}">
        <p14:creationId xmlns:p14="http://schemas.microsoft.com/office/powerpoint/2010/main" val="174790918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0E96E014-2436-4B8F-A9D1-C751FD8E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Отношения с Россией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B2E49A80-3435-4294-B25E-9550DE85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3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C96665A7-0066-40E0-862A-6AB2E999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Дипломатическое и отраслевое сотрудничество может сочетаться с критикой конкретных внешнеполитических действий.</a:t>
            </a:r>
          </a:p>
        </p:txBody>
      </p:sp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12FC5495-1944-4253-AEB6-7E3BCE8E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5743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Для понимания позиции важны точное высказывание, дата и роль говорящего. Действие министра и речь главы международной организации имеют разный статус.</a:t>
            </a:r>
          </a:p>
        </p:txBody>
      </p:sp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E699C9E0-C2A0-4371-A5AE-744A7B9B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7486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Следующие примеры относятся к названным людям и эпизодам. Они не задают общую позицию всей группы.</a:t>
            </a:r>
          </a:p>
        </p:txBody>
      </p:sp>
    </p:spTree>
    <p:extLst>
      <p:ext uri="{BB962C8B-B14F-4D97-AF65-F5344CB8AC3E}">
        <p14:creationId xmlns:p14="http://schemas.microsoft.com/office/powerpoint/2010/main" val="105069635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5290C66C-2EAC-4AF9-8277-53A20FFC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Сотрудничество и несогласие могут сочетаться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F5AA460E-7179-40C0-A6D8-FE1059A8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3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A7EAF136-0322-4FE3-9DA5-59D56E56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1047750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«продолжать тесно работать с Россией»</a:t>
            </a:r>
          </a:p>
        </p:txBody>
      </p:sp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29E7D485-2506-4835-B766-DD0F96B5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Венсан Бирута, 2023-06-12. Перевод ассистента с французской публикации</a:t>
            </a:r>
          </a:p>
        </p:txBody>
      </p:sp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B6532D00-7DF1-4DEE-9212-89FC5FAD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10382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Бирута обсуждает образование, безопасность и отраслевые связи с Россией; по Украине объясняет позицию принципами суверенитета. Это разные направления политики, а не взаимоисключающие ярлыки.</a:t>
            </a:r>
          </a:p>
        </p:txBody>
      </p:sp>
    </p:spTree>
    <p:extLst>
      <p:ext uri="{BB962C8B-B14F-4D97-AF65-F5344CB8AC3E}">
        <p14:creationId xmlns:p14="http://schemas.microsoft.com/office/powerpoint/2010/main" val="214150100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77982C8E-1C74-48DE-AB20-30FD2A74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Кагаме: принцип невторжения и нейтралитет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4EE0F6DF-F789-4099-9502-E6C1801C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3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60BF4B8A-281F-4EC2-8EEC-21B7F264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1047750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«мы не можем поддержать вторжение»</a:t>
            </a:r>
          </a:p>
        </p:txBody>
      </p:sp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C161833D-BF7A-4588-B886-E9F61634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Поль Кагаме, 2023-09-12. Перевод ассистента на русский</a:t>
            </a:r>
          </a:p>
        </p:txBody>
      </p:sp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ED02F96D-CD6D-4A87-BAE3-DF1F25A8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10382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В одном интервью он отвергает поддержку вторжения и отказывается выбирать сторону конфликта. В отдельном выступлении защищает право Африки самостоятельно выбирать внешних партнёров.</a:t>
            </a:r>
          </a:p>
        </p:txBody>
      </p:sp>
    </p:spTree>
    <p:extLst>
      <p:ext uri="{BB962C8B-B14F-4D97-AF65-F5344CB8AC3E}">
        <p14:creationId xmlns:p14="http://schemas.microsoft.com/office/powerpoint/2010/main" val="127821263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181F30B4-4FB8-44D2-94CC-2D8F3632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Что подтверждено практически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E160E88D-27CC-4FAC-B5F7-66B39319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3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3C5FC673-82C5-4CC7-B116-BA132ADF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10923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Ндухунгирехе: визовое соглашение для служебных категорий и переговоры об энергетике и кадрах. Нсанзимана: медицинский меморандум. Маризамунда: участие в оборонном диалоге.</a:t>
            </a:r>
          </a:p>
        </p:txBody>
      </p:sp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C09FBFE7-F909-4E86-8A05-ABE26797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4452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Подписание и обсуждение отличаются от выполненного проекта; собственные слова не заменяются текстом ведомства.</a:t>
            </a:r>
          </a:p>
        </p:txBody>
      </p:sp>
    </p:spTree>
    <p:extLst>
      <p:ext uri="{BB962C8B-B14F-4D97-AF65-F5344CB8AC3E}">
        <p14:creationId xmlns:p14="http://schemas.microsoft.com/office/powerpoint/2010/main" val="128665369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F2BDD2BB-CEA2-4EAD-956D-82E7F60B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Мушикивабо: прямое заявление в роли OIF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8AD1A109-863E-41B9-8DD3-494B166F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3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C31476A5-BFC4-4A2C-AD56-C2A72F4F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1047750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«военная агрессия Российской Федерации»</a:t>
            </a:r>
          </a:p>
        </p:txBody>
      </p:sp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D029C8F3-9B56-4D35-A8F4-E6DDFEBF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Луиза Мушикивабо, генеральный секретарь OIF, 2023-02-24. Перевод ассистента на русский</a:t>
            </a:r>
          </a:p>
        </p:txBody>
      </p:sp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490F70EB-0FEB-4E27-8D63-188364CC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10382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Именной текст OIF прямо квалифицирует российское нападение и выражает солидарность с украинским населением. Она выступает как глава OIF, а не от имени правительства Руанды.</a:t>
            </a:r>
          </a:p>
        </p:txBody>
      </p:sp>
    </p:spTree>
    <p:extLst>
      <p:ext uri="{BB962C8B-B14F-4D97-AF65-F5344CB8AC3E}">
        <p14:creationId xmlns:p14="http://schemas.microsoft.com/office/powerpoint/2010/main" val="68039867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B3C835E7-EFDA-4B07-8366-EAAD18CE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Муджавамария о голосовании по Украине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2F124C8D-80BB-4C58-A544-0CB1031A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3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8F4801F3-497B-4990-AC01-B0C51BE6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1047750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«Мы не воздержались»</a:t>
            </a:r>
          </a:p>
        </p:txBody>
      </p:sp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7B7255CF-4327-4ACE-813B-BEFAF78C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Жанна д’Арк Муджавамария, 2022-03-30. Перевод ассистента на русский</a:t>
            </a:r>
          </a:p>
        </p:txBody>
      </p:sp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005A7AD2-AA8D-458B-85B2-683D3C3A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10382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В публичном ответе она сама разъясняет голосование Руанды. Это конкретный эпизод собственной речи, который не даёт общей позиции о санкциях или разрыве сотрудничества.</a:t>
            </a:r>
          </a:p>
        </p:txBody>
      </p:sp>
    </p:spTree>
    <p:extLst>
      <p:ext uri="{BB962C8B-B14F-4D97-AF65-F5344CB8AC3E}">
        <p14:creationId xmlns:p14="http://schemas.microsoft.com/office/powerpoint/2010/main" val="177681717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72EE8F0E-1327-414F-B6C5-4775DFAE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Ндухунгирехе об энергетике и подготовке кадров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326ECAEE-EA13-4634-975B-D0658CA3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3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8C2590CE-7539-4B43-81FF-D65FBA27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1047750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76D7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6D77"/>
                </a:solidFill>
                <a:latin typeface="Arial"/>
                <a:ea typeface="Arial"/>
                <a:cs typeface="Arial"/>
              </a:rPr>
              <a:t>«Руанде нужна ядерная энергия»</a:t>
            </a:r>
          </a:p>
        </p:txBody>
      </p:sp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7080C3C8-4B49-4C98-9354-9E99A044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Оливье Ндухунгирехе, 2024-11-09. Перевод ассистента на русский</a:t>
            </a:r>
          </a:p>
        </p:txBody>
      </p:sp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BFCAC212-529B-4D4A-8332-DDC034C0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10382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В интервью AFP министр говорит о потребности в ядерной энергии и российской подготовке специалистов. Заявленное намерение не означает, что АЭС уже построена или работает.</a:t>
            </a:r>
          </a:p>
        </p:txBody>
      </p:sp>
    </p:spTree>
    <p:extLst>
      <p:ext uri="{BB962C8B-B14F-4D97-AF65-F5344CB8AC3E}">
        <p14:creationId xmlns:p14="http://schemas.microsoft.com/office/powerpoint/2010/main" val="14539918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55179A94-1E80-4CD3-B587-D7AA0B84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Справочник участников 1–4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FC0A2369-9D52-4D61-AA1B-CE3B0AF7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A5BC1-24D5-463C-AED4-7F656E87CB09}"/>
              </a:ext>
            </a:extLst>
          </p:cNvPr>
          <p:cNvGraphicFramePr/>
          <p:nvPr/>
        </p:nvGraphicFramePr>
        <p:xfrm>
          <a:off xmlns:a="http://schemas.openxmlformats.org/drawingml/2006/main" x="628650" y="1381125"/>
          <a:ext xmlns:a="http://schemas.openxmlformats.org/drawingml/2006/main" cx="109347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381375"/>
                <a:gridCol w="4981575"/>
              </a:tblGrid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Имя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Должность и период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Краткая справка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Поль Кагаме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Президент; инаугурация на новый пятилетний срок 11.08.2024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Центральный участник президентской и государственной политики; его позиция не заменяет взгляды всего населения.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Эдуар Нгиренте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Премьер-министр; передал полномочия преемнику 25.07.2025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Представляет руководство правительством до смены премьера в 2025 году.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Жюстен Нсенгийюмва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Премьер-министр: назначен 23.07.2025; принёс присягу 25.07.2025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Позволяет учесть смену главы правительства внутри исследуемого периода.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Венсан Бирута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Глава МИД в апреле 2024; министр внутренних дел в августе 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Два разных портфеля требуют различать даты и служебный контекст его выступлений.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5F99BD14-956E-49B1-A966-6168DBDB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934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Должности указаны для исторического периода. Пять участников пока не размещены на картах.</a:t>
            </a:r>
          </a:p>
        </p:txBody>
      </p:sp>
    </p:spTree>
    <p:extLst>
      <p:ext uri="{BB962C8B-B14F-4D97-AF65-F5344CB8AC3E}">
        <p14:creationId xmlns:p14="http://schemas.microsoft.com/office/powerpoint/2010/main" val="76163727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CE5CB302-358F-4067-809E-557FC0FE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Справочник участников 5–8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9EE0BA68-48C0-45FF-B311-E5F1C993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9B44C-0B70-4E57-8319-DF8F359C3722}"/>
              </a:ext>
            </a:extLst>
          </p:cNvPr>
          <p:cNvGraphicFramePr/>
          <p:nvPr/>
        </p:nvGraphicFramePr>
        <p:xfrm>
          <a:off xmlns:a="http://schemas.openxmlformats.org/drawingml/2006/main" x="628650" y="1381125"/>
          <a:ext xmlns:a="http://schemas.openxmlformats.org/drawingml/2006/main" cx="109347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381375"/>
                <a:gridCol w="4981575"/>
              </a:tblGrid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Имя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Должность и период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Краткая справка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Оливье Ндухунгирехе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Министр иностранных дел в составе правительства от 16.08.2024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Представляет публичную дипломатию Руанды в датированной государственной роли.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Джеймс Кабаребе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Государственный министр регионального сотрудничества: с 04.10.2023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Добавляет к общей внешней политике уровень регионального сотрудничества.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Жювеналь Маризамунда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Министр обороны: принял полномочия 07.06.2023; подтверждён в 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Представляет оборонное ведомство; сам пост не определяет содержание его взглядов.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Альбер Мурасира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Министр обороны в 2021; министр чрезвычайных ситуаций в августе 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Соединяет в биографии оборонное управление и гражданскую защиту, в разные годы.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C0CC5004-4B61-4502-A320-E2D55F12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934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Должности указаны для исторического периода. Пять участников пока не размещены на картах.</a:t>
            </a:r>
          </a:p>
        </p:txBody>
      </p:sp>
    </p:spTree>
    <p:extLst>
      <p:ext uri="{BB962C8B-B14F-4D97-AF65-F5344CB8AC3E}">
        <p14:creationId xmlns:p14="http://schemas.microsoft.com/office/powerpoint/2010/main" val="129743176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0162F21D-25A4-4459-BC2A-1E3208FF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Справочник участников 9–12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1A4C1622-F12C-4FA8-A1E0-046D980C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A36CA-96B7-48F4-AEB2-C4A0BEC7EF0C}"/>
              </a:ext>
            </a:extLst>
          </p:cNvPr>
          <p:cNvGraphicFramePr/>
          <p:nvPr/>
        </p:nvGraphicFramePr>
        <p:xfrm>
          <a:off xmlns:a="http://schemas.openxmlformats.org/drawingml/2006/main" x="628650" y="1381125"/>
          <a:ext xmlns:a="http://schemas.openxmlformats.org/drawingml/2006/main" cx="109347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381375"/>
                <a:gridCol w="4981575"/>
              </a:tblGrid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Имя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Должность и период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Краткая справка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Эмманюэль Угирасебуджа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Министр юстиции и Attorney General: подтверждён в 2022 и августе 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Представляет правовое направление государственной политики и юридическое управление.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Юсуф Мурангва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Министр финансов и экономического планирования: назначение 12.06.2024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Представляет финансово-экономический портфель после смены министра в 2024 году.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Уззиэль Ндагиджимана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Министр финансов и экономического планирования до 12.06.2024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Позволяет учесть бюджетную и экономическую повестку до смены руководителя ведомства.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Паула Ингабире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Министр ИКТ и инноваций в составе правительства от 16.08.2024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Представляет цифровое и технологическое направление государственной политики.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DF400961-ECC0-469A-B7E3-2681B530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934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Должности указаны для исторического периода. Пять участников пока не размещены на картах.</a:t>
            </a:r>
          </a:p>
        </p:txBody>
      </p:sp>
    </p:spTree>
    <p:extLst>
      <p:ext uri="{BB962C8B-B14F-4D97-AF65-F5344CB8AC3E}">
        <p14:creationId xmlns:p14="http://schemas.microsoft.com/office/powerpoint/2010/main" val="1996204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387DDA74-1DD4-4D8A-9D9B-7761A991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Справочник участников 13–16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B24813EF-CD12-4553-A4BE-86443E90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9118D-2969-4522-BCE6-43C8391C0872}"/>
              </a:ext>
            </a:extLst>
          </p:cNvPr>
          <p:cNvGraphicFramePr/>
          <p:nvPr/>
        </p:nvGraphicFramePr>
        <p:xfrm>
          <a:off xmlns:a="http://schemas.openxmlformats.org/drawingml/2006/main" x="628650" y="1381125"/>
          <a:ext xmlns:a="http://schemas.openxmlformats.org/drawingml/2006/main" cx="109347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381375"/>
                <a:gridCol w="4981575"/>
              </a:tblGrid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Имя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Должность и период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Краткая справка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Сабин Нсанзимана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Министр здравоохранения: датированное выступление 13.02.2023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Его публичные выступления дают материал о здравоохранении и готовности к эпидемиям.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Жюдит Увизейе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Министр в канцелярии президента: состав правительства 16.08.2024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Представляет уровень президентской администрации; взгляды устанавливаются отдельно по собственным заявлениям.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Инес Мпамбара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Министр в канцелярии премьера: с 26.02.2020, подтверждение в 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Представляет аппарат координации правительственной работы в исследуемом окне.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Валентин Увамария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Министр окружающей среды: состав правительства от 16.08.2024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Включена для охвата экологической и климатической повестки государственного управления.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9B6822F7-99D6-443A-909E-BBE62CBA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934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Должности указаны для исторического периода. Пять участников пока не размещены на картах.</a:t>
            </a:r>
          </a:p>
        </p:txBody>
      </p:sp>
    </p:spTree>
    <p:extLst>
      <p:ext uri="{BB962C8B-B14F-4D97-AF65-F5344CB8AC3E}">
        <p14:creationId xmlns:p14="http://schemas.microsoft.com/office/powerpoint/2010/main" val="101688905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9B36066D-1E4E-4F5B-ACC9-CECBCB74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Справочник участников 17–20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5DFE9FEE-48F7-4B18-92EA-697047F2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4EA40-A3BE-4363-A71A-58405CD2E2E5}"/>
              </a:ext>
            </a:extLst>
          </p:cNvPr>
          <p:cNvGraphicFramePr/>
          <p:nvPr/>
        </p:nvGraphicFramePr>
        <p:xfrm>
          <a:off xmlns:a="http://schemas.openxmlformats.org/drawingml/2006/main" x="628650" y="1381125"/>
          <a:ext xmlns:a="http://schemas.openxmlformats.org/drawingml/2006/main" cx="109347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381375"/>
                <a:gridCol w="4981575"/>
              </a:tblGrid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Имя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Должность и период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Краткая справка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Жанна д’Арк Муджавамария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Экологический портфель в 2022–2024; госслужба и труд в июне 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Смена портфеля не означает, что июньская должность сохранялась до конца окна.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Жерардин Мукешимана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Министр сельского хозяйства и животноводства: подтверждение 01.12.2022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Представляет аграрное направление государственной политики в первой части окна.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Ильдефонс Мусафири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Аграрный министр: назначение 02.03.2023, подтверждён в августе 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Позволяет учесть аграрное управление после смены руководителя ведомства.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Жан-Клод Мусабийимана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Министр местного самоуправления: подтверждён в декабре 2023 и 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Представляет связь центрального правительства с территориальным управлением.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D42F07CB-F8EC-4F9F-A102-4785B09B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934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Должности указаны для исторического периода. Пять участников пока не размещены на картах.</a:t>
            </a:r>
          </a:p>
        </p:txBody>
      </p:sp>
    </p:spTree>
    <p:extLst>
      <p:ext uri="{BB962C8B-B14F-4D97-AF65-F5344CB8AC3E}">
        <p14:creationId xmlns:p14="http://schemas.microsoft.com/office/powerpoint/2010/main" val="154141716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905302D3-8FDA-49C6-8675-563151CA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Справочник участников 21–24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87F9D378-DC7D-49E4-8C6B-1B022179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7444B-6A24-4E1C-89C1-A89A7E04FA42}"/>
              </a:ext>
            </a:extLst>
          </p:cNvPr>
          <p:cNvGraphicFramePr/>
          <p:nvPr/>
        </p:nvGraphicFramePr>
        <p:xfrm>
          <a:off xmlns:a="http://schemas.openxmlformats.org/drawingml/2006/main" x="628650" y="1381125"/>
          <a:ext xmlns:a="http://schemas.openxmlformats.org/drawingml/2006/main" cx="109347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381375"/>
                <a:gridCol w="4981575"/>
              </a:tblGrid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Имя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Должность и период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Краткая справка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Жан-Дамасен Бизимана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Министр национального единства и гражданской активности в августе 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Включён для охвата публичной повестки памяти, национального единства и гражданского участия.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Клэр Акаманзи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Руководитель RDB до сентября 2023; назначение в NBA Africa — 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Прежняя государственная работа и последующая деловая роль в NBA Africa рассматриваются раздельно.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Франсис Гатаре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Руководитель Rwanda Development Board: назначение 27.09.2023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Представляет институт продвижения инвестиций; должность не продлевается автоматически до конца окна.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Гертруда Казарва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Спикер Палаты депутатов: избрана 14.08.2024 на новый созыв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Представляет руководство нижней палаты нового созыва, а не весь спектр парламентских позиций.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283A468E-7466-40F3-AB4C-B7B6E3B0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934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Должности указаны для исторического периода. Пять участников пока не размещены на картах.</a:t>
            </a:r>
          </a:p>
        </p:txBody>
      </p:sp>
    </p:spTree>
    <p:extLst>
      <p:ext uri="{BB962C8B-B14F-4D97-AF65-F5344CB8AC3E}">
        <p14:creationId xmlns:p14="http://schemas.microsoft.com/office/powerpoint/2010/main" val="171615360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DDBF9013-133A-4DDD-88CD-7F5BAB78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Справочник участников 25–28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0CC0F129-EEF6-4367-93E9-6A310665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504C5-3068-498F-9B40-0BAE600CCEA8}"/>
              </a:ext>
            </a:extLst>
          </p:cNvPr>
          <p:cNvGraphicFramePr/>
          <p:nvPr/>
        </p:nvGraphicFramePr>
        <p:xfrm>
          <a:off xmlns:a="http://schemas.openxmlformats.org/drawingml/2006/main" x="628650" y="1381125"/>
          <a:ext xmlns:a="http://schemas.openxmlformats.org/drawingml/2006/main" cx="109347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381375"/>
                <a:gridCol w="4981575"/>
              </a:tblGrid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Имя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Должность и период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Краткая справка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Донатиль Мукабалиса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Спикер Палаты депутатов в предыдущем созыве: подтверждение 12.09.2023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Позволяет учесть руководство предыдущего парламентского созыва внутри пятилетнего окна.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Франсуа-Ксавье Калинда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Глава Сената с 09.01.2023; избран на следующий срок 26.09.2024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Представляет руководство верхней палаты на двух последовательных этапах окна.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Огюстен Иямуремье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Председатель Сената в начале окна: роль до 09.12.2022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Позволяет учесть предшествующее руководство Сената, действовавшее в начале окна.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Альвера Мукабарамба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Вице-президент Сената: избрана в руководство 26.09.2024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Представляет руководство верхней палаты; факт избрания не заменяет собственной программы.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25F7DC6C-5D17-4C07-BCA3-67B08776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934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Должности указаны для исторического периода. Пять участников пока не размещены на картах.</a:t>
            </a:r>
          </a:p>
        </p:txBody>
      </p:sp>
    </p:spTree>
    <p:extLst>
      <p:ext uri="{BB962C8B-B14F-4D97-AF65-F5344CB8AC3E}">
        <p14:creationId xmlns:p14="http://schemas.microsoft.com/office/powerpoint/2010/main" val="209730316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F057403E-8CD7-4802-9734-81169391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Справочник участников 29–32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7BE25A77-0788-4E25-9C14-EDB0B38B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7A525-C174-4F2B-83AE-E713DA2B42B5}"/>
              </a:ext>
            </a:extLst>
          </p:cNvPr>
          <p:cNvGraphicFramePr/>
          <p:nvPr/>
        </p:nvGraphicFramePr>
        <p:xfrm>
          <a:off xmlns:a="http://schemas.openxmlformats.org/drawingml/2006/main" x="628650" y="1381125"/>
          <a:ext xmlns:a="http://schemas.openxmlformats.org/drawingml/2006/main" cx="109347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381375"/>
                <a:gridCol w="4981575"/>
              </a:tblGrid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Имя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Должность и период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Краткая справка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Мусса Фазиль Хареримана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Заместитель спикера Палаты депутатов: подтверждение 12.09.2023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Добавляет к фигуре спикера другой уровень руководства нижней палаты.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Пуденс Рубингиса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Мэр Кигали, затем губернатор Восточной провинции в декабре 2023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Его переход между столицей и провинцией отражает два уровня территориального управления.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Самуэль Дусенгийюмва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Мэр столицы Кигали: избран на эту должность 15.12.2023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Представляет управление столицей; городская повестка не приравнивается к повестке всех регионов.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Франк Хабинеза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Лидер Демократической зелёной партии; кандидат в президенты в 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Представляет допущенную партийную альтернативу и собственные программные предложения.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68093E54-5B6A-4B7A-98FA-DB2D01E2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934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Должности указаны для исторического периода. Пять участников пока не размещены на картах.</a:t>
            </a:r>
          </a:p>
        </p:txBody>
      </p:sp>
    </p:spTree>
    <p:extLst>
      <p:ext uri="{BB962C8B-B14F-4D97-AF65-F5344CB8AC3E}">
        <p14:creationId xmlns:p14="http://schemas.microsoft.com/office/powerpoint/2010/main" val="161830219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419ADCD3-0333-4590-8BA3-621B349E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Справочник участников 33–36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225CBB4B-E917-4DD0-BC64-91884333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47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7C346-D472-4B3A-8614-F150490DEB83}"/>
              </a:ext>
            </a:extLst>
          </p:cNvPr>
          <p:cNvGraphicFramePr/>
          <p:nvPr/>
        </p:nvGraphicFramePr>
        <p:xfrm>
          <a:off xmlns:a="http://schemas.openxmlformats.org/drawingml/2006/main" x="628650" y="1381125"/>
          <a:ext xmlns:a="http://schemas.openxmlformats.org/drawingml/2006/main" cx="109347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381375"/>
                <a:gridCol w="4981575"/>
              </a:tblGrid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Имя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Должность и период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Краткая справка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Филипп Мпайимана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Независимый кандидат, допущенный к президентским выборам 2024 года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Независимый статус означает форму выдвижения, а не оппозиционность всех его взглядов.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Виктуар Ингабире Умухоза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Руководительница DALFA-Umurinzi; добивалась участия в выборах 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Представляет политическую альтернативу за пределами списка допущенных кандидатов.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Диана Рвигара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Независимая претендентка на президентских выборах 2024; не допущена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Представляет часть публичного пространства вне допущенной президентской конкуренции.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Бернар Нтаганда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Основатель PS-Imberakuri; отказ в судебной реабилитации в мае 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Не отождествляется с другой фракцией того же названия, участвовавшей в официальных выборах.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BA91FC5B-9409-4A8A-9003-31DAD47C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934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Должности указаны для исторического периода. Пять участников пока не размещены на картах.</a:t>
            </a:r>
          </a:p>
        </p:txBody>
      </p:sp>
    </p:spTree>
    <p:extLst>
      <p:ext uri="{BB962C8B-B14F-4D97-AF65-F5344CB8AC3E}">
        <p14:creationId xmlns:p14="http://schemas.microsoft.com/office/powerpoint/2010/main" val="15882755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2332C8A0-6A7B-476B-9321-F751B3BB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Справочник участников 37–40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6B552BDF-5EB7-44E3-BC11-3A439952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F06B2-FC0F-4ED2-97EB-154E0D5DBF7D}"/>
              </a:ext>
            </a:extLst>
          </p:cNvPr>
          <p:cNvGraphicFramePr/>
          <p:nvPr/>
        </p:nvGraphicFramePr>
        <p:xfrm>
          <a:off xmlns:a="http://schemas.openxmlformats.org/drawingml/2006/main" x="628650" y="1381125"/>
          <a:ext xmlns:a="http://schemas.openxmlformats.org/drawingml/2006/main" cx="109347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381375"/>
                <a:gridCol w="4981575"/>
              </a:tblGrid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Имя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Должность и период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Краткая справка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Кристофер Каюмба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Основатель Rwandese Platform for Democracy; публичная роль в 2023–2024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Категория отбора не предполагает неизменную оппозиционность его высказываний за все пять лет.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Поль Русесабагина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Критик правительства; освобождён в марте 2023, давал интервью в 2024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Представляет транснациональную политическую дискуссию; известность за рубежом не измеряет поддержку дома.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Фостен Каюмба Ньямваса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Бывший глава военного штаба; сооснователь RNC в эмиграции — срез 2023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Представляет эмигрантскую политическую организацию; военная биография не задаёт текущие взгляды.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Луиза Мушикивабо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Генсек международной OIF с января 2019; переизбрана в ноябре 2022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Действия в OIF относятся к её международному мандату, а не автоматически к позиции правительства Руанды.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B8C50CF4-A89C-49D7-A879-B49116C3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934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Должности указаны для исторического периода. Пять участников пока не размещены на картах.</a:t>
            </a:r>
          </a:p>
        </p:txBody>
      </p:sp>
    </p:spTree>
    <p:extLst>
      <p:ext uri="{BB962C8B-B14F-4D97-AF65-F5344CB8AC3E}">
        <p14:creationId xmlns:p14="http://schemas.microsoft.com/office/powerpoint/2010/main" val="92256915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5C7C5614-7C6A-4E60-B8B6-14226534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Справочник участников 41–42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7333914C-5D5B-478A-8A1E-F7C52B7F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B2ED2-0AD8-40C4-9470-1E8486AE8B54}"/>
              </a:ext>
            </a:extLst>
          </p:cNvPr>
          <p:cNvGraphicFramePr/>
          <p:nvPr/>
        </p:nvGraphicFramePr>
        <p:xfrm>
          <a:off xmlns:a="http://schemas.openxmlformats.org/drawingml/2006/main" x="628650" y="1381125"/>
          <a:ext xmlns:a="http://schemas.openxmlformats.org/drawingml/2006/main" cx="109347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381375"/>
                <a:gridCol w="4981575"/>
              </a:tblGrid>
              <a:tr h="14922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Имя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Должность и период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Краткая справка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T w="7620">
                      <a:solidFill>
                        <a:srgbClr val="D6E0E3"/>
                      </a:solidFill>
                      <a:prstDash val="solid"/>
                    </a:lnT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176D77"/>
                    </a:solidFill>
                  </a:tcPr>
                </a:tc>
              </a:tr>
              <a:tr h="14922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Клавер Гатете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Представитель Руанды при ООН; назначен главой ЭКА ООН 06.10.2023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Национальная дипломатическая роль отделяется от последующей работы в международной структуре ООН.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92250"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Валентин Ругвабиза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6E0E3"/>
                      </a:solidFill>
                      <a:prstDash val="solid"/>
                    </a:lnL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Представитель Руанды при ООН; назначена главой MINUSCA 23.02.2022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 wrap="square" lIns="47625" tIns="47625" rIns="47625" bIns="476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B35"/>
                          </a:solidFill>
                          <a:latin typeface="Arial"/>
                          <a:ea typeface="Arial"/>
                          <a:cs typeface="Arial"/>
                        </a:rPr>
                        <a:t>Руководство миссией ООН в ЦАР не означает выражения национальной внешней политики Руанды.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6E0E3"/>
                      </a:solidFill>
                      <a:prstDash val="solid"/>
                    </a:lnR>
                    <a:lnB w="7620">
                      <a:solidFill>
                        <a:srgbClr val="D6E0E3"/>
                      </a:solidFill>
                      <a:prstDash val="soli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8D2CB6CC-88BF-464E-92B3-C05629C1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934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Должности указаны для исторического периода. Пять участников пока не размещены на картах.</a:t>
            </a:r>
          </a:p>
        </p:txBody>
      </p:sp>
    </p:spTree>
    <p:extLst>
      <p:ext uri="{BB962C8B-B14F-4D97-AF65-F5344CB8AC3E}">
        <p14:creationId xmlns:p14="http://schemas.microsoft.com/office/powerpoint/2010/main" val="164272991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7B331EDC-149F-41C7-A00C-5B1E87FC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93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5"/>
                </a:solidFill>
                <a:latin typeface="Arial"/>
                <a:ea typeface="Arial"/>
                <a:cs typeface="Arial"/>
              </a:rPr>
              <a:t>Содержание политического пространства</a:t>
            </a:r>
          </a:p>
        </p:txBody>
      </p:sp>
      <p:sp>
        <p:nvSpPr>
          <p:cNvPr id="2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AA4ECB70-83CC-4B88-AEB0-57ED66B2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56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6E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F85FACC1-C61D-46E9-A432-BD1DE3A4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Общая государственная линия допускает разные формы публичного обоснования и изменения конкретных программ.</a:t>
            </a:r>
          </a:p>
        </p:txBody>
      </p:sp>
      <p:sp>
        <p:nvSpPr>
          <p:cNvPr id="4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9E034E1C-4041-4645-964D-85AAF944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5743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Должностные задачи помогают объяснить различие акцентов. Часть сходства может отражать особенности найденных материалов.</a:t>
            </a:r>
          </a:p>
        </p:txBody>
      </p:sp>
      <p:sp>
        <p:nvSpPr>
          <p:cNvPr id="5" name="Narrative text">
            <a:extLst xmlns:a="http://schemas.openxmlformats.org/drawingml/2006/main">
              <a:ext uri="{FF2B5EF4-FFF2-40B4-BE49-F238E27FC236}">
                <a16:creationId xmlns:a16="http://schemas.microsoft.com/office/drawing/2014/main" id="{D4869216-E3B7-4DC9-99F9-03C70A23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7486"/>
            <a:ext cx="10820400" cy="75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B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5"/>
                </a:solidFill>
                <a:latin typeface="Arial"/>
                <a:ea typeface="Arial"/>
                <a:cs typeface="Arial"/>
              </a:rPr>
              <a:t>Группы остаются рабочей типологией. Подробные основания и источники приведены в отчёте, проверки расчётов — в отдельном техническом приложении.</a:t>
            </a:r>
          </a:p>
        </p:txBody>
      </p:sp>
    </p:spTree>
    <p:extLst>
      <p:ext uri="{BB962C8B-B14F-4D97-AF65-F5344CB8AC3E}">
        <p14:creationId xmlns:p14="http://schemas.microsoft.com/office/powerpoint/2010/main" val="4649686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2026-10-15T21:36:46.2780000Z</dcterms:created>
  <dcterms:modified xsi:type="dcterms:W3CDTF">2026-10-15T21:36:46.2790000Z</dcterms:modified>
</coreProperties>
</file>