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b7995cc5c446fb" /><Relationship Type="http://schemas.openxmlformats.org/officeDocument/2006/relationships/extended-properties" Target="/docProps/app.xml" Id="R70e7fc85e3624240" /><Relationship Type="http://schemas.openxmlformats.org/officeDocument/2006/relationships/officeDocument" Target="/ppt/presentation.xml" Id="R5bd282d976d446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598f50d0cc4f69"/>
  </p:sldMasterIdLst>
  <p:notesMasterIdLst>
    <p:notesMasterId xmlns:r="http://schemas.openxmlformats.org/officeDocument/2006/relationships" r:id="Racbd8f78df0f4a88"/>
  </p:notesMasterIdLst>
  <p:sldIdLst>
    <p:sldId xmlns:r="http://schemas.openxmlformats.org/officeDocument/2006/relationships" id="256" r:id="Rbff3f1462ad84cf8"/>
    <p:sldId xmlns:r="http://schemas.openxmlformats.org/officeDocument/2006/relationships" id="257" r:id="R91deacae40ad44ba"/>
    <p:sldId xmlns:r="http://schemas.openxmlformats.org/officeDocument/2006/relationships" id="258" r:id="R2be84a85ec944c19"/>
    <p:sldId xmlns:r="http://schemas.openxmlformats.org/officeDocument/2006/relationships" id="259" r:id="Rfdcb714002074d04"/>
    <p:sldId xmlns:r="http://schemas.openxmlformats.org/officeDocument/2006/relationships" id="260" r:id="R1ca90596180a4e0d"/>
    <p:sldId xmlns:r="http://schemas.openxmlformats.org/officeDocument/2006/relationships" id="261" r:id="Rb76af8653199412c"/>
    <p:sldId xmlns:r="http://schemas.openxmlformats.org/officeDocument/2006/relationships" id="262" r:id="Ra5627b9887bb4da7"/>
    <p:sldId xmlns:r="http://schemas.openxmlformats.org/officeDocument/2006/relationships" id="263" r:id="R604eb0d45fec4467"/>
    <p:sldId xmlns:r="http://schemas.openxmlformats.org/officeDocument/2006/relationships" id="264" r:id="R5f7fa04ab7e74c27"/>
    <p:sldId xmlns:r="http://schemas.openxmlformats.org/officeDocument/2006/relationships" id="265" r:id="R66f1c5c190204fee"/>
    <p:sldId xmlns:r="http://schemas.openxmlformats.org/officeDocument/2006/relationships" id="266" r:id="Rcfa9f4596ab940fa"/>
    <p:sldId xmlns:r="http://schemas.openxmlformats.org/officeDocument/2006/relationships" id="267" r:id="Rdf2193b168af42be"/>
    <p:sldId xmlns:r="http://schemas.openxmlformats.org/officeDocument/2006/relationships" id="268" r:id="R7eda257e92944171"/>
    <p:sldId xmlns:r="http://schemas.openxmlformats.org/officeDocument/2006/relationships" id="269" r:id="R58d18eb56fe0469b"/>
    <p:sldId xmlns:r="http://schemas.openxmlformats.org/officeDocument/2006/relationships" id="270" r:id="Rd9f42e2bdff242aa"/>
    <p:sldId xmlns:r="http://schemas.openxmlformats.org/officeDocument/2006/relationships" id="271" r:id="R1da8fac3660a49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a8b067ada64d12" /><Relationship Type="http://schemas.openxmlformats.org/officeDocument/2006/relationships/slideMaster" Target="/ppt/slideMasters/slideMaster1.xml" Id="R71598f50d0cc4f69" /><Relationship Type="http://schemas.openxmlformats.org/officeDocument/2006/relationships/notesMaster" Target="/ppt/notesMasters/notesMaster1.xml" Id="Racbd8f78df0f4a88" /><Relationship Type="http://schemas.openxmlformats.org/officeDocument/2006/relationships/presProps" Target="/ppt/presProps.xml" Id="Ree2a182774c84ba0" /><Relationship Type="http://schemas.openxmlformats.org/officeDocument/2006/relationships/tableStyles" Target="/ppt/tableStyles.xml" Id="Ra258a33ded484b4a" /><Relationship Type="http://schemas.openxmlformats.org/officeDocument/2006/relationships/slide" Target="/ppt/slides/slide1.xml" Id="Rbff3f1462ad84cf8" /><Relationship Type="http://schemas.openxmlformats.org/officeDocument/2006/relationships/slide" Target="/ppt/slides/slide2.xml" Id="R91deacae40ad44ba" /><Relationship Type="http://schemas.openxmlformats.org/officeDocument/2006/relationships/slide" Target="/ppt/slides/slide3.xml" Id="R2be84a85ec944c19" /><Relationship Type="http://schemas.openxmlformats.org/officeDocument/2006/relationships/slide" Target="/ppt/slides/slide4.xml" Id="Rfdcb714002074d04" /><Relationship Type="http://schemas.openxmlformats.org/officeDocument/2006/relationships/slide" Target="/ppt/slides/slide5.xml" Id="R1ca90596180a4e0d" /><Relationship Type="http://schemas.openxmlformats.org/officeDocument/2006/relationships/slide" Target="/ppt/slides/slide6.xml" Id="Rb76af8653199412c" /><Relationship Type="http://schemas.openxmlformats.org/officeDocument/2006/relationships/slide" Target="/ppt/slides/slide7.xml" Id="Ra5627b9887bb4da7" /><Relationship Type="http://schemas.openxmlformats.org/officeDocument/2006/relationships/slide" Target="/ppt/slides/slide8.xml" Id="R604eb0d45fec4467" /><Relationship Type="http://schemas.openxmlformats.org/officeDocument/2006/relationships/slide" Target="/ppt/slides/slide9.xml" Id="R5f7fa04ab7e74c27" /><Relationship Type="http://schemas.openxmlformats.org/officeDocument/2006/relationships/slide" Target="/ppt/slides/slide10.xml" Id="R66f1c5c190204fee" /><Relationship Type="http://schemas.openxmlformats.org/officeDocument/2006/relationships/slide" Target="/ppt/slides/slide11.xml" Id="Rcfa9f4596ab940fa" /><Relationship Type="http://schemas.openxmlformats.org/officeDocument/2006/relationships/slide" Target="/ppt/slides/slide12.xml" Id="Rdf2193b168af42be" /><Relationship Type="http://schemas.openxmlformats.org/officeDocument/2006/relationships/slide" Target="/ppt/slides/slide13.xml" Id="R7eda257e92944171" /><Relationship Type="http://schemas.openxmlformats.org/officeDocument/2006/relationships/slide" Target="/ppt/slides/slide14.xml" Id="R58d18eb56fe0469b" /><Relationship Type="http://schemas.openxmlformats.org/officeDocument/2006/relationships/slide" Target="/ppt/slides/slide15.xml" Id="Rd9f42e2bdff242aa" /><Relationship Type="http://schemas.openxmlformats.org/officeDocument/2006/relationships/slide" Target="/ppt/slides/slide16.xml" Id="R1da8fac3660a49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98f77f5de94f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40ffbdbf83413b" /><Relationship Type="http://schemas.openxmlformats.org/officeDocument/2006/relationships/notesMaster" Target="/ppt/notesMasters/notesMaster1.xml" Id="R61eec64cd84f45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1ae5b4e6724261" /><Relationship Type="http://schemas.openxmlformats.org/officeDocument/2006/relationships/notesMaster" Target="/ppt/notesMasters/notesMaster1.xml" Id="R6ba7bf8c32f849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5ea71ba637420e" /><Relationship Type="http://schemas.openxmlformats.org/officeDocument/2006/relationships/notesMaster" Target="/ppt/notesMasters/notesMaster1.xml" Id="Rd33e4b978c9f47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fa25a22c12404a" /><Relationship Type="http://schemas.openxmlformats.org/officeDocument/2006/relationships/notesMaster" Target="/ppt/notesMasters/notesMaster1.xml" Id="R0d79bd61858e4e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c9b32a221f4bca" /><Relationship Type="http://schemas.openxmlformats.org/officeDocument/2006/relationships/notesMaster" Target="/ppt/notesMasters/notesMaster1.xml" Id="Rea661279baee44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939e568ccd4caf" /><Relationship Type="http://schemas.openxmlformats.org/officeDocument/2006/relationships/notesMaster" Target="/ppt/notesMasters/notesMaster1.xml" Id="Rd69a423d141242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ac2b89a54d4168" /><Relationship Type="http://schemas.openxmlformats.org/officeDocument/2006/relationships/notesMaster" Target="/ppt/notesMasters/notesMaster1.xml" Id="Rc8895336046e46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3298b216fa412c" /><Relationship Type="http://schemas.openxmlformats.org/officeDocument/2006/relationships/notesMaster" Target="/ppt/notesMasters/notesMaster1.xml" Id="Rc83a7e044f4b4f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bce1f8aef54f1c" /><Relationship Type="http://schemas.openxmlformats.org/officeDocument/2006/relationships/notesMaster" Target="/ppt/notesMasters/notesMaster1.xml" Id="R1d19be8496a747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22b9752a3c40cf" /><Relationship Type="http://schemas.openxmlformats.org/officeDocument/2006/relationships/notesMaster" Target="/ppt/notesMasters/notesMaster1.xml" Id="R92ce134241f54c9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ed29d9f8e2e47c2" /><Relationship Type="http://schemas.openxmlformats.org/officeDocument/2006/relationships/notesMaster" Target="/ppt/notesMasters/notesMaster1.xml" Id="R47f831a7ffc249d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0267d495e5d4619" /><Relationship Type="http://schemas.openxmlformats.org/officeDocument/2006/relationships/notesMaster" Target="/ppt/notesMasters/notesMaster1.xml" Id="Rf42398cb645f4b3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a584d3cb27a4f2b" /><Relationship Type="http://schemas.openxmlformats.org/officeDocument/2006/relationships/notesMaster" Target="/ppt/notesMasters/notesMaster1.xml" Id="R7881ce4f08cf481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1ee05c5d4094643" /><Relationship Type="http://schemas.openxmlformats.org/officeDocument/2006/relationships/notesMaster" Target="/ppt/notesMasters/notesMaster1.xml" Id="Re904e2c664c5472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8184bac925a4096" /><Relationship Type="http://schemas.openxmlformats.org/officeDocument/2006/relationships/notesMaster" Target="/ppt/notesMasters/notesMaster1.xml" Id="Re26639bb81b94aa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44fd5ce877d490a" /><Relationship Type="http://schemas.openxmlformats.org/officeDocument/2006/relationships/notesMaster" Target="/ppt/notesMasters/notesMaster1.xml" Id="R859ef80cd9e043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Числа: metadata.json, scores.csv, loadings.csv и утверждённая матрица оценок.</a:t>
            </a:r>
          </a:p>
          <a:p xmlns:a="http://schemas.openxmlformats.org/drawingml/2006/main">
            <a:r>
              <a:t>Изучаемое пространство: Международное пространство политических партий из прежней выборки.</a:t>
            </a:r>
          </a:p>
          <a:p xmlns:a="http://schemas.openxmlformats.org/drawingml/2006/main">
            <a:r>
              <a:t>Оценщик: legacy_import_example.</a:t>
            </a:r>
          </a:p>
          <a:p xmlns:a="http://schemas.openxmlformats.org/drawingml/2006/main">
            <a:r>
              <a:t>Демонстрационный пример: ТЕХНИЧЕСКИЙ ПРИМЕР НА ПРЕЖНИХ ДАННЫХ. Это повторный анализ ранее сохранённых модельных оценок 95 партий по первым 40 признакам исходного словаря. Это не новое исследование и не результат исследования 70 российских политиков. Новые источники не собирались, LLM не вызывалась, старый словарь не проходил новую нормализацию. Оценка x по прежней шкале 0–10 перенесена как value = x − 5. Два полюса независимо не оценивались; их сумма и смешанность по этим данным не определяются. Ноль в примере означает прежнюю оценку 5, а не доказанную невыраженность обоих свойств. Отметки утверждения принадлежат импортированному примеру, а не пользователю..</a:t>
            </a:r>
          </a:p>
          <a:p xmlns:a="http://schemas.openxmlformats.org/drawingml/2006/main">
            <a:r>
              <a:t>Исходные URL: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"recommended_q": 4,</a:t>
            </a:r>
          </a:p>
          <a:p xmlns:a="http://schemas.openxmlformats.org/drawingml/2006/main">
            <a:r>
              <a:t>  "best_mean_heldout_q": 4,</a:t>
            </a:r>
          </a:p>
          <a:p xmlns:a="http://schemas.openxmlformats.org/drawingml/2006/main">
            <a:r>
              <a:t>  "parsimony_tolerance_log_likelihood": 1.4694556199986737,</a:t>
            </a:r>
          </a:p>
          <a:p xmlns:a="http://schemas.openxmlformats.org/drawingml/2006/main">
            <a:r>
              <a:t>  "rule": "Among converged candidates with at least two |loading|&gt;=0.35 descriptors per factor, select the smallest q within max(1, SD_best/sqrt(3)) of the best three-split mean held-out likelihood; fall back to all candidates if none meet the loading criterion. This is an exploratory heuristic, not an inferential one-SE test.",</a:t>
            </a:r>
          </a:p>
          <a:p xmlns:a="http://schemas.openxmlformats.org/drawingml/2006/main">
            <a:r>
              <a:t>  "parallel_pca": {</a:t>
            </a:r>
          </a:p>
          <a:p xmlns:a="http://schemas.openxmlformats.org/drawingml/2006/main">
            <a:r>
              <a:t>    "retained_components": 2,</a:t>
            </a:r>
          </a:p>
          <a:p xmlns:a="http://schemas.openxmlformats.org/drawingml/2006/main">
            <a:r>
              <a:t>    "permutations": 500,</a:t>
            </a:r>
          </a:p>
          <a:p xmlns:a="http://schemas.openxmlformats.org/drawingml/2006/main">
            <a:r>
              <a:t>    "quantile": 0.95,</a:t>
            </a:r>
          </a:p>
          <a:p xmlns:a="http://schemas.openxmlformats.org/drawingml/2006/main">
            <a:r>
              <a:t>    "observed_eigenvalues": [</a:t>
            </a:r>
          </a:p>
          <a:p xmlns:a="http://schemas.openxmlformats.org/drawingml/2006/main">
            <a:r>
              <a:t>      23.659732406428304,</a:t>
            </a:r>
          </a:p>
          <a:p xmlns:a="http://schemas.openxmlformats.org/drawingml/2006/main">
            <a:r>
              <a:t>      7.695307019527206,</a:t>
            </a:r>
          </a:p>
          <a:p xmlns:a="http://schemas.openxmlformats.org/drawingml/2006/main">
            <a:r>
              <a:t>      2.1265245523434224,</a:t>
            </a:r>
          </a:p>
          <a:p xmlns:a="http://schemas.openxmlformats.org/drawingml/2006/main">
            <a:r>
              <a:t>      1.4344716335146712,</a:t>
            </a:r>
          </a:p>
          <a:p xmlns:a="http://schemas.openxmlformats.org/drawingml/2006/main">
            <a:r>
              <a:t>      1.0314134226450835,</a:t>
            </a:r>
          </a:p>
          <a:p xmlns:a="http://schemas.openxmlformats.org/drawingml/2006/main">
            <a:r>
              <a:t>      0.6867304495376987,</a:t>
            </a:r>
          </a:p>
          <a:p xmlns:a="http://schemas.openxmlformats.org/drawingml/2006/main">
            <a:r>
              <a:t>      0.5168923589684419,</a:t>
            </a:r>
          </a:p>
          <a:p xmlns:a="http://schemas.openxmlformats.org/drawingml/2006/main">
            <a:r>
              <a:t>      0.5036076670049205,</a:t>
            </a:r>
          </a:p>
          <a:p xmlns:a="http://schemas.openxmlformats.org/drawingml/2006/main">
            <a:r>
              <a:t>      0.4005438006430885,</a:t>
            </a:r>
          </a:p>
          <a:p xmlns:a="http://schemas.openxmlformats.org/drawingml/2006/main">
            <a:r>
              <a:t>      0.39880918585174635,</a:t>
            </a:r>
          </a:p>
          <a:p xmlns:a="http://schemas.openxmlformats.org/drawingml/2006/main">
            <a:r>
              <a:t>      0.30040319211618577,</a:t>
            </a:r>
          </a:p>
          <a:p xmlns:a="http://schemas.openxmlformats.org/drawingml/2006/main">
            <a:r>
              <a:t>      0.2344991456992888,</a:t>
            </a:r>
          </a:p>
          <a:p xmlns:a="http://schemas.openxmlformats.org/drawingml/2006/main">
            <a:r>
              <a:t>      0.1969526069207272,</a:t>
            </a:r>
          </a:p>
          <a:p xmlns:a="http://schemas.openxmlformats.org/drawingml/2006/main">
            <a:r>
              <a:t>      0.17357768983087032,</a:t>
            </a:r>
          </a:p>
          <a:p xmlns:a="http://schemas.openxmlformats.org/drawingml/2006/main">
            <a:r>
              <a:t>      0.13454084554852913,</a:t>
            </a:r>
          </a:p>
          <a:p xmlns:a="http://schemas.openxmlformats.org/drawingml/2006/main">
            <a:r>
              <a:t>      0.1154156189923677,</a:t>
            </a:r>
          </a:p>
          <a:p xmlns:a="http://schemas.openxmlformats.org/drawingml/2006/main">
            <a:r>
              <a:t>      0.10040869478273884,</a:t>
            </a:r>
          </a:p>
          <a:p xmlns:a="http://schemas.openxmlformats.org/drawingml/2006/main">
            <a:r>
              <a:t>      0.0844873625368069,</a:t>
            </a:r>
          </a:p>
          <a:p xmlns:a="http://schemas.openxmlformats.org/drawingml/2006/main">
            <a:r>
              <a:t>      0.07766013508741867,</a:t>
            </a:r>
          </a:p>
          <a:p xmlns:a="http://schemas.openxmlformats.org/drawingml/2006/main">
            <a:r>
              <a:t>      0.06582071674392545,</a:t>
            </a:r>
          </a:p>
          <a:p xmlns:a="http://schemas.openxmlformats.org/drawingml/2006/main">
            <a:r>
              <a:t>      0.060896788481122385,</a:t>
            </a:r>
          </a:p>
          <a:p xmlns:a="http://schemas.openxmlformats.org/drawingml/2006/main">
            <a:r>
              <a:t>      0.0531812331631536,</a:t>
            </a:r>
          </a:p>
          <a:p xmlns:a="http://schemas.openxmlformats.org/drawingml/2006/main">
            <a:r>
              <a:t>      0.044928235631256606,</a:t>
            </a:r>
          </a:p>
          <a:p xmlns:a="http://schemas.openxmlformats.org/drawingml/2006/main">
            <a:r>
              <a:t>      0.04105774619099984,</a:t>
            </a:r>
          </a:p>
          <a:p xmlns:a="http://schemas.openxmlformats.org/drawingml/2006/main">
            <a:r>
              <a:t>      0.03773529843144696,</a:t>
            </a:r>
          </a:p>
          <a:p xmlns:a="http://schemas.openxmlformats.org/drawingml/2006/main">
            <a:r>
              <a:t>      0.03294029847520927,</a:t>
            </a:r>
          </a:p>
          <a:p xmlns:a="http://schemas.openxmlformats.org/drawingml/2006/main">
            <a:r>
              <a:t>      0.029644314541060937,</a:t>
            </a:r>
          </a:p>
          <a:p xmlns:a="http://schemas.openxmlformats.org/drawingml/2006/main">
            <a:r>
              <a:t>      0.027196815752628146,</a:t>
            </a:r>
          </a:p>
          <a:p xmlns:a="http://schemas.openxmlformats.org/drawingml/2006/main">
            <a:r>
              <a:t>      0.023222073299092184,</a:t>
            </a:r>
          </a:p>
          <a:p xmlns:a="http://schemas.openxmlformats.org/drawingml/2006/main">
            <a:r>
              <a:t>      0.019723224856903965,</a:t>
            </a:r>
          </a:p>
          <a:p xmlns:a="http://schemas.openxmlformats.org/drawingml/2006/main">
            <a:r>
              <a:t>      0.019339810762636387,</a:t>
            </a:r>
          </a:p>
          <a:p xmlns:a="http://schemas.openxmlformats.org/drawingml/2006/main">
            <a:r>
              <a:t>      0.017201005978523087,</a:t>
            </a:r>
          </a:p>
          <a:p xmlns:a="http://schemas.openxmlformats.org/drawingml/2006/main">
            <a:r>
              <a:t>      0.015367900103485307,</a:t>
            </a:r>
          </a:p>
          <a:p xmlns:a="http://schemas.openxmlformats.org/drawingml/2006/main">
            <a:r>
              <a:t>      0.013705707473990917,</a:t>
            </a:r>
          </a:p>
          <a:p xmlns:a="http://schemas.openxmlformats.org/drawingml/2006/main">
            <a:r>
              <a:t>      0.012890399975552368,</a:t>
            </a:r>
          </a:p>
          <a:p xmlns:a="http://schemas.openxmlformats.org/drawingml/2006/main">
            <a:r>
              <a:t>      0.010769982751565613,</a:t>
            </a:r>
          </a:p>
          <a:p xmlns:a="http://schemas.openxmlformats.org/drawingml/2006/main">
            <a:r>
              <a:t>      0.0086396308128334,</a:t>
            </a:r>
          </a:p>
          <a:p xmlns:a="http://schemas.openxmlformats.org/drawingml/2006/main">
            <a:r>
              <a:t>      0.007951100589467582,</a:t>
            </a:r>
          </a:p>
          <a:p xmlns:a="http://schemas.openxmlformats.org/drawingml/2006/main">
            <a:r>
              <a:t>      0.005834867677742337,</a:t>
            </a:r>
          </a:p>
          <a:p xmlns:a="http://schemas.openxmlformats.org/drawingml/2006/main">
            <a:r>
              <a:t>      0.005506975221479604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"reference_eigenvalues": [</a:t>
            </a:r>
          </a:p>
          <a:p xmlns:a="http://schemas.openxmlformats.org/drawingml/2006/main">
            <a:r>
              <a:t>      2.732517602507024,</a:t>
            </a:r>
          </a:p>
          <a:p xmlns:a="http://schemas.openxmlformats.org/drawingml/2006/main">
            <a:r>
              <a:t>      2.4697720422308445,</a:t>
            </a:r>
          </a:p>
          <a:p xmlns:a="http://schemas.openxmlformats.org/drawingml/2006/main">
            <a:r>
              <a:t>      2.314126747073387,</a:t>
            </a:r>
          </a:p>
          <a:p xmlns:a="http://schemas.openxmlformats.org/drawingml/2006/main">
            <a:r>
              <a:t>      2.1681920346967787,</a:t>
            </a:r>
          </a:p>
          <a:p xmlns:a="http://schemas.openxmlformats.org/drawingml/2006/main">
            <a:r>
              <a:t>      2.038144790172316,</a:t>
            </a:r>
          </a:p>
          <a:p xmlns:a="http://schemas.openxmlformats.org/drawingml/2006/main">
            <a:r>
              <a:t>      1.9264757149008969,</a:t>
            </a:r>
          </a:p>
          <a:p xmlns:a="http://schemas.openxmlformats.org/drawingml/2006/main">
            <a:r>
              <a:t>      1.8405559265170748,</a:t>
            </a:r>
          </a:p>
          <a:p xmlns:a="http://schemas.openxmlformats.org/drawingml/2006/main">
            <a:r>
              <a:t>      1.7372381700826454,</a:t>
            </a:r>
          </a:p>
          <a:p xmlns:a="http://schemas.openxmlformats.org/drawingml/2006/main">
            <a:r>
              <a:t>      1.6568575203722875,</a:t>
            </a:r>
          </a:p>
          <a:p xmlns:a="http://schemas.openxmlformats.org/drawingml/2006/main">
            <a:r>
              <a:t>      1.5695830528101564,</a:t>
            </a:r>
          </a:p>
          <a:p xmlns:a="http://schemas.openxmlformats.org/drawingml/2006/main">
            <a:r>
              <a:t>      1.4983105390715012,</a:t>
            </a:r>
          </a:p>
          <a:p xmlns:a="http://schemas.openxmlformats.org/drawingml/2006/main">
            <a:r>
              <a:t>      1.433513934589995,</a:t>
            </a:r>
          </a:p>
          <a:p xmlns:a="http://schemas.openxmlformats.org/drawingml/2006/main">
            <a:r>
              <a:t>      1.3593550009238409,</a:t>
            </a:r>
          </a:p>
          <a:p xmlns:a="http://schemas.openxmlformats.org/drawingml/2006/main">
            <a:r>
              <a:t>      1.2942498943165894,</a:t>
            </a:r>
          </a:p>
          <a:p xmlns:a="http://schemas.openxmlformats.org/drawingml/2006/main">
            <a:r>
              <a:t>      1.2234228774452522,</a:t>
            </a:r>
          </a:p>
          <a:p xmlns:a="http://schemas.openxmlformats.org/drawingml/2006/main">
            <a:r>
              <a:t>      1.1658126235187447,</a:t>
            </a:r>
          </a:p>
          <a:p xmlns:a="http://schemas.openxmlformats.org/drawingml/2006/main">
            <a:r>
              <a:t>      1.1065713978558716,</a:t>
            </a:r>
          </a:p>
          <a:p xmlns:a="http://schemas.openxmlformats.org/drawingml/2006/main">
            <a:r>
              <a:t>      1.0528028748982408,</a:t>
            </a:r>
          </a:p>
          <a:p xmlns:a="http://schemas.openxmlformats.org/drawingml/2006/main">
            <a:r>
              <a:t>      0.9972764414369978,</a:t>
            </a:r>
          </a:p>
          <a:p xmlns:a="http://schemas.openxmlformats.org/drawingml/2006/main">
            <a:r>
              <a:t>      0.9475424103384165,</a:t>
            </a:r>
          </a:p>
          <a:p xmlns:a="http://schemas.openxmlformats.org/drawingml/2006/main">
            <a:r>
              <a:t>      0.8943999096759345,</a:t>
            </a:r>
          </a:p>
          <a:p xmlns:a="http://schemas.openxmlformats.org/drawingml/2006/main">
            <a:r>
              <a:t>      0.8489013873784266,</a:t>
            </a:r>
          </a:p>
          <a:p xmlns:a="http://schemas.openxmlformats.org/drawingml/2006/main">
            <a:r>
              <a:t>      0.8037939771888423,</a:t>
            </a:r>
          </a:p>
          <a:p xmlns:a="http://schemas.openxmlformats.org/drawingml/2006/main">
            <a:r>
              <a:t>      0.7545312631951371,</a:t>
            </a:r>
          </a:p>
          <a:p xmlns:a="http://schemas.openxmlformats.org/drawingml/2006/main">
            <a:r>
              <a:t>      0.714604355518952,</a:t>
            </a:r>
          </a:p>
          <a:p xmlns:a="http://schemas.openxmlformats.org/drawingml/2006/main">
            <a:r>
              <a:t>      0.6732455277037788,</a:t>
            </a:r>
          </a:p>
          <a:p xmlns:a="http://schemas.openxmlformats.org/drawingml/2006/main">
            <a:r>
              <a:t>      0.6274060917010085,</a:t>
            </a:r>
          </a:p>
          <a:p xmlns:a="http://schemas.openxmlformats.org/drawingml/2006/main">
            <a:r>
              <a:t>      0.584767741115296,</a:t>
            </a:r>
          </a:p>
          <a:p xmlns:a="http://schemas.openxmlformats.org/drawingml/2006/main">
            <a:r>
              <a:t>      0.5474545772210789,</a:t>
            </a:r>
          </a:p>
          <a:p xmlns:a="http://schemas.openxmlformats.org/drawingml/2006/main">
            <a:r>
              <a:t>      0.5104532372656394,</a:t>
            </a:r>
          </a:p>
          <a:p xmlns:a="http://schemas.openxmlformats.org/drawingml/2006/main">
            <a:r>
              <a:t>      0.47864111559474043,</a:t>
            </a:r>
          </a:p>
          <a:p xmlns:a="http://schemas.openxmlformats.org/drawingml/2006/main">
            <a:r>
              <a:t>      0.44499853797390443,</a:t>
            </a:r>
          </a:p>
          <a:p xmlns:a="http://schemas.openxmlformats.org/drawingml/2006/main">
            <a:r>
              <a:t>      0.4068511133281535,</a:t>
            </a:r>
          </a:p>
          <a:p xmlns:a="http://schemas.openxmlformats.org/drawingml/2006/main">
            <a:r>
              <a:t>      0.3767048710571924,</a:t>
            </a:r>
          </a:p>
          <a:p xmlns:a="http://schemas.openxmlformats.org/drawingml/2006/main">
            <a:r>
              <a:t>      0.3390287903014266,</a:t>
            </a:r>
          </a:p>
          <a:p xmlns:a="http://schemas.openxmlformats.org/drawingml/2006/main">
            <a:r>
              <a:t>      0.31127864090282137,</a:t>
            </a:r>
          </a:p>
          <a:p xmlns:a="http://schemas.openxmlformats.org/drawingml/2006/main">
            <a:r>
              <a:t>      0.275409842073557,</a:t>
            </a:r>
          </a:p>
          <a:p xmlns:a="http://schemas.openxmlformats.org/drawingml/2006/main">
            <a:r>
              <a:t>      0.2464379919608285,</a:t>
            </a:r>
          </a:p>
          <a:p xmlns:a="http://schemas.openxmlformats.org/drawingml/2006/main">
            <a:r>
              <a:t>      0.21233492959197414,</a:t>
            </a:r>
          </a:p>
          <a:p xmlns:a="http://schemas.openxmlformats.org/drawingml/2006/main">
            <a:r>
              <a:t>      0.17991413965569827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"scope": "PCA component permutation diagnostic, not common-factor retention; not a hard lower/upper bound on FA q"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"rank": 40,</a:t>
            </a:r>
          </a:p>
          <a:p xmlns:a="http://schemas.openxmlformats.org/drawingml/2006/main">
            <a:r>
              <a:t>  "selection_is_exploratory": true,</a:t>
            </a:r>
          </a:p>
          <a:p xmlns:a="http://schemas.openxmlformats.org/drawingml/2006/main">
            <a:r>
              <a:t>  "used_q": 4,</a:t>
            </a:r>
          </a:p>
          <a:p xmlns:a="http://schemas.openxmlformats.org/drawingml/2006/main">
            <a:r>
              <a:t>  "overridden": false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Числа: metadata.json, scores.csv, loadings.csv и утверждённая матрица оценок.</a:t>
            </a:r>
          </a:p>
          <a:p xmlns:a="http://schemas.openxmlformats.org/drawingml/2006/main">
            <a:r>
              <a:t>Изучаемое пространство: Международное пространство политических партий из прежней выборки.</a:t>
            </a:r>
          </a:p>
          <a:p xmlns:a="http://schemas.openxmlformats.org/drawingml/2006/main">
            <a:r>
              <a:t>Оценщик: legacy_import_example.</a:t>
            </a:r>
          </a:p>
          <a:p xmlns:a="http://schemas.openxmlformats.org/drawingml/2006/main">
            <a:r>
              <a:t>Демонстрационный пример: ТЕХНИЧЕСКИЙ ПРИМЕР НА ПРЕЖНИХ ДАННЫХ. Это повторный анализ ранее сохранённых модельных оценок 95 партий по первым 40 признакам исходного словаря. Это не новое исследование и не результат исследования 70 российских политиков. Новые источники не собирались, LLM не вызывалась, старый словарь не проходил новую нормализацию. Оценка x по прежней шкале 0–10 перенесена как value = x − 5. Два полюса независимо не оценивались; их сумма и смешанность по этим данным не определяются. Ноль в примере означает прежнюю оценку 5, а не доказанную невыраженность обоих свойств. Отметки утверждения принадлежат импортированному примеру, а не пользователю..</a:t>
            </a:r>
          </a:p>
          <a:p xmlns:a="http://schemas.openxmlformats.org/drawingml/2006/main">
            <a:r>
              <a:t>Исходные URL: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"scale-001",</a:t>
            </a:r>
          </a:p>
          <a:p xmlns:a="http://schemas.openxmlformats.org/drawingml/2006/main">
            <a:r>
              <a:t>    "name": "социал-демократическая",</a:t>
            </a:r>
          </a:p>
          <a:p xmlns:a="http://schemas.openxmlformats.org/drawingml/2006/main">
            <a:r>
              <a:t>    "positive": "социал-демократическая",</a:t>
            </a:r>
          </a:p>
          <a:p xmlns:a="http://schemas.openxmlformats.org/drawingml/2006/main">
            <a:r>
              <a:t>    "negative": "Слабая выраженность: социал-демократическая",</a:t>
            </a:r>
          </a:p>
          <a:p xmlns:a="http://schemas.openxmlformats.org/drawingml/2006/main">
            <a:r>
              <a:t>    "definition": "Учебный перенос старой шкалы 0..10 через x−5; не заново оценённая пара антонимов",</a:t>
            </a:r>
          </a:p>
          <a:p xmlns:a="http://schemas.openxmlformats.org/drawingml/2006/main">
            <a:r>
              <a:t>    "aliases": [],</a:t>
            </a:r>
          </a:p>
          <a:p xmlns:a="http://schemas.openxmlformats.org/drawingml/2006/main">
            <a:r>
              <a:t>    "legacy_source_trait": "социал-демократическая",</a:t>
            </a:r>
          </a:p>
          <a:p xmlns:a="http://schemas.openxmlformats.org/drawingml/2006/main">
            <a:r>
              <a:t>    "anchors": {</a:t>
            </a:r>
          </a:p>
          <a:p xmlns:a="http://schemas.openxmlformats.org/drawingml/2006/main">
            <a:r>
              <a:t>      "0": "Прежняя оценка 5; не равнозначна отсутствию обоих полюсов",</a:t>
            </a:r>
          </a:p>
          <a:p xmlns:a="http://schemas.openxmlformats.org/drawingml/2006/main">
            <a:r>
              <a:t>      "5": "Прежняя оценка 10",</a:t>
            </a:r>
          </a:p>
          <a:p xmlns:a="http://schemas.openxmlformats.org/drawingml/2006/main">
            <a:r>
              <a:t>      "-5": "Прежняя оценка 0"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"scale-002",</a:t>
            </a:r>
          </a:p>
          <a:p xmlns:a="http://schemas.openxmlformats.org/drawingml/2006/main">
            <a:r>
              <a:t>    "name": "центр-левая",</a:t>
            </a:r>
          </a:p>
          <a:p xmlns:a="http://schemas.openxmlformats.org/drawingml/2006/main">
            <a:r>
              <a:t>    "positive": "центр-левая",</a:t>
            </a:r>
          </a:p>
          <a:p xmlns:a="http://schemas.openxmlformats.org/drawingml/2006/main">
            <a:r>
              <a:t>    "negative": "Слабая выраженность: центр-левая",</a:t>
            </a:r>
          </a:p>
          <a:p xmlns:a="http://schemas.openxmlformats.org/drawingml/2006/main">
            <a:r>
              <a:t>    "definition": "Учебный перенос старой шкалы 0..10 через x−5; не заново оценённая пара антонимов",</a:t>
            </a:r>
          </a:p>
          <a:p xmlns:a="http://schemas.openxmlformats.org/drawingml/2006/main">
            <a:r>
              <a:t>    "aliases": [],</a:t>
            </a:r>
          </a:p>
          <a:p xmlns:a="http://schemas.openxmlformats.org/drawingml/2006/main">
            <a:r>
              <a:t>    "legacy_source_trait": "центр-левая",</a:t>
            </a:r>
          </a:p>
          <a:p xmlns:a="http://schemas.openxmlformats.org/drawingml/2006/main">
            <a:r>
              <a:t>    "anchors": {</a:t>
            </a:r>
          </a:p>
          <a:p xmlns:a="http://schemas.openxmlformats.org/drawingml/2006/main">
            <a:r>
              <a:t>      "0": "Прежняя оценка 5; не равнозначна отсутствию обоих полюсов",</a:t>
            </a:r>
          </a:p>
          <a:p xmlns:a="http://schemas.openxmlformats.org/drawingml/2006/main">
            <a:r>
              <a:t>      "5": "Прежняя оценка 10",</a:t>
            </a:r>
          </a:p>
          <a:p xmlns:a="http://schemas.openxmlformats.org/drawingml/2006/main">
            <a:r>
              <a:t>      "-5": "Прежняя оценка 0"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"scale-003",</a:t>
            </a:r>
          </a:p>
          <a:p xmlns:a="http://schemas.openxmlformats.org/drawingml/2006/main">
            <a:r>
              <a:t>    "name": "прогрессивная",</a:t>
            </a:r>
          </a:p>
          <a:p xmlns:a="http://schemas.openxmlformats.org/drawingml/2006/main">
            <a:r>
              <a:t>    "positive": "прогрессивная",</a:t>
            </a:r>
          </a:p>
          <a:p xmlns:a="http://schemas.openxmlformats.org/drawingml/2006/main">
            <a:r>
              <a:t>    "negative": "Слабая выраженность: прогрессивная",</a:t>
            </a:r>
          </a:p>
          <a:p xmlns:a="http://schemas.openxmlformats.org/drawingml/2006/main">
            <a:r>
              <a:t>    "definition": "Учебный перенос старой шкалы 0..10 через x−5; не заново оценённая пара антонимов",</a:t>
            </a:r>
          </a:p>
          <a:p xmlns:a="http://schemas.openxmlformats.org/drawingml/2006/main">
            <a:r>
              <a:t>    "aliases": [],</a:t>
            </a:r>
          </a:p>
          <a:p xmlns:a="http://schemas.openxmlformats.org/drawingml/2006/main">
            <a:r>
              <a:t>    "legacy_source_trait": "прогрессивная",</a:t>
            </a:r>
          </a:p>
          <a:p xmlns:a="http://schemas.openxmlformats.org/drawingml/2006/main">
            <a:r>
              <a:t>    "anchors": {</a:t>
            </a:r>
          </a:p>
          <a:p xmlns:a="http://schemas.openxmlformats.org/drawingml/2006/main">
            <a:r>
              <a:t>      "0": "Прежняя оценка 5; не равнозначна отсутствию обоих полюсов",</a:t>
            </a:r>
          </a:p>
          <a:p xmlns:a="http://schemas.openxmlformats.org/drawingml/2006/main">
            <a:r>
              <a:t>      "5": "Прежняя оценка 10",</a:t>
            </a:r>
          </a:p>
          <a:p xmlns:a="http://schemas.openxmlformats.org/drawingml/2006/main">
            <a:r>
              <a:t>      "-5": "Прежняя оценка 0"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"scale-004",</a:t>
            </a:r>
          </a:p>
          <a:p xmlns:a="http://schemas.openxmlformats.org/drawingml/2006/main">
            <a:r>
              <a:t>    "name": "ориентирована на рабочий класс",</a:t>
            </a:r>
          </a:p>
          <a:p xmlns:a="http://schemas.openxmlformats.org/drawingml/2006/main">
            <a:r>
              <a:t>    "positive": "ориентирована на рабочий класс",</a:t>
            </a:r>
          </a:p>
          <a:p xmlns:a="http://schemas.openxmlformats.org/drawingml/2006/main">
            <a:r>
              <a:t>    "negative": "Слабая выраженность: ориентирована на рабочий класс",</a:t>
            </a:r>
          </a:p>
          <a:p xmlns:a="http://schemas.openxmlformats.org/drawingml/2006/main">
            <a:r>
              <a:t>    "definition": "Учебный перенос старой шкалы 0..10 через x−5; не заново оценённая пара антонимов",</a:t>
            </a:r>
          </a:p>
          <a:p xmlns:a="http://schemas.openxmlformats.org/drawingml/2006/main">
            <a:r>
              <a:t>    "aliases": [],</a:t>
            </a:r>
          </a:p>
          <a:p xmlns:a="http://schemas.openxmlformats.org/drawingml/2006/main">
            <a:r>
              <a:t>    "legacy_source_trait": "ориентирована на рабочий класс",</a:t>
            </a:r>
          </a:p>
          <a:p xmlns:a="http://schemas.openxmlformats.org/drawingml/2006/main">
            <a:r>
              <a:t>    "anchors": {</a:t>
            </a:r>
          </a:p>
          <a:p xmlns:a="http://schemas.openxmlformats.org/drawingml/2006/main">
            <a:r>
              <a:t>      "0": "Прежняя оценка 5; не равнозначна отсутствию обоих полюсов",</a:t>
            </a:r>
          </a:p>
          <a:p xmlns:a="http://schemas.openxmlformats.org/drawingml/2006/main">
            <a:r>
              <a:t>      "5": "Прежняя оценка 10",</a:t>
            </a:r>
          </a:p>
          <a:p xmlns:a="http://schemas.openxmlformats.org/drawingml/2006/main">
            <a:r>
              <a:t>      "-5": "Прежняя оценка 0"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"scale-005",</a:t>
            </a:r>
          </a:p>
          <a:p xmlns:a="http://schemas.openxmlformats.org/drawingml/2006/main">
            <a:r>
              <a:t>    "name": "поддержка государства всеобщего благосостояния",</a:t>
            </a:r>
          </a:p>
          <a:p xmlns:a="http://schemas.openxmlformats.org/drawingml/2006/main">
            <a:r>
              <a:t>    "positive": "поддержка государства всеобщего благосостояния",</a:t>
            </a:r>
          </a:p>
          <a:p xmlns:a="http://schemas.openxmlformats.org/drawingml/2006/main">
            <a:r>
              <a:t>    "negative": "Слабая выраженность: поддержка государства всеобщего благосостояния",</a:t>
            </a:r>
          </a:p>
          <a:p xmlns:a="http://schemas.openxmlformats.org/drawingml/2006/main">
            <a:r>
              <a:t>    "definition": "Учебный перенос старой шкалы 0..10 через x−5; не заново оценённая пара антонимов",</a:t>
            </a:r>
          </a:p>
          <a:p xmlns:a="http://schemas.openxmlformats.org/drawingml/2006/main">
            <a:r>
              <a:t>    "aliases": [],</a:t>
            </a:r>
          </a:p>
          <a:p xmlns:a="http://schemas.openxmlformats.org/drawingml/2006/main">
            <a:r>
              <a:t>    "legacy_source_trait": "поддержка государства всеобщего благосостояния",</a:t>
            </a:r>
          </a:p>
          <a:p xmlns:a="http://schemas.openxmlformats.org/drawingml/2006/main">
            <a:r>
              <a:t>    "anchors": {</a:t>
            </a:r>
          </a:p>
          <a:p xmlns:a="http://schemas.openxmlformats.org/drawingml/2006/main">
            <a:r>
              <a:t>      "0": "Прежняя оценка 5; не равнозначна отсутствию обоих полюсов",</a:t>
            </a:r>
          </a:p>
          <a:p xmlns:a="http://schemas.openxmlformats.org/drawingml/2006/main">
            <a:r>
              <a:t>      "5": "Прежняя оценка 10",</a:t>
            </a:r>
          </a:p>
          <a:p xmlns:a="http://schemas.openxmlformats.org/drawingml/2006/main">
            <a:r>
              <a:t>      "-5": "Прежняя оценка 0"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"scale-006",</a:t>
            </a:r>
          </a:p>
          <a:p xmlns:a="http://schemas.openxmlformats.org/drawingml/2006/main">
            <a:r>
              <a:t>    "name": "интернационализм",</a:t>
            </a:r>
          </a:p>
          <a:p xmlns:a="http://schemas.openxmlformats.org/drawingml/2006/main">
            <a:r>
              <a:t>    "positive": "интернационализм",</a:t>
            </a:r>
          </a:p>
          <a:p xmlns:a="http://schemas.openxmlformats.org/drawingml/2006/main">
            <a:r>
              <a:t>    "negative": "Слабая выраженность: интернационализм",</a:t>
            </a:r>
          </a:p>
          <a:p xmlns:a="http://schemas.openxmlformats.org/drawingml/2006/main">
            <a:r>
              <a:t>    "definition": "Учебный перенос старой шкалы 0..10 через x−5; не заново оценённая пара антонимов",</a:t>
            </a:r>
          </a:p>
          <a:p xmlns:a="http://schemas.openxmlformats.org/drawingml/2006/main">
            <a:r>
              <a:t>    "aliases": [],</a:t>
            </a:r>
          </a:p>
          <a:p xmlns:a="http://schemas.openxmlformats.org/drawingml/2006/main">
            <a:r>
              <a:t>    "legacy_source_trait": "интернационализм",</a:t>
            </a:r>
          </a:p>
          <a:p xmlns:a="http://schemas.openxmlformats.org/drawingml/2006/main">
            <a:r>
              <a:t>    "anchors": {</a:t>
            </a:r>
          </a:p>
          <a:p xmlns:a="http://schemas.openxmlformats.org/drawingml/2006/main">
            <a:r>
              <a:t>      "0": "Прежняя оценка 5; не равнозначна отсутствию обоих полюсов",</a:t>
            </a:r>
          </a:p>
          <a:p xmlns:a="http://schemas.openxmlformats.org/drawingml/2006/main">
            <a:r>
              <a:t>      "5": "Прежняя оценка 10",</a:t>
            </a:r>
          </a:p>
          <a:p xmlns:a="http://schemas.openxmlformats.org/drawingml/2006/main">
            <a:r>
              <a:t>      "-5": "Прежняя оценка 0"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"scale-007",</a:t>
            </a:r>
          </a:p>
          <a:p xmlns:a="http://schemas.openxmlformats.org/drawingml/2006/main">
            <a:r>
              <a:t>    "name": "солидарность",</a:t>
            </a:r>
          </a:p>
          <a:p xmlns:a="http://schemas.openxmlformats.org/drawingml/2006/main">
            <a:r>
              <a:t>    "positive": "солидарность",</a:t>
            </a:r>
          </a:p>
          <a:p xmlns:a="http://schemas.openxmlformats.org/drawingml/2006/main">
            <a:r>
              <a:t>    "negative": "Слабая выраженность: солидарность",</a:t>
            </a:r>
          </a:p>
          <a:p xmlns:a="http://schemas.openxmlformats.org/drawingml/2006/main">
            <a:r>
              <a:t>    "definition": "Учебный перенос старой шкалы 0..10 через x−5; не заново оценённая пара антонимов",</a:t>
            </a:r>
          </a:p>
          <a:p xmlns:a="http://schemas.openxmlformats.org/drawingml/2006/main">
            <a:r>
              <a:t>    "aliases": [],</a:t>
            </a:r>
          </a:p>
          <a:p xmlns:a="http://schemas.openxmlformats.org/drawingml/2006/main">
            <a:r>
              <a:t>    "legacy_source_trait": "солидарность",</a:t>
            </a:r>
          </a:p>
          <a:p xmlns:a="http://schemas.openxmlformats.org/drawingml/2006/main">
            <a:r>
              <a:t>    "anchors": {</a:t>
            </a:r>
          </a:p>
          <a:p xmlns:a="http://schemas.openxmlformats.org/drawingml/2006/main">
            <a:r>
              <a:t>      "0": "Прежняя оценка 5; не равнозначна отсутствию обоих полюсов",</a:t>
            </a:r>
          </a:p>
          <a:p xmlns:a="http://schemas.openxmlformats.org/drawingml/2006/main">
            <a:r>
              <a:t>      "5": "Прежняя оценка 10",</a:t>
            </a:r>
          </a:p>
          <a:p xmlns:a="http://schemas.openxmlformats.org/drawingml/2006/main">
            <a:r>
              <a:t>      "-5": "Прежняя оценка 0"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"scale-008",</a:t>
            </a:r>
          </a:p>
          <a:p xmlns:a="http://schemas.openxmlformats.org/drawingml/2006/main">
            <a:r>
              <a:t>    "name": "гендерное равенство",</a:t>
            </a:r>
          </a:p>
          <a:p xmlns:a="http://schemas.openxmlformats.org/drawingml/2006/main">
            <a:r>
              <a:t>    "positive": "гендерное равенство",</a:t>
            </a:r>
          </a:p>
          <a:p xmlns:a="http://schemas.openxmlformats.org/drawingml/2006/main">
            <a:r>
              <a:t>    "negative": "Слабая выраженность: гендерное равенство",</a:t>
            </a:r>
          </a:p>
          <a:p xmlns:a="http://schemas.openxmlformats.org/drawingml/2006/main">
            <a:r>
              <a:t>    "definition": "Учебный перенос старой шкалы 0..10 через x−5; не заново оценённая пара антонимов",</a:t>
            </a:r>
          </a:p>
          <a:p xmlns:a="http://schemas.openxmlformats.org/drawingml/2006/main">
            <a:r>
              <a:t>    "aliases": [],</a:t>
            </a:r>
          </a:p>
          <a:p xmlns:a="http://schemas.openxmlformats.org/drawingml/2006/main">
            <a:r>
              <a:t>    "legacy_source_trait": "гендерное равенство",</a:t>
            </a:r>
          </a:p>
          <a:p xmlns:a="http://schemas.openxmlformats.org/drawingml/2006/main">
            <a:r>
              <a:t>    "anchors": {</a:t>
            </a:r>
          </a:p>
          <a:p xmlns:a="http://schemas.openxmlformats.org/drawingml/2006/main">
            <a:r>
              <a:t>      "0": "Прежняя оценка 5; не равнозначна отсутствию обоих полюсов",</a:t>
            </a:r>
          </a:p>
          <a:p xmlns:a="http://schemas.openxmlformats.org/drawingml/2006/main">
            <a:r>
              <a:t>      "5": "Прежняя оценка 10",</a:t>
            </a:r>
          </a:p>
          <a:p xmlns:a="http://schemas.openxmlformats.org/drawingml/2006/main">
            <a:r>
              <a:t>      "-5": "Прежняя оценка 0"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"scale-009",</a:t>
            </a:r>
          </a:p>
          <a:p xmlns:a="http://schemas.openxmlformats.org/drawingml/2006/main">
            <a:r>
              <a:t>    "name": "экологическая ответственность",</a:t>
            </a:r>
          </a:p>
          <a:p xmlns:a="http://schemas.openxmlformats.org/drawingml/2006/main">
            <a:r>
              <a:t>    "positive": "экологическая ответственность",</a:t>
            </a:r>
          </a:p>
          <a:p xmlns:a="http://schemas.openxmlformats.org/drawingml/2006/main">
            <a:r>
              <a:t>    "negative": "Слабая выраженность: экологическая ответственность",</a:t>
            </a:r>
          </a:p>
          <a:p xmlns:a="http://schemas.openxmlformats.org/drawingml/2006/main">
            <a:r>
              <a:t>    "definition": "Учебный перенос старой шкалы 0..10 через x−5; не заново оценённая пара антонимов",</a:t>
            </a:r>
          </a:p>
          <a:p xmlns:a="http://schemas.openxmlformats.org/drawingml/2006/main">
            <a:r>
              <a:t>    "aliases": [],</a:t>
            </a:r>
          </a:p>
          <a:p xmlns:a="http://schemas.openxmlformats.org/drawingml/2006/main">
            <a:r>
              <a:t>    "legacy_source_trait": "экологическая ответственность",</a:t>
            </a:r>
          </a:p>
          <a:p xmlns:a="http://schemas.openxmlformats.org/drawingml/2006/main">
            <a:r>
              <a:t>    "anchors": {</a:t>
            </a:r>
          </a:p>
          <a:p xmlns:a="http://schemas.openxmlformats.org/drawingml/2006/main">
            <a:r>
              <a:t>      "0": "Прежняя оценка 5; не равнозначна отсутствию обоих полюсов",</a:t>
            </a:r>
          </a:p>
          <a:p xmlns:a="http://schemas.openxmlformats.org/drawingml/2006/main">
            <a:r>
              <a:t>      "5": "Прежняя оценка 10",</a:t>
            </a:r>
          </a:p>
          <a:p xmlns:a="http://schemas.openxmlformats.org/drawingml/2006/main">
            <a:r>
              <a:t>      "-5": "Прежняя оценка 0"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"scale-010",</a:t>
            </a:r>
          </a:p>
          <a:p xmlns:a="http://schemas.openxmlformats.org/drawingml/2006/main">
            <a:r>
              <a:t>    "name": "реформизм",</a:t>
            </a:r>
          </a:p>
          <a:p xmlns:a="http://schemas.openxmlformats.org/drawingml/2006/main">
            <a:r>
              <a:t>    "positive": "реформизм",</a:t>
            </a:r>
          </a:p>
          <a:p xmlns:a="http://schemas.openxmlformats.org/drawingml/2006/main">
            <a:r>
              <a:t>    "negative": "Слабая выраженность: реформизм",</a:t>
            </a:r>
          </a:p>
          <a:p xmlns:a="http://schemas.openxmlformats.org/drawingml/2006/main">
            <a:r>
              <a:t>    "definition": "Учебный перенос старой шкалы 0..10 через x−5; не заново оценённая пара антонимов",</a:t>
            </a:r>
          </a:p>
          <a:p xmlns:a="http://schemas.openxmlformats.org/drawingml/2006/main">
            <a:r>
              <a:t>    "aliases": [],</a:t>
            </a:r>
          </a:p>
          <a:p xmlns:a="http://schemas.openxmlformats.org/drawingml/2006/main">
            <a:r>
              <a:t>    "legacy_source_trait": "реформизм",</a:t>
            </a:r>
          </a:p>
          <a:p xmlns:a="http://schemas.openxmlformats.org/drawingml/2006/main">
            <a:r>
              <a:t>    "anchors": {</a:t>
            </a:r>
          </a:p>
          <a:p xmlns:a="http://schemas.openxmlformats.org/drawingml/2006/main">
            <a:r>
              <a:t>      "0": "Прежняя оценка 5; не равнозначна отсутствию обоих полюсов",</a:t>
            </a:r>
          </a:p>
          <a:p xmlns:a="http://schemas.openxmlformats.org/drawingml/2006/main">
            <a:r>
              <a:t>      "5": "Прежняя оценка 10",</a:t>
            </a:r>
          </a:p>
          <a:p xmlns:a="http://schemas.openxmlformats.org/drawingml/2006/main">
            <a:r>
              <a:t>      "-5": "Прежняя оценка 0"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"scale-011",</a:t>
            </a:r>
          </a:p>
          <a:p xmlns:a="http://schemas.openxmlformats.org/drawingml/2006/main">
            <a:r>
              <a:t>    "name": "прагматизм",</a:t>
            </a:r>
          </a:p>
          <a:p xmlns:a="http://schemas.openxmlformats.org/drawingml/2006/main">
            <a:r>
              <a:t>    "positive": "прагматизм",</a:t>
            </a:r>
          </a:p>
          <a:p xmlns:a="http://schemas.openxmlformats.org/drawingml/2006/main">
            <a:r>
              <a:t>    "negative": "Слабая выраженность: прагматизм",</a:t>
            </a:r>
          </a:p>
          <a:p xmlns:a="http://schemas.openxmlformats.org/drawingml/2006/main">
            <a:r>
              <a:t>    "definition": "Учебный перенос старой шкалы 0..10 через x−5; не заново оценённая пара антонимов",</a:t>
            </a:r>
          </a:p>
          <a:p xmlns:a="http://schemas.openxmlformats.org/drawingml/2006/main">
            <a:r>
              <a:t>    "aliases": [],</a:t>
            </a:r>
          </a:p>
          <a:p xmlns:a="http://schemas.openxmlformats.org/drawingml/2006/main">
            <a:r>
              <a:t>    "legacy_source_trait": "прагматизм",</a:t>
            </a:r>
          </a:p>
          <a:p xmlns:a="http://schemas.openxmlformats.org/drawingml/2006/main">
            <a:r>
              <a:t>    "anchors": {</a:t>
            </a:r>
          </a:p>
          <a:p xmlns:a="http://schemas.openxmlformats.org/drawingml/2006/main">
            <a:r>
              <a:t>      "0": "Прежняя оценка 5; не равнозначна отсутствию обоих полюсов",</a:t>
            </a:r>
          </a:p>
          <a:p xmlns:a="http://schemas.openxmlformats.org/drawingml/2006/main">
            <a:r>
              <a:t>      "5": "Прежняя оценка 10",</a:t>
            </a:r>
          </a:p>
          <a:p xmlns:a="http://schemas.openxmlformats.org/drawingml/2006/main">
            <a:r>
              <a:t>      "-5": "Прежняя оценка 0"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"scale-012",</a:t>
            </a:r>
          </a:p>
          <a:p xmlns:a="http://schemas.openxmlformats.org/drawingml/2006/main">
            <a:r>
              <a:t>    "name": "сильные профсоюзы",</a:t>
            </a:r>
          </a:p>
          <a:p xmlns:a="http://schemas.openxmlformats.org/drawingml/2006/main">
            <a:r>
              <a:t>    "positive": "сильные профсоюзы",</a:t>
            </a:r>
          </a:p>
          <a:p xmlns:a="http://schemas.openxmlformats.org/drawingml/2006/main">
            <a:r>
              <a:t>    "negative": "Слабая выраженность: сильные профсоюзы",</a:t>
            </a:r>
          </a:p>
          <a:p xmlns:a="http://schemas.openxmlformats.org/drawingml/2006/main">
            <a:r>
              <a:t>    "definition": "Учебный перенос старой шкалы 0..10 через x−5; не заново оценённая пара антонимов",</a:t>
            </a:r>
          </a:p>
          <a:p xmlns:a="http://schemas.openxmlformats.org/drawingml/2006/main">
            <a:r>
              <a:t>    "aliases": [],</a:t>
            </a:r>
          </a:p>
          <a:p xmlns:a="http://schemas.openxmlformats.org/drawingml/2006/main">
            <a:r>
              <a:t>    "legacy_source_trait": "сильные профсоюзы",</a:t>
            </a:r>
          </a:p>
          <a:p xmlns:a="http://schemas.openxmlformats.org/drawingml/2006/main">
            <a:r>
              <a:t>    "anchors": {</a:t>
            </a:r>
          </a:p>
          <a:p xmlns:a="http://schemas.openxmlformats.org/drawingml/2006/main">
            <a:r>
              <a:t>      "0": "Прежняя оценка 5; не равнозначна отсутствию обоих полюсов",</a:t>
            </a:r>
          </a:p>
          <a:p xmlns:a="http://schemas.openxmlformats.org/drawingml/2006/main">
            <a:r>
              <a:t>      "5": "Прежняя оценка 10",</a:t>
            </a:r>
          </a:p>
          <a:p xmlns:a="http://schemas.openxmlformats.org/drawingml/2006/main">
            <a:r>
              <a:t>      "-5": "Прежняя оценка 0"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"scale-013",</a:t>
            </a:r>
          </a:p>
          <a:p xmlns:a="http://schemas.openxmlformats.org/drawingml/2006/main">
            <a:r>
              <a:t>    "name": "инклюзивность",</a:t>
            </a:r>
          </a:p>
          <a:p xmlns:a="http://schemas.openxmlformats.org/drawingml/2006/main">
            <a:r>
              <a:t>    "positive": "инклюзивность",</a:t>
            </a:r>
          </a:p>
          <a:p xmlns:a="http://schemas.openxmlformats.org/drawingml/2006/main">
            <a:r>
              <a:t>    "negative": "Слабая выраженность: инклюзивность",</a:t>
            </a:r>
          </a:p>
          <a:p xmlns:a="http://schemas.openxmlformats.org/drawingml/2006/main">
            <a:r>
              <a:t>    "definition": "Учебный перенос старой шкалы 0..10 через x−5; не заново оценённая пара антонимов",</a:t>
            </a:r>
          </a:p>
          <a:p xmlns:a="http://schemas.openxmlformats.org/drawingml/2006/main">
            <a:r>
              <a:t>    "aliases": [],</a:t>
            </a:r>
          </a:p>
          <a:p xmlns:a="http://schemas.openxmlformats.org/drawingml/2006/main">
            <a:r>
              <a:t>    "legacy_source_trait": "инклюзивность",</a:t>
            </a:r>
          </a:p>
          <a:p xmlns:a="http://schemas.openxmlformats.org/drawingml/2006/main">
            <a:r>
              <a:t>    "anchors": {</a:t>
            </a:r>
          </a:p>
          <a:p xmlns:a="http://schemas.openxmlformats.org/drawingml/2006/main">
            <a:r>
              <a:t>      "0": "Прежняя оценка 5; не равнозначна отсутствию обоих полюсов",</a:t>
            </a:r>
          </a:p>
          <a:p xmlns:a="http://schemas.openxmlformats.org/drawingml/2006/main">
            <a:r>
              <a:t>      "5": "Прежняя оценка 10",</a:t>
            </a:r>
          </a:p>
          <a:p xmlns:a="http://schemas.openxmlformats.org/drawingml/2006/main">
            <a:r>
              <a:t>      "-5": "Прежняя оценка 0"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"scale-014",</a:t>
            </a:r>
          </a:p>
          <a:p xmlns:a="http://schemas.openxmlformats.org/drawingml/2006/main">
            <a:r>
              <a:t>    "name": "антидискриминация",</a:t>
            </a:r>
          </a:p>
          <a:p xmlns:a="http://schemas.openxmlformats.org/drawingml/2006/main">
            <a:r>
              <a:t>    "positive": "антидискриминация",</a:t>
            </a:r>
          </a:p>
          <a:p xmlns:a="http://schemas.openxmlformats.org/drawingml/2006/main">
            <a:r>
              <a:t>    "negative": "Слабая выраженность: антидискриминация",</a:t>
            </a:r>
          </a:p>
          <a:p xmlns:a="http://schemas.openxmlformats.org/drawingml/2006/main">
            <a:r>
              <a:t>    "definition": "Учебный перенос старой шкалы 0..10 через x−5; не заново оценённая пара антонимов",</a:t>
            </a:r>
          </a:p>
          <a:p xmlns:a="http://schemas.openxmlformats.org/drawingml/2006/main">
            <a:r>
              <a:t>    "aliases": [],</a:t>
            </a:r>
          </a:p>
          <a:p xmlns:a="http://schemas.openxmlformats.org/drawingml/2006/main">
            <a:r>
              <a:t>    "legacy_source_trait": "антидискриминация",</a:t>
            </a:r>
          </a:p>
          <a:p xmlns:a="http://schemas.openxmlformats.org/drawingml/2006/main">
            <a:r>
              <a:t>    "anchors": {</a:t>
            </a:r>
          </a:p>
          <a:p xmlns:a="http://schemas.openxmlformats.org/drawingml/2006/main">
            <a:r>
              <a:t>      "0": "Прежняя оценка 5; не равнозначна отсутствию обоих полюсов",</a:t>
            </a:r>
          </a:p>
          <a:p xmlns:a="http://schemas.openxmlformats.org/drawingml/2006/main">
            <a:r>
              <a:t>      "5": "Прежняя оценка 10",</a:t>
            </a:r>
          </a:p>
          <a:p xmlns:a="http://schemas.openxmlformats.org/drawingml/2006/main">
            <a:r>
              <a:t>      "-5": "Прежняя оценка 0"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"scale-015",</a:t>
            </a:r>
          </a:p>
          <a:p xmlns:a="http://schemas.openxmlformats.org/drawingml/2006/main">
            <a:r>
              <a:t>    "name": "европеизм",</a:t>
            </a:r>
          </a:p>
          <a:p xmlns:a="http://schemas.openxmlformats.org/drawingml/2006/main">
            <a:r>
              <a:t>    "positive": "европеизм",</a:t>
            </a:r>
          </a:p>
          <a:p xmlns:a="http://schemas.openxmlformats.org/drawingml/2006/main">
            <a:r>
              <a:t>    "negative": "Слабая выраженность: европеизм",</a:t>
            </a:r>
          </a:p>
          <a:p xmlns:a="http://schemas.openxmlformats.org/drawingml/2006/main">
            <a:r>
              <a:t>    "definition": "Учебный перенос старой шкалы 0..10 через x−5; не заново оценённая пара антонимов",</a:t>
            </a:r>
          </a:p>
          <a:p xmlns:a="http://schemas.openxmlformats.org/drawingml/2006/main">
            <a:r>
              <a:t>    "aliases": [],</a:t>
            </a:r>
          </a:p>
          <a:p xmlns:a="http://schemas.openxmlformats.org/drawingml/2006/main">
            <a:r>
              <a:t>    "legacy_source_trait": "европеизм",</a:t>
            </a:r>
          </a:p>
          <a:p xmlns:a="http://schemas.openxmlformats.org/drawingml/2006/main">
            <a:r>
              <a:t>    "anchors": {</a:t>
            </a:r>
          </a:p>
          <a:p xmlns:a="http://schemas.openxmlformats.org/drawingml/2006/main">
            <a:r>
              <a:t>      "0": "Прежняя оценка 5; не равнозначна отсутствию обоих полюсов",</a:t>
            </a:r>
          </a:p>
          <a:p xmlns:a="http://schemas.openxmlformats.org/drawingml/2006/main">
            <a:r>
              <a:t>      "5": "Прежняя оценка 10",</a:t>
            </a:r>
          </a:p>
          <a:p xmlns:a="http://schemas.openxmlformats.org/drawingml/2006/main">
            <a:r>
              <a:t>      "-5": "Прежняя оценка 0"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"scale-016",</a:t>
            </a:r>
          </a:p>
          <a:p xmlns:a="http://schemas.openxmlformats.org/drawingml/2006/main">
            <a:r>
              <a:t>    "name": "правоцентристская",</a:t>
            </a:r>
          </a:p>
          <a:p xmlns:a="http://schemas.openxmlformats.org/drawingml/2006/main">
            <a:r>
              <a:t>    "positive": "правоцентристская",</a:t>
            </a:r>
          </a:p>
          <a:p xmlns:a="http://schemas.openxmlformats.org/drawingml/2006/main">
            <a:r>
              <a:t>    "negative": "Слабая выраженность: правоцентристская",</a:t>
            </a:r>
          </a:p>
          <a:p xmlns:a="http://schemas.openxmlformats.org/drawingml/2006/main">
            <a:r>
              <a:t>    "definition": "Учебный перенос старой шкалы 0..10 через x−5; не заново оценённая пара антонимов",</a:t>
            </a:r>
          </a:p>
          <a:p xmlns:a="http://schemas.openxmlformats.org/drawingml/2006/main">
            <a:r>
              <a:t>    "aliases": [],</a:t>
            </a:r>
          </a:p>
          <a:p xmlns:a="http://schemas.openxmlformats.org/drawingml/2006/main">
            <a:r>
              <a:t>    "legacy_source_trait": "правоцентристская",</a:t>
            </a:r>
          </a:p>
          <a:p xmlns:a="http://schemas.openxmlformats.org/drawingml/2006/main">
            <a:r>
              <a:t>    "anchors": {</a:t>
            </a:r>
          </a:p>
          <a:p xmlns:a="http://schemas.openxmlformats.org/drawingml/2006/main">
            <a:r>
              <a:t>      "0": "Прежняя оценка 5; не равнозначна отсутствию обоих полюсов",</a:t>
            </a:r>
          </a:p>
          <a:p xmlns:a="http://schemas.openxmlformats.org/drawingml/2006/main">
            <a:r>
              <a:t>      "5": "Прежняя оценка 10",</a:t>
            </a:r>
          </a:p>
          <a:p xmlns:a="http://schemas.openxmlformats.org/drawingml/2006/main">
            <a:r>
              <a:t>      "-5": "Прежняя оценка 0"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"scale-017",</a:t>
            </a:r>
          </a:p>
          <a:p xmlns:a="http://schemas.openxmlformats.org/drawingml/2006/main">
            <a:r>
              <a:t>    "name": "либерально-консервативная",</a:t>
            </a:r>
          </a:p>
          <a:p xmlns:a="http://schemas.openxmlformats.org/drawingml/2006/main">
            <a:r>
              <a:t>    "positive": "либерально-консервативная",</a:t>
            </a:r>
          </a:p>
          <a:p xmlns:a="http://schemas.openxmlformats.org/drawingml/2006/main">
            <a:r>
              <a:t>    "negative": "Слабая выраженность: либерально-консервативная",</a:t>
            </a:r>
          </a:p>
          <a:p xmlns:a="http://schemas.openxmlformats.org/drawingml/2006/main">
            <a:r>
              <a:t>    "definition": "Учебный перенос старой шкалы 0..10 через x−5; не заново оценённая пара антонимов",</a:t>
            </a:r>
          </a:p>
          <a:p xmlns:a="http://schemas.openxmlformats.org/drawingml/2006/main">
            <a:r>
              <a:t>    "aliases": [],</a:t>
            </a:r>
          </a:p>
          <a:p xmlns:a="http://schemas.openxmlformats.org/drawingml/2006/main">
            <a:r>
              <a:t>    "legacy_source_trait": "либерально-консервативная",</a:t>
            </a:r>
          </a:p>
          <a:p xmlns:a="http://schemas.openxmlformats.org/drawingml/2006/main">
            <a:r>
              <a:t>    "anchors": {</a:t>
            </a:r>
          </a:p>
          <a:p xmlns:a="http://schemas.openxmlformats.org/drawingml/2006/main">
            <a:r>
              <a:t>      "0": "Прежняя оценка 5; не равнозначна отсутствию обоих полюсов",</a:t>
            </a:r>
          </a:p>
          <a:p xmlns:a="http://schemas.openxmlformats.org/drawingml/2006/main">
            <a:r>
              <a:t>      "5": "Прежняя оценка 10",</a:t>
            </a:r>
          </a:p>
          <a:p xmlns:a="http://schemas.openxmlformats.org/drawingml/2006/main">
            <a:r>
              <a:t>      "-5": "Прежняя оценка 0"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"scale-018",</a:t>
            </a:r>
          </a:p>
          <a:p xmlns:a="http://schemas.openxmlformats.org/drawingml/2006/main">
            <a:r>
              <a:t>    "name": "экономический либерализм",</a:t>
            </a:r>
          </a:p>
          <a:p xmlns:a="http://schemas.openxmlformats.org/drawingml/2006/main">
            <a:r>
              <a:t>    "positive": "экономический либерализм",</a:t>
            </a:r>
          </a:p>
          <a:p xmlns:a="http://schemas.openxmlformats.org/drawingml/2006/main">
            <a:r>
              <a:t>    "negative": "Слабая выраженность: экономический либерализм",</a:t>
            </a:r>
          </a:p>
          <a:p xmlns:a="http://schemas.openxmlformats.org/drawingml/2006/main">
            <a:r>
              <a:t>    "definition": "Учебный перенос старой шкалы 0..10 через x−5; не заново оценённая пара антонимов",</a:t>
            </a:r>
          </a:p>
          <a:p xmlns:a="http://schemas.openxmlformats.org/drawingml/2006/main">
            <a:r>
              <a:t>    "aliases": [],</a:t>
            </a:r>
          </a:p>
          <a:p xmlns:a="http://schemas.openxmlformats.org/drawingml/2006/main">
            <a:r>
              <a:t>    "legacy_source_trait": "экономический либерализм",</a:t>
            </a:r>
          </a:p>
          <a:p xmlns:a="http://schemas.openxmlformats.org/drawingml/2006/main">
            <a:r>
              <a:t>    "anchors": {</a:t>
            </a:r>
          </a:p>
          <a:p xmlns:a="http://schemas.openxmlformats.org/drawingml/2006/main">
            <a:r>
              <a:t>      "0": "Прежняя оценка 5; не равнозначна отсутствию обоих полюсов",</a:t>
            </a:r>
          </a:p>
          <a:p xmlns:a="http://schemas.openxmlformats.org/drawingml/2006/main">
            <a:r>
              <a:t>      "5": "Прежняя оценка 10",</a:t>
            </a:r>
          </a:p>
          <a:p xmlns:a="http://schemas.openxmlformats.org/drawingml/2006/main">
            <a:r>
              <a:t>      "-5": "Прежняя оценка 0"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"scale-019",</a:t>
            </a:r>
          </a:p>
          <a:p xmlns:a="http://schemas.openxmlformats.org/drawingml/2006/main">
            <a:r>
              <a:t>    "name": "поддержка свободного рынка",</a:t>
            </a:r>
          </a:p>
          <a:p xmlns:a="http://schemas.openxmlformats.org/drawingml/2006/main">
            <a:r>
              <a:t>    "positive": "поддержка свободного рынка",</a:t>
            </a:r>
          </a:p>
          <a:p xmlns:a="http://schemas.openxmlformats.org/drawingml/2006/main">
            <a:r>
              <a:t>    "negative": "Слабая выраженность: поддержка свободного рынка",</a:t>
            </a:r>
          </a:p>
          <a:p xmlns:a="http://schemas.openxmlformats.org/drawingml/2006/main">
            <a:r>
              <a:t>    "definition": "Учебный перенос старой шкалы 0..10 через x−5; не заново оценённая пара антонимов",</a:t>
            </a:r>
          </a:p>
          <a:p xmlns:a="http://schemas.openxmlformats.org/drawingml/2006/main">
            <a:r>
              <a:t>    "aliases": [],</a:t>
            </a:r>
          </a:p>
          <a:p xmlns:a="http://schemas.openxmlformats.org/drawingml/2006/main">
            <a:r>
              <a:t>    "legacy_source_trait": "поддержка свободного рынка",</a:t>
            </a:r>
          </a:p>
          <a:p xmlns:a="http://schemas.openxmlformats.org/drawingml/2006/main">
            <a:r>
              <a:t>    "anchors": {</a:t>
            </a:r>
          </a:p>
          <a:p xmlns:a="http://schemas.openxmlformats.org/drawingml/2006/main">
            <a:r>
              <a:t>      "0": "Прежняя оценка 5; не равнозначна отсутствию обоих полюсов",</a:t>
            </a:r>
          </a:p>
          <a:p xmlns:a="http://schemas.openxmlformats.org/drawingml/2006/main">
            <a:r>
              <a:t>      "5": "Прежняя оценка 10",</a:t>
            </a:r>
          </a:p>
          <a:p xmlns:a="http://schemas.openxmlformats.org/drawingml/2006/main">
            <a:r>
              <a:t>      "-5": "Прежняя оценка 0"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"scale-020",</a:t>
            </a:r>
          </a:p>
          <a:p xmlns:a="http://schemas.openxmlformats.org/drawingml/2006/main">
            <a:r>
              <a:t>    "name": "снижение налогов",</a:t>
            </a:r>
          </a:p>
          <a:p xmlns:a="http://schemas.openxmlformats.org/drawingml/2006/main">
            <a:r>
              <a:t>    "positive": "снижение налогов",</a:t>
            </a:r>
          </a:p>
          <a:p xmlns:a="http://schemas.openxmlformats.org/drawingml/2006/main">
            <a:r>
              <a:t>    "negative": "Слабая выраженность: снижение налогов",</a:t>
            </a:r>
          </a:p>
          <a:p xmlns:a="http://schemas.openxmlformats.org/drawingml/2006/main">
            <a:r>
              <a:t>    "definition": "Учебный перенос старой шкалы 0..10 через x−5; не заново оценённая пара антонимов",</a:t>
            </a:r>
          </a:p>
          <a:p xmlns:a="http://schemas.openxmlformats.org/drawingml/2006/main">
            <a:r>
              <a:t>    "aliases": [],</a:t>
            </a:r>
          </a:p>
          <a:p xmlns:a="http://schemas.openxmlformats.org/drawingml/2006/main">
            <a:r>
              <a:t>    "legacy_source_trait": "снижение налогов",</a:t>
            </a:r>
          </a:p>
          <a:p xmlns:a="http://schemas.openxmlformats.org/drawingml/2006/main">
            <a:r>
              <a:t>    "anchors": {</a:t>
            </a:r>
          </a:p>
          <a:p xmlns:a="http://schemas.openxmlformats.org/drawingml/2006/main">
            <a:r>
              <a:t>      "0": "Прежняя оценка 5; не равнозначна отсутствию обоих полюсов",</a:t>
            </a:r>
          </a:p>
          <a:p xmlns:a="http://schemas.openxmlformats.org/drawingml/2006/main">
            <a:r>
              <a:t>      "5": "Прежняя оценка 10",</a:t>
            </a:r>
          </a:p>
          <a:p xmlns:a="http://schemas.openxmlformats.org/drawingml/2006/main">
            <a:r>
              <a:t>      "-5": "Прежняя оценка 0"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"scale-021",</a:t>
            </a:r>
          </a:p>
          <a:p xmlns:a="http://schemas.openxmlformats.org/drawingml/2006/main">
            <a:r>
              <a:t>    "name": "жёсткая политика в сфере правопорядка",</a:t>
            </a:r>
          </a:p>
          <a:p xmlns:a="http://schemas.openxmlformats.org/drawingml/2006/main">
            <a:r>
              <a:t>    "positive": "жёсткая политика в сфере правопорядка",</a:t>
            </a:r>
          </a:p>
          <a:p xmlns:a="http://schemas.openxmlformats.org/drawingml/2006/main">
            <a:r>
              <a:t>    "negative": "Слабая выраженность: жёсткая политика в сфере правопорядка",</a:t>
            </a:r>
          </a:p>
          <a:p xmlns:a="http://schemas.openxmlformats.org/drawingml/2006/main">
            <a:r>
              <a:t>    "definition": "Учебный перенос старой шкалы 0..10 через x−5; не заново оценённая пара антонимов",</a:t>
            </a:r>
          </a:p>
          <a:p xmlns:a="http://schemas.openxmlformats.org/drawingml/2006/main">
            <a:r>
              <a:t>    "aliases": [],</a:t>
            </a:r>
          </a:p>
          <a:p xmlns:a="http://schemas.openxmlformats.org/drawingml/2006/main">
            <a:r>
              <a:t>    "legacy_source_trait": "жёсткая политика в сфере правопорядка",</a:t>
            </a:r>
          </a:p>
          <a:p xmlns:a="http://schemas.openxmlformats.org/drawingml/2006/main">
            <a:r>
              <a:t>    "anchors": {</a:t>
            </a:r>
          </a:p>
          <a:p xmlns:a="http://schemas.openxmlformats.org/drawingml/2006/main">
            <a:r>
              <a:t>      "0": "Прежняя оценка 5; не равнозначна отсутствию обоих полюсов",</a:t>
            </a:r>
          </a:p>
          <a:p xmlns:a="http://schemas.openxmlformats.org/drawingml/2006/main">
            <a:r>
              <a:t>      "5": "Прежняя оценка 10",</a:t>
            </a:r>
          </a:p>
          <a:p xmlns:a="http://schemas.openxmlformats.org/drawingml/2006/main">
            <a:r>
              <a:t>      "-5": "Прежняя оценка 0"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"scale-022",</a:t>
            </a:r>
          </a:p>
          <a:p xmlns:a="http://schemas.openxmlformats.org/drawingml/2006/main">
            <a:r>
              <a:t>    "name": "проевропейская",</a:t>
            </a:r>
          </a:p>
          <a:p xmlns:a="http://schemas.openxmlformats.org/drawingml/2006/main">
            <a:r>
              <a:t>    "positive": "проевропейская",</a:t>
            </a:r>
          </a:p>
          <a:p xmlns:a="http://schemas.openxmlformats.org/drawingml/2006/main">
            <a:r>
              <a:t>    "negative": "Слабая выраженность: проевропейская",</a:t>
            </a:r>
          </a:p>
          <a:p xmlns:a="http://schemas.openxmlformats.org/drawingml/2006/main">
            <a:r>
              <a:t>    "definition": "Учебный перенос старой шкалы 0..10 через x−5; не заново оценённая пара антонимов",</a:t>
            </a:r>
          </a:p>
          <a:p xmlns:a="http://schemas.openxmlformats.org/drawingml/2006/main">
            <a:r>
              <a:t>    "aliases": [],</a:t>
            </a:r>
          </a:p>
          <a:p xmlns:a="http://schemas.openxmlformats.org/drawingml/2006/main">
            <a:r>
              <a:t>    "legacy_source_trait": "проевропейская",</a:t>
            </a:r>
          </a:p>
          <a:p xmlns:a="http://schemas.openxmlformats.org/drawingml/2006/main">
            <a:r>
              <a:t>    "anchors": {</a:t>
            </a:r>
          </a:p>
          <a:p xmlns:a="http://schemas.openxmlformats.org/drawingml/2006/main">
            <a:r>
              <a:t>      "0": "Прежняя оценка 5; не равнозначна отсутствию обоих полюсов",</a:t>
            </a:r>
          </a:p>
          <a:p xmlns:a="http://schemas.openxmlformats.org/drawingml/2006/main">
            <a:r>
              <a:t>      "5": "Прежняя оценка 10",</a:t>
            </a:r>
          </a:p>
          <a:p xmlns:a="http://schemas.openxmlformats.org/drawingml/2006/main">
            <a:r>
              <a:t>      "-5": "Прежняя оценка 0"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"scale-023",</a:t>
            </a:r>
          </a:p>
          <a:p xmlns:a="http://schemas.openxmlformats.org/drawingml/2006/main">
            <a:r>
              <a:t>    "name": "ориентация на бизнес",</a:t>
            </a:r>
          </a:p>
          <a:p xmlns:a="http://schemas.openxmlformats.org/drawingml/2006/main">
            <a:r>
              <a:t>    "positive": "ориентация на бизнес",</a:t>
            </a:r>
          </a:p>
          <a:p xmlns:a="http://schemas.openxmlformats.org/drawingml/2006/main">
            <a:r>
              <a:t>    "negative": "Слабая выраженность: ориентация на бизнес",</a:t>
            </a:r>
          </a:p>
          <a:p xmlns:a="http://schemas.openxmlformats.org/drawingml/2006/main">
            <a:r>
              <a:t>    "definition": "Учебный перенос старой шкалы 0..10 через x−5; не заново оценённая пара антонимов",</a:t>
            </a:r>
          </a:p>
          <a:p xmlns:a="http://schemas.openxmlformats.org/drawingml/2006/main">
            <a:r>
              <a:t>    "aliases": [],</a:t>
            </a:r>
          </a:p>
          <a:p xmlns:a="http://schemas.openxmlformats.org/drawingml/2006/main">
            <a:r>
              <a:t>    "legacy_source_trait": "ориентация на бизнес",</a:t>
            </a:r>
          </a:p>
          <a:p xmlns:a="http://schemas.openxmlformats.org/drawingml/2006/main">
            <a:r>
              <a:t>    "anchors": {</a:t>
            </a:r>
          </a:p>
          <a:p xmlns:a="http://schemas.openxmlformats.org/drawingml/2006/main">
            <a:r>
              <a:t>      "0": "Прежняя оценка 5; не равнозначна отсутствию обоих полюсов",</a:t>
            </a:r>
          </a:p>
          <a:p xmlns:a="http://schemas.openxmlformats.org/drawingml/2006/main">
            <a:r>
              <a:t>      "5": "Прежняя оценка 10",</a:t>
            </a:r>
          </a:p>
          <a:p xmlns:a="http://schemas.openxmlformats.org/drawingml/2006/main">
            <a:r>
              <a:t>      "-5": "Прежняя оценка 0"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"scale-024",</a:t>
            </a:r>
          </a:p>
          <a:p xmlns:a="http://schemas.openxmlformats.org/drawingml/2006/main">
            <a:r>
              <a:t>    "name": "рациональный прагматизм",</a:t>
            </a:r>
          </a:p>
          <a:p xmlns:a="http://schemas.openxmlformats.org/drawingml/2006/main">
            <a:r>
              <a:t>    "positive": "рациональный прагматизм",</a:t>
            </a:r>
          </a:p>
          <a:p xmlns:a="http://schemas.openxmlformats.org/drawingml/2006/main">
            <a:r>
              <a:t>    "negative": "Слабая выраженность: рациональный прагматизм",</a:t>
            </a:r>
          </a:p>
          <a:p xmlns:a="http://schemas.openxmlformats.org/drawingml/2006/main">
            <a:r>
              <a:t>    "definition": "Учебный перенос старой шкалы 0..10 через x−5; не заново оценённая пара антонимов",</a:t>
            </a:r>
          </a:p>
          <a:p xmlns:a="http://schemas.openxmlformats.org/drawingml/2006/main">
            <a:r>
              <a:t>    "aliases": [],</a:t>
            </a:r>
          </a:p>
          <a:p xmlns:a="http://schemas.openxmlformats.org/drawingml/2006/main">
            <a:r>
              <a:t>    "legacy_source_trait": "рациональный прагматизм",</a:t>
            </a:r>
          </a:p>
          <a:p xmlns:a="http://schemas.openxmlformats.org/drawingml/2006/main">
            <a:r>
              <a:t>    "anchors": {</a:t>
            </a:r>
          </a:p>
          <a:p xmlns:a="http://schemas.openxmlformats.org/drawingml/2006/main">
            <a:r>
              <a:t>      "0": "Прежняя оценка 5; не равнозначна отсутствию обоих полюсов",</a:t>
            </a:r>
          </a:p>
          <a:p xmlns:a="http://schemas.openxmlformats.org/drawingml/2006/main">
            <a:r>
              <a:t>      "5": "Прежняя оценка 10",</a:t>
            </a:r>
          </a:p>
          <a:p xmlns:a="http://schemas.openxmlformats.org/drawingml/2006/main">
            <a:r>
              <a:t>      "-5": "Прежняя оценка 0"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"scale-025",</a:t>
            </a:r>
          </a:p>
          <a:p xmlns:a="http://schemas.openxmlformats.org/drawingml/2006/main">
            <a:r>
              <a:t>    "name": "реформаторская",</a:t>
            </a:r>
          </a:p>
          <a:p xmlns:a="http://schemas.openxmlformats.org/drawingml/2006/main">
            <a:r>
              <a:t>    "positive": "реформаторская",</a:t>
            </a:r>
          </a:p>
          <a:p xmlns:a="http://schemas.openxmlformats.org/drawingml/2006/main">
            <a:r>
              <a:t>    "negative": "Слабая выраженность: реформаторская",</a:t>
            </a:r>
          </a:p>
          <a:p xmlns:a="http://schemas.openxmlformats.org/drawingml/2006/main">
            <a:r>
              <a:t>    "definition": "Учебный перенос старой шкалы 0..10 через x−5; не заново оценённая пара антонимов",</a:t>
            </a:r>
          </a:p>
          <a:p xmlns:a="http://schemas.openxmlformats.org/drawingml/2006/main">
            <a:r>
              <a:t>    "aliases": [],</a:t>
            </a:r>
          </a:p>
          <a:p xmlns:a="http://schemas.openxmlformats.org/drawingml/2006/main">
            <a:r>
              <a:t>    "legacy_source_trait": "реформаторская",</a:t>
            </a:r>
          </a:p>
          <a:p xmlns:a="http://schemas.openxmlformats.org/drawingml/2006/main">
            <a:r>
              <a:t>    "anchors": {</a:t>
            </a:r>
          </a:p>
          <a:p xmlns:a="http://schemas.openxmlformats.org/drawingml/2006/main">
            <a:r>
              <a:t>      "0": "Прежняя оценка 5; не равнозначна отсутствию обоих полюсов",</a:t>
            </a:r>
          </a:p>
          <a:p xmlns:a="http://schemas.openxmlformats.org/drawingml/2006/main">
            <a:r>
              <a:t>      "5": "Прежняя оценка 10",</a:t>
            </a:r>
          </a:p>
          <a:p xmlns:a="http://schemas.openxmlformats.org/drawingml/2006/main">
            <a:r>
              <a:t>      "-5": "Прежняя оценка 0"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"scale-026",</a:t>
            </a:r>
          </a:p>
          <a:p xmlns:a="http://schemas.openxmlformats.org/drawingml/2006/main">
            <a:r>
              <a:t>    "name": "ориентация на средний класс",</a:t>
            </a:r>
          </a:p>
          <a:p xmlns:a="http://schemas.openxmlformats.org/drawingml/2006/main">
            <a:r>
              <a:t>    "positive": "ориентация на средний класс",</a:t>
            </a:r>
          </a:p>
          <a:p xmlns:a="http://schemas.openxmlformats.org/drawingml/2006/main">
            <a:r>
              <a:t>    "negative": "Слабая выраженность: ориентация на средний класс",</a:t>
            </a:r>
          </a:p>
          <a:p xmlns:a="http://schemas.openxmlformats.org/drawingml/2006/main">
            <a:r>
              <a:t>    "definition": "Учебный перенос старой шкалы 0..10 через x−5; не заново оценённая пара антонимов",</a:t>
            </a:r>
          </a:p>
          <a:p xmlns:a="http://schemas.openxmlformats.org/drawingml/2006/main">
            <a:r>
              <a:t>    "aliases": [],</a:t>
            </a:r>
          </a:p>
          <a:p xmlns:a="http://schemas.openxmlformats.org/drawingml/2006/main">
            <a:r>
              <a:t>    "legacy_source_trait": "ориентация на средний класс",</a:t>
            </a:r>
          </a:p>
          <a:p xmlns:a="http://schemas.openxmlformats.org/drawingml/2006/main">
            <a:r>
              <a:t>    "anchors": {</a:t>
            </a:r>
          </a:p>
          <a:p xmlns:a="http://schemas.openxmlformats.org/drawingml/2006/main">
            <a:r>
              <a:t>      "0": "Прежняя оценка 5; не равнозначна отсутствию обоих полюсов",</a:t>
            </a:r>
          </a:p>
          <a:p xmlns:a="http://schemas.openxmlformats.org/drawingml/2006/main">
            <a:r>
              <a:t>      "5": "Прежняя оценка 10",</a:t>
            </a:r>
          </a:p>
          <a:p xmlns:a="http://schemas.openxmlformats.org/drawingml/2006/main">
            <a:r>
              <a:t>      "-5": "Прежняя оценка 0"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"scale-027",</a:t>
            </a:r>
          </a:p>
          <a:p xmlns:a="http://schemas.openxmlformats.org/drawingml/2006/main">
            <a:r>
              <a:t>    "name": "поддержка частного сектора",</a:t>
            </a:r>
          </a:p>
          <a:p xmlns:a="http://schemas.openxmlformats.org/drawingml/2006/main">
            <a:r>
              <a:t>    "positive": "поддержка частного сектора",</a:t>
            </a:r>
          </a:p>
          <a:p xmlns:a="http://schemas.openxmlformats.org/drawingml/2006/main">
            <a:r>
              <a:t>    "negative": "Слабая выраженность: поддержка частного сектора",</a:t>
            </a:r>
          </a:p>
          <a:p xmlns:a="http://schemas.openxmlformats.org/drawingml/2006/main">
            <a:r>
              <a:t>    "definition": "Учебный перенос старой шкалы 0..10 через x−5; не заново оценённая пара антонимов",</a:t>
            </a:r>
          </a:p>
          <a:p xmlns:a="http://schemas.openxmlformats.org/drawingml/2006/main">
            <a:r>
              <a:t>    "aliases": [],</a:t>
            </a:r>
          </a:p>
          <a:p xmlns:a="http://schemas.openxmlformats.org/drawingml/2006/main">
            <a:r>
              <a:t>    "legacy_source_trait": "поддержка частного сектора",</a:t>
            </a:r>
          </a:p>
          <a:p xmlns:a="http://schemas.openxmlformats.org/drawingml/2006/main">
            <a:r>
              <a:t>    "anchors": {</a:t>
            </a:r>
          </a:p>
          <a:p xmlns:a="http://schemas.openxmlformats.org/drawingml/2006/main">
            <a:r>
              <a:t>      "0": "Прежняя оценка 5; не равнозначна отсутствию обоих полюсов",</a:t>
            </a:r>
          </a:p>
          <a:p xmlns:a="http://schemas.openxmlformats.org/drawingml/2006/main">
            <a:r>
              <a:t>      "5": "Прежняя оценка 10",</a:t>
            </a:r>
          </a:p>
          <a:p xmlns:a="http://schemas.openxmlformats.org/drawingml/2006/main">
            <a:r>
              <a:t>      "-5": "Прежняя оценка 0"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"scale-028",</a:t>
            </a:r>
          </a:p>
          <a:p xmlns:a="http://schemas.openxmlformats.org/drawingml/2006/main">
            <a:r>
              <a:t>    "name": "скептицизм к расширению социальной политики",</a:t>
            </a:r>
          </a:p>
          <a:p xmlns:a="http://schemas.openxmlformats.org/drawingml/2006/main">
            <a:r>
              <a:t>    "positive": "скептицизм к расширению социальной политики",</a:t>
            </a:r>
          </a:p>
          <a:p xmlns:a="http://schemas.openxmlformats.org/drawingml/2006/main">
            <a:r>
              <a:t>    "negative": "Слабая выраженность: скептицизм к расширению социальной политики",</a:t>
            </a:r>
          </a:p>
          <a:p xmlns:a="http://schemas.openxmlformats.org/drawingml/2006/main">
            <a:r>
              <a:t>    "definition": "Учебный перенос старой шкалы 0..10 через x−5; не заново оценённая пара антонимов",</a:t>
            </a:r>
          </a:p>
          <a:p xmlns:a="http://schemas.openxmlformats.org/drawingml/2006/main">
            <a:r>
              <a:t>    "aliases": [],</a:t>
            </a:r>
          </a:p>
          <a:p xmlns:a="http://schemas.openxmlformats.org/drawingml/2006/main">
            <a:r>
              <a:t>    "legacy_source_trait": "скептицизм к расширению социальной политики",</a:t>
            </a:r>
          </a:p>
          <a:p xmlns:a="http://schemas.openxmlformats.org/drawingml/2006/main">
            <a:r>
              <a:t>    "anchors": {</a:t>
            </a:r>
          </a:p>
          <a:p xmlns:a="http://schemas.openxmlformats.org/drawingml/2006/main">
            <a:r>
              <a:t>      "0": "Прежняя оценка 5; не равнозначна отсутствию обоих полюсов",</a:t>
            </a:r>
          </a:p>
          <a:p xmlns:a="http://schemas.openxmlformats.org/drawingml/2006/main">
            <a:r>
              <a:t>      "5": "Прежняя оценка 10",</a:t>
            </a:r>
          </a:p>
          <a:p xmlns:a="http://schemas.openxmlformats.org/drawingml/2006/main">
            <a:r>
              <a:t>      "-5": "Прежняя оценка 0"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"scale-029",</a:t>
            </a:r>
          </a:p>
          <a:p xmlns:a="http://schemas.openxmlformats.org/drawingml/2006/main">
            <a:r>
              <a:t>    "name": "традиционные семейные ценности",</a:t>
            </a:r>
          </a:p>
          <a:p xmlns:a="http://schemas.openxmlformats.org/drawingml/2006/main">
            <a:r>
              <a:t>    "positive": "традиционные семейные ценности",</a:t>
            </a:r>
          </a:p>
          <a:p xmlns:a="http://schemas.openxmlformats.org/drawingml/2006/main">
            <a:r>
              <a:t>    "negative": "Слабая выраженность: традиционные семейные ценности",</a:t>
            </a:r>
          </a:p>
          <a:p xmlns:a="http://schemas.openxmlformats.org/drawingml/2006/main">
            <a:r>
              <a:t>    "definition": "Учебный перенос старой шкалы 0..10 через x−5; не заново оценённая пара антонимов",</a:t>
            </a:r>
          </a:p>
          <a:p xmlns:a="http://schemas.openxmlformats.org/drawingml/2006/main">
            <a:r>
              <a:t>    "aliases": [],</a:t>
            </a:r>
          </a:p>
          <a:p xmlns:a="http://schemas.openxmlformats.org/drawingml/2006/main">
            <a:r>
              <a:t>    "legacy_source_trait": "традиционные семейные ценности",</a:t>
            </a:r>
          </a:p>
          <a:p xmlns:a="http://schemas.openxmlformats.org/drawingml/2006/main">
            <a:r>
              <a:t>    "anchors": {</a:t>
            </a:r>
          </a:p>
          <a:p xmlns:a="http://schemas.openxmlformats.org/drawingml/2006/main">
            <a:r>
              <a:t>      "0": "Прежняя оценка 5; не равнозначна отсутствию обоих полюсов",</a:t>
            </a:r>
          </a:p>
          <a:p xmlns:a="http://schemas.openxmlformats.org/drawingml/2006/main">
            <a:r>
              <a:t>      "5": "Прежняя оценка 10",</a:t>
            </a:r>
          </a:p>
          <a:p xmlns:a="http://schemas.openxmlformats.org/drawingml/2006/main">
            <a:r>
              <a:t>      "-5": "Прежняя оценка 0"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"scale-030",</a:t>
            </a:r>
          </a:p>
          <a:p xmlns:a="http://schemas.openxmlformats.org/drawingml/2006/main">
            <a:r>
              <a:t>    "name": "ориентация на городское население",</a:t>
            </a:r>
          </a:p>
          <a:p xmlns:a="http://schemas.openxmlformats.org/drawingml/2006/main">
            <a:r>
              <a:t>    "positive": "ориентация на городское население",</a:t>
            </a:r>
          </a:p>
          <a:p xmlns:a="http://schemas.openxmlformats.org/drawingml/2006/main">
            <a:r>
              <a:t>    "negative": "Слабая выраженность: ориентация на городское население",</a:t>
            </a:r>
          </a:p>
          <a:p xmlns:a="http://schemas.openxmlformats.org/drawingml/2006/main">
            <a:r>
              <a:t>    "definition": "Учебный перенос старой шкалы 0..10 через x−5; не заново оценённая пара антонимов",</a:t>
            </a:r>
          </a:p>
          <a:p xmlns:a="http://schemas.openxmlformats.org/drawingml/2006/main">
            <a:r>
              <a:t>    "aliases": [],</a:t>
            </a:r>
          </a:p>
          <a:p xmlns:a="http://schemas.openxmlformats.org/drawingml/2006/main">
            <a:r>
              <a:t>    "legacy_source_trait": "ориентация на городское население",</a:t>
            </a:r>
          </a:p>
          <a:p xmlns:a="http://schemas.openxmlformats.org/drawingml/2006/main">
            <a:r>
              <a:t>    "anchors": {</a:t>
            </a:r>
          </a:p>
          <a:p xmlns:a="http://schemas.openxmlformats.org/drawingml/2006/main">
            <a:r>
              <a:t>      "0": "Прежняя оценка 5; не равнозначна отсутствию обоих полюсов",</a:t>
            </a:r>
          </a:p>
          <a:p xmlns:a="http://schemas.openxmlformats.org/drawingml/2006/main">
            <a:r>
              <a:t>      "5": "Прежняя оценка 10",</a:t>
            </a:r>
          </a:p>
          <a:p xmlns:a="http://schemas.openxmlformats.org/drawingml/2006/main">
            <a:r>
              <a:t>      "-5": "Прежняя оценка 0"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"scale-031",</a:t>
            </a:r>
          </a:p>
          <a:p xmlns:a="http://schemas.openxmlformats.org/drawingml/2006/main">
            <a:r>
              <a:t>    "name": "националистическая",</a:t>
            </a:r>
          </a:p>
          <a:p xmlns:a="http://schemas.openxmlformats.org/drawingml/2006/main">
            <a:r>
              <a:t>    "positive": "националистическая",</a:t>
            </a:r>
          </a:p>
          <a:p xmlns:a="http://schemas.openxmlformats.org/drawingml/2006/main">
            <a:r>
              <a:t>    "negative": "Слабая выраженность: националистическая",</a:t>
            </a:r>
          </a:p>
          <a:p xmlns:a="http://schemas.openxmlformats.org/drawingml/2006/main">
            <a:r>
              <a:t>    "definition": "Учебный перенос старой шкалы 0..10 через x−5; не заново оценённая пара антонимов",</a:t>
            </a:r>
          </a:p>
          <a:p xmlns:a="http://schemas.openxmlformats.org/drawingml/2006/main">
            <a:r>
              <a:t>    "aliases": [],</a:t>
            </a:r>
          </a:p>
          <a:p xmlns:a="http://schemas.openxmlformats.org/drawingml/2006/main">
            <a:r>
              <a:t>    "legacy_source_trait": "националистическая",</a:t>
            </a:r>
          </a:p>
          <a:p xmlns:a="http://schemas.openxmlformats.org/drawingml/2006/main">
            <a:r>
              <a:t>    "anchors": {</a:t>
            </a:r>
          </a:p>
          <a:p xmlns:a="http://schemas.openxmlformats.org/drawingml/2006/main">
            <a:r>
              <a:t>      "0": "Прежняя оценка 5; не равнозначна отсутствию обоих полюсов",</a:t>
            </a:r>
          </a:p>
          <a:p xmlns:a="http://schemas.openxmlformats.org/drawingml/2006/main">
            <a:r>
              <a:t>      "5": "Прежняя оценка 10",</a:t>
            </a:r>
          </a:p>
          <a:p xmlns:a="http://schemas.openxmlformats.org/drawingml/2006/main">
            <a:r>
              <a:t>      "-5": "Прежняя оценка 0"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"scale-032",</a:t>
            </a:r>
          </a:p>
          <a:p xmlns:a="http://schemas.openxmlformats.org/drawingml/2006/main">
            <a:r>
              <a:t>    "name": "правопопулистская",</a:t>
            </a:r>
          </a:p>
          <a:p xmlns:a="http://schemas.openxmlformats.org/drawingml/2006/main">
            <a:r>
              <a:t>    "positive": "правопопулистская",</a:t>
            </a:r>
          </a:p>
          <a:p xmlns:a="http://schemas.openxmlformats.org/drawingml/2006/main">
            <a:r>
              <a:t>    "negative": "Слабая выраженность: правопопулистская",</a:t>
            </a:r>
          </a:p>
          <a:p xmlns:a="http://schemas.openxmlformats.org/drawingml/2006/main">
            <a:r>
              <a:t>    "definition": "Учебный перенос старой шкалы 0..10 через x−5; не заново оценённая пара антонимов",</a:t>
            </a:r>
          </a:p>
          <a:p xmlns:a="http://schemas.openxmlformats.org/drawingml/2006/main">
            <a:r>
              <a:t>    "aliases": [],</a:t>
            </a:r>
          </a:p>
          <a:p xmlns:a="http://schemas.openxmlformats.org/drawingml/2006/main">
            <a:r>
              <a:t>    "legacy_source_trait": "правопопулистская",</a:t>
            </a:r>
          </a:p>
          <a:p xmlns:a="http://schemas.openxmlformats.org/drawingml/2006/main">
            <a:r>
              <a:t>    "anchors": {</a:t>
            </a:r>
          </a:p>
          <a:p xmlns:a="http://schemas.openxmlformats.org/drawingml/2006/main">
            <a:r>
              <a:t>      "0": "Прежняя оценка 5; не равнозначна отсутствию обоих полюсов",</a:t>
            </a:r>
          </a:p>
          <a:p xmlns:a="http://schemas.openxmlformats.org/drawingml/2006/main">
            <a:r>
              <a:t>      "5": "Прежняя оценка 10",</a:t>
            </a:r>
          </a:p>
          <a:p xmlns:a="http://schemas.openxmlformats.org/drawingml/2006/main">
            <a:r>
              <a:t>      "-5": "Прежняя оценка 0"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"scale-033",</a:t>
            </a:r>
          </a:p>
          <a:p xmlns:a="http://schemas.openxmlformats.org/drawingml/2006/main">
            <a:r>
              <a:t>    "name": "антииммиграционная",</a:t>
            </a:r>
          </a:p>
          <a:p xmlns:a="http://schemas.openxmlformats.org/drawingml/2006/main">
            <a:r>
              <a:t>    "positive": "антииммиграционная",</a:t>
            </a:r>
          </a:p>
          <a:p xmlns:a="http://schemas.openxmlformats.org/drawingml/2006/main">
            <a:r>
              <a:t>    "negative": "Слабая выраженность: антииммиграционная",</a:t>
            </a:r>
          </a:p>
          <a:p xmlns:a="http://schemas.openxmlformats.org/drawingml/2006/main">
            <a:r>
              <a:t>    "definition": "Учебный перенос старой шкалы 0..10 через x−5; не заново оценённая пара антонимов",</a:t>
            </a:r>
          </a:p>
          <a:p xmlns:a="http://schemas.openxmlformats.org/drawingml/2006/main">
            <a:r>
              <a:t>    "aliases": [],</a:t>
            </a:r>
          </a:p>
          <a:p xmlns:a="http://schemas.openxmlformats.org/drawingml/2006/main">
            <a:r>
              <a:t>    "legacy_source_trait": "антииммиграционная",</a:t>
            </a:r>
          </a:p>
          <a:p xmlns:a="http://schemas.openxmlformats.org/drawingml/2006/main">
            <a:r>
              <a:t>    "anchors": {</a:t>
            </a:r>
          </a:p>
          <a:p xmlns:a="http://schemas.openxmlformats.org/drawingml/2006/main">
            <a:r>
              <a:t>      "0": "Прежняя оценка 5; не равнозначна отсутствию обоих полюсов",</a:t>
            </a:r>
          </a:p>
          <a:p xmlns:a="http://schemas.openxmlformats.org/drawingml/2006/main">
            <a:r>
              <a:t>      "5": "Прежняя оценка 10",</a:t>
            </a:r>
          </a:p>
          <a:p xmlns:a="http://schemas.openxmlformats.org/drawingml/2006/main">
            <a:r>
              <a:t>      "-5": "Прежняя оценка 0"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"scale-034",</a:t>
            </a:r>
          </a:p>
          <a:p xmlns:a="http://schemas.openxmlformats.org/drawingml/2006/main">
            <a:r>
              <a:t>    "name": "евроскептическая",</a:t>
            </a:r>
          </a:p>
          <a:p xmlns:a="http://schemas.openxmlformats.org/drawingml/2006/main">
            <a:r>
              <a:t>    "positive": "евроскептическая",</a:t>
            </a:r>
          </a:p>
          <a:p xmlns:a="http://schemas.openxmlformats.org/drawingml/2006/main">
            <a:r>
              <a:t>    "negative": "Слабая выраженность: евроскептическая",</a:t>
            </a:r>
          </a:p>
          <a:p xmlns:a="http://schemas.openxmlformats.org/drawingml/2006/main">
            <a:r>
              <a:t>    "definition": "Учебный перенос старой шкалы 0..10 через x−5; не заново оценённая пара антонимов",</a:t>
            </a:r>
          </a:p>
          <a:p xmlns:a="http://schemas.openxmlformats.org/drawingml/2006/main">
            <a:r>
              <a:t>    "aliases": [],</a:t>
            </a:r>
          </a:p>
          <a:p xmlns:a="http://schemas.openxmlformats.org/drawingml/2006/main">
            <a:r>
              <a:t>    "legacy_source_trait": "евроскептическая",</a:t>
            </a:r>
          </a:p>
          <a:p xmlns:a="http://schemas.openxmlformats.org/drawingml/2006/main">
            <a:r>
              <a:t>    "anchors": {</a:t>
            </a:r>
          </a:p>
          <a:p xmlns:a="http://schemas.openxmlformats.org/drawingml/2006/main">
            <a:r>
              <a:t>      "0": "Прежняя оценка 5; не равнозначна отсутствию обоих полюсов",</a:t>
            </a:r>
          </a:p>
          <a:p xmlns:a="http://schemas.openxmlformats.org/drawingml/2006/main">
            <a:r>
              <a:t>      "5": "Прежняя оценка 10",</a:t>
            </a:r>
          </a:p>
          <a:p xmlns:a="http://schemas.openxmlformats.org/drawingml/2006/main">
            <a:r>
              <a:t>      "-5": "Прежняя оценка 0"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"scale-035",</a:t>
            </a:r>
          </a:p>
          <a:p xmlns:a="http://schemas.openxmlformats.org/drawingml/2006/main">
            <a:r>
              <a:t>    "name": "консервативная",</a:t>
            </a:r>
          </a:p>
          <a:p xmlns:a="http://schemas.openxmlformats.org/drawingml/2006/main">
            <a:r>
              <a:t>    "positive": "консервативная",</a:t>
            </a:r>
          </a:p>
          <a:p xmlns:a="http://schemas.openxmlformats.org/drawingml/2006/main">
            <a:r>
              <a:t>    "negative": "Слабая выраженность: консервативная",</a:t>
            </a:r>
          </a:p>
          <a:p xmlns:a="http://schemas.openxmlformats.org/drawingml/2006/main">
            <a:r>
              <a:t>    "definition": "Учебный перенос старой шкалы 0..10 через x−5; не заново оценённая пара антонимов",</a:t>
            </a:r>
          </a:p>
          <a:p xmlns:a="http://schemas.openxmlformats.org/drawingml/2006/main">
            <a:r>
              <a:t>    "aliases": [],</a:t>
            </a:r>
          </a:p>
          <a:p xmlns:a="http://schemas.openxmlformats.org/drawingml/2006/main">
            <a:r>
              <a:t>    "legacy_source_trait": "консервативная",</a:t>
            </a:r>
          </a:p>
          <a:p xmlns:a="http://schemas.openxmlformats.org/drawingml/2006/main">
            <a:r>
              <a:t>    "anchors": {</a:t>
            </a:r>
          </a:p>
          <a:p xmlns:a="http://schemas.openxmlformats.org/drawingml/2006/main">
            <a:r>
              <a:t>      "0": "Прежняя оценка 5; не равнозначна отсутствию обоих полюсов",</a:t>
            </a:r>
          </a:p>
          <a:p xmlns:a="http://schemas.openxmlformats.org/drawingml/2006/main">
            <a:r>
              <a:t>      "5": "Прежняя оценка 10",</a:t>
            </a:r>
          </a:p>
          <a:p xmlns:a="http://schemas.openxmlformats.org/drawingml/2006/main">
            <a:r>
              <a:t>      "-5": "Прежняя оценка 0"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"scale-036",</a:t>
            </a:r>
          </a:p>
          <a:p xmlns:a="http://schemas.openxmlformats.org/drawingml/2006/main">
            <a:r>
              <a:t>    "name": "протестная",</a:t>
            </a:r>
          </a:p>
          <a:p xmlns:a="http://schemas.openxmlformats.org/drawingml/2006/main">
            <a:r>
              <a:t>    "positive": "протестная",</a:t>
            </a:r>
          </a:p>
          <a:p xmlns:a="http://schemas.openxmlformats.org/drawingml/2006/main">
            <a:r>
              <a:t>    "negative": "Слабая выраженность: протестная",</a:t>
            </a:r>
          </a:p>
          <a:p xmlns:a="http://schemas.openxmlformats.org/drawingml/2006/main">
            <a:r>
              <a:t>    "definition": "Учебный перенос старой шкалы 0..10 через x−5; не заново оценённая пара антонимов",</a:t>
            </a:r>
          </a:p>
          <a:p xmlns:a="http://schemas.openxmlformats.org/drawingml/2006/main">
            <a:r>
              <a:t>    "aliases": [],</a:t>
            </a:r>
          </a:p>
          <a:p xmlns:a="http://schemas.openxmlformats.org/drawingml/2006/main">
            <a:r>
              <a:t>    "legacy_source_trait": "протестная",</a:t>
            </a:r>
          </a:p>
          <a:p xmlns:a="http://schemas.openxmlformats.org/drawingml/2006/main">
            <a:r>
              <a:t>    "anchors": {</a:t>
            </a:r>
          </a:p>
          <a:p xmlns:a="http://schemas.openxmlformats.org/drawingml/2006/main">
            <a:r>
              <a:t>      "0": "Прежняя оценка 5; не равнозначна отсутствию обоих полюсов",</a:t>
            </a:r>
          </a:p>
          <a:p xmlns:a="http://schemas.openxmlformats.org/drawingml/2006/main">
            <a:r>
              <a:t>      "5": "Прежняя оценка 10",</a:t>
            </a:r>
          </a:p>
          <a:p xmlns:a="http://schemas.openxmlformats.org/drawingml/2006/main">
            <a:r>
              <a:t>      "-5": "Прежняя оценка 0"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"scale-037",</a:t>
            </a:r>
          </a:p>
          <a:p xmlns:a="http://schemas.openxmlformats.org/drawingml/2006/main">
            <a:r>
              <a:t>    "name": "критика мультикультурализма",</a:t>
            </a:r>
          </a:p>
          <a:p xmlns:a="http://schemas.openxmlformats.org/drawingml/2006/main">
            <a:r>
              <a:t>    "positive": "критика мультикультурализма",</a:t>
            </a:r>
          </a:p>
          <a:p xmlns:a="http://schemas.openxmlformats.org/drawingml/2006/main">
            <a:r>
              <a:t>    "negative": "Слабая выраженность: критика мультикультурализма",</a:t>
            </a:r>
          </a:p>
          <a:p xmlns:a="http://schemas.openxmlformats.org/drawingml/2006/main">
            <a:r>
              <a:t>    "definition": "Учебный перенос старой шкалы 0..10 через x−5; не заново оценённая пара антонимов",</a:t>
            </a:r>
          </a:p>
          <a:p xmlns:a="http://schemas.openxmlformats.org/drawingml/2006/main">
            <a:r>
              <a:t>    "aliases": [],</a:t>
            </a:r>
          </a:p>
          <a:p xmlns:a="http://schemas.openxmlformats.org/drawingml/2006/main">
            <a:r>
              <a:t>    "legacy_source_trait": "критика мультикультурализма",</a:t>
            </a:r>
          </a:p>
          <a:p xmlns:a="http://schemas.openxmlformats.org/drawingml/2006/main">
            <a:r>
              <a:t>    "anchors": {</a:t>
            </a:r>
          </a:p>
          <a:p xmlns:a="http://schemas.openxmlformats.org/drawingml/2006/main">
            <a:r>
              <a:t>      "0": "Прежняя оценка 5; не равнозначна отсутствию обоих полюсов",</a:t>
            </a:r>
          </a:p>
          <a:p xmlns:a="http://schemas.openxmlformats.org/drawingml/2006/main">
            <a:r>
              <a:t>      "5": "Прежняя оценка 10",</a:t>
            </a:r>
          </a:p>
          <a:p xmlns:a="http://schemas.openxmlformats.org/drawingml/2006/main">
            <a:r>
              <a:t>      "-5": "Прежняя оценка 0"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"scale-038",</a:t>
            </a:r>
          </a:p>
          <a:p xmlns:a="http://schemas.openxmlformats.org/drawingml/2006/main">
            <a:r>
              <a:t>    "name": "социально-консервативные ценности",</a:t>
            </a:r>
          </a:p>
          <a:p xmlns:a="http://schemas.openxmlformats.org/drawingml/2006/main">
            <a:r>
              <a:t>    "positive": "социально-консервативные ценности",</a:t>
            </a:r>
          </a:p>
          <a:p xmlns:a="http://schemas.openxmlformats.org/drawingml/2006/main">
            <a:r>
              <a:t>    "negative": "Слабая выраженность: социально-консервативные ценности",</a:t>
            </a:r>
          </a:p>
          <a:p xmlns:a="http://schemas.openxmlformats.org/drawingml/2006/main">
            <a:r>
              <a:t>    "definition": "Учебный перенос старой шкалы 0..10 через x−5; не заново оценённая пара антонимов",</a:t>
            </a:r>
          </a:p>
          <a:p xmlns:a="http://schemas.openxmlformats.org/drawingml/2006/main">
            <a:r>
              <a:t>    "aliases": [],</a:t>
            </a:r>
          </a:p>
          <a:p xmlns:a="http://schemas.openxmlformats.org/drawingml/2006/main">
            <a:r>
              <a:t>    "legacy_source_trait": "социально-консервативные ценности",</a:t>
            </a:r>
          </a:p>
          <a:p xmlns:a="http://schemas.openxmlformats.org/drawingml/2006/main">
            <a:r>
              <a:t>    "anchors": {</a:t>
            </a:r>
          </a:p>
          <a:p xmlns:a="http://schemas.openxmlformats.org/drawingml/2006/main">
            <a:r>
              <a:t>      "0": "Прежняя оценка 5; не равнозначна отсутствию обоих полюсов",</a:t>
            </a:r>
          </a:p>
          <a:p xmlns:a="http://schemas.openxmlformats.org/drawingml/2006/main">
            <a:r>
              <a:t>      "5": "Прежняя оценка 10",</a:t>
            </a:r>
          </a:p>
          <a:p xmlns:a="http://schemas.openxmlformats.org/drawingml/2006/main">
            <a:r>
              <a:t>      "-5": "Прежняя оценка 0"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"scale-039",</a:t>
            </a:r>
          </a:p>
          <a:p xmlns:a="http://schemas.openxmlformats.org/drawingml/2006/main">
            <a:r>
              <a:t>    "name": "защитники шведской идентичности",</a:t>
            </a:r>
          </a:p>
          <a:p xmlns:a="http://schemas.openxmlformats.org/drawingml/2006/main">
            <a:r>
              <a:t>    "positive": "защитники шведской идентичности",</a:t>
            </a:r>
          </a:p>
          <a:p xmlns:a="http://schemas.openxmlformats.org/drawingml/2006/main">
            <a:r>
              <a:t>    "negative": "Слабая выраженность: защитники шведской идентичности",</a:t>
            </a:r>
          </a:p>
          <a:p xmlns:a="http://schemas.openxmlformats.org/drawingml/2006/main">
            <a:r>
              <a:t>    "definition": "Учебный перенос старой шкалы 0..10 через x−5; не заново оценённая пара антонимов",</a:t>
            </a:r>
          </a:p>
          <a:p xmlns:a="http://schemas.openxmlformats.org/drawingml/2006/main">
            <a:r>
              <a:t>    "aliases": [],</a:t>
            </a:r>
          </a:p>
          <a:p xmlns:a="http://schemas.openxmlformats.org/drawingml/2006/main">
            <a:r>
              <a:t>    "legacy_source_trait": "защитники шведской идентичности",</a:t>
            </a:r>
          </a:p>
          <a:p xmlns:a="http://schemas.openxmlformats.org/drawingml/2006/main">
            <a:r>
              <a:t>    "anchors": {</a:t>
            </a:r>
          </a:p>
          <a:p xmlns:a="http://schemas.openxmlformats.org/drawingml/2006/main">
            <a:r>
              <a:t>      "0": "Прежняя оценка 5; не равнозначна отсутствию обоих полюсов",</a:t>
            </a:r>
          </a:p>
          <a:p xmlns:a="http://schemas.openxmlformats.org/drawingml/2006/main">
            <a:r>
              <a:t>      "5": "Прежняя оценка 10",</a:t>
            </a:r>
          </a:p>
          <a:p xmlns:a="http://schemas.openxmlformats.org/drawingml/2006/main">
            <a:r>
              <a:t>      "-5": "Прежняя оценка 0"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"scale-040",</a:t>
            </a:r>
          </a:p>
          <a:p xmlns:a="http://schemas.openxmlformats.org/drawingml/2006/main">
            <a:r>
              <a:t>    "name": "скептицизм к глобализации",</a:t>
            </a:r>
          </a:p>
          <a:p xmlns:a="http://schemas.openxmlformats.org/drawingml/2006/main">
            <a:r>
              <a:t>    "positive": "скептицизм к глобализации",</a:t>
            </a:r>
          </a:p>
          <a:p xmlns:a="http://schemas.openxmlformats.org/drawingml/2006/main">
            <a:r>
              <a:t>    "negative": "Слабая выраженность: скептицизм к глобализации",</a:t>
            </a:r>
          </a:p>
          <a:p xmlns:a="http://schemas.openxmlformats.org/drawingml/2006/main">
            <a:r>
              <a:t>    "definition": "Учебный перенос старой шкалы 0..10 через x−5; не заново оценённая пара антонимов",</a:t>
            </a:r>
          </a:p>
          <a:p xmlns:a="http://schemas.openxmlformats.org/drawingml/2006/main">
            <a:r>
              <a:t>    "aliases": [],</a:t>
            </a:r>
          </a:p>
          <a:p xmlns:a="http://schemas.openxmlformats.org/drawingml/2006/main">
            <a:r>
              <a:t>    "legacy_source_trait": "скептицизм к глобализации",</a:t>
            </a:r>
          </a:p>
          <a:p xmlns:a="http://schemas.openxmlformats.org/drawingml/2006/main">
            <a:r>
              <a:t>    "anchors": {</a:t>
            </a:r>
          </a:p>
          <a:p xmlns:a="http://schemas.openxmlformats.org/drawingml/2006/main">
            <a:r>
              <a:t>      "0": "Прежняя оценка 5; не равнозначна отсутствию обоих полюсов",</a:t>
            </a:r>
          </a:p>
          <a:p xmlns:a="http://schemas.openxmlformats.org/drawingml/2006/main">
            <a:r>
              <a:t>      "5": "Прежняя оценка 10",</a:t>
            </a:r>
          </a:p>
          <a:p xmlns:a="http://schemas.openxmlformats.org/drawingml/2006/main">
            <a:r>
              <a:t>      "-5": "Прежняя оценка 0"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Числа: metadata.json, scores.csv, loadings.csv и утверждённая матрица оценок.</a:t>
            </a:r>
          </a:p>
          <a:p xmlns:a="http://schemas.openxmlformats.org/drawingml/2006/main">
            <a:r>
              <a:t>Изучаемое пространство: Международное пространство политических партий из прежней выборки.</a:t>
            </a:r>
          </a:p>
          <a:p xmlns:a="http://schemas.openxmlformats.org/drawingml/2006/main">
            <a:r>
              <a:t>Оценщик: legacy_import_example.</a:t>
            </a:r>
          </a:p>
          <a:p xmlns:a="http://schemas.openxmlformats.org/drawingml/2006/main">
            <a:r>
              <a:t>Демонстрационный пример: ТЕХНИЧЕСКИЙ ПРИМЕР НА ПРЕЖНИХ ДАННЫХ. Это повторный анализ ранее сохранённых модельных оценок 95 партий по первым 40 признакам исходного словаря. Это не новое исследование и не результат исследования 70 российских политиков. Новые источники не собирались, LLM не вызывалась, старый словарь не проходил новую нормализацию. Оценка x по прежней шкале 0–10 перенесена как value = x − 5. Два полюса независимо не оценивались; их сумма и смешанность по этим данным не определяются. Ноль в примере означает прежнюю оценку 5, а не доказанную невыраженность обоих свойств. Отметки утверждения принадлежат импортированному примеру, а не пользователю..</a:t>
            </a:r>
          </a:p>
          <a:p xmlns:a="http://schemas.openxmlformats.org/drawingml/2006/main">
            <a:r>
              <a:t>Исходные URL: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Числа: metadata.json, scores.csv, loadings.csv и утверждённая матрица оценок.</a:t>
            </a:r>
          </a:p>
          <a:p xmlns:a="http://schemas.openxmlformats.org/drawingml/2006/main">
            <a:r>
              <a:t>Изучаемое пространство: Международное пространство политических партий из прежней выборки.</a:t>
            </a:r>
          </a:p>
          <a:p xmlns:a="http://schemas.openxmlformats.org/drawingml/2006/main">
            <a:r>
              <a:t>Оценщик: legacy_import_example.</a:t>
            </a:r>
          </a:p>
          <a:p xmlns:a="http://schemas.openxmlformats.org/drawingml/2006/main">
            <a:r>
              <a:t>Демонстрационный пример: ТЕХНИЧЕСКИЙ ПРИМЕР НА ПРЕЖНИХ ДАННЫХ. Это повторный анализ ранее сохранённых модельных оценок 95 партий по первым 40 признакам исходного словаря. Это не новое исследование и не результат исследования 70 российских политиков. Новые источники не собирались, LLM не вызывалась, старый словарь не проходил новую нормализацию. Оценка x по прежней шкале 0–10 перенесена как value = x − 5. Два полюса независимо не оценивались; их сумма и смешанность по этим данным не определяются. Ноль в примере означает прежнюю оценку 5, а не доказанную невыраженность обоих свойств. Отметки утверждения принадлежат импортированному примеру, а не пользователю..</a:t>
            </a:r>
          </a:p>
          <a:p xmlns:a="http://schemas.openxmlformats.org/drawingml/2006/main">
            <a:r>
              <a:t>Исходные URL: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F1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"F1",</a:t>
            </a:r>
          </a:p>
          <a:p xmlns:a="http://schemas.openxmlformats.org/drawingml/2006/main">
            <a:r>
              <a:t>  "name": "социально-консервативные ценности ↔ прогрессивная",</a:t>
            </a:r>
          </a:p>
          <a:p xmlns:a="http://schemas.openxmlformats.org/drawingml/2006/main">
            <a:r>
              <a:t>  "label": "социально-консервативные ценности ↔ прогрессивная",</a:t>
            </a:r>
          </a:p>
          <a:p xmlns:a="http://schemas.openxmlformats.org/drawingml/2006/main">
            <a:r>
              <a:t>  "positive_traits":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"scale-038",</a:t>
            </a:r>
          </a:p>
          <a:p xmlns:a="http://schemas.openxmlformats.org/drawingml/2006/main">
            <a:r>
              <a:t>      "name": "социально-консервативные ценности",</a:t>
            </a:r>
          </a:p>
          <a:p xmlns:a="http://schemas.openxmlformats.org/drawingml/2006/main">
            <a:r>
              <a:t>      "positive": "социально-консервативные ценности",</a:t>
            </a:r>
          </a:p>
          <a:p xmlns:a="http://schemas.openxmlformats.org/drawingml/2006/main">
            <a:r>
              <a:t>      "negative": "Слабая выраженность: социально-консервативные ценности",</a:t>
            </a:r>
          </a:p>
          <a:p xmlns:a="http://schemas.openxmlformats.org/drawingml/2006/main">
            <a:r>
              <a:t>      "loading": 0.9454421154049033,</a:t>
            </a:r>
          </a:p>
          <a:p xmlns:a="http://schemas.openxmlformats.org/drawingml/2006/main">
            <a:r>
              <a:t>      "high_factor_property": "социально-консервативные ценности",</a:t>
            </a:r>
          </a:p>
          <a:p xmlns:a="http://schemas.openxmlformats.org/drawingml/2006/main">
            <a:r>
              <a:t>      "low_factor_property": "Слабая выраженность: социально-консервативные ценности"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"scale-029",</a:t>
            </a:r>
          </a:p>
          <a:p xmlns:a="http://schemas.openxmlformats.org/drawingml/2006/main">
            <a:r>
              <a:t>      "name": "традиционные семейные ценности",</a:t>
            </a:r>
          </a:p>
          <a:p xmlns:a="http://schemas.openxmlformats.org/drawingml/2006/main">
            <a:r>
              <a:t>      "positive": "традиционные семейные ценности",</a:t>
            </a:r>
          </a:p>
          <a:p xmlns:a="http://schemas.openxmlformats.org/drawingml/2006/main">
            <a:r>
              <a:t>      "negative": "Слабая выраженность: традиционные семейные ценности",</a:t>
            </a:r>
          </a:p>
          <a:p xmlns:a="http://schemas.openxmlformats.org/drawingml/2006/main">
            <a:r>
              <a:t>      "loading": 0.9316788244313137,</a:t>
            </a:r>
          </a:p>
          <a:p xmlns:a="http://schemas.openxmlformats.org/drawingml/2006/main">
            <a:r>
              <a:t>      "high_factor_property": "традиционные семейные ценности",</a:t>
            </a:r>
          </a:p>
          <a:p xmlns:a="http://schemas.openxmlformats.org/drawingml/2006/main">
            <a:r>
              <a:t>      "low_factor_property": "Слабая выраженность: традиционные семейные ценности"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"scale-035",</a:t>
            </a:r>
          </a:p>
          <a:p xmlns:a="http://schemas.openxmlformats.org/drawingml/2006/main">
            <a:r>
              <a:t>      "name": "консервативная",</a:t>
            </a:r>
          </a:p>
          <a:p xmlns:a="http://schemas.openxmlformats.org/drawingml/2006/main">
            <a:r>
              <a:t>      "positive": "консервативная",</a:t>
            </a:r>
          </a:p>
          <a:p xmlns:a="http://schemas.openxmlformats.org/drawingml/2006/main">
            <a:r>
              <a:t>      "negative": "Слабая выраженность: консервативная",</a:t>
            </a:r>
          </a:p>
          <a:p xmlns:a="http://schemas.openxmlformats.org/drawingml/2006/main">
            <a:r>
              <a:t>      "loading": 0.8595802612299215,</a:t>
            </a:r>
          </a:p>
          <a:p xmlns:a="http://schemas.openxmlformats.org/drawingml/2006/main">
            <a:r>
              <a:t>      "high_factor_property": "консервативная",</a:t>
            </a:r>
          </a:p>
          <a:p xmlns:a="http://schemas.openxmlformats.org/drawingml/2006/main">
            <a:r>
              <a:t>      "low_factor_property": "Слабая выраженность: консервативная"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"scale-021",</a:t>
            </a:r>
          </a:p>
          <a:p xmlns:a="http://schemas.openxmlformats.org/drawingml/2006/main">
            <a:r>
              <a:t>      "name": "жёсткая политика в сфере правопорядка",</a:t>
            </a:r>
          </a:p>
          <a:p xmlns:a="http://schemas.openxmlformats.org/drawingml/2006/main">
            <a:r>
              <a:t>      "positive": "жёсткая политика в сфере правопорядка",</a:t>
            </a:r>
          </a:p>
          <a:p xmlns:a="http://schemas.openxmlformats.org/drawingml/2006/main">
            <a:r>
              <a:t>      "negative": "Слабая выраженность: жёсткая политика в сфере правопорядка",</a:t>
            </a:r>
          </a:p>
          <a:p xmlns:a="http://schemas.openxmlformats.org/drawingml/2006/main">
            <a:r>
              <a:t>      "loading": 0.8183216880852082,</a:t>
            </a:r>
          </a:p>
          <a:p xmlns:a="http://schemas.openxmlformats.org/drawingml/2006/main">
            <a:r>
              <a:t>      "high_factor_property": "жёсткая политика в сфере правопорядка",</a:t>
            </a:r>
          </a:p>
          <a:p xmlns:a="http://schemas.openxmlformats.org/drawingml/2006/main">
            <a:r>
              <a:t>      "low_factor_property": "Слабая выраженность: жёсткая политика в сфере правопорядка"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"scale-032",</a:t>
            </a:r>
          </a:p>
          <a:p xmlns:a="http://schemas.openxmlformats.org/drawingml/2006/main">
            <a:r>
              <a:t>      "name": "правопопулистская",</a:t>
            </a:r>
          </a:p>
          <a:p xmlns:a="http://schemas.openxmlformats.org/drawingml/2006/main">
            <a:r>
              <a:t>      "positive": "правопопулистская",</a:t>
            </a:r>
          </a:p>
          <a:p xmlns:a="http://schemas.openxmlformats.org/drawingml/2006/main">
            <a:r>
              <a:t>      "negative": "Слабая выраженность: правопопулистская",</a:t>
            </a:r>
          </a:p>
          <a:p xmlns:a="http://schemas.openxmlformats.org/drawingml/2006/main">
            <a:r>
              <a:t>      "loading": 0.799021018483644,</a:t>
            </a:r>
          </a:p>
          <a:p xmlns:a="http://schemas.openxmlformats.org/drawingml/2006/main">
            <a:r>
              <a:t>      "high_factor_property": "правопопулистская",</a:t>
            </a:r>
          </a:p>
          <a:p xmlns:a="http://schemas.openxmlformats.org/drawingml/2006/main">
            <a:r>
              <a:t>      "low_factor_property": "Слабая выраженность: правопопулистская"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"scale-031",</a:t>
            </a:r>
          </a:p>
          <a:p xmlns:a="http://schemas.openxmlformats.org/drawingml/2006/main">
            <a:r>
              <a:t>      "name": "националистическая",</a:t>
            </a:r>
          </a:p>
          <a:p xmlns:a="http://schemas.openxmlformats.org/drawingml/2006/main">
            <a:r>
              <a:t>      "positive": "националистическая",</a:t>
            </a:r>
          </a:p>
          <a:p xmlns:a="http://schemas.openxmlformats.org/drawingml/2006/main">
            <a:r>
              <a:t>      "negative": "Слабая выраженность: националистическая",</a:t>
            </a:r>
          </a:p>
          <a:p xmlns:a="http://schemas.openxmlformats.org/drawingml/2006/main">
            <a:r>
              <a:t>      "loading": 0.7924703342786993,</a:t>
            </a:r>
          </a:p>
          <a:p xmlns:a="http://schemas.openxmlformats.org/drawingml/2006/main">
            <a:r>
              <a:t>      "high_factor_property": "националистическая",</a:t>
            </a:r>
          </a:p>
          <a:p xmlns:a="http://schemas.openxmlformats.org/drawingml/2006/main">
            <a:r>
              <a:t>      "low_factor_property": "Слабая выраженность: националистическая"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"scale-037",</a:t>
            </a:r>
          </a:p>
          <a:p xmlns:a="http://schemas.openxmlformats.org/drawingml/2006/main">
            <a:r>
              <a:t>      "name": "критика мультикультурализма",</a:t>
            </a:r>
          </a:p>
          <a:p xmlns:a="http://schemas.openxmlformats.org/drawingml/2006/main">
            <a:r>
              <a:t>      "positive": "критика мультикультурализма",</a:t>
            </a:r>
          </a:p>
          <a:p xmlns:a="http://schemas.openxmlformats.org/drawingml/2006/main">
            <a:r>
              <a:t>      "negative": "Слабая выраженность: критика мультикультурализма",</a:t>
            </a:r>
          </a:p>
          <a:p xmlns:a="http://schemas.openxmlformats.org/drawingml/2006/main">
            <a:r>
              <a:t>      "loading": 0.7897596187947293,</a:t>
            </a:r>
          </a:p>
          <a:p xmlns:a="http://schemas.openxmlformats.org/drawingml/2006/main">
            <a:r>
              <a:t>      "high_factor_property": "критика мультикультурализма",</a:t>
            </a:r>
          </a:p>
          <a:p xmlns:a="http://schemas.openxmlformats.org/drawingml/2006/main">
            <a:r>
              <a:t>      "low_factor_property": "Слабая выраженность: критика мультикультурализма"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"scale-033",</a:t>
            </a:r>
          </a:p>
          <a:p xmlns:a="http://schemas.openxmlformats.org/drawingml/2006/main">
            <a:r>
              <a:t>      "name": "антииммиграционная",</a:t>
            </a:r>
          </a:p>
          <a:p xmlns:a="http://schemas.openxmlformats.org/drawingml/2006/main">
            <a:r>
              <a:t>      "positive": "антииммиграционная",</a:t>
            </a:r>
          </a:p>
          <a:p xmlns:a="http://schemas.openxmlformats.org/drawingml/2006/main">
            <a:r>
              <a:t>      "negative": "Слабая выраженность: антииммиграционная",</a:t>
            </a:r>
          </a:p>
          <a:p xmlns:a="http://schemas.openxmlformats.org/drawingml/2006/main">
            <a:r>
              <a:t>      "loading": 0.7876875252083331,</a:t>
            </a:r>
          </a:p>
          <a:p xmlns:a="http://schemas.openxmlformats.org/drawingml/2006/main">
            <a:r>
              <a:t>      "high_factor_property": "антииммиграционная",</a:t>
            </a:r>
          </a:p>
          <a:p xmlns:a="http://schemas.openxmlformats.org/drawingml/2006/main">
            <a:r>
              <a:t>      "low_factor_property": "Слабая выраженность: антииммиграционная"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"scale-017",</a:t>
            </a:r>
          </a:p>
          <a:p xmlns:a="http://schemas.openxmlformats.org/drawingml/2006/main">
            <a:r>
              <a:t>      "name": "либерально-консервативная",</a:t>
            </a:r>
          </a:p>
          <a:p xmlns:a="http://schemas.openxmlformats.org/drawingml/2006/main">
            <a:r>
              <a:t>      "positive": "либерально-консервативная",</a:t>
            </a:r>
          </a:p>
          <a:p xmlns:a="http://schemas.openxmlformats.org/drawingml/2006/main">
            <a:r>
              <a:t>      "negative": "Слабая выраженность: либерально-консервативная",</a:t>
            </a:r>
          </a:p>
          <a:p xmlns:a="http://schemas.openxmlformats.org/drawingml/2006/main">
            <a:r>
              <a:t>      "loading": 0.6535814033234575,</a:t>
            </a:r>
          </a:p>
          <a:p xmlns:a="http://schemas.openxmlformats.org/drawingml/2006/main">
            <a:r>
              <a:t>      "high_factor_property": "либерально-консервативная",</a:t>
            </a:r>
          </a:p>
          <a:p xmlns:a="http://schemas.openxmlformats.org/drawingml/2006/main">
            <a:r>
              <a:t>      "low_factor_property": "Слабая выраженность: либерально-консервативная"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"scale-040",</a:t>
            </a:r>
          </a:p>
          <a:p xmlns:a="http://schemas.openxmlformats.org/drawingml/2006/main">
            <a:r>
              <a:t>      "name": "скептицизм к глобализации",</a:t>
            </a:r>
          </a:p>
          <a:p xmlns:a="http://schemas.openxmlformats.org/drawingml/2006/main">
            <a:r>
              <a:t>      "positive": "скептицизм к глобализации",</a:t>
            </a:r>
          </a:p>
          <a:p xmlns:a="http://schemas.openxmlformats.org/drawingml/2006/main">
            <a:r>
              <a:t>      "negative": "Слабая выраженность: скептицизм к глобализации",</a:t>
            </a:r>
          </a:p>
          <a:p xmlns:a="http://schemas.openxmlformats.org/drawingml/2006/main">
            <a:r>
              <a:t>      "loading": 0.6488076658511007,</a:t>
            </a:r>
          </a:p>
          <a:p xmlns:a="http://schemas.openxmlformats.org/drawingml/2006/main">
            <a:r>
              <a:t>      "high_factor_property": "скептицизм к глобализации",</a:t>
            </a:r>
          </a:p>
          <a:p xmlns:a="http://schemas.openxmlformats.org/drawingml/2006/main">
            <a:r>
              <a:t>      "low_factor_property": "Слабая выраженность: скептицизм к глобализации"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"scale-034",</a:t>
            </a:r>
          </a:p>
          <a:p xmlns:a="http://schemas.openxmlformats.org/drawingml/2006/main">
            <a:r>
              <a:t>      "name": "евроскептическая",</a:t>
            </a:r>
          </a:p>
          <a:p xmlns:a="http://schemas.openxmlformats.org/drawingml/2006/main">
            <a:r>
              <a:t>      "positive": "евроскептическая",</a:t>
            </a:r>
          </a:p>
          <a:p xmlns:a="http://schemas.openxmlformats.org/drawingml/2006/main">
            <a:r>
              <a:t>      "negative": "Слабая выраженность: евроскептическая",</a:t>
            </a:r>
          </a:p>
          <a:p xmlns:a="http://schemas.openxmlformats.org/drawingml/2006/main">
            <a:r>
              <a:t>      "loading": 0.6464873346493113,</a:t>
            </a:r>
          </a:p>
          <a:p xmlns:a="http://schemas.openxmlformats.org/drawingml/2006/main">
            <a:r>
              <a:t>      "high_factor_property": "евроскептическая",</a:t>
            </a:r>
          </a:p>
          <a:p xmlns:a="http://schemas.openxmlformats.org/drawingml/2006/main">
            <a:r>
              <a:t>      "low_factor_property": "Слабая выраженность: евроскептическая"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"scale-016",</a:t>
            </a:r>
          </a:p>
          <a:p xmlns:a="http://schemas.openxmlformats.org/drawingml/2006/main">
            <a:r>
              <a:t>      "name": "правоцентристская",</a:t>
            </a:r>
          </a:p>
          <a:p xmlns:a="http://schemas.openxmlformats.org/drawingml/2006/main">
            <a:r>
              <a:t>      "positive": "правоцентристская",</a:t>
            </a:r>
          </a:p>
          <a:p xmlns:a="http://schemas.openxmlformats.org/drawingml/2006/main">
            <a:r>
              <a:t>      "negative": "Слабая выраженность: правоцентристская",</a:t>
            </a:r>
          </a:p>
          <a:p xmlns:a="http://schemas.openxmlformats.org/drawingml/2006/main">
            <a:r>
              <a:t>      "loading": 0.6179518510628301,</a:t>
            </a:r>
          </a:p>
          <a:p xmlns:a="http://schemas.openxmlformats.org/drawingml/2006/main">
            <a:r>
              <a:t>      "high_factor_property": "правоцентристская",</a:t>
            </a:r>
          </a:p>
          <a:p xmlns:a="http://schemas.openxmlformats.org/drawingml/2006/main">
            <a:r>
              <a:t>      "low_factor_property": "Слабая выраженность: правоцентристская"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"scale-028",</a:t>
            </a:r>
          </a:p>
          <a:p xmlns:a="http://schemas.openxmlformats.org/drawingml/2006/main">
            <a:r>
              <a:t>      "name": "скептицизм к расширению социальной политики",</a:t>
            </a:r>
          </a:p>
          <a:p xmlns:a="http://schemas.openxmlformats.org/drawingml/2006/main">
            <a:r>
              <a:t>      "positive": "скептицизм к расширению социальной политики",</a:t>
            </a:r>
          </a:p>
          <a:p xmlns:a="http://schemas.openxmlformats.org/drawingml/2006/main">
            <a:r>
              <a:t>      "negative": "Слабая выраженность: скептицизм к расширению социальной политики",</a:t>
            </a:r>
          </a:p>
          <a:p xmlns:a="http://schemas.openxmlformats.org/drawingml/2006/main">
            <a:r>
              <a:t>      "loading": 0.5897745774449432,</a:t>
            </a:r>
          </a:p>
          <a:p xmlns:a="http://schemas.openxmlformats.org/drawingml/2006/main">
            <a:r>
              <a:t>      "high_factor_property": "скептицизм к расширению социальной политики",</a:t>
            </a:r>
          </a:p>
          <a:p xmlns:a="http://schemas.openxmlformats.org/drawingml/2006/main">
            <a:r>
              <a:t>      "low_factor_property": "Слабая выраженность: скептицизм к расширению социальной политики"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"scale-020",</a:t>
            </a:r>
          </a:p>
          <a:p xmlns:a="http://schemas.openxmlformats.org/drawingml/2006/main">
            <a:r>
              <a:t>      "name": "снижение налогов",</a:t>
            </a:r>
          </a:p>
          <a:p xmlns:a="http://schemas.openxmlformats.org/drawingml/2006/main">
            <a:r>
              <a:t>      "positive": "снижение налогов",</a:t>
            </a:r>
          </a:p>
          <a:p xmlns:a="http://schemas.openxmlformats.org/drawingml/2006/main">
            <a:r>
              <a:t>      "negative": "Слабая выраженность: снижение налогов",</a:t>
            </a:r>
          </a:p>
          <a:p xmlns:a="http://schemas.openxmlformats.org/drawingml/2006/main">
            <a:r>
              <a:t>      "loading": 0.3905625801026308,</a:t>
            </a:r>
          </a:p>
          <a:p xmlns:a="http://schemas.openxmlformats.org/drawingml/2006/main">
            <a:r>
              <a:t>      "high_factor_property": "снижение налогов",</a:t>
            </a:r>
          </a:p>
          <a:p xmlns:a="http://schemas.openxmlformats.org/drawingml/2006/main">
            <a:r>
              <a:t>      "low_factor_property": "Слабая выраженность: снижение налогов"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"negative_traits":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"scale-003",</a:t>
            </a:r>
          </a:p>
          <a:p xmlns:a="http://schemas.openxmlformats.org/drawingml/2006/main">
            <a:r>
              <a:t>      "name": "прогрессивная",</a:t>
            </a:r>
          </a:p>
          <a:p xmlns:a="http://schemas.openxmlformats.org/drawingml/2006/main">
            <a:r>
              <a:t>      "positive": "прогрессивная",</a:t>
            </a:r>
          </a:p>
          <a:p xmlns:a="http://schemas.openxmlformats.org/drawingml/2006/main">
            <a:r>
              <a:t>      "negative": "Слабая выраженность: прогрессивная",</a:t>
            </a:r>
          </a:p>
          <a:p xmlns:a="http://schemas.openxmlformats.org/drawingml/2006/main">
            <a:r>
              <a:t>      "loading": -0.8883289762703022,</a:t>
            </a:r>
          </a:p>
          <a:p xmlns:a="http://schemas.openxmlformats.org/drawingml/2006/main">
            <a:r>
              <a:t>      "high_factor_property": "Слабая выраженность: прогрессивная",</a:t>
            </a:r>
          </a:p>
          <a:p xmlns:a="http://schemas.openxmlformats.org/drawingml/2006/main">
            <a:r>
              <a:t>      "low_factor_property": "прогрессивная"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"scale-030",</a:t>
            </a:r>
          </a:p>
          <a:p xmlns:a="http://schemas.openxmlformats.org/drawingml/2006/main">
            <a:r>
              <a:t>      "name": "ориентация на городское население",</a:t>
            </a:r>
          </a:p>
          <a:p xmlns:a="http://schemas.openxmlformats.org/drawingml/2006/main">
            <a:r>
              <a:t>      "positive": "ориентация на городское население",</a:t>
            </a:r>
          </a:p>
          <a:p xmlns:a="http://schemas.openxmlformats.org/drawingml/2006/main">
            <a:r>
              <a:t>      "negative": "Слабая выраженность: ориентация на городское население",</a:t>
            </a:r>
          </a:p>
          <a:p xmlns:a="http://schemas.openxmlformats.org/drawingml/2006/main">
            <a:r>
              <a:t>      "loading": -0.8803867241267335,</a:t>
            </a:r>
          </a:p>
          <a:p xmlns:a="http://schemas.openxmlformats.org/drawingml/2006/main">
            <a:r>
              <a:t>      "high_factor_property": "Слабая выраженность: ориентация на городское население",</a:t>
            </a:r>
          </a:p>
          <a:p xmlns:a="http://schemas.openxmlformats.org/drawingml/2006/main">
            <a:r>
              <a:t>      "low_factor_property": "ориентация на городское население"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"scale-025",</a:t>
            </a:r>
          </a:p>
          <a:p xmlns:a="http://schemas.openxmlformats.org/drawingml/2006/main">
            <a:r>
              <a:t>      "name": "реформаторская",</a:t>
            </a:r>
          </a:p>
          <a:p xmlns:a="http://schemas.openxmlformats.org/drawingml/2006/main">
            <a:r>
              <a:t>      "positive": "реформаторская",</a:t>
            </a:r>
          </a:p>
          <a:p xmlns:a="http://schemas.openxmlformats.org/drawingml/2006/main">
            <a:r>
              <a:t>      "negative": "Слабая выраженность: реформаторская",</a:t>
            </a:r>
          </a:p>
          <a:p xmlns:a="http://schemas.openxmlformats.org/drawingml/2006/main">
            <a:r>
              <a:t>      "loading": -0.8751003602738151,</a:t>
            </a:r>
          </a:p>
          <a:p xmlns:a="http://schemas.openxmlformats.org/drawingml/2006/main">
            <a:r>
              <a:t>      "high_factor_property": "Слабая выраженность: реформаторская",</a:t>
            </a:r>
          </a:p>
          <a:p xmlns:a="http://schemas.openxmlformats.org/drawingml/2006/main">
            <a:r>
              <a:t>      "low_factor_property": "реформаторская"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"scale-010",</a:t>
            </a:r>
          </a:p>
          <a:p xmlns:a="http://schemas.openxmlformats.org/drawingml/2006/main">
            <a:r>
              <a:t>      "name": "реформизм",</a:t>
            </a:r>
          </a:p>
          <a:p xmlns:a="http://schemas.openxmlformats.org/drawingml/2006/main">
            <a:r>
              <a:t>      "positive": "реформизм",</a:t>
            </a:r>
          </a:p>
          <a:p xmlns:a="http://schemas.openxmlformats.org/drawingml/2006/main">
            <a:r>
              <a:t>      "negative": "Слабая выраженность: реформизм",</a:t>
            </a:r>
          </a:p>
          <a:p xmlns:a="http://schemas.openxmlformats.org/drawingml/2006/main">
            <a:r>
              <a:t>      "loading": -0.866894892454228,</a:t>
            </a:r>
          </a:p>
          <a:p xmlns:a="http://schemas.openxmlformats.org/drawingml/2006/main">
            <a:r>
              <a:t>      "high_factor_property": "Слабая выраженность: реформизм",</a:t>
            </a:r>
          </a:p>
          <a:p xmlns:a="http://schemas.openxmlformats.org/drawingml/2006/main">
            <a:r>
              <a:t>      "low_factor_property": "реформизм"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"scale-013",</a:t>
            </a:r>
          </a:p>
          <a:p xmlns:a="http://schemas.openxmlformats.org/drawingml/2006/main">
            <a:r>
              <a:t>      "name": "инклюзивность",</a:t>
            </a:r>
          </a:p>
          <a:p xmlns:a="http://schemas.openxmlformats.org/drawingml/2006/main">
            <a:r>
              <a:t>      "positive": "инклюзивность",</a:t>
            </a:r>
          </a:p>
          <a:p xmlns:a="http://schemas.openxmlformats.org/drawingml/2006/main">
            <a:r>
              <a:t>      "negative": "Слабая выраженность: инклюзивность",</a:t>
            </a:r>
          </a:p>
          <a:p xmlns:a="http://schemas.openxmlformats.org/drawingml/2006/main">
            <a:r>
              <a:t>      "loading": -0.8648242353463687,</a:t>
            </a:r>
          </a:p>
          <a:p xmlns:a="http://schemas.openxmlformats.org/drawingml/2006/main">
            <a:r>
              <a:t>      "high_factor_property": "Слабая выраженность: инклюзивность",</a:t>
            </a:r>
          </a:p>
          <a:p xmlns:a="http://schemas.openxmlformats.org/drawingml/2006/main">
            <a:r>
              <a:t>      "low_factor_property": "инклюзивность"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"scale-014",</a:t>
            </a:r>
          </a:p>
          <a:p xmlns:a="http://schemas.openxmlformats.org/drawingml/2006/main">
            <a:r>
              <a:t>      "name": "антидискриминация",</a:t>
            </a:r>
          </a:p>
          <a:p xmlns:a="http://schemas.openxmlformats.org/drawingml/2006/main">
            <a:r>
              <a:t>      "positive": "антидискриминация",</a:t>
            </a:r>
          </a:p>
          <a:p xmlns:a="http://schemas.openxmlformats.org/drawingml/2006/main">
            <a:r>
              <a:t>      "negative": "Слабая выраженность: антидискриминация",</a:t>
            </a:r>
          </a:p>
          <a:p xmlns:a="http://schemas.openxmlformats.org/drawingml/2006/main">
            <a:r>
              <a:t>      "loading": -0.8612222645251284,</a:t>
            </a:r>
          </a:p>
          <a:p xmlns:a="http://schemas.openxmlformats.org/drawingml/2006/main">
            <a:r>
              <a:t>      "high_factor_property": "Слабая выраженность: антидискриминация",</a:t>
            </a:r>
          </a:p>
          <a:p xmlns:a="http://schemas.openxmlformats.org/drawingml/2006/main">
            <a:r>
              <a:t>      "low_factor_property": "антидискриминация"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"scale-008",</a:t>
            </a:r>
          </a:p>
          <a:p xmlns:a="http://schemas.openxmlformats.org/drawingml/2006/main">
            <a:r>
              <a:t>      "name": "гендерное равенство",</a:t>
            </a:r>
          </a:p>
          <a:p xmlns:a="http://schemas.openxmlformats.org/drawingml/2006/main">
            <a:r>
              <a:t>      "positive": "гендерное равенство",</a:t>
            </a:r>
          </a:p>
          <a:p xmlns:a="http://schemas.openxmlformats.org/drawingml/2006/main">
            <a:r>
              <a:t>      "negative": "Слабая выраженность: гендерное равенство",</a:t>
            </a:r>
          </a:p>
          <a:p xmlns:a="http://schemas.openxmlformats.org/drawingml/2006/main">
            <a:r>
              <a:t>      "loading": -0.8410762488092549,</a:t>
            </a:r>
          </a:p>
          <a:p xmlns:a="http://schemas.openxmlformats.org/drawingml/2006/main">
            <a:r>
              <a:t>      "high_factor_property": "Слабая выраженность: гендерное равенство",</a:t>
            </a:r>
          </a:p>
          <a:p xmlns:a="http://schemas.openxmlformats.org/drawingml/2006/main">
            <a:r>
              <a:t>      "low_factor_property": "гендерное равенство"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"scale-006",</a:t>
            </a:r>
          </a:p>
          <a:p xmlns:a="http://schemas.openxmlformats.org/drawingml/2006/main">
            <a:r>
              <a:t>      "name": "интернационализм",</a:t>
            </a:r>
          </a:p>
          <a:p xmlns:a="http://schemas.openxmlformats.org/drawingml/2006/main">
            <a:r>
              <a:t>      "positive": "интернационализм",</a:t>
            </a:r>
          </a:p>
          <a:p xmlns:a="http://schemas.openxmlformats.org/drawingml/2006/main">
            <a:r>
              <a:t>      "negative": "Слабая выраженность: интернационализм",</a:t>
            </a:r>
          </a:p>
          <a:p xmlns:a="http://schemas.openxmlformats.org/drawingml/2006/main">
            <a:r>
              <a:t>      "loading": -0.8343587178973996,</a:t>
            </a:r>
          </a:p>
          <a:p xmlns:a="http://schemas.openxmlformats.org/drawingml/2006/main">
            <a:r>
              <a:t>      "high_factor_property": "Слабая выраженность: интернационализм",</a:t>
            </a:r>
          </a:p>
          <a:p xmlns:a="http://schemas.openxmlformats.org/drawingml/2006/main">
            <a:r>
              <a:t>      "low_factor_property": "интернационализм"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"scale-009",</a:t>
            </a:r>
          </a:p>
          <a:p xmlns:a="http://schemas.openxmlformats.org/drawingml/2006/main">
            <a:r>
              <a:t>      "name": "экологическая ответственность",</a:t>
            </a:r>
          </a:p>
          <a:p xmlns:a="http://schemas.openxmlformats.org/drawingml/2006/main">
            <a:r>
              <a:t>      "positive": "экологическая ответственность",</a:t>
            </a:r>
          </a:p>
          <a:p xmlns:a="http://schemas.openxmlformats.org/drawingml/2006/main">
            <a:r>
              <a:t>      "negative": "Слабая выраженность: экологическая ответственность",</a:t>
            </a:r>
          </a:p>
          <a:p xmlns:a="http://schemas.openxmlformats.org/drawingml/2006/main">
            <a:r>
              <a:t>      "loading": -0.7994048407279751,</a:t>
            </a:r>
          </a:p>
          <a:p xmlns:a="http://schemas.openxmlformats.org/drawingml/2006/main">
            <a:r>
              <a:t>      "high_factor_property": "Слабая выраженность: экологическая ответственность",</a:t>
            </a:r>
          </a:p>
          <a:p xmlns:a="http://schemas.openxmlformats.org/drawingml/2006/main">
            <a:r>
              <a:t>      "low_factor_property": "экологическая ответственность"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"scale-022",</a:t>
            </a:r>
          </a:p>
          <a:p xmlns:a="http://schemas.openxmlformats.org/drawingml/2006/main">
            <a:r>
              <a:t>      "name": "проевропейская",</a:t>
            </a:r>
          </a:p>
          <a:p xmlns:a="http://schemas.openxmlformats.org/drawingml/2006/main">
            <a:r>
              <a:t>      "positive": "проевропейская",</a:t>
            </a:r>
          </a:p>
          <a:p xmlns:a="http://schemas.openxmlformats.org/drawingml/2006/main">
            <a:r>
              <a:t>      "negative": "Слабая выраженность: проевропейская",</a:t>
            </a:r>
          </a:p>
          <a:p xmlns:a="http://schemas.openxmlformats.org/drawingml/2006/main">
            <a:r>
              <a:t>      "loading": -0.7195407853695555,</a:t>
            </a:r>
          </a:p>
          <a:p xmlns:a="http://schemas.openxmlformats.org/drawingml/2006/main">
            <a:r>
              <a:t>      "high_factor_property": "Слабая выраженность: проевропейская",</a:t>
            </a:r>
          </a:p>
          <a:p xmlns:a="http://schemas.openxmlformats.org/drawingml/2006/main">
            <a:r>
              <a:t>      "low_factor_property": "проевропейская"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"scale-002",</a:t>
            </a:r>
          </a:p>
          <a:p xmlns:a="http://schemas.openxmlformats.org/drawingml/2006/main">
            <a:r>
              <a:t>      "name": "центр-левая",</a:t>
            </a:r>
          </a:p>
          <a:p xmlns:a="http://schemas.openxmlformats.org/drawingml/2006/main">
            <a:r>
              <a:t>      "positive": "центр-левая",</a:t>
            </a:r>
          </a:p>
          <a:p xmlns:a="http://schemas.openxmlformats.org/drawingml/2006/main">
            <a:r>
              <a:t>      "negative": "Слабая выраженность: центр-левая",</a:t>
            </a:r>
          </a:p>
          <a:p xmlns:a="http://schemas.openxmlformats.org/drawingml/2006/main">
            <a:r>
              <a:t>      "loading": -0.7030836466876825,</a:t>
            </a:r>
          </a:p>
          <a:p xmlns:a="http://schemas.openxmlformats.org/drawingml/2006/main">
            <a:r>
              <a:t>      "high_factor_property": "Слабая выраженность: центр-левая",</a:t>
            </a:r>
          </a:p>
          <a:p xmlns:a="http://schemas.openxmlformats.org/drawingml/2006/main">
            <a:r>
              <a:t>      "low_factor_property": "центр-левая"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"scale-015",</a:t>
            </a:r>
          </a:p>
          <a:p xmlns:a="http://schemas.openxmlformats.org/drawingml/2006/main">
            <a:r>
              <a:t>      "name": "европеизм",</a:t>
            </a:r>
          </a:p>
          <a:p xmlns:a="http://schemas.openxmlformats.org/drawingml/2006/main">
            <a:r>
              <a:t>      "positive": "европеизм",</a:t>
            </a:r>
          </a:p>
          <a:p xmlns:a="http://schemas.openxmlformats.org/drawingml/2006/main">
            <a:r>
              <a:t>      "negative": "Слабая выраженность: европеизм",</a:t>
            </a:r>
          </a:p>
          <a:p xmlns:a="http://schemas.openxmlformats.org/drawingml/2006/main">
            <a:r>
              <a:t>      "loading": -0.6925739227220463,</a:t>
            </a:r>
          </a:p>
          <a:p xmlns:a="http://schemas.openxmlformats.org/drawingml/2006/main">
            <a:r>
              <a:t>      "high_factor_property": "Слабая выраженность: европеизм",</a:t>
            </a:r>
          </a:p>
          <a:p xmlns:a="http://schemas.openxmlformats.org/drawingml/2006/main">
            <a:r>
              <a:t>      "low_factor_property": "европеизм"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"scale-007",</a:t>
            </a:r>
          </a:p>
          <a:p xmlns:a="http://schemas.openxmlformats.org/drawingml/2006/main">
            <a:r>
              <a:t>      "name": "солидарность",</a:t>
            </a:r>
          </a:p>
          <a:p xmlns:a="http://schemas.openxmlformats.org/drawingml/2006/main">
            <a:r>
              <a:t>      "positive": "солидарность",</a:t>
            </a:r>
          </a:p>
          <a:p xmlns:a="http://schemas.openxmlformats.org/drawingml/2006/main">
            <a:r>
              <a:t>      "negative": "Слабая выраженность: солидарность",</a:t>
            </a:r>
          </a:p>
          <a:p xmlns:a="http://schemas.openxmlformats.org/drawingml/2006/main">
            <a:r>
              <a:t>      "loading": -0.5923239937076404,</a:t>
            </a:r>
          </a:p>
          <a:p xmlns:a="http://schemas.openxmlformats.org/drawingml/2006/main">
            <a:r>
              <a:t>      "high_factor_property": "Слабая выраженность: солидарность",</a:t>
            </a:r>
          </a:p>
          <a:p xmlns:a="http://schemas.openxmlformats.org/drawingml/2006/main">
            <a:r>
              <a:t>      "low_factor_property": "солидарность"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"scale-001",</a:t>
            </a:r>
          </a:p>
          <a:p xmlns:a="http://schemas.openxmlformats.org/drawingml/2006/main">
            <a:r>
              <a:t>      "name": "социал-демократическая",</a:t>
            </a:r>
          </a:p>
          <a:p xmlns:a="http://schemas.openxmlformats.org/drawingml/2006/main">
            <a:r>
              <a:t>      "positive": "социал-демократическая",</a:t>
            </a:r>
          </a:p>
          <a:p xmlns:a="http://schemas.openxmlformats.org/drawingml/2006/main">
            <a:r>
              <a:t>      "negative": "Слабая выраженность: социал-демократическая",</a:t>
            </a:r>
          </a:p>
          <a:p xmlns:a="http://schemas.openxmlformats.org/drawingml/2006/main">
            <a:r>
              <a:t>      "loading": -0.5105547561352025,</a:t>
            </a:r>
          </a:p>
          <a:p xmlns:a="http://schemas.openxmlformats.org/drawingml/2006/main">
            <a:r>
              <a:t>      "high_factor_property": "Слабая выраженность: социал-демократическая",</a:t>
            </a:r>
          </a:p>
          <a:p xmlns:a="http://schemas.openxmlformats.org/drawingml/2006/main">
            <a:r>
              <a:t>      "low_factor_property": "социал-демократическая"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"scale-005",</a:t>
            </a:r>
          </a:p>
          <a:p xmlns:a="http://schemas.openxmlformats.org/drawingml/2006/main">
            <a:r>
              <a:t>      "name": "поддержка государства всеобщего благосостояния",</a:t>
            </a:r>
          </a:p>
          <a:p xmlns:a="http://schemas.openxmlformats.org/drawingml/2006/main">
            <a:r>
              <a:t>      "positive": "поддержка государства всеобщего благосостояния",</a:t>
            </a:r>
          </a:p>
          <a:p xmlns:a="http://schemas.openxmlformats.org/drawingml/2006/main">
            <a:r>
              <a:t>      "negative": "Слабая выраженность: поддержка государства всеобщего благосостояния",</a:t>
            </a:r>
          </a:p>
          <a:p xmlns:a="http://schemas.openxmlformats.org/drawingml/2006/main">
            <a:r>
              <a:t>      "loading": -0.4824702860512012,</a:t>
            </a:r>
          </a:p>
          <a:p xmlns:a="http://schemas.openxmlformats.org/drawingml/2006/main">
            <a:r>
              <a:t>      "high_factor_property": "Слабая выраженность: поддержка государства всеобщего благосостояния",</a:t>
            </a:r>
          </a:p>
          <a:p xmlns:a="http://schemas.openxmlformats.org/drawingml/2006/main">
            <a:r>
              <a:t>      "low_factor_property": "поддержка государства всеобщего благосостояния"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"scale-012",</a:t>
            </a:r>
          </a:p>
          <a:p xmlns:a="http://schemas.openxmlformats.org/drawingml/2006/main">
            <a:r>
              <a:t>      "name": "сильные профсоюзы",</a:t>
            </a:r>
          </a:p>
          <a:p xmlns:a="http://schemas.openxmlformats.org/drawingml/2006/main">
            <a:r>
              <a:t>      "positive": "сильные профсоюзы",</a:t>
            </a:r>
          </a:p>
          <a:p xmlns:a="http://schemas.openxmlformats.org/drawingml/2006/main">
            <a:r>
              <a:t>      "negative": "Слабая выраженность: сильные профсоюзы",</a:t>
            </a:r>
          </a:p>
          <a:p xmlns:a="http://schemas.openxmlformats.org/drawingml/2006/main">
            <a:r>
              <a:t>      "loading": -0.3848591592749836,</a:t>
            </a:r>
          </a:p>
          <a:p xmlns:a="http://schemas.openxmlformats.org/drawingml/2006/main">
            <a:r>
              <a:t>      "high_factor_property": "Слабая выраженность: сильные профсоюзы",</a:t>
            </a:r>
          </a:p>
          <a:p xmlns:a="http://schemas.openxmlformats.org/drawingml/2006/main">
            <a:r>
              <a:t>      "low_factor_property": "сильные профсоюзы"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"strong_loading_threshold": 0.35,</a:t>
            </a:r>
          </a:p>
          <a:p xmlns:a="http://schemas.openxmlformats.org/drawingml/2006/main">
            <a:r>
              <a:t>  "variance_share": 0.43166448398731816,</a:t>
            </a:r>
          </a:p>
          <a:p xmlns:a="http://schemas.openxmlformats.org/drawingml/2006/main">
            <a:r>
              <a:t>  "interpretation": "Положительные нагрузки: социально-консервативные ценности, традиционные семейные ценности, консервативная. Отрицательные нагрузки: прогрессивная, ориентация на городское население, реформаторская. Высокая координата связана со свойствами: социально-консервативные ценности, традиционные семейные ценности, консервативная, Слабая выраженность: прогрессивная, Слабая выраженность: ориентация на городское население, Слабая выраженность: реформаторская. Низкая координата связана со свойствами: прогрессивная, ориентация на городское население, реформаторская, Слабая выраженность: социально-консервативные ценности, Слабая выраженность: традиционные семейные ценности, Слабая выраженность: консервативная. Знак оси условен. Названия описывают связи оценок; это не причинное объяснение."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F2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"F2",</a:t>
            </a:r>
          </a:p>
          <a:p xmlns:a="http://schemas.openxmlformats.org/drawingml/2006/main">
            <a:r>
              <a:t>  "name": "солидарность ↔ поддержка свободного рынка",</a:t>
            </a:r>
          </a:p>
          <a:p xmlns:a="http://schemas.openxmlformats.org/drawingml/2006/main">
            <a:r>
              <a:t>  "label": "солидарность ↔ поддержка свободного рынка",</a:t>
            </a:r>
          </a:p>
          <a:p xmlns:a="http://schemas.openxmlformats.org/drawingml/2006/main">
            <a:r>
              <a:t>  "positive_traits":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"scale-007",</a:t>
            </a:r>
          </a:p>
          <a:p xmlns:a="http://schemas.openxmlformats.org/drawingml/2006/main">
            <a:r>
              <a:t>      "name": "солидарность",</a:t>
            </a:r>
          </a:p>
          <a:p xmlns:a="http://schemas.openxmlformats.org/drawingml/2006/main">
            <a:r>
              <a:t>      "positive": "солидарность",</a:t>
            </a:r>
          </a:p>
          <a:p xmlns:a="http://schemas.openxmlformats.org/drawingml/2006/main">
            <a:r>
              <a:t>      "negative": "Слабая выраженность: солидарность",</a:t>
            </a:r>
          </a:p>
          <a:p xmlns:a="http://schemas.openxmlformats.org/drawingml/2006/main">
            <a:r>
              <a:t>      "loading": 0.5571953719241474,</a:t>
            </a:r>
          </a:p>
          <a:p xmlns:a="http://schemas.openxmlformats.org/drawingml/2006/main">
            <a:r>
              <a:t>      "high_factor_property": "солидарность",</a:t>
            </a:r>
          </a:p>
          <a:p xmlns:a="http://schemas.openxmlformats.org/drawingml/2006/main">
            <a:r>
              <a:t>      "low_factor_property": "Слабая выраженность: солидарность"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"scale-005",</a:t>
            </a:r>
          </a:p>
          <a:p xmlns:a="http://schemas.openxmlformats.org/drawingml/2006/main">
            <a:r>
              <a:t>      "name": "поддержка государства всеобщего благосостояния",</a:t>
            </a:r>
          </a:p>
          <a:p xmlns:a="http://schemas.openxmlformats.org/drawingml/2006/main">
            <a:r>
              <a:t>      "positive": "поддержка государства всеобщего благосостояния",</a:t>
            </a:r>
          </a:p>
          <a:p xmlns:a="http://schemas.openxmlformats.org/drawingml/2006/main">
            <a:r>
              <a:t>      "negative": "Слабая выраженность: поддержка государства всеобщего благосостояния",</a:t>
            </a:r>
          </a:p>
          <a:p xmlns:a="http://schemas.openxmlformats.org/drawingml/2006/main">
            <a:r>
              <a:t>      "loading": 0.542575797071738,</a:t>
            </a:r>
          </a:p>
          <a:p xmlns:a="http://schemas.openxmlformats.org/drawingml/2006/main">
            <a:r>
              <a:t>      "high_factor_property": "поддержка государства всеобщего благосостояния",</a:t>
            </a:r>
          </a:p>
          <a:p xmlns:a="http://schemas.openxmlformats.org/drawingml/2006/main">
            <a:r>
              <a:t>      "low_factor_property": "Слабая выраженность: поддержка государства всеобщего благосостояния"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"scale-004",</a:t>
            </a:r>
          </a:p>
          <a:p xmlns:a="http://schemas.openxmlformats.org/drawingml/2006/main">
            <a:r>
              <a:t>      "name": "ориентирована на рабочий класс",</a:t>
            </a:r>
          </a:p>
          <a:p xmlns:a="http://schemas.openxmlformats.org/drawingml/2006/main">
            <a:r>
              <a:t>      "positive": "ориентирована на рабочий класс",</a:t>
            </a:r>
          </a:p>
          <a:p xmlns:a="http://schemas.openxmlformats.org/drawingml/2006/main">
            <a:r>
              <a:t>      "negative": "Слабая выраженность: ориентирована на рабочий класс",</a:t>
            </a:r>
          </a:p>
          <a:p xmlns:a="http://schemas.openxmlformats.org/drawingml/2006/main">
            <a:r>
              <a:t>      "loading": 0.5291666027488223,</a:t>
            </a:r>
          </a:p>
          <a:p xmlns:a="http://schemas.openxmlformats.org/drawingml/2006/main">
            <a:r>
              <a:t>      "high_factor_property": "ориентирована на рабочий класс",</a:t>
            </a:r>
          </a:p>
          <a:p xmlns:a="http://schemas.openxmlformats.org/drawingml/2006/main">
            <a:r>
              <a:t>      "low_factor_property": "Слабая выраженность: ориентирована на рабочий класс"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"scale-002",</a:t>
            </a:r>
          </a:p>
          <a:p xmlns:a="http://schemas.openxmlformats.org/drawingml/2006/main">
            <a:r>
              <a:t>      "name": "центр-левая",</a:t>
            </a:r>
          </a:p>
          <a:p xmlns:a="http://schemas.openxmlformats.org/drawingml/2006/main">
            <a:r>
              <a:t>      "positive": "центр-левая",</a:t>
            </a:r>
          </a:p>
          <a:p xmlns:a="http://schemas.openxmlformats.org/drawingml/2006/main">
            <a:r>
              <a:t>      "negative": "Слабая выраженность: центр-левая",</a:t>
            </a:r>
          </a:p>
          <a:p xmlns:a="http://schemas.openxmlformats.org/drawingml/2006/main">
            <a:r>
              <a:t>      "loading": 0.5096917226494004,</a:t>
            </a:r>
          </a:p>
          <a:p xmlns:a="http://schemas.openxmlformats.org/drawingml/2006/main">
            <a:r>
              <a:t>      "high_factor_property": "центр-левая",</a:t>
            </a:r>
          </a:p>
          <a:p xmlns:a="http://schemas.openxmlformats.org/drawingml/2006/main">
            <a:r>
              <a:t>      "low_factor_property": "Слабая выраженность: центр-левая"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"scale-001",</a:t>
            </a:r>
          </a:p>
          <a:p xmlns:a="http://schemas.openxmlformats.org/drawingml/2006/main">
            <a:r>
              <a:t>      "name": "социал-демократическая",</a:t>
            </a:r>
          </a:p>
          <a:p xmlns:a="http://schemas.openxmlformats.org/drawingml/2006/main">
            <a:r>
              <a:t>      "positive": "социал-демократическая",</a:t>
            </a:r>
          </a:p>
          <a:p xmlns:a="http://schemas.openxmlformats.org/drawingml/2006/main">
            <a:r>
              <a:t>      "negative": "Слабая выраженность: социал-демократическая",</a:t>
            </a:r>
          </a:p>
          <a:p xmlns:a="http://schemas.openxmlformats.org/drawingml/2006/main">
            <a:r>
              <a:t>      "loading": 0.5040560633217944,</a:t>
            </a:r>
          </a:p>
          <a:p xmlns:a="http://schemas.openxmlformats.org/drawingml/2006/main">
            <a:r>
              <a:t>      "high_factor_property": "социал-демократическая",</a:t>
            </a:r>
          </a:p>
          <a:p xmlns:a="http://schemas.openxmlformats.org/drawingml/2006/main">
            <a:r>
              <a:t>      "low_factor_property": "Слабая выраженность: социал-демократическая"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"scale-012",</a:t>
            </a:r>
          </a:p>
          <a:p xmlns:a="http://schemas.openxmlformats.org/drawingml/2006/main">
            <a:r>
              <a:t>      "name": "сильные профсоюзы",</a:t>
            </a:r>
          </a:p>
          <a:p xmlns:a="http://schemas.openxmlformats.org/drawingml/2006/main">
            <a:r>
              <a:t>      "positive": "сильные профсоюзы",</a:t>
            </a:r>
          </a:p>
          <a:p xmlns:a="http://schemas.openxmlformats.org/drawingml/2006/main">
            <a:r>
              <a:t>      "negative": "Слабая выраженность: сильные профсоюзы",</a:t>
            </a:r>
          </a:p>
          <a:p xmlns:a="http://schemas.openxmlformats.org/drawingml/2006/main">
            <a:r>
              <a:t>      "loading": 0.4631330266020177,</a:t>
            </a:r>
          </a:p>
          <a:p xmlns:a="http://schemas.openxmlformats.org/drawingml/2006/main">
            <a:r>
              <a:t>      "high_factor_property": "сильные профсоюзы",</a:t>
            </a:r>
          </a:p>
          <a:p xmlns:a="http://schemas.openxmlformats.org/drawingml/2006/main">
            <a:r>
              <a:t>      "low_factor_property": "Слабая выраженность: сильные профсоюзы"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"scale-009",</a:t>
            </a:r>
          </a:p>
          <a:p xmlns:a="http://schemas.openxmlformats.org/drawingml/2006/main">
            <a:r>
              <a:t>      "name": "экологическая ответственность",</a:t>
            </a:r>
          </a:p>
          <a:p xmlns:a="http://schemas.openxmlformats.org/drawingml/2006/main">
            <a:r>
              <a:t>      "positive": "экологическая ответственность",</a:t>
            </a:r>
          </a:p>
          <a:p xmlns:a="http://schemas.openxmlformats.org/drawingml/2006/main">
            <a:r>
              <a:t>      "negative": "Слабая выраженность: экологическая ответственность",</a:t>
            </a:r>
          </a:p>
          <a:p xmlns:a="http://schemas.openxmlformats.org/drawingml/2006/main">
            <a:r>
              <a:t>      "loading": 0.41931872661559483,</a:t>
            </a:r>
          </a:p>
          <a:p xmlns:a="http://schemas.openxmlformats.org/drawingml/2006/main">
            <a:r>
              <a:t>      "high_factor_property": "экологическая ответственность",</a:t>
            </a:r>
          </a:p>
          <a:p xmlns:a="http://schemas.openxmlformats.org/drawingml/2006/main">
            <a:r>
              <a:t>      "low_factor_property": "Слабая выраженность: экологическая ответственность"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"negative_traits":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"scale-019",</a:t>
            </a:r>
          </a:p>
          <a:p xmlns:a="http://schemas.openxmlformats.org/drawingml/2006/main">
            <a:r>
              <a:t>      "name": "поддержка свободного рынка",</a:t>
            </a:r>
          </a:p>
          <a:p xmlns:a="http://schemas.openxmlformats.org/drawingml/2006/main">
            <a:r>
              <a:t>      "positive": "поддержка свободного рынка",</a:t>
            </a:r>
          </a:p>
          <a:p xmlns:a="http://schemas.openxmlformats.org/drawingml/2006/main">
            <a:r>
              <a:t>      "negative": "Слабая выраженность: поддержка свободного рынка",</a:t>
            </a:r>
          </a:p>
          <a:p xmlns:a="http://schemas.openxmlformats.org/drawingml/2006/main">
            <a:r>
              <a:t>      "loading": -0.9769178596698268,</a:t>
            </a:r>
          </a:p>
          <a:p xmlns:a="http://schemas.openxmlformats.org/drawingml/2006/main">
            <a:r>
              <a:t>      "high_factor_property": "Слабая выраженность: поддержка свободного рынка",</a:t>
            </a:r>
          </a:p>
          <a:p xmlns:a="http://schemas.openxmlformats.org/drawingml/2006/main">
            <a:r>
              <a:t>      "low_factor_property": "поддержка свободного рынка"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"scale-018",</a:t>
            </a:r>
          </a:p>
          <a:p xmlns:a="http://schemas.openxmlformats.org/drawingml/2006/main">
            <a:r>
              <a:t>      "name": "экономический либерализм",</a:t>
            </a:r>
          </a:p>
          <a:p xmlns:a="http://schemas.openxmlformats.org/drawingml/2006/main">
            <a:r>
              <a:t>      "positive": "экономический либерализм",</a:t>
            </a:r>
          </a:p>
          <a:p xmlns:a="http://schemas.openxmlformats.org/drawingml/2006/main">
            <a:r>
              <a:t>      "negative": "Слабая выраженность: экономический либерализм",</a:t>
            </a:r>
          </a:p>
          <a:p xmlns:a="http://schemas.openxmlformats.org/drawingml/2006/main">
            <a:r>
              <a:t>      "loading": -0.9768177630206358,</a:t>
            </a:r>
          </a:p>
          <a:p xmlns:a="http://schemas.openxmlformats.org/drawingml/2006/main">
            <a:r>
              <a:t>      "high_factor_property": "Слабая выраженность: экономический либерализм",</a:t>
            </a:r>
          </a:p>
          <a:p xmlns:a="http://schemas.openxmlformats.org/drawingml/2006/main">
            <a:r>
              <a:t>      "low_factor_property": "экономический либерализм"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"scale-027",</a:t>
            </a:r>
          </a:p>
          <a:p xmlns:a="http://schemas.openxmlformats.org/drawingml/2006/main">
            <a:r>
              <a:t>      "name": "поддержка частного сектора",</a:t>
            </a:r>
          </a:p>
          <a:p xmlns:a="http://schemas.openxmlformats.org/drawingml/2006/main">
            <a:r>
              <a:t>      "positive": "поддержка частного сектора",</a:t>
            </a:r>
          </a:p>
          <a:p xmlns:a="http://schemas.openxmlformats.org/drawingml/2006/main">
            <a:r>
              <a:t>      "negative": "Слабая выраженность: поддержка частного сектора",</a:t>
            </a:r>
          </a:p>
          <a:p xmlns:a="http://schemas.openxmlformats.org/drawingml/2006/main">
            <a:r>
              <a:t>      "loading": -0.9142212602595885,</a:t>
            </a:r>
          </a:p>
          <a:p xmlns:a="http://schemas.openxmlformats.org/drawingml/2006/main">
            <a:r>
              <a:t>      "high_factor_property": "Слабая выраженность: поддержка частного сектора",</a:t>
            </a:r>
          </a:p>
          <a:p xmlns:a="http://schemas.openxmlformats.org/drawingml/2006/main">
            <a:r>
              <a:t>      "low_factor_property": "поддержка частного сектора"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"scale-023",</a:t>
            </a:r>
          </a:p>
          <a:p xmlns:a="http://schemas.openxmlformats.org/drawingml/2006/main">
            <a:r>
              <a:t>      "name": "ориентация на бизнес",</a:t>
            </a:r>
          </a:p>
          <a:p xmlns:a="http://schemas.openxmlformats.org/drawingml/2006/main">
            <a:r>
              <a:t>      "positive": "ориентация на бизнес",</a:t>
            </a:r>
          </a:p>
          <a:p xmlns:a="http://schemas.openxmlformats.org/drawingml/2006/main">
            <a:r>
              <a:t>      "negative": "Слабая выраженность: ориентация на бизнес",</a:t>
            </a:r>
          </a:p>
          <a:p xmlns:a="http://schemas.openxmlformats.org/drawingml/2006/main">
            <a:r>
              <a:t>      "loading": -0.9136294226356053,</a:t>
            </a:r>
          </a:p>
          <a:p xmlns:a="http://schemas.openxmlformats.org/drawingml/2006/main">
            <a:r>
              <a:t>      "high_factor_property": "Слабая выраженность: ориентация на бизнес",</a:t>
            </a:r>
          </a:p>
          <a:p xmlns:a="http://schemas.openxmlformats.org/drawingml/2006/main">
            <a:r>
              <a:t>      "low_factor_property": "ориентация на бизнес"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"scale-020",</a:t>
            </a:r>
          </a:p>
          <a:p xmlns:a="http://schemas.openxmlformats.org/drawingml/2006/main">
            <a:r>
              <a:t>      "name": "снижение налогов",</a:t>
            </a:r>
          </a:p>
          <a:p xmlns:a="http://schemas.openxmlformats.org/drawingml/2006/main">
            <a:r>
              <a:t>      "positive": "снижение налогов",</a:t>
            </a:r>
          </a:p>
          <a:p xmlns:a="http://schemas.openxmlformats.org/drawingml/2006/main">
            <a:r>
              <a:t>      "negative": "Слабая выраженность: снижение налогов",</a:t>
            </a:r>
          </a:p>
          <a:p xmlns:a="http://schemas.openxmlformats.org/drawingml/2006/main">
            <a:r>
              <a:t>      "loading": -0.8604367830536357,</a:t>
            </a:r>
          </a:p>
          <a:p xmlns:a="http://schemas.openxmlformats.org/drawingml/2006/main">
            <a:r>
              <a:t>      "high_factor_property": "Слабая выраженность: снижение налогов",</a:t>
            </a:r>
          </a:p>
          <a:p xmlns:a="http://schemas.openxmlformats.org/drawingml/2006/main">
            <a:r>
              <a:t>      "low_factor_property": "снижение налогов"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"scale-016",</a:t>
            </a:r>
          </a:p>
          <a:p xmlns:a="http://schemas.openxmlformats.org/drawingml/2006/main">
            <a:r>
              <a:t>      "name": "правоцентристская",</a:t>
            </a:r>
          </a:p>
          <a:p xmlns:a="http://schemas.openxmlformats.org/drawingml/2006/main">
            <a:r>
              <a:t>      "positive": "правоцентристская",</a:t>
            </a:r>
          </a:p>
          <a:p xmlns:a="http://schemas.openxmlformats.org/drawingml/2006/main">
            <a:r>
              <a:t>      "negative": "Слабая выраженность: правоцентристская",</a:t>
            </a:r>
          </a:p>
          <a:p xmlns:a="http://schemas.openxmlformats.org/drawingml/2006/main">
            <a:r>
              <a:t>      "loading": -0.697294559375566,</a:t>
            </a:r>
          </a:p>
          <a:p xmlns:a="http://schemas.openxmlformats.org/drawingml/2006/main">
            <a:r>
              <a:t>      "high_factor_property": "Слабая выраженность: правоцентристская",</a:t>
            </a:r>
          </a:p>
          <a:p xmlns:a="http://schemas.openxmlformats.org/drawingml/2006/main">
            <a:r>
              <a:t>      "low_factor_property": "правоцентристская"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"scale-028",</a:t>
            </a:r>
          </a:p>
          <a:p xmlns:a="http://schemas.openxmlformats.org/drawingml/2006/main">
            <a:r>
              <a:t>      "name": "скептицизм к расширению социальной политики",</a:t>
            </a:r>
          </a:p>
          <a:p xmlns:a="http://schemas.openxmlformats.org/drawingml/2006/main">
            <a:r>
              <a:t>      "positive": "скептицизм к расширению социальной политики",</a:t>
            </a:r>
          </a:p>
          <a:p xmlns:a="http://schemas.openxmlformats.org/drawingml/2006/main">
            <a:r>
              <a:t>      "negative": "Слабая выраженность: скептицизм к расширению социальной политики",</a:t>
            </a:r>
          </a:p>
          <a:p xmlns:a="http://schemas.openxmlformats.org/drawingml/2006/main">
            <a:r>
              <a:t>      "loading": -0.6874391129163661,</a:t>
            </a:r>
          </a:p>
          <a:p xmlns:a="http://schemas.openxmlformats.org/drawingml/2006/main">
            <a:r>
              <a:t>      "high_factor_property": "Слабая выраженность: скептицизм к расширению социальной политики",</a:t>
            </a:r>
          </a:p>
          <a:p xmlns:a="http://schemas.openxmlformats.org/drawingml/2006/main">
            <a:r>
              <a:t>      "low_factor_property": "скептицизм к расширению социальной политики"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"scale-026",</a:t>
            </a:r>
          </a:p>
          <a:p xmlns:a="http://schemas.openxmlformats.org/drawingml/2006/main">
            <a:r>
              <a:t>      "name": "ориентация на средний класс",</a:t>
            </a:r>
          </a:p>
          <a:p xmlns:a="http://schemas.openxmlformats.org/drawingml/2006/main">
            <a:r>
              <a:t>      "positive": "ориентация на средний класс",</a:t>
            </a:r>
          </a:p>
          <a:p xmlns:a="http://schemas.openxmlformats.org/drawingml/2006/main">
            <a:r>
              <a:t>      "negative": "Слабая выраженность: ориентация на средний класс",</a:t>
            </a:r>
          </a:p>
          <a:p xmlns:a="http://schemas.openxmlformats.org/drawingml/2006/main">
            <a:r>
              <a:t>      "loading": -0.6493971999924366,</a:t>
            </a:r>
          </a:p>
          <a:p xmlns:a="http://schemas.openxmlformats.org/drawingml/2006/main">
            <a:r>
              <a:t>      "high_factor_property": "Слабая выраженность: ориентация на средний класс",</a:t>
            </a:r>
          </a:p>
          <a:p xmlns:a="http://schemas.openxmlformats.org/drawingml/2006/main">
            <a:r>
              <a:t>      "low_factor_property": "ориентация на средний класс"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"scale-017",</a:t>
            </a:r>
          </a:p>
          <a:p xmlns:a="http://schemas.openxmlformats.org/drawingml/2006/main">
            <a:r>
              <a:t>      "name": "либерально-консервативная",</a:t>
            </a:r>
          </a:p>
          <a:p xmlns:a="http://schemas.openxmlformats.org/drawingml/2006/main">
            <a:r>
              <a:t>      "positive": "либерально-консервативная",</a:t>
            </a:r>
          </a:p>
          <a:p xmlns:a="http://schemas.openxmlformats.org/drawingml/2006/main">
            <a:r>
              <a:t>      "negative": "Слабая выраженность: либерально-консервативная",</a:t>
            </a:r>
          </a:p>
          <a:p xmlns:a="http://schemas.openxmlformats.org/drawingml/2006/main">
            <a:r>
              <a:t>      "loading": -0.6372559905554623,</a:t>
            </a:r>
          </a:p>
          <a:p xmlns:a="http://schemas.openxmlformats.org/drawingml/2006/main">
            <a:r>
              <a:t>      "high_factor_property": "Слабая выраженность: либерально-консервативная",</a:t>
            </a:r>
          </a:p>
          <a:p xmlns:a="http://schemas.openxmlformats.org/drawingml/2006/main">
            <a:r>
              <a:t>      "low_factor_property": "либерально-консервативная"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"scale-024",</a:t>
            </a:r>
          </a:p>
          <a:p xmlns:a="http://schemas.openxmlformats.org/drawingml/2006/main">
            <a:r>
              <a:t>      "name": "рациональный прагматизм",</a:t>
            </a:r>
          </a:p>
          <a:p xmlns:a="http://schemas.openxmlformats.org/drawingml/2006/main">
            <a:r>
              <a:t>      "positive": "рациональный прагматизм",</a:t>
            </a:r>
          </a:p>
          <a:p xmlns:a="http://schemas.openxmlformats.org/drawingml/2006/main">
            <a:r>
              <a:t>      "negative": "Слабая выраженность: рациональный прагматизм",</a:t>
            </a:r>
          </a:p>
          <a:p xmlns:a="http://schemas.openxmlformats.org/drawingml/2006/main">
            <a:r>
              <a:t>      "loading": -0.439281361067607,</a:t>
            </a:r>
          </a:p>
          <a:p xmlns:a="http://schemas.openxmlformats.org/drawingml/2006/main">
            <a:r>
              <a:t>      "high_factor_property": "Слабая выраженность: рациональный прагматизм",</a:t>
            </a:r>
          </a:p>
          <a:p xmlns:a="http://schemas.openxmlformats.org/drawingml/2006/main">
            <a:r>
              <a:t>      "low_factor_property": "рациональный прагматизм"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"scale-035",</a:t>
            </a:r>
          </a:p>
          <a:p xmlns:a="http://schemas.openxmlformats.org/drawingml/2006/main">
            <a:r>
              <a:t>      "name": "консервативная",</a:t>
            </a:r>
          </a:p>
          <a:p xmlns:a="http://schemas.openxmlformats.org/drawingml/2006/main">
            <a:r>
              <a:t>      "positive": "консервативная",</a:t>
            </a:r>
          </a:p>
          <a:p xmlns:a="http://schemas.openxmlformats.org/drawingml/2006/main">
            <a:r>
              <a:t>      "negative": "Слабая выраженность: консервативная",</a:t>
            </a:r>
          </a:p>
          <a:p xmlns:a="http://schemas.openxmlformats.org/drawingml/2006/main">
            <a:r>
              <a:t>      "loading": -0.4086095006011544,</a:t>
            </a:r>
          </a:p>
          <a:p xmlns:a="http://schemas.openxmlformats.org/drawingml/2006/main">
            <a:r>
              <a:t>      "high_factor_property": "Слабая выраженность: консервативная",</a:t>
            </a:r>
          </a:p>
          <a:p xmlns:a="http://schemas.openxmlformats.org/drawingml/2006/main">
            <a:r>
              <a:t>      "low_factor_property": "консервативная"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"scale-021",</a:t>
            </a:r>
          </a:p>
          <a:p xmlns:a="http://schemas.openxmlformats.org/drawingml/2006/main">
            <a:r>
              <a:t>      "name": "жёсткая политика в сфере правопорядка",</a:t>
            </a:r>
          </a:p>
          <a:p xmlns:a="http://schemas.openxmlformats.org/drawingml/2006/main">
            <a:r>
              <a:t>      "positive": "жёсткая политика в сфере правопорядка",</a:t>
            </a:r>
          </a:p>
          <a:p xmlns:a="http://schemas.openxmlformats.org/drawingml/2006/main">
            <a:r>
              <a:t>      "negative": "Слабая выраженность: жёсткая политика в сфере правопорядка",</a:t>
            </a:r>
          </a:p>
          <a:p xmlns:a="http://schemas.openxmlformats.org/drawingml/2006/main">
            <a:r>
              <a:t>      "loading": -0.37319920810506274,</a:t>
            </a:r>
          </a:p>
          <a:p xmlns:a="http://schemas.openxmlformats.org/drawingml/2006/main">
            <a:r>
              <a:t>      "high_factor_property": "Слабая выраженность: жёсткая политика в сфере правопорядка",</a:t>
            </a:r>
          </a:p>
          <a:p xmlns:a="http://schemas.openxmlformats.org/drawingml/2006/main">
            <a:r>
              <a:t>      "low_factor_property": "жёсткая политика в сфере правопорядка"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"scale-011",</a:t>
            </a:r>
          </a:p>
          <a:p xmlns:a="http://schemas.openxmlformats.org/drawingml/2006/main">
            <a:r>
              <a:t>      "name": "прагматизм",</a:t>
            </a:r>
          </a:p>
          <a:p xmlns:a="http://schemas.openxmlformats.org/drawingml/2006/main">
            <a:r>
              <a:t>      "positive": "прагматизм",</a:t>
            </a:r>
          </a:p>
          <a:p xmlns:a="http://schemas.openxmlformats.org/drawingml/2006/main">
            <a:r>
              <a:t>      "negative": "Слабая выраженность: прагматизм",</a:t>
            </a:r>
          </a:p>
          <a:p xmlns:a="http://schemas.openxmlformats.org/drawingml/2006/main">
            <a:r>
              <a:t>      "loading": -0.37163648553359047,</a:t>
            </a:r>
          </a:p>
          <a:p xmlns:a="http://schemas.openxmlformats.org/drawingml/2006/main">
            <a:r>
              <a:t>      "high_factor_property": "Слабая выраженность: прагматизм",</a:t>
            </a:r>
          </a:p>
          <a:p xmlns:a="http://schemas.openxmlformats.org/drawingml/2006/main">
            <a:r>
              <a:t>      "low_factor_property": "прагматизм"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"strong_loading_threshold": 0.35,</a:t>
            </a:r>
          </a:p>
          <a:p xmlns:a="http://schemas.openxmlformats.org/drawingml/2006/main">
            <a:r>
              <a:t>  "variance_share": 0.23115453319446158,</a:t>
            </a:r>
          </a:p>
          <a:p xmlns:a="http://schemas.openxmlformats.org/drawingml/2006/main">
            <a:r>
              <a:t>  "interpretation": "Положительные нагрузки: солидарность, поддержка государства всеобщего благосостояния, ориентирована на рабочий класс. Отрицательные нагрузки: поддержка свободного рынка, экономический либерализм, поддержка частного сектора. Высокая координата связана со свойствами: солидарность, поддержка государства всеобщего благосостояния, ориентирована на рабочий класс, Слабая выраженность: поддержка свободного рынка, Слабая выраженность: экономический либерализм, Слабая выраженность: поддержка частного сектора. Низкая координата связана со свойствами: поддержка свободного рынка, экономический либерализм, поддержка частного сектора, Слабая выраженность: солидарность, Слабая выраженность: поддержка государства всеобщего благосостояния, Слабая выраженность: ориентирована на рабочий класс. Знак оси условен. Названия описывают связи оценок; это не причинное объяснение."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Числа: metadata.json, scores.csv, loadings.csv и утверждённая матрица оценок.</a:t>
            </a:r>
          </a:p>
          <a:p xmlns:a="http://schemas.openxmlformats.org/drawingml/2006/main">
            <a:r>
              <a:t>Изучаемое пространство: Международное пространство политических партий из прежней выборки.</a:t>
            </a:r>
          </a:p>
          <a:p xmlns:a="http://schemas.openxmlformats.org/drawingml/2006/main">
            <a:r>
              <a:t>Оценщик: legacy_import_example.</a:t>
            </a:r>
          </a:p>
          <a:p xmlns:a="http://schemas.openxmlformats.org/drawingml/2006/main">
            <a:r>
              <a:t>Демонстрационный пример: ТЕХНИЧЕСКИЙ ПРИМЕР НА ПРЕЖНИХ ДАННЫХ. Это повторный анализ ранее сохранённых модельных оценок 95 партий по первым 40 признакам исходного словаря. Это не новое исследование и не результат исследования 70 российских политиков. Новые источники не собирались, LLM не вызывалась, старый словарь не проходил новую нормализацию. Оценка x по прежней шкале 0–10 перенесена как value = x − 5. Два полюса независимо не оценивались; их сумма и смешанность по этим данным не определяются. Ноль в примере означает прежнюю оценку 5, а не доказанную невыраженность обоих свойств. Отметки утверждения принадлежат импортированному примеру, а не пользователю..</a:t>
            </a:r>
          </a:p>
          <a:p xmlns:a="http://schemas.openxmlformats.org/drawingml/2006/main">
            <a:r>
              <a:t>Исходные URL: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F3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"F3",</a:t>
            </a:r>
          </a:p>
          <a:p xmlns:a="http://schemas.openxmlformats.org/drawingml/2006/main">
            <a:r>
              <a:t>  "name": "протестная ↔ рациональный прагматизм",</a:t>
            </a:r>
          </a:p>
          <a:p xmlns:a="http://schemas.openxmlformats.org/drawingml/2006/main">
            <a:r>
              <a:t>  "label": "протестная ↔ рациональный прагматизм",</a:t>
            </a:r>
          </a:p>
          <a:p xmlns:a="http://schemas.openxmlformats.org/drawingml/2006/main">
            <a:r>
              <a:t>  "positive_traits":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"scale-036",</a:t>
            </a:r>
          </a:p>
          <a:p xmlns:a="http://schemas.openxmlformats.org/drawingml/2006/main">
            <a:r>
              <a:t>      "name": "протестная",</a:t>
            </a:r>
          </a:p>
          <a:p xmlns:a="http://schemas.openxmlformats.org/drawingml/2006/main">
            <a:r>
              <a:t>      "positive": "протестная",</a:t>
            </a:r>
          </a:p>
          <a:p xmlns:a="http://schemas.openxmlformats.org/drawingml/2006/main">
            <a:r>
              <a:t>      "negative": "Слабая выраженность: протестная",</a:t>
            </a:r>
          </a:p>
          <a:p xmlns:a="http://schemas.openxmlformats.org/drawingml/2006/main">
            <a:r>
              <a:t>      "loading": 0.7972165171024005,</a:t>
            </a:r>
          </a:p>
          <a:p xmlns:a="http://schemas.openxmlformats.org/drawingml/2006/main">
            <a:r>
              <a:t>      "high_factor_property": "протестная",</a:t>
            </a:r>
          </a:p>
          <a:p xmlns:a="http://schemas.openxmlformats.org/drawingml/2006/main">
            <a:r>
              <a:t>      "low_factor_property": "Слабая выраженность: протестная"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"scale-040",</a:t>
            </a:r>
          </a:p>
          <a:p xmlns:a="http://schemas.openxmlformats.org/drawingml/2006/main">
            <a:r>
              <a:t>      "name": "скептицизм к глобализации",</a:t>
            </a:r>
          </a:p>
          <a:p xmlns:a="http://schemas.openxmlformats.org/drawingml/2006/main">
            <a:r>
              <a:t>      "positive": "скептицизм к глобализации",</a:t>
            </a:r>
          </a:p>
          <a:p xmlns:a="http://schemas.openxmlformats.org/drawingml/2006/main">
            <a:r>
              <a:t>      "negative": "Слабая выраженность: скептицизм к глобализации",</a:t>
            </a:r>
          </a:p>
          <a:p xmlns:a="http://schemas.openxmlformats.org/drawingml/2006/main">
            <a:r>
              <a:t>      "loading": 0.5389568839945142,</a:t>
            </a:r>
          </a:p>
          <a:p xmlns:a="http://schemas.openxmlformats.org/drawingml/2006/main">
            <a:r>
              <a:t>      "high_factor_property": "скептицизм к глобализации",</a:t>
            </a:r>
          </a:p>
          <a:p xmlns:a="http://schemas.openxmlformats.org/drawingml/2006/main">
            <a:r>
              <a:t>      "low_factor_property": "Слабая выраженность: скептицизм к глобализации"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"scale-032",</a:t>
            </a:r>
          </a:p>
          <a:p xmlns:a="http://schemas.openxmlformats.org/drawingml/2006/main">
            <a:r>
              <a:t>      "name": "правопопулистская",</a:t>
            </a:r>
          </a:p>
          <a:p xmlns:a="http://schemas.openxmlformats.org/drawingml/2006/main">
            <a:r>
              <a:t>      "positive": "правопопулистская",</a:t>
            </a:r>
          </a:p>
          <a:p xmlns:a="http://schemas.openxmlformats.org/drawingml/2006/main">
            <a:r>
              <a:t>      "negative": "Слабая выраженность: правопопулистская",</a:t>
            </a:r>
          </a:p>
          <a:p xmlns:a="http://schemas.openxmlformats.org/drawingml/2006/main">
            <a:r>
              <a:t>      "loading": 0.5186757445306346,</a:t>
            </a:r>
          </a:p>
          <a:p xmlns:a="http://schemas.openxmlformats.org/drawingml/2006/main">
            <a:r>
              <a:t>      "high_factor_property": "правопопулистская",</a:t>
            </a:r>
          </a:p>
          <a:p xmlns:a="http://schemas.openxmlformats.org/drawingml/2006/main">
            <a:r>
              <a:t>      "low_factor_property": "Слабая выраженность: правопопулистская"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"scale-037",</a:t>
            </a:r>
          </a:p>
          <a:p xmlns:a="http://schemas.openxmlformats.org/drawingml/2006/main">
            <a:r>
              <a:t>      "name": "критика мультикультурализма",</a:t>
            </a:r>
          </a:p>
          <a:p xmlns:a="http://schemas.openxmlformats.org/drawingml/2006/main">
            <a:r>
              <a:t>      "positive": "критика мультикультурализма",</a:t>
            </a:r>
          </a:p>
          <a:p xmlns:a="http://schemas.openxmlformats.org/drawingml/2006/main">
            <a:r>
              <a:t>      "negative": "Слабая выраженность: критика мультикультурализма",</a:t>
            </a:r>
          </a:p>
          <a:p xmlns:a="http://schemas.openxmlformats.org/drawingml/2006/main">
            <a:r>
              <a:t>      "loading": 0.44095305663510964,</a:t>
            </a:r>
          </a:p>
          <a:p xmlns:a="http://schemas.openxmlformats.org/drawingml/2006/main">
            <a:r>
              <a:t>      "high_factor_property": "критика мультикультурализма",</a:t>
            </a:r>
          </a:p>
          <a:p xmlns:a="http://schemas.openxmlformats.org/drawingml/2006/main">
            <a:r>
              <a:t>      "low_factor_property": "Слабая выраженность: критика мультикультурализма"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"scale-033",</a:t>
            </a:r>
          </a:p>
          <a:p xmlns:a="http://schemas.openxmlformats.org/drawingml/2006/main">
            <a:r>
              <a:t>      "name": "антииммиграционная",</a:t>
            </a:r>
          </a:p>
          <a:p xmlns:a="http://schemas.openxmlformats.org/drawingml/2006/main">
            <a:r>
              <a:t>      "positive": "антииммиграционная",</a:t>
            </a:r>
          </a:p>
          <a:p xmlns:a="http://schemas.openxmlformats.org/drawingml/2006/main">
            <a:r>
              <a:t>      "negative": "Слабая выраженность: антииммиграционная",</a:t>
            </a:r>
          </a:p>
          <a:p xmlns:a="http://schemas.openxmlformats.org/drawingml/2006/main">
            <a:r>
              <a:t>      "loading": 0.44008237154266033,</a:t>
            </a:r>
          </a:p>
          <a:p xmlns:a="http://schemas.openxmlformats.org/drawingml/2006/main">
            <a:r>
              <a:t>      "high_factor_property": "антииммиграционная",</a:t>
            </a:r>
          </a:p>
          <a:p xmlns:a="http://schemas.openxmlformats.org/drawingml/2006/main">
            <a:r>
              <a:t>      "low_factor_property": "Слабая выраженность: антииммиграционная"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"scale-031",</a:t>
            </a:r>
          </a:p>
          <a:p xmlns:a="http://schemas.openxmlformats.org/drawingml/2006/main">
            <a:r>
              <a:t>      "name": "националистическая",</a:t>
            </a:r>
          </a:p>
          <a:p xmlns:a="http://schemas.openxmlformats.org/drawingml/2006/main">
            <a:r>
              <a:t>      "positive": "националистическая",</a:t>
            </a:r>
          </a:p>
          <a:p xmlns:a="http://schemas.openxmlformats.org/drawingml/2006/main">
            <a:r>
              <a:t>      "negative": "Слабая выраженность: националистическая",</a:t>
            </a:r>
          </a:p>
          <a:p xmlns:a="http://schemas.openxmlformats.org/drawingml/2006/main">
            <a:r>
              <a:t>      "loading": 0.3850709896233979,</a:t>
            </a:r>
          </a:p>
          <a:p xmlns:a="http://schemas.openxmlformats.org/drawingml/2006/main">
            <a:r>
              <a:t>      "high_factor_property": "националистическая",</a:t>
            </a:r>
          </a:p>
          <a:p xmlns:a="http://schemas.openxmlformats.org/drawingml/2006/main">
            <a:r>
              <a:t>      "low_factor_property": "Слабая выраженность: националистическая"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"scale-034",</a:t>
            </a:r>
          </a:p>
          <a:p xmlns:a="http://schemas.openxmlformats.org/drawingml/2006/main">
            <a:r>
              <a:t>      "name": "евроскептическая",</a:t>
            </a:r>
          </a:p>
          <a:p xmlns:a="http://schemas.openxmlformats.org/drawingml/2006/main">
            <a:r>
              <a:t>      "positive": "евроскептическая",</a:t>
            </a:r>
          </a:p>
          <a:p xmlns:a="http://schemas.openxmlformats.org/drawingml/2006/main">
            <a:r>
              <a:t>      "negative": "Слабая выраженность: евроскептическая",</a:t>
            </a:r>
          </a:p>
          <a:p xmlns:a="http://schemas.openxmlformats.org/drawingml/2006/main">
            <a:r>
              <a:t>      "loading": 0.37755219724964756,</a:t>
            </a:r>
          </a:p>
          <a:p xmlns:a="http://schemas.openxmlformats.org/drawingml/2006/main">
            <a:r>
              <a:t>      "high_factor_property": "евроскептическая",</a:t>
            </a:r>
          </a:p>
          <a:p xmlns:a="http://schemas.openxmlformats.org/drawingml/2006/main">
            <a:r>
              <a:t>      "low_factor_property": "Слабая выраженность: евроскептическая"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"negative_traits":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"scale-024",</a:t>
            </a:r>
          </a:p>
          <a:p xmlns:a="http://schemas.openxmlformats.org/drawingml/2006/main">
            <a:r>
              <a:t>      "name": "рациональный прагматизм",</a:t>
            </a:r>
          </a:p>
          <a:p xmlns:a="http://schemas.openxmlformats.org/drawingml/2006/main">
            <a:r>
              <a:t>      "positive": "рациональный прагматизм",</a:t>
            </a:r>
          </a:p>
          <a:p xmlns:a="http://schemas.openxmlformats.org/drawingml/2006/main">
            <a:r>
              <a:t>      "negative": "Слабая выраженность: рациональный прагматизм",</a:t>
            </a:r>
          </a:p>
          <a:p xmlns:a="http://schemas.openxmlformats.org/drawingml/2006/main">
            <a:r>
              <a:t>      "loading": -0.6629982197418948,</a:t>
            </a:r>
          </a:p>
          <a:p xmlns:a="http://schemas.openxmlformats.org/drawingml/2006/main">
            <a:r>
              <a:t>      "high_factor_property": "Слабая выраженность: рациональный прагматизм",</a:t>
            </a:r>
          </a:p>
          <a:p xmlns:a="http://schemas.openxmlformats.org/drawingml/2006/main">
            <a:r>
              <a:t>      "low_factor_property": "рациональный прагматизм"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"scale-011",</a:t>
            </a:r>
          </a:p>
          <a:p xmlns:a="http://schemas.openxmlformats.org/drawingml/2006/main">
            <a:r>
              <a:t>      "name": "прагматизм",</a:t>
            </a:r>
          </a:p>
          <a:p xmlns:a="http://schemas.openxmlformats.org/drawingml/2006/main">
            <a:r>
              <a:t>      "positive": "прагматизм",</a:t>
            </a:r>
          </a:p>
          <a:p xmlns:a="http://schemas.openxmlformats.org/drawingml/2006/main">
            <a:r>
              <a:t>      "negative": "Слабая выраженность: прагматизм",</a:t>
            </a:r>
          </a:p>
          <a:p xmlns:a="http://schemas.openxmlformats.org/drawingml/2006/main">
            <a:r>
              <a:t>      "loading": -0.6042551632417312,</a:t>
            </a:r>
          </a:p>
          <a:p xmlns:a="http://schemas.openxmlformats.org/drawingml/2006/main">
            <a:r>
              <a:t>      "high_factor_property": "Слабая выраженность: прагматизм",</a:t>
            </a:r>
          </a:p>
          <a:p xmlns:a="http://schemas.openxmlformats.org/drawingml/2006/main">
            <a:r>
              <a:t>      "low_factor_property": "прагматизм"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"scale-022",</a:t>
            </a:r>
          </a:p>
          <a:p xmlns:a="http://schemas.openxmlformats.org/drawingml/2006/main">
            <a:r>
              <a:t>      "name": "проевропейская",</a:t>
            </a:r>
          </a:p>
          <a:p xmlns:a="http://schemas.openxmlformats.org/drawingml/2006/main">
            <a:r>
              <a:t>      "positive": "проевропейская",</a:t>
            </a:r>
          </a:p>
          <a:p xmlns:a="http://schemas.openxmlformats.org/drawingml/2006/main">
            <a:r>
              <a:t>      "negative": "Слабая выраженность: проевропейская",</a:t>
            </a:r>
          </a:p>
          <a:p xmlns:a="http://schemas.openxmlformats.org/drawingml/2006/main">
            <a:r>
              <a:t>      "loading": -0.4623069475019168,</a:t>
            </a:r>
          </a:p>
          <a:p xmlns:a="http://schemas.openxmlformats.org/drawingml/2006/main">
            <a:r>
              <a:t>      "high_factor_property": "Слабая выраженность: проевропейская",</a:t>
            </a:r>
          </a:p>
          <a:p xmlns:a="http://schemas.openxmlformats.org/drawingml/2006/main">
            <a:r>
              <a:t>      "low_factor_property": "проевропейская"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"scale-015",</a:t>
            </a:r>
          </a:p>
          <a:p xmlns:a="http://schemas.openxmlformats.org/drawingml/2006/main">
            <a:r>
              <a:t>      "name": "европеизм",</a:t>
            </a:r>
          </a:p>
          <a:p xmlns:a="http://schemas.openxmlformats.org/drawingml/2006/main">
            <a:r>
              <a:t>      "positive": "европеизм",</a:t>
            </a:r>
          </a:p>
          <a:p xmlns:a="http://schemas.openxmlformats.org/drawingml/2006/main">
            <a:r>
              <a:t>      "negative": "Слабая выраженность: европеизм",</a:t>
            </a:r>
          </a:p>
          <a:p xmlns:a="http://schemas.openxmlformats.org/drawingml/2006/main">
            <a:r>
              <a:t>      "loading": -0.43527176980204263,</a:t>
            </a:r>
          </a:p>
          <a:p xmlns:a="http://schemas.openxmlformats.org/drawingml/2006/main">
            <a:r>
              <a:t>      "high_factor_property": "Слабая выраженность: европеизм",</a:t>
            </a:r>
          </a:p>
          <a:p xmlns:a="http://schemas.openxmlformats.org/drawingml/2006/main">
            <a:r>
              <a:t>      "low_factor_property": "европеизм"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"scale-006",</a:t>
            </a:r>
          </a:p>
          <a:p xmlns:a="http://schemas.openxmlformats.org/drawingml/2006/main">
            <a:r>
              <a:t>      "name": "интернационализм",</a:t>
            </a:r>
          </a:p>
          <a:p xmlns:a="http://schemas.openxmlformats.org/drawingml/2006/main">
            <a:r>
              <a:t>      "positive": "интернационализм",</a:t>
            </a:r>
          </a:p>
          <a:p xmlns:a="http://schemas.openxmlformats.org/drawingml/2006/main">
            <a:r>
              <a:t>      "negative": "Слабая выраженность: интернационализм",</a:t>
            </a:r>
          </a:p>
          <a:p xmlns:a="http://schemas.openxmlformats.org/drawingml/2006/main">
            <a:r>
              <a:t>      "loading": -0.38416195490379534,</a:t>
            </a:r>
          </a:p>
          <a:p xmlns:a="http://schemas.openxmlformats.org/drawingml/2006/main">
            <a:r>
              <a:t>      "high_factor_property": "Слабая выраженность: интернационализм",</a:t>
            </a:r>
          </a:p>
          <a:p xmlns:a="http://schemas.openxmlformats.org/drawingml/2006/main">
            <a:r>
              <a:t>      "low_factor_property": "интернационализм"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"scale-014",</a:t>
            </a:r>
          </a:p>
          <a:p xmlns:a="http://schemas.openxmlformats.org/drawingml/2006/main">
            <a:r>
              <a:t>      "name": "антидискриминация",</a:t>
            </a:r>
          </a:p>
          <a:p xmlns:a="http://schemas.openxmlformats.org/drawingml/2006/main">
            <a:r>
              <a:t>      "positive": "антидискриминация",</a:t>
            </a:r>
          </a:p>
          <a:p xmlns:a="http://schemas.openxmlformats.org/drawingml/2006/main">
            <a:r>
              <a:t>      "negative": "Слабая выраженность: антидискриминация",</a:t>
            </a:r>
          </a:p>
          <a:p xmlns:a="http://schemas.openxmlformats.org/drawingml/2006/main">
            <a:r>
              <a:t>      "loading": -0.35354055979259463,</a:t>
            </a:r>
          </a:p>
          <a:p xmlns:a="http://schemas.openxmlformats.org/drawingml/2006/main">
            <a:r>
              <a:t>      "high_factor_property": "Слабая выраженность: антидискриминация",</a:t>
            </a:r>
          </a:p>
          <a:p xmlns:a="http://schemas.openxmlformats.org/drawingml/2006/main">
            <a:r>
              <a:t>      "low_factor_property": "антидискриминация"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"strong_loading_threshold": 0.35,</a:t>
            </a:r>
          </a:p>
          <a:p xmlns:a="http://schemas.openxmlformats.org/drawingml/2006/main">
            <a:r>
              <a:t>  "variance_share": 0.10202963963285303,</a:t>
            </a:r>
          </a:p>
          <a:p xmlns:a="http://schemas.openxmlformats.org/drawingml/2006/main">
            <a:r>
              <a:t>  "interpretation": "Положительные нагрузки: протестная, скептицизм к глобализации, правопопулистская. Отрицательные нагрузки: рациональный прагматизм, прагматизм, проевропейская. Высокая координата связана со свойствами: протестная, скептицизм к глобализации, правопопулистская, Слабая выраженность: рациональный прагматизм, Слабая выраженность: прагматизм, Слабая выраженность: проевропейская. Низкая координата связана со свойствами: рациональный прагматизм, прагматизм, проевропейская, Слабая выраженность: протестная, Слабая выраженность: скептицизм к глобализации, Слабая выраженность: правопопулистская. Знак оси условен. Названия описывают связи оценок; это не причинное объяснение."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F4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"F4",</a:t>
            </a:r>
          </a:p>
          <a:p xmlns:a="http://schemas.openxmlformats.org/drawingml/2006/main">
            <a:r>
              <a:t>  "name": "ориентирована на рабочий класс, сильные профсоюзы",</a:t>
            </a:r>
          </a:p>
          <a:p xmlns:a="http://schemas.openxmlformats.org/drawingml/2006/main">
            <a:r>
              <a:t>  "label": "ориентирована на рабочий класс, сильные профсоюзы",</a:t>
            </a:r>
          </a:p>
          <a:p xmlns:a="http://schemas.openxmlformats.org/drawingml/2006/main">
            <a:r>
              <a:t>  "positive_traits":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"scale-004",</a:t>
            </a:r>
          </a:p>
          <a:p xmlns:a="http://schemas.openxmlformats.org/drawingml/2006/main">
            <a:r>
              <a:t>      "name": "ориентирована на рабочий класс",</a:t>
            </a:r>
          </a:p>
          <a:p xmlns:a="http://schemas.openxmlformats.org/drawingml/2006/main">
            <a:r>
              <a:t>      "positive": "ориентирована на рабочий класс",</a:t>
            </a:r>
          </a:p>
          <a:p xmlns:a="http://schemas.openxmlformats.org/drawingml/2006/main">
            <a:r>
              <a:t>      "negative": "Слабая выраженность: ориентирована на рабочий класс",</a:t>
            </a:r>
          </a:p>
          <a:p xmlns:a="http://schemas.openxmlformats.org/drawingml/2006/main">
            <a:r>
              <a:t>      "loading": 0.7799277381702892,</a:t>
            </a:r>
          </a:p>
          <a:p xmlns:a="http://schemas.openxmlformats.org/drawingml/2006/main">
            <a:r>
              <a:t>      "high_factor_property": "ориентирована на рабочий класс",</a:t>
            </a:r>
          </a:p>
          <a:p xmlns:a="http://schemas.openxmlformats.org/drawingml/2006/main">
            <a:r>
              <a:t>      "low_factor_property": "Слабая выраженность: ориентирована на рабочий класс"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"scale-012",</a:t>
            </a:r>
          </a:p>
          <a:p xmlns:a="http://schemas.openxmlformats.org/drawingml/2006/main">
            <a:r>
              <a:t>      "name": "сильные профсоюзы",</a:t>
            </a:r>
          </a:p>
          <a:p xmlns:a="http://schemas.openxmlformats.org/drawingml/2006/main">
            <a:r>
              <a:t>      "positive": "сильные профсоюзы",</a:t>
            </a:r>
          </a:p>
          <a:p xmlns:a="http://schemas.openxmlformats.org/drawingml/2006/main">
            <a:r>
              <a:t>      "negative": "Слабая выраженность: сильные профсоюзы",</a:t>
            </a:r>
          </a:p>
          <a:p xmlns:a="http://schemas.openxmlformats.org/drawingml/2006/main">
            <a:r>
              <a:t>      "loading": 0.7023130579069767,</a:t>
            </a:r>
          </a:p>
          <a:p xmlns:a="http://schemas.openxmlformats.org/drawingml/2006/main">
            <a:r>
              <a:t>      "high_factor_property": "сильные профсоюзы",</a:t>
            </a:r>
          </a:p>
          <a:p xmlns:a="http://schemas.openxmlformats.org/drawingml/2006/main">
            <a:r>
              <a:t>      "low_factor_property": "Слабая выраженность: сильные профсоюзы"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"scale-001",</a:t>
            </a:r>
          </a:p>
          <a:p xmlns:a="http://schemas.openxmlformats.org/drawingml/2006/main">
            <a:r>
              <a:t>      "name": "социал-демократическая",</a:t>
            </a:r>
          </a:p>
          <a:p xmlns:a="http://schemas.openxmlformats.org/drawingml/2006/main">
            <a:r>
              <a:t>      "positive": "социал-демократическая",</a:t>
            </a:r>
          </a:p>
          <a:p xmlns:a="http://schemas.openxmlformats.org/drawingml/2006/main">
            <a:r>
              <a:t>      "negative": "Слабая выраженность: социал-демократическая",</a:t>
            </a:r>
          </a:p>
          <a:p xmlns:a="http://schemas.openxmlformats.org/drawingml/2006/main">
            <a:r>
              <a:t>      "loading": 0.6392884062448853,</a:t>
            </a:r>
          </a:p>
          <a:p xmlns:a="http://schemas.openxmlformats.org/drawingml/2006/main">
            <a:r>
              <a:t>      "high_factor_property": "социал-демократическая",</a:t>
            </a:r>
          </a:p>
          <a:p xmlns:a="http://schemas.openxmlformats.org/drawingml/2006/main">
            <a:r>
              <a:t>      "low_factor_property": "Слабая выраженность: социал-демократическая"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"scale-005",</a:t>
            </a:r>
          </a:p>
          <a:p xmlns:a="http://schemas.openxmlformats.org/drawingml/2006/main">
            <a:r>
              <a:t>      "name": "поддержка государства всеобщего благосостояния",</a:t>
            </a:r>
          </a:p>
          <a:p xmlns:a="http://schemas.openxmlformats.org/drawingml/2006/main">
            <a:r>
              <a:t>      "positive": "поддержка государства всеобщего благосостояния",</a:t>
            </a:r>
          </a:p>
          <a:p xmlns:a="http://schemas.openxmlformats.org/drawingml/2006/main">
            <a:r>
              <a:t>      "negative": "Слабая выраженность: поддержка государства всеобщего благосостояния",</a:t>
            </a:r>
          </a:p>
          <a:p xmlns:a="http://schemas.openxmlformats.org/drawingml/2006/main">
            <a:r>
              <a:t>      "loading": 0.5614907990340022,</a:t>
            </a:r>
          </a:p>
          <a:p xmlns:a="http://schemas.openxmlformats.org/drawingml/2006/main">
            <a:r>
              <a:t>      "high_factor_property": "поддержка государства всеобщего благосостояния",</a:t>
            </a:r>
          </a:p>
          <a:p xmlns:a="http://schemas.openxmlformats.org/drawingml/2006/main">
            <a:r>
              <a:t>      "low_factor_property": "Слабая выраженность: поддержка государства всеобщего благосостояния"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"scale-007",</a:t>
            </a:r>
          </a:p>
          <a:p xmlns:a="http://schemas.openxmlformats.org/drawingml/2006/main">
            <a:r>
              <a:t>      "name": "солидарность",</a:t>
            </a:r>
          </a:p>
          <a:p xmlns:a="http://schemas.openxmlformats.org/drawingml/2006/main">
            <a:r>
              <a:t>      "positive": "солидарность",</a:t>
            </a:r>
          </a:p>
          <a:p xmlns:a="http://schemas.openxmlformats.org/drawingml/2006/main">
            <a:r>
              <a:t>      "negative": "Слабая выраженность: солидарность",</a:t>
            </a:r>
          </a:p>
          <a:p xmlns:a="http://schemas.openxmlformats.org/drawingml/2006/main">
            <a:r>
              <a:t>      "loading": 0.4444546002442832,</a:t>
            </a:r>
          </a:p>
          <a:p xmlns:a="http://schemas.openxmlformats.org/drawingml/2006/main">
            <a:r>
              <a:t>      "high_factor_property": "солидарность",</a:t>
            </a:r>
          </a:p>
          <a:p xmlns:a="http://schemas.openxmlformats.org/drawingml/2006/main">
            <a:r>
              <a:t>      "low_factor_property": "Слабая выраженность: солидарность"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"scale-002",</a:t>
            </a:r>
          </a:p>
          <a:p xmlns:a="http://schemas.openxmlformats.org/drawingml/2006/main">
            <a:r>
              <a:t>      "name": "центр-левая",</a:t>
            </a:r>
          </a:p>
          <a:p xmlns:a="http://schemas.openxmlformats.org/drawingml/2006/main">
            <a:r>
              <a:t>      "positive": "центр-левая",</a:t>
            </a:r>
          </a:p>
          <a:p xmlns:a="http://schemas.openxmlformats.org/drawingml/2006/main">
            <a:r>
              <a:t>      "negative": "Слабая выраженность: центр-левая",</a:t>
            </a:r>
          </a:p>
          <a:p xmlns:a="http://schemas.openxmlformats.org/drawingml/2006/main">
            <a:r>
              <a:t>      "loading": 0.4365172481296642,</a:t>
            </a:r>
          </a:p>
          <a:p xmlns:a="http://schemas.openxmlformats.org/drawingml/2006/main">
            <a:r>
              <a:t>      "high_factor_property": "центр-левая",</a:t>
            </a:r>
          </a:p>
          <a:p xmlns:a="http://schemas.openxmlformats.org/drawingml/2006/main">
            <a:r>
              <a:t>      "low_factor_property": "Слабая выраженность: центр-левая"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"negative_traits": [],</a:t>
            </a:r>
          </a:p>
          <a:p xmlns:a="http://schemas.openxmlformats.org/drawingml/2006/main">
            <a:r>
              <a:t>  "strong_loading_threshold": 0.35,</a:t>
            </a:r>
          </a:p>
          <a:p xmlns:a="http://schemas.openxmlformats.org/drawingml/2006/main">
            <a:r>
              <a:t>  "variance_share": 0.07781525611241445,</a:t>
            </a:r>
          </a:p>
          <a:p xmlns:a="http://schemas.openxmlformats.org/drawingml/2006/main">
            <a:r>
              <a:t>  "interpretation": "Положительные нагрузки: ориентирована на рабочий класс, сильные профсоюзы, социал-демократическая. Сильных отрицательных нагрузок нет; второй полюс отдельно не именуется. Высокая координата связана со свойствами: ориентирована на рабочий класс, сильные профсоюзы, социал-демократическая. Знак оси условен. Названия описывают связи оценок; это не причинное объяснение."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Числа: metadata.json, scores.csv, loadings.csv и утверждённая матрица оценок.</a:t>
            </a:r>
          </a:p>
          <a:p xmlns:a="http://schemas.openxmlformats.org/drawingml/2006/main">
            <a:r>
              <a:t>Изучаемое пространство: Международное пространство политических партий из прежней выборки.</a:t>
            </a:r>
          </a:p>
          <a:p xmlns:a="http://schemas.openxmlformats.org/drawingml/2006/main">
            <a:r>
              <a:t>Оценщик: legacy_import_example.</a:t>
            </a:r>
          </a:p>
          <a:p xmlns:a="http://schemas.openxmlformats.org/drawingml/2006/main">
            <a:r>
              <a:t>Демонстрационный пример: ТЕХНИЧЕСКИЙ ПРИМЕР НА ПРЕЖНИХ ДАННЫХ. Это повторный анализ ранее сохранённых модельных оценок 95 партий по первым 40 признакам исходного словаря. Это не новое исследование и не результат исследования 70 российских политиков. Новые источники не собирались, LLM не вызывалась, старый словарь не проходил новую нормализацию. Оценка x по прежней шкале 0–10 перенесена как value = x − 5. Два полюса независимо не оценивались; их сумма и смешанность по этим данным не определяются. Ноль в примере означает прежнюю оценку 5, а не доказанную невыраженность обоих свойств. Отметки утверждения принадлежат импортированному примеру, а не пользователю..</a:t>
            </a:r>
          </a:p>
          <a:p xmlns:a="http://schemas.openxmlformats.org/drawingml/2006/main">
            <a:r>
              <a:t>Исходные URL: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Числа: metadata.json, scores.csv, loadings.csv и утверждённая матрица оценок.</a:t>
            </a:r>
          </a:p>
          <a:p xmlns:a="http://schemas.openxmlformats.org/drawingml/2006/main">
            <a:r>
              <a:t>Изучаемое пространство: Международное пространство политических партий из прежней выборки.</a:t>
            </a:r>
          </a:p>
          <a:p xmlns:a="http://schemas.openxmlformats.org/drawingml/2006/main">
            <a:r>
              <a:t>Оценщик: legacy_import_example.</a:t>
            </a:r>
          </a:p>
          <a:p xmlns:a="http://schemas.openxmlformats.org/drawingml/2006/main">
            <a:r>
              <a:t>Демонстрационный пример: ТЕХНИЧЕСКИЙ ПРИМЕР НА ПРЕЖНИХ ДАННЫХ. Это повторный анализ ранее сохранённых модельных оценок 95 партий по первым 40 признакам исходного словаря. Это не новое исследование и не результат исследования 70 российских политиков. Новые источники не собирались, LLM не вызывалась, старый словарь не проходил новую нормализацию. Оценка x по прежней шкале 0–10 перенесена как value = x − 5. Два полюса независимо не оценивались; их сумма и смешанность по этим данным не определяются. Ноль в примере означает прежнюю оценку 5, а не доказанную невыраженность обоих свойств. Отметки утверждения принадлежат импортированному примеру, а не пользователю..</a:t>
            </a:r>
          </a:p>
          <a:p xmlns:a="http://schemas.openxmlformats.org/drawingml/2006/main">
            <a:r>
              <a:t>Исходные URL: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Числа: metadata.json, scores.csv, loadings.csv и утверждённая матрица оценок.</a:t>
            </a:r>
          </a:p>
          <a:p xmlns:a="http://schemas.openxmlformats.org/drawingml/2006/main">
            <a:r>
              <a:t>Изучаемое пространство: Международное пространство политических партий из прежней выборки.</a:t>
            </a:r>
          </a:p>
          <a:p xmlns:a="http://schemas.openxmlformats.org/drawingml/2006/main">
            <a:r>
              <a:t>Оценщик: legacy_import_example.</a:t>
            </a:r>
          </a:p>
          <a:p xmlns:a="http://schemas.openxmlformats.org/drawingml/2006/main">
            <a:r>
              <a:t>Демонстрационный пример: ТЕХНИЧЕСКИЙ ПРИМЕР НА ПРЕЖНИХ ДАННЫХ. Это повторный анализ ранее сохранённых модельных оценок 95 партий по первым 40 признакам исходного словаря. Это не новое исследование и не результат исследования 70 российских политиков. Новые источники не собирались, LLM не вызывалась, старый словарь не проходил новую нормализацию. Оценка x по прежней шкале 0–10 перенесена как value = x − 5. Два полюса независимо не оценивались; их сумма и смешанность по этим данным не определяются. Ноль в примере означает прежнюю оценку 5, а не доказанную невыраженность обоих свойств. Отметки утверждения принадлежат импортированному примеру, а не пользователю..</a:t>
            </a:r>
          </a:p>
          <a:p xmlns:a="http://schemas.openxmlformats.org/drawingml/2006/main">
            <a:r>
              <a:t>Исходные URL: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{"objects":{"seed":20261015,"perplexity":30,"input_dimensions":4,"n_points":95,"iterations":1000,"initialization":"pca"},"traits":{"seed":20261015,"perplexity":13,"input_dimensions":4,"n_points":40,"iterations":1000,"initialization":"pca"}}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Числа: metadata.json, scores.csv, loadings.csv и утверждённая матрица оценок.</a:t>
            </a:r>
          </a:p>
          <a:p xmlns:a="http://schemas.openxmlformats.org/drawingml/2006/main">
            <a:r>
              <a:t>Изучаемое пространство: Международное пространство политических партий из прежней выборки.</a:t>
            </a:r>
          </a:p>
          <a:p xmlns:a="http://schemas.openxmlformats.org/drawingml/2006/main">
            <a:r>
              <a:t>Оценщик: legacy_import_example.</a:t>
            </a:r>
          </a:p>
          <a:p xmlns:a="http://schemas.openxmlformats.org/drawingml/2006/main">
            <a:r>
              <a:t>Демонстрационный пример: ТЕХНИЧЕСКИЙ ПРИМЕР НА ПРЕЖНИХ ДАННЫХ. Это повторный анализ ранее сохранённых модельных оценок 95 партий по первым 40 признакам исходного словаря. Это не новое исследование и не результат исследования 70 российских политиков. Новые источники не собирались, LLM не вызывалась, старый словарь не проходил новую нормализацию. Оценка x по прежней шкале 0–10 перенесена как value = x − 5. Два полюса независимо не оценивались; их сумма и смешанность по этим данным не определяются. Ноль в примере означает прежнюю оценку 5, а не доказанную невыраженность обоих свойств. Отметки утверждения принадлежат импортированному примеру, а не пользователю..</a:t>
            </a:r>
          </a:p>
          <a:p xmlns:a="http://schemas.openxmlformats.org/drawingml/2006/main">
            <a:r>
              <a:t>Исходные URL: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"recommended_k": 5,</a:t>
            </a:r>
          </a:p>
          <a:p xmlns:a="http://schemas.openxmlformats.org/drawingml/2006/main">
            <a:r>
              <a:t>  "used_k": 5,</a:t>
            </a:r>
          </a:p>
          <a:p xmlns:a="http://schemas.openxmlformats.org/drawingml/2006/main">
            <a:r>
              <a:t>  "overridden": false,</a:t>
            </a:r>
          </a:p>
          <a:p xmlns:a="http://schemas.openxmlformats.org/drawingml/2006/main">
            <a:r>
              <a:t>  "stable_candidates_available": true,</a:t>
            </a:r>
          </a:p>
          <a:p xmlns:a="http://schemas.openxmlformats.org/drawingml/2006/main">
            <a:r>
              <a:t>  "minimum_size_preference": 5,</a:t>
            </a:r>
          </a:p>
          <a:p xmlns:a="http://schemas.openxmlformats.org/drawingml/2006/main">
            <a:r>
              <a:t>  "rule": "Prefer groups &gt;=max(3,ceil(0.05*n)), median resampling ARI&gt;=0.65 and every group's median Jaccard&gt;=0.60; among admissible candidates choose smallest k within 0.02 of the best silhouette. If none qualify, use size-admissible candidates, then all candidates, and explicitly mark uncertainty. User override is allowed.",</a:t>
            </a:r>
          </a:p>
          <a:p xmlns:a="http://schemas.openxmlformats.org/drawingml/2006/main">
            <a:r>
              <a:t>  "interpretation": "Numerical choice is a reviewable proposal; final grouping requires semantic interpretation. KMeans also partitions continuous spaces."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Числа: metadata.json, scores.csv, loadings.csv и утверждённая матрица оценок.</a:t>
            </a:r>
          </a:p>
          <a:p xmlns:a="http://schemas.openxmlformats.org/drawingml/2006/main">
            <a:r>
              <a:t>Изучаемое пространство: Международное пространство политических партий из прежней выборки.</a:t>
            </a:r>
          </a:p>
          <a:p xmlns:a="http://schemas.openxmlformats.org/drawingml/2006/main">
            <a:r>
              <a:t>Оценщик: legacy_import_example.</a:t>
            </a:r>
          </a:p>
          <a:p xmlns:a="http://schemas.openxmlformats.org/drawingml/2006/main">
            <a:r>
              <a:t>Демонстрационный пример: ТЕХНИЧЕСКИЙ ПРИМЕР НА ПРЕЖНИХ ДАННЫХ. Это повторный анализ ранее сохранённых модельных оценок 95 партий по первым 40 признакам исходного словаря. Это не новое исследование и не результат исследования 70 российских политиков. Новые источники не собирались, LLM не вызывалась, старый словарь не проходил новую нормализацию. Оценка x по прежней шкале 0–10 перенесена как value = x − 5. Два полюса независимо не оценивались; их сумма и смешанность по этим данным не определяются. Ноль в примере означает прежнюю оценку 5, а не доказанную невыраженность обоих свойств. Отметки утверждения принадлежат импортированному примеру, а не пользователю..</a:t>
            </a:r>
          </a:p>
          <a:p xmlns:a="http://schemas.openxmlformats.org/drawingml/2006/main">
            <a:r>
              <a:t>Исходные URL: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"C1",</a:t>
            </a:r>
          </a:p>
          <a:p xmlns:a="http://schemas.openxmlformats.org/drawingml/2006/main">
            <a:r>
              <a:t>  "name": "Группа 1",</a:t>
            </a:r>
          </a:p>
          <a:p xmlns:a="http://schemas.openxmlformats.org/drawingml/2006/main">
            <a:r>
              <a:t>  "count": 23,</a:t>
            </a:r>
          </a:p>
          <a:p xmlns:a="http://schemas.openxmlformats.org/drawingml/2006/main">
            <a:r>
              <a:t>  "members":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"party-001",</a:t>
            </a:r>
          </a:p>
          <a:p xmlns:a="http://schemas.openxmlformats.org/drawingml/2006/main">
            <a:r>
              <a:t>      "name": "Socialdemokraterna"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"party-007",</a:t>
            </a:r>
          </a:p>
          <a:p xmlns:a="http://schemas.openxmlformats.org/drawingml/2006/main">
            <a:r>
              <a:t>      "name": "Vänsterpartiet"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"party-009",</a:t>
            </a:r>
          </a:p>
          <a:p xmlns:a="http://schemas.openxmlformats.org/drawingml/2006/main">
            <a:r>
              <a:t>      "name": "Arbeiderpartiet"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"party-011",</a:t>
            </a:r>
          </a:p>
          <a:p xmlns:a="http://schemas.openxmlformats.org/drawingml/2006/main">
            <a:r>
              <a:t>      "name": "Sosialistisk Venstreparti"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"party-013",</a:t>
            </a:r>
          </a:p>
          <a:p xmlns:a="http://schemas.openxmlformats.org/drawingml/2006/main">
            <a:r>
              <a:t>      "name": "Socialdemokratiet"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"party-018",</a:t>
            </a:r>
          </a:p>
          <a:p xmlns:a="http://schemas.openxmlformats.org/drawingml/2006/main">
            <a:r>
              <a:t>      "name": "SF – Socialistisk Folkeparti"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"party-019",</a:t>
            </a:r>
          </a:p>
          <a:p xmlns:a="http://schemas.openxmlformats.org/drawingml/2006/main">
            <a:r>
              <a:t>      "name": "Enhedslisten"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"party-023",</a:t>
            </a:r>
          </a:p>
          <a:p xmlns:a="http://schemas.openxmlformats.org/drawingml/2006/main">
            <a:r>
              <a:t>      "name": "Suomen Sosialidemokraattinen Puolue"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"party-027",</a:t>
            </a:r>
          </a:p>
          <a:p xmlns:a="http://schemas.openxmlformats.org/drawingml/2006/main">
            <a:r>
              <a:t>      "name": "Sozialdemokratische Partei Deutschlands"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"party-031",</a:t>
            </a:r>
          </a:p>
          <a:p xmlns:a="http://schemas.openxmlformats.org/drawingml/2006/main">
            <a:r>
              <a:t>      "name": "Die Linke"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"party-033",</a:t>
            </a:r>
          </a:p>
          <a:p xmlns:a="http://schemas.openxmlformats.org/drawingml/2006/main">
            <a:r>
              <a:t>      "name": "Partij van de Arbeid"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"party-046",</a:t>
            </a:r>
          </a:p>
          <a:p xmlns:a="http://schemas.openxmlformats.org/drawingml/2006/main">
            <a:r>
              <a:t>      "name": "Bloc Québécois"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"party-047",</a:t>
            </a:r>
          </a:p>
          <a:p xmlns:a="http://schemas.openxmlformats.org/drawingml/2006/main">
            <a:r>
              <a:t>      "name": "New Democratic Party"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"party-048",</a:t>
            </a:r>
          </a:p>
          <a:p xmlns:a="http://schemas.openxmlformats.org/drawingml/2006/main">
            <a:r>
              <a:t>      "name": "Australian Labor Party"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"party-054",</a:t>
            </a:r>
          </a:p>
          <a:p xmlns:a="http://schemas.openxmlformats.org/drawingml/2006/main">
            <a:r>
              <a:t>      "name": "New Zealand Labour Party"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"party-056",</a:t>
            </a:r>
          </a:p>
          <a:p xmlns:a="http://schemas.openxmlformats.org/drawingml/2006/main">
            <a:r>
              <a:t>      "name": "Alliance"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"party-063",</a:t>
            </a:r>
          </a:p>
          <a:p xmlns:a="http://schemas.openxmlformats.org/drawingml/2006/main">
            <a:r>
              <a:t>      "name": "Parti Socialiste"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"party-070",</a:t>
            </a:r>
          </a:p>
          <a:p xmlns:a="http://schemas.openxmlformats.org/drawingml/2006/main">
            <a:r>
              <a:t>      "name": "Sozialdemokratische Partei Österreichs"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"party-079",</a:t>
            </a:r>
          </a:p>
          <a:p xmlns:a="http://schemas.openxmlformats.org/drawingml/2006/main">
            <a:r>
              <a:t>      "name": "Sinn Féin"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"party-082",</a:t>
            </a:r>
          </a:p>
          <a:p xmlns:a="http://schemas.openxmlformats.org/drawingml/2006/main">
            <a:r>
              <a:t>      "name": "Labour Party"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"party-086",</a:t>
            </a:r>
          </a:p>
          <a:p xmlns:a="http://schemas.openxmlformats.org/drawingml/2006/main">
            <a:r>
              <a:t>      "name": "Scottish National Party"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"party-087",</a:t>
            </a:r>
          </a:p>
          <a:p xmlns:a="http://schemas.openxmlformats.org/drawingml/2006/main">
            <a:r>
              <a:t>      "name": "Коммунистическая партия Российской Федерации"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"party-089",</a:t>
            </a:r>
          </a:p>
          <a:p xmlns:a="http://schemas.openxmlformats.org/drawingml/2006/main">
            <a:r>
              <a:t>      "name": "Справедливая Россия"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"representatives":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"party-063",</a:t>
            </a:r>
          </a:p>
          <a:p xmlns:a="http://schemas.openxmlformats.org/drawingml/2006/main">
            <a:r>
              <a:t>      "name": "Parti Socialiste",</a:t>
            </a:r>
          </a:p>
          <a:p xmlns:a="http://schemas.openxmlformats.org/drawingml/2006/main">
            <a:r>
              <a:t>      "distance": 0.2800077902860179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"party-047",</a:t>
            </a:r>
          </a:p>
          <a:p xmlns:a="http://schemas.openxmlformats.org/drawingml/2006/main">
            <a:r>
              <a:t>      "name": "New Democratic Party",</a:t>
            </a:r>
          </a:p>
          <a:p xmlns:a="http://schemas.openxmlformats.org/drawingml/2006/main">
            <a:r>
              <a:t>      "distance": 0.362795615519527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"party-082",</a:t>
            </a:r>
          </a:p>
          <a:p xmlns:a="http://schemas.openxmlformats.org/drawingml/2006/main">
            <a:r>
              <a:t>      "name": "Labour Party",</a:t>
            </a:r>
          </a:p>
          <a:p xmlns:a="http://schemas.openxmlformats.org/drawingml/2006/main">
            <a:r>
              <a:t>      "distance": 0.4441969906261227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"factor_center": {</a:t>
            </a:r>
          </a:p>
          <a:p xmlns:a="http://schemas.openxmlformats.org/drawingml/2006/main">
            <a:r>
              <a:t>    "F1": -0.2642450209629419,</a:t>
            </a:r>
          </a:p>
          <a:p xmlns:a="http://schemas.openxmlformats.org/drawingml/2006/main">
            <a:r>
              <a:t>    "F2": 0.6825375167103053,</a:t>
            </a:r>
          </a:p>
          <a:p xmlns:a="http://schemas.openxmlformats.org/drawingml/2006/main">
            <a:r>
              <a:t>    "F3": -0.040739732562000815,</a:t>
            </a:r>
          </a:p>
          <a:p xmlns:a="http://schemas.openxmlformats.org/drawingml/2006/main">
            <a:r>
              <a:t>    "F4": 1.3674616001916136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"distinguishing_scales":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"scale-004",</a:t>
            </a:r>
          </a:p>
          <a:p xmlns:a="http://schemas.openxmlformats.org/drawingml/2006/main">
            <a:r>
              <a:t>      "name": "ориентирована на рабочий класс",</a:t>
            </a:r>
          </a:p>
          <a:p xmlns:a="http://schemas.openxmlformats.org/drawingml/2006/main">
            <a:r>
              <a:t>      "difference": 1.5661987905724435,</a:t>
            </a:r>
          </a:p>
          <a:p xmlns:a="http://schemas.openxmlformats.org/drawingml/2006/main">
            <a:r>
              <a:t>      "group_mean": 3,</a:t>
            </a:r>
          </a:p>
          <a:p xmlns:a="http://schemas.openxmlformats.org/drawingml/2006/main">
            <a:r>
              <a:t>      "overall_mean": -0.5894736842105263,</a:t>
            </a:r>
          </a:p>
          <a:p xmlns:a="http://schemas.openxmlformats.org/drawingml/2006/main">
            <a:r>
              <a:t>      "direction": "positive",</a:t>
            </a:r>
          </a:p>
          <a:p xmlns:a="http://schemas.openxmlformats.org/drawingml/2006/main">
            <a:r>
              <a:t>      "observed_group_count": 23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"scale-012",</a:t>
            </a:r>
          </a:p>
          <a:p xmlns:a="http://schemas.openxmlformats.org/drawingml/2006/main">
            <a:r>
              <a:t>      "name": "сильные профсоюзы",</a:t>
            </a:r>
          </a:p>
          <a:p xmlns:a="http://schemas.openxmlformats.org/drawingml/2006/main">
            <a:r>
              <a:t>      "difference": 1.4815996423502897,</a:t>
            </a:r>
          </a:p>
          <a:p xmlns:a="http://schemas.openxmlformats.org/drawingml/2006/main">
            <a:r>
              <a:t>      "group_mean": 2.608695652173913,</a:t>
            </a:r>
          </a:p>
          <a:p xmlns:a="http://schemas.openxmlformats.org/drawingml/2006/main">
            <a:r>
              <a:t>      "overall_mean": -1.105263157894737,</a:t>
            </a:r>
          </a:p>
          <a:p xmlns:a="http://schemas.openxmlformats.org/drawingml/2006/main">
            <a:r>
              <a:t>      "direction": "positive",</a:t>
            </a:r>
          </a:p>
          <a:p xmlns:a="http://schemas.openxmlformats.org/drawingml/2006/main">
            <a:r>
              <a:t>      "observed_group_count": 23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"scale-001",</a:t>
            </a:r>
          </a:p>
          <a:p xmlns:a="http://schemas.openxmlformats.org/drawingml/2006/main">
            <a:r>
              <a:t>      "name": "социал-демократическая",</a:t>
            </a:r>
          </a:p>
          <a:p xmlns:a="http://schemas.openxmlformats.org/drawingml/2006/main">
            <a:r>
              <a:t>      "difference": 1.4104268587632764,</a:t>
            </a:r>
          </a:p>
          <a:p xmlns:a="http://schemas.openxmlformats.org/drawingml/2006/main">
            <a:r>
              <a:t>      "group_mean": 3.347826086956522,</a:t>
            </a:r>
          </a:p>
          <a:p xmlns:a="http://schemas.openxmlformats.org/drawingml/2006/main">
            <a:r>
              <a:t>      "overall_mean": -1.0526315789473684,</a:t>
            </a:r>
          </a:p>
          <a:p xmlns:a="http://schemas.openxmlformats.org/drawingml/2006/main">
            <a:r>
              <a:t>      "direction": "positive",</a:t>
            </a:r>
          </a:p>
          <a:p xmlns:a="http://schemas.openxmlformats.org/drawingml/2006/main">
            <a:r>
              <a:t>      "observed_group_count": 23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"scale-005",</a:t>
            </a:r>
          </a:p>
          <a:p xmlns:a="http://schemas.openxmlformats.org/drawingml/2006/main">
            <a:r>
              <a:t>      "name": "поддержка государства всеобщего благосостояния",</a:t>
            </a:r>
          </a:p>
          <a:p xmlns:a="http://schemas.openxmlformats.org/drawingml/2006/main">
            <a:r>
              <a:t>      "difference": 1.2380859616357893,</a:t>
            </a:r>
          </a:p>
          <a:p xmlns:a="http://schemas.openxmlformats.org/drawingml/2006/main">
            <a:r>
              <a:t>      "group_mean": 4.391304347826087,</a:t>
            </a:r>
          </a:p>
          <a:p xmlns:a="http://schemas.openxmlformats.org/drawingml/2006/main">
            <a:r>
              <a:t>      "overall_mean": 1.0210526315789474,</a:t>
            </a:r>
          </a:p>
          <a:p xmlns:a="http://schemas.openxmlformats.org/drawingml/2006/main">
            <a:r>
              <a:t>      "direction": "positive",</a:t>
            </a:r>
          </a:p>
          <a:p xmlns:a="http://schemas.openxmlformats.org/drawingml/2006/main">
            <a:r>
              <a:t>      "observed_group_count": 23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"scale-007",</a:t>
            </a:r>
          </a:p>
          <a:p xmlns:a="http://schemas.openxmlformats.org/drawingml/2006/main">
            <a:r>
              <a:t>      "name": "солидарность",</a:t>
            </a:r>
          </a:p>
          <a:p xmlns:a="http://schemas.openxmlformats.org/drawingml/2006/main">
            <a:r>
              <a:t>      "difference": 1.1844079662118319,</a:t>
            </a:r>
          </a:p>
          <a:p xmlns:a="http://schemas.openxmlformats.org/drawingml/2006/main">
            <a:r>
              <a:t>      "group_mean": 3.5652173913043477,</a:t>
            </a:r>
          </a:p>
          <a:p xmlns:a="http://schemas.openxmlformats.org/drawingml/2006/main">
            <a:r>
              <a:t>      "overall_mean": 0.8947368421052632,</a:t>
            </a:r>
          </a:p>
          <a:p xmlns:a="http://schemas.openxmlformats.org/drawingml/2006/main">
            <a:r>
              <a:t>      "direction": "positive",</a:t>
            </a:r>
          </a:p>
          <a:p xmlns:a="http://schemas.openxmlformats.org/drawingml/2006/main">
            <a:r>
              <a:t>      "observed_group_count": 23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"scale-002",</a:t>
            </a:r>
          </a:p>
          <a:p xmlns:a="http://schemas.openxmlformats.org/drawingml/2006/main">
            <a:r>
              <a:t>      "name": "центр-левая",</a:t>
            </a:r>
          </a:p>
          <a:p xmlns:a="http://schemas.openxmlformats.org/drawingml/2006/main">
            <a:r>
              <a:t>      "difference": 1.1305746780205552,</a:t>
            </a:r>
          </a:p>
          <a:p xmlns:a="http://schemas.openxmlformats.org/drawingml/2006/main">
            <a:r>
              <a:t>      "group_mean": 3.4782608695652173,</a:t>
            </a:r>
          </a:p>
          <a:p xmlns:a="http://schemas.openxmlformats.org/drawingml/2006/main">
            <a:r>
              <a:t>      "overall_mean": -0.23157894736842105,</a:t>
            </a:r>
          </a:p>
          <a:p xmlns:a="http://schemas.openxmlformats.org/drawingml/2006/main">
            <a:r>
              <a:t>      "direction": "positive",</a:t>
            </a:r>
          </a:p>
          <a:p xmlns:a="http://schemas.openxmlformats.org/drawingml/2006/main">
            <a:r>
              <a:t>      "observed_group_count": 23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"interpretation": "Отличия от среднего по изученным объектам: «ориентирована на рабочий класс» (+1.57 σ), «сильные профсоюзы» (+1.48 σ), «социал-демократическая» (+1.41 σ). Общность описывается сочетанием оценённых свойств; совпадение электората или причин общности требует внешней проверки.",</a:t>
            </a:r>
          </a:p>
          <a:p xmlns:a="http://schemas.openxmlformats.org/drawingml/2006/main">
            <a:r>
              <a:t>  "boundary_objects": [</a:t>
            </a:r>
          </a:p>
          <a:p xmlns:a="http://schemas.openxmlformats.org/drawingml/2006/main">
            <a:r>
              <a:t>    "party-087"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"stability": {</a:t>
            </a:r>
          </a:p>
          <a:p xmlns:a="http://schemas.openxmlformats.org/drawingml/2006/main">
            <a:r>
              <a:t>    "median_jaccard": 0.9486842105263158,</a:t>
            </a:r>
          </a:p>
          <a:p xmlns:a="http://schemas.openxmlformats.org/drawingml/2006/main">
            <a:r>
              <a:t>    "conditional_mean_ari": 0.8657909944308424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"C2",</a:t>
            </a:r>
          </a:p>
          <a:p xmlns:a="http://schemas.openxmlformats.org/drawingml/2006/main">
            <a:r>
              <a:t>  "name": "Группа 2",</a:t>
            </a:r>
          </a:p>
          <a:p xmlns:a="http://schemas.openxmlformats.org/drawingml/2006/main">
            <a:r>
              <a:t>  "count": 18,</a:t>
            </a:r>
          </a:p>
          <a:p xmlns:a="http://schemas.openxmlformats.org/drawingml/2006/main">
            <a:r>
              <a:t>  "members":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"party-002",</a:t>
            </a:r>
          </a:p>
          <a:p xmlns:a="http://schemas.openxmlformats.org/drawingml/2006/main">
            <a:r>
              <a:t>      "name": "Moderata samlingspartiet"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"party-005",</a:t>
            </a:r>
          </a:p>
          <a:p xmlns:a="http://schemas.openxmlformats.org/drawingml/2006/main">
            <a:r>
              <a:t>      "name": "Kristdemokraterna"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"party-022",</a:t>
            </a:r>
          </a:p>
          <a:p xmlns:a="http://schemas.openxmlformats.org/drawingml/2006/main">
            <a:r>
              <a:t>      "name": "Suomen Keskusta"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"party-026",</a:t>
            </a:r>
          </a:p>
          <a:p xmlns:a="http://schemas.openxmlformats.org/drawingml/2006/main">
            <a:r>
              <a:t>      "name": "Christlich Demokratische Union Deutschlands"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"party-034",</a:t>
            </a:r>
          </a:p>
          <a:p xmlns:a="http://schemas.openxmlformats.org/drawingml/2006/main">
            <a:r>
              <a:t>      "name": "Christen-Democratisch Appèl"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"party-039",</a:t>
            </a:r>
          </a:p>
          <a:p xmlns:a="http://schemas.openxmlformats.org/drawingml/2006/main">
            <a:r>
              <a:t>      "name": "BoerBurgerBeweging"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"party-044",</a:t>
            </a:r>
          </a:p>
          <a:p xmlns:a="http://schemas.openxmlformats.org/drawingml/2006/main">
            <a:r>
              <a:t>      "name": "Progressive Conservative Party of Canada"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"party-049",</a:t>
            </a:r>
          </a:p>
          <a:p xmlns:a="http://schemas.openxmlformats.org/drawingml/2006/main">
            <a:r>
              <a:t>      "name": "Liberal Party of Australia"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"party-053",</a:t>
            </a:r>
          </a:p>
          <a:p xmlns:a="http://schemas.openxmlformats.org/drawingml/2006/main">
            <a:r>
              <a:t>      "name": "New Zealand National Party"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"party-059",</a:t>
            </a:r>
          </a:p>
          <a:p xmlns:a="http://schemas.openxmlformats.org/drawingml/2006/main">
            <a:r>
              <a:t>      "name": "Sjálfstæðisflokkurinn"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"party-060",</a:t>
            </a:r>
          </a:p>
          <a:p xmlns:a="http://schemas.openxmlformats.org/drawingml/2006/main">
            <a:r>
              <a:t>      "name": "Framsóknarflokkurinn"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"party-064",</a:t>
            </a:r>
          </a:p>
          <a:p xmlns:a="http://schemas.openxmlformats.org/drawingml/2006/main">
            <a:r>
              <a:t>      "name": "Christelijke Volkspartij"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"party-065",</a:t>
            </a:r>
          </a:p>
          <a:p xmlns:a="http://schemas.openxmlformats.org/drawingml/2006/main">
            <a:r>
              <a:t>      "name": "Parti Social Chrétien"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"party-071",</a:t>
            </a:r>
          </a:p>
          <a:p xmlns:a="http://schemas.openxmlformats.org/drawingml/2006/main">
            <a:r>
              <a:t>      "name": "Österreichische Volkspartei"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"party-077",</a:t>
            </a:r>
          </a:p>
          <a:p xmlns:a="http://schemas.openxmlformats.org/drawingml/2006/main">
            <a:r>
              <a:t>      "name": "Fianna Fáil"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"party-078",</a:t>
            </a:r>
          </a:p>
          <a:p xmlns:a="http://schemas.openxmlformats.org/drawingml/2006/main">
            <a:r>
              <a:t>      "name": "Fine Gael"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"party-083",</a:t>
            </a:r>
          </a:p>
          <a:p xmlns:a="http://schemas.openxmlformats.org/drawingml/2006/main">
            <a:r>
              <a:t>      "name": "Conservative Party"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"party-088",</a:t>
            </a:r>
          </a:p>
          <a:p xmlns:a="http://schemas.openxmlformats.org/drawingml/2006/main">
            <a:r>
              <a:t>      "name": "Единая Россия"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"representatives":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"party-022",</a:t>
            </a:r>
          </a:p>
          <a:p xmlns:a="http://schemas.openxmlformats.org/drawingml/2006/main">
            <a:r>
              <a:t>      "name": "Suomen Keskusta",</a:t>
            </a:r>
          </a:p>
          <a:p xmlns:a="http://schemas.openxmlformats.org/drawingml/2006/main">
            <a:r>
              <a:t>      "distance": 0.42063018643214156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"party-077",</a:t>
            </a:r>
          </a:p>
          <a:p xmlns:a="http://schemas.openxmlformats.org/drawingml/2006/main">
            <a:r>
              <a:t>      "name": "Fianna Fáil",</a:t>
            </a:r>
          </a:p>
          <a:p xmlns:a="http://schemas.openxmlformats.org/drawingml/2006/main">
            <a:r>
              <a:t>      "distance": 0.5849530698300395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"party-071",</a:t>
            </a:r>
          </a:p>
          <a:p xmlns:a="http://schemas.openxmlformats.org/drawingml/2006/main">
            <a:r>
              <a:t>      "name": "Österreichische Volkspartei",</a:t>
            </a:r>
          </a:p>
          <a:p xmlns:a="http://schemas.openxmlformats.org/drawingml/2006/main">
            <a:r>
              <a:t>      "distance": 0.6241092034609893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"factor_center": {</a:t>
            </a:r>
          </a:p>
          <a:p xmlns:a="http://schemas.openxmlformats.org/drawingml/2006/main">
            <a:r>
              <a:t>    "F1": 0.6339095053075007,</a:t>
            </a:r>
          </a:p>
          <a:p xmlns:a="http://schemas.openxmlformats.org/drawingml/2006/main">
            <a:r>
              <a:t>    "F2": -0.41692396875826704,</a:t>
            </a:r>
          </a:p>
          <a:p xmlns:a="http://schemas.openxmlformats.org/drawingml/2006/main">
            <a:r>
              <a:t>    "F3": -1.46377441293834,</a:t>
            </a:r>
          </a:p>
          <a:p xmlns:a="http://schemas.openxmlformats.org/drawingml/2006/main">
            <a:r>
              <a:t>    "F4": -0.4313685896254771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"distinguishing_scales":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"scale-017",</a:t>
            </a:r>
          </a:p>
          <a:p xmlns:a="http://schemas.openxmlformats.org/drawingml/2006/main">
            <a:r>
              <a:t>      "name": "либерально-консервативная",</a:t>
            </a:r>
          </a:p>
          <a:p xmlns:a="http://schemas.openxmlformats.org/drawingml/2006/main">
            <a:r>
              <a:t>      "difference": 1.0788085521171498,</a:t>
            </a:r>
          </a:p>
          <a:p xmlns:a="http://schemas.openxmlformats.org/drawingml/2006/main">
            <a:r>
              <a:t>      "group_mean": 2.3333333333333335,</a:t>
            </a:r>
          </a:p>
          <a:p xmlns:a="http://schemas.openxmlformats.org/drawingml/2006/main">
            <a:r>
              <a:t>      "overall_mean": -0.9052631578947369,</a:t>
            </a:r>
          </a:p>
          <a:p xmlns:a="http://schemas.openxmlformats.org/drawingml/2006/main">
            <a:r>
              <a:t>      "direction": "positive",</a:t>
            </a:r>
          </a:p>
          <a:p xmlns:a="http://schemas.openxmlformats.org/drawingml/2006/main">
            <a:r>
              <a:t>      "observed_group_count": 18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"scale-016",</a:t>
            </a:r>
          </a:p>
          <a:p xmlns:a="http://schemas.openxmlformats.org/drawingml/2006/main">
            <a:r>
              <a:t>      "name": "правоцентристская",</a:t>
            </a:r>
          </a:p>
          <a:p xmlns:a="http://schemas.openxmlformats.org/drawingml/2006/main">
            <a:r>
              <a:t>      "difference": 0.9802310362980586,</a:t>
            </a:r>
          </a:p>
          <a:p xmlns:a="http://schemas.openxmlformats.org/drawingml/2006/main">
            <a:r>
              <a:t>      "group_mean": 2.888888888888889,</a:t>
            </a:r>
          </a:p>
          <a:p xmlns:a="http://schemas.openxmlformats.org/drawingml/2006/main">
            <a:r>
              <a:t>      "overall_mean": -0.09473684210526316,</a:t>
            </a:r>
          </a:p>
          <a:p xmlns:a="http://schemas.openxmlformats.org/drawingml/2006/main">
            <a:r>
              <a:t>      "direction": "positive",</a:t>
            </a:r>
          </a:p>
          <a:p xmlns:a="http://schemas.openxmlformats.org/drawingml/2006/main">
            <a:r>
              <a:t>      "observed_group_count": 18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"scale-035",</a:t>
            </a:r>
          </a:p>
          <a:p xmlns:a="http://schemas.openxmlformats.org/drawingml/2006/main">
            <a:r>
              <a:t>      "name": "консервативная",</a:t>
            </a:r>
          </a:p>
          <a:p xmlns:a="http://schemas.openxmlformats.org/drawingml/2006/main">
            <a:r>
              <a:t>      "difference": 0.9478637649772662,</a:t>
            </a:r>
          </a:p>
          <a:p xmlns:a="http://schemas.openxmlformats.org/drawingml/2006/main">
            <a:r>
              <a:t>      "group_mean": 2,</a:t>
            </a:r>
          </a:p>
          <a:p xmlns:a="http://schemas.openxmlformats.org/drawingml/2006/main">
            <a:r>
              <a:t>      "overall_mean": -0.6105263157894737,</a:t>
            </a:r>
          </a:p>
          <a:p xmlns:a="http://schemas.openxmlformats.org/drawingml/2006/main">
            <a:r>
              <a:t>      "direction": "positive",</a:t>
            </a:r>
          </a:p>
          <a:p xmlns:a="http://schemas.openxmlformats.org/drawingml/2006/main">
            <a:r>
              <a:t>      "observed_group_count": 18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"scale-029",</a:t>
            </a:r>
          </a:p>
          <a:p xmlns:a="http://schemas.openxmlformats.org/drawingml/2006/main">
            <a:r>
              <a:t>      "name": "традиционные семейные ценности",</a:t>
            </a:r>
          </a:p>
          <a:p xmlns:a="http://schemas.openxmlformats.org/drawingml/2006/main">
            <a:r>
              <a:t>      "difference": 0.939248199632796,</a:t>
            </a:r>
          </a:p>
          <a:p xmlns:a="http://schemas.openxmlformats.org/drawingml/2006/main">
            <a:r>
              <a:t>      "group_mean": 2.2222222222222223,</a:t>
            </a:r>
          </a:p>
          <a:p xmlns:a="http://schemas.openxmlformats.org/drawingml/2006/main">
            <a:r>
              <a:t>      "overall_mean": -0.3368421052631579,</a:t>
            </a:r>
          </a:p>
          <a:p xmlns:a="http://schemas.openxmlformats.org/drawingml/2006/main">
            <a:r>
              <a:t>      "direction": "positive",</a:t>
            </a:r>
          </a:p>
          <a:p xmlns:a="http://schemas.openxmlformats.org/drawingml/2006/main">
            <a:r>
              <a:t>      "observed_group_count": 18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"scale-024",</a:t>
            </a:r>
          </a:p>
          <a:p xmlns:a="http://schemas.openxmlformats.org/drawingml/2006/main">
            <a:r>
              <a:t>      "name": "рациональный прагматизм",</a:t>
            </a:r>
          </a:p>
          <a:p xmlns:a="http://schemas.openxmlformats.org/drawingml/2006/main">
            <a:r>
              <a:t>      "difference": 0.9217715103740228,</a:t>
            </a:r>
          </a:p>
          <a:p xmlns:a="http://schemas.openxmlformats.org/drawingml/2006/main">
            <a:r>
              <a:t>      "group_mean": 2.611111111111111,</a:t>
            </a:r>
          </a:p>
          <a:p xmlns:a="http://schemas.openxmlformats.org/drawingml/2006/main">
            <a:r>
              <a:t>      "overall_mean": 1.2947368421052632,</a:t>
            </a:r>
          </a:p>
          <a:p xmlns:a="http://schemas.openxmlformats.org/drawingml/2006/main">
            <a:r>
              <a:t>      "direction": "positive",</a:t>
            </a:r>
          </a:p>
          <a:p xmlns:a="http://schemas.openxmlformats.org/drawingml/2006/main">
            <a:r>
              <a:t>      "observed_group_count": 18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"scale-023",</a:t>
            </a:r>
          </a:p>
          <a:p xmlns:a="http://schemas.openxmlformats.org/drawingml/2006/main">
            <a:r>
              <a:t>      "name": "ориентация на бизнес",</a:t>
            </a:r>
          </a:p>
          <a:p xmlns:a="http://schemas.openxmlformats.org/drawingml/2006/main">
            <a:r>
              <a:t>      "difference": 0.8554116409714719,</a:t>
            </a:r>
          </a:p>
          <a:p xmlns:a="http://schemas.openxmlformats.org/drawingml/2006/main">
            <a:r>
              <a:t>      "group_mean": 2.1666666666666665,</a:t>
            </a:r>
          </a:p>
          <a:p xmlns:a="http://schemas.openxmlformats.org/drawingml/2006/main">
            <a:r>
              <a:t>      "overall_mean": 0.12631578947368421,</a:t>
            </a:r>
          </a:p>
          <a:p xmlns:a="http://schemas.openxmlformats.org/drawingml/2006/main">
            <a:r>
              <a:t>      "direction": "positive",</a:t>
            </a:r>
          </a:p>
          <a:p xmlns:a="http://schemas.openxmlformats.org/drawingml/2006/main">
            <a:r>
              <a:t>      "observed_group_count": 18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"interpretation": "Отличия от среднего по изученным объектам: «либерально-консервативная» (+1.08 σ), «правоцентристская» (+0.98 σ), «консервативная» (+0.95 σ). Общность описывается сочетанием оценённых свойств; совпадение электората или причин общности требует внешней проверки.",</a:t>
            </a:r>
          </a:p>
          <a:p xmlns:a="http://schemas.openxmlformats.org/drawingml/2006/main">
            <a:r>
              <a:t>  "boundary_objects": [</a:t>
            </a:r>
          </a:p>
          <a:p xmlns:a="http://schemas.openxmlformats.org/drawingml/2006/main">
            <a:r>
              <a:t>    "party-002",</a:t>
            </a:r>
          </a:p>
          <a:p xmlns:a="http://schemas.openxmlformats.org/drawingml/2006/main">
            <a:r>
              <a:t>    "party-039"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"stability": {</a:t>
            </a:r>
          </a:p>
          <a:p xmlns:a="http://schemas.openxmlformats.org/drawingml/2006/main">
            <a:r>
              <a:t>    "median_jaccard": 0.8277777777777777,</a:t>
            </a:r>
          </a:p>
          <a:p xmlns:a="http://schemas.openxmlformats.org/drawingml/2006/main">
            <a:r>
              <a:t>    "conditional_mean_ari": 0.8657909944308424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Числа: metadata.json, scores.csv, loadings.csv и утверждённая матрица оценок.</a:t>
            </a:r>
          </a:p>
          <a:p xmlns:a="http://schemas.openxmlformats.org/drawingml/2006/main">
            <a:r>
              <a:t>Изучаемое пространство: Международное пространство политических партий из прежней выборки.</a:t>
            </a:r>
          </a:p>
          <a:p xmlns:a="http://schemas.openxmlformats.org/drawingml/2006/main">
            <a:r>
              <a:t>Оценщик: legacy_import_example.</a:t>
            </a:r>
          </a:p>
          <a:p xmlns:a="http://schemas.openxmlformats.org/drawingml/2006/main">
            <a:r>
              <a:t>Демонстрационный пример: ТЕХНИЧЕСКИЙ ПРИМЕР НА ПРЕЖНИХ ДАННЫХ. Это повторный анализ ранее сохранённых модельных оценок 95 партий по первым 40 признакам исходного словаря. Это не новое исследование и не результат исследования 70 российских политиков. Новые источники не собирались, LLM не вызывалась, старый словарь не проходил новую нормализацию. Оценка x по прежней шкале 0–10 перенесена как value = x − 5. Два полюса независимо не оценивались; их сумма и смешанность по этим данным не определяются. Ноль в примере означает прежнюю оценку 5, а не доказанную невыраженность обоих свойств. Отметки утверждения принадлежат импортированному примеру, а не пользователю..</a:t>
            </a:r>
          </a:p>
          <a:p xmlns:a="http://schemas.openxmlformats.org/drawingml/2006/main">
            <a:r>
              <a:t>Исходные URL: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"C3",</a:t>
            </a:r>
          </a:p>
          <a:p xmlns:a="http://schemas.openxmlformats.org/drawingml/2006/main">
            <a:r>
              <a:t>  "name": "Группа 3",</a:t>
            </a:r>
          </a:p>
          <a:p xmlns:a="http://schemas.openxmlformats.org/drawingml/2006/main">
            <a:r>
              <a:t>  "count": 23,</a:t>
            </a:r>
          </a:p>
          <a:p xmlns:a="http://schemas.openxmlformats.org/drawingml/2006/main">
            <a:r>
              <a:t>  "members":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"party-003",</a:t>
            </a:r>
          </a:p>
          <a:p xmlns:a="http://schemas.openxmlformats.org/drawingml/2006/main">
            <a:r>
              <a:t>      "name": "Sverigedemokraterna"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"party-008",</a:t>
            </a:r>
          </a:p>
          <a:p xmlns:a="http://schemas.openxmlformats.org/drawingml/2006/main">
            <a:r>
              <a:t>      "name": "Ny demokrati"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"party-010",</a:t>
            </a:r>
          </a:p>
          <a:p xmlns:a="http://schemas.openxmlformats.org/drawingml/2006/main">
            <a:r>
              <a:t>      "name": "Fremskrittspartiet"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"party-015",</a:t>
            </a:r>
          </a:p>
          <a:p xmlns:a="http://schemas.openxmlformats.org/drawingml/2006/main">
            <a:r>
              <a:t>      "name": "Fremskridtspartiet"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"party-016",</a:t>
            </a:r>
          </a:p>
          <a:p xmlns:a="http://schemas.openxmlformats.org/drawingml/2006/main">
            <a:r>
              <a:t>      "name": "Dansk Folkeparti"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"party-020",</a:t>
            </a:r>
          </a:p>
          <a:p xmlns:a="http://schemas.openxmlformats.org/drawingml/2006/main">
            <a:r>
              <a:t>      "name": "Nye Borgerlige"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"party-024",</a:t>
            </a:r>
          </a:p>
          <a:p xmlns:a="http://schemas.openxmlformats.org/drawingml/2006/main">
            <a:r>
              <a:t>      "name": "Perussuomalaiset"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"party-029",</a:t>
            </a:r>
          </a:p>
          <a:p xmlns:a="http://schemas.openxmlformats.org/drawingml/2006/main">
            <a:r>
              <a:t>      "name": "Alternative für Deutschland"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"party-036",</a:t>
            </a:r>
          </a:p>
          <a:p xmlns:a="http://schemas.openxmlformats.org/drawingml/2006/main">
            <a:r>
              <a:t>      "name": "Partij voor de Vrijheid"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"party-037",</a:t>
            </a:r>
          </a:p>
          <a:p xmlns:a="http://schemas.openxmlformats.org/drawingml/2006/main">
            <a:r>
              <a:t>      "name": "Forum voor Democratie"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"party-040",</a:t>
            </a:r>
          </a:p>
          <a:p xmlns:a="http://schemas.openxmlformats.org/drawingml/2006/main">
            <a:r>
              <a:t>      "name": "Lijst Pim Fortuyn"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"party-041",</a:t>
            </a:r>
          </a:p>
          <a:p xmlns:a="http://schemas.openxmlformats.org/drawingml/2006/main">
            <a:r>
              <a:t>      "name": "Schweizerische Volkspartei"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"party-045",</a:t>
            </a:r>
          </a:p>
          <a:p xmlns:a="http://schemas.openxmlformats.org/drawingml/2006/main">
            <a:r>
              <a:t>      "name": "Reform Party of Canada"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"party-050",</a:t>
            </a:r>
          </a:p>
          <a:p xmlns:a="http://schemas.openxmlformats.org/drawingml/2006/main">
            <a:r>
              <a:t>      "name": "Pauline Hanson's One Nation"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"party-052",</a:t>
            </a:r>
          </a:p>
          <a:p xmlns:a="http://schemas.openxmlformats.org/drawingml/2006/main">
            <a:r>
              <a:t>      "name": "Palmer United Party"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"party-055",</a:t>
            </a:r>
          </a:p>
          <a:p xmlns:a="http://schemas.openxmlformats.org/drawingml/2006/main">
            <a:r>
              <a:t>      "name": "New Zealand First"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"party-066",</a:t>
            </a:r>
          </a:p>
          <a:p xmlns:a="http://schemas.openxmlformats.org/drawingml/2006/main">
            <a:r>
              <a:t>      "name": "Vlaams Blok"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"party-067",</a:t>
            </a:r>
          </a:p>
          <a:p xmlns:a="http://schemas.openxmlformats.org/drawingml/2006/main">
            <a:r>
              <a:t>      "name": "Nieuw-Vlaamse Alliantie"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"party-072",</a:t>
            </a:r>
          </a:p>
          <a:p xmlns:a="http://schemas.openxmlformats.org/drawingml/2006/main">
            <a:r>
              <a:t>      "name": "Freiheitliche Partei Österreichs"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"party-074",</a:t>
            </a:r>
          </a:p>
          <a:p xmlns:a="http://schemas.openxmlformats.org/drawingml/2006/main">
            <a:r>
              <a:t>      "name": "Team Stronach für Österreich"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"party-085",</a:t>
            </a:r>
          </a:p>
          <a:p xmlns:a="http://schemas.openxmlformats.org/drawingml/2006/main">
            <a:r>
              <a:t>      "name": "UK Independence Party"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"party-091",</a:t>
            </a:r>
          </a:p>
          <a:p xmlns:a="http://schemas.openxmlformats.org/drawingml/2006/main">
            <a:r>
              <a:t>      "name": "Либерально-демократическая партия России"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"party-093",</a:t>
            </a:r>
          </a:p>
          <a:p xmlns:a="http://schemas.openxmlformats.org/drawingml/2006/main">
            <a:r>
              <a:t>      "name": "Родина (российская политическая партия)"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"representatives":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"party-029",</a:t>
            </a:r>
          </a:p>
          <a:p xmlns:a="http://schemas.openxmlformats.org/drawingml/2006/main">
            <a:r>
              <a:t>      "name": "Alternative für Deutschland",</a:t>
            </a:r>
          </a:p>
          <a:p xmlns:a="http://schemas.openxmlformats.org/drawingml/2006/main">
            <a:r>
              <a:t>      "distance": 0.3786897938655171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"party-037",</a:t>
            </a:r>
          </a:p>
          <a:p xmlns:a="http://schemas.openxmlformats.org/drawingml/2006/main">
            <a:r>
              <a:t>      "name": "Forum voor Democratie",</a:t>
            </a:r>
          </a:p>
          <a:p xmlns:a="http://schemas.openxmlformats.org/drawingml/2006/main">
            <a:r>
              <a:t>      "distance": 0.4716569696553809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"party-020",</a:t>
            </a:r>
          </a:p>
          <a:p xmlns:a="http://schemas.openxmlformats.org/drawingml/2006/main">
            <a:r>
              <a:t>      "name": "Nye Borgerlige",</a:t>
            </a:r>
          </a:p>
          <a:p xmlns:a="http://schemas.openxmlformats.org/drawingml/2006/main">
            <a:r>
              <a:t>      "distance": 0.526817209889408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"factor_center": {</a:t>
            </a:r>
          </a:p>
          <a:p xmlns:a="http://schemas.openxmlformats.org/drawingml/2006/main">
            <a:r>
              <a:t>    "F1": 1.143442216683227,</a:t>
            </a:r>
          </a:p>
          <a:p xmlns:a="http://schemas.openxmlformats.org/drawingml/2006/main">
            <a:r>
              <a:t>    "F2": -0.2984035809819425,</a:t>
            </a:r>
          </a:p>
          <a:p xmlns:a="http://schemas.openxmlformats.org/drawingml/2006/main">
            <a:r>
              <a:t>    "F3": 1.0704902675454118,</a:t>
            </a:r>
          </a:p>
          <a:p xmlns:a="http://schemas.openxmlformats.org/drawingml/2006/main">
            <a:r>
              <a:t>    "F4": -0.09764418553882397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"distinguishing_scales":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"scale-033",</a:t>
            </a:r>
          </a:p>
          <a:p xmlns:a="http://schemas.openxmlformats.org/drawingml/2006/main">
            <a:r>
              <a:t>      "name": "антииммиграционная",</a:t>
            </a:r>
          </a:p>
          <a:p xmlns:a="http://schemas.openxmlformats.org/drawingml/2006/main">
            <a:r>
              <a:t>      "difference": 1.6175508516212107,</a:t>
            </a:r>
          </a:p>
          <a:p xmlns:a="http://schemas.openxmlformats.org/drawingml/2006/main">
            <a:r>
              <a:t>      "group_mean": 3.1739130434782608,</a:t>
            </a:r>
          </a:p>
          <a:p xmlns:a="http://schemas.openxmlformats.org/drawingml/2006/main">
            <a:r>
              <a:t>      "overall_mean": -1.8631578947368421,</a:t>
            </a:r>
          </a:p>
          <a:p xmlns:a="http://schemas.openxmlformats.org/drawingml/2006/main">
            <a:r>
              <a:t>      "direction": "positive",</a:t>
            </a:r>
          </a:p>
          <a:p xmlns:a="http://schemas.openxmlformats.org/drawingml/2006/main">
            <a:r>
              <a:t>      "observed_group_count": 23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"scale-032",</a:t>
            </a:r>
          </a:p>
          <a:p xmlns:a="http://schemas.openxmlformats.org/drawingml/2006/main">
            <a:r>
              <a:t>      "name": "правопопулистская",</a:t>
            </a:r>
          </a:p>
          <a:p xmlns:a="http://schemas.openxmlformats.org/drawingml/2006/main">
            <a:r>
              <a:t>      "difference": 1.607579480080248,</a:t>
            </a:r>
          </a:p>
          <a:p xmlns:a="http://schemas.openxmlformats.org/drawingml/2006/main">
            <a:r>
              <a:t>      "group_mean": 3.260869565217391,</a:t>
            </a:r>
          </a:p>
          <a:p xmlns:a="http://schemas.openxmlformats.org/drawingml/2006/main">
            <a:r>
              <a:t>      "overall_mean": -1.831578947368421,</a:t>
            </a:r>
          </a:p>
          <a:p xmlns:a="http://schemas.openxmlformats.org/drawingml/2006/main">
            <a:r>
              <a:t>      "direction": "positive",</a:t>
            </a:r>
          </a:p>
          <a:p xmlns:a="http://schemas.openxmlformats.org/drawingml/2006/main">
            <a:r>
              <a:t>      "observed_group_count": 23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"scale-037",</a:t>
            </a:r>
          </a:p>
          <a:p xmlns:a="http://schemas.openxmlformats.org/drawingml/2006/main">
            <a:r>
              <a:t>      "name": "критика мультикультурализма",</a:t>
            </a:r>
          </a:p>
          <a:p xmlns:a="http://schemas.openxmlformats.org/drawingml/2006/main">
            <a:r>
              <a:t>      "difference": 1.5749286197756835,</a:t>
            </a:r>
          </a:p>
          <a:p xmlns:a="http://schemas.openxmlformats.org/drawingml/2006/main">
            <a:r>
              <a:t>      "group_mean": 3.217391304347826,</a:t>
            </a:r>
          </a:p>
          <a:p xmlns:a="http://schemas.openxmlformats.org/drawingml/2006/main">
            <a:r>
              <a:t>      "overall_mean": -1.694736842105263,</a:t>
            </a:r>
          </a:p>
          <a:p xmlns:a="http://schemas.openxmlformats.org/drawingml/2006/main">
            <a:r>
              <a:t>      "direction": "positive",</a:t>
            </a:r>
          </a:p>
          <a:p xmlns:a="http://schemas.openxmlformats.org/drawingml/2006/main">
            <a:r>
              <a:t>      "observed_group_count": 23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"scale-013",</a:t>
            </a:r>
          </a:p>
          <a:p xmlns:a="http://schemas.openxmlformats.org/drawingml/2006/main">
            <a:r>
              <a:t>      "name": "инклюзивность",</a:t>
            </a:r>
          </a:p>
          <a:p xmlns:a="http://schemas.openxmlformats.org/drawingml/2006/main">
            <a:r>
              <a:t>      "difference": -1.4370858813927025,</a:t>
            </a:r>
          </a:p>
          <a:p xmlns:a="http://schemas.openxmlformats.org/drawingml/2006/main">
            <a:r>
              <a:t>      "group_mean": -3.0869565217391304,</a:t>
            </a:r>
          </a:p>
          <a:p xmlns:a="http://schemas.openxmlformats.org/drawingml/2006/main">
            <a:r>
              <a:t>      "overall_mean": 0.8526315789473684,</a:t>
            </a:r>
          </a:p>
          <a:p xmlns:a="http://schemas.openxmlformats.org/drawingml/2006/main">
            <a:r>
              <a:t>      "direction": "negative",</a:t>
            </a:r>
          </a:p>
          <a:p xmlns:a="http://schemas.openxmlformats.org/drawingml/2006/main">
            <a:r>
              <a:t>      "observed_group_count": 23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"scale-014",</a:t>
            </a:r>
          </a:p>
          <a:p xmlns:a="http://schemas.openxmlformats.org/drawingml/2006/main">
            <a:r>
              <a:t>      "name": "антидискриминация",</a:t>
            </a:r>
          </a:p>
          <a:p xmlns:a="http://schemas.openxmlformats.org/drawingml/2006/main">
            <a:r>
              <a:t>      "difference": -1.4364077753664253,</a:t>
            </a:r>
          </a:p>
          <a:p xmlns:a="http://schemas.openxmlformats.org/drawingml/2006/main">
            <a:r>
              <a:t>      "group_mean": -3.0434782608695654,</a:t>
            </a:r>
          </a:p>
          <a:p xmlns:a="http://schemas.openxmlformats.org/drawingml/2006/main">
            <a:r>
              <a:t>      "overall_mean": 1.0736842105263158,</a:t>
            </a:r>
          </a:p>
          <a:p xmlns:a="http://schemas.openxmlformats.org/drawingml/2006/main">
            <a:r>
              <a:t>      "direction": "negative",</a:t>
            </a:r>
          </a:p>
          <a:p xmlns:a="http://schemas.openxmlformats.org/drawingml/2006/main">
            <a:r>
              <a:t>      "observed_group_count": 23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"scale-031",</a:t>
            </a:r>
          </a:p>
          <a:p xmlns:a="http://schemas.openxmlformats.org/drawingml/2006/main">
            <a:r>
              <a:t>      "name": "националистическая",</a:t>
            </a:r>
          </a:p>
          <a:p xmlns:a="http://schemas.openxmlformats.org/drawingml/2006/main">
            <a:r>
              <a:t>      "difference": 1.423991486831654,</a:t>
            </a:r>
          </a:p>
          <a:p xmlns:a="http://schemas.openxmlformats.org/drawingml/2006/main">
            <a:r>
              <a:t>      "group_mean": 2.5217391304347827,</a:t>
            </a:r>
          </a:p>
          <a:p xmlns:a="http://schemas.openxmlformats.org/drawingml/2006/main">
            <a:r>
              <a:t>      "overall_mean": -1.2736842105263158,</a:t>
            </a:r>
          </a:p>
          <a:p xmlns:a="http://schemas.openxmlformats.org/drawingml/2006/main">
            <a:r>
              <a:t>      "direction": "positive",</a:t>
            </a:r>
          </a:p>
          <a:p xmlns:a="http://schemas.openxmlformats.org/drawingml/2006/main">
            <a:r>
              <a:t>      "observed_group_count": 23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"interpretation": "Отличия от среднего по изученным объектам: «антииммиграционная» (+1.62 σ), «правопопулистская» (+1.61 σ), «критика мультикультурализма» (+1.57 σ). Общность описывается сочетанием оценённых свойств; совпадение электората или причин общности требует внешней проверки.",</a:t>
            </a:r>
          </a:p>
          <a:p xmlns:a="http://schemas.openxmlformats.org/drawingml/2006/main">
            <a:r>
              <a:t>  "boundary_objects": [</a:t>
            </a:r>
          </a:p>
          <a:p xmlns:a="http://schemas.openxmlformats.org/drawingml/2006/main">
            <a:r>
              <a:t>    "party-093"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"stability": {</a:t>
            </a:r>
          </a:p>
          <a:p xmlns:a="http://schemas.openxmlformats.org/drawingml/2006/main">
            <a:r>
              <a:t>    "median_jaccard": 0.9428104575163399,</a:t>
            </a:r>
          </a:p>
          <a:p xmlns:a="http://schemas.openxmlformats.org/drawingml/2006/main">
            <a:r>
              <a:t>    "conditional_mean_ari": 0.8657909944308424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"C4",</a:t>
            </a:r>
          </a:p>
          <a:p xmlns:a="http://schemas.openxmlformats.org/drawingml/2006/main">
            <a:r>
              <a:t>  "name": "Группа 4",</a:t>
            </a:r>
          </a:p>
          <a:p xmlns:a="http://schemas.openxmlformats.org/drawingml/2006/main">
            <a:r>
              <a:t>  "count": 17,</a:t>
            </a:r>
          </a:p>
          <a:p xmlns:a="http://schemas.openxmlformats.org/drawingml/2006/main">
            <a:r>
              <a:t>  "members":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"party-004",</a:t>
            </a:r>
          </a:p>
          <a:p xmlns:a="http://schemas.openxmlformats.org/drawingml/2006/main">
            <a:r>
              <a:t>      "name": "Miljöpartiet de gröna"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"party-012",</a:t>
            </a:r>
          </a:p>
          <a:p xmlns:a="http://schemas.openxmlformats.org/drawingml/2006/main">
            <a:r>
              <a:t>      "name": "Miljøpartiet De Grønne"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"party-021",</a:t>
            </a:r>
          </a:p>
          <a:p xmlns:a="http://schemas.openxmlformats.org/drawingml/2006/main">
            <a:r>
              <a:t>      "name": "Alternativet"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"party-025",</a:t>
            </a:r>
          </a:p>
          <a:p xmlns:a="http://schemas.openxmlformats.org/drawingml/2006/main">
            <a:r>
              <a:t>      "name": "Vihreä liitto"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"party-028",</a:t>
            </a:r>
          </a:p>
          <a:p xmlns:a="http://schemas.openxmlformats.org/drawingml/2006/main">
            <a:r>
              <a:t>      "name": "Bündnis 90/Die Grünen"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"party-038",</a:t>
            </a:r>
          </a:p>
          <a:p xmlns:a="http://schemas.openxmlformats.org/drawingml/2006/main">
            <a:r>
              <a:t>      "name": "GroenLinks"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"party-042",</a:t>
            </a:r>
          </a:p>
          <a:p xmlns:a="http://schemas.openxmlformats.org/drawingml/2006/main">
            <a:r>
              <a:t>      "name": "Grüne Partei der Schweiz"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"party-051",</a:t>
            </a:r>
          </a:p>
          <a:p xmlns:a="http://schemas.openxmlformats.org/drawingml/2006/main">
            <a:r>
              <a:t>      "name": "Australian Greens"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"party-058",</a:t>
            </a:r>
          </a:p>
          <a:p xmlns:a="http://schemas.openxmlformats.org/drawingml/2006/main">
            <a:r>
              <a:t>      "name": "Green Party of Aotearoa New Zealand"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"party-061",</a:t>
            </a:r>
          </a:p>
          <a:p xmlns:a="http://schemas.openxmlformats.org/drawingml/2006/main">
            <a:r>
              <a:t>      "name": "Besti flokkurinn"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"party-062",</a:t>
            </a:r>
          </a:p>
          <a:p xmlns:a="http://schemas.openxmlformats.org/drawingml/2006/main">
            <a:r>
              <a:t>      "name": "Píratar"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"party-068",</a:t>
            </a:r>
          </a:p>
          <a:p xmlns:a="http://schemas.openxmlformats.org/drawingml/2006/main">
            <a:r>
              <a:t>      "name": "Ecolo"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"party-073",</a:t>
            </a:r>
          </a:p>
          <a:p xmlns:a="http://schemas.openxmlformats.org/drawingml/2006/main">
            <a:r>
              <a:t>      "name": "Die Grünen – Die Grüne Alternative"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"party-076",</a:t>
            </a:r>
          </a:p>
          <a:p xmlns:a="http://schemas.openxmlformats.org/drawingml/2006/main">
            <a:r>
              <a:t>      "name": "Liste Peter Pilz"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"party-081",</a:t>
            </a:r>
          </a:p>
          <a:p xmlns:a="http://schemas.openxmlformats.org/drawingml/2006/main">
            <a:r>
              <a:t>      "name": "Green Party"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"party-090",</a:t>
            </a:r>
          </a:p>
          <a:p xmlns:a="http://schemas.openxmlformats.org/drawingml/2006/main">
            <a:r>
              <a:t>      "name": "Российская партия пенсионеров"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"party-094",</a:t>
            </a:r>
          </a:p>
          <a:p xmlns:a="http://schemas.openxmlformats.org/drawingml/2006/main">
            <a:r>
              <a:t>      "name": "Российская экологическая партия «Зеленые»"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"representatives":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"party-004",</a:t>
            </a:r>
          </a:p>
          <a:p xmlns:a="http://schemas.openxmlformats.org/drawingml/2006/main">
            <a:r>
              <a:t>      "name": "Miljöpartiet de gröna",</a:t>
            </a:r>
          </a:p>
          <a:p xmlns:a="http://schemas.openxmlformats.org/drawingml/2006/main">
            <a:r>
              <a:t>      "distance": 0.28743318889515784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"party-068",</a:t>
            </a:r>
          </a:p>
          <a:p xmlns:a="http://schemas.openxmlformats.org/drawingml/2006/main">
            <a:r>
              <a:t>      "name": "Ecolo",</a:t>
            </a:r>
          </a:p>
          <a:p xmlns:a="http://schemas.openxmlformats.org/drawingml/2006/main">
            <a:r>
              <a:t>      "distance": 0.35395630556117036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"party-081",</a:t>
            </a:r>
          </a:p>
          <a:p xmlns:a="http://schemas.openxmlformats.org/drawingml/2006/main">
            <a:r>
              <a:t>      "name": "Green Party",</a:t>
            </a:r>
          </a:p>
          <a:p xmlns:a="http://schemas.openxmlformats.org/drawingml/2006/main">
            <a:r>
              <a:t>      "distance": 0.35630925510360073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"factor_center": {</a:t>
            </a:r>
          </a:p>
          <a:p xmlns:a="http://schemas.openxmlformats.org/drawingml/2006/main">
            <a:r>
              <a:t>    "F1": -1.0393420322304299,</a:t>
            </a:r>
          </a:p>
          <a:p xmlns:a="http://schemas.openxmlformats.org/drawingml/2006/main">
            <a:r>
              <a:t>    "F2": 0.9735677868119209,</a:t>
            </a:r>
          </a:p>
          <a:p xmlns:a="http://schemas.openxmlformats.org/drawingml/2006/main">
            <a:r>
              <a:t>    "F3": 0.22126832414958034,</a:t>
            </a:r>
          </a:p>
          <a:p xmlns:a="http://schemas.openxmlformats.org/drawingml/2006/main">
            <a:r>
              <a:t>    "F4": -0.9785782536588414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"distinguishing_scales":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"scale-009",</a:t>
            </a:r>
          </a:p>
          <a:p xmlns:a="http://schemas.openxmlformats.org/drawingml/2006/main">
            <a:r>
              <a:t>      "name": "экологическая ответственность",</a:t>
            </a:r>
          </a:p>
          <a:p xmlns:a="http://schemas.openxmlformats.org/drawingml/2006/main">
            <a:r>
              <a:t>      "difference": 1.1861803400658988,</a:t>
            </a:r>
          </a:p>
          <a:p xmlns:a="http://schemas.openxmlformats.org/drawingml/2006/main">
            <a:r>
              <a:t>      "group_mean": 4.0588235294117645,</a:t>
            </a:r>
          </a:p>
          <a:p xmlns:a="http://schemas.openxmlformats.org/drawingml/2006/main">
            <a:r>
              <a:t>      "overall_mean": 0.8421052631578947,</a:t>
            </a:r>
          </a:p>
          <a:p xmlns:a="http://schemas.openxmlformats.org/drawingml/2006/main">
            <a:r>
              <a:t>      "direction": "positive",</a:t>
            </a:r>
          </a:p>
          <a:p xmlns:a="http://schemas.openxmlformats.org/drawingml/2006/main">
            <a:r>
              <a:t>      "observed_group_count": 17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"scale-021",</a:t>
            </a:r>
          </a:p>
          <a:p xmlns:a="http://schemas.openxmlformats.org/drawingml/2006/main">
            <a:r>
              <a:t>      "name": "жёсткая политика в сфере правопорядка",</a:t>
            </a:r>
          </a:p>
          <a:p xmlns:a="http://schemas.openxmlformats.org/drawingml/2006/main">
            <a:r>
              <a:t>      "difference": -1.109315129007976,</a:t>
            </a:r>
          </a:p>
          <a:p xmlns:a="http://schemas.openxmlformats.org/drawingml/2006/main">
            <a:r>
              <a:t>      "group_mean": -3.1176470588235294,</a:t>
            </a:r>
          </a:p>
          <a:p xmlns:a="http://schemas.openxmlformats.org/drawingml/2006/main">
            <a:r>
              <a:t>      "overall_mean": -0.3894736842105263,</a:t>
            </a:r>
          </a:p>
          <a:p xmlns:a="http://schemas.openxmlformats.org/drawingml/2006/main">
            <a:r>
              <a:t>      "direction": "negative",</a:t>
            </a:r>
          </a:p>
          <a:p xmlns:a="http://schemas.openxmlformats.org/drawingml/2006/main">
            <a:r>
              <a:t>      "observed_group_count": 17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"scale-029",</a:t>
            </a:r>
          </a:p>
          <a:p xmlns:a="http://schemas.openxmlformats.org/drawingml/2006/main">
            <a:r>
              <a:t>      "name": "традиционные семейные ценности",</a:t>
            </a:r>
          </a:p>
          <a:p xmlns:a="http://schemas.openxmlformats.org/drawingml/2006/main">
            <a:r>
              <a:t>      "difference": -1.0854028554956472,</a:t>
            </a:r>
          </a:p>
          <a:p xmlns:a="http://schemas.openxmlformats.org/drawingml/2006/main">
            <a:r>
              <a:t>      "group_mean": -3.2941176470588234,</a:t>
            </a:r>
          </a:p>
          <a:p xmlns:a="http://schemas.openxmlformats.org/drawingml/2006/main">
            <a:r>
              <a:t>      "overall_mean": -0.3368421052631579,</a:t>
            </a:r>
          </a:p>
          <a:p xmlns:a="http://schemas.openxmlformats.org/drawingml/2006/main">
            <a:r>
              <a:t>      "direction": "negative",</a:t>
            </a:r>
          </a:p>
          <a:p xmlns:a="http://schemas.openxmlformats.org/drawingml/2006/main">
            <a:r>
              <a:t>      "observed_group_count": 17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"scale-035",</a:t>
            </a:r>
          </a:p>
          <a:p xmlns:a="http://schemas.openxmlformats.org/drawingml/2006/main">
            <a:r>
              <a:t>      "name": "консервативная",</a:t>
            </a:r>
          </a:p>
          <a:p xmlns:a="http://schemas.openxmlformats.org/drawingml/2006/main">
            <a:r>
              <a:t>      "difference": -1.0811852100985941,</a:t>
            </a:r>
          </a:p>
          <a:p xmlns:a="http://schemas.openxmlformats.org/drawingml/2006/main">
            <a:r>
              <a:t>      "group_mean": -3.588235294117647,</a:t>
            </a:r>
          </a:p>
          <a:p xmlns:a="http://schemas.openxmlformats.org/drawingml/2006/main">
            <a:r>
              <a:t>      "overall_mean": -0.6105263157894737,</a:t>
            </a:r>
          </a:p>
          <a:p xmlns:a="http://schemas.openxmlformats.org/drawingml/2006/main">
            <a:r>
              <a:t>      "direction": "negative",</a:t>
            </a:r>
          </a:p>
          <a:p xmlns:a="http://schemas.openxmlformats.org/drawingml/2006/main">
            <a:r>
              <a:t>      "observed_group_count": 17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"scale-016",</a:t>
            </a:r>
          </a:p>
          <a:p xmlns:a="http://schemas.openxmlformats.org/drawingml/2006/main">
            <a:r>
              <a:t>      "name": "правоцентристская",</a:t>
            </a:r>
          </a:p>
          <a:p xmlns:a="http://schemas.openxmlformats.org/drawingml/2006/main">
            <a:r>
              <a:t>      "difference": -1.0704402291374424,</a:t>
            </a:r>
          </a:p>
          <a:p xmlns:a="http://schemas.openxmlformats.org/drawingml/2006/main">
            <a:r>
              <a:t>      "group_mean": -3.3529411764705883,</a:t>
            </a:r>
          </a:p>
          <a:p xmlns:a="http://schemas.openxmlformats.org/drawingml/2006/main">
            <a:r>
              <a:t>      "overall_mean": -0.09473684210526316,</a:t>
            </a:r>
          </a:p>
          <a:p xmlns:a="http://schemas.openxmlformats.org/drawingml/2006/main">
            <a:r>
              <a:t>      "direction": "negative",</a:t>
            </a:r>
          </a:p>
          <a:p xmlns:a="http://schemas.openxmlformats.org/drawingml/2006/main">
            <a:r>
              <a:t>      "observed_group_count": 17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"scale-003",</a:t>
            </a:r>
          </a:p>
          <a:p xmlns:a="http://schemas.openxmlformats.org/drawingml/2006/main">
            <a:r>
              <a:t>      "name": "прогрессивная",</a:t>
            </a:r>
          </a:p>
          <a:p xmlns:a="http://schemas.openxmlformats.org/drawingml/2006/main">
            <a:r>
              <a:t>      "difference": 1.0518075458098182,</a:t>
            </a:r>
          </a:p>
          <a:p xmlns:a="http://schemas.openxmlformats.org/drawingml/2006/main">
            <a:r>
              <a:t>      "group_mean": 3.6470588235294117,</a:t>
            </a:r>
          </a:p>
          <a:p xmlns:a="http://schemas.openxmlformats.org/drawingml/2006/main">
            <a:r>
              <a:t>      "overall_mean": 0.18947368421052632,</a:t>
            </a:r>
          </a:p>
          <a:p xmlns:a="http://schemas.openxmlformats.org/drawingml/2006/main">
            <a:r>
              <a:t>      "direction": "positive",</a:t>
            </a:r>
          </a:p>
          <a:p xmlns:a="http://schemas.openxmlformats.org/drawingml/2006/main">
            <a:r>
              <a:t>      "observed_group_count": 17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"interpretation": "Отличия от среднего по изученным объектам: «экологическая ответственность» (+1.19 σ), «жёсткая политика в сфере правопорядка» (-1.11 σ), «традиционные семейные ценности» (-1.09 σ). Общность описывается сочетанием оценённых свойств; совпадение электората или причин общности требует внешней проверки.",</a:t>
            </a:r>
          </a:p>
          <a:p xmlns:a="http://schemas.openxmlformats.org/drawingml/2006/main">
            <a:r>
              <a:t>  "boundary_objects": [],</a:t>
            </a:r>
          </a:p>
          <a:p xmlns:a="http://schemas.openxmlformats.org/drawingml/2006/main">
            <a:r>
              <a:t>  "stability": {</a:t>
            </a:r>
          </a:p>
          <a:p xmlns:a="http://schemas.openxmlformats.org/drawingml/2006/main">
            <a:r>
              <a:t>    "median_jaccard": 1,</a:t>
            </a:r>
          </a:p>
          <a:p xmlns:a="http://schemas.openxmlformats.org/drawingml/2006/main">
            <a:r>
              <a:t>    "conditional_mean_ari": 0.8657909944308424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Числа: metadata.json, scores.csv, loadings.csv и утверждённая матрица оценок.</a:t>
            </a:r>
          </a:p>
          <a:p xmlns:a="http://schemas.openxmlformats.org/drawingml/2006/main">
            <a:r>
              <a:t>Изучаемое пространство: Международное пространство политических партий из прежней выборки.</a:t>
            </a:r>
          </a:p>
          <a:p xmlns:a="http://schemas.openxmlformats.org/drawingml/2006/main">
            <a:r>
              <a:t>Оценщик: legacy_import_example.</a:t>
            </a:r>
          </a:p>
          <a:p xmlns:a="http://schemas.openxmlformats.org/drawingml/2006/main">
            <a:r>
              <a:t>Демонстрационный пример: ТЕХНИЧЕСКИЙ ПРИМЕР НА ПРЕЖНИХ ДАННЫХ. Это повторный анализ ранее сохранённых модельных оценок 95 партий по первым 40 признакам исходного словаря. Это не новое исследование и не результат исследования 70 российских политиков. Новые источники не собирались, LLM не вызывалась, старый словарь не проходил новую нормализацию. Оценка x по прежней шкале 0–10 перенесена как value = x − 5. Два полюса независимо не оценивались; их сумма и смешанность по этим данным не определяются. Ноль в примере означает прежнюю оценку 5, а не доказанную невыраженность обоих свойств. Отметки утверждения принадлежат импортированному примеру, а не пользователю..</a:t>
            </a:r>
          </a:p>
          <a:p xmlns:a="http://schemas.openxmlformats.org/drawingml/2006/main">
            <a:r>
              <a:t>Исходные URL: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"C5",</a:t>
            </a:r>
          </a:p>
          <a:p xmlns:a="http://schemas.openxmlformats.org/drawingml/2006/main">
            <a:r>
              <a:t>  "name": "Группа 5",</a:t>
            </a:r>
          </a:p>
          <a:p xmlns:a="http://schemas.openxmlformats.org/drawingml/2006/main">
            <a:r>
              <a:t>  "count": 14,</a:t>
            </a:r>
          </a:p>
          <a:p xmlns:a="http://schemas.openxmlformats.org/drawingml/2006/main">
            <a:r>
              <a:t>  "members":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"party-006",</a:t>
            </a:r>
          </a:p>
          <a:p xmlns:a="http://schemas.openxmlformats.org/drawingml/2006/main">
            <a:r>
              <a:t>      "name": "Centerpartiet"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"party-014",</a:t>
            </a:r>
          </a:p>
          <a:p xmlns:a="http://schemas.openxmlformats.org/drawingml/2006/main">
            <a:r>
              <a:t>      "name": "Venstre"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"party-017",</a:t>
            </a:r>
          </a:p>
          <a:p xmlns:a="http://schemas.openxmlformats.org/drawingml/2006/main">
            <a:r>
              <a:t>      "name": "Radikale Venstre"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"party-030",</a:t>
            </a:r>
          </a:p>
          <a:p xmlns:a="http://schemas.openxmlformats.org/drawingml/2006/main">
            <a:r>
              <a:t>      "name": "Freie Demokratische Partei"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"party-032",</a:t>
            </a:r>
          </a:p>
          <a:p xmlns:a="http://schemas.openxmlformats.org/drawingml/2006/main">
            <a:r>
              <a:t>      "name": "Volkspartij voor Vrijheid en Democratie"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"party-035",</a:t>
            </a:r>
          </a:p>
          <a:p xmlns:a="http://schemas.openxmlformats.org/drawingml/2006/main">
            <a:r>
              <a:t>      "name": "Democraten 66"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"party-043",</a:t>
            </a:r>
          </a:p>
          <a:p xmlns:a="http://schemas.openxmlformats.org/drawingml/2006/main">
            <a:r>
              <a:t>      "name": "Liberal Party of Canada"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"party-057",</a:t>
            </a:r>
          </a:p>
          <a:p xmlns:a="http://schemas.openxmlformats.org/drawingml/2006/main">
            <a:r>
              <a:t>      "name": "ACT New Zealand"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"party-069",</a:t>
            </a:r>
          </a:p>
          <a:p xmlns:a="http://schemas.openxmlformats.org/drawingml/2006/main">
            <a:r>
              <a:t>      "name": "Mouvement Réformateur"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"party-075",</a:t>
            </a:r>
          </a:p>
          <a:p xmlns:a="http://schemas.openxmlformats.org/drawingml/2006/main">
            <a:r>
              <a:t>      "name": "NEOS – Das Neue Österreich und Liberales Forum"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"party-080",</a:t>
            </a:r>
          </a:p>
          <a:p xmlns:a="http://schemas.openxmlformats.org/drawingml/2006/main">
            <a:r>
              <a:t>      "name": "Progressive Democrats"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"party-084",</a:t>
            </a:r>
          </a:p>
          <a:p xmlns:a="http://schemas.openxmlformats.org/drawingml/2006/main">
            <a:r>
              <a:t>      "name": "Liberal Democrats"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"party-092",</a:t>
            </a:r>
          </a:p>
          <a:p xmlns:a="http://schemas.openxmlformats.org/drawingml/2006/main">
            <a:r>
              <a:t>      "name": "Новые люди (российская политическая партия)"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"party-095",</a:t>
            </a:r>
          </a:p>
          <a:p xmlns:a="http://schemas.openxmlformats.org/drawingml/2006/main">
            <a:r>
              <a:t>      "name": "Яблоко (российская политическая партия)"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"representatives":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"party-006",</a:t>
            </a:r>
          </a:p>
          <a:p xmlns:a="http://schemas.openxmlformats.org/drawingml/2006/main">
            <a:r>
              <a:t>      "name": "Centerpartiet",</a:t>
            </a:r>
          </a:p>
          <a:p xmlns:a="http://schemas.openxmlformats.org/drawingml/2006/main">
            <a:r>
              <a:t>      "distance": 0.5301122610816981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"party-080",</a:t>
            </a:r>
          </a:p>
          <a:p xmlns:a="http://schemas.openxmlformats.org/drawingml/2006/main">
            <a:r>
              <a:t>      "name": "Progressive Democrats",</a:t>
            </a:r>
          </a:p>
          <a:p xmlns:a="http://schemas.openxmlformats.org/drawingml/2006/main">
            <a:r>
              <a:t>      "distance": 0.549948796445918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"party-017",</a:t>
            </a:r>
          </a:p>
          <a:p xmlns:a="http://schemas.openxmlformats.org/drawingml/2006/main">
            <a:r>
              <a:t>      "name": "Radikale Venstre",</a:t>
            </a:r>
          </a:p>
          <a:p xmlns:a="http://schemas.openxmlformats.org/drawingml/2006/main">
            <a:r>
              <a:t>      "distance": 0.615236534540261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"factor_center": {</a:t>
            </a:r>
          </a:p>
          <a:p xmlns:a="http://schemas.openxmlformats.org/drawingml/2006/main">
            <a:r>
              <a:t>    "F1": -0.9973637177988767,</a:t>
            </a:r>
          </a:p>
          <a:p xmlns:a="http://schemas.openxmlformats.org/drawingml/2006/main">
            <a:r>
              <a:t>    "F2": -1.2772215328504422,</a:t>
            </a:r>
          </a:p>
          <a:p xmlns:a="http://schemas.openxmlformats.org/drawingml/2006/main">
            <a:r>
              <a:t>    "F3": -0.07842031301937104,</a:t>
            </a:r>
          </a:p>
          <a:p xmlns:a="http://schemas.openxmlformats.org/drawingml/2006/main">
            <a:r>
              <a:t>    "F4": -0.3432382579682333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"distinguishing_scales":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"scale-018",</a:t>
            </a:r>
          </a:p>
          <a:p xmlns:a="http://schemas.openxmlformats.org/drawingml/2006/main">
            <a:r>
              <a:t>      "name": "экономический либерализм",</a:t>
            </a:r>
          </a:p>
          <a:p xmlns:a="http://schemas.openxmlformats.org/drawingml/2006/main">
            <a:r>
              <a:t>      "difference": 1.2895749128045422,</a:t>
            </a:r>
          </a:p>
          <a:p xmlns:a="http://schemas.openxmlformats.org/drawingml/2006/main">
            <a:r>
              <a:t>      "group_mean": 2.7857142857142856,</a:t>
            </a:r>
          </a:p>
          <a:p xmlns:a="http://schemas.openxmlformats.org/drawingml/2006/main">
            <a:r>
              <a:t>      "overall_mean": -0.43157894736842106,</a:t>
            </a:r>
          </a:p>
          <a:p xmlns:a="http://schemas.openxmlformats.org/drawingml/2006/main">
            <a:r>
              <a:t>      "direction": "positive",</a:t>
            </a:r>
          </a:p>
          <a:p xmlns:a="http://schemas.openxmlformats.org/drawingml/2006/main">
            <a:r>
              <a:t>      "observed_group_count": 14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"scale-019",</a:t>
            </a:r>
          </a:p>
          <a:p xmlns:a="http://schemas.openxmlformats.org/drawingml/2006/main">
            <a:r>
              <a:t>      "name": "поддержка свободного рынка",</a:t>
            </a:r>
          </a:p>
          <a:p xmlns:a="http://schemas.openxmlformats.org/drawingml/2006/main">
            <a:r>
              <a:t>      "difference": 1.2139142433522807,</a:t>
            </a:r>
          </a:p>
          <a:p xmlns:a="http://schemas.openxmlformats.org/drawingml/2006/main">
            <a:r>
              <a:t>      "group_mean": 3.0714285714285716,</a:t>
            </a:r>
          </a:p>
          <a:p xmlns:a="http://schemas.openxmlformats.org/drawingml/2006/main">
            <a:r>
              <a:t>      "overall_mean": 0.16842105263157894,</a:t>
            </a:r>
          </a:p>
          <a:p xmlns:a="http://schemas.openxmlformats.org/drawingml/2006/main">
            <a:r>
              <a:t>      "direction": "positive",</a:t>
            </a:r>
          </a:p>
          <a:p xmlns:a="http://schemas.openxmlformats.org/drawingml/2006/main">
            <a:r>
              <a:t>      "observed_group_count": 14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"scale-040",</a:t>
            </a:r>
          </a:p>
          <a:p xmlns:a="http://schemas.openxmlformats.org/drawingml/2006/main">
            <a:r>
              <a:t>      "name": "скептицизм к глобализации",</a:t>
            </a:r>
          </a:p>
          <a:p xmlns:a="http://schemas.openxmlformats.org/drawingml/2006/main">
            <a:r>
              <a:t>      "difference": -1.1159695102844345,</a:t>
            </a:r>
          </a:p>
          <a:p xmlns:a="http://schemas.openxmlformats.org/drawingml/2006/main">
            <a:r>
              <a:t>      "group_mean": -2.7142857142857144,</a:t>
            </a:r>
          </a:p>
          <a:p xmlns:a="http://schemas.openxmlformats.org/drawingml/2006/main">
            <a:r>
              <a:t>      "overall_mean": -0.42105263157894735,</a:t>
            </a:r>
          </a:p>
          <a:p xmlns:a="http://schemas.openxmlformats.org/drawingml/2006/main">
            <a:r>
              <a:t>      "direction": "negative",</a:t>
            </a:r>
          </a:p>
          <a:p xmlns:a="http://schemas.openxmlformats.org/drawingml/2006/main">
            <a:r>
              <a:t>      "observed_group_count": 14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"scale-023",</a:t>
            </a:r>
          </a:p>
          <a:p xmlns:a="http://schemas.openxmlformats.org/drawingml/2006/main">
            <a:r>
              <a:t>      "name": "ориентация на бизнес",</a:t>
            </a:r>
          </a:p>
          <a:p xmlns:a="http://schemas.openxmlformats.org/drawingml/2006/main">
            <a:r>
              <a:t>      "difference": 1.0550532228220797,</a:t>
            </a:r>
          </a:p>
          <a:p xmlns:a="http://schemas.openxmlformats.org/drawingml/2006/main">
            <a:r>
              <a:t>      "group_mean": 2.642857142857143,</a:t>
            </a:r>
          </a:p>
          <a:p xmlns:a="http://schemas.openxmlformats.org/drawingml/2006/main">
            <a:r>
              <a:t>      "overall_mean": 0.12631578947368421,</a:t>
            </a:r>
          </a:p>
          <a:p xmlns:a="http://schemas.openxmlformats.org/drawingml/2006/main">
            <a:r>
              <a:t>      "direction": "positive",</a:t>
            </a:r>
          </a:p>
          <a:p xmlns:a="http://schemas.openxmlformats.org/drawingml/2006/main">
            <a:r>
              <a:t>      "observed_group_count": 14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"scale-027",</a:t>
            </a:r>
          </a:p>
          <a:p xmlns:a="http://schemas.openxmlformats.org/drawingml/2006/main">
            <a:r>
              <a:t>      "name": "поддержка частного сектора",</a:t>
            </a:r>
          </a:p>
          <a:p xmlns:a="http://schemas.openxmlformats.org/drawingml/2006/main">
            <a:r>
              <a:t>      "difference": 0.9378078923022953,</a:t>
            </a:r>
          </a:p>
          <a:p xmlns:a="http://schemas.openxmlformats.org/drawingml/2006/main">
            <a:r>
              <a:t>      "group_mean": 3.357142857142857,</a:t>
            </a:r>
          </a:p>
          <a:p xmlns:a="http://schemas.openxmlformats.org/drawingml/2006/main">
            <a:r>
              <a:t>      "overall_mean": 1.2736842105263158,</a:t>
            </a:r>
          </a:p>
          <a:p xmlns:a="http://schemas.openxmlformats.org/drawingml/2006/main">
            <a:r>
              <a:t>      "direction": "positive",</a:t>
            </a:r>
          </a:p>
          <a:p xmlns:a="http://schemas.openxmlformats.org/drawingml/2006/main">
            <a:r>
              <a:t>      "observed_group_count": 14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"scale-024",</a:t>
            </a:r>
          </a:p>
          <a:p xmlns:a="http://schemas.openxmlformats.org/drawingml/2006/main">
            <a:r>
              <a:t>      "name": "рациональный прагматизм",</a:t>
            </a:r>
          </a:p>
          <a:p xmlns:a="http://schemas.openxmlformats.org/drawingml/2006/main">
            <a:r>
              <a:t>      "difference": 0.8939844019506136,</a:t>
            </a:r>
          </a:p>
          <a:p xmlns:a="http://schemas.openxmlformats.org/drawingml/2006/main">
            <a:r>
              <a:t>      "group_mean": 2.5714285714285716,</a:t>
            </a:r>
          </a:p>
          <a:p xmlns:a="http://schemas.openxmlformats.org/drawingml/2006/main">
            <a:r>
              <a:t>      "overall_mean": 1.2947368421052632,</a:t>
            </a:r>
          </a:p>
          <a:p xmlns:a="http://schemas.openxmlformats.org/drawingml/2006/main">
            <a:r>
              <a:t>      "direction": "positive",</a:t>
            </a:r>
          </a:p>
          <a:p xmlns:a="http://schemas.openxmlformats.org/drawingml/2006/main">
            <a:r>
              <a:t>      "observed_group_count": 14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"interpretation": "Отличия от среднего по изученным объектам: «экономический либерализм» (+1.29 σ), «поддержка свободного рынка» (+1.21 σ), «скептицизм к глобализации» (-1.12 σ). Общность описывается сочетанием оценённых свойств; совпадение электората или причин общности требует внешней проверки.",</a:t>
            </a:r>
          </a:p>
          <a:p xmlns:a="http://schemas.openxmlformats.org/drawingml/2006/main">
            <a:r>
              <a:t>  "boundary_objects": [],</a:t>
            </a:r>
          </a:p>
          <a:p xmlns:a="http://schemas.openxmlformats.org/drawingml/2006/main">
            <a:r>
              <a:t>  "stability": {</a:t>
            </a:r>
          </a:p>
          <a:p xmlns:a="http://schemas.openxmlformats.org/drawingml/2006/main">
            <a:r>
              <a:t>    "median_jaccard": 0.8,</a:t>
            </a:r>
          </a:p>
          <a:p xmlns:a="http://schemas.openxmlformats.org/drawingml/2006/main">
            <a:r>
              <a:t>    "conditional_mean_ari": 0.8657909944308424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Числа: metadata.json, scores.csv, loadings.csv и утверждённая матрица оценок.</a:t>
            </a:r>
          </a:p>
          <a:p xmlns:a="http://schemas.openxmlformats.org/drawingml/2006/main">
            <a:r>
              <a:t>Изучаемое пространство: Международное пространство политических партий из прежней выборки.</a:t>
            </a:r>
          </a:p>
          <a:p xmlns:a="http://schemas.openxmlformats.org/drawingml/2006/main">
            <a:r>
              <a:t>Оценщик: legacy_import_example.</a:t>
            </a:r>
          </a:p>
          <a:p xmlns:a="http://schemas.openxmlformats.org/drawingml/2006/main">
            <a:r>
              <a:t>Демонстрационный пример: ТЕХНИЧЕСКИЙ ПРИМЕР НА ПРЕЖНИХ ДАННЫХ. Это повторный анализ ранее сохранённых модельных оценок 95 партий по первым 40 признакам исходного словаря. Это не новое исследование и не результат исследования 70 российских политиков. Новые источники не собирались, LLM не вызывалась, старый словарь не проходил новую нормализацию. Оценка x по прежней шкале 0–10 перенесена как value = x − 5. Два полюса независимо не оценивались; их сумма и смешанность по этим данным не определяются. Ноль в примере означает прежнюю оценку 5, а не доказанную невыраженность обоих свойств. Отметки утверждения принадлежат импортированному примеру, а не пользователю..</a:t>
            </a:r>
          </a:p>
          <a:p xmlns:a="http://schemas.openxmlformats.org/drawingml/2006/main">
            <a:r>
              <a:t>Исходные URL: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"party-095",</a:t>
            </a:r>
          </a:p>
          <a:p xmlns:a="http://schemas.openxmlformats.org/drawingml/2006/main">
            <a:r>
              <a:t>  "name": "Яблоко (российская политическая партия)",</a:t>
            </a:r>
          </a:p>
          <a:p xmlns:a="http://schemas.openxmlformats.org/drawingml/2006/main">
            <a:r>
              <a:t>  "cluster_id": "C5",</a:t>
            </a:r>
          </a:p>
          <a:p xmlns:a="http://schemas.openxmlformats.org/drawingml/2006/main">
            <a:r>
              <a:t>  "factor_scores": {</a:t>
            </a:r>
          </a:p>
          <a:p xmlns:a="http://schemas.openxmlformats.org/drawingml/2006/main">
            <a:r>
              <a:t>    "F1": -1.2613419538282968,</a:t>
            </a:r>
          </a:p>
          <a:p xmlns:a="http://schemas.openxmlformats.org/drawingml/2006/main">
            <a:r>
              <a:t>    "F2": -0.43149954226041937,</a:t>
            </a:r>
          </a:p>
          <a:p xmlns:a="http://schemas.openxmlformats.org/drawingml/2006/main">
            <a:r>
              <a:t>    "F3": 0.25318223215114016,</a:t>
            </a:r>
          </a:p>
          <a:p xmlns:a="http://schemas.openxmlformats.org/drawingml/2006/main">
            <a:r>
              <a:t>    "F4": -0.15554874628747195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"observed_scales": 40,</a:t>
            </a:r>
          </a:p>
          <a:p xmlns:a="http://schemas.openxmlformats.org/drawingml/2006/main">
            <a:r>
              <a:t>  "missing_scales": 0,</a:t>
            </a:r>
          </a:p>
          <a:p xmlns:a="http://schemas.openxmlformats.org/drawingml/2006/main">
            <a:r>
              <a:t>  "boundary_margin": 0.413274714925827,</a:t>
            </a:r>
          </a:p>
          <a:p xmlns:a="http://schemas.openxmlformats.org/drawingml/2006/main">
            <a:r>
              <a:t>  "mixed_or_boundary": false,</a:t>
            </a:r>
          </a:p>
          <a:p xmlns:a="http://schemas.openxmlformats.org/drawingml/2006/main">
            <a:r>
              <a:t>  "nearest_objects":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"party-084",</a:t>
            </a:r>
          </a:p>
          <a:p xmlns:a="http://schemas.openxmlformats.org/drawingml/2006/main">
            <a:r>
              <a:t>      "name": "Liberal Democrats",</a:t>
            </a:r>
          </a:p>
          <a:p xmlns:a="http://schemas.openxmlformats.org/drawingml/2006/main">
            <a:r>
              <a:t>      "distance": 0.5594694706038909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"party-035",</a:t>
            </a:r>
          </a:p>
          <a:p xmlns:a="http://schemas.openxmlformats.org/drawingml/2006/main">
            <a:r>
              <a:t>      "name": "Democraten 66",</a:t>
            </a:r>
          </a:p>
          <a:p xmlns:a="http://schemas.openxmlformats.org/drawingml/2006/main">
            <a:r>
              <a:t>      "distance": 0.650668544371236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"party-017",</a:t>
            </a:r>
          </a:p>
          <a:p xmlns:a="http://schemas.openxmlformats.org/drawingml/2006/main">
            <a:r>
              <a:t>      "name": "Radikale Venstre",</a:t>
            </a:r>
          </a:p>
          <a:p xmlns:a="http://schemas.openxmlformats.org/drawingml/2006/main">
            <a:r>
              <a:t>      "distance": 0.6646478822962492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"party-043",</a:t>
            </a:r>
          </a:p>
          <a:p xmlns:a="http://schemas.openxmlformats.org/drawingml/2006/main">
            <a:r>
              <a:t>      "name": "Liberal Party of Canada",</a:t>
            </a:r>
          </a:p>
          <a:p xmlns:a="http://schemas.openxmlformats.org/drawingml/2006/main">
            <a:r>
              <a:t>      "distance": 0.9480105781914452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"id": "party-080",</a:t>
            </a:r>
          </a:p>
          <a:p xmlns:a="http://schemas.openxmlformats.org/drawingml/2006/main">
            <a:r>
              <a:t>      "name": "Progressive Democrats",</a:t>
            </a:r>
          </a:p>
          <a:p xmlns:a="http://schemas.openxmlformats.org/drawingml/2006/main">
            <a:r>
              <a:t>      "distance": 1.105496206179925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"profile": "Наиболее выраженные координаты: F1: -1.26; F2: -0.43. Ближайшая группа определяется расстоянием в полном факторном пространстве."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Числа: metadata.json, scores.csv, loadings.csv и утверждённая матрица оценок.</a:t>
            </a:r>
          </a:p>
          <a:p xmlns:a="http://schemas.openxmlformats.org/drawingml/2006/main">
            <a:r>
              <a:t>Изучаемое пространство: Международное пространство политических партий из прежней выборки.</a:t>
            </a:r>
          </a:p>
          <a:p xmlns:a="http://schemas.openxmlformats.org/drawingml/2006/main">
            <a:r>
              <a:t>Оценщик: legacy_import_example.</a:t>
            </a:r>
          </a:p>
          <a:p xmlns:a="http://schemas.openxmlformats.org/drawingml/2006/main">
            <a:r>
              <a:t>Демонстрационный пример: ТЕХНИЧЕСКИЙ ПРИМЕР НА ПРЕЖНИХ ДАННЫХ. Это повторный анализ ранее сохранённых модельных оценок 95 партий по первым 40 признакам исходного словаря. Это не новое исследование и не результат исследования 70 российских политиков. Новые источники не собирались, LLM не вызывалась, старый словарь не проходил новую нормализацию. Оценка x по прежней шкале 0–10 перенесена как value = x − 5. Два полюса независимо не оценивались; их сумма и смешанность по этим данным не определяются. Ноль в примере означает прежнюю оценку 5, а не доказанную невыраженность обоих свойств. Отметки утверждения принадлежат импортированному примеру, а не пользователю..</a:t>
            </a:r>
          </a:p>
          <a:p xmlns:a="http://schemas.openxmlformats.org/drawingml/2006/main">
            <a:r>
              <a:t>Исходные URL: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Числа: metadata.json, scores.csv, loadings.csv и утверждённая матрица оценок.</a:t>
            </a:r>
          </a:p>
          <a:p xmlns:a="http://schemas.openxmlformats.org/drawingml/2006/main">
            <a:r>
              <a:t>Изучаемое пространство: Международное пространство политических партий из прежней выборки.</a:t>
            </a:r>
          </a:p>
          <a:p xmlns:a="http://schemas.openxmlformats.org/drawingml/2006/main">
            <a:r>
              <a:t>Оценщик: legacy_import_example.</a:t>
            </a:r>
          </a:p>
          <a:p xmlns:a="http://schemas.openxmlformats.org/drawingml/2006/main">
            <a:r>
              <a:t>Демонстрационный пример: ТЕХНИЧЕСКИЙ ПРИМЕР НА ПРЕЖНИХ ДАННЫХ. Это повторный анализ ранее сохранённых модельных оценок 95 партий по первым 40 признакам исходного словаря. Это не новое исследование и не результат исследования 70 российских политиков. Новые источники не собирались, LLM не вызывалась, старый словарь не проходил новую нормализацию. Оценка x по прежней шкале 0–10 перенесена как value = x − 5. Два полюса независимо не оценивались; их сумма и смешанность по этим данным не определяются. Ноль в примере означает прежнюю оценку 5, а не доказанную невыраженность обоих свойств. Отметки утверждения принадлежат импортированному примеру, а не пользователю..</a:t>
            </a:r>
          </a:p>
          <a:p xmlns:a="http://schemas.openxmlformats.org/drawingml/2006/main">
            <a:r>
              <a:t>Исходные URL: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ТЕХНИЧЕСКИЙ ПРИМЕР НА ПРЕЖНИХ ДАННЫХ. Это повторный анализ ранее сохранённых модельных оценок 95 партий по первым 40 признакам исходного словаря. Это не новое исследование и не результат исследования 70 российских политиков. Новые источники не собирались, LLM не вызывалась, старый словарь не проходил новую нормализацию. Оценка x по прежней шкале 0–10 перенесена как value = x − 5. Два полюса независимо не оценивались; их сумма и смешанность по этим данным не определяются. Ноль в примере означает прежнюю оценку 5, а не доказанную невыраженность обоих свойств. Отметки утверждения принадлежат импортированному примеру, а не пользователю.</a:t>
            </a:r>
          </a:p>
          <a:p xmlns:a="http://schemas.openxmlformats.org/drawingml/2006/main">
            <a:r>
              <a:t>Исследование разведочное; численные группы могут возникать и в непрерывном пространстве.</a:t>
            </a:r>
          </a:p>
          <a:p xmlns:a="http://schemas.openxmlformats.org/drawingml/2006/main">
            <a:r>
              <a:t>Гауссова линейная FA приблизительна для ограниченных порядковых оценок; независимость ошибок шкал может нарушаться.</a:t>
            </a:r>
          </a:p>
          <a:p xmlns:a="http://schemas.openxmlformats.org/drawingml/2006/main">
            <a:r>
              <a:t>Сходимость и устойчивость алгоритма не подтверждают точность исходных оценок или полноту пространства.</a:t>
            </a:r>
          </a:p>
          <a:p xmlns:a="http://schemas.openxmlformats.org/drawingml/2006/main">
            <a:r>
              <a:t>Кластеризация условна на выбранных факторных баллах; устойчивость всего сбора и анализа отдельно не проверена.</a:t>
            </a:r>
          </a:p>
          <a:p xmlns:a="http://schemas.openxmlformats.org/drawingml/2006/main">
            <a:r>
              <a:t>Число объектов невелико относительно числа шкал; число факторов и интерпретации требуют проверки на новых объектах.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Числа: metadata.json, scores.csv, loadings.csv и утверждённая матрица оценок.</a:t>
            </a:r>
          </a:p>
          <a:p xmlns:a="http://schemas.openxmlformats.org/drawingml/2006/main">
            <a:r>
              <a:t>Изучаемое пространство: Международное пространство политических партий из прежней выборки.</a:t>
            </a:r>
          </a:p>
          <a:p xmlns:a="http://schemas.openxmlformats.org/drawingml/2006/main">
            <a:r>
              <a:t>Оценщик: legacy_import_example.</a:t>
            </a:r>
          </a:p>
          <a:p xmlns:a="http://schemas.openxmlformats.org/drawingml/2006/main">
            <a:r>
              <a:t>Демонстрационный пример: ТЕХНИЧЕСКИЙ ПРИМЕР НА ПРЕЖНИХ ДАННЫХ. Это повторный анализ ранее сохранённых модельных оценок 95 партий по первым 40 признакам исходного словаря. Это не новое исследование и не результат исследования 70 российских политиков. Новые источники не собирались, LLM не вызывалась, старый словарь не проходил новую нормализацию. Оценка x по прежней шкале 0–10 перенесена как value = x − 5. Два полюса независимо не оценивались; их сумма и смешанность по этим данным не определяются. Ноль в примере означает прежнюю оценку 5, а не доказанную невыраженность обоих свойств. Отметки утверждения принадлежат импортированному примеру, а не пользователю..</a:t>
            </a:r>
          </a:p>
          <a:p xmlns:a="http://schemas.openxmlformats.org/drawingml/2006/main">
            <a:r>
              <a:t>Исходные URL: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1f811e4290420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77d2bcd0704f3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cd182a0a7e4d0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68bf4339f245b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2d4ca39786424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9d585a949649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875A4D-7B98-4B2D-801F-99D466F1EB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AEAACFF-95D8-4FF5-BA21-3ECB68CA664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E127F92-DE91-410F-AB7F-A369269724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9701D9-FBA7-41D4-B438-95E8F4CC01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256927A-B0C5-4710-9168-AD1D67270A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E0866F8-54E2-4A1F-A2E0-36A8E654B8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8266915-FD72-45F7-B61F-4353811F4B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19D7AAB-CFBE-49E8-8455-C432FCD61CA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FC0BF1-E37C-4FCE-BCB3-80EAC9850A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6F6455D-C1D9-4D5F-914B-933F9EFB50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b3b63b4f0e4981" /><Relationship Type="http://schemas.openxmlformats.org/officeDocument/2006/relationships/slideLayout" Target="/ppt/slideLayouts/slideLayout1.xml" Id="R14642ea587d3480d" /><Relationship Type="http://schemas.openxmlformats.org/officeDocument/2006/relationships/slideLayout" Target="/ppt/slideLayouts/slideLayout2.xml" Id="Rf9348496d57f4905" /><Relationship Type="http://schemas.openxmlformats.org/officeDocument/2006/relationships/slideLayout" Target="/ppt/slideLayouts/slideLayout3.xml" Id="Ra4223277997248c5" /><Relationship Type="http://schemas.openxmlformats.org/officeDocument/2006/relationships/slideLayout" Target="/ppt/slideLayouts/slideLayout4.xml" Id="R0ab6d34631c94082" /><Relationship Type="http://schemas.openxmlformats.org/officeDocument/2006/relationships/slideLayout" Target="/ppt/slideLayouts/slideLayout5.xml" Id="R9e1d7127f7034fa7" /><Relationship Type="http://schemas.openxmlformats.org/officeDocument/2006/relationships/slideLayout" Target="/ppt/slideLayouts/slideLayout6.xml" Id="R295ab82eba0348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642ea587d3480d"/>
    <p:sldLayoutId xmlns:r="http://schemas.openxmlformats.org/officeDocument/2006/relationships" id="2147483650" r:id="Rf9348496d57f4905"/>
    <p:sldLayoutId xmlns:r="http://schemas.openxmlformats.org/officeDocument/2006/relationships" id="2147483651" r:id="Ra4223277997248c5"/>
    <p:sldLayoutId xmlns:r="http://schemas.openxmlformats.org/officeDocument/2006/relationships" id="2147483652" r:id="R0ab6d34631c94082"/>
    <p:sldLayoutId xmlns:r="http://schemas.openxmlformats.org/officeDocument/2006/relationships" id="2147483653" r:id="R9e1d7127f7034fa7"/>
    <p:sldLayoutId xmlns:r="http://schemas.openxmlformats.org/officeDocument/2006/relationships" id="2147483654" r:id="R295ab82eba0348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6c6b901ff441f1" /><Relationship Type="http://schemas.openxmlformats.org/officeDocument/2006/relationships/notesSlide" Target="/ppt/notesSlides/notesSlide1.xml" Id="R48fb5839d10e40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02afa9ff574874" /><Relationship Type="http://schemas.openxmlformats.org/officeDocument/2006/relationships/notesSlide" Target="/ppt/notesSlides/notesSlide2.xml" Id="R2472ddb1b2f74e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53233a13d94d9b" /><Relationship Type="http://schemas.openxmlformats.org/officeDocument/2006/relationships/notesSlide" Target="/ppt/notesSlides/notesSlide3.xml" Id="Rbc946875916f4b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42832f8d1c4ead" /><Relationship Type="http://schemas.openxmlformats.org/officeDocument/2006/relationships/image" Target="/ppt/media/image.png" Id="R55f5efe3640549eb" /><Relationship Type="http://schemas.openxmlformats.org/officeDocument/2006/relationships/notesSlide" Target="/ppt/notesSlides/notesSlide4.xml" Id="R2469c730f1f544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c6673845534717" /><Relationship Type="http://schemas.openxmlformats.org/officeDocument/2006/relationships/notesSlide" Target="/ppt/notesSlides/notesSlide5.xml" Id="Rd91f7925f62f46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bf9a31635744fa" /><Relationship Type="http://schemas.openxmlformats.org/officeDocument/2006/relationships/notesSlide" Target="/ppt/notesSlides/notesSlide6.xml" Id="Reb6879276aae40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8936f08a264a65" /><Relationship Type="http://schemas.openxmlformats.org/officeDocument/2006/relationships/image" Target="/ppt/media/image2.png" Id="Rabee5e0be25f4b46" /><Relationship Type="http://schemas.openxmlformats.org/officeDocument/2006/relationships/notesSlide" Target="/ppt/notesSlides/notesSlide7.xml" Id="Rce900d466e8148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120e175f7c4426" /><Relationship Type="http://schemas.openxmlformats.org/officeDocument/2006/relationships/image" Target="/ppt/media/image3.png" Id="R279bc614f47b4784" /><Relationship Type="http://schemas.openxmlformats.org/officeDocument/2006/relationships/notesSlide" Target="/ppt/notesSlides/notesSlide8.xml" Id="Ra3e20f3aba1c49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6d76c7aa274125" /><Relationship Type="http://schemas.openxmlformats.org/officeDocument/2006/relationships/image" Target="/ppt/media/image4.png" Id="R877e9882e3e24874" /><Relationship Type="http://schemas.openxmlformats.org/officeDocument/2006/relationships/image" Target="/ppt/media/image5.png" Id="R6958233ee7b64fcc" /><Relationship Type="http://schemas.openxmlformats.org/officeDocument/2006/relationships/notesSlide" Target="/ppt/notesSlides/notesSlide9.xml" Id="R596ba0b1e02d43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57a674d03a4826" /><Relationship Type="http://schemas.openxmlformats.org/officeDocument/2006/relationships/notesSlide" Target="/ppt/notesSlides/notesSlide10.xml" Id="R15d910148af54fc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d927b482784752" /><Relationship Type="http://schemas.openxmlformats.org/officeDocument/2006/relationships/notesSlide" Target="/ppt/notesSlides/notesSlide11.xml" Id="Reff57c06311f4b9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e1513752054ee4" /><Relationship Type="http://schemas.openxmlformats.org/officeDocument/2006/relationships/notesSlide" Target="/ppt/notesSlides/notesSlide12.xml" Id="Rec6bc24759f943c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826f7e43e14a3d" /><Relationship Type="http://schemas.openxmlformats.org/officeDocument/2006/relationships/notesSlide" Target="/ppt/notesSlides/notesSlide13.xml" Id="R92be84414d4b487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3e2b16a0114d8d" /><Relationship Type="http://schemas.openxmlformats.org/officeDocument/2006/relationships/notesSlide" Target="/ppt/notesSlides/notesSlide14.xml" Id="R9c7ad0054072407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7b950443534f7b" /><Relationship Type="http://schemas.openxmlformats.org/officeDocument/2006/relationships/notesSlide" Target="/ppt/notesSlides/notesSlide15.xml" Id="Rd994826071254be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5cd821ea7f4a74" /><Relationship Type="http://schemas.openxmlformats.org/officeDocument/2006/relationships/notesSlide" Target="/ppt/notesSlides/notesSlide16.xml" Id="Rb0825e192a8a44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C8C00AA-7945-4139-A14B-C63DD61A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Пример: ранее собранные партии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9C792AD-EFE1-4BC6-81F4-2E2C30B9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61CECB2-E7C1-4022-AD31-C893058B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39375" cy="339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Международное пространство политических партий из прежней выборки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B306660-6E32-4E1E-AAC3-DA91F6F6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4757"/>
            <a:ext cx="10239375" cy="339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Период: Исторический период в исходной матрице не зафиксирован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1C6C37E-028E-4179-B3E3-C304A6D1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328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95 объектов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E4EABD1-D27D-49E5-87CD-B5724844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91000"/>
            <a:ext cx="328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40 шкал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77A3350-2054-4A5F-92CE-824D354F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91000"/>
            <a:ext cx="328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4 факторов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C0C0556-6008-4889-BFD8-739F5E05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Технический пример: повторный анализ прежних оценок партий. Эти данные не являются новым исследованием политиков.</a:t>
            </a:r>
          </a:p>
        </p:txBody>
      </p:sp>
    </p:spTree>
    <p:extLst>
      <p:ext uri="{BB962C8B-B14F-4D97-AF65-F5344CB8AC3E}">
        <p14:creationId xmlns:p14="http://schemas.microsoft.com/office/powerpoint/2010/main" val="2261066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594B995-5ED4-4BAA-8F16-32C80B7D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Выборка и способ измерения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4BF5F5E-2AC1-45B3-8A48-46A1DB19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B5A6708-B7DB-4366-8148-BFA593F8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668000" cy="609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Прежняя целевая международная выборка 95 партий; первые 40 сохранённых шкал взяты только для технической демонстрации, а не как валидированная короткая форма.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0D96B05-5550-4FDC-88FD-A35B20C5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2769"/>
            <a:ext cx="10668000" cy="609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Прежние оценки 0–10 преобразованы как x − 5. Два полюса отдельно не измерялись. Пропуски сохранены.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936C67D-E697-4977-8CBC-2976EF8A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163"/>
            <a:ext cx="10668000" cy="609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Gaussian FA и согласованное вращение varimax. Группы определяются по всем выбранным факторам.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479F778-05A9-4379-AFCF-8EF97E53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5557"/>
            <a:ext cx="10668000" cy="304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5 групп. Описанная общая дисперсия: 84,3%. Полнота матрицы: 100,0%.</a:t>
            </a:r>
          </a:p>
        </p:txBody>
      </p:sp>
    </p:spTree>
    <p:extLst>
      <p:ext uri="{BB962C8B-B14F-4D97-AF65-F5344CB8AC3E}">
        <p14:creationId xmlns:p14="http://schemas.microsoft.com/office/powerpoint/2010/main" val="913387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567FB86-DBE9-454E-8724-A01BF705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Измерительные шкалы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449A520-423C-42F5-B949-B775989E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2ADA6B-2D96-42AE-8ED7-D3CCA6C6A2A2}"/>
              </a:ext>
            </a:extLst>
          </p:cNvPr>
          <p:cNvGraphicFramePr/>
          <p:nvPr/>
        </p:nvGraphicFramePr>
        <p:xfrm>
          <a:off xmlns:a="http://schemas.openxmlformats.org/drawingml/2006/main" x="685800" y="1476375"/>
          <a:ext xmlns:a="http://schemas.openxmlformats.org/drawingml/2006/main" cx="108204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695700"/>
                <a:gridCol w="3695700"/>
              </a:tblGrid>
              <a:tr h="557893"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Шкала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0E7E9"/>
                      </a:solidFill>
                      <a:prstDash val="solid"/>
                    </a:lnL>
                    <a:lnR w="9525">
                      <a:solidFill>
                        <a:srgbClr val="E0E7E9"/>
                      </a:solidFill>
                      <a:prstDash val="solid"/>
                    </a:lnR>
                    <a:lnT w="9525">
                      <a:solidFill>
                        <a:srgbClr val="E0E7E9"/>
                      </a:solidFill>
                      <a:prstDash val="solid"/>
                    </a:lnT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166F73"/>
                    </a:solidFill>
                  </a:tcPr>
                </a:tc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Положительный полюс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T w="9525">
                      <a:solidFill>
                        <a:srgbClr val="E0E7E9"/>
                      </a:solidFill>
                      <a:prstDash val="solid"/>
                    </a:lnT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166F73"/>
                    </a:solidFill>
                  </a:tcPr>
                </a:tc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Отрицательный полюс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T w="9525">
                      <a:solidFill>
                        <a:srgbClr val="E0E7E9"/>
                      </a:solidFill>
                      <a:prstDash val="solid"/>
                    </a:lnT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166F73"/>
                    </a:solidFill>
                  </a:tcPr>
                </a:tc>
              </a:tr>
              <a:tr h="557893"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социал-демократическая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0E7E9"/>
                      </a:solidFill>
                      <a:prstDash val="solid"/>
                    </a:lnL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социал-демократическая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Слабая выраженность: социал-дем…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центр-левая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0E7E9"/>
                      </a:solidFill>
                      <a:prstDash val="solid"/>
                    </a:lnL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центр-левая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Слабая выраженность: центр-левая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</a:tr>
              <a:tr h="557893"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прогрессивная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0E7E9"/>
                      </a:solidFill>
                      <a:prstDash val="solid"/>
                    </a:lnL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прогрессивная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Слабая выраженность: прогрессив…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ориентирована на рабочий класс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0E7E9"/>
                      </a:solidFill>
                      <a:prstDash val="solid"/>
                    </a:lnL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ориентирована на рабочий класс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Слабая выраженность: ориентиров…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</a:tr>
              <a:tr h="557893"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поддержка государства всеобщего…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0E7E9"/>
                      </a:solidFill>
                      <a:prstDash val="solid"/>
                    </a:lnL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поддержка государства всеобщего…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Слабая выраженность: поддержка…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интернационализм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0E7E9"/>
                      </a:solidFill>
                      <a:prstDash val="solid"/>
                    </a:lnL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интернационализм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Слабая выраженность: интернацио…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</a:tr>
            </a:tbl>
          </a:graphicData>
        </a:graphic>
      </p:graphicFrame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CAD6896-D345-476B-95E2-C0BDA543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76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Примеры 6 из 40 утверждённых шкал. Полный словарь и определения включены в отчёт.</a:t>
            </a:r>
          </a:p>
        </p:txBody>
      </p:sp>
    </p:spTree>
    <p:extLst>
      <p:ext uri="{BB962C8B-B14F-4D97-AF65-F5344CB8AC3E}">
        <p14:creationId xmlns:p14="http://schemas.microsoft.com/office/powerpoint/2010/main" val="4301273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2C6707B-1A01-4DFD-95D8-3487B670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Описанная дисперсия факторов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C6DFBBC-9AB0-48E2-AED9-E0865769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F4E645-0DFE-47E0-8107-0C6141ADC4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f5efe3640549eb"/>
          <a:stretch xmlns:a="http://schemas.openxmlformats.org/drawingml/2006/main"/>
        </p:blipFill>
        <p:spPr>
          <a:xfrm xmlns:a="http://schemas.openxmlformats.org/drawingml/2006/main">
            <a:off x="619125" y="1663744"/>
            <a:ext cx="7715250" cy="3911511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451655B-D85B-4B69-B3C9-D2503364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43125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84,3%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E7B5406-2814-4A3A-AFB7-DAA2DA63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95625"/>
            <a:ext cx="252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Общая описанная дисперсия выбранного решения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9ECF343-3A65-4B73-A8A7-277E74D3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Доли FA описывают модель оценок. Их нельзя трактовать как доли населения.</a:t>
            </a:r>
          </a:p>
        </p:txBody>
      </p:sp>
    </p:spTree>
    <p:extLst>
      <p:ext uri="{BB962C8B-B14F-4D97-AF65-F5344CB8AC3E}">
        <p14:creationId xmlns:p14="http://schemas.microsoft.com/office/powerpoint/2010/main" val="8654234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BAC676F-A0BE-483E-B1BF-7A82B808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Факторы F1 и F2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AB8038D-D248-4971-A47A-E3C4E586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FF037F1-86BC-4779-8E5B-D813D658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509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F1   43,2%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BF55DAC-4AB5-490F-9C85-A97225A4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50958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социально-консервативные ценности ↔ прогрессивная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CF0DF06-6867-42B4-BF16-BAEA2EA4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509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Положительные нагрузки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2562CE0-912D-40F0-8E74-D73B6AC1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50958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социально-консервативные ценности  +0,95</a:t>
            </a:r>
          </a:p>
          <a:p xmlns:a="http://schemas.openxmlformats.org/drawingml/2006/main">
            <a:pPr algn="l">
              <a:defRPr sz="15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традиционные семейные ценности  +0,93</a:t>
            </a:r>
          </a:p>
          <a:p xmlns:a="http://schemas.openxmlformats.org/drawingml/2006/main">
            <a:pPr algn="l">
              <a:defRPr sz="15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консервативная  +0,86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EFBDDEE-8836-4FD9-A5A3-B380CC99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509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Отрицательные нагрузки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FF25560-E515-45A7-86B6-568BEE06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5095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прогрессивная  -0,89</a:t>
            </a:r>
          </a:p>
          <a:p xmlns:a="http://schemas.openxmlformats.org/drawingml/2006/main">
            <a:pPr algn="l">
              <a:defRPr sz="15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ориентация на городское население  -0,88</a:t>
            </a:r>
          </a:p>
          <a:p xmlns:a="http://schemas.openxmlformats.org/drawingml/2006/main">
            <a:pPr algn="l">
              <a:defRPr sz="15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реформаторская  -0,88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A4FF07D-ABED-4602-AA15-9BE20FB7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447800"/>
            <a:ext cx="509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F2   23,1%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1F193C9-53A9-41E0-9457-83F8E1D1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009775"/>
            <a:ext cx="50958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солидарность ↔ поддержка свободного рынка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A55B0CE-581E-4EDB-B4CE-EB387DA3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09900"/>
            <a:ext cx="509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Положительные нагрузки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E7AA125-AE47-4313-BC37-C5AC8940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390900"/>
            <a:ext cx="50958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солидарность  +0,56</a:t>
            </a:r>
          </a:p>
          <a:p xmlns:a="http://schemas.openxmlformats.org/drawingml/2006/main">
            <a:pPr algn="l">
              <a:defRPr sz="15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поддержка государства всеобщего благосо…  +0,54</a:t>
            </a:r>
          </a:p>
          <a:p xmlns:a="http://schemas.openxmlformats.org/drawingml/2006/main">
            <a:pPr algn="l">
              <a:defRPr sz="15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ориентирована на рабочий класс  +0,53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0E63006-73B2-4613-883C-50FBBD36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524375"/>
            <a:ext cx="509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Отрицательные нагрузки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F8765ED-821F-44C2-86CB-A0778240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905375"/>
            <a:ext cx="5095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поддержка свободного рынка  -0,98</a:t>
            </a:r>
          </a:p>
          <a:p xmlns:a="http://schemas.openxmlformats.org/drawingml/2006/main">
            <a:pPr algn="l">
              <a:defRPr sz="15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экономический либерализм  -0,98</a:t>
            </a:r>
          </a:p>
          <a:p xmlns:a="http://schemas.openxmlformats.org/drawingml/2006/main">
            <a:pPr algn="l">
              <a:defRPr sz="15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поддержка частного сектора  -0,91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3A8156B-51B8-4F8D-94B3-D365AC65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24575"/>
            <a:ext cx="1082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Нагрузки относятся к положительным свойствам шкал. Знак оси условен. Полная интерпретация приведена в отчёте.</a:t>
            </a:r>
          </a:p>
        </p:txBody>
      </p:sp>
    </p:spTree>
    <p:extLst>
      <p:ext uri="{BB962C8B-B14F-4D97-AF65-F5344CB8AC3E}">
        <p14:creationId xmlns:p14="http://schemas.microsoft.com/office/powerpoint/2010/main" val="10150733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093B64C-C4D1-4889-8233-8E7BD2A3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Факторы F3 и F4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1304D6D-8A4A-49D0-90FF-491D7F1D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AF734A0-E410-49A4-8F18-5B1DD397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509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F3   10,2%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40F8258-9E47-4021-AFDE-380A2BE9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50958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протестная ↔ рациональный прагматизм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B160F36-9C89-4B00-95D0-A62C7A99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509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Положительные нагрузки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1BC07DA-D3F7-4B0D-9C97-58AF078C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50958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протестная  +0,80</a:t>
            </a:r>
          </a:p>
          <a:p xmlns:a="http://schemas.openxmlformats.org/drawingml/2006/main">
            <a:pPr algn="l">
              <a:defRPr sz="15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скептицизм к глобализации  +0,54</a:t>
            </a:r>
          </a:p>
          <a:p xmlns:a="http://schemas.openxmlformats.org/drawingml/2006/main">
            <a:pPr algn="l">
              <a:defRPr sz="15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правопопулистская  +0,52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42A4DA5-ADD1-47DD-A785-878556DF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509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Отрицательные нагрузки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F623C34-8ED1-4C4A-B9F7-5B757A2C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5095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рациональный прагматизм  -0,66</a:t>
            </a:r>
          </a:p>
          <a:p xmlns:a="http://schemas.openxmlformats.org/drawingml/2006/main">
            <a:pPr algn="l">
              <a:defRPr sz="15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прагматизм  -0,60</a:t>
            </a:r>
          </a:p>
          <a:p xmlns:a="http://schemas.openxmlformats.org/drawingml/2006/main">
            <a:pPr algn="l">
              <a:defRPr sz="15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проевропейская  -0,46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332AA2E-6DE6-4024-87D9-3B556171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447800"/>
            <a:ext cx="5095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F4   7,8%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D089988-1C4E-4EC0-839A-A1FE91BE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009775"/>
            <a:ext cx="50958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ориентирована на рабочий класс, сильные профсоюзы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9071C8D-0ED7-43ED-A716-399AB05C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09900"/>
            <a:ext cx="509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Положительные нагрузки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431D106-5E6D-4BBE-A686-F58EBA44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390900"/>
            <a:ext cx="509587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ориентирована на рабочий класс  +0,78</a:t>
            </a:r>
          </a:p>
          <a:p xmlns:a="http://schemas.openxmlformats.org/drawingml/2006/main">
            <a:pPr algn="l">
              <a:defRPr sz="15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сильные профсоюзы  +0,70</a:t>
            </a:r>
          </a:p>
          <a:p xmlns:a="http://schemas.openxmlformats.org/drawingml/2006/main">
            <a:pPr algn="l">
              <a:defRPr sz="15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социал-демократическая  +0,64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883A774-E295-46CB-BDB1-8D9006D6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524375"/>
            <a:ext cx="509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Отрицательные нагрузки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2EA9181-4008-4320-BC17-0FD87615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905375"/>
            <a:ext cx="5095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Сильных отрицательных нагрузок нет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7C41421-F936-41D9-8324-1D861069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24575"/>
            <a:ext cx="1082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Нагрузки относятся к положительным свойствам шкал. Знак оси условен. Полная интерпретация приведена в отчёте.</a:t>
            </a:r>
          </a:p>
        </p:txBody>
      </p:sp>
    </p:spTree>
    <p:extLst>
      <p:ext uri="{BB962C8B-B14F-4D97-AF65-F5344CB8AC3E}">
        <p14:creationId xmlns:p14="http://schemas.microsoft.com/office/powerpoint/2010/main" val="7535944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85E7C78-0538-4D43-8396-9DF3425B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Объекты в факторном пространстве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CCD4816-D892-49E6-B67D-0B1C6126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59418A-7D8C-4681-8A64-6DB7EB5CA1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ee5e0be25f4b46"/>
          <a:stretch xmlns:a="http://schemas.openxmlformats.org/drawingml/2006/main"/>
        </p:blipFill>
        <p:spPr>
          <a:xfrm xmlns:a="http://schemas.openxmlformats.org/drawingml/2006/main">
            <a:off x="2652692" y="1285875"/>
            <a:ext cx="6886617" cy="4619625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FD1137F-2AE1-4E73-934F-3EF46CAE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F1/F2 показывают проекцию. Группы рассчитаны по всем выбранным факторам.</a:t>
            </a:r>
          </a:p>
        </p:txBody>
      </p:sp>
    </p:spTree>
    <p:extLst>
      <p:ext uri="{BB962C8B-B14F-4D97-AF65-F5344CB8AC3E}">
        <p14:creationId xmlns:p14="http://schemas.microsoft.com/office/powerpoint/2010/main" val="13928208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E544B47-7A16-4B38-A795-3958A5C4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Признаки в факторном пространстве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58A7EEC-867B-4C84-BDA5-1DC16D93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0BC83-CAB2-4D63-A77D-C796780C45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9bc614f47b4784"/>
          <a:stretch xmlns:a="http://schemas.openxmlformats.org/drawingml/2006/main"/>
        </p:blipFill>
        <p:spPr>
          <a:xfrm xmlns:a="http://schemas.openxmlformats.org/drawingml/2006/main">
            <a:off x="2652692" y="1285875"/>
            <a:ext cx="6886617" cy="4619625"/>
          </a:xfrm>
          <a:prstGeom xmlns:a="http://schemas.openxmlformats.org/drawingml/2006/main" prst="rect">
            <a:avLst/>
          </a:prstGeom>
        </p:spPr>
      </p:pic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459F1B5-9171-4917-9715-9ECD72A4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Точки обозначают шкалы. Их координаты — нагрузки, а не факторные баллы объектов.</a:t>
            </a:r>
          </a:p>
        </p:txBody>
      </p:sp>
    </p:spTree>
    <p:extLst>
      <p:ext uri="{BB962C8B-B14F-4D97-AF65-F5344CB8AC3E}">
        <p14:creationId xmlns:p14="http://schemas.microsoft.com/office/powerpoint/2010/main" val="7327827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4366CE5-4CD5-4D9E-80C7-82B245D3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Локальное соседство на картах t-SNE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6E26578-968C-43CC-84E1-D27188E0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1B563-35A3-48D7-8DC3-AE8DAD722B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7e9882e3e24874"/>
          <a:stretch xmlns:a="http://schemas.openxmlformats.org/drawingml/2006/main"/>
        </p:blipFill>
        <p:spPr>
          <a:xfrm xmlns:a="http://schemas.openxmlformats.org/drawingml/2006/main">
            <a:off x="571500" y="1719221"/>
            <a:ext cx="5381625" cy="3610059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3F4C1-194D-4869-8835-5B8D4B4486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58233ee7b64fcc"/>
          <a:stretch xmlns:a="http://schemas.openxmlformats.org/drawingml/2006/main"/>
        </p:blipFill>
        <p:spPr>
          <a:xfrm xmlns:a="http://schemas.openxmlformats.org/drawingml/2006/main">
            <a:off x="6238875" y="1719221"/>
            <a:ext cx="5381625" cy="3610059"/>
          </a:xfrm>
          <a:prstGeom xmlns:a="http://schemas.openxmlformats.org/drawingml/2006/main" prst="rect">
            <a:avLst/>
          </a:prstGeom>
        </p:spPr>
      </p:pic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F556329-71F1-4857-82C8-E1BE78EB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Объекты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99B53DC-3121-48E9-9C47-950C367D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2954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Семантические шкалы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AC84C17-9F9E-49EC-B15E-ACB563CE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Оси t-SNE не являются факторами. Пустоты и глобальные расстояния на этой проекции требуют осторожной интерпретации.</a:t>
            </a:r>
          </a:p>
        </p:txBody>
      </p:sp>
    </p:spTree>
    <p:extLst>
      <p:ext uri="{BB962C8B-B14F-4D97-AF65-F5344CB8AC3E}">
        <p14:creationId xmlns:p14="http://schemas.microsoft.com/office/powerpoint/2010/main" val="17775214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AF2B0B2-66A4-4BB4-995B-86A72946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Сравнение числа групп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F837F88-C07A-4441-88F4-DC1180DC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12C659-E78E-456C-8250-280B9FBB7E45}"/>
              </a:ext>
            </a:extLst>
          </p:cNvPr>
          <p:cNvGraphicFramePr/>
          <p:nvPr/>
        </p:nvGraphicFramePr>
        <p:xfrm>
          <a:off xmlns:a="http://schemas.openxmlformats.org/drawingml/2006/main" x="685800" y="1409700"/>
          <a:ext xmlns:a="http://schemas.openxmlformats.org/drawingml/2006/main" cx="108204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2667000"/>
                <a:gridCol w="3124200"/>
                <a:gridCol w="3124200"/>
              </a:tblGrid>
              <a:tr h="409575"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Групп k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0E7E9"/>
                      </a:solidFill>
                      <a:prstDash val="solid"/>
                    </a:lnL>
                    <a:lnR w="9525">
                      <a:solidFill>
                        <a:srgbClr val="E0E7E9"/>
                      </a:solidFill>
                      <a:prstDash val="solid"/>
                    </a:lnR>
                    <a:lnT w="9525">
                      <a:solidFill>
                        <a:srgbClr val="E0E7E9"/>
                      </a:solidFill>
                      <a:prstDash val="solid"/>
                    </a:lnT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166F73"/>
                    </a:solidFill>
                  </a:tcPr>
                </a:tc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Силуэт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T w="9525">
                      <a:solidFill>
                        <a:srgbClr val="E0E7E9"/>
                      </a:solidFill>
                      <a:prstDash val="solid"/>
                    </a:lnT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166F73"/>
                    </a:solidFill>
                  </a:tcPr>
                </a:tc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Размеры групп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T w="9525">
                      <a:solidFill>
                        <a:srgbClr val="E0E7E9"/>
                      </a:solidFill>
                      <a:prstDash val="solid"/>
                    </a:lnT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166F73"/>
                    </a:solidFill>
                  </a:tcPr>
                </a:tc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Устойчивость ARI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T w="9525">
                      <a:solidFill>
                        <a:srgbClr val="E0E7E9"/>
                      </a:solidFill>
                      <a:prstDash val="solid"/>
                    </a:lnT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166F73"/>
                    </a:solidFill>
                  </a:tcPr>
                </a:tc>
              </a:tr>
              <a:tr h="409575"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0E7E9"/>
                      </a:solidFill>
                      <a:prstDash val="solid"/>
                    </a:lnL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0,251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44–51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0,554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0E7E9"/>
                      </a:solidFill>
                      <a:prstDash val="solid"/>
                    </a:lnL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0,326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25–41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0,671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</a:tr>
              <a:tr h="409575"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0E7E9"/>
                      </a:solidFill>
                      <a:prstDash val="solid"/>
                    </a:lnL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0,393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22–26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0,841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0E7E9"/>
                      </a:solidFill>
                      <a:prstDash val="solid"/>
                    </a:lnL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0,429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14–23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0,866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</a:tr>
              <a:tr h="409575"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0E7E9"/>
                      </a:solidFill>
                      <a:prstDash val="solid"/>
                    </a:lnL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0,435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9–21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0,923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0E7E9"/>
                      </a:solidFill>
                      <a:prstDash val="solid"/>
                    </a:lnL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0,415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9–19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0,857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</a:tr>
              <a:tr h="409575"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0E7E9"/>
                      </a:solidFill>
                      <a:prstDash val="solid"/>
                    </a:lnL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0,417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7–16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0,857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0E7E9"/>
                      </a:solidFill>
                      <a:prstDash val="solid"/>
                    </a:lnL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0,407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6–16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0,841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</a:tr>
              <a:tr h="409575"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0E7E9"/>
                      </a:solidFill>
                      <a:prstDash val="solid"/>
                    </a:lnL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0,415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2–14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66675" rIns="66675" bIns="66675"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0,905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C96BC6E-7A73-478E-9B2A-18B0DDC6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Рабочее решение: 5 групп. Устойчивость оценена на подвыборках при фиксированных факторных координатах.</a:t>
            </a:r>
          </a:p>
        </p:txBody>
      </p:sp>
    </p:spTree>
    <p:extLst>
      <p:ext uri="{BB962C8B-B14F-4D97-AF65-F5344CB8AC3E}">
        <p14:creationId xmlns:p14="http://schemas.microsoft.com/office/powerpoint/2010/main" val="8613170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A4D320B-182C-43DE-A64F-1471976C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Группы C1, C2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584F676-684D-4D9D-A4C3-13553835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F1DACE1-E4D0-45D8-91EC-B066D30D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50958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C1   23 объектов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AF89D4B-5AB9-4DB7-9160-3B9C0481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Представители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CD4401E-EFA7-4302-BAC6-B6DAB75E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5095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Parti Socialiste</a:t>
            </a:r>
          </a:p>
          <a:p xmlns:a="http://schemas.openxmlformats.org/drawingml/2006/main">
            <a: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New Democratic Party</a:t>
            </a:r>
          </a:p>
          <a:p xmlns:a="http://schemas.openxmlformats.org/drawingml/2006/main">
            <a: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Labour Party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6E78B10-7B96-4B05-B32D-0EBF10FF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Отличия от среднего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7C48726-D557-48C0-BC9A-656380B9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5095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ориентирована на рабочий класс  +1,57 σ</a:t>
            </a:r>
          </a:p>
          <a:p xmlns:a="http://schemas.openxmlformats.org/drawingml/2006/main">
            <a:pPr algn="l">
              <a:defRPr sz="15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сильные профсоюзы  +1,48 σ</a:t>
            </a:r>
          </a:p>
          <a:p xmlns:a="http://schemas.openxmlformats.org/drawingml/2006/main">
            <a:pPr algn="l">
              <a:defRPr sz="15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социал-демократическая  +1,41 σ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64EDB35-5B2E-430B-B8CF-058B3520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457325"/>
            <a:ext cx="50958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C2   18 объектов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630B8D3-AB7D-42B6-B51E-346A107C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812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Представители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1590B02-CD1F-4726-A582-E116F477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609850"/>
            <a:ext cx="5095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Suomen Keskusta</a:t>
            </a:r>
          </a:p>
          <a:p xmlns:a="http://schemas.openxmlformats.org/drawingml/2006/main">
            <a: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Fianna Fáil</a:t>
            </a:r>
          </a:p>
          <a:p xmlns:a="http://schemas.openxmlformats.org/drawingml/2006/main">
            <a: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Österreichische Volkspartei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BA5E796-52C6-4582-A9CB-DF16FFCD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000500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Отличия от среднего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94279E0-2B03-4C89-977D-732F3BD9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457700"/>
            <a:ext cx="5095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либерально-консервативная  +1,08 σ</a:t>
            </a:r>
          </a:p>
          <a:p xmlns:a="http://schemas.openxmlformats.org/drawingml/2006/main">
            <a:pPr algn="l">
              <a:defRPr sz="15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правоцентристская  +0,98 σ</a:t>
            </a:r>
          </a:p>
          <a:p xmlns:a="http://schemas.openxmlformats.org/drawingml/2006/main">
            <a:pPr algn="l">
              <a:defRPr sz="15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консервативная  +0,95 σ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3C83C9A-EDDF-4D3B-9577-D93C879C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Общность означает сходство оценённых профилей. Состав групп и индивидуальные основания приведены в полном отчёте.</a:t>
            </a:r>
          </a:p>
        </p:txBody>
      </p:sp>
    </p:spTree>
    <p:extLst>
      <p:ext uri="{BB962C8B-B14F-4D97-AF65-F5344CB8AC3E}">
        <p14:creationId xmlns:p14="http://schemas.microsoft.com/office/powerpoint/2010/main" val="6662684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E9624AF-5958-4AA0-8572-59987488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Группы C3, C4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E80E3AC-BD3D-4033-BF64-1E8FC1C5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6892CB5-D2B2-475B-8226-D73CAED5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50958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C3   23 объектов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317033B-B80A-439A-A96F-6B94EDD9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Представители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22AC524-58DD-47AD-BDF7-C104145D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5095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Alternative für Deutschland</a:t>
            </a:r>
          </a:p>
          <a:p xmlns:a="http://schemas.openxmlformats.org/drawingml/2006/main">
            <a: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Forum voor Democratie</a:t>
            </a:r>
          </a:p>
          <a:p xmlns:a="http://schemas.openxmlformats.org/drawingml/2006/main">
            <a: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Nye Borgerlige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1D0B5A4-671A-4D57-A871-185158A9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Отличия от среднего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CC65280-2423-4DE1-ADA4-572AACBC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5095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антииммиграционная  +1,62 σ</a:t>
            </a:r>
          </a:p>
          <a:p xmlns:a="http://schemas.openxmlformats.org/drawingml/2006/main">
            <a:pPr algn="l">
              <a:defRPr sz="15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правопопулистская  +1,61 σ</a:t>
            </a:r>
          </a:p>
          <a:p xmlns:a="http://schemas.openxmlformats.org/drawingml/2006/main">
            <a:pPr algn="l">
              <a:defRPr sz="15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критика мультикультурализма  +1,57 σ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E01C664-CD19-4854-8AB5-7C01CE27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457325"/>
            <a:ext cx="50958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C4   17 объектов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B1C9557-4767-4819-8D7D-91E013E9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81225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Представители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4809549-178E-484F-9AAA-B7E81D26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609850"/>
            <a:ext cx="5095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Miljöpartiet de gröna</a:t>
            </a:r>
          </a:p>
          <a:p xmlns:a="http://schemas.openxmlformats.org/drawingml/2006/main">
            <a: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Ecolo</a:t>
            </a:r>
          </a:p>
          <a:p xmlns:a="http://schemas.openxmlformats.org/drawingml/2006/main">
            <a: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Green Party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729E49B-CEBE-41E8-B11B-E17F4A88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000500"/>
            <a:ext cx="5095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Отличия от среднего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3E9CEE5-A3D4-4A8D-8DF4-C6F89A8C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457700"/>
            <a:ext cx="5095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экологическая ответственность  +1,19 σ</a:t>
            </a:r>
          </a:p>
          <a:p xmlns:a="http://schemas.openxmlformats.org/drawingml/2006/main">
            <a:pPr algn="l">
              <a:defRPr sz="15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жёсткая политика в сфере правопорядка  -1,11 σ</a:t>
            </a:r>
          </a:p>
          <a:p xmlns:a="http://schemas.openxmlformats.org/drawingml/2006/main">
            <a:pPr algn="l">
              <a:defRPr sz="15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традиционные семейные ценности  -1,09 σ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4041BFD-C2A1-4159-9B9A-DAD945DC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Общность означает сходство оценённых профилей. Состав групп и индивидуальные основания приведены в полном отчёте.</a:t>
            </a:r>
          </a:p>
        </p:txBody>
      </p:sp>
    </p:spTree>
    <p:extLst>
      <p:ext uri="{BB962C8B-B14F-4D97-AF65-F5344CB8AC3E}">
        <p14:creationId xmlns:p14="http://schemas.microsoft.com/office/powerpoint/2010/main" val="5692189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69483B6-77BA-4A14-9D2D-EC7CDC6F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Группы C5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1DF6202-0206-4366-BCDC-43CB7CD9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66758A9-35E5-4910-A1F1-D75415CF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10287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C5   14 объектов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656E6D7-44E4-4845-AEE9-07DA3948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Представители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36C3DBB-9C7B-4019-8A31-9C8D23FC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28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Centerpartiet</a:t>
            </a:r>
          </a:p>
          <a:p xmlns:a="http://schemas.openxmlformats.org/drawingml/2006/main">
            <a: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Progressive Democrats</a:t>
            </a:r>
          </a:p>
          <a:p xmlns:a="http://schemas.openxmlformats.org/drawingml/2006/main">
            <a:pPr algn="l">
              <a:defRPr sz="16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Radikale Venstre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B1BBBBE-BD6D-40F8-B26C-E387BC33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287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Отличия от среднего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3E3116F-3AAD-4107-9B9C-38710FD4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28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экономический либерализм  +1,29 σ</a:t>
            </a:r>
          </a:p>
          <a:p xmlns:a="http://schemas.openxmlformats.org/drawingml/2006/main">
            <a:pPr algn="l">
              <a:defRPr sz="15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поддержка свободного рынка  +1,21 σ</a:t>
            </a:r>
          </a:p>
          <a:p xmlns:a="http://schemas.openxmlformats.org/drawingml/2006/main">
            <a:pPr algn="l">
              <a:defRPr sz="157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скептицизм к глобализации  -1,12 σ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2BE68E7-25E1-4C4F-91B4-4645C3EC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Общность означает сходство оценённых профилей. Состав групп и индивидуальные основания приведены в полном отчёте.</a:t>
            </a:r>
          </a:p>
        </p:txBody>
      </p:sp>
    </p:spTree>
    <p:extLst>
      <p:ext uri="{BB962C8B-B14F-4D97-AF65-F5344CB8AC3E}">
        <p14:creationId xmlns:p14="http://schemas.microsoft.com/office/powerpoint/2010/main" val="7228442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1039A96-F13C-48D7-BC89-7476AF3D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Яблоко (российская политическая партия)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95993AC-6CCE-4AB9-BB98-EDF89226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6E66D6A-E4E3-4BC4-A2DC-F50E76E4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71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275" b="1">
                <a:solidFill>
                  <a:srgbClr val="166F73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166F73"/>
                </a:solidFill>
                <a:latin typeface="Arial"/>
                <a:ea typeface="Arial"/>
                <a:cs typeface="Arial"/>
              </a:rPr>
              <a:t>C5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5E4EFC2-965C-4757-B269-206FD8EF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24000"/>
            <a:ext cx="8382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Наиболее выраженные координаты: F1: -1.26; F2: -0.43. Ближайшая группа определяется расстоянием в полном факторном пространстве.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B15E5-C881-43BC-83F7-D4B746C4856A}"/>
              </a:ext>
            </a:extLst>
          </p:cNvPr>
          <p:cNvGraphicFramePr/>
          <p:nvPr/>
        </p:nvGraphicFramePr>
        <p:xfrm>
          <a:off xmlns:a="http://schemas.openxmlformats.org/drawingml/2006/main" x="685800" y="3286125"/>
          <a:ext xmlns:a="http://schemas.openxmlformats.org/drawingml/2006/main" cx="4572000" cy="152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304800">
                <a:tc>
                  <a:txBody>
                    <a:bodyPr wrap="square" lIns="28575" tIns="28575" rIns="28575" bIns="28575">
                      <a:no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Фактор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0E7E9"/>
                      </a:solidFill>
                      <a:prstDash val="solid"/>
                    </a:lnL>
                    <a:lnR w="9525">
                      <a:solidFill>
                        <a:srgbClr val="E0E7E9"/>
                      </a:solidFill>
                      <a:prstDash val="solid"/>
                    </a:lnR>
                    <a:lnT w="9525">
                      <a:solidFill>
                        <a:srgbClr val="E0E7E9"/>
                      </a:solidFill>
                      <a:prstDash val="solid"/>
                    </a:lnT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166F73"/>
                    </a:solidFill>
                  </a:tcPr>
                </a:tc>
                <a:tc>
                  <a:txBody>
                    <a:bodyPr wrap="square"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Координата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T w="9525">
                      <a:solidFill>
                        <a:srgbClr val="E0E7E9"/>
                      </a:solidFill>
                      <a:prstDash val="solid"/>
                    </a:lnT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166F73"/>
                    </a:solidFill>
                  </a:tcPr>
                </a:tc>
              </a:tr>
              <a:tr h="304800">
                <a:tc>
                  <a:txBody>
                    <a:bodyPr wrap="square" lIns="28575" tIns="28575" rIns="28575" bIns="28575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0E7E9"/>
                      </a:solidFill>
                      <a:prstDash val="solid"/>
                    </a:lnL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-1,26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lIns="28575" tIns="28575" rIns="28575" bIns="28575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F2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0E7E9"/>
                      </a:solidFill>
                      <a:prstDash val="solid"/>
                    </a:lnL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wrap="square"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-0,43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</a:tr>
              <a:tr h="304800">
                <a:tc>
                  <a:txBody>
                    <a:bodyPr wrap="square" lIns="28575" tIns="28575" rIns="28575" bIns="28575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F3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0E7E9"/>
                      </a:solidFill>
                      <a:prstDash val="solid"/>
                    </a:lnL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+0,25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lIns="28575" tIns="28575" rIns="28575" bIns="28575">
                      <a:no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F4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E0E7E9"/>
                      </a:solidFill>
                      <a:prstDash val="solid"/>
                    </a:lnL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  <a:tc>
                  <a:txBody>
                    <a:bodyPr wrap="square" lIns="28575" tIns="28575" rIns="28575" bIns="28575">
                      <a:no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32126"/>
                          </a:solidFill>
                          <a:latin typeface="Arial"/>
                          <a:ea typeface="Arial"/>
                          <a:cs typeface="Arial"/>
                        </a:rPr>
                        <a:t>-0,16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E0E7E9"/>
                      </a:solidFill>
                      <a:prstDash val="solid"/>
                    </a:lnR>
                    <a:lnB w="9525">
                      <a:solidFill>
                        <a:srgbClr val="E0E7E9"/>
                      </a:solidFill>
                      <a:prstDash val="solid"/>
                    </a:lnB>
                    <a:solidFill>
                      <a:srgbClr val="F2F6F7"/>
                    </a:solidFill>
                  </a:tcPr>
                </a:tc>
              </a:tr>
            </a:tbl>
          </a:graphicData>
        </a:graphic>
      </p:graphicFrame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13FE681-B488-4356-918D-5DBC92A4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8612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Ближайшие объекты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25F791A-23B4-42A8-81E2-053634B9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0000"/>
            <a:ext cx="5143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Liberal Democrats</a:t>
            </a:r>
          </a:p>
          <a:p xmlns:a="http://schemas.openxmlformats.org/drawingml/2006/main">
            <a:pPr algn="l">
              <a:defRPr sz="172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Democraten 66</a:t>
            </a:r>
          </a:p>
          <a:p xmlns:a="http://schemas.openxmlformats.org/drawingml/2006/main">
            <a:pPr algn="l">
              <a:defRPr sz="172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Radikale Venstre</a:t>
            </a:r>
          </a:p>
          <a:p xmlns:a="http://schemas.openxmlformats.org/drawingml/2006/main">
            <a:pPr algn="l">
              <a:defRPr sz="1725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Liberal Party of Canada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9F84A6E-0810-4903-B8DF-E852F645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Измерено шкал: 40. Пропусков: 0.</a:t>
            </a:r>
          </a:p>
        </p:txBody>
      </p:sp>
    </p:spTree>
    <p:extLst>
      <p:ext uri="{BB962C8B-B14F-4D97-AF65-F5344CB8AC3E}">
        <p14:creationId xmlns:p14="http://schemas.microsoft.com/office/powerpoint/2010/main" val="88635660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F59E274-EE49-4B45-A4D0-F65322C6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Интерпретация изученного пространства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146CB9B-01DA-4C63-9203-C487DD7F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CA411B7-B0C3-4A95-977F-3D0FAF18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10668000" cy="656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Факторы описывают совместное изменение семантических шкал. Группы объединяют объекты с похожими сочетаниями этих свойств.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35F5D51-3B2D-41B9-B708-86743E16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5357"/>
            <a:ext cx="10668000" cy="656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Пограничных профилей: 4 из 95. Их свойства могут сочетать признаки нескольких групп.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905E261-7A95-4F84-8B5C-14EBDB34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6239"/>
            <a:ext cx="10668000" cy="9841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Незаполненный сектор означает отсутствие такого профиля в выбранной выборке и корпусе. Международное сравнение требует единого словаря и сопоставимого отбора.</a:t>
            </a:r>
          </a:p>
        </p:txBody>
      </p:sp>
    </p:spTree>
    <p:extLst>
      <p:ext uri="{BB962C8B-B14F-4D97-AF65-F5344CB8AC3E}">
        <p14:creationId xmlns:p14="http://schemas.microsoft.com/office/powerpoint/2010/main" val="150627239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8AF9ADE-3AB2-4C4C-8FEA-629D35D6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126"/>
                </a:solidFill>
                <a:latin typeface="Arial"/>
                <a:ea typeface="Arial"/>
                <a:cs typeface="Arial"/>
              </a:rPr>
              <a:t>Ограничения и следующая проверка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A1B2D00-94EB-473C-AEC2-3B59575A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4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46D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8BAFCBC-4B7D-4859-8993-F42BFFBC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668000" cy="609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Число факторов и групп остаётся исследовательским решением. Содержательная интерпретация дополняет численные критерии.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6A2B809-F5C7-45E1-A99D-876EE005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244"/>
            <a:ext cx="10668000" cy="609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Оценки LLM отражают модель публичного образа в источниках. Они требуют сравнения с независимыми человеческими оценками.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34572F3-C999-476D-941A-769566F4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9638"/>
            <a:ext cx="10668000" cy="609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Сходство партий или политиков не устанавливает общность реального электората. Частоты объектов в выборке не являются долями населения.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F2E5BC4-6A1B-418C-A304-84B494B1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6032"/>
            <a:ext cx="10668000" cy="609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321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32126"/>
                </a:solidFill>
                <a:latin typeface="Arial"/>
                <a:ea typeface="Arial"/>
                <a:cs typeface="Arial"/>
              </a:rPr>
              <a:t>Следующая проверка: новые объекты, иной корпус и независимые оценщики при фиксированных шкалах и параметрах проекции.</a:t>
            </a:r>
          </a:p>
        </p:txBody>
      </p:sp>
    </p:spTree>
    <p:extLst>
      <p:ext uri="{BB962C8B-B14F-4D97-AF65-F5344CB8AC3E}">
        <p14:creationId xmlns:p14="http://schemas.microsoft.com/office/powerpoint/2010/main" val="8508148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2026-10-14T21:36:59.8950000Z</dcterms:created>
  <dcterms:modified xsi:type="dcterms:W3CDTF">2026-10-14T21:36:59.8950000Z</dcterms:modified>
</coreProperties>
</file>